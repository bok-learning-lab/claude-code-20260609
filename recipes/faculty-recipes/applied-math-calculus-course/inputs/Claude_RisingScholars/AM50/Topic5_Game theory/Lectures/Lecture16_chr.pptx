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b="0" sz="320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sx="100000" sy="100000" kx="0" ky="0" algn="b" rotWithShape="0" blurRad="88900" dist="38100" dir="270000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9" name="Shape 3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/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7" name="Shape 4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3" name="Shape 63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" name="Shape 64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 fontScale="100000" lnSpcReduction="0"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6400" u="none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sx="100000" sy="100000" kx="0" ky="0" algn="b" rotWithShape="0" blurRad="88900" dist="38100" dir="270000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b="1" baseline="0" cap="none" i="0" spc="0" strike="noStrike" sz="3600" u="none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docs.python.org/2/library/time.html" TargetMode="External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Lecture 16: Game Theory</a:t>
            </a:r>
          </a:p>
        </p:txBody>
      </p:sp>
      <p:sp>
        <p:nvSpPr>
          <p:cNvPr id="74" name="Shape 74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Further game theory examples</a:t>
            </a:r>
          </a:p>
          <a:p>
            <a:pPr/>
            <a:r>
              <a:t>Optimizing a unique number game strategy</a:t>
            </a:r>
          </a:p>
          <a:p>
            <a:pPr lvl="1"/>
            <a:r>
              <a:t>Use of a Nash equilibrium as a practical tool</a:t>
            </a:r>
          </a:p>
          <a:p>
            <a:pPr lvl="1"/>
            <a:r>
              <a:t>Generation of random numbers following an arbitrary distribution</a:t>
            </a:r>
          </a:p>
          <a:p>
            <a:pPr lvl="1"/>
            <a:r>
              <a:t>Timing routines in Python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AM50 competition!</a:t>
            </a:r>
          </a:p>
        </p:txBody>
      </p:sp>
      <p:sp>
        <p:nvSpPr>
          <p:cNvPr id="77" name="Shape 77"/>
          <p:cNvSpPr/>
          <p:nvPr>
            <p:ph type="body" idx="1"/>
          </p:nvPr>
        </p:nvSpPr>
        <p:spPr>
          <a:xfrm>
            <a:off x="952500" y="2609849"/>
            <a:ext cx="11099801" cy="6286502"/>
          </a:xfrm>
          <a:prstGeom prst="rect">
            <a:avLst/>
          </a:prstGeom>
        </p:spPr>
        <p:txBody>
          <a:bodyPr/>
          <a:lstStyle/>
          <a:p>
            <a:pPr/>
            <a:r>
              <a:t>We are going to play many repeated unique games in AM50</a:t>
            </a:r>
          </a:p>
          <a:p>
            <a:pPr/>
            <a:r>
              <a:t>There will be a hundred sets of ten million rounds, making 1,000,000,000 rounds in total</a:t>
            </a:r>
          </a:p>
          <a:p>
            <a:pPr/>
            <a:r>
              <a:t>Homework exercise 1: write a Python function to implement a strategy for these repeated game</a:t>
            </a:r>
          </a:p>
          <a:p>
            <a:pPr/>
            <a:r>
              <a:t>Different considerations to the game in class</a:t>
            </a:r>
          </a:p>
          <a:p>
            <a:pPr/>
            <a:r>
              <a:t>Playing a pure strategy may be problematic; a mixed strategy may be advantageous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From the lab: uniform random up to some value</a:t>
            </a:r>
          </a:p>
        </p:txBody>
      </p:sp>
      <p:sp>
        <p:nvSpPr>
          <p:cNvPr id="80" name="Shape 80"/>
          <p:cNvSpPr/>
          <p:nvPr>
            <p:ph type="body" sz="half" idx="1"/>
          </p:nvPr>
        </p:nvSpPr>
        <p:spPr>
          <a:xfrm>
            <a:off x="952500" y="6015483"/>
            <a:ext cx="11306920" cy="3151239"/>
          </a:xfrm>
          <a:prstGeom prst="rect">
            <a:avLst/>
          </a:prstGeom>
        </p:spPr>
        <p:txBody>
          <a:bodyPr/>
          <a:lstStyle/>
          <a:p>
            <a:pPr marL="422275" indent="-422275" defTabSz="554990">
              <a:spcBef>
                <a:spcPts val="2400"/>
              </a:spcBef>
              <a:defRPr sz="3420"/>
            </a:pPr>
            <a:r>
              <a:t>Chooses numbers over a reasonable range</a:t>
            </a:r>
          </a:p>
          <a:p>
            <a:pPr marL="422275" indent="-422275" defTabSz="554990">
              <a:spcBef>
                <a:spcPts val="2400"/>
              </a:spcBef>
              <a:defRPr sz="3420"/>
            </a:pPr>
            <a:r>
              <a:t>However, it can easily be beaten</a:t>
            </a:r>
          </a:p>
          <a:p>
            <a:pPr marL="422275" indent="-422275" defTabSz="554990">
              <a:spcBef>
                <a:spcPts val="2400"/>
              </a:spcBef>
              <a:defRPr sz="3420"/>
            </a:pPr>
            <a:r>
              <a:t>Key problem: does it really make sense to choose 25 with the same probability as 0? Winning with 25 requires many other things to work out</a:t>
            </a:r>
          </a:p>
        </p:txBody>
      </p:sp>
      <p:sp>
        <p:nvSpPr>
          <p:cNvPr id="81" name="Shape 81"/>
          <p:cNvSpPr/>
          <p:nvPr/>
        </p:nvSpPr>
        <p:spPr>
          <a:xfrm>
            <a:off x="1019578" y="3238500"/>
            <a:ext cx="418199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random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randint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9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2100"/>
                </a:solidFill>
              </a:rPr>
              <a:t>def</a:t>
            </a:r>
            <a:r>
              <a:t> </a:t>
            </a:r>
            <a:r>
              <a:rPr>
                <a:solidFill>
                  <a:srgbClr val="AF5F00"/>
                </a:solidFill>
              </a:rPr>
              <a:t>play</a:t>
            </a:r>
            <a:r>
              <a:t>(n,hist,lw,lc,y):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    </a:t>
            </a:r>
            <a:r>
              <a:t> </a:t>
            </a:r>
            <a:r>
              <a:rPr>
                <a:solidFill>
                  <a:srgbClr val="E52100"/>
                </a:solidFill>
              </a:rPr>
              <a:t>return</a:t>
            </a:r>
            <a:r>
              <a:t> randint(</a:t>
            </a:r>
            <a:r>
              <a:rPr>
                <a:solidFill>
                  <a:srgbClr val="0433FF"/>
                </a:solidFill>
              </a:rPr>
              <a:t>0</a:t>
            </a:r>
            <a:r>
              <a:t>,</a:t>
            </a:r>
            <a:r>
              <a:rPr>
                <a:solidFill>
                  <a:srgbClr val="0433FF"/>
                </a:solidFill>
              </a:rPr>
              <a:t>25</a:t>
            </a:r>
            <a:r>
              <a:t>)</a:t>
            </a:r>
          </a:p>
        </p:txBody>
      </p:sp>
      <p:pic>
        <p:nvPicPr>
          <p:cNvPr id="82" name="lec13_4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48511" y="2727265"/>
            <a:ext cx="6730374" cy="29980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/>
          <p:nvPr>
            <p:ph type="body" sz="half" idx="1"/>
          </p:nvPr>
        </p:nvSpPr>
        <p:spPr>
          <a:xfrm>
            <a:off x="952500" y="2268785"/>
            <a:ext cx="11099800" cy="3168453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Question: distribution will the following function give?</a:t>
            </a:r>
          </a:p>
        </p:txBody>
      </p:sp>
      <p:sp>
        <p:nvSpPr>
          <p:cNvPr id="85" name="Shape 8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simple weighted random strategy</a:t>
            </a:r>
          </a:p>
        </p:txBody>
      </p:sp>
      <p:sp>
        <p:nvSpPr>
          <p:cNvPr id="86" name="Shape 86"/>
          <p:cNvSpPr/>
          <p:nvPr/>
        </p:nvSpPr>
        <p:spPr>
          <a:xfrm>
            <a:off x="3394478" y="3302000"/>
            <a:ext cx="6215844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random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randint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t>m=</a:t>
            </a:r>
            <a:r>
              <a:rPr>
                <a:solidFill>
                  <a:srgbClr val="0433FF"/>
                </a:solidFill>
              </a:rPr>
              <a:t>2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2100"/>
                </a:solidFill>
              </a:rPr>
              <a:t>def</a:t>
            </a:r>
            <a:r>
              <a:t> </a:t>
            </a:r>
            <a:r>
              <a:rPr>
                <a:solidFill>
                  <a:srgbClr val="AF5F00"/>
                </a:solidFill>
              </a:rPr>
              <a:t>play</a:t>
            </a:r>
            <a:r>
              <a:t>(n,hist,lw,lc,y):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    </a:t>
            </a:r>
            <a:r>
              <a:t> </a:t>
            </a:r>
            <a:r>
              <a:rPr>
                <a:solidFill>
                  <a:srgbClr val="E52100"/>
                </a:solidFill>
              </a:rPr>
              <a:t>return</a:t>
            </a:r>
            <a:r>
              <a:t> randint(</a:t>
            </a:r>
            <a:r>
              <a:rPr>
                <a:solidFill>
                  <a:srgbClr val="0433FF"/>
                </a:solidFill>
              </a:rPr>
              <a:t>0</a:t>
            </a:r>
            <a:r>
              <a:t>,randint(</a:t>
            </a:r>
            <a:r>
              <a:rPr>
                <a:solidFill>
                  <a:srgbClr val="0433FF"/>
                </a:solidFill>
              </a:rPr>
              <a:t>0</a:t>
            </a:r>
            <a:r>
              <a:t>,m))</a:t>
            </a:r>
          </a:p>
        </p:txBody>
      </p:sp>
      <p:sp>
        <p:nvSpPr>
          <p:cNvPr id="87" name="Shape 87"/>
          <p:cNvSpPr/>
          <p:nvPr/>
        </p:nvSpPr>
        <p:spPr>
          <a:xfrm>
            <a:off x="952500" y="5850185"/>
            <a:ext cx="11099801" cy="3168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90000"/>
              </a:lnSpc>
              <a:spcBef>
                <a:spcPts val="2600"/>
              </a:spcBef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Can rewrite as</a:t>
            </a:r>
          </a:p>
        </p:txBody>
      </p:sp>
      <p:sp>
        <p:nvSpPr>
          <p:cNvPr id="88" name="Shape 88"/>
          <p:cNvSpPr/>
          <p:nvPr/>
        </p:nvSpPr>
        <p:spPr>
          <a:xfrm>
            <a:off x="3394478" y="6692900"/>
            <a:ext cx="444960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random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randint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t>m=</a:t>
            </a:r>
            <a:r>
              <a:rPr>
                <a:solidFill>
                  <a:srgbClr val="0433FF"/>
                </a:solidFill>
              </a:rPr>
              <a:t>2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2100"/>
                </a:solidFill>
              </a:rPr>
              <a:t>def</a:t>
            </a:r>
            <a:r>
              <a:t> </a:t>
            </a:r>
            <a:r>
              <a:rPr>
                <a:solidFill>
                  <a:srgbClr val="AF5F00"/>
                </a:solidFill>
              </a:rPr>
              <a:t>play</a:t>
            </a:r>
            <a:r>
              <a:t>(n,hist,lw,lc,y):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t>        j=randint(</a:t>
            </a:r>
            <a:r>
              <a:rPr>
                <a:solidFill>
                  <a:srgbClr val="0433FF"/>
                </a:solidFill>
              </a:rPr>
              <a:t>0</a:t>
            </a:r>
            <a:r>
              <a:t>,m)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1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    </a:t>
            </a:r>
            <a:r>
              <a:t> </a:t>
            </a:r>
            <a:r>
              <a:rPr>
                <a:solidFill>
                  <a:srgbClr val="E52100"/>
                </a:solidFill>
              </a:rPr>
              <a:t>return</a:t>
            </a:r>
            <a:r>
              <a:t> randint(</a:t>
            </a:r>
            <a:r>
              <a:rPr>
                <a:solidFill>
                  <a:srgbClr val="0433FF"/>
                </a:solidFill>
              </a:rPr>
              <a:t>0</a:t>
            </a:r>
            <a:r>
              <a:t>,j)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8" grpId="2"/>
      <p:bldP build="whole" bldLvl="1" animBg="1" rev="0" advAuto="0" spid="8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Probabilities</a:t>
            </a:r>
          </a:p>
        </p:txBody>
      </p:sp>
      <p:sp>
        <p:nvSpPr>
          <p:cNvPr id="91" name="Shape 91"/>
          <p:cNvSpPr/>
          <p:nvPr>
            <p:ph type="body" idx="1"/>
          </p:nvPr>
        </p:nvSpPr>
        <p:spPr>
          <a:xfrm>
            <a:off x="863600" y="2286000"/>
            <a:ext cx="11099800" cy="6286500"/>
          </a:xfrm>
          <a:prstGeom prst="rect">
            <a:avLst/>
          </a:prstGeom>
        </p:spPr>
        <p:txBody>
          <a:bodyPr/>
          <a:lstStyle/>
          <a:p>
            <a:pPr/>
            <a:r>
              <a:rPr b="0" i="1"/>
              <a:t>j</a:t>
            </a:r>
            <a:r>
              <a:t> will take the values 0, 1, and 2 with one third probability each</a:t>
            </a:r>
          </a:p>
          <a:p>
            <a:pPr/>
            <a:r>
              <a:t>Table of outcomes</a:t>
            </a:r>
          </a:p>
          <a:p>
            <a:pPr/>
          </a:p>
          <a:p>
            <a:pPr/>
          </a:p>
          <a:p>
            <a:pPr/>
            <a:r>
              <a:t>Hence</a:t>
            </a:r>
          </a:p>
        </p:txBody>
      </p:sp>
      <p:pic>
        <p:nvPicPr>
          <p:cNvPr id="92" name="jkl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76092" y="7166719"/>
            <a:ext cx="3452616" cy="2075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jkl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82383" y="4517608"/>
            <a:ext cx="8440034" cy="18232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Calculating the probabilities</a:t>
            </a:r>
          </a:p>
        </p:txBody>
      </p:sp>
      <p:sp>
        <p:nvSpPr>
          <p:cNvPr id="96" name="Shape 96"/>
          <p:cNvSpPr/>
          <p:nvPr>
            <p:ph type="body" sz="half" idx="1"/>
          </p:nvPr>
        </p:nvSpPr>
        <p:spPr>
          <a:xfrm>
            <a:off x="711200" y="2228850"/>
            <a:ext cx="6515894" cy="7048500"/>
          </a:xfrm>
          <a:prstGeom prst="rect">
            <a:avLst/>
          </a:prstGeom>
        </p:spPr>
        <p:txBody>
          <a:bodyPr/>
          <a:lstStyle/>
          <a:p>
            <a:pPr/>
            <a:r>
              <a:t>For arbitrary </a:t>
            </a:r>
            <a:r>
              <a:rPr b="0" i="1"/>
              <a:t>m</a:t>
            </a:r>
            <a:r>
              <a:t>, the probability of choosing </a:t>
            </a:r>
            <a:r>
              <a:rPr b="0" i="1"/>
              <a:t>k</a:t>
            </a:r>
            <a:r>
              <a:t> is given by</a:t>
            </a:r>
          </a:p>
        </p:txBody>
      </p:sp>
      <p:pic>
        <p:nvPicPr>
          <p:cNvPr id="97" name="lec13_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33294" y="3891915"/>
            <a:ext cx="5812636" cy="4068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rpr3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48183" y="4241403"/>
            <a:ext cx="4981727" cy="4068845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Shape 99"/>
          <p:cNvSpPr/>
          <p:nvPr/>
        </p:nvSpPr>
        <p:spPr>
          <a:xfrm>
            <a:off x="9808343" y="4394200"/>
            <a:ext cx="276071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sz="2000">
                <a:latin typeface="+mj-lt"/>
                <a:ea typeface="+mj-ea"/>
                <a:cs typeface="+mj-cs"/>
                <a:sym typeface="Helvetica"/>
              </a:defRPr>
            </a:pPr>
            <a:r>
              <a:t>Probabilities for </a:t>
            </a:r>
            <a:r>
              <a:rPr b="0" i="1"/>
              <a:t>m</a:t>
            </a:r>
            <a:r>
              <a:rPr b="0"/>
              <a:t> = 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37232" y="190500"/>
            <a:ext cx="12130336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defRPr b="1"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sx="100000" sy="100000" kx="0" ky="0" algn="b" rotWithShape="0" blurRad="88900" dist="38100" dir="270000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Random sampling</a:t>
            </a:r>
          </a:p>
        </p:txBody>
      </p:sp>
      <p:sp>
        <p:nvSpPr>
          <p:cNvPr id="102" name="Shape 102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03" name="Shape 103"/>
          <p:cNvSpPr/>
          <p:nvPr/>
        </p:nvSpPr>
        <p:spPr>
          <a:xfrm>
            <a:off x="883462" y="193675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Input program</a:t>
            </a:r>
          </a:p>
        </p:txBody>
      </p:sp>
      <p:sp>
        <p:nvSpPr>
          <p:cNvPr id="104" name="Shape 104"/>
          <p:cNvSpPr/>
          <p:nvPr/>
        </p:nvSpPr>
        <p:spPr>
          <a:xfrm>
            <a:off x="7333665" y="1936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05" name="Shape 105"/>
          <p:cNvSpPr/>
          <p:nvPr/>
        </p:nvSpPr>
        <p:spPr>
          <a:xfrm>
            <a:off x="645845" y="3149600"/>
            <a:ext cx="5573577" cy="518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random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randint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Test function returning weighted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random number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m=</a:t>
            </a:r>
            <a:r>
              <a:rPr>
                <a:solidFill>
                  <a:srgbClr val="0433FF"/>
                </a:solidFill>
              </a:rPr>
              <a:t>9</a:t>
            </a:r>
            <a:r>
              <a:t>       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2100"/>
                </a:solidFill>
              </a:rPr>
              <a:t>def</a:t>
            </a:r>
            <a:r>
              <a:rPr>
                <a:solidFill>
                  <a:srgbClr val="000000"/>
                </a:solidFill>
              </a:rPr>
              <a:t> </a:t>
            </a:r>
            <a:r>
              <a:t>play</a:t>
            </a:r>
            <a:r>
              <a:rPr>
                <a:solidFill>
                  <a:srgbClr val="000000"/>
                </a:solidFill>
              </a:rPr>
              <a:t>():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</a:t>
            </a:r>
            <a:r>
              <a:t> </a:t>
            </a:r>
            <a:r>
              <a:rPr>
                <a:solidFill>
                  <a:srgbClr val="E52100"/>
                </a:solidFill>
              </a:rPr>
              <a:t>return</a:t>
            </a:r>
            <a:r>
              <a:t> randint(</a:t>
            </a:r>
            <a:r>
              <a:rPr>
                <a:solidFill>
                  <a:srgbClr val="0433FF"/>
                </a:solidFill>
              </a:rPr>
              <a:t>0</a:t>
            </a:r>
            <a:r>
              <a:t>,randint(</a:t>
            </a:r>
            <a:r>
              <a:rPr>
                <a:solidFill>
                  <a:srgbClr val="0433FF"/>
                </a:solidFill>
              </a:rPr>
              <a:t>0</a:t>
            </a:r>
            <a:r>
              <a:t>,m))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Bins to store 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b=[</a:t>
            </a:r>
            <a:r>
              <a:rPr>
                <a:solidFill>
                  <a:srgbClr val="0433FF"/>
                </a:solidFill>
              </a:rPr>
              <a:t>0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(m+</a:t>
            </a:r>
            <a:r>
              <a:rPr>
                <a:solidFill>
                  <a:srgbClr val="0433FF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)]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Carry out a large number of trials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and bin the results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trials=</a:t>
            </a:r>
            <a:r>
              <a:rPr>
                <a:solidFill>
                  <a:srgbClr val="0433FF"/>
                </a:solidFill>
              </a:rPr>
              <a:t>1000000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t> </a:t>
            </a:r>
            <a:r>
              <a:rPr>
                <a:solidFill>
                  <a:srgbClr val="AF5F00"/>
                </a:solidFill>
              </a:rPr>
              <a:t>range</a:t>
            </a:r>
            <a:r>
              <a:t>(trials):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    b[play()]+=</a:t>
            </a:r>
            <a:r>
              <a:rPr>
                <a:solidFill>
                  <a:srgbClr val="0433FF"/>
                </a:solidFill>
              </a:rPr>
              <a:t>1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Output the estimated probabilities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(m+</a:t>
            </a:r>
            <a:r>
              <a:rPr>
                <a:solidFill>
                  <a:srgbClr val="0433FF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AF5F00"/>
                </a:solidFill>
              </a:rPr>
              <a:t>print</a:t>
            </a:r>
            <a:r>
              <a:t> </a:t>
            </a:r>
            <a:r>
              <a:rPr>
                <a:solidFill>
                  <a:srgbClr val="0220B3"/>
                </a:solidFill>
              </a:rPr>
              <a:t>"%d %g"</a:t>
            </a:r>
            <a:r>
              <a:t> % (i,</a:t>
            </a:r>
            <a:r>
              <a:rPr>
                <a:solidFill>
                  <a:srgbClr val="AF5F00"/>
                </a:solidFill>
              </a:rPr>
              <a:t>float</a:t>
            </a:r>
            <a:r>
              <a:t>(b[i])/trials)</a:t>
            </a:r>
          </a:p>
        </p:txBody>
      </p:sp>
      <p:pic>
        <p:nvPicPr>
          <p:cNvPr id="106" name="lec13_3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80225" y="6078285"/>
            <a:ext cx="5710218" cy="3397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lec13_2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80225" y="2686095"/>
            <a:ext cx="5710218" cy="339758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Shape 108"/>
          <p:cNvSpPr/>
          <p:nvPr/>
        </p:nvSpPr>
        <p:spPr>
          <a:xfrm>
            <a:off x="10444294" y="3848099"/>
            <a:ext cx="159041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sz="2800">
                <a:latin typeface="+mj-lt"/>
                <a:ea typeface="+mj-ea"/>
                <a:cs typeface="+mj-cs"/>
                <a:sym typeface="Helvetica"/>
              </a:defRPr>
            </a:pPr>
            <a:r>
              <a:t>10</a:t>
            </a:r>
            <a:r>
              <a:rPr baseline="31999"/>
              <a:t>6</a:t>
            </a:r>
            <a:r>
              <a:t> trials</a:t>
            </a:r>
          </a:p>
        </p:txBody>
      </p:sp>
      <p:sp>
        <p:nvSpPr>
          <p:cNvPr id="109" name="Shape 109"/>
          <p:cNvSpPr/>
          <p:nvPr/>
        </p:nvSpPr>
        <p:spPr>
          <a:xfrm>
            <a:off x="10444294" y="7510374"/>
            <a:ext cx="1590412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sz="2800">
                <a:latin typeface="+mj-lt"/>
                <a:ea typeface="+mj-ea"/>
                <a:cs typeface="+mj-cs"/>
                <a:sym typeface="Helvetica"/>
              </a:defRPr>
            </a:pPr>
            <a:r>
              <a:t>10</a:t>
            </a:r>
            <a:r>
              <a:rPr baseline="31999"/>
              <a:t>3</a:t>
            </a:r>
            <a:r>
              <a:t> trials</a:t>
            </a:r>
          </a:p>
        </p:txBody>
      </p:sp>
      <p:sp>
        <p:nvSpPr>
          <p:cNvPr id="110" name="Shape 110"/>
          <p:cNvSpPr/>
          <p:nvPr/>
        </p:nvSpPr>
        <p:spPr>
          <a:xfrm>
            <a:off x="97383" y="9213849"/>
            <a:ext cx="6077546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Examples: r_sample.py and r_analytic.py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Finding an optimal value of m</a:t>
            </a:r>
          </a:p>
        </p:txBody>
      </p:sp>
      <p:sp>
        <p:nvSpPr>
          <p:cNvPr id="113" name="Shape 113"/>
          <p:cNvSpPr/>
          <p:nvPr>
            <p:ph type="body" idx="1"/>
          </p:nvPr>
        </p:nvSpPr>
        <p:spPr>
          <a:xfrm>
            <a:off x="952500" y="2590800"/>
            <a:ext cx="11099800" cy="6546547"/>
          </a:xfrm>
          <a:prstGeom prst="rect">
            <a:avLst/>
          </a:prstGeom>
        </p:spPr>
        <p:txBody>
          <a:bodyPr/>
          <a:lstStyle/>
          <a:p>
            <a:pPr marL="426719" indent="-426719" defTabSz="560831">
              <a:spcBef>
                <a:spcPts val="2400"/>
              </a:spcBef>
              <a:defRPr sz="3455"/>
            </a:pPr>
            <a:r>
              <a:t>For 70 players, what would be a good value of </a:t>
            </a:r>
            <a:r>
              <a:rPr b="0" i="1"/>
              <a:t>m</a:t>
            </a:r>
            <a:r>
              <a:t> to use? Both extremes don’t look very attractive:</a:t>
            </a:r>
          </a:p>
          <a:p>
            <a:pPr marL="426719" indent="-426719" defTabSz="560831">
              <a:spcBef>
                <a:spcPts val="2400"/>
              </a:spcBef>
              <a:defRPr sz="3455"/>
            </a:pPr>
          </a:p>
          <a:p>
            <a:pPr marL="426719" indent="-426719" defTabSz="560831">
              <a:spcBef>
                <a:spcPts val="2400"/>
              </a:spcBef>
              <a:defRPr sz="3455"/>
            </a:pPr>
          </a:p>
          <a:p>
            <a:pPr marL="426719" indent="-426719" defTabSz="560831">
              <a:spcBef>
                <a:spcPts val="2400"/>
              </a:spcBef>
              <a:defRPr sz="3455"/>
            </a:pPr>
          </a:p>
          <a:p>
            <a:pPr marL="426719" indent="-426719" defTabSz="560831">
              <a:spcBef>
                <a:spcPts val="2400"/>
              </a:spcBef>
              <a:defRPr sz="3455"/>
            </a:pPr>
          </a:p>
          <a:p>
            <a:pPr marL="426719" indent="-426719" defTabSz="560831">
              <a:spcBef>
                <a:spcPts val="2400"/>
              </a:spcBef>
              <a:defRPr sz="3455"/>
            </a:pPr>
            <a:r>
              <a:t>Borrow an idea from Nash: find a value of </a:t>
            </a:r>
            <a:r>
              <a:rPr b="0" i="1"/>
              <a:t>m</a:t>
            </a:r>
            <a:r>
              <a:t> where if all players use that, then there is no advantage for one player to switch to a different </a:t>
            </a:r>
            <a:r>
              <a:rPr b="0" i="1"/>
              <a:t>m</a:t>
            </a:r>
          </a:p>
        </p:txBody>
      </p:sp>
      <p:pic>
        <p:nvPicPr>
          <p:cNvPr id="114" name="lec13_5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5087" y="4214439"/>
            <a:ext cx="5219939" cy="27404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lec13_6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27576" y="4154956"/>
            <a:ext cx="5047976" cy="2650187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Shape 116"/>
          <p:cNvSpPr/>
          <p:nvPr/>
        </p:nvSpPr>
        <p:spPr>
          <a:xfrm>
            <a:off x="3477564" y="4603750"/>
            <a:ext cx="23016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0,1,2 likely to be eliminated in 70-person game</a:t>
            </a:r>
          </a:p>
        </p:txBody>
      </p:sp>
      <p:sp>
        <p:nvSpPr>
          <p:cNvPr id="117" name="Shape 117"/>
          <p:cNvSpPr/>
          <p:nvPr/>
        </p:nvSpPr>
        <p:spPr>
          <a:xfrm>
            <a:off x="9040164" y="4603750"/>
            <a:ext cx="2301600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1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High numbers played too often; 80 is unlikely to ever win</a:t>
            </a:r>
          </a:p>
        </p:txBody>
      </p:sp>
      <p:sp>
        <p:nvSpPr>
          <p:cNvPr id="118" name="Shape 118"/>
          <p:cNvSpPr/>
          <p:nvPr/>
        </p:nvSpPr>
        <p:spPr>
          <a:xfrm>
            <a:off x="3323375" y="4000499"/>
            <a:ext cx="82085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m</a:t>
            </a:r>
            <a:r>
              <a:t> = 2</a:t>
            </a:r>
          </a:p>
        </p:txBody>
      </p:sp>
      <p:sp>
        <p:nvSpPr>
          <p:cNvPr id="119" name="Shape 119"/>
          <p:cNvSpPr/>
          <p:nvPr/>
        </p:nvSpPr>
        <p:spPr>
          <a:xfrm>
            <a:off x="9062280" y="4000499"/>
            <a:ext cx="976240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20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m</a:t>
            </a:r>
            <a:r>
              <a:t> = 99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Table 121"/>
          <p:cNvGraphicFramePr/>
          <p:nvPr/>
        </p:nvGraphicFramePr>
        <p:xfrm>
          <a:off x="7581141" y="3059504"/>
          <a:ext cx="4907343" cy="5378937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992055"/>
                <a:gridCol w="1936436"/>
                <a:gridCol w="1974405"/>
              </a:tblGrid>
              <a:tr h="720067">
                <a:tc>
                  <a:txBody>
                    <a:bodyPr/>
                    <a:lstStyle/>
                    <a:p>
                      <a:pPr algn="l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i="1" sz="1900">
                          <a:sym typeface="Helvetica"/>
                        </a:rPr>
                        <a:t>m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900">
                          <a:solidFill>
                            <a:srgbClr val="000000"/>
                          </a:solidFill>
                          <a:sym typeface="Helvetica"/>
                        </a:defRPr>
                      </a:pPr>
                      <a:r>
                        <a:rPr b="0" i="1"/>
                        <a:t>E</a:t>
                      </a:r>
                      <a:r>
                        <a:t> for </a:t>
                      </a:r>
                      <a:r>
                        <a:rPr b="0" i="1"/>
                        <a:t>m</a:t>
                      </a:r>
                      <a:r>
                        <a:rPr b="0"/>
                        <a:t>’=</a:t>
                      </a:r>
                      <a:r>
                        <a:rPr b="0" i="1"/>
                        <a:t>m</a:t>
                      </a:r>
                      <a:r>
                        <a:rPr b="0"/>
                        <a:t> – 10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900">
                          <a:solidFill>
                            <a:srgbClr val="000000"/>
                          </a:solidFill>
                          <a:sym typeface="Helvetica"/>
                        </a:defRPr>
                      </a:pPr>
                      <a:r>
                        <a:rPr b="0" i="1"/>
                        <a:t>E</a:t>
                      </a:r>
                      <a:r>
                        <a:t> for </a:t>
                      </a:r>
                      <a:r>
                        <a:rPr b="0" i="1"/>
                        <a:t>m</a:t>
                      </a:r>
                      <a:r>
                        <a:rPr b="0"/>
                        <a:t>’=</a:t>
                      </a:r>
                      <a:r>
                        <a:rPr b="0" i="1"/>
                        <a:t>m</a:t>
                      </a:r>
                      <a:r>
                        <a:rPr b="0"/>
                        <a:t> + 10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68113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b="1" sz="19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79AE3D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∞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10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0.000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4.828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20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0.368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1.143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30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0.964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0.934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40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1.082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0.907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50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1.096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0.914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60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1.119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0.939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70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1.092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0.918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80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1.084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0.915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65145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90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1.093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b="1" sz="1900">
                          <a:latin typeface="+mj-lt"/>
                          <a:ea typeface="+mj-ea"/>
                          <a:cs typeface="+mj-cs"/>
                          <a:sym typeface="Helvetica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22" name="Shape 122"/>
          <p:cNvSpPr/>
          <p:nvPr/>
        </p:nvSpPr>
        <p:spPr>
          <a:xfrm>
            <a:off x="7435083" y="5189686"/>
            <a:ext cx="5195015" cy="440820"/>
          </a:xfrm>
          <a:prstGeom prst="roundRect">
            <a:avLst>
              <a:gd name="adj" fmla="val 40114"/>
            </a:avLst>
          </a:prstGeom>
          <a:ln w="508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23" name="Shape 123"/>
          <p:cNvSpPr/>
          <p:nvPr>
            <p:ph type="title"/>
          </p:nvPr>
        </p:nvSpPr>
        <p:spPr>
          <a:xfrm>
            <a:off x="395567" y="444500"/>
            <a:ext cx="12130337" cy="2159000"/>
          </a:xfrm>
          <a:prstGeom prst="rect">
            <a:avLst/>
          </a:prstGeom>
        </p:spPr>
        <p:txBody>
          <a:bodyPr/>
          <a:lstStyle/>
          <a:p>
            <a:pPr/>
            <a:r>
              <a:t>Optimization results for 70 players</a:t>
            </a:r>
          </a:p>
        </p:txBody>
      </p:sp>
      <p:sp>
        <p:nvSpPr>
          <p:cNvPr id="124" name="Shape 124"/>
          <p:cNvSpPr/>
          <p:nvPr>
            <p:ph type="body" sz="half" idx="1"/>
          </p:nvPr>
        </p:nvSpPr>
        <p:spPr>
          <a:xfrm>
            <a:off x="910835" y="2603500"/>
            <a:ext cx="5792094" cy="6286500"/>
          </a:xfrm>
          <a:prstGeom prst="rect">
            <a:avLst/>
          </a:prstGeom>
        </p:spPr>
        <p:txBody>
          <a:bodyPr/>
          <a:lstStyle/>
          <a:p>
            <a:pPr/>
            <a:r>
              <a:t>Suppose that the last player tries a slightly different value, </a:t>
            </a:r>
            <a:r>
              <a:rPr b="0" i="1"/>
              <a:t>m’</a:t>
            </a:r>
          </a:p>
          <a:p>
            <a:pPr/>
            <a:r>
              <a:t>Define an efficiency as</a:t>
            </a:r>
          </a:p>
          <a:p>
            <a:pPr/>
          </a:p>
          <a:p>
            <a:pPr/>
            <a:r>
              <a:t>Search for a value </a:t>
            </a:r>
            <a:r>
              <a:rPr b="0" i="1"/>
              <a:t>m</a:t>
            </a:r>
            <a:r>
              <a:t> where last player cannot gain advantage: </a:t>
            </a:r>
            <a:r>
              <a:rPr b="0" i="1"/>
              <a:t>E</a:t>
            </a:r>
            <a:r>
              <a:t> lower in for both higher and lower </a:t>
            </a:r>
            <a:r>
              <a:rPr b="0" i="1"/>
              <a:t>m’</a:t>
            </a:r>
          </a:p>
        </p:txBody>
      </p:sp>
      <p:pic>
        <p:nvPicPr>
          <p:cNvPr id="125" name="eff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4301" y="5356676"/>
            <a:ext cx="5085162" cy="792848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Shape 126"/>
          <p:cNvSpPr/>
          <p:nvPr/>
        </p:nvSpPr>
        <p:spPr>
          <a:xfrm>
            <a:off x="8082430" y="8585199"/>
            <a:ext cx="390032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 sz="2700">
                <a:latin typeface="+mj-lt"/>
                <a:ea typeface="+mj-ea"/>
                <a:cs typeface="+mj-cs"/>
                <a:sym typeface="Helvetica"/>
              </a:defRPr>
            </a:pPr>
            <a:r>
              <a:t>(10</a:t>
            </a:r>
            <a:r>
              <a:rPr baseline="31999"/>
              <a:t>6</a:t>
            </a:r>
            <a:r>
              <a:t> trials for each test)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more refined search</a:t>
            </a:r>
          </a:p>
        </p:txBody>
      </p:sp>
      <p:sp>
        <p:nvSpPr>
          <p:cNvPr id="129" name="Shape 129"/>
          <p:cNvSpPr/>
          <p:nvPr/>
        </p:nvSpPr>
        <p:spPr>
          <a:xfrm>
            <a:off x="550852" y="8305799"/>
            <a:ext cx="5125363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7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Four million trials for each test</a:t>
            </a:r>
          </a:p>
        </p:txBody>
      </p:sp>
      <p:graphicFrame>
        <p:nvGraphicFramePr>
          <p:cNvPr id="130" name="Table 130"/>
          <p:cNvGraphicFramePr/>
          <p:nvPr/>
        </p:nvGraphicFramePr>
        <p:xfrm>
          <a:off x="984250" y="3776654"/>
          <a:ext cx="4263013" cy="4349154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247225"/>
                <a:gridCol w="1491052"/>
                <a:gridCol w="1520289"/>
              </a:tblGrid>
              <a:tr h="393004">
                <a:tc>
                  <a:txBody>
                    <a:bodyPr/>
                    <a:lstStyle/>
                    <a:p>
                      <a:pPr algn="l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i="1" sz="1900">
                          <a:sym typeface="Helvetica"/>
                        </a:rPr>
                        <a:t>m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700">
                          <a:solidFill>
                            <a:srgbClr val="000000"/>
                          </a:solidFill>
                          <a:sym typeface="Helvetica"/>
                        </a:defRPr>
                      </a:pPr>
                      <a:r>
                        <a:rPr b="0" i="1" sz="1900"/>
                        <a:t>E</a:t>
                      </a:r>
                      <a:r>
                        <a:rPr sz="1900"/>
                        <a:t> for </a:t>
                      </a:r>
                      <a:r>
                        <a:rPr b="0" i="1" sz="1900"/>
                        <a:t>m</a:t>
                      </a:r>
                      <a:r>
                        <a:rPr b="0" sz="1900"/>
                        <a:t> </a:t>
                      </a:r>
                      <a:r>
                        <a:rPr b="0" sz="1800"/>
                        <a:t>– 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900">
                          <a:solidFill>
                            <a:srgbClr val="000000"/>
                          </a:solidFill>
                          <a:sym typeface="Helvetica"/>
                        </a:defRPr>
                      </a:pPr>
                      <a:r>
                        <a:rPr b="0" i="1"/>
                        <a:t>E</a:t>
                      </a:r>
                      <a:r>
                        <a:t> for </a:t>
                      </a:r>
                      <a:r>
                        <a:rPr b="0" i="1"/>
                        <a:t>m</a:t>
                      </a:r>
                      <a:r>
                        <a:rPr b="0"/>
                        <a:t> + 2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441643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22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0.959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1.028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24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0.986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1.024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26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0.990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28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0.998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30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1.006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0.987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32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1.006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0.995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34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1.012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0.987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36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1.016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0.982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43884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1900">
                          <a:sym typeface="Helvetica"/>
                        </a:rPr>
                        <a:t>38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1.018</a:t>
                      </a:r>
                    </a:p>
                  </a:txBody>
                  <a:tcPr marL="50800" marR="50800" marT="50800" marB="50800" anchor="t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19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0.981</a:t>
                      </a:r>
                    </a:p>
                  </a:txBody>
                  <a:tcPr marL="50800" marR="50800" marT="50800" marB="50800" anchor="t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31" name="Shape 131"/>
          <p:cNvSpPr/>
          <p:nvPr/>
        </p:nvSpPr>
        <p:spPr>
          <a:xfrm>
            <a:off x="1143229" y="1898649"/>
            <a:ext cx="10718342" cy="173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Once we are in the right ballpark, we can progressively refine the search by using more trials</a:t>
            </a:r>
          </a:p>
        </p:txBody>
      </p:sp>
      <p:sp>
        <p:nvSpPr>
          <p:cNvPr id="132" name="Shape 132"/>
          <p:cNvSpPr/>
          <p:nvPr/>
        </p:nvSpPr>
        <p:spPr>
          <a:xfrm>
            <a:off x="6392769" y="8305799"/>
            <a:ext cx="6497130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7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One hundred million trials for each test</a:t>
            </a:r>
          </a:p>
        </p:txBody>
      </p:sp>
      <p:sp>
        <p:nvSpPr>
          <p:cNvPr id="133" name="Shape 133"/>
          <p:cNvSpPr/>
          <p:nvPr/>
        </p:nvSpPr>
        <p:spPr>
          <a:xfrm>
            <a:off x="754883" y="5494590"/>
            <a:ext cx="4717302" cy="440820"/>
          </a:xfrm>
          <a:prstGeom prst="roundRect">
            <a:avLst>
              <a:gd name="adj" fmla="val 40114"/>
            </a:avLst>
          </a:prstGeom>
          <a:ln w="508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graphicFrame>
        <p:nvGraphicFramePr>
          <p:cNvPr id="134" name="Table 134"/>
          <p:cNvGraphicFramePr/>
          <p:nvPr/>
        </p:nvGraphicFramePr>
        <p:xfrm>
          <a:off x="7535731" y="3986496"/>
          <a:ext cx="4215651" cy="3925268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{4C3C2611-4C71-4FC5-86AE-919BDF0F9419}</a:tableStyleId>
              </a:tblPr>
              <a:tblGrid>
                <a:gridCol w="1442604"/>
                <a:gridCol w="1358900"/>
                <a:gridCol w="1409700"/>
              </a:tblGrid>
              <a:tr h="401701">
                <a:tc>
                  <a:txBody>
                    <a:bodyPr/>
                    <a:lstStyle/>
                    <a:p>
                      <a:pPr algn="l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i="1" sz="2000">
                          <a:sym typeface="Helvetica"/>
                        </a:rPr>
                        <a:t>m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1700">
                          <a:solidFill>
                            <a:srgbClr val="000000"/>
                          </a:solidFill>
                          <a:sym typeface="Helvetica"/>
                        </a:defRPr>
                      </a:pPr>
                      <a:r>
                        <a:rPr b="0" i="1" sz="2000"/>
                        <a:t>E</a:t>
                      </a:r>
                      <a:r>
                        <a:rPr sz="2000"/>
                        <a:t> for </a:t>
                      </a:r>
                      <a:r>
                        <a:rPr b="0" i="1" sz="2000"/>
                        <a:t>m</a:t>
                      </a:r>
                      <a:r>
                        <a:rPr b="0" sz="2000"/>
                        <a:t> </a:t>
                      </a:r>
                      <a:r>
                        <a:rPr b="0" sz="1900"/>
                        <a:t>– 1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2000">
                          <a:solidFill>
                            <a:srgbClr val="000000"/>
                          </a:solidFill>
                          <a:sym typeface="Helvetica"/>
                        </a:defRPr>
                      </a:pPr>
                      <a:r>
                        <a:rPr b="0" i="1"/>
                        <a:t>E</a:t>
                      </a:r>
                      <a:r>
                        <a:t> for </a:t>
                      </a:r>
                      <a:r>
                        <a:rPr b="0" i="1"/>
                        <a:t>m</a:t>
                      </a:r>
                      <a:r>
                        <a:rPr b="0"/>
                        <a:t> + 1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05870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ym typeface="Helvetica"/>
                        </a:rPr>
                        <a:t>25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0.9934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1.0049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50302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ym typeface="Helvetica"/>
                        </a:rPr>
                        <a:t>26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0.9968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1.0019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50302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ym typeface="Helvetica"/>
                        </a:rPr>
                        <a:t>27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0.9981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1.0008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50302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ym typeface="Helvetica"/>
                        </a:rPr>
                        <a:t>28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0.9994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0.9987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50302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ym typeface="Helvetica"/>
                        </a:rPr>
                        <a:t>29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1.0014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0.9970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50302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ym typeface="Helvetica"/>
                        </a:rPr>
                        <a:t>30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1.0038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0.9966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503024">
                <a:tc>
                  <a:txBody>
                    <a:bodyPr/>
                    <a:lstStyle/>
                    <a:p>
                      <a:pPr algn="r" defTabSz="4572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000">
                          <a:sym typeface="Helvetica"/>
                        </a:rPr>
                        <a:t>31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578726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1.0043</a:t>
                      </a:r>
                    </a:p>
                  </a:txBody>
                  <a:tcPr marL="50800" marR="50800" marT="50800" marB="50800" anchor="ctr" anchorCtr="0" horzOverflow="overflow">
                    <a:lnL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b="1" sz="2000">
                          <a:solidFill>
                            <a:srgbClr val="CF232B"/>
                          </a:solidFill>
                          <a:latin typeface="+mj-lt"/>
                          <a:ea typeface="+mj-ea"/>
                          <a:cs typeface="+mj-cs"/>
                          <a:sym typeface="Helvetica"/>
                        </a:rPr>
                        <a:t>0.9951</a:t>
                      </a:r>
                    </a:p>
                  </a:txBody>
                  <a:tcPr marL="50800" marR="50800" marT="50800" marB="50800" anchor="ctr" anchorCtr="0" horzOverflow="overflow">
                    <a:lnL w="4445">
                      <a:solidFill>
                        <a:srgbClr val="000000"/>
                      </a:solidFill>
                      <a:miter lim="400000"/>
                    </a:lnL>
                    <a:lnR w="4445">
                      <a:solidFill>
                        <a:srgbClr val="000000"/>
                      </a:solidFill>
                      <a:miter lim="400000"/>
                    </a:lnR>
                    <a:lnT w="4445">
                      <a:solidFill>
                        <a:srgbClr val="000000"/>
                      </a:solidFill>
                      <a:miter lim="400000"/>
                    </a:lnT>
                    <a:lnB w="4445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135" name="Shape 135"/>
          <p:cNvSpPr/>
          <p:nvPr/>
        </p:nvSpPr>
        <p:spPr>
          <a:xfrm>
            <a:off x="7282683" y="5888290"/>
            <a:ext cx="4717302" cy="515482"/>
          </a:xfrm>
          <a:prstGeom prst="roundRect">
            <a:avLst>
              <a:gd name="adj" fmla="val 34304"/>
            </a:avLst>
          </a:prstGeom>
          <a:ln w="50800">
            <a:solidFill>
              <a:schemeClr val="accent6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Optimality of this solution</a:t>
            </a:r>
          </a:p>
        </p:txBody>
      </p:sp>
      <p:sp>
        <p:nvSpPr>
          <p:cNvPr id="138" name="Shape 138"/>
          <p:cNvSpPr/>
          <p:nvPr>
            <p:ph type="body" sz="half" idx="1"/>
          </p:nvPr>
        </p:nvSpPr>
        <p:spPr>
          <a:xfrm>
            <a:off x="952500" y="5280273"/>
            <a:ext cx="11099801" cy="4079627"/>
          </a:xfrm>
          <a:prstGeom prst="rect">
            <a:avLst/>
          </a:prstGeom>
        </p:spPr>
        <p:txBody>
          <a:bodyPr/>
          <a:lstStyle/>
          <a:p>
            <a:pPr marL="399679" indent="-399679" defTabSz="484886">
              <a:spcBef>
                <a:spcPts val="2100"/>
              </a:spcBef>
              <a:defRPr sz="3237"/>
            </a:pPr>
            <a:r>
              <a:t>If players were limited to choosing these strategies, then a value of </a:t>
            </a:r>
            <a:r>
              <a:rPr b="0" i="1"/>
              <a:t>m</a:t>
            </a:r>
            <a:r>
              <a:rPr b="0"/>
              <a:t> = 28</a:t>
            </a:r>
            <a:r>
              <a:t> would be a Nash equilibrium: no player can gain advantage by altering his/her value of </a:t>
            </a:r>
            <a:r>
              <a:rPr b="0" i="1"/>
              <a:t>m</a:t>
            </a:r>
          </a:p>
          <a:p>
            <a:pPr marL="399679" indent="-399679" defTabSz="484886">
              <a:spcBef>
                <a:spcPts val="2100"/>
              </a:spcBef>
              <a:defRPr sz="3237"/>
            </a:pPr>
            <a:r>
              <a:t>Choosing values up to 28 seems fairly reasonable</a:t>
            </a:r>
          </a:p>
          <a:p>
            <a:pPr marL="399679" indent="-399679" defTabSz="484886">
              <a:spcBef>
                <a:spcPts val="2100"/>
              </a:spcBef>
              <a:defRPr sz="3237"/>
            </a:pPr>
            <a:r>
              <a:t>It also beats the strategy of always playing zero</a:t>
            </a:r>
          </a:p>
          <a:p>
            <a:pPr marL="399679" indent="-399679" defTabSz="484886">
              <a:spcBef>
                <a:spcPts val="2100"/>
              </a:spcBef>
              <a:defRPr sz="3237"/>
            </a:pPr>
            <a:r>
              <a:t>However some strategies can still win against it</a:t>
            </a:r>
          </a:p>
        </p:txBody>
      </p:sp>
      <p:pic>
        <p:nvPicPr>
          <p:cNvPr id="139" name="lec13_7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5645" y="1892567"/>
            <a:ext cx="5853510" cy="30730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Picking from an arbitrary distribution</a:t>
            </a:r>
          </a:p>
        </p:txBody>
      </p:sp>
      <p:sp>
        <p:nvSpPr>
          <p:cNvPr id="142" name="Shape 142"/>
          <p:cNvSpPr/>
          <p:nvPr>
            <p:ph type="body" idx="1"/>
          </p:nvPr>
        </p:nvSpPr>
        <p:spPr>
          <a:xfrm>
            <a:off x="954906" y="2222500"/>
            <a:ext cx="11429356" cy="5308600"/>
          </a:xfrm>
          <a:prstGeom prst="rect">
            <a:avLst/>
          </a:prstGeom>
        </p:spPr>
        <p:txBody>
          <a:bodyPr/>
          <a:lstStyle/>
          <a:p>
            <a:pPr/>
            <a:r>
              <a:t>Suppose we have probabilities </a:t>
            </a:r>
            <a:r>
              <a:rPr b="0" i="1"/>
              <a:t>p</a:t>
            </a:r>
            <a:r>
              <a:rPr b="0" baseline="-5999" i="1"/>
              <a:t>k</a:t>
            </a:r>
            <a:r>
              <a:t> and we wish to choose number </a:t>
            </a:r>
            <a:r>
              <a:rPr b="0" i="1"/>
              <a:t>k</a:t>
            </a:r>
            <a:r>
              <a:t> with probability </a:t>
            </a:r>
            <a:r>
              <a:rPr b="0" i="1"/>
              <a:t>p</a:t>
            </a:r>
            <a:r>
              <a:rPr b="0" baseline="-5999" i="1"/>
              <a:t>k</a:t>
            </a:r>
          </a:p>
          <a:p>
            <a:pPr/>
            <a:r>
              <a:t>Example with five probabilities</a:t>
            </a:r>
          </a:p>
          <a:p>
            <a:pPr/>
          </a:p>
          <a:p>
            <a:pPr/>
            <a:r>
              <a:t>Define cumulative probabilities</a:t>
            </a:r>
          </a:p>
          <a:p>
            <a:pPr/>
          </a:p>
          <a:p>
            <a:pPr/>
            <a:r>
              <a:t>Probabilities on a number line:</a:t>
            </a:r>
          </a:p>
        </p:txBody>
      </p:sp>
      <p:sp>
        <p:nvSpPr>
          <p:cNvPr id="143" name="Shape 143"/>
          <p:cNvSpPr/>
          <p:nvPr/>
        </p:nvSpPr>
        <p:spPr>
          <a:xfrm>
            <a:off x="1406277" y="8446244"/>
            <a:ext cx="3063330" cy="633512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4" name="Shape 144"/>
          <p:cNvSpPr/>
          <p:nvPr/>
        </p:nvSpPr>
        <p:spPr>
          <a:xfrm>
            <a:off x="4466977" y="8446244"/>
            <a:ext cx="3063330" cy="633512"/>
          </a:xfrm>
          <a:prstGeom prst="rect">
            <a:avLst/>
          </a:prstGeom>
          <a:solidFill>
            <a:schemeClr val="accent1">
              <a:satOff val="-3355"/>
              <a:lumOff val="26614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5" name="Shape 145"/>
          <p:cNvSpPr/>
          <p:nvPr/>
        </p:nvSpPr>
        <p:spPr>
          <a:xfrm>
            <a:off x="7527676" y="8446244"/>
            <a:ext cx="2038599" cy="633512"/>
          </a:xfrm>
          <a:prstGeom prst="rect">
            <a:avLst/>
          </a:prstGeom>
          <a:solidFill>
            <a:schemeClr val="accent5">
              <a:hueOff val="-444211"/>
              <a:satOff val="-14915"/>
              <a:lumOff val="22857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6" name="Shape 146"/>
          <p:cNvSpPr/>
          <p:nvPr/>
        </p:nvSpPr>
        <p:spPr>
          <a:xfrm>
            <a:off x="9559676" y="8446244"/>
            <a:ext cx="1022848" cy="633512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7" name="Shape 147"/>
          <p:cNvSpPr/>
          <p:nvPr/>
        </p:nvSpPr>
        <p:spPr>
          <a:xfrm>
            <a:off x="10575676" y="8446244"/>
            <a:ext cx="1022848" cy="633512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48" name="Shape 148"/>
          <p:cNvSpPr/>
          <p:nvPr/>
        </p:nvSpPr>
        <p:spPr>
          <a:xfrm>
            <a:off x="2662547" y="8401050"/>
            <a:ext cx="53808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0</a:t>
            </a:r>
          </a:p>
        </p:txBody>
      </p:sp>
      <p:pic>
        <p:nvPicPr>
          <p:cNvPr id="149" name="rpr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93472" y="5795014"/>
            <a:ext cx="1552223" cy="1014915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Shape 150"/>
          <p:cNvSpPr/>
          <p:nvPr/>
        </p:nvSpPr>
        <p:spPr>
          <a:xfrm>
            <a:off x="5729597" y="8401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1</a:t>
            </a:r>
          </a:p>
        </p:txBody>
      </p:sp>
      <p:sp>
        <p:nvSpPr>
          <p:cNvPr id="151" name="Shape 151"/>
          <p:cNvSpPr/>
          <p:nvPr/>
        </p:nvSpPr>
        <p:spPr>
          <a:xfrm>
            <a:off x="8277931" y="8401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2</a:t>
            </a:r>
          </a:p>
        </p:txBody>
      </p:sp>
      <p:sp>
        <p:nvSpPr>
          <p:cNvPr id="152" name="Shape 152"/>
          <p:cNvSpPr/>
          <p:nvPr/>
        </p:nvSpPr>
        <p:spPr>
          <a:xfrm>
            <a:off x="9802055" y="8401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3</a:t>
            </a:r>
          </a:p>
        </p:txBody>
      </p:sp>
      <p:sp>
        <p:nvSpPr>
          <p:cNvPr id="153" name="Shape 153"/>
          <p:cNvSpPr/>
          <p:nvPr/>
        </p:nvSpPr>
        <p:spPr>
          <a:xfrm>
            <a:off x="10818055" y="8401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4</a:t>
            </a:r>
          </a:p>
        </p:txBody>
      </p:sp>
      <p:sp>
        <p:nvSpPr>
          <p:cNvPr id="154" name="Shape 154"/>
          <p:cNvSpPr/>
          <p:nvPr/>
        </p:nvSpPr>
        <p:spPr>
          <a:xfrm>
            <a:off x="4237483" y="7791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0</a:t>
            </a:r>
          </a:p>
        </p:txBody>
      </p:sp>
      <p:sp>
        <p:nvSpPr>
          <p:cNvPr id="155" name="Shape 155"/>
          <p:cNvSpPr/>
          <p:nvPr/>
        </p:nvSpPr>
        <p:spPr>
          <a:xfrm>
            <a:off x="7285483" y="7791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1</a:t>
            </a:r>
          </a:p>
        </p:txBody>
      </p:sp>
      <p:sp>
        <p:nvSpPr>
          <p:cNvPr id="156" name="Shape 156"/>
          <p:cNvSpPr/>
          <p:nvPr/>
        </p:nvSpPr>
        <p:spPr>
          <a:xfrm>
            <a:off x="1197905" y="7791450"/>
            <a:ext cx="3685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57" name="Shape 157"/>
          <p:cNvSpPr/>
          <p:nvPr/>
        </p:nvSpPr>
        <p:spPr>
          <a:xfrm>
            <a:off x="9190483" y="7791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2</a:t>
            </a:r>
          </a:p>
        </p:txBody>
      </p:sp>
      <p:sp>
        <p:nvSpPr>
          <p:cNvPr id="158" name="Shape 158"/>
          <p:cNvSpPr/>
          <p:nvPr/>
        </p:nvSpPr>
        <p:spPr>
          <a:xfrm>
            <a:off x="10333483" y="7791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3</a:t>
            </a:r>
          </a:p>
        </p:txBody>
      </p:sp>
      <p:sp>
        <p:nvSpPr>
          <p:cNvPr id="159" name="Shape 159"/>
          <p:cNvSpPr/>
          <p:nvPr/>
        </p:nvSpPr>
        <p:spPr>
          <a:xfrm>
            <a:off x="11355523" y="7791450"/>
            <a:ext cx="128773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4</a:t>
            </a:r>
            <a:r>
              <a:rPr i="0"/>
              <a:t> = 1</a:t>
            </a:r>
          </a:p>
        </p:txBody>
      </p:sp>
      <p:pic>
        <p:nvPicPr>
          <p:cNvPr id="160" name="rpr7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86427" y="4397222"/>
            <a:ext cx="8366314" cy="5148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First approach</a:t>
            </a:r>
          </a:p>
        </p:txBody>
      </p:sp>
      <p:sp>
        <p:nvSpPr>
          <p:cNvPr id="163" name="Shape 163"/>
          <p:cNvSpPr/>
          <p:nvPr>
            <p:ph type="body" sz="half" idx="1"/>
          </p:nvPr>
        </p:nvSpPr>
        <p:spPr>
          <a:xfrm>
            <a:off x="952500" y="4906019"/>
            <a:ext cx="11099800" cy="3971281"/>
          </a:xfrm>
          <a:prstGeom prst="rect">
            <a:avLst/>
          </a:prstGeom>
        </p:spPr>
        <p:txBody>
          <a:bodyPr/>
          <a:lstStyle/>
          <a:p>
            <a:pPr marL="435609" indent="-435609" defTabSz="572516">
              <a:spcBef>
                <a:spcPts val="2500"/>
              </a:spcBef>
              <a:defRPr sz="3528"/>
            </a:pPr>
            <a:r>
              <a:t>Choose random number </a:t>
            </a:r>
            <a:r>
              <a:rPr b="0" i="1"/>
              <a:t>U</a:t>
            </a:r>
            <a:r>
              <a:t> uniformly distributed from 0 to 1 (using Python “</a:t>
            </a:r>
            <a:r>
              <a:rPr b="0" sz="3038">
                <a:latin typeface="Menlo"/>
                <a:ea typeface="Menlo"/>
                <a:cs typeface="Menlo"/>
                <a:sym typeface="Menlo"/>
              </a:rPr>
              <a:t>random</a:t>
            </a:r>
            <a:r>
              <a:t>” function)</a:t>
            </a:r>
          </a:p>
          <a:p>
            <a:pPr marL="435609" indent="-435609" defTabSz="572516">
              <a:spcBef>
                <a:spcPts val="2500"/>
              </a:spcBef>
              <a:defRPr sz="3528"/>
            </a:pPr>
            <a:r>
              <a:t>Find which interval </a:t>
            </a:r>
            <a:r>
              <a:rPr b="0" i="1"/>
              <a:t>U</a:t>
            </a:r>
            <a:r>
              <a:t> lies in, and choose the corresponding number</a:t>
            </a:r>
          </a:p>
          <a:p>
            <a:pPr marL="435609" indent="-435609" defTabSz="572516">
              <a:spcBef>
                <a:spcPts val="2500"/>
              </a:spcBef>
              <a:defRPr sz="3528"/>
            </a:pPr>
            <a:r>
              <a:t>Simple algorithm: if </a:t>
            </a:r>
            <a:r>
              <a:rPr b="0" i="1"/>
              <a:t>U</a:t>
            </a:r>
            <a:r>
              <a:rPr b="0"/>
              <a:t> &lt; </a:t>
            </a:r>
            <a:r>
              <a:rPr b="0" i="1"/>
              <a:t>c</a:t>
            </a:r>
            <a:r>
              <a:rPr b="0" baseline="-5999"/>
              <a:t>0</a:t>
            </a:r>
            <a:r>
              <a:t> choose 0, otherwise if </a:t>
            </a:r>
            <a:r>
              <a:rPr b="0" i="1"/>
              <a:t>U</a:t>
            </a:r>
            <a:r>
              <a:rPr b="0"/>
              <a:t> &lt; </a:t>
            </a:r>
            <a:r>
              <a:rPr b="0" i="1"/>
              <a:t>c</a:t>
            </a:r>
            <a:r>
              <a:rPr b="0" baseline="-5999"/>
              <a:t>1</a:t>
            </a:r>
            <a:r>
              <a:t> choose 1, otherwise if </a:t>
            </a:r>
            <a:r>
              <a:rPr b="0" i="1"/>
              <a:t>U</a:t>
            </a:r>
            <a:r>
              <a:rPr b="0"/>
              <a:t> &lt; </a:t>
            </a:r>
            <a:r>
              <a:rPr b="0" i="1"/>
              <a:t>c</a:t>
            </a:r>
            <a:r>
              <a:rPr b="0" baseline="-5999"/>
              <a:t>2</a:t>
            </a:r>
            <a:r>
              <a:t> choose 2, </a:t>
            </a:r>
            <a:r>
              <a:rPr i="1"/>
              <a:t>etc.</a:t>
            </a:r>
          </a:p>
        </p:txBody>
      </p:sp>
      <p:sp>
        <p:nvSpPr>
          <p:cNvPr id="164" name="Shape 164"/>
          <p:cNvSpPr/>
          <p:nvPr/>
        </p:nvSpPr>
        <p:spPr>
          <a:xfrm>
            <a:off x="1444377" y="2858244"/>
            <a:ext cx="3063330" cy="633512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65" name="Shape 165"/>
          <p:cNvSpPr/>
          <p:nvPr/>
        </p:nvSpPr>
        <p:spPr>
          <a:xfrm>
            <a:off x="4505077" y="2858244"/>
            <a:ext cx="3063330" cy="633512"/>
          </a:xfrm>
          <a:prstGeom prst="rect">
            <a:avLst/>
          </a:prstGeom>
          <a:solidFill>
            <a:schemeClr val="accent1">
              <a:satOff val="-3355"/>
              <a:lumOff val="26614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66" name="Shape 166"/>
          <p:cNvSpPr/>
          <p:nvPr/>
        </p:nvSpPr>
        <p:spPr>
          <a:xfrm>
            <a:off x="7565776" y="2858244"/>
            <a:ext cx="2038599" cy="633512"/>
          </a:xfrm>
          <a:prstGeom prst="rect">
            <a:avLst/>
          </a:prstGeom>
          <a:solidFill>
            <a:schemeClr val="accent5">
              <a:hueOff val="-444211"/>
              <a:satOff val="-14915"/>
              <a:lumOff val="22857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67" name="Shape 167"/>
          <p:cNvSpPr/>
          <p:nvPr/>
        </p:nvSpPr>
        <p:spPr>
          <a:xfrm>
            <a:off x="9597776" y="2858244"/>
            <a:ext cx="1022848" cy="633512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68" name="Shape 168"/>
          <p:cNvSpPr/>
          <p:nvPr/>
        </p:nvSpPr>
        <p:spPr>
          <a:xfrm>
            <a:off x="10613776" y="2858244"/>
            <a:ext cx="1022848" cy="633512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69" name="Shape 169"/>
          <p:cNvSpPr/>
          <p:nvPr/>
        </p:nvSpPr>
        <p:spPr>
          <a:xfrm>
            <a:off x="2700647" y="2813050"/>
            <a:ext cx="53808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0</a:t>
            </a:r>
          </a:p>
        </p:txBody>
      </p:sp>
      <p:sp>
        <p:nvSpPr>
          <p:cNvPr id="170" name="Shape 170"/>
          <p:cNvSpPr/>
          <p:nvPr/>
        </p:nvSpPr>
        <p:spPr>
          <a:xfrm>
            <a:off x="5767697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1</a:t>
            </a:r>
          </a:p>
        </p:txBody>
      </p:sp>
      <p:sp>
        <p:nvSpPr>
          <p:cNvPr id="171" name="Shape 171"/>
          <p:cNvSpPr/>
          <p:nvPr/>
        </p:nvSpPr>
        <p:spPr>
          <a:xfrm>
            <a:off x="8316031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2</a:t>
            </a:r>
          </a:p>
        </p:txBody>
      </p:sp>
      <p:sp>
        <p:nvSpPr>
          <p:cNvPr id="172" name="Shape 172"/>
          <p:cNvSpPr/>
          <p:nvPr/>
        </p:nvSpPr>
        <p:spPr>
          <a:xfrm>
            <a:off x="9840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3</a:t>
            </a:r>
          </a:p>
        </p:txBody>
      </p:sp>
      <p:sp>
        <p:nvSpPr>
          <p:cNvPr id="173" name="Shape 173"/>
          <p:cNvSpPr/>
          <p:nvPr/>
        </p:nvSpPr>
        <p:spPr>
          <a:xfrm>
            <a:off x="10856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4</a:t>
            </a:r>
          </a:p>
        </p:txBody>
      </p:sp>
      <p:sp>
        <p:nvSpPr>
          <p:cNvPr id="174" name="Shape 174"/>
          <p:cNvSpPr/>
          <p:nvPr/>
        </p:nvSpPr>
        <p:spPr>
          <a:xfrm>
            <a:off x="4275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0</a:t>
            </a:r>
          </a:p>
        </p:txBody>
      </p:sp>
      <p:sp>
        <p:nvSpPr>
          <p:cNvPr id="175" name="Shape 175"/>
          <p:cNvSpPr/>
          <p:nvPr/>
        </p:nvSpPr>
        <p:spPr>
          <a:xfrm>
            <a:off x="7323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1</a:t>
            </a:r>
          </a:p>
        </p:txBody>
      </p:sp>
      <p:sp>
        <p:nvSpPr>
          <p:cNvPr id="176" name="Shape 176"/>
          <p:cNvSpPr/>
          <p:nvPr/>
        </p:nvSpPr>
        <p:spPr>
          <a:xfrm>
            <a:off x="1236005" y="2203450"/>
            <a:ext cx="3685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77" name="Shape 177"/>
          <p:cNvSpPr/>
          <p:nvPr/>
        </p:nvSpPr>
        <p:spPr>
          <a:xfrm>
            <a:off x="93047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2</a:t>
            </a:r>
          </a:p>
        </p:txBody>
      </p:sp>
      <p:sp>
        <p:nvSpPr>
          <p:cNvPr id="178" name="Shape 178"/>
          <p:cNvSpPr/>
          <p:nvPr/>
        </p:nvSpPr>
        <p:spPr>
          <a:xfrm>
            <a:off x="10371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3</a:t>
            </a:r>
          </a:p>
        </p:txBody>
      </p:sp>
      <p:sp>
        <p:nvSpPr>
          <p:cNvPr id="179" name="Shape 179"/>
          <p:cNvSpPr/>
          <p:nvPr/>
        </p:nvSpPr>
        <p:spPr>
          <a:xfrm>
            <a:off x="11393623" y="2203450"/>
            <a:ext cx="128773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4</a:t>
            </a:r>
            <a:r>
              <a:rPr i="0"/>
              <a:t> = 1</a:t>
            </a:r>
          </a:p>
        </p:txBody>
      </p:sp>
      <p:sp>
        <p:nvSpPr>
          <p:cNvPr id="180" name="Shape 180"/>
          <p:cNvSpPr/>
          <p:nvPr/>
        </p:nvSpPr>
        <p:spPr>
          <a:xfrm flipV="1">
            <a:off x="10375900" y="3576568"/>
            <a:ext cx="1" cy="632462"/>
          </a:xfrm>
          <a:prstGeom prst="line">
            <a:avLst/>
          </a:prstGeom>
          <a:ln w="50800">
            <a:solidFill>
              <a:schemeClr val="accent4">
                <a:satOff val="1488"/>
                <a:lumOff val="-7242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81" name="Shape 181"/>
          <p:cNvSpPr/>
          <p:nvPr/>
        </p:nvSpPr>
        <p:spPr>
          <a:xfrm>
            <a:off x="10405554" y="3968750"/>
            <a:ext cx="44447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4">
                    <a:satOff val="1488"/>
                    <a:lumOff val="-724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Example: geometric distribution</a:t>
            </a:r>
          </a:p>
        </p:txBody>
      </p:sp>
      <p:sp>
        <p:nvSpPr>
          <p:cNvPr id="184" name="Shape 184"/>
          <p:cNvSpPr/>
          <p:nvPr>
            <p:ph type="body" idx="1"/>
          </p:nvPr>
        </p:nvSpPr>
        <p:spPr>
          <a:xfrm>
            <a:off x="952500" y="2609850"/>
            <a:ext cx="11099801" cy="6286501"/>
          </a:xfrm>
          <a:prstGeom prst="rect">
            <a:avLst/>
          </a:prstGeom>
        </p:spPr>
        <p:txBody>
          <a:bodyPr/>
          <a:lstStyle/>
          <a:p>
            <a:pPr/>
            <a:r>
              <a:t>Recall from homework 4, </a:t>
            </a:r>
            <a:r>
              <a:rPr b="0" i="1"/>
              <a:t>X</a:t>
            </a:r>
            <a:r>
              <a:t> follows a geometric distribution if </a:t>
            </a:r>
          </a:p>
          <a:p>
            <a:pPr/>
          </a:p>
          <a:p>
            <a:pPr/>
          </a:p>
          <a:p>
            <a:pPr/>
            <a:r>
              <a:t>Can create a truncated geometric distribution with </a:t>
            </a:r>
            <a:r>
              <a:rPr b="0" i="1"/>
              <a:t>n</a:t>
            </a:r>
            <a:r>
              <a:t> outcomes,</a:t>
            </a:r>
          </a:p>
        </p:txBody>
      </p:sp>
      <p:pic>
        <p:nvPicPr>
          <p:cNvPr id="185" name="rpr5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65821" y="4113857"/>
            <a:ext cx="7791877" cy="111744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rpr6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66268" y="7383643"/>
            <a:ext cx="8590983" cy="12178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/>
          <p:nvPr/>
        </p:nvSpPr>
        <p:spPr>
          <a:xfrm>
            <a:off x="437232" y="190500"/>
            <a:ext cx="12130336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defRPr b="1"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sx="100000" sy="100000" kx="0" ky="0" algn="b" rotWithShape="0" blurRad="88900" dist="38100" dir="270000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Random sampling</a:t>
            </a:r>
          </a:p>
        </p:txBody>
      </p:sp>
      <p:sp>
        <p:nvSpPr>
          <p:cNvPr id="189" name="Shape 189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90" name="Shape 190"/>
          <p:cNvSpPr/>
          <p:nvPr/>
        </p:nvSpPr>
        <p:spPr>
          <a:xfrm>
            <a:off x="870762" y="193675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Input program</a:t>
            </a:r>
          </a:p>
        </p:txBody>
      </p:sp>
      <p:sp>
        <p:nvSpPr>
          <p:cNvPr id="191" name="Shape 191"/>
          <p:cNvSpPr/>
          <p:nvPr/>
        </p:nvSpPr>
        <p:spPr>
          <a:xfrm>
            <a:off x="7333665" y="1936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92" name="Shape 192"/>
          <p:cNvSpPr/>
          <p:nvPr/>
        </p:nvSpPr>
        <p:spPr>
          <a:xfrm>
            <a:off x="7301913" y="2666999"/>
            <a:ext cx="458374" cy="46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1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22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0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16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6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52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32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9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18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3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13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9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25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42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6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12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latin typeface="Menlo"/>
                <a:ea typeface="Menlo"/>
                <a:cs typeface="Menlo"/>
                <a:sym typeface="Menlo"/>
              </a:defRPr>
            </a:pPr>
            <a:r>
              <a:t>81</a:t>
            </a:r>
          </a:p>
        </p:txBody>
      </p:sp>
      <p:sp>
        <p:nvSpPr>
          <p:cNvPr id="193" name="Shape 193"/>
          <p:cNvSpPr/>
          <p:nvPr/>
        </p:nvSpPr>
        <p:spPr>
          <a:xfrm>
            <a:off x="797855" y="2641600"/>
            <a:ext cx="4824264" cy="640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random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random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Total number of entries to consider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0433FF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n=</a:t>
            </a:r>
            <a:r>
              <a:t>100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Create a truncated geometric distribution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0433FF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l=</a:t>
            </a:r>
            <a:r>
              <a:t>0.95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p=[</a:t>
            </a:r>
            <a:r>
              <a:rPr>
                <a:solidFill>
                  <a:srgbClr val="0433FF"/>
                </a:solidFill>
              </a:rPr>
              <a:t>0</a:t>
            </a:r>
            <a:r>
              <a:t>]*n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p[</a:t>
            </a:r>
            <a:r>
              <a:rPr>
                <a:solidFill>
                  <a:srgbClr val="0433FF"/>
                </a:solidFill>
              </a:rPr>
              <a:t>0</a:t>
            </a:r>
            <a:r>
              <a:t>]=(</a:t>
            </a:r>
            <a:r>
              <a:rPr>
                <a:solidFill>
                  <a:srgbClr val="0433FF"/>
                </a:solidFill>
              </a:rPr>
              <a:t>1</a:t>
            </a:r>
            <a:r>
              <a:t>-l)/(</a:t>
            </a:r>
            <a:r>
              <a:rPr>
                <a:solidFill>
                  <a:srgbClr val="0433FF"/>
                </a:solidFill>
              </a:rPr>
              <a:t>1</a:t>
            </a:r>
            <a:r>
              <a:t>-l**n)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433FF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,n):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    p[i]=p[i-</a:t>
            </a:r>
            <a:r>
              <a:rPr>
                <a:solidFill>
                  <a:srgbClr val="0433FF"/>
                </a:solidFill>
              </a:rPr>
              <a:t>1</a:t>
            </a:r>
            <a:r>
              <a:t>]*l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Create cumulative probabilities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c=[</a:t>
            </a:r>
            <a:r>
              <a:rPr>
                <a:solidFill>
                  <a:srgbClr val="0433FF"/>
                </a:solidFill>
              </a:rPr>
              <a:t>0</a:t>
            </a:r>
            <a:r>
              <a:t>]*n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c[</a:t>
            </a:r>
            <a:r>
              <a:rPr>
                <a:solidFill>
                  <a:srgbClr val="0433FF"/>
                </a:solidFill>
              </a:rPr>
              <a:t>0</a:t>
            </a:r>
            <a:r>
              <a:t>]=p[</a:t>
            </a:r>
            <a:r>
              <a:rPr>
                <a:solidFill>
                  <a:srgbClr val="0433FF"/>
                </a:solidFill>
              </a:rPr>
              <a:t>0</a:t>
            </a:r>
            <a:r>
              <a:t>]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433FF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,n-</a:t>
            </a:r>
            <a:r>
              <a:rPr>
                <a:solidFill>
                  <a:srgbClr val="0433FF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    c[i]=c[i-</a:t>
            </a:r>
            <a:r>
              <a:rPr>
                <a:solidFill>
                  <a:srgbClr val="0433FF"/>
                </a:solidFill>
              </a:rPr>
              <a:t>1</a:t>
            </a:r>
            <a:r>
              <a:t>]+p[i]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c[n-</a:t>
            </a:r>
            <a:r>
              <a:rPr>
                <a:solidFill>
                  <a:srgbClr val="0433FF"/>
                </a:solidFill>
              </a:rPr>
              <a:t>1</a:t>
            </a:r>
            <a:r>
              <a:t>]=</a:t>
            </a:r>
            <a:r>
              <a:rPr>
                <a:solidFill>
                  <a:srgbClr val="0433FF"/>
                </a:solidFill>
              </a:rPr>
              <a:t>1.0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Function to calculate a random variable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following the distribution of the p[k]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2100"/>
                </a:solidFill>
              </a:rPr>
              <a:t>def</a:t>
            </a:r>
            <a:r>
              <a:rPr>
                <a:solidFill>
                  <a:srgbClr val="000000"/>
                </a:solidFill>
              </a:rPr>
              <a:t> </a:t>
            </a:r>
            <a:r>
              <a:t>geo1</a:t>
            </a:r>
            <a:r>
              <a:rPr>
                <a:solidFill>
                  <a:srgbClr val="000000"/>
                </a:solidFill>
              </a:rPr>
              <a:t>():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t>    r=random()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</a:t>
            </a:r>
            <a:r>
              <a:rPr>
                <a:solidFill>
                  <a:srgbClr val="000000"/>
                </a:solidFill>
              </a:rPr>
              <a:t> k=</a:t>
            </a:r>
            <a:r>
              <a:rPr>
                <a:solidFill>
                  <a:srgbClr val="0433FF"/>
                </a:solidFill>
              </a:rPr>
              <a:t>0</a:t>
            </a:r>
            <a:r>
              <a:t>   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</a:t>
            </a:r>
            <a:r>
              <a:t> </a:t>
            </a:r>
            <a:r>
              <a:rPr>
                <a:solidFill>
                  <a:srgbClr val="E539E5"/>
                </a:solidFill>
              </a:rPr>
              <a:t>while</a:t>
            </a:r>
            <a:r>
              <a:t>(r&gt;c[k]):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   </a:t>
            </a:r>
            <a:r>
              <a:rPr>
                <a:solidFill>
                  <a:srgbClr val="000000"/>
                </a:solidFill>
              </a:rPr>
              <a:t> k+=</a:t>
            </a:r>
            <a:r>
              <a:rPr>
                <a:solidFill>
                  <a:srgbClr val="0433FF"/>
                </a:solidFill>
              </a:rPr>
              <a:t>1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E521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</a:t>
            </a:r>
            <a:r>
              <a:rPr>
                <a:solidFill>
                  <a:srgbClr val="000000"/>
                </a:solidFill>
              </a:rPr>
              <a:t> 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k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    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Print some random numbers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433FF"/>
                </a:solidFill>
              </a:rPr>
              <a:t>20</a:t>
            </a:r>
            <a:r>
              <a:rPr>
                <a:solidFill>
                  <a:srgbClr val="000000"/>
                </a:solidFill>
              </a:rPr>
              <a:t>): 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</a:t>
            </a:r>
            <a:r>
              <a:t> </a:t>
            </a:r>
            <a:r>
              <a:rPr>
                <a:solidFill>
                  <a:srgbClr val="AF5F00"/>
                </a:solidFill>
              </a:rPr>
              <a:t>print</a:t>
            </a:r>
            <a:r>
              <a:t> geo1()</a:t>
            </a:r>
          </a:p>
        </p:txBody>
      </p:sp>
      <p:sp>
        <p:nvSpPr>
          <p:cNvPr id="194" name="Shape 194"/>
          <p:cNvSpPr/>
          <p:nvPr/>
        </p:nvSpPr>
        <p:spPr>
          <a:xfrm>
            <a:off x="97383" y="9213849"/>
            <a:ext cx="289217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Example: cumul.py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Improved approach (bisection)</a:t>
            </a:r>
          </a:p>
        </p:txBody>
      </p:sp>
      <p:sp>
        <p:nvSpPr>
          <p:cNvPr id="197" name="Shape 197"/>
          <p:cNvSpPr/>
          <p:nvPr>
            <p:ph type="body" sz="half" idx="1"/>
          </p:nvPr>
        </p:nvSpPr>
        <p:spPr>
          <a:xfrm>
            <a:off x="952500" y="5940176"/>
            <a:ext cx="11099801" cy="3402609"/>
          </a:xfrm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2000"/>
              </a:spcBef>
              <a:defRPr sz="2772"/>
            </a:pPr>
            <a:r>
              <a:t>First check if </a:t>
            </a:r>
            <a:r>
              <a:rPr b="0" i="1"/>
              <a:t>U</a:t>
            </a:r>
            <a:r>
              <a:t> is smaller than </a:t>
            </a:r>
            <a:r>
              <a:rPr b="0" i="1"/>
              <a:t>c</a:t>
            </a:r>
            <a:r>
              <a:rPr b="0" baseline="-5999"/>
              <a:t>0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Otherwise it is between </a:t>
            </a:r>
            <a:r>
              <a:rPr b="0" i="1"/>
              <a:t>c</a:t>
            </a:r>
            <a:r>
              <a:rPr b="0" baseline="-5999"/>
              <a:t>0</a:t>
            </a:r>
            <a:r>
              <a:t> and </a:t>
            </a:r>
            <a:r>
              <a:rPr b="0" i="1"/>
              <a:t>c</a:t>
            </a:r>
            <a:r>
              <a:rPr b="0" baseline="-5999"/>
              <a:t>4</a:t>
            </a:r>
            <a:r>
              <a:t>: set those limits to be </a:t>
            </a:r>
            <a:r>
              <a:rPr b="0" i="1"/>
              <a:t>lo</a:t>
            </a:r>
            <a:r>
              <a:t> and </a:t>
            </a:r>
            <a:r>
              <a:rPr b="0" i="1"/>
              <a:t>hi</a:t>
            </a:r>
            <a:endParaRPr b="0" i="1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Set test to halfway between at </a:t>
            </a:r>
            <a:r>
              <a:rPr b="0" i="1"/>
              <a:t>c</a:t>
            </a:r>
            <a:r>
              <a:rPr b="0" baseline="-5999"/>
              <a:t>2</a:t>
            </a:r>
            <a:endParaRPr b="0" i="1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If </a:t>
            </a:r>
            <a:r>
              <a:rPr b="0" i="1"/>
              <a:t>test</a:t>
            </a:r>
            <a:r>
              <a:rPr b="0"/>
              <a:t> &gt; </a:t>
            </a:r>
            <a:r>
              <a:rPr b="0" i="1"/>
              <a:t>U</a:t>
            </a:r>
            <a:r>
              <a:t>, set </a:t>
            </a:r>
            <a:r>
              <a:rPr b="0" i="1"/>
              <a:t>hi</a:t>
            </a:r>
            <a:r>
              <a:t> to </a:t>
            </a:r>
            <a:r>
              <a:rPr b="0" i="1"/>
              <a:t>test</a:t>
            </a:r>
            <a:r>
              <a:t>. If </a:t>
            </a:r>
            <a:r>
              <a:rPr b="0" i="1"/>
              <a:t>test</a:t>
            </a:r>
            <a:r>
              <a:rPr b="0"/>
              <a:t> &lt; </a:t>
            </a:r>
            <a:r>
              <a:rPr b="0" i="1"/>
              <a:t>U</a:t>
            </a:r>
            <a:r>
              <a:t>, set </a:t>
            </a:r>
            <a:r>
              <a:rPr b="0" i="1"/>
              <a:t>lo</a:t>
            </a:r>
            <a:r>
              <a:t> to </a:t>
            </a:r>
            <a:r>
              <a:rPr b="0" i="1"/>
              <a:t>test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Repeat until </a:t>
            </a:r>
            <a:r>
              <a:rPr b="0" i="1"/>
              <a:t>lo</a:t>
            </a:r>
            <a:r>
              <a:t> and </a:t>
            </a:r>
            <a:r>
              <a:rPr b="0" i="1"/>
              <a:t>hi</a:t>
            </a:r>
            <a:r>
              <a:t> are adjacent </a:t>
            </a:r>
          </a:p>
        </p:txBody>
      </p:sp>
      <p:sp>
        <p:nvSpPr>
          <p:cNvPr id="198" name="Shape 198"/>
          <p:cNvSpPr/>
          <p:nvPr/>
        </p:nvSpPr>
        <p:spPr>
          <a:xfrm>
            <a:off x="1444377" y="2858244"/>
            <a:ext cx="3063330" cy="633512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199" name="Shape 199"/>
          <p:cNvSpPr/>
          <p:nvPr/>
        </p:nvSpPr>
        <p:spPr>
          <a:xfrm>
            <a:off x="4505077" y="2858244"/>
            <a:ext cx="3063330" cy="633512"/>
          </a:xfrm>
          <a:prstGeom prst="rect">
            <a:avLst/>
          </a:prstGeom>
          <a:solidFill>
            <a:schemeClr val="accent1">
              <a:satOff val="-3355"/>
              <a:lumOff val="26614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00" name="Shape 200"/>
          <p:cNvSpPr/>
          <p:nvPr/>
        </p:nvSpPr>
        <p:spPr>
          <a:xfrm>
            <a:off x="7565776" y="2858244"/>
            <a:ext cx="2038599" cy="633512"/>
          </a:xfrm>
          <a:prstGeom prst="rect">
            <a:avLst/>
          </a:prstGeom>
          <a:solidFill>
            <a:schemeClr val="accent5">
              <a:hueOff val="-444211"/>
              <a:satOff val="-14915"/>
              <a:lumOff val="22857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01" name="Shape 201"/>
          <p:cNvSpPr/>
          <p:nvPr/>
        </p:nvSpPr>
        <p:spPr>
          <a:xfrm>
            <a:off x="9597776" y="2858244"/>
            <a:ext cx="1022848" cy="633512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02" name="Shape 202"/>
          <p:cNvSpPr/>
          <p:nvPr/>
        </p:nvSpPr>
        <p:spPr>
          <a:xfrm>
            <a:off x="10613776" y="2858244"/>
            <a:ext cx="1022848" cy="633512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03" name="Shape 203"/>
          <p:cNvSpPr/>
          <p:nvPr/>
        </p:nvSpPr>
        <p:spPr>
          <a:xfrm>
            <a:off x="2700647" y="2813050"/>
            <a:ext cx="53808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0</a:t>
            </a:r>
          </a:p>
        </p:txBody>
      </p:sp>
      <p:sp>
        <p:nvSpPr>
          <p:cNvPr id="204" name="Shape 204"/>
          <p:cNvSpPr/>
          <p:nvPr/>
        </p:nvSpPr>
        <p:spPr>
          <a:xfrm>
            <a:off x="5767697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1</a:t>
            </a:r>
          </a:p>
        </p:txBody>
      </p:sp>
      <p:sp>
        <p:nvSpPr>
          <p:cNvPr id="205" name="Shape 205"/>
          <p:cNvSpPr/>
          <p:nvPr/>
        </p:nvSpPr>
        <p:spPr>
          <a:xfrm>
            <a:off x="8316031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2</a:t>
            </a:r>
          </a:p>
        </p:txBody>
      </p:sp>
      <p:sp>
        <p:nvSpPr>
          <p:cNvPr id="206" name="Shape 206"/>
          <p:cNvSpPr/>
          <p:nvPr/>
        </p:nvSpPr>
        <p:spPr>
          <a:xfrm>
            <a:off x="9840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3</a:t>
            </a:r>
          </a:p>
        </p:txBody>
      </p:sp>
      <p:sp>
        <p:nvSpPr>
          <p:cNvPr id="207" name="Shape 207"/>
          <p:cNvSpPr/>
          <p:nvPr/>
        </p:nvSpPr>
        <p:spPr>
          <a:xfrm>
            <a:off x="10856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4</a:t>
            </a:r>
          </a:p>
        </p:txBody>
      </p:sp>
      <p:sp>
        <p:nvSpPr>
          <p:cNvPr id="208" name="Shape 208"/>
          <p:cNvSpPr/>
          <p:nvPr/>
        </p:nvSpPr>
        <p:spPr>
          <a:xfrm>
            <a:off x="4275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0</a:t>
            </a:r>
          </a:p>
        </p:txBody>
      </p:sp>
      <p:sp>
        <p:nvSpPr>
          <p:cNvPr id="209" name="Shape 209"/>
          <p:cNvSpPr/>
          <p:nvPr/>
        </p:nvSpPr>
        <p:spPr>
          <a:xfrm>
            <a:off x="7323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1</a:t>
            </a:r>
          </a:p>
        </p:txBody>
      </p:sp>
      <p:sp>
        <p:nvSpPr>
          <p:cNvPr id="210" name="Shape 210"/>
          <p:cNvSpPr/>
          <p:nvPr/>
        </p:nvSpPr>
        <p:spPr>
          <a:xfrm>
            <a:off x="1236005" y="2203450"/>
            <a:ext cx="3685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11" name="Shape 211"/>
          <p:cNvSpPr/>
          <p:nvPr/>
        </p:nvSpPr>
        <p:spPr>
          <a:xfrm>
            <a:off x="93047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2</a:t>
            </a:r>
          </a:p>
        </p:txBody>
      </p:sp>
      <p:sp>
        <p:nvSpPr>
          <p:cNvPr id="212" name="Shape 212"/>
          <p:cNvSpPr/>
          <p:nvPr/>
        </p:nvSpPr>
        <p:spPr>
          <a:xfrm>
            <a:off x="10371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3</a:t>
            </a:r>
          </a:p>
        </p:txBody>
      </p:sp>
      <p:sp>
        <p:nvSpPr>
          <p:cNvPr id="213" name="Shape 213"/>
          <p:cNvSpPr/>
          <p:nvPr/>
        </p:nvSpPr>
        <p:spPr>
          <a:xfrm>
            <a:off x="11393623" y="2203450"/>
            <a:ext cx="128773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4</a:t>
            </a:r>
            <a:r>
              <a:rPr i="0"/>
              <a:t> = 1</a:t>
            </a:r>
          </a:p>
        </p:txBody>
      </p:sp>
      <p:sp>
        <p:nvSpPr>
          <p:cNvPr id="214" name="Shape 214"/>
          <p:cNvSpPr/>
          <p:nvPr/>
        </p:nvSpPr>
        <p:spPr>
          <a:xfrm flipV="1">
            <a:off x="10375900" y="3576568"/>
            <a:ext cx="1" cy="632462"/>
          </a:xfrm>
          <a:prstGeom prst="line">
            <a:avLst/>
          </a:prstGeom>
          <a:ln w="50800">
            <a:solidFill>
              <a:schemeClr val="accent4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15" name="Shape 215"/>
          <p:cNvSpPr/>
          <p:nvPr/>
        </p:nvSpPr>
        <p:spPr>
          <a:xfrm>
            <a:off x="10153662" y="4210050"/>
            <a:ext cx="44447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4">
                    <a:satOff val="1488"/>
                    <a:lumOff val="-724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U</a:t>
            </a:r>
          </a:p>
        </p:txBody>
      </p:sp>
      <p:grpSp>
        <p:nvGrpSpPr>
          <p:cNvPr id="218" name="Group 218"/>
          <p:cNvGrpSpPr/>
          <p:nvPr/>
        </p:nvGrpSpPr>
        <p:grpSpPr>
          <a:xfrm>
            <a:off x="4296717" y="3576568"/>
            <a:ext cx="470149" cy="1903483"/>
            <a:chOff x="-6474" y="0"/>
            <a:chExt cx="470148" cy="1903481"/>
          </a:xfrm>
        </p:grpSpPr>
        <p:sp>
          <p:nvSpPr>
            <p:cNvPr id="216" name="Shape 216"/>
            <p:cNvSpPr/>
            <p:nvPr/>
          </p:nvSpPr>
          <p:spPr>
            <a:xfrm flipV="1">
              <a:off x="230708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17" name="Shape 217"/>
            <p:cNvSpPr/>
            <p:nvPr/>
          </p:nvSpPr>
          <p:spPr>
            <a:xfrm>
              <a:off x="-6475" y="1255781"/>
              <a:ext cx="470150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lo</a:t>
              </a:r>
            </a:p>
          </p:txBody>
        </p:sp>
      </p:grpSp>
      <p:grpSp>
        <p:nvGrpSpPr>
          <p:cNvPr id="221" name="Group 221"/>
          <p:cNvGrpSpPr/>
          <p:nvPr/>
        </p:nvGrpSpPr>
        <p:grpSpPr>
          <a:xfrm>
            <a:off x="9160780" y="3576568"/>
            <a:ext cx="851223" cy="1903483"/>
            <a:chOff x="3470" y="0"/>
            <a:chExt cx="851222" cy="1903481"/>
          </a:xfrm>
        </p:grpSpPr>
        <p:sp>
          <p:nvSpPr>
            <p:cNvPr id="219" name="Shape 219"/>
            <p:cNvSpPr/>
            <p:nvPr/>
          </p:nvSpPr>
          <p:spPr>
            <a:xfrm flipV="1">
              <a:off x="431190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20" name="Shape 220"/>
            <p:cNvSpPr/>
            <p:nvPr/>
          </p:nvSpPr>
          <p:spPr>
            <a:xfrm>
              <a:off x="3470" y="1255781"/>
              <a:ext cx="851224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test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11408717" y="3576568"/>
            <a:ext cx="470149" cy="1903483"/>
            <a:chOff x="-8302" y="0"/>
            <a:chExt cx="470148" cy="1903481"/>
          </a:xfrm>
        </p:grpSpPr>
        <p:sp>
          <p:nvSpPr>
            <p:cNvPr id="222" name="Shape 222"/>
            <p:cNvSpPr/>
            <p:nvPr/>
          </p:nvSpPr>
          <p:spPr>
            <a:xfrm flipV="1">
              <a:off x="228879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23" name="Shape 223"/>
            <p:cNvSpPr/>
            <p:nvPr/>
          </p:nvSpPr>
          <p:spPr>
            <a:xfrm>
              <a:off x="-8303" y="1255781"/>
              <a:ext cx="470149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hi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1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Improved approach (bisection)</a:t>
            </a:r>
          </a:p>
        </p:txBody>
      </p:sp>
      <p:sp>
        <p:nvSpPr>
          <p:cNvPr id="227" name="Shape 227"/>
          <p:cNvSpPr/>
          <p:nvPr>
            <p:ph type="body" sz="half" idx="1"/>
          </p:nvPr>
        </p:nvSpPr>
        <p:spPr>
          <a:xfrm>
            <a:off x="952500" y="5940176"/>
            <a:ext cx="11099801" cy="3402609"/>
          </a:xfrm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2000"/>
              </a:spcBef>
              <a:defRPr sz="2772"/>
            </a:pPr>
            <a:r>
              <a:t>First check if </a:t>
            </a:r>
            <a:r>
              <a:rPr b="0" i="1"/>
              <a:t>U</a:t>
            </a:r>
            <a:r>
              <a:t> is smaller than </a:t>
            </a:r>
            <a:r>
              <a:rPr b="0" i="1"/>
              <a:t>c</a:t>
            </a:r>
            <a:r>
              <a:rPr b="0" baseline="-5999"/>
              <a:t>0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Otherwise it is between </a:t>
            </a:r>
            <a:r>
              <a:rPr b="0" i="1"/>
              <a:t>c</a:t>
            </a:r>
            <a:r>
              <a:rPr b="0" baseline="-5999"/>
              <a:t>0</a:t>
            </a:r>
            <a:r>
              <a:t> and </a:t>
            </a:r>
            <a:r>
              <a:rPr b="0" i="1"/>
              <a:t>c</a:t>
            </a:r>
            <a:r>
              <a:rPr b="0" baseline="-5999"/>
              <a:t>4</a:t>
            </a:r>
            <a:r>
              <a:t>: set those limits to be </a:t>
            </a:r>
            <a:r>
              <a:rPr b="0" i="1"/>
              <a:t>lo</a:t>
            </a:r>
            <a:r>
              <a:t> and </a:t>
            </a:r>
            <a:r>
              <a:rPr b="0" i="1"/>
              <a:t>hi</a:t>
            </a:r>
            <a:endParaRPr b="0" i="1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Set test to halfway between at </a:t>
            </a:r>
            <a:r>
              <a:rPr b="0" i="1"/>
              <a:t>c</a:t>
            </a:r>
            <a:r>
              <a:rPr b="0" baseline="-5999"/>
              <a:t>2</a:t>
            </a:r>
            <a:endParaRPr b="0" i="1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If </a:t>
            </a:r>
            <a:r>
              <a:rPr b="0" i="1"/>
              <a:t>test</a:t>
            </a:r>
            <a:r>
              <a:rPr b="0"/>
              <a:t> &gt; </a:t>
            </a:r>
            <a:r>
              <a:rPr b="0" i="1"/>
              <a:t>U</a:t>
            </a:r>
            <a:r>
              <a:t>, set </a:t>
            </a:r>
            <a:r>
              <a:rPr b="0" i="1"/>
              <a:t>hi</a:t>
            </a:r>
            <a:r>
              <a:t> to </a:t>
            </a:r>
            <a:r>
              <a:rPr b="0" i="1"/>
              <a:t>test</a:t>
            </a:r>
            <a:r>
              <a:t>. If </a:t>
            </a:r>
            <a:r>
              <a:rPr b="0" i="1"/>
              <a:t>test</a:t>
            </a:r>
            <a:r>
              <a:rPr b="0"/>
              <a:t> &lt; </a:t>
            </a:r>
            <a:r>
              <a:rPr b="0" i="1"/>
              <a:t>U</a:t>
            </a:r>
            <a:r>
              <a:t>, set </a:t>
            </a:r>
            <a:r>
              <a:rPr b="0" i="1"/>
              <a:t>lo</a:t>
            </a:r>
            <a:r>
              <a:t> to </a:t>
            </a:r>
            <a:r>
              <a:rPr b="0" i="1"/>
              <a:t>test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Repeat until </a:t>
            </a:r>
            <a:r>
              <a:rPr b="0" i="1"/>
              <a:t>lo</a:t>
            </a:r>
            <a:r>
              <a:t> and </a:t>
            </a:r>
            <a:r>
              <a:rPr b="0" i="1"/>
              <a:t>hi</a:t>
            </a:r>
            <a:r>
              <a:t> are adjacent </a:t>
            </a:r>
          </a:p>
        </p:txBody>
      </p:sp>
      <p:sp>
        <p:nvSpPr>
          <p:cNvPr id="228" name="Shape 228"/>
          <p:cNvSpPr/>
          <p:nvPr/>
        </p:nvSpPr>
        <p:spPr>
          <a:xfrm>
            <a:off x="1444377" y="2858244"/>
            <a:ext cx="3063330" cy="633512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29" name="Shape 229"/>
          <p:cNvSpPr/>
          <p:nvPr/>
        </p:nvSpPr>
        <p:spPr>
          <a:xfrm>
            <a:off x="4505077" y="2858244"/>
            <a:ext cx="3063330" cy="633512"/>
          </a:xfrm>
          <a:prstGeom prst="rect">
            <a:avLst/>
          </a:prstGeom>
          <a:solidFill>
            <a:schemeClr val="accent1">
              <a:satOff val="-3355"/>
              <a:lumOff val="26614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30" name="Shape 230"/>
          <p:cNvSpPr/>
          <p:nvPr/>
        </p:nvSpPr>
        <p:spPr>
          <a:xfrm>
            <a:off x="7565776" y="2858244"/>
            <a:ext cx="2038599" cy="633512"/>
          </a:xfrm>
          <a:prstGeom prst="rect">
            <a:avLst/>
          </a:prstGeom>
          <a:solidFill>
            <a:schemeClr val="accent5">
              <a:hueOff val="-444211"/>
              <a:satOff val="-14915"/>
              <a:lumOff val="22857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31" name="Shape 231"/>
          <p:cNvSpPr/>
          <p:nvPr/>
        </p:nvSpPr>
        <p:spPr>
          <a:xfrm>
            <a:off x="9597776" y="2858244"/>
            <a:ext cx="1022848" cy="633512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32" name="Shape 232"/>
          <p:cNvSpPr/>
          <p:nvPr/>
        </p:nvSpPr>
        <p:spPr>
          <a:xfrm>
            <a:off x="10613776" y="2858244"/>
            <a:ext cx="1022848" cy="633512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33" name="Shape 233"/>
          <p:cNvSpPr/>
          <p:nvPr/>
        </p:nvSpPr>
        <p:spPr>
          <a:xfrm>
            <a:off x="2700647" y="2813050"/>
            <a:ext cx="53808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0</a:t>
            </a:r>
          </a:p>
        </p:txBody>
      </p:sp>
      <p:sp>
        <p:nvSpPr>
          <p:cNvPr id="234" name="Shape 234"/>
          <p:cNvSpPr/>
          <p:nvPr/>
        </p:nvSpPr>
        <p:spPr>
          <a:xfrm>
            <a:off x="5767697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1</a:t>
            </a:r>
          </a:p>
        </p:txBody>
      </p:sp>
      <p:sp>
        <p:nvSpPr>
          <p:cNvPr id="235" name="Shape 235"/>
          <p:cNvSpPr/>
          <p:nvPr/>
        </p:nvSpPr>
        <p:spPr>
          <a:xfrm>
            <a:off x="8316031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2</a:t>
            </a:r>
          </a:p>
        </p:txBody>
      </p:sp>
      <p:sp>
        <p:nvSpPr>
          <p:cNvPr id="236" name="Shape 236"/>
          <p:cNvSpPr/>
          <p:nvPr/>
        </p:nvSpPr>
        <p:spPr>
          <a:xfrm>
            <a:off x="9840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3</a:t>
            </a:r>
          </a:p>
        </p:txBody>
      </p:sp>
      <p:sp>
        <p:nvSpPr>
          <p:cNvPr id="237" name="Shape 237"/>
          <p:cNvSpPr/>
          <p:nvPr/>
        </p:nvSpPr>
        <p:spPr>
          <a:xfrm>
            <a:off x="10856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4</a:t>
            </a:r>
          </a:p>
        </p:txBody>
      </p:sp>
      <p:sp>
        <p:nvSpPr>
          <p:cNvPr id="238" name="Shape 238"/>
          <p:cNvSpPr/>
          <p:nvPr/>
        </p:nvSpPr>
        <p:spPr>
          <a:xfrm>
            <a:off x="4275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0</a:t>
            </a:r>
          </a:p>
        </p:txBody>
      </p:sp>
      <p:sp>
        <p:nvSpPr>
          <p:cNvPr id="239" name="Shape 239"/>
          <p:cNvSpPr/>
          <p:nvPr/>
        </p:nvSpPr>
        <p:spPr>
          <a:xfrm>
            <a:off x="7323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1</a:t>
            </a:r>
          </a:p>
        </p:txBody>
      </p:sp>
      <p:sp>
        <p:nvSpPr>
          <p:cNvPr id="240" name="Shape 240"/>
          <p:cNvSpPr/>
          <p:nvPr/>
        </p:nvSpPr>
        <p:spPr>
          <a:xfrm>
            <a:off x="1236005" y="2203450"/>
            <a:ext cx="3685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41" name="Shape 241"/>
          <p:cNvSpPr/>
          <p:nvPr/>
        </p:nvSpPr>
        <p:spPr>
          <a:xfrm>
            <a:off x="93047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2</a:t>
            </a:r>
          </a:p>
        </p:txBody>
      </p:sp>
      <p:sp>
        <p:nvSpPr>
          <p:cNvPr id="242" name="Shape 242"/>
          <p:cNvSpPr/>
          <p:nvPr/>
        </p:nvSpPr>
        <p:spPr>
          <a:xfrm>
            <a:off x="10371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3</a:t>
            </a:r>
          </a:p>
        </p:txBody>
      </p:sp>
      <p:sp>
        <p:nvSpPr>
          <p:cNvPr id="243" name="Shape 243"/>
          <p:cNvSpPr/>
          <p:nvPr/>
        </p:nvSpPr>
        <p:spPr>
          <a:xfrm>
            <a:off x="11393623" y="2203450"/>
            <a:ext cx="128773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4</a:t>
            </a:r>
            <a:r>
              <a:rPr i="0"/>
              <a:t> = 1</a:t>
            </a:r>
          </a:p>
        </p:txBody>
      </p:sp>
      <p:sp>
        <p:nvSpPr>
          <p:cNvPr id="244" name="Shape 244"/>
          <p:cNvSpPr/>
          <p:nvPr/>
        </p:nvSpPr>
        <p:spPr>
          <a:xfrm flipV="1">
            <a:off x="10375900" y="3576568"/>
            <a:ext cx="1" cy="632462"/>
          </a:xfrm>
          <a:prstGeom prst="line">
            <a:avLst/>
          </a:prstGeom>
          <a:ln w="50800">
            <a:solidFill>
              <a:schemeClr val="accent4">
                <a:satOff val="1488"/>
                <a:lumOff val="-7242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45" name="Shape 245"/>
          <p:cNvSpPr/>
          <p:nvPr/>
        </p:nvSpPr>
        <p:spPr>
          <a:xfrm>
            <a:off x="10153662" y="4210050"/>
            <a:ext cx="44447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4">
                    <a:satOff val="1488"/>
                    <a:lumOff val="-724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U</a:t>
            </a:r>
          </a:p>
        </p:txBody>
      </p:sp>
      <p:grpSp>
        <p:nvGrpSpPr>
          <p:cNvPr id="248" name="Group 248"/>
          <p:cNvGrpSpPr/>
          <p:nvPr/>
        </p:nvGrpSpPr>
        <p:grpSpPr>
          <a:xfrm>
            <a:off x="9351317" y="3573268"/>
            <a:ext cx="470149" cy="1903483"/>
            <a:chOff x="-6474" y="0"/>
            <a:chExt cx="470148" cy="1903481"/>
          </a:xfrm>
        </p:grpSpPr>
        <p:sp>
          <p:nvSpPr>
            <p:cNvPr id="246" name="Shape 246"/>
            <p:cNvSpPr/>
            <p:nvPr/>
          </p:nvSpPr>
          <p:spPr>
            <a:xfrm flipV="1">
              <a:off x="230708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47" name="Shape 247"/>
            <p:cNvSpPr/>
            <p:nvPr/>
          </p:nvSpPr>
          <p:spPr>
            <a:xfrm>
              <a:off x="-6475" y="1255781"/>
              <a:ext cx="470150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lo</a:t>
              </a:r>
            </a:p>
          </p:txBody>
        </p:sp>
      </p:grpSp>
      <p:grpSp>
        <p:nvGrpSpPr>
          <p:cNvPr id="251" name="Group 251"/>
          <p:cNvGrpSpPr/>
          <p:nvPr/>
        </p:nvGrpSpPr>
        <p:grpSpPr>
          <a:xfrm>
            <a:off x="10202180" y="3573268"/>
            <a:ext cx="851223" cy="1903483"/>
            <a:chOff x="3470" y="0"/>
            <a:chExt cx="851222" cy="1903481"/>
          </a:xfrm>
        </p:grpSpPr>
        <p:sp>
          <p:nvSpPr>
            <p:cNvPr id="249" name="Shape 249"/>
            <p:cNvSpPr/>
            <p:nvPr/>
          </p:nvSpPr>
          <p:spPr>
            <a:xfrm flipV="1">
              <a:off x="431190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50" name="Shape 250"/>
            <p:cNvSpPr/>
            <p:nvPr/>
          </p:nvSpPr>
          <p:spPr>
            <a:xfrm>
              <a:off x="3470" y="1255781"/>
              <a:ext cx="851224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test</a:t>
              </a:r>
            </a:p>
          </p:txBody>
        </p:sp>
      </p:grpSp>
      <p:grpSp>
        <p:nvGrpSpPr>
          <p:cNvPr id="254" name="Group 254"/>
          <p:cNvGrpSpPr/>
          <p:nvPr/>
        </p:nvGrpSpPr>
        <p:grpSpPr>
          <a:xfrm>
            <a:off x="11408717" y="3576568"/>
            <a:ext cx="470149" cy="1903483"/>
            <a:chOff x="-8302" y="0"/>
            <a:chExt cx="470148" cy="1903481"/>
          </a:xfrm>
        </p:grpSpPr>
        <p:sp>
          <p:nvSpPr>
            <p:cNvPr id="252" name="Shape 252"/>
            <p:cNvSpPr/>
            <p:nvPr/>
          </p:nvSpPr>
          <p:spPr>
            <a:xfrm flipV="1">
              <a:off x="228879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53" name="Shape 253"/>
            <p:cNvSpPr/>
            <p:nvPr/>
          </p:nvSpPr>
          <p:spPr>
            <a:xfrm>
              <a:off x="-8303" y="1255781"/>
              <a:ext cx="470149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hi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1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Improved approach (bisection)</a:t>
            </a:r>
          </a:p>
        </p:txBody>
      </p:sp>
      <p:sp>
        <p:nvSpPr>
          <p:cNvPr id="257" name="Shape 257"/>
          <p:cNvSpPr/>
          <p:nvPr>
            <p:ph type="body" sz="half" idx="1"/>
          </p:nvPr>
        </p:nvSpPr>
        <p:spPr>
          <a:xfrm>
            <a:off x="952500" y="5940176"/>
            <a:ext cx="11099801" cy="3402609"/>
          </a:xfrm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2000"/>
              </a:spcBef>
              <a:defRPr sz="2772"/>
            </a:pPr>
            <a:r>
              <a:t>First check if </a:t>
            </a:r>
            <a:r>
              <a:rPr b="0" i="1"/>
              <a:t>U</a:t>
            </a:r>
            <a:r>
              <a:t> is smaller than </a:t>
            </a:r>
            <a:r>
              <a:rPr b="0" i="1"/>
              <a:t>c</a:t>
            </a:r>
            <a:r>
              <a:rPr b="0" baseline="-5999"/>
              <a:t>0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Otherwise it is between </a:t>
            </a:r>
            <a:r>
              <a:rPr b="0" i="1"/>
              <a:t>c</a:t>
            </a:r>
            <a:r>
              <a:rPr b="0" baseline="-5999"/>
              <a:t>0</a:t>
            </a:r>
            <a:r>
              <a:t> and </a:t>
            </a:r>
            <a:r>
              <a:rPr b="0" i="1"/>
              <a:t>c</a:t>
            </a:r>
            <a:r>
              <a:rPr b="0" baseline="-5999"/>
              <a:t>4</a:t>
            </a:r>
            <a:r>
              <a:t>: set those limits to be </a:t>
            </a:r>
            <a:r>
              <a:rPr b="0" i="1"/>
              <a:t>lo</a:t>
            </a:r>
            <a:r>
              <a:t> and </a:t>
            </a:r>
            <a:r>
              <a:rPr b="0" i="1"/>
              <a:t>hi</a:t>
            </a:r>
            <a:endParaRPr b="0" i="1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Set test to halfway between at </a:t>
            </a:r>
            <a:r>
              <a:rPr b="0" i="1"/>
              <a:t>c</a:t>
            </a:r>
            <a:r>
              <a:rPr b="0" baseline="-5999"/>
              <a:t>2</a:t>
            </a:r>
            <a:endParaRPr b="0" i="1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If </a:t>
            </a:r>
            <a:r>
              <a:rPr b="0" i="1"/>
              <a:t>test</a:t>
            </a:r>
            <a:r>
              <a:rPr b="0"/>
              <a:t> &gt; </a:t>
            </a:r>
            <a:r>
              <a:rPr b="0" i="1"/>
              <a:t>U</a:t>
            </a:r>
            <a:r>
              <a:t>, set </a:t>
            </a:r>
            <a:r>
              <a:rPr b="0" i="1"/>
              <a:t>hi</a:t>
            </a:r>
            <a:r>
              <a:t> to </a:t>
            </a:r>
            <a:r>
              <a:rPr b="0" i="1"/>
              <a:t>test</a:t>
            </a:r>
            <a:r>
              <a:t>. If </a:t>
            </a:r>
            <a:r>
              <a:rPr b="0" i="1"/>
              <a:t>test</a:t>
            </a:r>
            <a:r>
              <a:rPr b="0"/>
              <a:t> &lt; </a:t>
            </a:r>
            <a:r>
              <a:rPr b="0" i="1"/>
              <a:t>U</a:t>
            </a:r>
            <a:r>
              <a:t>, set </a:t>
            </a:r>
            <a:r>
              <a:rPr b="0" i="1"/>
              <a:t>lo</a:t>
            </a:r>
            <a:r>
              <a:t> to </a:t>
            </a:r>
            <a:r>
              <a:rPr b="0" i="1"/>
              <a:t>test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Repeat until </a:t>
            </a:r>
            <a:r>
              <a:rPr b="0" i="1"/>
              <a:t>lo</a:t>
            </a:r>
            <a:r>
              <a:t> and </a:t>
            </a:r>
            <a:r>
              <a:rPr b="0" i="1"/>
              <a:t>hi</a:t>
            </a:r>
            <a:r>
              <a:t> are adjacent </a:t>
            </a:r>
          </a:p>
        </p:txBody>
      </p:sp>
      <p:sp>
        <p:nvSpPr>
          <p:cNvPr id="258" name="Shape 258"/>
          <p:cNvSpPr/>
          <p:nvPr/>
        </p:nvSpPr>
        <p:spPr>
          <a:xfrm>
            <a:off x="1444377" y="2858244"/>
            <a:ext cx="3063330" cy="633512"/>
          </a:xfrm>
          <a:prstGeom prst="rect">
            <a:avLst/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59" name="Shape 259"/>
          <p:cNvSpPr/>
          <p:nvPr/>
        </p:nvSpPr>
        <p:spPr>
          <a:xfrm>
            <a:off x="4505077" y="2858244"/>
            <a:ext cx="3063330" cy="633512"/>
          </a:xfrm>
          <a:prstGeom prst="rect">
            <a:avLst/>
          </a:prstGeom>
          <a:solidFill>
            <a:schemeClr val="accent1">
              <a:satOff val="-3355"/>
              <a:lumOff val="26614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60" name="Shape 260"/>
          <p:cNvSpPr/>
          <p:nvPr/>
        </p:nvSpPr>
        <p:spPr>
          <a:xfrm>
            <a:off x="7565776" y="2858244"/>
            <a:ext cx="2038599" cy="633512"/>
          </a:xfrm>
          <a:prstGeom prst="rect">
            <a:avLst/>
          </a:prstGeom>
          <a:solidFill>
            <a:schemeClr val="accent5">
              <a:hueOff val="-444211"/>
              <a:satOff val="-14915"/>
              <a:lumOff val="22857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61" name="Shape 261"/>
          <p:cNvSpPr/>
          <p:nvPr/>
        </p:nvSpPr>
        <p:spPr>
          <a:xfrm>
            <a:off x="9597776" y="2858244"/>
            <a:ext cx="1022848" cy="633512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62" name="Shape 262"/>
          <p:cNvSpPr/>
          <p:nvPr/>
        </p:nvSpPr>
        <p:spPr>
          <a:xfrm>
            <a:off x="10613776" y="2858244"/>
            <a:ext cx="1022848" cy="633512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63" name="Shape 263"/>
          <p:cNvSpPr/>
          <p:nvPr/>
        </p:nvSpPr>
        <p:spPr>
          <a:xfrm>
            <a:off x="2700647" y="2813050"/>
            <a:ext cx="538089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0</a:t>
            </a:r>
          </a:p>
        </p:txBody>
      </p:sp>
      <p:sp>
        <p:nvSpPr>
          <p:cNvPr id="264" name="Shape 264"/>
          <p:cNvSpPr/>
          <p:nvPr/>
        </p:nvSpPr>
        <p:spPr>
          <a:xfrm>
            <a:off x="5767697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1</a:t>
            </a:r>
          </a:p>
        </p:txBody>
      </p:sp>
      <p:sp>
        <p:nvSpPr>
          <p:cNvPr id="265" name="Shape 265"/>
          <p:cNvSpPr/>
          <p:nvPr/>
        </p:nvSpPr>
        <p:spPr>
          <a:xfrm>
            <a:off x="8316031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2</a:t>
            </a:r>
          </a:p>
        </p:txBody>
      </p:sp>
      <p:sp>
        <p:nvSpPr>
          <p:cNvPr id="266" name="Shape 266"/>
          <p:cNvSpPr/>
          <p:nvPr/>
        </p:nvSpPr>
        <p:spPr>
          <a:xfrm>
            <a:off x="9840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3</a:t>
            </a:r>
          </a:p>
        </p:txBody>
      </p:sp>
      <p:sp>
        <p:nvSpPr>
          <p:cNvPr id="267" name="Shape 267"/>
          <p:cNvSpPr/>
          <p:nvPr/>
        </p:nvSpPr>
        <p:spPr>
          <a:xfrm>
            <a:off x="10856155" y="2813050"/>
            <a:ext cx="538090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p</a:t>
            </a:r>
            <a:r>
              <a:rPr baseline="-5999" i="0"/>
              <a:t>4</a:t>
            </a:r>
          </a:p>
        </p:txBody>
      </p:sp>
      <p:sp>
        <p:nvSpPr>
          <p:cNvPr id="268" name="Shape 268"/>
          <p:cNvSpPr/>
          <p:nvPr/>
        </p:nvSpPr>
        <p:spPr>
          <a:xfrm>
            <a:off x="4275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0</a:t>
            </a:r>
          </a:p>
        </p:txBody>
      </p:sp>
      <p:sp>
        <p:nvSpPr>
          <p:cNvPr id="269" name="Shape 269"/>
          <p:cNvSpPr/>
          <p:nvPr/>
        </p:nvSpPr>
        <p:spPr>
          <a:xfrm>
            <a:off x="7323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1</a:t>
            </a:r>
          </a:p>
        </p:txBody>
      </p:sp>
      <p:sp>
        <p:nvSpPr>
          <p:cNvPr id="270" name="Shape 270"/>
          <p:cNvSpPr/>
          <p:nvPr/>
        </p:nvSpPr>
        <p:spPr>
          <a:xfrm>
            <a:off x="1236005" y="2203450"/>
            <a:ext cx="368574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271" name="Shape 271"/>
          <p:cNvSpPr/>
          <p:nvPr/>
        </p:nvSpPr>
        <p:spPr>
          <a:xfrm>
            <a:off x="93047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2</a:t>
            </a:r>
          </a:p>
        </p:txBody>
      </p:sp>
      <p:sp>
        <p:nvSpPr>
          <p:cNvPr id="272" name="Shape 272"/>
          <p:cNvSpPr/>
          <p:nvPr/>
        </p:nvSpPr>
        <p:spPr>
          <a:xfrm>
            <a:off x="10371583" y="2203450"/>
            <a:ext cx="51241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3</a:t>
            </a:r>
          </a:p>
        </p:txBody>
      </p:sp>
      <p:sp>
        <p:nvSpPr>
          <p:cNvPr id="273" name="Shape 273"/>
          <p:cNvSpPr/>
          <p:nvPr/>
        </p:nvSpPr>
        <p:spPr>
          <a:xfrm>
            <a:off x="11393623" y="2203450"/>
            <a:ext cx="1287737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>
                <a:latin typeface="+mj-lt"/>
                <a:ea typeface="+mj-ea"/>
                <a:cs typeface="+mj-cs"/>
                <a:sym typeface="Helvetica"/>
              </a:defRPr>
            </a:pPr>
            <a:r>
              <a:t>c</a:t>
            </a:r>
            <a:r>
              <a:rPr baseline="-5999" i="0"/>
              <a:t>4</a:t>
            </a:r>
            <a:r>
              <a:rPr i="0"/>
              <a:t> = 1</a:t>
            </a:r>
          </a:p>
        </p:txBody>
      </p:sp>
      <p:sp>
        <p:nvSpPr>
          <p:cNvPr id="274" name="Shape 274"/>
          <p:cNvSpPr/>
          <p:nvPr/>
        </p:nvSpPr>
        <p:spPr>
          <a:xfrm flipV="1">
            <a:off x="10375900" y="3576568"/>
            <a:ext cx="1" cy="632462"/>
          </a:xfrm>
          <a:prstGeom prst="line">
            <a:avLst/>
          </a:prstGeom>
          <a:ln w="50800">
            <a:solidFill>
              <a:schemeClr val="accent4">
                <a:satOff val="1488"/>
                <a:lumOff val="-7242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75" name="Shape 275"/>
          <p:cNvSpPr/>
          <p:nvPr/>
        </p:nvSpPr>
        <p:spPr>
          <a:xfrm>
            <a:off x="10153662" y="4210050"/>
            <a:ext cx="44447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>
                <a:solidFill>
                  <a:schemeClr val="accent4">
                    <a:satOff val="1488"/>
                    <a:lumOff val="-7242"/>
                  </a:schemeClr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U</a:t>
            </a:r>
          </a:p>
        </p:txBody>
      </p:sp>
      <p:grpSp>
        <p:nvGrpSpPr>
          <p:cNvPr id="278" name="Group 278"/>
          <p:cNvGrpSpPr/>
          <p:nvPr/>
        </p:nvGrpSpPr>
        <p:grpSpPr>
          <a:xfrm>
            <a:off x="9351317" y="3573268"/>
            <a:ext cx="470149" cy="1903483"/>
            <a:chOff x="-6474" y="0"/>
            <a:chExt cx="470148" cy="1903481"/>
          </a:xfrm>
        </p:grpSpPr>
        <p:sp>
          <p:nvSpPr>
            <p:cNvPr id="276" name="Shape 276"/>
            <p:cNvSpPr/>
            <p:nvPr/>
          </p:nvSpPr>
          <p:spPr>
            <a:xfrm flipV="1">
              <a:off x="230708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77" name="Shape 277"/>
            <p:cNvSpPr/>
            <p:nvPr/>
          </p:nvSpPr>
          <p:spPr>
            <a:xfrm>
              <a:off x="-6475" y="1255781"/>
              <a:ext cx="470150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lo</a:t>
              </a:r>
            </a:p>
          </p:txBody>
        </p:sp>
      </p:grpSp>
      <p:grpSp>
        <p:nvGrpSpPr>
          <p:cNvPr id="281" name="Group 281"/>
          <p:cNvGrpSpPr/>
          <p:nvPr/>
        </p:nvGrpSpPr>
        <p:grpSpPr>
          <a:xfrm>
            <a:off x="10392717" y="3573268"/>
            <a:ext cx="470149" cy="1903483"/>
            <a:chOff x="-8302" y="0"/>
            <a:chExt cx="470148" cy="1903481"/>
          </a:xfrm>
        </p:grpSpPr>
        <p:sp>
          <p:nvSpPr>
            <p:cNvPr id="279" name="Shape 279"/>
            <p:cNvSpPr/>
            <p:nvPr/>
          </p:nvSpPr>
          <p:spPr>
            <a:xfrm flipV="1">
              <a:off x="228879" y="0"/>
              <a:ext cx="1" cy="1305909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280" name="Shape 280"/>
            <p:cNvSpPr/>
            <p:nvPr/>
          </p:nvSpPr>
          <p:spPr>
            <a:xfrm>
              <a:off x="-8303" y="1255781"/>
              <a:ext cx="470149" cy="647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>
                  <a:latin typeface="+mj-lt"/>
                  <a:ea typeface="+mj-ea"/>
                  <a:cs typeface="+mj-cs"/>
                  <a:sym typeface="Helvetica"/>
                </a:defRPr>
              </a:lvl1pPr>
            </a:lstStyle>
            <a:p>
              <a:pPr/>
              <a:r>
                <a:t>hi</a:t>
              </a:r>
            </a:p>
          </p:txBody>
        </p:sp>
      </p:grpSp>
      <p:sp>
        <p:nvSpPr>
          <p:cNvPr id="282" name="Shape 282"/>
          <p:cNvSpPr/>
          <p:nvPr/>
        </p:nvSpPr>
        <p:spPr>
          <a:xfrm>
            <a:off x="8659809" y="5264150"/>
            <a:ext cx="2898782" cy="128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2600">
                <a:latin typeface="+mj-lt"/>
                <a:ea typeface="+mj-ea"/>
                <a:cs typeface="+mj-cs"/>
                <a:sym typeface="Helvetica"/>
              </a:defRPr>
            </a:pPr>
            <a:r>
              <a:rPr b="0" i="1"/>
              <a:t>U</a:t>
            </a:r>
            <a:r>
              <a:t> is between </a:t>
            </a:r>
            <a:r>
              <a:rPr b="0" i="1"/>
              <a:t>c</a:t>
            </a:r>
            <a:r>
              <a:rPr b="0" baseline="-5999"/>
              <a:t>2</a:t>
            </a:r>
            <a:r>
              <a:t> and </a:t>
            </a:r>
            <a:r>
              <a:rPr b="0" i="1"/>
              <a:t>c</a:t>
            </a:r>
            <a:r>
              <a:rPr b="0" baseline="-5999"/>
              <a:t>3</a:t>
            </a:r>
            <a:r>
              <a:t>, so return 2</a:t>
            </a:r>
          </a:p>
        </p:txBody>
      </p:sp>
      <p:sp>
        <p:nvSpPr>
          <p:cNvPr id="283" name="Shape 283"/>
          <p:cNvSpPr/>
          <p:nvPr/>
        </p:nvSpPr>
        <p:spPr>
          <a:xfrm>
            <a:off x="9569676" y="7328048"/>
            <a:ext cx="3111048" cy="2146301"/>
          </a:xfrm>
          <a:prstGeom prst="roundRect">
            <a:avLst>
              <a:gd name="adj" fmla="val 13468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18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1800">
                <a:latin typeface="+mj-lt"/>
                <a:ea typeface="+mj-ea"/>
                <a:cs typeface="+mj-cs"/>
                <a:sym typeface="Helvetica"/>
              </a:defRPr>
            </a:pPr>
            <a:r>
              <a:t>For </a:t>
            </a:r>
            <a:r>
              <a:rPr b="0" i="1"/>
              <a:t>n</a:t>
            </a:r>
            <a:r>
              <a:t> values, the number of steps needed by this algorithm is proportional to </a:t>
            </a:r>
            <a:r>
              <a:rPr b="0"/>
              <a:t>log </a:t>
            </a:r>
            <a:r>
              <a:rPr b="0" i="1"/>
              <a:t>n</a:t>
            </a:r>
            <a:r>
              <a:t>, since at each step the search interval is halved.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/>
          <p:nvPr>
            <p:ph type="body" idx="13"/>
          </p:nvPr>
        </p:nvSpPr>
        <p:spPr>
          <a:xfrm>
            <a:off x="437232" y="3175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Python example (explicit)</a:t>
            </a:r>
          </a:p>
        </p:txBody>
      </p:sp>
      <p:sp>
        <p:nvSpPr>
          <p:cNvPr id="286" name="Shape 286"/>
          <p:cNvSpPr/>
          <p:nvPr/>
        </p:nvSpPr>
        <p:spPr>
          <a:xfrm flipV="1">
            <a:off x="6502400" y="2345431"/>
            <a:ext cx="0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87" name="Shape 287"/>
          <p:cNvSpPr/>
          <p:nvPr/>
        </p:nvSpPr>
        <p:spPr>
          <a:xfrm>
            <a:off x="870762" y="193675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Input program</a:t>
            </a:r>
          </a:p>
        </p:txBody>
      </p:sp>
      <p:sp>
        <p:nvSpPr>
          <p:cNvPr id="288" name="Shape 288"/>
          <p:cNvSpPr/>
          <p:nvPr/>
        </p:nvSpPr>
        <p:spPr>
          <a:xfrm>
            <a:off x="7333665" y="1936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289" name="Shape 289"/>
          <p:cNvSpPr/>
          <p:nvPr/>
        </p:nvSpPr>
        <p:spPr>
          <a:xfrm>
            <a:off x="736699" y="2728365"/>
            <a:ext cx="5007769" cy="650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Handwritten bisection routine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2100"/>
                </a:solidFill>
              </a:rPr>
              <a:t>def</a:t>
            </a:r>
            <a:r>
              <a:rPr>
                <a:solidFill>
                  <a:srgbClr val="000000"/>
                </a:solidFill>
              </a:rPr>
              <a:t> </a:t>
            </a:r>
            <a:r>
              <a:t>geo2</a:t>
            </a:r>
            <a:r>
              <a:rPr>
                <a:solidFill>
                  <a:srgbClr val="000000"/>
                </a:solidFill>
              </a:rPr>
              <a:t>():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r=random()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lo=</a:t>
            </a:r>
            <a:r>
              <a:rPr>
                <a:solidFill>
                  <a:srgbClr val="0433FF"/>
                </a:solidFill>
              </a:rPr>
              <a:t>0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hi=n-</a:t>
            </a:r>
            <a:r>
              <a:rPr>
                <a:solidFill>
                  <a:srgbClr val="0433FF"/>
                </a:solidFill>
              </a:rPr>
              <a:t>1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# Check for boundary case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E539E5"/>
                </a:solidFill>
              </a:rPr>
              <a:t>if</a:t>
            </a:r>
            <a:r>
              <a:t>(c[lo]&gt;=r): </a:t>
            </a:r>
            <a:r>
              <a:rPr>
                <a:solidFill>
                  <a:srgbClr val="E52100"/>
                </a:solidFill>
              </a:rPr>
              <a:t>return</a:t>
            </a:r>
            <a:r>
              <a:t> </a:t>
            </a:r>
            <a:r>
              <a:rPr>
                <a:solidFill>
                  <a:srgbClr val="0433FF"/>
                </a:solidFill>
              </a:rPr>
              <a:t>0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# Carry out the bisection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d=hi-lo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E539E5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while</a:t>
            </a:r>
            <a:r>
              <a:rPr>
                <a:solidFill>
                  <a:srgbClr val="000000"/>
                </a:solidFill>
              </a:rPr>
              <a:t>(d&gt;</a:t>
            </a:r>
            <a:r>
              <a:rPr>
                <a:solidFill>
                  <a:srgbClr val="0433FF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    </a:t>
            </a:r>
            <a:r>
              <a:t> e=lo+(d&gt;&gt;</a:t>
            </a:r>
            <a:r>
              <a:rPr>
                <a:solidFill>
                  <a:srgbClr val="0433FF"/>
                </a:solidFill>
              </a:rPr>
              <a:t>1</a:t>
            </a:r>
            <a:r>
              <a:t>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    </a:t>
            </a:r>
            <a:r>
              <a:t> </a:t>
            </a:r>
            <a:r>
              <a:rPr>
                <a:solidFill>
                  <a:srgbClr val="E539E5"/>
                </a:solidFill>
              </a:rPr>
              <a:t>if</a:t>
            </a:r>
            <a:r>
              <a:t>(c[e]&lt;r): lo=e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   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E539E5"/>
                </a:solidFill>
              </a:rPr>
              <a:t>else</a:t>
            </a:r>
            <a:r>
              <a:rPr>
                <a:solidFill>
                  <a:srgbClr val="000000"/>
                </a:solidFill>
              </a:rPr>
              <a:t>: hi=e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    </a:t>
            </a:r>
            <a:r>
              <a:t> d=hi-lo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E521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return</a:t>
            </a:r>
            <a:r>
              <a:rPr>
                <a:solidFill>
                  <a:srgbClr val="000000"/>
                </a:solidFill>
              </a:rPr>
              <a:t> hi</a:t>
            </a:r>
            <a:endParaRPr>
              <a:solidFill>
                <a:srgbClr val="000000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E52100"/>
                </a:solidFill>
                <a:latin typeface="Menlo"/>
                <a:ea typeface="Menlo"/>
                <a:cs typeface="Menlo"/>
                <a:sym typeface="Menlo"/>
              </a:defRPr>
            </a:pPr>
            <a:endParaRPr>
              <a:solidFill>
                <a:srgbClr val="000000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Print some random numbers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433FF"/>
                </a:solidFill>
              </a:rPr>
              <a:t>20</a:t>
            </a:r>
            <a:r>
              <a:rPr>
                <a:solidFill>
                  <a:srgbClr val="000000"/>
                </a:solidFill>
              </a:rPr>
              <a:t>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AF5F00"/>
                </a:solidFill>
              </a:rPr>
              <a:t>print</a:t>
            </a:r>
            <a:r>
              <a:t> geo2()</a:t>
            </a:r>
          </a:p>
        </p:txBody>
      </p:sp>
      <p:sp>
        <p:nvSpPr>
          <p:cNvPr id="290" name="Shape 290"/>
          <p:cNvSpPr/>
          <p:nvPr/>
        </p:nvSpPr>
        <p:spPr>
          <a:xfrm>
            <a:off x="7403513" y="2755899"/>
            <a:ext cx="573064" cy="619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52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5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86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0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8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36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34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11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9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24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26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10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7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23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19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</p:txBody>
      </p:sp>
      <p:sp>
        <p:nvSpPr>
          <p:cNvPr id="291" name="Shape 291"/>
          <p:cNvSpPr/>
          <p:nvPr/>
        </p:nvSpPr>
        <p:spPr>
          <a:xfrm>
            <a:off x="97383" y="9213849"/>
            <a:ext cx="306169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Example: cumul2.py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/>
          <p:nvPr>
            <p:ph type="body" idx="13"/>
          </p:nvPr>
        </p:nvSpPr>
        <p:spPr>
          <a:xfrm>
            <a:off x="437232" y="1905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Python example (using routine)</a:t>
            </a:r>
          </a:p>
        </p:txBody>
      </p:sp>
      <p:sp>
        <p:nvSpPr>
          <p:cNvPr id="294" name="Shape 294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95" name="Shape 295"/>
          <p:cNvSpPr/>
          <p:nvPr/>
        </p:nvSpPr>
        <p:spPr>
          <a:xfrm>
            <a:off x="870762" y="193675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Input program</a:t>
            </a:r>
          </a:p>
        </p:txBody>
      </p:sp>
      <p:sp>
        <p:nvSpPr>
          <p:cNvPr id="296" name="Shape 296"/>
          <p:cNvSpPr/>
          <p:nvPr/>
        </p:nvSpPr>
        <p:spPr>
          <a:xfrm>
            <a:off x="7333665" y="1936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297" name="Shape 297"/>
          <p:cNvSpPr/>
          <p:nvPr/>
        </p:nvSpPr>
        <p:spPr>
          <a:xfrm>
            <a:off x="552353" y="2882899"/>
            <a:ext cx="5160691" cy="284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import</a:t>
            </a:r>
            <a:r>
              <a:t> bisect </a:t>
            </a:r>
            <a:r>
              <a:rPr>
                <a:solidFill>
                  <a:srgbClr val="E52100"/>
                </a:solidFill>
              </a:rPr>
              <a:t>as</a:t>
            </a:r>
            <a:r>
              <a:t> bi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Python's bisection routine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2100"/>
                </a:solidFill>
              </a:rPr>
              <a:t>def</a:t>
            </a:r>
            <a:r>
              <a:rPr>
                <a:solidFill>
                  <a:srgbClr val="000000"/>
                </a:solidFill>
              </a:rPr>
              <a:t> </a:t>
            </a:r>
            <a:r>
              <a:t>geo3</a:t>
            </a:r>
            <a:r>
              <a:rPr>
                <a:solidFill>
                  <a:srgbClr val="000000"/>
                </a:solidFill>
              </a:rPr>
              <a:t>():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E52100"/>
                </a:solidFill>
              </a:rPr>
              <a:t>return</a:t>
            </a:r>
            <a:r>
              <a:t> bi.bisect(c,random())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Print some random numbers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433FF"/>
                </a:solidFill>
              </a:rPr>
              <a:t>20</a:t>
            </a:r>
            <a:r>
              <a:rPr>
                <a:solidFill>
                  <a:srgbClr val="000000"/>
                </a:solidFill>
              </a:rPr>
              <a:t>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AF5F00"/>
                </a:solidFill>
              </a:rPr>
              <a:t>print</a:t>
            </a:r>
            <a:r>
              <a:t> geo3()</a:t>
            </a:r>
          </a:p>
        </p:txBody>
      </p:sp>
      <p:sp>
        <p:nvSpPr>
          <p:cNvPr id="298" name="Shape 298"/>
          <p:cNvSpPr/>
          <p:nvPr/>
        </p:nvSpPr>
        <p:spPr>
          <a:xfrm>
            <a:off x="7327313" y="2654299"/>
            <a:ext cx="573064" cy="619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25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33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29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0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16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15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7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44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28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3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0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31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73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20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18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28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5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60</a:t>
            </a:r>
          </a:p>
        </p:txBody>
      </p:sp>
      <p:sp>
        <p:nvSpPr>
          <p:cNvPr id="299" name="Shape 299"/>
          <p:cNvSpPr/>
          <p:nvPr/>
        </p:nvSpPr>
        <p:spPr>
          <a:xfrm>
            <a:off x="97383" y="9213849"/>
            <a:ext cx="3061693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Example: cumul3.py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Timing of routines</a:t>
            </a:r>
          </a:p>
        </p:txBody>
      </p:sp>
      <p:sp>
        <p:nvSpPr>
          <p:cNvPr id="302" name="Shape 302"/>
          <p:cNvSpPr/>
          <p:nvPr>
            <p:ph type="body" idx="1"/>
          </p:nvPr>
        </p:nvSpPr>
        <p:spPr>
          <a:xfrm>
            <a:off x="952500" y="2355850"/>
            <a:ext cx="11099800" cy="6286500"/>
          </a:xfrm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2400"/>
              </a:spcBef>
              <a:defRPr sz="3348"/>
            </a:pPr>
            <a:r>
              <a:t>Python has a </a:t>
            </a:r>
            <a:r>
              <a:rPr b="0" sz="2976">
                <a:latin typeface="Menlo"/>
                <a:ea typeface="Menlo"/>
                <a:cs typeface="Menlo"/>
                <a:sym typeface="Menlo"/>
              </a:rPr>
              <a:t>time</a:t>
            </a:r>
            <a:r>
              <a:t> module with a number of functions that can be used to time functions</a:t>
            </a:r>
          </a:p>
          <a:p>
            <a:pPr marL="413384" indent="-413384" defTabSz="543305">
              <a:spcBef>
                <a:spcPts val="2400"/>
              </a:spcBef>
              <a:defRPr sz="3348"/>
            </a:pPr>
            <a:r>
              <a:t>We’ll consider two:</a:t>
            </a:r>
          </a:p>
          <a:p>
            <a:pPr lvl="1" marL="780838" indent="-367453" defTabSz="543305">
              <a:spcBef>
                <a:spcPts val="2400"/>
              </a:spcBef>
              <a:defRPr sz="3348"/>
            </a:pPr>
            <a:r>
              <a:rPr b="0" sz="2976">
                <a:latin typeface="Menlo"/>
                <a:ea typeface="Menlo"/>
                <a:cs typeface="Menlo"/>
                <a:sym typeface="Menlo"/>
              </a:rPr>
              <a:t>clock</a:t>
            </a:r>
            <a:r>
              <a:t>: returns the “processor time” in seconds as a floating point number—this is the actual time the program has been running on the processor</a:t>
            </a:r>
          </a:p>
          <a:p>
            <a:pPr lvl="1" marL="826769" indent="-413384" defTabSz="543305">
              <a:spcBef>
                <a:spcPts val="2400"/>
              </a:spcBef>
              <a:defRPr sz="3348"/>
            </a:pPr>
            <a:r>
              <a:t>t</a:t>
            </a:r>
            <a:r>
              <a:rPr b="0" sz="2976">
                <a:latin typeface="Menlo"/>
                <a:ea typeface="Menlo"/>
                <a:cs typeface="Menlo"/>
                <a:sym typeface="Menlo"/>
              </a:rPr>
              <a:t>ime</a:t>
            </a:r>
            <a:r>
              <a:t>: returns the actual time, as the number of seconds since a fixed date</a:t>
            </a:r>
          </a:p>
          <a:p>
            <a:pPr marL="413384" indent="-413384" defTabSz="543305">
              <a:spcBef>
                <a:spcPts val="2400"/>
              </a:spcBef>
              <a:defRPr sz="3348"/>
            </a:pPr>
            <a:r>
              <a:t>Exact behavior can depend on the operating system</a:t>
            </a:r>
          </a:p>
        </p:txBody>
      </p:sp>
      <p:sp>
        <p:nvSpPr>
          <p:cNvPr id="303" name="Shape 303"/>
          <p:cNvSpPr/>
          <p:nvPr/>
        </p:nvSpPr>
        <p:spPr>
          <a:xfrm>
            <a:off x="-40094" y="9182099"/>
            <a:ext cx="597298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300" u="sng">
                <a:latin typeface="+mj-lt"/>
                <a:ea typeface="+mj-ea"/>
                <a:cs typeface="+mj-cs"/>
                <a:sym typeface="Helvetica"/>
                <a:hlinkClick r:id="rId2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2" invalidUrl="" action="" tgtFrame="" tooltip="" history="1" highlightClick="0" endSnd="0"/>
              </a:rPr>
              <a:t>https://docs.python.org/2/library/time.html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simple timed function</a:t>
            </a:r>
          </a:p>
        </p:txBody>
      </p:sp>
      <p:sp>
        <p:nvSpPr>
          <p:cNvPr id="306" name="Shape 306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07" name="Shape 307"/>
          <p:cNvSpPr/>
          <p:nvPr/>
        </p:nvSpPr>
        <p:spPr>
          <a:xfrm>
            <a:off x="870762" y="193675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Input program</a:t>
            </a:r>
          </a:p>
        </p:txBody>
      </p:sp>
      <p:sp>
        <p:nvSpPr>
          <p:cNvPr id="308" name="Shape 308"/>
          <p:cNvSpPr/>
          <p:nvPr/>
        </p:nvSpPr>
        <p:spPr>
          <a:xfrm>
            <a:off x="7333665" y="1936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09" name="Shape 309"/>
          <p:cNvSpPr/>
          <p:nvPr/>
        </p:nvSpPr>
        <p:spPr>
          <a:xfrm>
            <a:off x="710908" y="2806700"/>
            <a:ext cx="5313612" cy="589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from</a:t>
            </a:r>
            <a:r>
              <a:t> time </a:t>
            </a:r>
            <a:r>
              <a:rPr>
                <a:solidFill>
                  <a:srgbClr val="E539E5"/>
                </a:solidFill>
              </a:rPr>
              <a:t>import</a:t>
            </a:r>
            <a:r>
              <a:t> clock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Count from 1 to 3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rPr>
                <a:solidFill>
                  <a:srgbClr val="000000"/>
                </a:solidFill>
              </a:rP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rPr>
                <a:solidFill>
                  <a:srgbClr val="000000"/>
                </a:solidFill>
              </a:rPr>
              <a:t> </a:t>
            </a:r>
            <a:r>
              <a:t>range</a:t>
            </a:r>
            <a:r>
              <a:rPr>
                <a:solidFill>
                  <a:srgbClr val="000000"/>
                </a:solidFill>
              </a:rPr>
              <a:t>(</a:t>
            </a:r>
            <a:r>
              <a:rPr>
                <a:solidFill>
                  <a:srgbClr val="0433FF"/>
                </a:solidFill>
              </a:rPr>
              <a:t>1</a:t>
            </a:r>
            <a:r>
              <a:rPr>
                <a:solidFill>
                  <a:srgbClr val="000000"/>
                </a:solidFill>
              </a:rPr>
              <a:t>,</a:t>
            </a:r>
            <a:r>
              <a:rPr>
                <a:solidFill>
                  <a:srgbClr val="0433FF"/>
                </a:solidFill>
              </a:rPr>
              <a:t>4</a:t>
            </a:r>
            <a:r>
              <a:rPr>
                <a:solidFill>
                  <a:srgbClr val="000000"/>
                </a:solidFill>
              </a:rPr>
              <a:t>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# Print the current number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000000"/>
                </a:solidFill>
              </a:rPr>
              <a:t>    </a:t>
            </a:r>
            <a:r>
              <a:t>print</a:t>
            </a:r>
            <a:r>
              <a:rPr>
                <a:solidFill>
                  <a:srgbClr val="000000"/>
                </a:solidFill>
              </a:rPr>
              <a:t> i,</a:t>
            </a:r>
            <a:r>
              <a:rPr>
                <a:solidFill>
                  <a:srgbClr val="0220B3"/>
                </a:solidFill>
              </a:rPr>
              <a:t>"..."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# Find the current time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t0=clock()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8A8A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chemeClr val="accent6">
                    <a:satOff val="24555"/>
                    <a:lumOff val="22232"/>
                  </a:schemeClr>
                </a:solidFill>
              </a:rPr>
              <a:t># Keep looping until the time</a:t>
            </a:r>
            <a:endParaRPr>
              <a:solidFill>
                <a:schemeClr val="accent6">
                  <a:satOff val="24555"/>
                  <a:lumOff val="22232"/>
                </a:schemeClr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8A8A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chemeClr val="accent6">
                    <a:satOff val="24555"/>
                    <a:lumOff val="22232"/>
                  </a:schemeClr>
                </a:solidFill>
              </a:rPr>
              <a:t>    # advances by one second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    </a:t>
            </a:r>
            <a:r>
              <a:rPr>
                <a:solidFill>
                  <a:srgbClr val="E539E5"/>
                </a:solidFill>
              </a:rPr>
              <a:t>while</a:t>
            </a:r>
            <a:r>
              <a:t>(clock()&lt;t0+</a:t>
            </a:r>
            <a:r>
              <a:rPr>
                <a:solidFill>
                  <a:srgbClr val="0433FF"/>
                </a:solidFill>
              </a:rPr>
              <a:t>1</a:t>
            </a:r>
            <a:r>
              <a:t>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      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E52100"/>
                </a:solidFill>
              </a:rPr>
              <a:t>pass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Finish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solidFill>
                  <a:srgbClr val="AF5F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print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0220B3"/>
                </a:solidFill>
              </a:rPr>
              <a:t>"Go!"</a:t>
            </a:r>
            <a:endParaRPr>
              <a:solidFill>
                <a:srgbClr val="FFF678"/>
              </a:solidFill>
            </a:endParaRPr>
          </a:p>
        </p:txBody>
      </p:sp>
      <p:sp>
        <p:nvSpPr>
          <p:cNvPr id="310" name="Shape 310"/>
          <p:cNvSpPr/>
          <p:nvPr/>
        </p:nvSpPr>
        <p:spPr>
          <a:xfrm>
            <a:off x="7447377" y="2819400"/>
            <a:ext cx="1031827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1 ...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2 ...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3 ...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000">
                <a:latin typeface="Menlo"/>
                <a:ea typeface="Menlo"/>
                <a:cs typeface="Menlo"/>
                <a:sym typeface="Menlo"/>
              </a:defRPr>
            </a:pPr>
            <a:r>
              <a:t>Go!</a:t>
            </a:r>
          </a:p>
        </p:txBody>
      </p:sp>
      <p:sp>
        <p:nvSpPr>
          <p:cNvPr id="311" name="Shape 311"/>
          <p:cNvSpPr/>
          <p:nvPr/>
        </p:nvSpPr>
        <p:spPr>
          <a:xfrm>
            <a:off x="6999804" y="7767914"/>
            <a:ext cx="5693620" cy="1401635"/>
          </a:xfrm>
          <a:prstGeom prst="roundRect">
            <a:avLst>
              <a:gd name="adj" fmla="val 20624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21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2100">
                <a:latin typeface="+mj-lt"/>
                <a:ea typeface="+mj-ea"/>
                <a:cs typeface="+mj-cs"/>
                <a:sym typeface="Helvetica"/>
              </a:defRPr>
            </a:pPr>
            <a:r>
              <a:t>When this program is run, the output lines are printed out with a second delay between each.</a:t>
            </a:r>
          </a:p>
        </p:txBody>
      </p:sp>
      <p:sp>
        <p:nvSpPr>
          <p:cNvPr id="312" name="Shape 312"/>
          <p:cNvSpPr/>
          <p:nvPr/>
        </p:nvSpPr>
        <p:spPr>
          <a:xfrm>
            <a:off x="97383" y="9213849"/>
            <a:ext cx="4043959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Example: simple_timing.py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>
            <p:ph type="title"/>
          </p:nvPr>
        </p:nvSpPr>
        <p:spPr>
          <a:xfrm>
            <a:off x="437232" y="2921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Timed output</a:t>
            </a:r>
          </a:p>
        </p:txBody>
      </p:sp>
      <p:sp>
        <p:nvSpPr>
          <p:cNvPr id="315" name="Shape 315"/>
          <p:cNvSpPr/>
          <p:nvPr/>
        </p:nvSpPr>
        <p:spPr>
          <a:xfrm flipV="1">
            <a:off x="6566594" y="2345431"/>
            <a:ext cx="1" cy="6607869"/>
          </a:xfrm>
          <a:prstGeom prst="line">
            <a:avLst/>
          </a:prstGeom>
          <a:ln w="63500">
            <a:solidFill>
              <a:schemeClr val="accent1">
                <a:satOff val="-3355"/>
                <a:lumOff val="26614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16" name="Shape 316"/>
          <p:cNvSpPr/>
          <p:nvPr/>
        </p:nvSpPr>
        <p:spPr>
          <a:xfrm>
            <a:off x="870762" y="1936750"/>
            <a:ext cx="3212903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Input program</a:t>
            </a:r>
          </a:p>
        </p:txBody>
      </p:sp>
      <p:sp>
        <p:nvSpPr>
          <p:cNvPr id="317" name="Shape 317"/>
          <p:cNvSpPr/>
          <p:nvPr/>
        </p:nvSpPr>
        <p:spPr>
          <a:xfrm>
            <a:off x="7333665" y="1936750"/>
            <a:ext cx="1612256" cy="647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>
                <a:solidFill>
                  <a:srgbClr val="53585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318" name="Shape 318"/>
          <p:cNvSpPr/>
          <p:nvPr/>
        </p:nvSpPr>
        <p:spPr>
          <a:xfrm>
            <a:off x="493055" y="3022600"/>
            <a:ext cx="5833542" cy="416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Number of trials to do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trials=</a:t>
            </a:r>
            <a:r>
              <a:rPr>
                <a:solidFill>
                  <a:srgbClr val="0433FF"/>
                </a:solidFill>
              </a:rPr>
              <a:t>1000000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Store the two timing routines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t0=clock()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t1=time()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Carry out a large number trials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E539E5"/>
                </a:solidFill>
              </a:rPr>
              <a:t>for</a:t>
            </a:r>
            <a:r>
              <a:t> i </a:t>
            </a:r>
            <a:r>
              <a:rPr>
                <a:solidFill>
                  <a:schemeClr val="accent2"/>
                </a:solidFill>
              </a:rPr>
              <a:t>in</a:t>
            </a:r>
            <a:r>
              <a:t> </a:t>
            </a:r>
            <a:r>
              <a:rPr>
                <a:solidFill>
                  <a:srgbClr val="AF5F00"/>
                </a:solidFill>
              </a:rPr>
              <a:t>range</a:t>
            </a:r>
            <a:r>
              <a:t>(trials):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FFF678"/>
                </a:solidFill>
              </a:rPr>
              <a:t>   </a:t>
            </a:r>
            <a:r>
              <a:t> x=geo1()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FFF678"/>
                </a:solidFill>
                <a:latin typeface="Menlo"/>
                <a:ea typeface="Menlo"/>
                <a:cs typeface="Menlo"/>
                <a:sym typeface="Menlo"/>
              </a:defRPr>
            </a:p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chemeClr val="accent6">
                    <a:satOff val="24555"/>
                    <a:lumOff val="22232"/>
                  </a:schemeClr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# Print the time per function call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0220B3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AF5F00"/>
                </a:solidFill>
              </a:rPr>
              <a:t>print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"clock routine : %.4f microseconds"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B32AB2"/>
                </a:solidFill>
              </a:rPr>
              <a:t>\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    % ((clock()-t0)*</a:t>
            </a:r>
            <a:r>
              <a:rPr>
                <a:solidFill>
                  <a:srgbClr val="0433FF"/>
                </a:solidFill>
              </a:rPr>
              <a:t>1e6</a:t>
            </a:r>
            <a:r>
              <a:t>/trials)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solidFill>
                  <a:srgbClr val="0220B3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>
                <a:solidFill>
                  <a:srgbClr val="AF5F00"/>
                </a:solidFill>
              </a:rPr>
              <a:t>print</a:t>
            </a:r>
            <a:r>
              <a:rPr>
                <a:solidFill>
                  <a:srgbClr val="000000"/>
                </a:solidFill>
              </a:rPr>
              <a:t> </a:t>
            </a:r>
            <a:r>
              <a:t>"time routine  : %.4f microseconds"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B32AB2"/>
                </a:solidFill>
              </a:rPr>
              <a:t>\</a:t>
            </a:r>
            <a:endParaRPr>
              <a:solidFill>
                <a:srgbClr val="FFF678"/>
              </a:solidFill>
            </a:endParaRP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    % ((time()-t1)*</a:t>
            </a:r>
            <a:r>
              <a:rPr>
                <a:solidFill>
                  <a:srgbClr val="0433FF"/>
                </a:solidFill>
              </a:rPr>
              <a:t>1e6</a:t>
            </a:r>
            <a:r>
              <a:t>/trials)</a:t>
            </a:r>
          </a:p>
        </p:txBody>
      </p:sp>
      <p:sp>
        <p:nvSpPr>
          <p:cNvPr id="319" name="Shape 319"/>
          <p:cNvSpPr/>
          <p:nvPr/>
        </p:nvSpPr>
        <p:spPr>
          <a:xfrm>
            <a:off x="7200217" y="2933700"/>
            <a:ext cx="479368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clock routine : 2.6630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700">
                <a:latin typeface="Menlo"/>
                <a:ea typeface="Menlo"/>
                <a:cs typeface="Menlo"/>
                <a:sym typeface="Menlo"/>
              </a:defRPr>
            </a:pPr>
            <a:r>
              <a:t>time routine  : 2.6654 microseconds</a:t>
            </a:r>
          </a:p>
        </p:txBody>
      </p:sp>
      <p:sp>
        <p:nvSpPr>
          <p:cNvPr id="320" name="Shape 320"/>
          <p:cNvSpPr/>
          <p:nvPr/>
        </p:nvSpPr>
        <p:spPr>
          <a:xfrm>
            <a:off x="97383" y="9213849"/>
            <a:ext cx="2908847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Example: timing.py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How do </a:t>
            </a:r>
            <a:r>
              <a:rPr b="0" sz="5800">
                <a:latin typeface="Menlo"/>
                <a:ea typeface="Menlo"/>
                <a:cs typeface="Menlo"/>
                <a:sym typeface="Menlo"/>
              </a:rPr>
              <a:t>clock</a:t>
            </a:r>
            <a:r>
              <a:t> and </a:t>
            </a:r>
            <a:r>
              <a:rPr b="0" sz="5800">
                <a:latin typeface="Menlo"/>
                <a:ea typeface="Menlo"/>
                <a:cs typeface="Menlo"/>
                <a:sym typeface="Menlo"/>
              </a:rPr>
              <a:t>time</a:t>
            </a:r>
            <a:r>
              <a:t> differ?</a:t>
            </a:r>
          </a:p>
        </p:txBody>
      </p:sp>
      <p:sp>
        <p:nvSpPr>
          <p:cNvPr id="323" name="Shape 323"/>
          <p:cNvSpPr/>
          <p:nvPr>
            <p:ph type="body" sz="half" idx="1"/>
          </p:nvPr>
        </p:nvSpPr>
        <p:spPr>
          <a:xfrm>
            <a:off x="952500" y="2489200"/>
            <a:ext cx="11099800" cy="4359722"/>
          </a:xfrm>
          <a:prstGeom prst="rect">
            <a:avLst/>
          </a:prstGeom>
        </p:spPr>
        <p:txBody>
          <a:bodyPr/>
          <a:lstStyle/>
          <a:p>
            <a:pPr marL="413384" indent="-413384" defTabSz="543305">
              <a:spcBef>
                <a:spcPts val="2400"/>
              </a:spcBef>
              <a:defRPr sz="3348"/>
            </a:pPr>
            <a:r>
              <a:t>Most modern computers and laptops have dual-core or multi-core processors</a:t>
            </a:r>
          </a:p>
          <a:p>
            <a:pPr marL="413384" indent="-413384" defTabSz="543305">
              <a:spcBef>
                <a:spcPts val="2400"/>
              </a:spcBef>
              <a:defRPr sz="3348"/>
            </a:pPr>
            <a:r>
              <a:t>Example output for the timing program on a dual-core machine:</a:t>
            </a:r>
          </a:p>
          <a:p>
            <a:pPr marL="413384" indent="-413384" defTabSz="543305">
              <a:spcBef>
                <a:spcPts val="2400"/>
              </a:spcBef>
              <a:defRPr sz="3348"/>
            </a:pPr>
          </a:p>
          <a:p>
            <a:pPr marL="413384" indent="-413384" defTabSz="543305">
              <a:spcBef>
                <a:spcPts val="2400"/>
              </a:spcBef>
              <a:defRPr sz="3348"/>
            </a:pPr>
            <a:r>
              <a:t>Assuming no other programs are running, times are about equal:</a:t>
            </a:r>
          </a:p>
        </p:txBody>
      </p:sp>
      <p:sp>
        <p:nvSpPr>
          <p:cNvPr id="324" name="Shape 324"/>
          <p:cNvSpPr/>
          <p:nvPr/>
        </p:nvSpPr>
        <p:spPr>
          <a:xfrm>
            <a:off x="3048000" y="7585323"/>
            <a:ext cx="7117656" cy="545803"/>
          </a:xfrm>
          <a:prstGeom prst="rect">
            <a:avLst/>
          </a:prstGeom>
          <a:solidFill>
            <a:srgbClr val="76D6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25" name="Shape 325"/>
          <p:cNvSpPr/>
          <p:nvPr/>
        </p:nvSpPr>
        <p:spPr>
          <a:xfrm>
            <a:off x="3048000" y="8296523"/>
            <a:ext cx="7117656" cy="545803"/>
          </a:xfrm>
          <a:prstGeom prst="rect">
            <a:avLst/>
          </a:prstGeom>
          <a:solidFill>
            <a:srgbClr val="76D6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26" name="Shape 326"/>
          <p:cNvSpPr/>
          <p:nvPr/>
        </p:nvSpPr>
        <p:spPr>
          <a:xfrm>
            <a:off x="3830302" y="4902200"/>
            <a:ext cx="5344196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t>clock routine : 2.6630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900">
                <a:latin typeface="Menlo"/>
                <a:ea typeface="Menlo"/>
                <a:cs typeface="Menlo"/>
                <a:sym typeface="Menlo"/>
              </a:defRPr>
            </a:pPr>
            <a:r>
              <a:t>time routine  : 2.6654 microseconds</a:t>
            </a:r>
          </a:p>
        </p:txBody>
      </p:sp>
      <p:sp>
        <p:nvSpPr>
          <p:cNvPr id="327" name="Shape 327"/>
          <p:cNvSpPr/>
          <p:nvPr/>
        </p:nvSpPr>
        <p:spPr>
          <a:xfrm>
            <a:off x="2806700" y="9159182"/>
            <a:ext cx="777598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28" name="Shape 328"/>
          <p:cNvSpPr/>
          <p:nvPr/>
        </p:nvSpPr>
        <p:spPr>
          <a:xfrm flipV="1">
            <a:off x="3060700" y="6875536"/>
            <a:ext cx="0" cy="25376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29" name="Shape 329"/>
          <p:cNvSpPr/>
          <p:nvPr/>
        </p:nvSpPr>
        <p:spPr>
          <a:xfrm>
            <a:off x="3265239" y="7610574"/>
            <a:ext cx="68312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Idle</a:t>
            </a:r>
          </a:p>
        </p:txBody>
      </p:sp>
      <p:sp>
        <p:nvSpPr>
          <p:cNvPr id="330" name="Shape 330"/>
          <p:cNvSpPr/>
          <p:nvPr/>
        </p:nvSpPr>
        <p:spPr>
          <a:xfrm>
            <a:off x="3265239" y="8321774"/>
            <a:ext cx="68312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Idle</a:t>
            </a:r>
          </a:p>
        </p:txBody>
      </p:sp>
      <p:sp>
        <p:nvSpPr>
          <p:cNvPr id="331" name="Shape 331"/>
          <p:cNvSpPr/>
          <p:nvPr/>
        </p:nvSpPr>
        <p:spPr>
          <a:xfrm>
            <a:off x="10472402" y="8763000"/>
            <a:ext cx="14833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Actual time</a:t>
            </a:r>
          </a:p>
        </p:txBody>
      </p:sp>
      <p:sp>
        <p:nvSpPr>
          <p:cNvPr id="332" name="Shape 332"/>
          <p:cNvSpPr/>
          <p:nvPr/>
        </p:nvSpPr>
        <p:spPr>
          <a:xfrm>
            <a:off x="1779934" y="7623274"/>
            <a:ext cx="106293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Core 0</a:t>
            </a:r>
          </a:p>
        </p:txBody>
      </p:sp>
      <p:sp>
        <p:nvSpPr>
          <p:cNvPr id="333" name="Shape 333"/>
          <p:cNvSpPr/>
          <p:nvPr/>
        </p:nvSpPr>
        <p:spPr>
          <a:xfrm>
            <a:off x="1779934" y="8334474"/>
            <a:ext cx="106293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Core 1</a:t>
            </a:r>
          </a:p>
        </p:txBody>
      </p:sp>
      <p:sp>
        <p:nvSpPr>
          <p:cNvPr id="334" name="Shape 334"/>
          <p:cNvSpPr/>
          <p:nvPr/>
        </p:nvSpPr>
        <p:spPr>
          <a:xfrm>
            <a:off x="5151288" y="7585323"/>
            <a:ext cx="2554636" cy="545803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35" name="Shape 335"/>
          <p:cNvSpPr/>
          <p:nvPr/>
        </p:nvSpPr>
        <p:spPr>
          <a:xfrm>
            <a:off x="5184566" y="7985224"/>
            <a:ext cx="248808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36" name="Shape 336"/>
          <p:cNvSpPr/>
          <p:nvPr/>
        </p:nvSpPr>
        <p:spPr>
          <a:xfrm>
            <a:off x="5366875" y="7604224"/>
            <a:ext cx="212346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b="0" sz="1900">
                <a:latin typeface="Menlo"/>
                <a:ea typeface="Menlo"/>
                <a:cs typeface="Menlo"/>
                <a:sym typeface="Menlo"/>
              </a:rPr>
              <a:t>clock</a:t>
            </a:r>
            <a:r>
              <a:rPr sz="2300"/>
              <a:t> measure</a:t>
            </a:r>
          </a:p>
        </p:txBody>
      </p:sp>
      <p:sp>
        <p:nvSpPr>
          <p:cNvPr id="337" name="Shape 337"/>
          <p:cNvSpPr/>
          <p:nvPr/>
        </p:nvSpPr>
        <p:spPr>
          <a:xfrm>
            <a:off x="5513306" y="6842224"/>
            <a:ext cx="197818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b="0" sz="1900">
                <a:latin typeface="Menlo"/>
                <a:ea typeface="Menlo"/>
                <a:cs typeface="Menlo"/>
                <a:sym typeface="Menlo"/>
              </a:rPr>
              <a:t>time</a:t>
            </a:r>
            <a:r>
              <a:rPr sz="2300"/>
              <a:t> measure</a:t>
            </a:r>
          </a:p>
        </p:txBody>
      </p:sp>
      <p:sp>
        <p:nvSpPr>
          <p:cNvPr id="338" name="Shape 338"/>
          <p:cNvSpPr/>
          <p:nvPr/>
        </p:nvSpPr>
        <p:spPr>
          <a:xfrm>
            <a:off x="5184566" y="7274024"/>
            <a:ext cx="248808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39" name="Shape 339"/>
          <p:cNvSpPr/>
          <p:nvPr/>
        </p:nvSpPr>
        <p:spPr>
          <a:xfrm flipH="1">
            <a:off x="11464881" y="8352576"/>
            <a:ext cx="173432" cy="438478"/>
          </a:xfrm>
          <a:prstGeom prst="line">
            <a:avLst/>
          </a:prstGeom>
          <a:ln w="50800">
            <a:solidFill>
              <a:schemeClr val="accent3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40" name="Shape 340"/>
          <p:cNvSpPr/>
          <p:nvPr/>
        </p:nvSpPr>
        <p:spPr>
          <a:xfrm>
            <a:off x="10314504" y="6630172"/>
            <a:ext cx="2475380" cy="1745379"/>
          </a:xfrm>
          <a:prstGeom prst="roundRect">
            <a:avLst>
              <a:gd name="adj" fmla="val 16374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1400">
                <a:latin typeface="+mj-lt"/>
                <a:ea typeface="+mj-ea"/>
                <a:cs typeface="+mj-cs"/>
                <a:sym typeface="Helvetica"/>
              </a:defRPr>
            </a:pPr>
            <a:r>
              <a:t>Notes: </a:t>
            </a:r>
            <a:r>
              <a:t>This sometimes referred to as “wall-clock time”, representing the passage of time in terms of a human observer watching a clock on the wall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pPr/>
            <a:r>
              <a:t>Two jobs running simultaneously</a:t>
            </a:r>
          </a:p>
        </p:txBody>
      </p:sp>
      <p:sp>
        <p:nvSpPr>
          <p:cNvPr id="343" name="Shape 343"/>
          <p:cNvSpPr/>
          <p:nvPr>
            <p:ph type="body" sz="half" idx="1"/>
          </p:nvPr>
        </p:nvSpPr>
        <p:spPr>
          <a:xfrm>
            <a:off x="952500" y="2603500"/>
            <a:ext cx="11099800" cy="3493443"/>
          </a:xfrm>
          <a:prstGeom prst="rect">
            <a:avLst/>
          </a:prstGeom>
        </p:spPr>
        <p:txBody>
          <a:bodyPr/>
          <a:lstStyle/>
          <a:p>
            <a:pPr/>
            <a:r>
              <a:t>If two run simultaneously, the two timing measures still agree</a:t>
            </a:r>
          </a:p>
          <a:p>
            <a:pPr/>
          </a:p>
          <a:p>
            <a:pPr/>
            <a:r>
              <a:t>Each core handles one timing test each:</a:t>
            </a:r>
          </a:p>
        </p:txBody>
      </p:sp>
      <p:sp>
        <p:nvSpPr>
          <p:cNvPr id="344" name="Shape 344"/>
          <p:cNvSpPr/>
          <p:nvPr/>
        </p:nvSpPr>
        <p:spPr>
          <a:xfrm>
            <a:off x="3048000" y="7204323"/>
            <a:ext cx="7117656" cy="545803"/>
          </a:xfrm>
          <a:prstGeom prst="rect">
            <a:avLst/>
          </a:prstGeom>
          <a:solidFill>
            <a:srgbClr val="76D6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45" name="Shape 345"/>
          <p:cNvSpPr/>
          <p:nvPr/>
        </p:nvSpPr>
        <p:spPr>
          <a:xfrm>
            <a:off x="3048000" y="7915523"/>
            <a:ext cx="7117656" cy="545803"/>
          </a:xfrm>
          <a:prstGeom prst="rect">
            <a:avLst/>
          </a:prstGeom>
          <a:solidFill>
            <a:srgbClr val="76D6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46" name="Shape 346"/>
          <p:cNvSpPr/>
          <p:nvPr/>
        </p:nvSpPr>
        <p:spPr>
          <a:xfrm>
            <a:off x="2806700" y="8778182"/>
            <a:ext cx="777598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47" name="Shape 347"/>
          <p:cNvSpPr/>
          <p:nvPr/>
        </p:nvSpPr>
        <p:spPr>
          <a:xfrm flipV="1">
            <a:off x="3060700" y="6494536"/>
            <a:ext cx="0" cy="25376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48" name="Shape 348"/>
          <p:cNvSpPr/>
          <p:nvPr/>
        </p:nvSpPr>
        <p:spPr>
          <a:xfrm>
            <a:off x="3265239" y="7229574"/>
            <a:ext cx="68312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Idle</a:t>
            </a:r>
          </a:p>
        </p:txBody>
      </p:sp>
      <p:sp>
        <p:nvSpPr>
          <p:cNvPr id="349" name="Shape 349"/>
          <p:cNvSpPr/>
          <p:nvPr/>
        </p:nvSpPr>
        <p:spPr>
          <a:xfrm>
            <a:off x="3265239" y="7940774"/>
            <a:ext cx="68312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Idle</a:t>
            </a:r>
          </a:p>
        </p:txBody>
      </p:sp>
      <p:sp>
        <p:nvSpPr>
          <p:cNvPr id="350" name="Shape 350"/>
          <p:cNvSpPr/>
          <p:nvPr/>
        </p:nvSpPr>
        <p:spPr>
          <a:xfrm>
            <a:off x="10472402" y="8382000"/>
            <a:ext cx="14833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Actual time</a:t>
            </a:r>
          </a:p>
        </p:txBody>
      </p:sp>
      <p:sp>
        <p:nvSpPr>
          <p:cNvPr id="351" name="Shape 351"/>
          <p:cNvSpPr/>
          <p:nvPr/>
        </p:nvSpPr>
        <p:spPr>
          <a:xfrm>
            <a:off x="1779934" y="7242274"/>
            <a:ext cx="106293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Core 0</a:t>
            </a:r>
          </a:p>
        </p:txBody>
      </p:sp>
      <p:sp>
        <p:nvSpPr>
          <p:cNvPr id="352" name="Shape 352"/>
          <p:cNvSpPr/>
          <p:nvPr/>
        </p:nvSpPr>
        <p:spPr>
          <a:xfrm>
            <a:off x="1779934" y="7953474"/>
            <a:ext cx="106293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Core 1</a:t>
            </a:r>
          </a:p>
        </p:txBody>
      </p:sp>
      <p:sp>
        <p:nvSpPr>
          <p:cNvPr id="353" name="Shape 353"/>
          <p:cNvSpPr/>
          <p:nvPr/>
        </p:nvSpPr>
        <p:spPr>
          <a:xfrm>
            <a:off x="5151288" y="7204323"/>
            <a:ext cx="2554636" cy="545803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54" name="Shape 354"/>
          <p:cNvSpPr/>
          <p:nvPr/>
        </p:nvSpPr>
        <p:spPr>
          <a:xfrm>
            <a:off x="5184566" y="7604224"/>
            <a:ext cx="248808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55" name="Shape 355"/>
          <p:cNvSpPr/>
          <p:nvPr/>
        </p:nvSpPr>
        <p:spPr>
          <a:xfrm>
            <a:off x="5366875" y="7223224"/>
            <a:ext cx="212346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b="0" sz="1900">
                <a:latin typeface="Menlo"/>
                <a:ea typeface="Menlo"/>
                <a:cs typeface="Menlo"/>
                <a:sym typeface="Menlo"/>
              </a:rPr>
              <a:t>clock</a:t>
            </a:r>
            <a:r>
              <a:rPr sz="2300"/>
              <a:t> measure</a:t>
            </a:r>
          </a:p>
        </p:txBody>
      </p:sp>
      <p:sp>
        <p:nvSpPr>
          <p:cNvPr id="356" name="Shape 356"/>
          <p:cNvSpPr/>
          <p:nvPr/>
        </p:nvSpPr>
        <p:spPr>
          <a:xfrm>
            <a:off x="5513306" y="6461224"/>
            <a:ext cx="1978188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b="0" sz="1900">
                <a:latin typeface="Menlo"/>
                <a:ea typeface="Menlo"/>
                <a:cs typeface="Menlo"/>
                <a:sym typeface="Menlo"/>
              </a:rPr>
              <a:t>time</a:t>
            </a:r>
            <a:r>
              <a:rPr sz="2300"/>
              <a:t> measure</a:t>
            </a:r>
          </a:p>
        </p:txBody>
      </p:sp>
      <p:sp>
        <p:nvSpPr>
          <p:cNvPr id="357" name="Shape 357"/>
          <p:cNvSpPr/>
          <p:nvPr/>
        </p:nvSpPr>
        <p:spPr>
          <a:xfrm>
            <a:off x="5184566" y="6893024"/>
            <a:ext cx="248808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58" name="Shape 358"/>
          <p:cNvSpPr/>
          <p:nvPr/>
        </p:nvSpPr>
        <p:spPr>
          <a:xfrm>
            <a:off x="5151288" y="7915523"/>
            <a:ext cx="2554636" cy="545803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59" name="Shape 359"/>
          <p:cNvSpPr/>
          <p:nvPr/>
        </p:nvSpPr>
        <p:spPr>
          <a:xfrm>
            <a:off x="4307023" y="3842221"/>
            <a:ext cx="4243166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clock routine : 2.6529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time routine  : 2.6723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clock routine : 2.6726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time routine  : 2.6942 microseconds</a:t>
            </a:r>
          </a:p>
        </p:txBody>
      </p:sp>
      <p:sp>
        <p:nvSpPr>
          <p:cNvPr id="360" name="Shape 360"/>
          <p:cNvSpPr/>
          <p:nvPr/>
        </p:nvSpPr>
        <p:spPr>
          <a:xfrm>
            <a:off x="4908176" y="9000432"/>
            <a:ext cx="420332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19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 sz="3600"/>
            </a:pPr>
            <a:r>
              <a:rPr sz="1900"/>
              <a:t>Second job running simultaneously</a:t>
            </a:r>
          </a:p>
        </p:txBody>
      </p:sp>
      <p:sp>
        <p:nvSpPr>
          <p:cNvPr id="361" name="Shape 361"/>
          <p:cNvSpPr/>
          <p:nvPr/>
        </p:nvSpPr>
        <p:spPr>
          <a:xfrm flipH="1" flipV="1">
            <a:off x="6548869" y="8042467"/>
            <a:ext cx="272207" cy="952513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Three jobs running simultaneously</a:t>
            </a:r>
          </a:p>
        </p:txBody>
      </p:sp>
      <p:sp>
        <p:nvSpPr>
          <p:cNvPr id="364" name="Shape 364"/>
          <p:cNvSpPr/>
          <p:nvPr>
            <p:ph type="body" sz="half" idx="1"/>
          </p:nvPr>
        </p:nvSpPr>
        <p:spPr>
          <a:xfrm>
            <a:off x="952500" y="2347962"/>
            <a:ext cx="11099800" cy="3773488"/>
          </a:xfrm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2000"/>
              </a:spcBef>
              <a:defRPr sz="2772"/>
            </a:pPr>
            <a:r>
              <a:t>However, if three jobs are run, then there is a noticeable difference: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</a:p>
          <a:p>
            <a:pPr marL="342264" indent="-342264" defTabSz="449833">
              <a:spcBef>
                <a:spcPts val="2000"/>
              </a:spcBef>
              <a:defRPr sz="2772"/>
            </a:pP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The computer will rapidly switch between the three jobs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t>The total elapsed time is about 3/2 of the actual time each job spends on the processor</a:t>
            </a:r>
          </a:p>
        </p:txBody>
      </p:sp>
      <p:sp>
        <p:nvSpPr>
          <p:cNvPr id="365" name="Shape 365"/>
          <p:cNvSpPr/>
          <p:nvPr/>
        </p:nvSpPr>
        <p:spPr>
          <a:xfrm>
            <a:off x="3048000" y="7204323"/>
            <a:ext cx="7117656" cy="545803"/>
          </a:xfrm>
          <a:prstGeom prst="rect">
            <a:avLst/>
          </a:prstGeom>
          <a:solidFill>
            <a:srgbClr val="76D6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66" name="Shape 366"/>
          <p:cNvSpPr/>
          <p:nvPr/>
        </p:nvSpPr>
        <p:spPr>
          <a:xfrm>
            <a:off x="3048000" y="7915523"/>
            <a:ext cx="7117656" cy="545803"/>
          </a:xfrm>
          <a:prstGeom prst="rect">
            <a:avLst/>
          </a:prstGeom>
          <a:solidFill>
            <a:srgbClr val="76D6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67" name="Shape 367"/>
          <p:cNvSpPr/>
          <p:nvPr/>
        </p:nvSpPr>
        <p:spPr>
          <a:xfrm>
            <a:off x="2806700" y="8778182"/>
            <a:ext cx="7775985" cy="1"/>
          </a:xfrm>
          <a:prstGeom prst="line">
            <a:avLst/>
          </a:prstGeom>
          <a:ln w="127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68" name="Shape 368"/>
          <p:cNvSpPr/>
          <p:nvPr/>
        </p:nvSpPr>
        <p:spPr>
          <a:xfrm flipV="1">
            <a:off x="3060700" y="6494536"/>
            <a:ext cx="0" cy="2537647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69" name="Shape 369"/>
          <p:cNvSpPr/>
          <p:nvPr/>
        </p:nvSpPr>
        <p:spPr>
          <a:xfrm>
            <a:off x="3265239" y="7229574"/>
            <a:ext cx="68312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Idle</a:t>
            </a:r>
          </a:p>
        </p:txBody>
      </p:sp>
      <p:sp>
        <p:nvSpPr>
          <p:cNvPr id="370" name="Shape 370"/>
          <p:cNvSpPr/>
          <p:nvPr/>
        </p:nvSpPr>
        <p:spPr>
          <a:xfrm>
            <a:off x="3265239" y="7940774"/>
            <a:ext cx="683122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6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Idle</a:t>
            </a:r>
          </a:p>
        </p:txBody>
      </p:sp>
      <p:sp>
        <p:nvSpPr>
          <p:cNvPr id="371" name="Shape 371"/>
          <p:cNvSpPr/>
          <p:nvPr/>
        </p:nvSpPr>
        <p:spPr>
          <a:xfrm>
            <a:off x="10472402" y="8382000"/>
            <a:ext cx="14833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0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Actual time</a:t>
            </a:r>
          </a:p>
        </p:txBody>
      </p:sp>
      <p:sp>
        <p:nvSpPr>
          <p:cNvPr id="372" name="Shape 372"/>
          <p:cNvSpPr/>
          <p:nvPr/>
        </p:nvSpPr>
        <p:spPr>
          <a:xfrm>
            <a:off x="1779934" y="7242274"/>
            <a:ext cx="106293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Core 0</a:t>
            </a:r>
          </a:p>
        </p:txBody>
      </p:sp>
      <p:sp>
        <p:nvSpPr>
          <p:cNvPr id="373" name="Shape 373"/>
          <p:cNvSpPr/>
          <p:nvPr/>
        </p:nvSpPr>
        <p:spPr>
          <a:xfrm>
            <a:off x="1779934" y="7953474"/>
            <a:ext cx="1062932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24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Core 1</a:t>
            </a:r>
          </a:p>
        </p:txBody>
      </p:sp>
      <p:sp>
        <p:nvSpPr>
          <p:cNvPr id="374" name="Shape 374"/>
          <p:cNvSpPr/>
          <p:nvPr/>
        </p:nvSpPr>
        <p:spPr>
          <a:xfrm>
            <a:off x="5151288" y="7204323"/>
            <a:ext cx="650524" cy="545803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75" name="Shape 375"/>
          <p:cNvSpPr/>
          <p:nvPr/>
        </p:nvSpPr>
        <p:spPr>
          <a:xfrm>
            <a:off x="5184566" y="7477224"/>
            <a:ext cx="58396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76" name="Shape 376"/>
          <p:cNvSpPr/>
          <p:nvPr/>
        </p:nvSpPr>
        <p:spPr>
          <a:xfrm>
            <a:off x="4841839" y="8905182"/>
            <a:ext cx="441219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b="0" sz="1900">
                <a:latin typeface="Menlo"/>
                <a:ea typeface="Menlo"/>
                <a:cs typeface="Menlo"/>
                <a:sym typeface="Menlo"/>
              </a:rPr>
              <a:t>clock</a:t>
            </a:r>
            <a:r>
              <a:rPr sz="2300"/>
              <a:t> measure is sum of these </a:t>
            </a:r>
          </a:p>
        </p:txBody>
      </p:sp>
      <p:sp>
        <p:nvSpPr>
          <p:cNvPr id="377" name="Shape 377"/>
          <p:cNvSpPr/>
          <p:nvPr/>
        </p:nvSpPr>
        <p:spPr>
          <a:xfrm>
            <a:off x="6092847" y="6448524"/>
            <a:ext cx="197818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b="1">
                <a:latin typeface="+mj-lt"/>
                <a:ea typeface="+mj-ea"/>
                <a:cs typeface="+mj-cs"/>
                <a:sym typeface="Helvetica"/>
              </a:defRPr>
            </a:pPr>
            <a:r>
              <a:rPr b="0" sz="1900">
                <a:latin typeface="Menlo"/>
                <a:ea typeface="Menlo"/>
                <a:cs typeface="Menlo"/>
                <a:sym typeface="Menlo"/>
              </a:rPr>
              <a:t>time</a:t>
            </a:r>
            <a:r>
              <a:rPr sz="2300"/>
              <a:t> measure</a:t>
            </a:r>
          </a:p>
        </p:txBody>
      </p:sp>
      <p:sp>
        <p:nvSpPr>
          <p:cNvPr id="378" name="Shape 378"/>
          <p:cNvSpPr/>
          <p:nvPr/>
        </p:nvSpPr>
        <p:spPr>
          <a:xfrm>
            <a:off x="5184566" y="6893024"/>
            <a:ext cx="379474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79" name="Shape 379"/>
          <p:cNvSpPr/>
          <p:nvPr/>
        </p:nvSpPr>
        <p:spPr>
          <a:xfrm>
            <a:off x="5151288" y="7915523"/>
            <a:ext cx="650524" cy="545803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0" name="Shape 380"/>
          <p:cNvSpPr/>
          <p:nvPr/>
        </p:nvSpPr>
        <p:spPr>
          <a:xfrm>
            <a:off x="5797951" y="7205311"/>
            <a:ext cx="650524" cy="545803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1" name="Shape 381"/>
          <p:cNvSpPr/>
          <p:nvPr/>
        </p:nvSpPr>
        <p:spPr>
          <a:xfrm>
            <a:off x="5797951" y="7916511"/>
            <a:ext cx="650524" cy="545803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2" name="Shape 382"/>
          <p:cNvSpPr/>
          <p:nvPr/>
        </p:nvSpPr>
        <p:spPr>
          <a:xfrm>
            <a:off x="6444613" y="7206299"/>
            <a:ext cx="650524" cy="545804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3" name="Shape 383"/>
          <p:cNvSpPr/>
          <p:nvPr/>
        </p:nvSpPr>
        <p:spPr>
          <a:xfrm>
            <a:off x="6444613" y="7917499"/>
            <a:ext cx="650524" cy="545804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4" name="Shape 384"/>
          <p:cNvSpPr/>
          <p:nvPr/>
        </p:nvSpPr>
        <p:spPr>
          <a:xfrm>
            <a:off x="7091275" y="7207287"/>
            <a:ext cx="650524" cy="545804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5" name="Shape 385"/>
          <p:cNvSpPr/>
          <p:nvPr/>
        </p:nvSpPr>
        <p:spPr>
          <a:xfrm>
            <a:off x="7091275" y="7918537"/>
            <a:ext cx="650524" cy="545803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6" name="Shape 386"/>
          <p:cNvSpPr/>
          <p:nvPr/>
        </p:nvSpPr>
        <p:spPr>
          <a:xfrm>
            <a:off x="7737937" y="7208276"/>
            <a:ext cx="650524" cy="545803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7" name="Shape 387"/>
          <p:cNvSpPr/>
          <p:nvPr/>
        </p:nvSpPr>
        <p:spPr>
          <a:xfrm>
            <a:off x="7737937" y="7919525"/>
            <a:ext cx="650524" cy="545804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8" name="Shape 388"/>
          <p:cNvSpPr/>
          <p:nvPr/>
        </p:nvSpPr>
        <p:spPr>
          <a:xfrm>
            <a:off x="8384599" y="7209314"/>
            <a:ext cx="650524" cy="545803"/>
          </a:xfrm>
          <a:prstGeom prst="rect">
            <a:avLst/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89" name="Shape 389"/>
          <p:cNvSpPr/>
          <p:nvPr/>
        </p:nvSpPr>
        <p:spPr>
          <a:xfrm>
            <a:off x="8384599" y="7920514"/>
            <a:ext cx="650524" cy="545803"/>
          </a:xfrm>
          <a:prstGeom prst="rect">
            <a:avLst/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90" name="Shape 390"/>
          <p:cNvSpPr/>
          <p:nvPr/>
        </p:nvSpPr>
        <p:spPr>
          <a:xfrm>
            <a:off x="6477891" y="8188424"/>
            <a:ext cx="583968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91" name="Shape 391"/>
          <p:cNvSpPr/>
          <p:nvPr/>
        </p:nvSpPr>
        <p:spPr>
          <a:xfrm>
            <a:off x="7124554" y="7477224"/>
            <a:ext cx="58396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92" name="Shape 392"/>
          <p:cNvSpPr/>
          <p:nvPr/>
        </p:nvSpPr>
        <p:spPr>
          <a:xfrm>
            <a:off x="8417878" y="8188424"/>
            <a:ext cx="58396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93" name="Shape 393"/>
          <p:cNvSpPr/>
          <p:nvPr/>
        </p:nvSpPr>
        <p:spPr>
          <a:xfrm>
            <a:off x="4380817" y="2882900"/>
            <a:ext cx="4243166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clock routine : 2.6480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time routine  : 4.0000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clock routine : 2.6853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time routine  : 4.0478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clock routine : 2.7035 microseconds</a:t>
            </a:r>
          </a:p>
          <a:p>
            <a:pPr algn="l" defTabSz="4572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00">
                <a:solidFill>
                  <a:srgbClr val="212121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time routine  : 4.0826 microseconds</a:t>
            </a:r>
          </a:p>
        </p:txBody>
      </p:sp>
      <p:sp>
        <p:nvSpPr>
          <p:cNvPr id="394" name="Shape 394"/>
          <p:cNvSpPr/>
          <p:nvPr/>
        </p:nvSpPr>
        <p:spPr>
          <a:xfrm flipH="1" flipV="1">
            <a:off x="5569878" y="7608838"/>
            <a:ext cx="1321550" cy="1321550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95" name="Shape 395"/>
          <p:cNvSpPr/>
          <p:nvPr/>
        </p:nvSpPr>
        <p:spPr>
          <a:xfrm flipH="1" flipV="1">
            <a:off x="6702757" y="8290193"/>
            <a:ext cx="206277" cy="625417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96" name="Shape 396"/>
          <p:cNvSpPr/>
          <p:nvPr/>
        </p:nvSpPr>
        <p:spPr>
          <a:xfrm flipV="1">
            <a:off x="6924263" y="7632521"/>
            <a:ext cx="480021" cy="1309876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97" name="Shape 397"/>
          <p:cNvSpPr/>
          <p:nvPr/>
        </p:nvSpPr>
        <p:spPr>
          <a:xfrm flipV="1">
            <a:off x="6947530" y="8281511"/>
            <a:ext cx="1780581" cy="654933"/>
          </a:xfrm>
          <a:prstGeom prst="line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398" name="Shape 398"/>
          <p:cNvSpPr/>
          <p:nvPr/>
        </p:nvSpPr>
        <p:spPr>
          <a:xfrm>
            <a:off x="10479604" y="6011167"/>
            <a:ext cx="2402404" cy="2146301"/>
          </a:xfrm>
          <a:prstGeom prst="roundRect">
            <a:avLst>
              <a:gd name="adj" fmla="val 13316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1600">
                <a:latin typeface="+mj-lt"/>
                <a:ea typeface="+mj-ea"/>
                <a:cs typeface="+mj-cs"/>
                <a:sym typeface="Helvetica"/>
              </a:defRPr>
            </a:pPr>
            <a:r>
              <a:rPr sz="1800"/>
              <a:t>Notes: </a:t>
            </a:r>
            <a:r>
              <a:rPr sz="1800"/>
              <a:t>As this example illustrates, </a:t>
            </a:r>
            <a:r>
              <a:rPr b="0" sz="1500">
                <a:latin typeface="Menlo"/>
                <a:ea typeface="Menlo"/>
                <a:cs typeface="Menlo"/>
                <a:sym typeface="Menlo"/>
              </a:rPr>
              <a:t>clock</a:t>
            </a:r>
            <a:r>
              <a:rPr sz="1800"/>
              <a:t> is better suited to timing tests, since it is not sensitive the total computer load.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hape 400"/>
          <p:cNvSpPr/>
          <p:nvPr>
            <p:ph type="title"/>
          </p:nvPr>
        </p:nvSpPr>
        <p:spPr>
          <a:xfrm>
            <a:off x="437232" y="-241300"/>
            <a:ext cx="12130336" cy="2159000"/>
          </a:xfrm>
          <a:prstGeom prst="rect">
            <a:avLst/>
          </a:prstGeom>
        </p:spPr>
        <p:txBody>
          <a:bodyPr/>
          <a:lstStyle/>
          <a:p>
            <a:pPr/>
            <a:r>
              <a:t>Timing</a:t>
            </a:r>
          </a:p>
        </p:txBody>
      </p:sp>
      <p:pic>
        <p:nvPicPr>
          <p:cNvPr id="401" name="lec13_8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4129" y="1472039"/>
            <a:ext cx="11856542" cy="6224685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Shape 402"/>
          <p:cNvSpPr/>
          <p:nvPr/>
        </p:nvSpPr>
        <p:spPr>
          <a:xfrm>
            <a:off x="6200399" y="7814150"/>
            <a:ext cx="6569225" cy="1774499"/>
          </a:xfrm>
          <a:prstGeom prst="roundRect">
            <a:avLst>
              <a:gd name="adj" fmla="val 15160"/>
            </a:avLst>
          </a:prstGeom>
          <a:solidFill>
            <a:srgbClr val="FFFBD1"/>
          </a:solidFill>
          <a:ln w="12700">
            <a:solidFill>
              <a:schemeClr val="accent3"/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01600" tIns="101600" rIns="101600" bIns="101600"/>
          <a:lstStyle/>
          <a:p>
            <a:pPr algn="l">
              <a:defRPr b="1" sz="2100">
                <a:latin typeface="+mj-lt"/>
                <a:ea typeface="+mj-ea"/>
                <a:cs typeface="+mj-cs"/>
                <a:sym typeface="Helvetica"/>
              </a:defRPr>
            </a:pPr>
            <a:r>
              <a:t>Notes:</a:t>
            </a:r>
          </a:p>
          <a:p>
            <a:pPr algn="l">
              <a:defRPr b="1" sz="2100">
                <a:latin typeface="+mj-lt"/>
                <a:ea typeface="+mj-ea"/>
                <a:cs typeface="+mj-cs"/>
                <a:sym typeface="Helvetica"/>
              </a:defRPr>
            </a:pPr>
            <a:r>
              <a:t>The simple routine may be faster for very small values of </a:t>
            </a:r>
            <a:r>
              <a:rPr b="0" i="1"/>
              <a:t>n</a:t>
            </a:r>
            <a:r>
              <a:t>, but as </a:t>
            </a:r>
            <a:r>
              <a:rPr b="0" i="1"/>
              <a:t>n</a:t>
            </a:r>
            <a:r>
              <a:t> is increased the bisection routines always win due to their better scaling properties.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Shape 404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72516">
              <a:defRPr sz="5488">
                <a:effectLst>
                  <a:outerShdw sx="100000" sy="100000" kx="0" ky="0" algn="b" rotWithShape="0" blurRad="87122" dist="37338" dir="270000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/>
            <a:r>
              <a:t>Some other things to consider in designing a unique number strategy</a:t>
            </a:r>
          </a:p>
        </p:txBody>
      </p:sp>
      <p:sp>
        <p:nvSpPr>
          <p:cNvPr id="405" name="Shape 405"/>
          <p:cNvSpPr/>
          <p:nvPr>
            <p:ph type="body" idx="1"/>
          </p:nvPr>
        </p:nvSpPr>
        <p:spPr>
          <a:xfrm>
            <a:off x="952500" y="2962870"/>
            <a:ext cx="11099800" cy="5927130"/>
          </a:xfrm>
          <a:prstGeom prst="rect">
            <a:avLst/>
          </a:prstGeom>
        </p:spPr>
        <p:txBody>
          <a:bodyPr/>
          <a:lstStyle/>
          <a:p>
            <a:pPr/>
            <a:r>
              <a:t>If you have a probability distribution in mind, the bisection routine can be used to rapidly create random samples from this distribution</a:t>
            </a:r>
          </a:p>
          <a:p>
            <a:pPr/>
            <a:r>
              <a:t>Other things to consider:</a:t>
            </a:r>
          </a:p>
          <a:p>
            <a:pPr lvl="1"/>
            <a:r>
              <a:t>Adaptivity: you know what other players did in previous rounds</a:t>
            </a:r>
          </a:p>
          <a:p>
            <a:pPr lvl="1"/>
            <a:r>
              <a:t>Introspection: you know how well your previous strategies worked out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