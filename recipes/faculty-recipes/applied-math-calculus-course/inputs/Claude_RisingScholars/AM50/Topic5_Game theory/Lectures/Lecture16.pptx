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54" r:id="rId2"/>
    <p:sldId id="332" r:id="rId3"/>
    <p:sldId id="333" r:id="rId4"/>
    <p:sldId id="334" r:id="rId5"/>
    <p:sldId id="335" r:id="rId6"/>
    <p:sldId id="358" r:id="rId7"/>
    <p:sldId id="337" r:id="rId8"/>
    <p:sldId id="336" r:id="rId9"/>
    <p:sldId id="360" r:id="rId10"/>
    <p:sldId id="362" r:id="rId11"/>
    <p:sldId id="371" r:id="rId12"/>
    <p:sldId id="372" r:id="rId13"/>
    <p:sldId id="363" r:id="rId14"/>
    <p:sldId id="364" r:id="rId15"/>
    <p:sldId id="355" r:id="rId16"/>
    <p:sldId id="356" r:id="rId17"/>
    <p:sldId id="357" r:id="rId18"/>
    <p:sldId id="365" r:id="rId19"/>
    <p:sldId id="342" r:id="rId20"/>
    <p:sldId id="343" r:id="rId21"/>
    <p:sldId id="366" r:id="rId22"/>
    <p:sldId id="344" r:id="rId23"/>
    <p:sldId id="345" r:id="rId24"/>
    <p:sldId id="367" r:id="rId25"/>
    <p:sldId id="346" r:id="rId26"/>
    <p:sldId id="368" r:id="rId27"/>
    <p:sldId id="349" r:id="rId28"/>
    <p:sldId id="347" r:id="rId29"/>
    <p:sldId id="348" r:id="rId30"/>
    <p:sldId id="350" r:id="rId31"/>
    <p:sldId id="351" r:id="rId32"/>
    <p:sldId id="369" r:id="rId33"/>
    <p:sldId id="352" r:id="rId34"/>
    <p:sldId id="353" r:id="rId35"/>
    <p:sldId id="370" r:id="rId3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  <p:extLst>
    <p:ext uri="{521415D9-36F7-43E2-AB2F-B90AF26B5E84}">
      <p14:sectionLst xmlns:p14="http://schemas.microsoft.com/office/powerpoint/2010/main">
        <p14:section name="Default Section" id="{D534E68C-AECD-B14E-87A9-BA6AAF803C76}">
          <p14:sldIdLst>
            <p14:sldId id="354"/>
            <p14:sldId id="332"/>
            <p14:sldId id="333"/>
            <p14:sldId id="334"/>
            <p14:sldId id="335"/>
            <p14:sldId id="358"/>
            <p14:sldId id="337"/>
            <p14:sldId id="336"/>
            <p14:sldId id="360"/>
            <p14:sldId id="362"/>
            <p14:sldId id="371"/>
            <p14:sldId id="372"/>
            <p14:sldId id="363"/>
            <p14:sldId id="364"/>
            <p14:sldId id="355"/>
            <p14:sldId id="356"/>
            <p14:sldId id="357"/>
            <p14:sldId id="365"/>
            <p14:sldId id="342"/>
            <p14:sldId id="343"/>
            <p14:sldId id="366"/>
            <p14:sldId id="344"/>
            <p14:sldId id="345"/>
            <p14:sldId id="367"/>
            <p14:sldId id="346"/>
            <p14:sldId id="368"/>
            <p14:sldId id="349"/>
            <p14:sldId id="347"/>
            <p14:sldId id="348"/>
            <p14:sldId id="350"/>
            <p14:sldId id="351"/>
            <p14:sldId id="369"/>
            <p14:sldId id="352"/>
            <p14:sldId id="353"/>
            <p14:sldId id="370"/>
          </p14:sldIdLst>
        </p14:section>
        <p14:section name="2016" id="{ECB88DE2-E8F1-0145-B43A-39499BFDCA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lastRow>
    <a:fir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lastRow>
    <a:fir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rgbClr val="CCCCDA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lastRow>
    <a:fir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lastRow>
    <a:fir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lastRow>
    <a:firstRow>
      <a:tcTxStyle b="on" i="on">
        <a:font>
          <a:latin typeface="Gill Sans"/>
          <a:ea typeface="Gill Sans"/>
          <a:cs typeface="Gill Sans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8"/>
    <p:restoredTop sz="84852"/>
  </p:normalViewPr>
  <p:slideViewPr>
    <p:cSldViewPr snapToGrid="0" snapToObjects="1">
      <p:cViewPr>
        <p:scale>
          <a:sx n="46" d="100"/>
          <a:sy n="46" d="100"/>
        </p:scale>
        <p:origin x="8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" name="Shape 1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50389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s://phys.org/news/2007-10-snowdrift-game-tops-prisoner-dilemma.html#jCp" TargetMode="Externa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57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 &gt; P (mutual cooperation</a:t>
            </a:r>
            <a:r>
              <a:rPr lang="en-US" baseline="0" dirty="0" smtClean="0"/>
              <a:t> is preferred to mutual defect)</a:t>
            </a:r>
          </a:p>
          <a:p>
            <a:r>
              <a:rPr lang="en-US" baseline="0" dirty="0" smtClean="0"/>
              <a:t>T &gt; R, P &gt; S (defection is the dominant strategy)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29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dirty="0" smtClean="0">
                <a:latin typeface="+mn-lt"/>
                <a:ea typeface="+mn-ea"/>
                <a:cs typeface="+mn-cs"/>
                <a:sym typeface="Helvetica Neue"/>
              </a:rPr>
              <a:t>The situation of the Snowdrift game involves two drivers who are trapped on opposite sides of a snowdrift. Each has the option of staying in the car or shoveling snow to clear a path. Letting the opponent do all the work is the best option (with a pay-off of 300 used in this study), but being exploited by shoveling while the opponent sits in the car still results in a pay-off of 100. (The other two possibilities, both shoveling and both sitting, have pay-offs of 200 and 0, respectively.)</a:t>
            </a:r>
          </a:p>
          <a:p>
            <a:endParaRPr lang="en-US" sz="2200" dirty="0" smtClean="0">
              <a:latin typeface="+mn-lt"/>
              <a:ea typeface="+mn-ea"/>
              <a:cs typeface="+mn-cs"/>
              <a:sym typeface="Helvetica Neue"/>
            </a:endParaRPr>
          </a:p>
          <a:p>
            <a:r>
              <a:rPr lang="en-US" sz="2200" dirty="0" smtClean="0">
                <a:latin typeface="+mn-lt"/>
                <a:ea typeface="+mn-ea"/>
                <a:cs typeface="+mn-cs"/>
                <a:sym typeface="Helvetica Neue"/>
              </a:rPr>
              <a:t>Read more at: </a:t>
            </a:r>
            <a:r>
              <a:rPr lang="en-US" sz="2200" dirty="0" smtClean="0">
                <a:latin typeface="+mn-lt"/>
                <a:ea typeface="+mn-ea"/>
                <a:cs typeface="+mn-cs"/>
                <a:sym typeface="Helvetica Neue"/>
                <a:hlinkClick r:id="rId3"/>
              </a:rPr>
              <a:t>https://phys.org/news/2007-10-snowdrift-game-tops-prisoner-dilemma.html#jCp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6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 &gt; R &gt; S &gt; 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34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 &gt; R &gt; S &gt; 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693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game is played N times and both players know this, then it is</a:t>
            </a:r>
            <a:r>
              <a:rPr lang="en-US" baseline="0" dirty="0" smtClean="0"/>
              <a:t> always game theoretically optimal to defect.</a:t>
            </a:r>
          </a:p>
          <a:p>
            <a:endParaRPr lang="en-US" baseline="0" dirty="0" smtClean="0"/>
          </a:p>
          <a:p>
            <a:r>
              <a:rPr lang="en-US" baseline="0" dirty="0" smtClean="0"/>
              <a:t>Cooperate on the first round.  Then for the next round, do what opponent did on the previous round.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87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978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85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2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09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357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37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7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582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655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197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00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68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94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51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79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240862"/>
            <a:ext cx="10464800" cy="2464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idx="1"/>
          </p:nvPr>
        </p:nvSpPr>
        <p:spPr>
          <a:xfrm>
            <a:off x="1270000" y="2705537"/>
            <a:ext cx="10464800" cy="5841126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38200"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1pPr>
            <a:lvl2pPr marL="1282700"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2pPr>
            <a:lvl3pPr marL="1727200"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3pPr>
            <a:lvl4pPr marL="2171700"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4pPr>
            <a:lvl5pPr marL="2616200"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xfrm>
            <a:off x="9320106" y="8779791"/>
            <a:ext cx="3034454" cy="520701"/>
          </a:xfrm>
          <a:prstGeom prst="rect">
            <a:avLst/>
          </a:prstGeom>
        </p:spPr>
        <p:txBody>
          <a:bodyPr wrap="square"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>
            <a:normAutofit/>
          </a:bodyPr>
          <a:lstStyle>
            <a:lvl1pPr defTabSz="584200">
              <a:defRPr sz="6400" b="1">
                <a:solidFill>
                  <a:srgbClr val="164F86"/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hape 129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</p:spPr>
        <p:txBody>
          <a:bodyPr lIns="50800" tIns="50800" rIns="50800" bIns="50800" anchor="ctr">
            <a:normAutofit/>
          </a:bodyPr>
          <a:lstStyle>
            <a:lvl1pPr marL="444500" indent="-444500" defTabSz="584200">
              <a:lnSpc>
                <a:spcPct val="90000"/>
              </a:lnSpc>
              <a:spcBef>
                <a:spcPts val="2600"/>
              </a:spcBef>
              <a:buSzPct val="75000"/>
              <a:buFontTx/>
              <a:defRPr sz="3600" b="1">
                <a:latin typeface="+mj-lt"/>
                <a:ea typeface="+mj-ea"/>
                <a:cs typeface="+mj-cs"/>
                <a:sym typeface="Helvetica"/>
              </a:defRPr>
            </a:lvl1pPr>
            <a:lvl2pPr marL="889000" indent="-444500" defTabSz="584200">
              <a:lnSpc>
                <a:spcPct val="90000"/>
              </a:lnSpc>
              <a:spcBef>
                <a:spcPts val="2600"/>
              </a:spcBef>
              <a:buSzPct val="75000"/>
              <a:buFontTx/>
              <a:defRPr sz="3600" b="1">
                <a:latin typeface="+mj-lt"/>
                <a:ea typeface="+mj-ea"/>
                <a:cs typeface="+mj-cs"/>
                <a:sym typeface="Helvetica"/>
              </a:defRPr>
            </a:lvl2pPr>
            <a:lvl3pPr marL="1333500" indent="-444500" defTabSz="584200">
              <a:lnSpc>
                <a:spcPct val="90000"/>
              </a:lnSpc>
              <a:spcBef>
                <a:spcPts val="2600"/>
              </a:spcBef>
              <a:buSzPct val="75000"/>
              <a:buFontTx/>
              <a:defRPr sz="3600" b="1">
                <a:latin typeface="+mj-lt"/>
                <a:ea typeface="+mj-ea"/>
                <a:cs typeface="+mj-cs"/>
                <a:sym typeface="Helvetica"/>
              </a:defRPr>
            </a:lvl3pPr>
            <a:lvl4pPr marL="1778000" indent="-444500" defTabSz="584200">
              <a:lnSpc>
                <a:spcPct val="90000"/>
              </a:lnSpc>
              <a:spcBef>
                <a:spcPts val="2600"/>
              </a:spcBef>
              <a:buSzPct val="75000"/>
              <a:buFontTx/>
              <a:defRPr sz="3600" b="1">
                <a:latin typeface="+mj-lt"/>
                <a:ea typeface="+mj-ea"/>
                <a:cs typeface="+mj-cs"/>
                <a:sym typeface="Helvetica"/>
              </a:defRPr>
            </a:lvl4pPr>
            <a:lvl5pPr marL="2222500" indent="-444500" defTabSz="584200">
              <a:lnSpc>
                <a:spcPct val="90000"/>
              </a:lnSpc>
              <a:spcBef>
                <a:spcPts val="2600"/>
              </a:spcBef>
              <a:buSzPct val="75000"/>
              <a:buFontTx/>
              <a:defRPr sz="3600" b="1"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hape 130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 lIns="50800" tIns="50800" rIns="50800" bIns="50800">
            <a:normAutofit/>
          </a:bodyPr>
          <a:lstStyle>
            <a:lvl1pPr defTabSz="584200"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792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sldNum" sz="quarter" idx="2"/>
          </p:nvPr>
        </p:nvSpPr>
        <p:spPr>
          <a:xfrm>
            <a:off x="6329680" y="9258300"/>
            <a:ext cx="332741" cy="3581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650240" y="2275839"/>
            <a:ext cx="11704320" cy="6436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FF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8890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13335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17780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22225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26670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31242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35814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40386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4495800" marR="0" indent="-571500" algn="l" defTabSz="914400" rtl="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 typeface="Gill Sans"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hys.org/news/2007-10-snowdrift-game-tops-prisoner-dilemma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1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>
                <a:solidFill>
                  <a:srgbClr val="000000"/>
                </a:solidFill>
                <a:effectLst/>
              </a:defRPr>
            </a:pPr>
            <a:r>
              <a:rPr lang="en-US" sz="5800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</a:rPr>
              <a:t>Class 16: Game Theory</a:t>
            </a:r>
            <a:endParaRPr sz="5800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</a:endParaRPr>
          </a:p>
        </p:txBody>
      </p:sp>
      <p:sp>
        <p:nvSpPr>
          <p:cNvPr id="321" name="Shape 321"/>
          <p:cNvSpPr>
            <a:spLocks noGrp="1"/>
          </p:cNvSpPr>
          <p:nvPr>
            <p:ph type="body" idx="1"/>
          </p:nvPr>
        </p:nvSpPr>
        <p:spPr>
          <a:xfrm>
            <a:off x="577272" y="2692400"/>
            <a:ext cx="10464802" cy="53213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r>
              <a:rPr lang="en-US" sz="3500" dirty="0" smtClean="0"/>
              <a:t>More game theory examples</a:t>
            </a:r>
          </a:p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endParaRPr lang="en-US" sz="3500" dirty="0"/>
          </a:p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r>
              <a:rPr lang="en-US" sz="3500" dirty="0" smtClean="0"/>
              <a:t>Optimizing a unique number game</a:t>
            </a:r>
          </a:p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endParaRPr lang="en-US" sz="3500" dirty="0"/>
          </a:p>
          <a:p>
            <a:pPr marL="1196975" lvl="2" indent="0" defTabSz="886968">
              <a:spcBef>
                <a:spcPts val="0"/>
              </a:spcBef>
              <a:buNone/>
              <a:defRPr sz="4074"/>
            </a:pPr>
            <a:r>
              <a:rPr lang="en-US" sz="3500" dirty="0" smtClean="0"/>
              <a:t>Use of a Nash equilibrium as a practical tool</a:t>
            </a:r>
          </a:p>
          <a:p>
            <a:pPr marL="1592942" lvl="2" indent="-395967" defTabSz="886968">
              <a:spcBef>
                <a:spcPts val="0"/>
              </a:spcBef>
              <a:buFont typeface="Helvetica"/>
              <a:defRPr sz="4074"/>
            </a:pPr>
            <a:endParaRPr lang="en-US" sz="3500" dirty="0"/>
          </a:p>
          <a:p>
            <a:pPr marL="1196975" lvl="2" indent="0" defTabSz="886968">
              <a:spcBef>
                <a:spcPts val="0"/>
              </a:spcBef>
              <a:buNone/>
              <a:defRPr sz="4074"/>
            </a:pPr>
            <a:r>
              <a:rPr lang="en-US" sz="3500" dirty="0" smtClean="0"/>
              <a:t>Generation of random numbers following an arbitrary distribution</a:t>
            </a:r>
            <a:endParaRPr lang="en-US" sz="3500" dirty="0" smtClean="0"/>
          </a:p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endParaRPr sz="2910" dirty="0"/>
          </a:p>
        </p:txBody>
      </p:sp>
    </p:spTree>
    <p:extLst>
      <p:ext uri="{BB962C8B-B14F-4D97-AF65-F5344CB8AC3E}">
        <p14:creationId xmlns:p14="http://schemas.microsoft.com/office/powerpoint/2010/main" val="17827892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>
                <a:solidFill>
                  <a:srgbClr val="000000"/>
                </a:solidFill>
                <a:effectLst/>
              </a:defRPr>
            </a:pPr>
            <a:r>
              <a:rPr sz="580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</a:rPr>
              <a:t>The Prisoner’s Dilemma</a:t>
            </a:r>
          </a:p>
        </p:txBody>
      </p:sp>
      <p:sp>
        <p:nvSpPr>
          <p:cNvPr id="321" name="Shape 321"/>
          <p:cNvSpPr>
            <a:spLocks noGrp="1"/>
          </p:cNvSpPr>
          <p:nvPr>
            <p:ph type="body" idx="1"/>
          </p:nvPr>
        </p:nvSpPr>
        <p:spPr>
          <a:xfrm>
            <a:off x="1269999" y="3987800"/>
            <a:ext cx="10464802" cy="53213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03942" indent="-395967" defTabSz="886968">
              <a:spcBef>
                <a:spcPts val="0"/>
              </a:spcBef>
              <a:buFont typeface="Helvetica"/>
              <a:defRPr sz="4074"/>
            </a:pPr>
            <a:r>
              <a:rPr sz="2910" dirty="0"/>
              <a:t>Two prisoners committed a crime together.  They are separated and cannot talk to each other.</a:t>
            </a:r>
          </a:p>
          <a:p>
            <a:pPr marL="703942" indent="-395967" defTabSz="886968">
              <a:spcBef>
                <a:spcPts val="1600"/>
              </a:spcBef>
              <a:buFont typeface="Helvetica"/>
              <a:defRPr sz="4074"/>
            </a:pPr>
            <a:r>
              <a:rPr sz="2910" dirty="0"/>
              <a:t>The prosecutor offers each the same deal: confess, become a witness to the prosecution, and no jail time.</a:t>
            </a:r>
          </a:p>
          <a:p>
            <a:pPr marL="703942" indent="-395967" defTabSz="886968">
              <a:spcBef>
                <a:spcPts val="1600"/>
              </a:spcBef>
              <a:buFont typeface="Helvetica"/>
              <a:defRPr sz="4074"/>
            </a:pPr>
            <a:r>
              <a:rPr sz="2910" dirty="0"/>
              <a:t>If one prisoner confesses while other does not, the first goes free and the second goes to jail for 10 years.</a:t>
            </a:r>
          </a:p>
          <a:p>
            <a:pPr marL="703942" indent="-395967" defTabSz="886968">
              <a:spcBef>
                <a:spcPts val="1600"/>
              </a:spcBef>
              <a:buFont typeface="Helvetica"/>
              <a:defRPr sz="4074"/>
            </a:pPr>
            <a:r>
              <a:rPr sz="2910" dirty="0"/>
              <a:t>If both confess they will each go to jail for 7 years.</a:t>
            </a:r>
          </a:p>
          <a:p>
            <a:pPr marL="703942" indent="-395967" defTabSz="886968">
              <a:spcBef>
                <a:spcPts val="1600"/>
              </a:spcBef>
              <a:buFont typeface="Helvetica"/>
              <a:defRPr sz="4074"/>
            </a:pPr>
            <a:r>
              <a:rPr sz="2910" dirty="0"/>
              <a:t>If neither confess they go to jail for 1 year (since nothing can be proven).</a:t>
            </a:r>
          </a:p>
        </p:txBody>
      </p:sp>
      <p:pic>
        <p:nvPicPr>
          <p:cNvPr id="322" name="image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35425" y="2273300"/>
            <a:ext cx="1854200" cy="12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image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92950" y="2276475"/>
            <a:ext cx="1854200" cy="12319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58230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/>
          <p:nvPr/>
        </p:nvSpPr>
        <p:spPr>
          <a:xfrm>
            <a:off x="676275" y="277812"/>
            <a:ext cx="12014200" cy="185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Discovered by Al Tucker, Nash’s PhD advisor</a:t>
            </a:r>
          </a:p>
        </p:txBody>
      </p:sp>
      <p:grpSp>
        <p:nvGrpSpPr>
          <p:cNvPr id="328" name="Group 328"/>
          <p:cNvGrpSpPr/>
          <p:nvPr/>
        </p:nvGrpSpPr>
        <p:grpSpPr>
          <a:xfrm>
            <a:off x="76200" y="2032000"/>
            <a:ext cx="13095288" cy="6059488"/>
            <a:chOff x="0" y="0"/>
            <a:chExt cx="13095287" cy="6059487"/>
          </a:xfrm>
        </p:grpSpPr>
        <p:pic>
          <p:nvPicPr>
            <p:cNvPr id="326" name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3095288" cy="5157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7" name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41300" y="4897437"/>
              <a:ext cx="12496800" cy="11620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9" name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600" y="2133600"/>
            <a:ext cx="12827000" cy="65405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919181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The Prisoner’s Dilemma</a:t>
            </a:r>
          </a:p>
        </p:txBody>
      </p:sp>
      <p:pic>
        <p:nvPicPr>
          <p:cNvPr id="332" name="image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35425" y="2273300"/>
            <a:ext cx="1854200" cy="12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image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92950" y="2276475"/>
            <a:ext cx="1854200" cy="12319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34" name="Table 334"/>
          <p:cNvGraphicFramePr/>
          <p:nvPr>
            <p:extLst>
              <p:ext uri="{D42A27DB-BD31-4B8C-83A1-F6EECF244321}">
                <p14:modId xmlns:p14="http://schemas.microsoft.com/office/powerpoint/2010/main" val="635876226"/>
              </p:ext>
            </p:extLst>
          </p:nvPr>
        </p:nvGraphicFramePr>
        <p:xfrm>
          <a:off x="2147887" y="3823890"/>
          <a:ext cx="8228013" cy="34012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742671"/>
                <a:gridCol w="2742671"/>
                <a:gridCol w="2742671"/>
              </a:tblGrid>
              <a:tr h="1133740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Silent</a:t>
                      </a: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1133740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Silent</a:t>
                      </a: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</a:t>
                      </a:r>
                      <a:r>
                        <a:rPr lang="en-US" sz="3200" dirty="0" smtClean="0"/>
                        <a:t>, -1)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-10</a:t>
                      </a:r>
                      <a:r>
                        <a:rPr lang="en-US" sz="3200" dirty="0" smtClean="0"/>
                        <a:t>, 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1133740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0</a:t>
                      </a:r>
                      <a:r>
                        <a:rPr lang="en-US" sz="3200" dirty="0" smtClean="0"/>
                        <a:t>, -10)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-7</a:t>
                      </a:r>
                      <a:r>
                        <a:rPr lang="en-US" sz="3200" dirty="0" smtClean="0"/>
                        <a:t>, -7)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335" name="Shape 335"/>
          <p:cNvSpPr/>
          <p:nvPr/>
        </p:nvSpPr>
        <p:spPr>
          <a:xfrm>
            <a:off x="2159001" y="7723739"/>
            <a:ext cx="95758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sz="3200">
                <a:latin typeface="+mj-lt"/>
                <a:ea typeface="+mj-ea"/>
                <a:cs typeface="+mj-cs"/>
                <a:sym typeface="Helvetica"/>
              </a:rPr>
              <a:t>What should they do?</a:t>
            </a:r>
          </a:p>
        </p:txBody>
      </p:sp>
    </p:spTree>
    <p:extLst>
      <p:ext uri="{BB962C8B-B14F-4D97-AF65-F5344CB8AC3E}">
        <p14:creationId xmlns:p14="http://schemas.microsoft.com/office/powerpoint/2010/main" val="14282743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The Prisoner’s Dilemma</a:t>
            </a:r>
          </a:p>
        </p:txBody>
      </p:sp>
      <p:graphicFrame>
        <p:nvGraphicFramePr>
          <p:cNvPr id="334" name="Table 334"/>
          <p:cNvGraphicFramePr/>
          <p:nvPr>
            <p:extLst>
              <p:ext uri="{D42A27DB-BD31-4B8C-83A1-F6EECF244321}">
                <p14:modId xmlns:p14="http://schemas.microsoft.com/office/powerpoint/2010/main" val="1116399709"/>
              </p:ext>
            </p:extLst>
          </p:nvPr>
        </p:nvGraphicFramePr>
        <p:xfrm>
          <a:off x="2312770" y="2963894"/>
          <a:ext cx="9422030" cy="240493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85624"/>
                <a:gridCol w="3395730"/>
                <a:gridCol w="3140676"/>
              </a:tblGrid>
              <a:tr h="67113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769657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</a:t>
                      </a:r>
                      <a:r>
                        <a:rPr lang="en-US" sz="3200" dirty="0" smtClean="0"/>
                        <a:t>, -1)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-10</a:t>
                      </a:r>
                      <a:r>
                        <a:rPr lang="en-US" sz="3200" dirty="0" smtClean="0"/>
                        <a:t>, 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68224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0</a:t>
                      </a:r>
                      <a:r>
                        <a:rPr lang="en-US" sz="3200" dirty="0" smtClean="0"/>
                        <a:t>, -10)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-7</a:t>
                      </a:r>
                      <a:r>
                        <a:rPr lang="en-US" sz="3200" dirty="0" smtClean="0"/>
                        <a:t>, -7)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hape 335"/>
          <p:cNvSpPr/>
          <p:nvPr/>
        </p:nvSpPr>
        <p:spPr>
          <a:xfrm>
            <a:off x="2312771" y="2178021"/>
            <a:ext cx="95758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Cooperate = remain silent, Defect = confess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" name="Shape 335"/>
          <p:cNvSpPr/>
          <p:nvPr/>
        </p:nvSpPr>
        <p:spPr>
          <a:xfrm>
            <a:off x="632406" y="5844211"/>
            <a:ext cx="11795405" cy="1969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= 0 (temptation)                P = -7 (punishment)  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S = -10 (sucker’s payoff)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 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R = -1 (reward)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" name="Shape 335"/>
          <p:cNvSpPr/>
          <p:nvPr/>
        </p:nvSpPr>
        <p:spPr>
          <a:xfrm>
            <a:off x="10126734" y="6090432"/>
            <a:ext cx="9575800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&gt; R &gt; P &gt; S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solidFill>
                <a:srgbClr val="FF0000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545138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The Prisoner’s Dilemma</a:t>
            </a:r>
          </a:p>
        </p:txBody>
      </p:sp>
      <p:graphicFrame>
        <p:nvGraphicFramePr>
          <p:cNvPr id="334" name="Table 334"/>
          <p:cNvGraphicFramePr/>
          <p:nvPr>
            <p:extLst>
              <p:ext uri="{D42A27DB-BD31-4B8C-83A1-F6EECF244321}">
                <p14:modId xmlns:p14="http://schemas.microsoft.com/office/powerpoint/2010/main" val="1345398943"/>
              </p:ext>
            </p:extLst>
          </p:nvPr>
        </p:nvGraphicFramePr>
        <p:xfrm>
          <a:off x="2312770" y="2963894"/>
          <a:ext cx="9422030" cy="240493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85624"/>
                <a:gridCol w="3395730"/>
                <a:gridCol w="3140676"/>
              </a:tblGrid>
              <a:tr h="67113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769657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</a:t>
                      </a:r>
                      <a:r>
                        <a:rPr lang="en-US" sz="3200" dirty="0" smtClean="0"/>
                        <a:t>, -1)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-10</a:t>
                      </a:r>
                      <a:r>
                        <a:rPr lang="en-US" sz="3200" dirty="0" smtClean="0"/>
                        <a:t>, 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68224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0</a:t>
                      </a:r>
                      <a:r>
                        <a:rPr lang="en-US" sz="3200" dirty="0" smtClean="0"/>
                        <a:t>, -10)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sz="3200" dirty="0" smtClean="0">
                          <a:solidFill>
                            <a:srgbClr val="FF0000"/>
                          </a:solidFill>
                        </a:rPr>
                        <a:t>-7</a:t>
                      </a:r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, -7)</a:t>
                      </a:r>
                      <a:endParaRPr sz="3200" dirty="0">
                        <a:solidFill>
                          <a:srgbClr val="FF0000"/>
                        </a:solidFill>
                      </a:endParaRPr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hape 335"/>
          <p:cNvSpPr/>
          <p:nvPr/>
        </p:nvSpPr>
        <p:spPr>
          <a:xfrm>
            <a:off x="2312771" y="2178021"/>
            <a:ext cx="95758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Cooperate = remain silent, Defect = confess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" name="Shape 335"/>
          <p:cNvSpPr/>
          <p:nvPr/>
        </p:nvSpPr>
        <p:spPr>
          <a:xfrm>
            <a:off x="632406" y="5844211"/>
            <a:ext cx="11795405" cy="1969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= 0 (temptation)                P = -7 (punishment)  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S = -10 (sucker’s payoff)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 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R = -1 (reward)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" name="Shape 335"/>
          <p:cNvSpPr/>
          <p:nvPr/>
        </p:nvSpPr>
        <p:spPr>
          <a:xfrm>
            <a:off x="10126734" y="6090432"/>
            <a:ext cx="9575800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&gt; R &gt; P &gt; S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solidFill>
                <a:srgbClr val="FF0000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" name="Shape 335"/>
          <p:cNvSpPr/>
          <p:nvPr/>
        </p:nvSpPr>
        <p:spPr>
          <a:xfrm>
            <a:off x="632406" y="7289534"/>
            <a:ext cx="12529128" cy="246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If both cooperate, both get R, which is better than if they both defect, getting P</a:t>
            </a:r>
          </a:p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Temptation is to defect.  So both defect yielding a </a:t>
            </a:r>
            <a:r>
              <a:rPr lang="en-US" sz="3200" i="1" dirty="0" smtClean="0">
                <a:latin typeface="+mj-lt"/>
                <a:ea typeface="+mj-ea"/>
                <a:cs typeface="+mj-cs"/>
                <a:sym typeface="Helvetica"/>
              </a:rPr>
              <a:t>suboptimal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outcome.  Neither has an incentive to switch </a:t>
            </a:r>
            <a:r>
              <a:rPr lang="mr-IN" sz="3200" dirty="0" smtClean="0">
                <a:latin typeface="+mj-lt"/>
                <a:ea typeface="+mj-ea"/>
                <a:cs typeface="+mj-cs"/>
                <a:sym typeface="Helvetica"/>
              </a:rPr>
              <a:t>–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sz="3200" b="1" dirty="0" smtClean="0">
                <a:latin typeface="+mj-lt"/>
                <a:ea typeface="+mj-ea"/>
                <a:cs typeface="+mj-cs"/>
                <a:sym typeface="Helvetica"/>
              </a:rPr>
              <a:t>Nash equilibrium</a:t>
            </a: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293747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Snowdrift Game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2689225"/>
            <a:ext cx="5549900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900" y="2698750"/>
            <a:ext cx="51562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>
                    <a:alpha val="75000"/>
                  </a:schemeClr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"/>
          <p:cNvSpPr>
            <a:spLocks/>
          </p:cNvSpPr>
          <p:nvPr/>
        </p:nvSpPr>
        <p:spPr bwMode="auto">
          <a:xfrm>
            <a:off x="4292600" y="6985000"/>
            <a:ext cx="4787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charset="0"/>
              </a:defRPr>
            </a:lvl1pPr>
            <a:lvl2pPr algn="l">
              <a:defRPr sz="1200">
                <a:solidFill>
                  <a:schemeClr val="tx1"/>
                </a:solidFill>
                <a:latin typeface="Gill Sans" charset="0"/>
              </a:defRPr>
            </a:lvl2pPr>
            <a:lvl3pPr algn="l">
              <a:defRPr sz="1200">
                <a:solidFill>
                  <a:schemeClr val="tx1"/>
                </a:solidFill>
                <a:latin typeface="Gill Sans" charset="0"/>
              </a:defRPr>
            </a:lvl3pPr>
            <a:lvl4pPr algn="l">
              <a:defRPr sz="1200">
                <a:solidFill>
                  <a:schemeClr val="tx1"/>
                </a:solidFill>
                <a:latin typeface="Gill Sans" charset="0"/>
              </a:defRPr>
            </a:lvl4pPr>
            <a:lvl5pPr algn="l">
              <a:defRPr sz="1200">
                <a:solidFill>
                  <a:schemeClr val="tx1"/>
                </a:solidFill>
                <a:latin typeface="Gill Sans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9pPr>
          </a:lstStyle>
          <a:p>
            <a:r>
              <a:rPr lang="en-US" altLang="en-US" sz="3200">
                <a:latin typeface="Helvetica" charset="0"/>
                <a:ea typeface="Helvetica" charset="0"/>
                <a:cs typeface="Helvetica" charset="0"/>
                <a:sym typeface="Helvetica" charset="0"/>
              </a:rPr>
              <a:t>Cooperate = shovel</a:t>
            </a:r>
          </a:p>
          <a:p>
            <a:r>
              <a:rPr lang="en-US" altLang="en-US" sz="32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Defect = don’t shovel</a:t>
            </a:r>
          </a:p>
        </p:txBody>
      </p:sp>
    </p:spTree>
    <p:extLst>
      <p:ext uri="{BB962C8B-B14F-4D97-AF65-F5344CB8AC3E}">
        <p14:creationId xmlns:p14="http://schemas.microsoft.com/office/powerpoint/2010/main" val="10928624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Snowdrift Game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" name="Shape 335"/>
          <p:cNvSpPr/>
          <p:nvPr/>
        </p:nvSpPr>
        <p:spPr>
          <a:xfrm>
            <a:off x="2312771" y="2292017"/>
            <a:ext cx="9575800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Cooperate = shovel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Defect = don’t shovel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Shape 335"/>
          <p:cNvSpPr/>
          <p:nvPr/>
        </p:nvSpPr>
        <p:spPr>
          <a:xfrm>
            <a:off x="626089" y="3825428"/>
            <a:ext cx="3731851" cy="2954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= Temptation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P = Punishment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S = Sucker’s payoff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R = Reward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</p:txBody>
      </p:sp>
      <p:graphicFrame>
        <p:nvGraphicFramePr>
          <p:cNvPr id="10" name="Table 334"/>
          <p:cNvGraphicFramePr/>
          <p:nvPr>
            <p:extLst>
              <p:ext uri="{D42A27DB-BD31-4B8C-83A1-F6EECF244321}">
                <p14:modId xmlns:p14="http://schemas.microsoft.com/office/powerpoint/2010/main" val="1393965796"/>
              </p:ext>
            </p:extLst>
          </p:nvPr>
        </p:nvGraphicFramePr>
        <p:xfrm>
          <a:off x="4357940" y="3769345"/>
          <a:ext cx="7717919" cy="28762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63717"/>
                <a:gridCol w="2781563"/>
                <a:gridCol w="2572639"/>
              </a:tblGrid>
              <a:tr h="909237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1042715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(R, R)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(S, T)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924288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(T, S)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(P, P)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1" name="Shape 335"/>
          <p:cNvSpPr/>
          <p:nvPr/>
        </p:nvSpPr>
        <p:spPr>
          <a:xfrm>
            <a:off x="1625708" y="7509948"/>
            <a:ext cx="95758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b="1" dirty="0" smtClean="0">
                <a:latin typeface="+mj-lt"/>
                <a:ea typeface="+mj-ea"/>
                <a:cs typeface="+mj-cs"/>
                <a:sym typeface="Helvetica"/>
              </a:rPr>
              <a:t>Compare the relative sizes of T, P, R, S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064037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Snowdrift Game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" name="Shape 335"/>
          <p:cNvSpPr/>
          <p:nvPr/>
        </p:nvSpPr>
        <p:spPr>
          <a:xfrm>
            <a:off x="4361528" y="2381444"/>
            <a:ext cx="95758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Cooperate </a:t>
            </a:r>
            <a:r>
              <a:rPr lang="en-US" sz="3200" smtClean="0">
                <a:latin typeface="+mj-lt"/>
                <a:ea typeface="+mj-ea"/>
                <a:cs typeface="+mj-cs"/>
                <a:sym typeface="Helvetica"/>
              </a:rPr>
              <a:t>= shovel</a:t>
            </a:r>
            <a:r>
              <a:rPr lang="en-US"/>
              <a:t> </a:t>
            </a:r>
            <a:r>
              <a:rPr lang="en-US" smtClean="0"/>
              <a:t>    </a:t>
            </a:r>
            <a:r>
              <a:rPr lang="en-US" sz="3200" smtClean="0">
                <a:latin typeface="+mj-lt"/>
                <a:ea typeface="+mj-ea"/>
                <a:cs typeface="+mj-cs"/>
                <a:sym typeface="Helvetica"/>
              </a:rPr>
              <a:t>Defect 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= don’t shovel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Shape 335"/>
          <p:cNvSpPr/>
          <p:nvPr/>
        </p:nvSpPr>
        <p:spPr>
          <a:xfrm>
            <a:off x="626089" y="3183965"/>
            <a:ext cx="3731851" cy="2954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= Temptation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P = Punishment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S = Sucker’s payoff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R = Reward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" name="Shape 335"/>
          <p:cNvSpPr/>
          <p:nvPr/>
        </p:nvSpPr>
        <p:spPr>
          <a:xfrm>
            <a:off x="4357940" y="6209225"/>
            <a:ext cx="3202024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&gt; R &gt; S &gt; P</a:t>
            </a: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" name="Shape 335"/>
          <p:cNvSpPr/>
          <p:nvPr/>
        </p:nvSpPr>
        <p:spPr>
          <a:xfrm>
            <a:off x="626089" y="7447080"/>
            <a:ext cx="11649038" cy="1969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If both cooperate, both get R, which is better than if they both defect, getting P</a:t>
            </a:r>
          </a:p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If other player defects, it’s still better to cooperate.</a:t>
            </a:r>
          </a:p>
          <a:p>
            <a:pPr marL="457200" indent="-457200">
              <a:buFont typeface="Arial" charset="0"/>
              <a:buChar char="•"/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Best option is the opposite of other</a:t>
            </a:r>
          </a:p>
        </p:txBody>
      </p:sp>
      <p:graphicFrame>
        <p:nvGraphicFramePr>
          <p:cNvPr id="10" name="Table 334"/>
          <p:cNvGraphicFramePr/>
          <p:nvPr>
            <p:extLst>
              <p:ext uri="{D42A27DB-BD31-4B8C-83A1-F6EECF244321}">
                <p14:modId xmlns:p14="http://schemas.microsoft.com/office/powerpoint/2010/main" val="1027082315"/>
              </p:ext>
            </p:extLst>
          </p:nvPr>
        </p:nvGraphicFramePr>
        <p:xfrm>
          <a:off x="4357940" y="3080015"/>
          <a:ext cx="7717919" cy="28762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63717"/>
                <a:gridCol w="2781563"/>
                <a:gridCol w="2572639"/>
              </a:tblGrid>
              <a:tr h="909237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1042715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(R, R)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(S, T)</a:t>
                      </a:r>
                      <a:endParaRPr sz="3200" dirty="0">
                        <a:solidFill>
                          <a:srgbClr val="FF0000"/>
                        </a:solidFill>
                      </a:endParaRPr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924288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(T, S)</a:t>
                      </a:r>
                      <a:endParaRPr sz="3200" dirty="0">
                        <a:solidFill>
                          <a:srgbClr val="FF0000"/>
                        </a:solidFill>
                      </a:endParaRPr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(P, P)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233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693010" y="50113"/>
            <a:ext cx="11734801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Repeated </a:t>
            </a:r>
            <a:r>
              <a:rPr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Prisoner’s Dilemma</a:t>
            </a: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sz="22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(Axelrod, Hamilton, 1981)</a:t>
            </a:r>
            <a:endParaRPr sz="22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graphicFrame>
        <p:nvGraphicFramePr>
          <p:cNvPr id="334" name="Table 334"/>
          <p:cNvGraphicFramePr/>
          <p:nvPr>
            <p:extLst>
              <p:ext uri="{D42A27DB-BD31-4B8C-83A1-F6EECF244321}">
                <p14:modId xmlns:p14="http://schemas.microsoft.com/office/powerpoint/2010/main" val="389305291"/>
              </p:ext>
            </p:extLst>
          </p:nvPr>
        </p:nvGraphicFramePr>
        <p:xfrm>
          <a:off x="2312770" y="2963894"/>
          <a:ext cx="9422030" cy="240493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85624"/>
                <a:gridCol w="3395730"/>
                <a:gridCol w="3140676"/>
              </a:tblGrid>
              <a:tr h="67113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2400" b="0" i="0">
                          <a:solidFill>
                            <a:schemeClr val="accent1">
                              <a:lumOff val="44000"/>
                            </a:schemeClr>
                          </a:solidFill>
                        </a:defRPr>
                      </a:pPr>
                      <a:endParaRPr sz="3200" dirty="0"/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381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769657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Remain </a:t>
                      </a: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Silent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(C)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</a:t>
                      </a:r>
                      <a:r>
                        <a:rPr lang="en-US" sz="3200" dirty="0" smtClean="0"/>
                        <a:t>, -1)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-10</a:t>
                      </a:r>
                      <a:r>
                        <a:rPr lang="en-US" sz="3200" dirty="0" smtClean="0"/>
                        <a:t>, 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381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DAE4F1"/>
                    </a:solidFill>
                  </a:tcPr>
                </a:tc>
              </a:tr>
              <a:tr h="682243">
                <a:tc>
                  <a:txBody>
                    <a:bodyPr/>
                    <a:lstStyle/>
                    <a:p>
                      <a:pPr algn="l">
                        <a:tabLst>
                          <a:tab pos="914400" algn="l"/>
                        </a:tabLst>
                        <a:defRPr sz="4300" b="0" i="0"/>
                      </a:pPr>
                      <a:r>
                        <a:rPr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Confess</a:t>
                      </a:r>
                      <a:r>
                        <a:rPr lang="en-US" sz="3200" dirty="0" smtClean="0">
                          <a:solidFill>
                            <a:schemeClr val="accent1">
                              <a:lumOff val="44000"/>
                            </a:schemeClr>
                          </a:solidFill>
                        </a:rPr>
                        <a:t> (D)</a:t>
                      </a:r>
                      <a:endParaRPr sz="3200" dirty="0">
                        <a:solidFill>
                          <a:schemeClr val="accent1">
                            <a:lumOff val="44000"/>
                          </a:schemeClr>
                        </a:solidFill>
                      </a:endParaRPr>
                    </a:p>
                  </a:txBody>
                  <a:tcPr marL="38100" marR="38100" marT="38100" marB="38100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/>
                        <a:t>(</a:t>
                      </a:r>
                      <a:r>
                        <a:rPr sz="3200" dirty="0" smtClean="0"/>
                        <a:t>0</a:t>
                      </a:r>
                      <a:r>
                        <a:rPr lang="en-US" sz="3200" dirty="0" smtClean="0"/>
                        <a:t>, -10)</a:t>
                      </a:r>
                      <a:endParaRPr sz="3200" dirty="0"/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914400" algn="l"/>
                        </a:tabLst>
                        <a:defRPr sz="4300" b="0" i="0"/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sz="32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7)</a:t>
                      </a:r>
                      <a:endParaRPr sz="3200" dirty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 horzOverflow="overflow">
                    <a:lnL w="12700">
                      <a:solidFill>
                        <a:schemeClr val="accent1">
                          <a:lumOff val="44000"/>
                        </a:schemeClr>
                      </a:solidFill>
                    </a:lnL>
                    <a:lnR w="12700">
                      <a:solidFill>
                        <a:schemeClr val="accent1">
                          <a:lumOff val="44000"/>
                        </a:schemeClr>
                      </a:solidFill>
                    </a:lnR>
                    <a:lnT w="12700">
                      <a:solidFill>
                        <a:schemeClr val="accent1">
                          <a:lumOff val="44000"/>
                        </a:schemeClr>
                      </a:solidFill>
                    </a:lnT>
                    <a:lnB w="12700">
                      <a:solidFill>
                        <a:schemeClr val="accent1">
                          <a:lumOff val="44000"/>
                        </a:schemeClr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hape 335"/>
          <p:cNvSpPr/>
          <p:nvPr/>
        </p:nvSpPr>
        <p:spPr>
          <a:xfrm>
            <a:off x="2312771" y="2178021"/>
            <a:ext cx="95758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Cooperate = remain silent, Defect = confess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" name="Shape 335"/>
          <p:cNvSpPr/>
          <p:nvPr/>
        </p:nvSpPr>
        <p:spPr>
          <a:xfrm>
            <a:off x="632406" y="5844211"/>
            <a:ext cx="11795405" cy="1969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= 0 (temptation)                P = -7 (punishment)  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S = -10 (sucker’s payoff)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 </a:t>
            </a: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  R = -1 (reward)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" name="Shape 335"/>
          <p:cNvSpPr/>
          <p:nvPr/>
        </p:nvSpPr>
        <p:spPr>
          <a:xfrm>
            <a:off x="10126734" y="6090432"/>
            <a:ext cx="9575800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3200" dirty="0" smtClean="0">
                <a:latin typeface="+mj-lt"/>
                <a:ea typeface="+mj-ea"/>
                <a:cs typeface="+mj-cs"/>
                <a:sym typeface="Helvetica"/>
              </a:rPr>
              <a:t>T &gt; R &gt; P &gt; S </a:t>
            </a: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lang="en-US" sz="3200" dirty="0" smtClean="0">
              <a:solidFill>
                <a:srgbClr val="FF0000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1200"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" name="Rectangle 2"/>
          <p:cNvSpPr>
            <a:spLocks noChangeArrowheads="1"/>
          </p:cNvSpPr>
          <p:nvPr>
            <p:ph type="body" idx="1"/>
          </p:nvPr>
        </p:nvSpPr>
        <p:spPr>
          <a:xfrm>
            <a:off x="1963011" y="6593912"/>
            <a:ext cx="10464800" cy="3390900"/>
          </a:xfrm>
          <a:ln/>
        </p:spPr>
        <p:txBody>
          <a:bodyPr/>
          <a:lstStyle/>
          <a:p>
            <a:pPr marL="889000">
              <a:buFont typeface="Helvetica" charset="0"/>
              <a:buChar char="•"/>
            </a:pPr>
            <a:r>
              <a:rPr lang="en-US" altLang="en-US" sz="3400" b="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What if the prisoners find themselves arrested </a:t>
            </a:r>
            <a:r>
              <a:rPr lang="en-US" altLang="en-US" sz="3400" b="0" u="sng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again</a:t>
            </a:r>
            <a:r>
              <a:rPr lang="en-US" altLang="en-US" sz="3400" b="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? What would they do?</a:t>
            </a:r>
            <a:endParaRPr lang="en-US" altLang="en-US" sz="3400" b="0" dirty="0">
              <a:latin typeface="Helvetica" charset="0"/>
              <a:sym typeface="Helvetica" charset="0"/>
            </a:endParaRPr>
          </a:p>
          <a:p>
            <a:pPr marL="889000">
              <a:buFont typeface="Helvetica" charset="0"/>
              <a:buChar char="•"/>
            </a:pPr>
            <a:r>
              <a:rPr lang="en-US" altLang="en-US" sz="3400" b="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What would you do if you were playing this game </a:t>
            </a:r>
            <a:r>
              <a:rPr lang="en-US" altLang="en-US" sz="3400" b="0" i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repeatedly</a:t>
            </a:r>
            <a:r>
              <a:rPr lang="en-US" altLang="en-US" sz="3400" b="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fearing retaliation?</a:t>
            </a:r>
            <a:endParaRPr lang="en-US" altLang="en-US" sz="3400" b="0" dirty="0">
              <a:latin typeface="Helvetica" charset="0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67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ChangeArrowheads="1"/>
          </p:cNvSpPr>
          <p:nvPr>
            <p:ph type="title"/>
          </p:nvPr>
        </p:nvSpPr>
        <p:spPr>
          <a:xfrm>
            <a:off x="704850" y="254000"/>
            <a:ext cx="11595100" cy="2438400"/>
          </a:xfrm>
          <a:ln/>
        </p:spPr>
        <p:txBody>
          <a:bodyPr/>
          <a:lstStyle/>
          <a:p>
            <a:r>
              <a:rPr lang="en-US" altLang="en-US" sz="5800" b="1" dirty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Repeated Prisoner’s Dilemma </a:t>
            </a:r>
            <a:r>
              <a:rPr lang="en-US" altLang="en-US" sz="5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/>
            </a:r>
            <a:br>
              <a:rPr lang="en-US" altLang="en-US" sz="5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</a:br>
            <a:r>
              <a:rPr lang="en-US" altLang="en-US" sz="3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vs</a:t>
            </a:r>
            <a:br>
              <a:rPr lang="en-US" altLang="en-US" sz="3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</a:br>
            <a:r>
              <a:rPr lang="en-US" altLang="en-US" sz="5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Repeated Snow Drift Game</a:t>
            </a:r>
            <a:endParaRPr lang="en-US" altLang="en-US" sz="5800" b="1" dirty="0">
              <a:solidFill>
                <a:srgbClr val="133C7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charset="0"/>
              <a:ea typeface="ヒラギノ角ゴ ProN W6" charset="-128"/>
              <a:cs typeface="ヒラギノ角ゴ ProN W6" charset="-128"/>
              <a:sym typeface="Helvetica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9161" y="4294956"/>
            <a:ext cx="1166857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89000"/>
            <a:r>
              <a:rPr lang="en-US" altLang="en-US" sz="2500" dirty="0">
                <a:latin typeface="Helvetica" charset="0"/>
                <a:ea typeface="Helvetica" charset="0"/>
                <a:cs typeface="Helvetica" charset="0"/>
                <a:sym typeface="Helvetica" charset="0"/>
                <a:hlinkClick r:id="rId2"/>
              </a:rPr>
              <a:t>https://</a:t>
            </a:r>
            <a:r>
              <a:rPr lang="en-US" altLang="en-US" sz="2500" dirty="0" smtClean="0">
                <a:latin typeface="Helvetica" charset="0"/>
                <a:ea typeface="Helvetica" charset="0"/>
                <a:cs typeface="Helvetica" charset="0"/>
                <a:sym typeface="Helvetica" charset="0"/>
                <a:hlinkClick r:id="rId2"/>
              </a:rPr>
              <a:t>phys.org/news/2007-10-snowdrift-game-tops-prisoner-dilemma.html</a:t>
            </a:r>
            <a:endParaRPr lang="en-US" altLang="en-US" sz="2500" dirty="0">
              <a:latin typeface="Helvetica" charset="0"/>
              <a:sym typeface="Helvetica" charset="0"/>
            </a:endParaRPr>
          </a:p>
          <a:p>
            <a:pPr marL="889000"/>
            <a:endParaRPr lang="en-US" altLang="en-US" sz="2500" dirty="0" smtClean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0567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ChangeArrowheads="1"/>
          </p:cNvSpPr>
          <p:nvPr>
            <p:ph type="title"/>
          </p:nvPr>
        </p:nvSpPr>
        <p:spPr>
          <a:xfrm>
            <a:off x="704850" y="254000"/>
            <a:ext cx="11595100" cy="2438400"/>
          </a:xfrm>
          <a:ln/>
        </p:spPr>
        <p:txBody>
          <a:bodyPr/>
          <a:lstStyle/>
          <a:p>
            <a:r>
              <a:rPr lang="en-US" altLang="en-US" sz="5800" b="1" dirty="0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Invent a game?</a:t>
            </a:r>
            <a:endParaRPr lang="en-US" altLang="en-US" sz="5800" b="1" dirty="0">
              <a:solidFill>
                <a:srgbClr val="133C7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charset="0"/>
              <a:ea typeface="ヒラギノ角ゴ ProN W6" charset="-128"/>
              <a:cs typeface="ヒラギノ角ゴ ProN W6" charset="-128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057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2565400"/>
            <a:ext cx="10593388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5058" name="Rectangle 2"/>
          <p:cNvSpPr>
            <a:spLocks/>
          </p:cNvSpPr>
          <p:nvPr/>
        </p:nvSpPr>
        <p:spPr bwMode="auto">
          <a:xfrm>
            <a:off x="1390650" y="5357813"/>
            <a:ext cx="10428288" cy="3019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charset="0"/>
              </a:defRPr>
            </a:lvl1pPr>
            <a:lvl2pPr algn="l">
              <a:defRPr sz="1200">
                <a:solidFill>
                  <a:schemeClr val="tx1"/>
                </a:solidFill>
                <a:latin typeface="Gill Sans" charset="0"/>
              </a:defRPr>
            </a:lvl2pPr>
            <a:lvl3pPr algn="l">
              <a:defRPr sz="1200">
                <a:solidFill>
                  <a:schemeClr val="tx1"/>
                </a:solidFill>
                <a:latin typeface="Gill Sans" charset="0"/>
              </a:defRPr>
            </a:lvl3pPr>
            <a:lvl4pPr algn="l">
              <a:defRPr sz="1200">
                <a:solidFill>
                  <a:schemeClr val="tx1"/>
                </a:solidFill>
                <a:latin typeface="Gill Sans" charset="0"/>
              </a:defRPr>
            </a:lvl4pPr>
            <a:lvl5pPr algn="l">
              <a:defRPr sz="1200">
                <a:solidFill>
                  <a:schemeClr val="tx1"/>
                </a:solidFill>
                <a:latin typeface="Gill Sans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9pPr>
          </a:lstStyle>
          <a:p>
            <a:pPr>
              <a:lnSpc>
                <a:spcPts val="1900"/>
              </a:lnSpc>
            </a:pPr>
            <a:r>
              <a:rPr lang="en-US" altLang="en-US" sz="2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Maynard Smith, in the preface to </a:t>
            </a:r>
            <a:r>
              <a:rPr lang="en-US" altLang="en-US" sz="2800" i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Evolution and the Theory of </a:t>
            </a:r>
            <a:endParaRPr lang="en-US" altLang="en-US" sz="2800" i="1" dirty="0" smtClean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>
              <a:lnSpc>
                <a:spcPts val="1900"/>
              </a:lnSpc>
            </a:pPr>
            <a:endParaRPr lang="en-US" altLang="en-US" sz="2800" i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>
              <a:lnSpc>
                <a:spcPts val="1900"/>
              </a:lnSpc>
            </a:pPr>
            <a:r>
              <a:rPr lang="en-US" altLang="en-US" sz="2800" i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Games</a:t>
            </a:r>
            <a:r>
              <a:rPr lang="en-US" altLang="en-US" sz="2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writes, “paradoxically, it has turned out that game </a:t>
            </a:r>
            <a:r>
              <a:rPr lang="en-US" altLang="en-US" sz="2800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theory</a:t>
            </a:r>
          </a:p>
          <a:p>
            <a:pPr>
              <a:lnSpc>
                <a:spcPts val="1900"/>
              </a:lnSpc>
            </a:pPr>
            <a:endParaRPr lang="en-US" altLang="en-US" sz="2800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>
              <a:lnSpc>
                <a:spcPts val="1900"/>
              </a:lnSpc>
            </a:pPr>
            <a:r>
              <a:rPr lang="en-US" altLang="en-US" sz="2800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is </a:t>
            </a:r>
            <a:r>
              <a:rPr lang="en-US" altLang="en-US" sz="2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more readily applied to biology than to the field of economic </a:t>
            </a:r>
            <a:endParaRPr lang="en-US" altLang="en-US" sz="2800" dirty="0" smtClean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>
              <a:lnSpc>
                <a:spcPts val="1900"/>
              </a:lnSpc>
            </a:pPr>
            <a:endParaRPr lang="en-US" altLang="en-US" sz="2800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>
              <a:lnSpc>
                <a:spcPts val="1900"/>
              </a:lnSpc>
            </a:pPr>
            <a:r>
              <a:rPr lang="en-US" altLang="en-US" sz="2800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behavior </a:t>
            </a:r>
            <a:r>
              <a:rPr lang="en-US" altLang="en-US" sz="2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for which it was originally </a:t>
            </a:r>
            <a:r>
              <a:rPr lang="en-US" altLang="en-US" sz="2800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designed.”</a:t>
            </a:r>
            <a:endParaRPr lang="en-US" altLang="en-US" sz="2800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45059" name="Rectangle 3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sz="5800" b="1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Applications to Biology</a:t>
            </a:r>
            <a:endParaRPr lang="en-US" altLang="en-US" sz="5800" b="1">
              <a:solidFill>
                <a:srgbClr val="133C7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charset="0"/>
              <a:ea typeface="ヒラギノ角ゴ ProN W6" charset="-128"/>
              <a:cs typeface="ヒラギノ角ゴ ProN W6" charset="-128"/>
              <a:sym typeface="Helvetica" charset="0"/>
            </a:endParaRPr>
          </a:p>
        </p:txBody>
      </p:sp>
      <p:sp>
        <p:nvSpPr>
          <p:cNvPr id="45060" name="Line 4"/>
          <p:cNvSpPr>
            <a:spLocks noChangeShapeType="1"/>
          </p:cNvSpPr>
          <p:nvPr/>
        </p:nvSpPr>
        <p:spPr bwMode="auto">
          <a:xfrm rot="10800000" flipH="1">
            <a:off x="7254875" y="4608513"/>
            <a:ext cx="4187825" cy="1587"/>
          </a:xfrm>
          <a:prstGeom prst="line">
            <a:avLst/>
          </a:prstGeom>
          <a:noFill/>
          <a:ln w="38100" cap="flat">
            <a:solidFill>
              <a:srgbClr val="D90B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 rot="10800000" flipH="1">
            <a:off x="1320800" y="5002213"/>
            <a:ext cx="10120313" cy="0"/>
          </a:xfrm>
          <a:prstGeom prst="line">
            <a:avLst/>
          </a:prstGeom>
          <a:noFill/>
          <a:ln w="38100" cap="flat">
            <a:solidFill>
              <a:srgbClr val="D90B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 rot="10800000" flipH="1">
            <a:off x="1320800" y="5357813"/>
            <a:ext cx="1892300" cy="0"/>
          </a:xfrm>
          <a:prstGeom prst="line">
            <a:avLst/>
          </a:prstGeom>
          <a:noFill/>
          <a:ln w="38100" cap="flat">
            <a:solidFill>
              <a:srgbClr val="D90B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387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23875"/>
            <a:ext cx="11514138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813" y="2566988"/>
            <a:ext cx="6892925" cy="718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334000"/>
            <a:ext cx="50800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>
            <a:spLocks noChangeArrowheads="1"/>
          </p:cNvSpPr>
          <p:nvPr>
            <p:ph type="title"/>
          </p:nvPr>
        </p:nvSpPr>
        <p:spPr>
          <a:xfrm>
            <a:off x="-2197893" y="8040254"/>
            <a:ext cx="10464800" cy="2438400"/>
          </a:xfrm>
          <a:ln/>
        </p:spPr>
        <p:txBody>
          <a:bodyPr/>
          <a:lstStyle/>
          <a:p>
            <a:r>
              <a:rPr lang="en-US" altLang="en-US" sz="5800" b="1" smtClean="0">
                <a:solidFill>
                  <a:srgbClr val="133C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  <a:ea typeface="Helvetica" charset="0"/>
                <a:cs typeface="Helvetica" charset="0"/>
                <a:sym typeface="Helvetica" charset="0"/>
              </a:rPr>
              <a:t>Lab: part 1</a:t>
            </a:r>
            <a:endParaRPr lang="en-US" altLang="en-US" sz="5800" b="1">
              <a:solidFill>
                <a:srgbClr val="133C7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charset="0"/>
              <a:ea typeface="ヒラギノ角ゴ ProN W6" charset="-128"/>
              <a:cs typeface="ヒラギノ角ゴ ProN W6" charset="-128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729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unique number game</a:t>
            </a:r>
          </a:p>
        </p:txBody>
      </p:sp>
      <p:sp>
        <p:nvSpPr>
          <p:cNvPr id="296" name="Shape 296"/>
          <p:cNvSpPr>
            <a:spLocks noGrp="1"/>
          </p:cNvSpPr>
          <p:nvPr>
            <p:ph type="body" sz="half" idx="1"/>
          </p:nvPr>
        </p:nvSpPr>
        <p:spPr>
          <a:xfrm>
            <a:off x="952500" y="3672433"/>
            <a:ext cx="11099801" cy="4161334"/>
          </a:xfrm>
          <a:prstGeom prst="rect">
            <a:avLst/>
          </a:prstGeom>
        </p:spPr>
        <p:txBody>
          <a:bodyPr anchor="t"/>
          <a:lstStyle/>
          <a:p>
            <a:pPr marL="555625" indent="-555625">
              <a:defRPr sz="4500"/>
            </a:pPr>
            <a:r>
              <a:rPr dirty="0"/>
              <a:t>Take </a:t>
            </a:r>
            <a:r>
              <a:rPr b="0" i="1" dirty="0"/>
              <a:t>n</a:t>
            </a:r>
            <a:r>
              <a:rPr dirty="0"/>
              <a:t> players</a:t>
            </a:r>
          </a:p>
          <a:p>
            <a:pPr marL="555625" indent="-555625">
              <a:defRPr sz="4500"/>
            </a:pPr>
            <a:r>
              <a:rPr dirty="0"/>
              <a:t>They each choose an integer from 0 to 99</a:t>
            </a:r>
          </a:p>
          <a:p>
            <a:pPr marL="555625" indent="-555625">
              <a:defRPr sz="4500"/>
            </a:pPr>
            <a:r>
              <a:rPr dirty="0"/>
              <a:t>The person who chose the lowest unique number wins</a:t>
            </a:r>
          </a:p>
        </p:txBody>
      </p:sp>
    </p:spTree>
    <p:extLst>
      <p:ext uri="{BB962C8B-B14F-4D97-AF65-F5344CB8AC3E}">
        <p14:creationId xmlns:p14="http://schemas.microsoft.com/office/powerpoint/2010/main" val="18724964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Two example games with five players</a:t>
            </a:r>
          </a:p>
        </p:txBody>
      </p:sp>
      <p:graphicFrame>
        <p:nvGraphicFramePr>
          <p:cNvPr id="299" name="Table 299"/>
          <p:cNvGraphicFramePr/>
          <p:nvPr>
            <p:extLst/>
          </p:nvPr>
        </p:nvGraphicFramePr>
        <p:xfrm>
          <a:off x="2791100" y="3066406"/>
          <a:ext cx="7422594" cy="152464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37099"/>
                <a:gridCol w="1237099"/>
                <a:gridCol w="1237099"/>
                <a:gridCol w="1237099"/>
                <a:gridCol w="1237099"/>
                <a:gridCol w="1237099"/>
              </a:tblGrid>
              <a:tr h="762322"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Player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762322"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Choice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300" name="Table 300"/>
          <p:cNvGraphicFramePr/>
          <p:nvPr>
            <p:extLst/>
          </p:nvPr>
        </p:nvGraphicFramePr>
        <p:xfrm>
          <a:off x="2791100" y="6685906"/>
          <a:ext cx="7422594" cy="152464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37099"/>
                <a:gridCol w="1237099"/>
                <a:gridCol w="1237099"/>
                <a:gridCol w="1237099"/>
                <a:gridCol w="1237099"/>
                <a:gridCol w="1237099"/>
              </a:tblGrid>
              <a:tr h="762322"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Player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762322"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Choice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i="0"/>
                      </a:pPr>
                      <a:r>
                        <a:rPr sz="2600" b="1" dirty="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301" name="Shape 301"/>
          <p:cNvSpPr/>
          <p:nvPr/>
        </p:nvSpPr>
        <p:spPr>
          <a:xfrm>
            <a:off x="4958680" y="4654550"/>
            <a:ext cx="308744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84200">
              <a:defRPr sz="3600" b="1">
                <a:solidFill>
                  <a:srgbClr val="773F9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Player D wins</a:t>
            </a:r>
          </a:p>
        </p:txBody>
      </p:sp>
      <p:sp>
        <p:nvSpPr>
          <p:cNvPr id="302" name="Shape 302"/>
          <p:cNvSpPr/>
          <p:nvPr/>
        </p:nvSpPr>
        <p:spPr>
          <a:xfrm>
            <a:off x="3638314" y="8210550"/>
            <a:ext cx="572817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84200">
              <a:defRPr sz="3600" b="1">
                <a:solidFill>
                  <a:srgbClr val="773F9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No unique number – draw</a:t>
            </a:r>
          </a:p>
        </p:txBody>
      </p:sp>
    </p:spTree>
    <p:extLst>
      <p:ext uri="{BB962C8B-B14F-4D97-AF65-F5344CB8AC3E}">
        <p14:creationId xmlns:p14="http://schemas.microsoft.com/office/powerpoint/2010/main" val="182174931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animBg="1"/>
      <p:bldP spid="30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Results of our game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5"/>
          <a:stretch/>
        </p:blipFill>
        <p:spPr>
          <a:xfrm>
            <a:off x="1424708" y="2050473"/>
            <a:ext cx="9686637" cy="73371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89799" y="3086088"/>
            <a:ext cx="65024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555625" indent="-555625">
              <a:defRPr sz="4500"/>
            </a:pPr>
            <a:r>
              <a:rPr lang="en-US" sz="3500" dirty="0"/>
              <a:t>m</a:t>
            </a:r>
            <a:r>
              <a:rPr lang="en-US" sz="3500" dirty="0" smtClean="0"/>
              <a:t>ean (F) = 8</a:t>
            </a:r>
          </a:p>
          <a:p>
            <a:pPr marL="555625" indent="-555625">
              <a:defRPr sz="4500"/>
            </a:pPr>
            <a:r>
              <a:rPr lang="en-US" sz="3500" dirty="0"/>
              <a:t>s</a:t>
            </a:r>
            <a:r>
              <a:rPr lang="en-US" sz="3500" dirty="0" smtClean="0"/>
              <a:t>igma (F) = 7</a:t>
            </a:r>
          </a:p>
          <a:p>
            <a:pPr marL="555625" indent="-555625">
              <a:defRPr sz="4500"/>
            </a:pPr>
            <a:r>
              <a:rPr lang="en-US" sz="3500" dirty="0"/>
              <a:t>m</a:t>
            </a:r>
            <a:r>
              <a:rPr lang="en-US" sz="3500" dirty="0" smtClean="0"/>
              <a:t>ean (M) = 4</a:t>
            </a:r>
          </a:p>
          <a:p>
            <a:pPr marL="555625" indent="-555625">
              <a:defRPr sz="4500"/>
            </a:pPr>
            <a:r>
              <a:rPr lang="en-US" sz="3500" dirty="0"/>
              <a:t>s</a:t>
            </a:r>
            <a:r>
              <a:rPr lang="en-US" sz="3500" dirty="0" smtClean="0"/>
              <a:t>igma (M) =3</a:t>
            </a:r>
            <a:endParaRPr lang="en-US" sz="35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158836" y="3086088"/>
            <a:ext cx="2909455" cy="373034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bevel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4844399" y="2455146"/>
            <a:ext cx="284725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55625" indent="-555625">
              <a:defRPr sz="4500"/>
            </a:pPr>
            <a:r>
              <a:rPr lang="en-US" sz="3500" dirty="0" smtClean="0">
                <a:solidFill>
                  <a:srgbClr val="FF0000"/>
                </a:solidFill>
              </a:rPr>
              <a:t>Jacob </a:t>
            </a:r>
            <a:r>
              <a:rPr lang="en-US" sz="3500" dirty="0" err="1" smtClean="0">
                <a:solidFill>
                  <a:srgbClr val="FF0000"/>
                </a:solidFill>
              </a:rPr>
              <a:t>Bindman</a:t>
            </a:r>
            <a:endParaRPr lang="en-US" sz="3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146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Let’s play again</a:t>
            </a:r>
            <a:endParaRPr dirty="0"/>
          </a:p>
        </p:txBody>
      </p:sp>
      <p:sp>
        <p:nvSpPr>
          <p:cNvPr id="3" name="Shape 304"/>
          <p:cNvSpPr txBox="1">
            <a:spLocks/>
          </p:cNvSpPr>
          <p:nvPr/>
        </p:nvSpPr>
        <p:spPr>
          <a:xfrm>
            <a:off x="437232" y="3700318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rgbClr val="164F86"/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ln>
                  <a:noFill/>
                </a:ln>
                <a:solidFill>
                  <a:srgbClr val="0000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hangingPunct="1"/>
            <a:r>
              <a:rPr lang="en-US" sz="4000" dirty="0" smtClean="0"/>
              <a:t>Does your strategy change?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23839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254000"/>
            <a:ext cx="10464802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The AM 50 Competition!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Shape 296"/>
          <p:cNvSpPr>
            <a:spLocks noGrp="1"/>
          </p:cNvSpPr>
          <p:nvPr>
            <p:ph type="body" sz="half" idx="1"/>
          </p:nvPr>
        </p:nvSpPr>
        <p:spPr>
          <a:xfrm>
            <a:off x="909905" y="2632316"/>
            <a:ext cx="11099801" cy="4161334"/>
          </a:xfrm>
          <a:prstGeom prst="rect">
            <a:avLst/>
          </a:prstGeom>
        </p:spPr>
        <p:txBody>
          <a:bodyPr anchor="t"/>
          <a:lstStyle/>
          <a:p>
            <a:pPr marL="555625" indent="-555625">
              <a:defRPr sz="4500"/>
            </a:pPr>
            <a:r>
              <a:rPr lang="en-US" sz="3800" dirty="0" smtClean="0"/>
              <a:t>We are going to play many repeated unique number games</a:t>
            </a:r>
            <a:endParaRPr sz="3800" dirty="0"/>
          </a:p>
          <a:p>
            <a:pPr marL="555625" indent="-555625">
              <a:defRPr sz="4500"/>
            </a:pPr>
            <a:r>
              <a:rPr lang="en-US" sz="3800" dirty="0" smtClean="0">
                <a:solidFill>
                  <a:schemeClr val="tx1"/>
                </a:solidFill>
              </a:rPr>
              <a:t>There will be  (likely) 100 sets of ten million rounds, making (likely) 1,000,000,000 rounds in total</a:t>
            </a:r>
            <a:endParaRPr sz="3800" dirty="0">
              <a:solidFill>
                <a:schemeClr val="tx1"/>
              </a:solidFill>
            </a:endParaRPr>
          </a:p>
          <a:p>
            <a:pPr marL="555625" indent="-555625">
              <a:defRPr sz="4500"/>
            </a:pPr>
            <a:r>
              <a:rPr lang="en-US" sz="3800" dirty="0" smtClean="0"/>
              <a:t>Homework problem 1: write a </a:t>
            </a:r>
            <a:r>
              <a:rPr lang="en-US" sz="3800" dirty="0" err="1" smtClean="0"/>
              <a:t>Matlab</a:t>
            </a:r>
            <a:r>
              <a:rPr lang="en-US" sz="3800" dirty="0" smtClean="0"/>
              <a:t> function to implement strategy for these repeated games</a:t>
            </a:r>
          </a:p>
          <a:p>
            <a:pPr marL="555625" indent="-555625">
              <a:defRPr sz="4500"/>
            </a:pPr>
            <a:r>
              <a:rPr lang="en-US" sz="3800" dirty="0" smtClean="0"/>
              <a:t>Playing a pure strategy may be problematic; a mixed strategy may be advantageous</a:t>
            </a:r>
            <a:endParaRPr sz="3800" dirty="0"/>
          </a:p>
        </p:txBody>
      </p:sp>
    </p:spTree>
    <p:extLst>
      <p:ext uri="{BB962C8B-B14F-4D97-AF65-F5344CB8AC3E}">
        <p14:creationId xmlns:p14="http://schemas.microsoft.com/office/powerpoint/2010/main" val="9126063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457081"/>
            <a:ext cx="10464802" cy="24384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From upcoming lab:  uniform random up to some number</a:t>
            </a:r>
            <a:b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</a:b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Shape 296"/>
          <p:cNvSpPr>
            <a:spLocks noGrp="1"/>
          </p:cNvSpPr>
          <p:nvPr>
            <p:ph type="body" sz="half" idx="1"/>
          </p:nvPr>
        </p:nvSpPr>
        <p:spPr>
          <a:xfrm>
            <a:off x="909905" y="2632316"/>
            <a:ext cx="10824896" cy="2867914"/>
          </a:xfrm>
          <a:prstGeom prst="rect">
            <a:avLst/>
          </a:prstGeom>
        </p:spPr>
        <p:txBody>
          <a:bodyPr anchor="t"/>
          <a:lstStyle/>
          <a:p>
            <a:pPr marL="555625" indent="-555625">
              <a:defRPr sz="4500"/>
            </a:pPr>
            <a:r>
              <a:rPr lang="en-US" sz="3800" dirty="0" smtClean="0"/>
              <a:t>Choose numbers randomly over a reasonable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1214" y="3170600"/>
            <a:ext cx="65024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sz="3600" dirty="0" err="1" smtClean="0">
                <a:latin typeface="courier" charset="0"/>
              </a:rPr>
              <a:t>r</a:t>
            </a:r>
            <a:r>
              <a:rPr lang="mr-IN" sz="3600" dirty="0" smtClean="0">
                <a:latin typeface="courier" charset="0"/>
              </a:rPr>
              <a:t> </a:t>
            </a:r>
            <a:r>
              <a:rPr lang="mr-IN" sz="3600" dirty="0">
                <a:latin typeface="courier" charset="0"/>
              </a:rPr>
              <a:t>= </a:t>
            </a:r>
            <a:r>
              <a:rPr lang="mr-IN" sz="3600" dirty="0" err="1">
                <a:latin typeface="courier" charset="0"/>
              </a:rPr>
              <a:t>randi</a:t>
            </a:r>
            <a:r>
              <a:rPr lang="mr-IN" sz="3600" dirty="0">
                <a:latin typeface="courier" charset="0"/>
              </a:rPr>
              <a:t>([</a:t>
            </a:r>
            <a:r>
              <a:rPr lang="mr-IN" sz="3600" dirty="0" smtClean="0">
                <a:latin typeface="courier" charset="0"/>
              </a:rPr>
              <a:t>0,</a:t>
            </a:r>
            <a:r>
              <a:rPr lang="en-US" sz="3600" dirty="0" smtClean="0">
                <a:latin typeface="courier" charset="0"/>
              </a:rPr>
              <a:t>25</a:t>
            </a:r>
            <a:r>
              <a:rPr lang="mr-IN" sz="3600" dirty="0" smtClean="0">
                <a:latin typeface="courier" charset="0"/>
              </a:rPr>
              <a:t>], </a:t>
            </a:r>
            <a:r>
              <a:rPr lang="en-US" sz="3600" dirty="0" smtClean="0">
                <a:latin typeface="courier" charset="0"/>
              </a:rPr>
              <a:t>1</a:t>
            </a:r>
            <a:r>
              <a:rPr lang="mr-IN" sz="3600" dirty="0" smtClean="0">
                <a:latin typeface="courier" charset="0"/>
              </a:rPr>
              <a:t>);</a:t>
            </a:r>
            <a:endParaRPr lang="mr-IN" sz="3600" dirty="0">
              <a:latin typeface="courier" charset="0"/>
            </a:endParaRPr>
          </a:p>
          <a:p>
            <a:r>
              <a:rPr lang="mr-IN" sz="3600" dirty="0">
                <a:latin typeface="courier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3658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1269999" y="457081"/>
            <a:ext cx="10464802" cy="24384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From upcoming lab:  uniform random up to some number</a:t>
            </a:r>
            <a:b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</a:b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Shape 296"/>
          <p:cNvSpPr>
            <a:spLocks noGrp="1"/>
          </p:cNvSpPr>
          <p:nvPr>
            <p:ph type="body" sz="half" idx="1"/>
          </p:nvPr>
        </p:nvSpPr>
        <p:spPr>
          <a:xfrm>
            <a:off x="909905" y="2632316"/>
            <a:ext cx="10824896" cy="2867914"/>
          </a:xfrm>
          <a:prstGeom prst="rect">
            <a:avLst/>
          </a:prstGeom>
        </p:spPr>
        <p:txBody>
          <a:bodyPr anchor="t"/>
          <a:lstStyle/>
          <a:p>
            <a:pPr marL="555625" indent="-555625">
              <a:defRPr sz="4500"/>
            </a:pPr>
            <a:r>
              <a:rPr lang="en-US" sz="3800" dirty="0" smtClean="0"/>
              <a:t>Choose numbers randomly over a reasonable range</a:t>
            </a:r>
          </a:p>
          <a:p>
            <a:pPr marL="555625" indent="-555625">
              <a:defRPr sz="4500"/>
            </a:pPr>
            <a:r>
              <a:rPr lang="en-US" sz="3800" dirty="0" smtClean="0"/>
              <a:t>Easily beaten</a:t>
            </a:r>
          </a:p>
          <a:p>
            <a:pPr marL="555625" indent="-555625">
              <a:defRPr sz="4500"/>
            </a:pPr>
            <a:r>
              <a:rPr lang="en-US" sz="3800" dirty="0" smtClean="0"/>
              <a:t>Key problem: does it really make sense to choose 25 with the same probability as 0?</a:t>
            </a:r>
            <a:endParaRPr sz="3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4" b="47842"/>
          <a:stretch/>
        </p:blipFill>
        <p:spPr>
          <a:xfrm>
            <a:off x="1269999" y="5957454"/>
            <a:ext cx="9227127" cy="39346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1214" y="3170600"/>
            <a:ext cx="65024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sz="3600" dirty="0" err="1" smtClean="0">
                <a:latin typeface="courier" charset="0"/>
              </a:rPr>
              <a:t>r</a:t>
            </a:r>
            <a:r>
              <a:rPr lang="mr-IN" sz="3600" dirty="0" smtClean="0">
                <a:latin typeface="courier" charset="0"/>
              </a:rPr>
              <a:t> </a:t>
            </a:r>
            <a:r>
              <a:rPr lang="mr-IN" sz="3600" dirty="0">
                <a:latin typeface="courier" charset="0"/>
              </a:rPr>
              <a:t>= </a:t>
            </a:r>
            <a:r>
              <a:rPr lang="mr-IN" sz="3600" dirty="0" err="1">
                <a:latin typeface="courier" charset="0"/>
              </a:rPr>
              <a:t>randi</a:t>
            </a:r>
            <a:r>
              <a:rPr lang="mr-IN" sz="3600" dirty="0">
                <a:latin typeface="courier" charset="0"/>
              </a:rPr>
              <a:t>([</a:t>
            </a:r>
            <a:r>
              <a:rPr lang="mr-IN" sz="3600" dirty="0" smtClean="0">
                <a:latin typeface="courier" charset="0"/>
              </a:rPr>
              <a:t>0,</a:t>
            </a:r>
            <a:r>
              <a:rPr lang="en-US" sz="3600" dirty="0" smtClean="0">
                <a:latin typeface="courier" charset="0"/>
              </a:rPr>
              <a:t>25</a:t>
            </a:r>
            <a:r>
              <a:rPr lang="mr-IN" sz="3600" dirty="0" smtClean="0">
                <a:latin typeface="courier" charset="0"/>
              </a:rPr>
              <a:t>], </a:t>
            </a:r>
            <a:r>
              <a:rPr lang="en-US" sz="3600" dirty="0" smtClean="0">
                <a:latin typeface="courier" charset="0"/>
              </a:rPr>
              <a:t>1</a:t>
            </a:r>
            <a:r>
              <a:rPr lang="mr-IN" sz="3600" dirty="0" smtClean="0">
                <a:latin typeface="courier" charset="0"/>
              </a:rPr>
              <a:t>);</a:t>
            </a:r>
            <a:endParaRPr lang="mr-IN" sz="3600" dirty="0">
              <a:latin typeface="courier" charset="0"/>
            </a:endParaRPr>
          </a:p>
          <a:p>
            <a:r>
              <a:rPr lang="mr-IN" sz="3600" dirty="0">
                <a:latin typeface="courier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28642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A simple weighted </a:t>
            </a:r>
            <a:r>
              <a:rPr lang="en-US" sz="5800" b="1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random strategy</a:t>
            </a: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/>
            </a:r>
            <a:b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</a:b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hape 296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909905" y="2493818"/>
                <a:ext cx="10824896" cy="286791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None/>
                  <a:defRPr sz="4500"/>
                </a:pPr>
                <a:r>
                  <a:rPr lang="en-US" sz="3800" dirty="0" smtClean="0"/>
                  <a:t>Question: what is the output of the following function, for input </a:t>
                </a:r>
                <a14:m>
                  <m:oMath xmlns:m="http://schemas.openxmlformats.org/officeDocument/2006/math">
                    <m:r>
                      <a:rPr lang="en-US" sz="3800" b="1" i="1" smtClean="0">
                        <a:latin typeface="Cambria Math" charset="0"/>
                      </a:rPr>
                      <m:t>𝒎</m:t>
                    </m:r>
                    <m:r>
                      <a:rPr lang="en-US" sz="3800" b="1" i="1" smtClean="0">
                        <a:latin typeface="Cambria Math" charset="0"/>
                      </a:rPr>
                      <m:t>=</m:t>
                    </m:r>
                    <m:r>
                      <a:rPr lang="en-US" sz="3800" b="1" i="1" smtClean="0">
                        <a:latin typeface="Cambria Math" charset="0"/>
                      </a:rPr>
                      <m:t>𝟐</m:t>
                    </m:r>
                    <m:r>
                      <a:rPr lang="en-US" sz="3800" b="1" i="1" smtClean="0">
                        <a:latin typeface="Cambria Math" charset="0"/>
                      </a:rPr>
                      <m:t>?</m:t>
                    </m:r>
                  </m:oMath>
                </a14:m>
                <a:r>
                  <a:rPr lang="en-US" sz="3800" dirty="0" smtClean="0"/>
                  <a:t> </a:t>
                </a:r>
                <a:endParaRPr lang="en-US" sz="3800" dirty="0"/>
              </a:p>
            </p:txBody>
          </p:sp>
        </mc:Choice>
        <mc:Fallback>
          <p:sp>
            <p:nvSpPr>
              <p:cNvPr id="6" name="Shape 29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09905" y="2493818"/>
                <a:ext cx="10824896" cy="2867914"/>
              </a:xfrm>
              <a:prstGeom prst="rect">
                <a:avLst/>
              </a:prstGeom>
              <a:blipFill rotWithShape="0">
                <a:blip r:embed="rId3"/>
                <a:stretch>
                  <a:fillRect l="-2196" t="-5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2009556" y="4304345"/>
            <a:ext cx="8625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rgbClr val="0000FF"/>
                </a:solidFill>
                <a:latin typeface="courier" charset="0"/>
              </a:rPr>
              <a:t>function</a:t>
            </a:r>
            <a:r>
              <a:rPr lang="en-US" sz="3500" dirty="0">
                <a:latin typeface="courier" charset="0"/>
              </a:rPr>
              <a:t> r = </a:t>
            </a:r>
            <a:r>
              <a:rPr lang="en-US" sz="3500" dirty="0" err="1">
                <a:latin typeface="courier" charset="0"/>
              </a:rPr>
              <a:t>playgame</a:t>
            </a:r>
            <a:r>
              <a:rPr lang="en-US" sz="3500" dirty="0">
                <a:latin typeface="courier" charset="0"/>
              </a:rPr>
              <a:t>(m)</a:t>
            </a:r>
          </a:p>
          <a:p>
            <a:r>
              <a:rPr lang="en-US" sz="3500" dirty="0">
                <a:latin typeface="courier" charset="0"/>
              </a:rPr>
              <a:t> </a:t>
            </a:r>
          </a:p>
          <a:p>
            <a:r>
              <a:rPr lang="mr-IN" sz="3500" dirty="0" err="1">
                <a:latin typeface="courier" charset="0"/>
              </a:rPr>
              <a:t>j</a:t>
            </a:r>
            <a:r>
              <a:rPr lang="mr-IN" sz="3500" dirty="0">
                <a:latin typeface="courier" charset="0"/>
              </a:rPr>
              <a:t> = </a:t>
            </a:r>
            <a:r>
              <a:rPr lang="mr-IN" sz="3500" dirty="0" err="1">
                <a:latin typeface="courier" charset="0"/>
              </a:rPr>
              <a:t>randi</a:t>
            </a:r>
            <a:r>
              <a:rPr lang="mr-IN" sz="3500" dirty="0">
                <a:latin typeface="courier" charset="0"/>
              </a:rPr>
              <a:t>([0, </a:t>
            </a:r>
            <a:r>
              <a:rPr lang="mr-IN" sz="3500" dirty="0" err="1">
                <a:latin typeface="courier" charset="0"/>
              </a:rPr>
              <a:t>m</a:t>
            </a:r>
            <a:r>
              <a:rPr lang="mr-IN" sz="3500" dirty="0">
                <a:latin typeface="courier" charset="0"/>
              </a:rPr>
              <a:t>], </a:t>
            </a:r>
            <a:r>
              <a:rPr lang="en-US" sz="3500" dirty="0" smtClean="0">
                <a:latin typeface="courier" charset="0"/>
              </a:rPr>
              <a:t>1</a:t>
            </a:r>
            <a:r>
              <a:rPr lang="mr-IN" sz="3500" dirty="0" smtClean="0">
                <a:latin typeface="courier" charset="0"/>
              </a:rPr>
              <a:t>);</a:t>
            </a:r>
            <a:endParaRPr lang="mr-IN" sz="3500" dirty="0">
              <a:latin typeface="courier" charset="0"/>
            </a:endParaRPr>
          </a:p>
          <a:p>
            <a:r>
              <a:rPr lang="mr-IN" sz="3500" dirty="0" err="1">
                <a:latin typeface="courier" charset="0"/>
              </a:rPr>
              <a:t>r</a:t>
            </a:r>
            <a:r>
              <a:rPr lang="mr-IN" sz="3500" dirty="0">
                <a:latin typeface="courier" charset="0"/>
              </a:rPr>
              <a:t> = </a:t>
            </a:r>
            <a:r>
              <a:rPr lang="mr-IN" sz="3500" dirty="0" err="1">
                <a:latin typeface="courier" charset="0"/>
              </a:rPr>
              <a:t>randi</a:t>
            </a:r>
            <a:r>
              <a:rPr lang="mr-IN" sz="3500" dirty="0">
                <a:latin typeface="courier" charset="0"/>
              </a:rPr>
              <a:t>([0,j], 1);</a:t>
            </a:r>
          </a:p>
          <a:p>
            <a:r>
              <a:rPr lang="mr-IN" sz="3500" dirty="0">
                <a:latin typeface="courier" charset="0"/>
              </a:rPr>
              <a:t> </a:t>
            </a:r>
          </a:p>
          <a:p>
            <a:r>
              <a:rPr lang="en-US" sz="3500" dirty="0">
                <a:solidFill>
                  <a:srgbClr val="0000FF"/>
                </a:solidFill>
                <a:latin typeface="courier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1822553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Probabilities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hape 296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767912" y="2165845"/>
                <a:ext cx="10824896" cy="286791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71500">
                  <a:defRPr sz="4500"/>
                </a:pP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𝒋</m:t>
                    </m:r>
                  </m:oMath>
                </a14:m>
                <a:r>
                  <a:rPr lang="en-US" sz="3500" dirty="0" smtClean="0"/>
                  <a:t> will take the values 0, 1, and 2 with 1/3 probability each</a:t>
                </a:r>
              </a:p>
              <a:p>
                <a:pPr marL="571500">
                  <a:defRPr sz="4500"/>
                </a:pPr>
                <a:r>
                  <a:rPr lang="en-US" sz="3500" dirty="0" smtClean="0"/>
                  <a:t>Table of outcomes</a:t>
                </a:r>
                <a:endParaRPr lang="en-US" sz="3500" dirty="0"/>
              </a:p>
            </p:txBody>
          </p:sp>
        </mc:Choice>
        <mc:Fallback>
          <p:sp>
            <p:nvSpPr>
              <p:cNvPr id="6" name="Shape 29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67912" y="2165845"/>
                <a:ext cx="10824896" cy="2867914"/>
              </a:xfrm>
              <a:prstGeom prst="rect">
                <a:avLst/>
              </a:prstGeom>
              <a:blipFill rotWithShape="0">
                <a:blip r:embed="rId3"/>
                <a:stretch>
                  <a:fillRect l="-3604" t="-4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705896"/>
              </p:ext>
            </p:extLst>
          </p:nvPr>
        </p:nvGraphicFramePr>
        <p:xfrm>
          <a:off x="1919773" y="4164624"/>
          <a:ext cx="9467936" cy="28200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6984"/>
                <a:gridCol w="2366984"/>
                <a:gridCol w="2366984"/>
                <a:gridCol w="2366984"/>
              </a:tblGrid>
              <a:tr h="972305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Result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Prob.</a:t>
                      </a:r>
                      <a:r>
                        <a:rPr lang="en-US" sz="2800" b="1" baseline="0" dirty="0" smtClean="0"/>
                        <a:t> if j = 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Prob.</a:t>
                      </a:r>
                      <a:r>
                        <a:rPr lang="en-US" sz="2800" b="1" baseline="0" dirty="0" smtClean="0"/>
                        <a:t> if j = 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Prob.</a:t>
                      </a:r>
                      <a:r>
                        <a:rPr lang="en-US" sz="2800" b="1" baseline="0" dirty="0" smtClean="0"/>
                        <a:t> if j = 2</a:t>
                      </a:r>
                      <a:endParaRPr lang="en-US" sz="2800" b="1" dirty="0"/>
                    </a:p>
                  </a:txBody>
                  <a:tcPr/>
                </a:tc>
              </a:tr>
              <a:tr h="615927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1/2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baseline="0" dirty="0" smtClean="0"/>
                        <a:t> </a:t>
                      </a:r>
                      <a:r>
                        <a:rPr lang="en-US" sz="2800" b="1" dirty="0" smtClean="0"/>
                        <a:t> </a:t>
                      </a:r>
                      <a:r>
                        <a:rPr lang="en-US" sz="2800" b="1" baseline="0" dirty="0" smtClean="0"/>
                        <a:t>1/3</a:t>
                      </a:r>
                      <a:endParaRPr lang="en-US" sz="2800" b="1" dirty="0" smtClean="0"/>
                    </a:p>
                  </a:txBody>
                  <a:tcPr/>
                </a:tc>
              </a:tr>
              <a:tr h="615927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1/2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1/3</a:t>
                      </a:r>
                      <a:endParaRPr lang="en-US" sz="2800" b="1" dirty="0"/>
                    </a:p>
                  </a:txBody>
                  <a:tcPr/>
                </a:tc>
              </a:tr>
              <a:tr h="615927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1/3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80290" y="7095546"/>
                <a:ext cx="4528869" cy="12618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𝑃</m:t>
                      </m:r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0</m:t>
                          </m:r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1+</m:t>
                          </m:r>
                          <m:f>
                            <m:fPr>
                              <m:ctrlP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</m:ctrlPr>
                            </m:fPr>
                            <m:num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2</m:t>
                              </m:r>
                            </m:den>
                          </m:f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+</m:t>
                          </m:r>
                          <m:f>
                            <m:fPr>
                              <m:ctrlP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</m:ctrlPr>
                            </m:fPr>
                            <m:num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11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kumimoji="0" lang="en-US" sz="30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5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Gill Sans"/>
                    <a:cs typeface="Gill Sans"/>
                    <a:sym typeface="Gill Sans"/>
                  </a:rPr>
                  <a:t> </a:t>
                </a:r>
                <a:endParaRPr kumimoji="0" lang="en-US" sz="25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290" y="7095546"/>
                <a:ext cx="4528869" cy="12618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043330" y="8246530"/>
                <a:ext cx="4137030" cy="130163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𝑃</m:t>
                      </m:r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</m:t>
                          </m:r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</m:ctrlPr>
                            </m:fPr>
                            <m:num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2</m:t>
                              </m:r>
                            </m:den>
                          </m:f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+</m:t>
                          </m:r>
                          <m:f>
                            <m:fPr>
                              <m:ctrlP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</m:ctrlPr>
                            </m:fPr>
                            <m:num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5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kumimoji="0" lang="en-US" sz="30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5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Gill Sans"/>
                    <a:cs typeface="Gill Sans"/>
                    <a:sym typeface="Gill Sans"/>
                  </a:rPr>
                  <a:t> </a:t>
                </a:r>
                <a:endParaRPr kumimoji="0" lang="en-US" sz="25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330" y="8246530"/>
                <a:ext cx="4137030" cy="130163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195868" y="8246530"/>
                <a:ext cx="3399275" cy="12618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𝑃</m:t>
                      </m:r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2</m:t>
                          </m:r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</m:ctrlPr>
                            </m:fPr>
                            <m:num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3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Gill Sans"/>
                                  <a:cs typeface="Gill Sans"/>
                                  <a:sym typeface="Gill Sans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</m:t>
                      </m:r>
                      <m:f>
                        <m:f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</m:ctrlPr>
                        </m:fPr>
                        <m:num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1</m:t>
                          </m:r>
                        </m:num>
                        <m:den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Gill Sans"/>
                              <a:cs typeface="Gill Sans"/>
                              <a:sym typeface="Gill Sans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kumimoji="0" lang="en-US" sz="30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5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Gill Sans"/>
                    <a:cs typeface="Gill Sans"/>
                    <a:sym typeface="Gill Sans"/>
                  </a:rPr>
                  <a:t> </a:t>
                </a:r>
                <a:endParaRPr kumimoji="0" lang="en-US" sz="25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868" y="8246530"/>
                <a:ext cx="3399275" cy="12618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053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Calculating the probabilities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32" y="2011172"/>
            <a:ext cx="9822552" cy="73669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158180" y="2830268"/>
                <a:ext cx="1174552" cy="8463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𝑚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Gill Sans"/>
                          <a:cs typeface="Gill Sans"/>
                          <a:sym typeface="Gill Sans"/>
                        </a:rPr>
                        <m:t>=9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5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Gill Sans"/>
                    <a:cs typeface="Gill Sans"/>
                    <a:sym typeface="Gill Sans"/>
                  </a:rPr>
                  <a:t> </a:t>
                </a:r>
                <a:endParaRPr kumimoji="0" lang="en-US" sz="25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Gill Sans"/>
                  <a:cs typeface="Gill Sans"/>
                  <a:sym typeface="Gill Sans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180" y="2830268"/>
                <a:ext cx="1174552" cy="8463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122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Calculating the probabilities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hape 296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889108" y="2156679"/>
                <a:ext cx="10824896" cy="286791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None/>
                  <a:defRPr sz="4500"/>
                </a:pPr>
                <a:r>
                  <a:rPr lang="en-US" sz="3500" dirty="0" smtClean="0"/>
                  <a:t>For arbitrary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r>
                  <a:rPr lang="en-US" sz="3500" dirty="0" smtClean="0"/>
                  <a:t>, the probability of choosing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𝒌</m:t>
                    </m:r>
                  </m:oMath>
                </a14:m>
                <a:r>
                  <a:rPr lang="en-US" sz="3500" dirty="0" smtClean="0"/>
                  <a:t> is </a:t>
                </a:r>
                <a:endParaRPr lang="en-US" sz="3500" dirty="0"/>
              </a:p>
            </p:txBody>
          </p:sp>
        </mc:Choice>
        <mc:Fallback>
          <p:sp>
            <p:nvSpPr>
              <p:cNvPr id="6" name="Shape 29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89108" y="2156679"/>
                <a:ext cx="10824896" cy="2867914"/>
              </a:xfrm>
              <a:prstGeom prst="rect">
                <a:avLst/>
              </a:prstGeom>
              <a:blipFill rotWithShape="0">
                <a:blip r:embed="rId3"/>
                <a:stretch>
                  <a:fillRect l="-2027" t="-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703" y="3368917"/>
            <a:ext cx="7801683" cy="58512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" y="3368917"/>
            <a:ext cx="4694595" cy="559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133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Random sampling: </a:t>
            </a:r>
            <a:r>
              <a:rPr lang="en-US" sz="5800" b="1" dirty="0" err="1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Matlab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054981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406" y="1911927"/>
            <a:ext cx="10058400" cy="7543800"/>
          </a:xfrm>
          <a:prstGeom prst="rect">
            <a:avLst/>
          </a:prstGeom>
        </p:spPr>
      </p:pic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Random sampling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hape 296"/>
              <p:cNvSpPr txBox="1">
                <a:spLocks/>
              </p:cNvSpPr>
              <p:nvPr/>
            </p:nvSpPr>
            <p:spPr>
              <a:xfrm>
                <a:off x="5354942" y="3747595"/>
                <a:ext cx="2117329" cy="6466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0" indent="0" hangingPunct="1">
                  <a:buFont typeface="Gill Sans"/>
                  <a:buNone/>
                  <a:defRPr sz="45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500" b="1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charset="0"/>
                          </a:rPr>
                          <m:t>10</m:t>
                        </m:r>
                      </m:e>
                      <m:sup>
                        <m:r>
                          <a:rPr lang="en-US" sz="3500" b="1" i="1" dirty="0" smtClean="0">
                            <a:latin typeface="Cambria Math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3500" dirty="0" smtClean="0"/>
                  <a:t> trials </a:t>
                </a:r>
                <a:endParaRPr lang="en-US" sz="3500" dirty="0"/>
              </a:p>
            </p:txBody>
          </p:sp>
        </mc:Choice>
        <mc:Fallback>
          <p:sp>
            <p:nvSpPr>
              <p:cNvPr id="9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942" y="3747595"/>
                <a:ext cx="2117329" cy="646605"/>
              </a:xfrm>
              <a:prstGeom prst="rect">
                <a:avLst/>
              </a:prstGeom>
              <a:blipFill rotWithShape="0">
                <a:blip r:embed="rId4"/>
                <a:stretch>
                  <a:fillRect t="-19811" r="-10345" b="-2641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9050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416" y="1877385"/>
            <a:ext cx="9984383" cy="7488288"/>
          </a:xfrm>
          <a:prstGeom prst="rect">
            <a:avLst/>
          </a:prstGeom>
        </p:spPr>
      </p:pic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Random sampling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hape 296"/>
              <p:cNvSpPr txBox="1">
                <a:spLocks/>
              </p:cNvSpPr>
              <p:nvPr/>
            </p:nvSpPr>
            <p:spPr>
              <a:xfrm>
                <a:off x="5354942" y="3747595"/>
                <a:ext cx="2117329" cy="6466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0" indent="0" hangingPunct="1">
                  <a:buFont typeface="Gill Sans"/>
                  <a:buNone/>
                  <a:defRPr sz="45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500" b="1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charset="0"/>
                          </a:rPr>
                          <m:t>10</m:t>
                        </m:r>
                      </m:e>
                      <m:sup>
                        <m:r>
                          <a:rPr lang="en-US" sz="3500" b="1" i="1" dirty="0" smtClean="0">
                            <a:latin typeface="Cambria Math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sz="3500" dirty="0" smtClean="0"/>
                  <a:t> trials </a:t>
                </a:r>
                <a:endParaRPr lang="en-US" sz="3500" dirty="0"/>
              </a:p>
            </p:txBody>
          </p:sp>
        </mc:Choice>
        <mc:Fallback>
          <p:sp>
            <p:nvSpPr>
              <p:cNvPr id="9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942" y="3747595"/>
                <a:ext cx="2117329" cy="646605"/>
              </a:xfrm>
              <a:prstGeom prst="rect">
                <a:avLst/>
              </a:prstGeom>
              <a:blipFill rotWithShape="0">
                <a:blip r:embed="rId4"/>
                <a:stretch>
                  <a:fillRect t="-19811" r="-10345" b="-2641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646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1" name="Shape 331"/>
              <p:cNvSpPr>
                <a:spLocks noGrp="1"/>
              </p:cNvSpPr>
              <p:nvPr>
                <p:ph type="title"/>
              </p:nvPr>
            </p:nvSpPr>
            <p:spPr>
              <a:xfrm>
                <a:off x="767912" y="254000"/>
                <a:ext cx="11476183" cy="237831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>
                  <a:defRPr sz="5800" b="1">
                    <a:solidFill>
                      <a:srgbClr val="133C73"/>
                    </a:solidFill>
                    <a:effectLst>
                      <a:outerShdw blurRad="12700" dist="38100" dir="2700000" rotWithShape="0">
                        <a:srgbClr val="DDDDDD"/>
                      </a:outerShdw>
                    </a:effectLst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>
                  <a:defRPr sz="8400" b="0">
                    <a:solidFill>
                      <a:srgbClr val="000000"/>
                    </a:solidFill>
                    <a:effectLst/>
                    <a:latin typeface="Gill Sans"/>
                    <a:ea typeface="Gill Sans"/>
                    <a:cs typeface="Gill Sans"/>
                    <a:sym typeface="Gill Sans"/>
                  </a:defRPr>
                </a:pPr>
                <a:r>
                  <a:rPr lang="en-US" sz="5800" b="1" dirty="0" smtClean="0">
                    <a:solidFill>
                      <a:srgbClr val="133C73"/>
                    </a:solidFill>
                    <a:effectLst>
                      <a:outerShdw blurRad="12700" dist="38100" dir="2700000" rotWithShape="0">
                        <a:srgbClr val="DDDDDD"/>
                      </a:outerShdw>
                    </a:effectLst>
                    <a:latin typeface="+mj-lt"/>
                    <a:ea typeface="+mj-ea"/>
                    <a:cs typeface="+mj-cs"/>
                    <a:sym typeface="Helvetica"/>
                  </a:rPr>
                  <a:t>Finding an optimal value of </a:t>
                </a:r>
                <a14:m>
                  <m:oMath xmlns:m="http://schemas.openxmlformats.org/officeDocument/2006/math">
                    <m:r>
                      <a:rPr lang="en-US" sz="5800" b="1" i="1" smtClean="0">
                        <a:solidFill>
                          <a:srgbClr val="133C73"/>
                        </a:solidFill>
                        <a:effectLst>
                          <a:outerShdw blurRad="12700" dist="38100" dir="2700000" rotWithShape="0">
                            <a:srgbClr val="DDDDDD"/>
                          </a:outerShdw>
                        </a:effectLst>
                        <a:latin typeface="Cambria Math" charset="0"/>
                        <a:ea typeface="+mj-ea"/>
                        <a:cs typeface="+mj-cs"/>
                        <a:sym typeface="Helvetica"/>
                      </a:rPr>
                      <m:t>𝒎</m:t>
                    </m:r>
                  </m:oMath>
                </a14:m>
                <a:endParaRPr sz="5800" b="1" dirty="0">
                  <a:solidFill>
                    <a:srgbClr val="133C73"/>
                  </a:solidFill>
                  <a:effectLst>
                    <a:outerShdw blurRad="12700" dist="38100" dir="2700000" rotWithShape="0">
                      <a:srgbClr val="DDDDDD"/>
                    </a:outerShdw>
                  </a:effectLst>
                  <a:latin typeface="+mj-lt"/>
                  <a:ea typeface="+mj-ea"/>
                  <a:cs typeface="+mj-cs"/>
                  <a:sym typeface="Helvetica"/>
                </a:endParaRPr>
              </a:p>
            </p:txBody>
          </p:sp>
        </mc:Choice>
        <mc:Fallback>
          <p:sp>
            <p:nvSpPr>
              <p:cNvPr id="331" name="Shape 33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7912" y="254000"/>
                <a:ext cx="11476183" cy="23783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hape 296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889108" y="2156679"/>
                <a:ext cx="10824896" cy="286791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None/>
                  <a:defRPr sz="4500"/>
                </a:pPr>
                <a:r>
                  <a:rPr lang="en-US" sz="3500" dirty="0" smtClean="0"/>
                  <a:t>For 70 players, what would be a good value of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r>
                  <a:rPr lang="en-US" sz="3500" dirty="0" smtClean="0"/>
                  <a:t> to use?  Both extremes don’t look very attractive:</a:t>
                </a:r>
                <a:endParaRPr lang="en-US" sz="3500" dirty="0"/>
              </a:p>
            </p:txBody>
          </p:sp>
        </mc:Choice>
        <mc:Fallback>
          <p:sp>
            <p:nvSpPr>
              <p:cNvPr id="6" name="Shape 29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89108" y="2156679"/>
                <a:ext cx="10824896" cy="2867914"/>
              </a:xfrm>
              <a:prstGeom prst="rect">
                <a:avLst/>
              </a:prstGeom>
              <a:blipFill rotWithShape="0">
                <a:blip r:embed="rId4"/>
                <a:stretch>
                  <a:fillRect l="-2027" t="-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8" r="8981" b="1977"/>
          <a:stretch/>
        </p:blipFill>
        <p:spPr>
          <a:xfrm>
            <a:off x="122429" y="3546598"/>
            <a:ext cx="6179127" cy="5237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" t="1" r="7029" b="-2242"/>
          <a:stretch/>
        </p:blipFill>
        <p:spPr>
          <a:xfrm>
            <a:off x="6483927" y="3518887"/>
            <a:ext cx="6483927" cy="5541985"/>
          </a:xfrm>
          <a:prstGeom prst="rect">
            <a:avLst/>
          </a:prstGeom>
        </p:spPr>
      </p:pic>
      <p:sp>
        <p:nvSpPr>
          <p:cNvPr id="11" name="Shape 116"/>
          <p:cNvSpPr/>
          <p:nvPr/>
        </p:nvSpPr>
        <p:spPr>
          <a:xfrm>
            <a:off x="3477564" y="4662079"/>
            <a:ext cx="2476272" cy="111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200" dirty="0"/>
              <a:t>0,1,2 likely to be eliminated in 70-person game</a:t>
            </a:r>
          </a:p>
        </p:txBody>
      </p:sp>
      <p:sp>
        <p:nvSpPr>
          <p:cNvPr id="12" name="Shape 117"/>
          <p:cNvSpPr/>
          <p:nvPr/>
        </p:nvSpPr>
        <p:spPr>
          <a:xfrm>
            <a:off x="9559782" y="4534995"/>
            <a:ext cx="3203931" cy="111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200" dirty="0"/>
              <a:t>High numbers played too often; 80 is unlikely to ever win</a:t>
            </a:r>
          </a:p>
        </p:txBody>
      </p:sp>
    </p:spTree>
    <p:extLst>
      <p:ext uri="{BB962C8B-B14F-4D97-AF65-F5344CB8AC3E}">
        <p14:creationId xmlns:p14="http://schemas.microsoft.com/office/powerpoint/2010/main" val="2996093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1" name="Shape 331"/>
              <p:cNvSpPr>
                <a:spLocks noGrp="1"/>
              </p:cNvSpPr>
              <p:nvPr>
                <p:ph type="title"/>
              </p:nvPr>
            </p:nvSpPr>
            <p:spPr>
              <a:xfrm>
                <a:off x="767912" y="254000"/>
                <a:ext cx="11476183" cy="237831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>
                  <a:defRPr sz="5800" b="1">
                    <a:solidFill>
                      <a:srgbClr val="133C73"/>
                    </a:solidFill>
                    <a:effectLst>
                      <a:outerShdw blurRad="12700" dist="38100" dir="2700000" rotWithShape="0">
                        <a:srgbClr val="DDDDDD"/>
                      </a:outerShdw>
                    </a:effectLst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>
                  <a:defRPr sz="8400" b="0">
                    <a:solidFill>
                      <a:srgbClr val="000000"/>
                    </a:solidFill>
                    <a:effectLst/>
                    <a:latin typeface="Gill Sans"/>
                    <a:ea typeface="Gill Sans"/>
                    <a:cs typeface="Gill Sans"/>
                    <a:sym typeface="Gill Sans"/>
                  </a:defRPr>
                </a:pPr>
                <a:r>
                  <a:rPr lang="en-US" sz="5800" b="1" dirty="0" smtClean="0">
                    <a:solidFill>
                      <a:srgbClr val="133C73"/>
                    </a:solidFill>
                    <a:effectLst>
                      <a:outerShdw blurRad="12700" dist="38100" dir="2700000" rotWithShape="0">
                        <a:srgbClr val="DDDDDD"/>
                      </a:outerShdw>
                    </a:effectLst>
                    <a:latin typeface="+mj-lt"/>
                    <a:ea typeface="+mj-ea"/>
                    <a:cs typeface="+mj-cs"/>
                    <a:sym typeface="Helvetica"/>
                  </a:rPr>
                  <a:t>Finding an optimal value of </a:t>
                </a:r>
                <a14:m>
                  <m:oMath xmlns:m="http://schemas.openxmlformats.org/officeDocument/2006/math">
                    <m:r>
                      <a:rPr lang="en-US" sz="5800" b="1" i="1" smtClean="0">
                        <a:solidFill>
                          <a:srgbClr val="133C73"/>
                        </a:solidFill>
                        <a:effectLst>
                          <a:outerShdw blurRad="12700" dist="38100" dir="2700000" rotWithShape="0">
                            <a:srgbClr val="DDDDDD"/>
                          </a:outerShdw>
                        </a:effectLst>
                        <a:latin typeface="Cambria Math" charset="0"/>
                        <a:ea typeface="+mj-ea"/>
                        <a:cs typeface="+mj-cs"/>
                        <a:sym typeface="Helvetica"/>
                      </a:rPr>
                      <m:t>𝒎</m:t>
                    </m:r>
                  </m:oMath>
                </a14:m>
                <a:endParaRPr sz="5800" b="1" dirty="0">
                  <a:solidFill>
                    <a:srgbClr val="133C73"/>
                  </a:solidFill>
                  <a:effectLst>
                    <a:outerShdw blurRad="12700" dist="38100" dir="2700000" rotWithShape="0">
                      <a:srgbClr val="DDDDDD"/>
                    </a:outerShdw>
                  </a:effectLst>
                  <a:latin typeface="+mj-lt"/>
                  <a:ea typeface="+mj-ea"/>
                  <a:cs typeface="+mj-cs"/>
                  <a:sym typeface="Helvetica"/>
                </a:endParaRPr>
              </a:p>
            </p:txBody>
          </p:sp>
        </mc:Choice>
        <mc:Fallback>
          <p:sp>
            <p:nvSpPr>
              <p:cNvPr id="331" name="Shape 33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7912" y="254000"/>
                <a:ext cx="11476183" cy="23783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8" r="8981" b="1977"/>
          <a:stretch/>
        </p:blipFill>
        <p:spPr>
          <a:xfrm>
            <a:off x="159375" y="1939471"/>
            <a:ext cx="6179127" cy="5237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" r="7029" b="4404"/>
          <a:stretch/>
        </p:blipFill>
        <p:spPr>
          <a:xfrm>
            <a:off x="6520873" y="1911761"/>
            <a:ext cx="6483927" cy="51817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hape 296"/>
              <p:cNvSpPr txBox="1">
                <a:spLocks/>
              </p:cNvSpPr>
              <p:nvPr/>
            </p:nvSpPr>
            <p:spPr>
              <a:xfrm>
                <a:off x="1047358" y="7317333"/>
                <a:ext cx="10824896" cy="28679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0" indent="0" hangingPunct="1">
                  <a:buFont typeface="Gill Sans"/>
                  <a:buNone/>
                  <a:defRPr sz="4500"/>
                </a:pPr>
                <a:r>
                  <a:rPr lang="en-US" sz="3500" dirty="0" smtClean="0"/>
                  <a:t>Borrow an idea from Nash: find a value of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r>
                  <a:rPr lang="en-US" sz="3500" dirty="0" smtClean="0"/>
                  <a:t> where if all players use it, then there is no advantage for one player to switch to a different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endParaRPr lang="en-US" sz="3500" dirty="0"/>
              </a:p>
            </p:txBody>
          </p:sp>
        </mc:Choice>
        <mc:Fallback>
          <p:sp>
            <p:nvSpPr>
              <p:cNvPr id="10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58" y="7317333"/>
                <a:ext cx="10824896" cy="2867914"/>
              </a:xfrm>
              <a:prstGeom prst="rect">
                <a:avLst/>
              </a:prstGeom>
              <a:blipFill rotWithShape="0">
                <a:blip r:embed="rId6"/>
                <a:stretch>
                  <a:fillRect l="-2027" t="-488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3231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Optimization results for 70 players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hape 296"/>
              <p:cNvSpPr txBox="1">
                <a:spLocks/>
              </p:cNvSpPr>
              <p:nvPr/>
            </p:nvSpPr>
            <p:spPr>
              <a:xfrm>
                <a:off x="500198" y="2632315"/>
                <a:ext cx="6005803" cy="40455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457200" indent="-457200" hangingPunct="1">
                  <a:defRPr sz="4500"/>
                </a:pPr>
                <a:r>
                  <a:rPr lang="en-US" sz="3500" dirty="0" smtClean="0"/>
                  <a:t>Suppose last player tries a different value,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  <m:r>
                      <a:rPr lang="en-US" sz="3500" b="1" i="1" smtClean="0">
                        <a:latin typeface="Cambria Math" charset="0"/>
                      </a:rPr>
                      <m:t>′</m:t>
                    </m:r>
                  </m:oMath>
                </a14:m>
                <a:endParaRPr lang="en-US" sz="3500" dirty="0" smtClean="0"/>
              </a:p>
              <a:p>
                <a:pPr marL="457200" indent="-457200" hangingPunct="1">
                  <a:defRPr sz="4500"/>
                </a:pPr>
                <a:r>
                  <a:rPr lang="en-US" sz="3500" dirty="0" smtClean="0"/>
                  <a:t>Define an efficiency as</a:t>
                </a:r>
              </a:p>
              <a:p>
                <a:pPr marL="0" indent="0" hangingPunct="1">
                  <a:buNone/>
                  <a:defRPr sz="4500"/>
                </a:pP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𝑬</m:t>
                    </m:r>
                    <m:r>
                      <a:rPr lang="en-US" sz="3500" b="1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3500" b="1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3500" b="1" i="1" smtClean="0">
                            <a:latin typeface="Cambria Math" charset="0"/>
                          </a:rPr>
                          <m:t>𝟔𝟗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(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𝑻𝒐𝒕𝒂𝒍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𝒘𝒊𝒏𝒔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𝒇𝒐𝒓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𝒍𝒂𝒔𝒕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𝒑𝒍𝒂𝒚𝒆𝒓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)</m:t>
                        </m:r>
                      </m:num>
                      <m:den>
                        <m:r>
                          <a:rPr lang="en-US" sz="3500" b="1" i="1" smtClean="0">
                            <a:latin typeface="Cambria Math" charset="0"/>
                          </a:rPr>
                          <m:t>𝑻𝒐𝒕𝒂𝒍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𝒘𝒊𝒏𝒔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𝒇𝒐𝒓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𝒇𝒊𝒓𝒔𝒕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𝟔𝟗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𝒑𝒍𝒂𝒚𝒆𝒓𝒔</m:t>
                        </m:r>
                      </m:den>
                    </m:f>
                  </m:oMath>
                </a14:m>
                <a:r>
                  <a:rPr lang="en-US" sz="3500" dirty="0" smtClean="0"/>
                  <a:t> </a:t>
                </a:r>
                <a:endParaRPr lang="en-US" sz="3500" dirty="0"/>
              </a:p>
            </p:txBody>
          </p:sp>
        </mc:Choice>
        <mc:Fallback>
          <p:sp>
            <p:nvSpPr>
              <p:cNvPr id="13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98" y="2632315"/>
                <a:ext cx="6005803" cy="4045575"/>
              </a:xfrm>
              <a:prstGeom prst="rect">
                <a:avLst/>
              </a:prstGeom>
              <a:blipFill rotWithShape="0">
                <a:blip r:embed="rId3"/>
                <a:stretch>
                  <a:fillRect l="-6497" t="-12217" r="-27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hape 296"/>
              <p:cNvSpPr txBox="1">
                <a:spLocks/>
              </p:cNvSpPr>
              <p:nvPr/>
            </p:nvSpPr>
            <p:spPr>
              <a:xfrm>
                <a:off x="454003" y="5915842"/>
                <a:ext cx="6005803" cy="40455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457200" indent="-457200" hangingPunct="1">
                  <a:defRPr sz="4500"/>
                </a:pPr>
                <a:r>
                  <a:rPr lang="en-US" sz="3500" dirty="0" smtClean="0"/>
                  <a:t>Search for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r>
                  <a:rPr lang="en-US" sz="3500" dirty="0" smtClean="0"/>
                  <a:t> where last player cannot gain advantage</a:t>
                </a:r>
              </a:p>
            </p:txBody>
          </p:sp>
        </mc:Choice>
        <mc:Fallback>
          <p:sp>
            <p:nvSpPr>
              <p:cNvPr id="14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3" y="5915842"/>
                <a:ext cx="6005803" cy="4045575"/>
              </a:xfrm>
              <a:prstGeom prst="rect">
                <a:avLst/>
              </a:prstGeom>
              <a:blipFill rotWithShape="0">
                <a:blip r:embed="rId4"/>
                <a:stretch>
                  <a:fillRect l="-6491" t="-121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5509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Optimization results for 70 players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2493818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003" y="2632316"/>
            <a:ext cx="6005805" cy="70964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hape 296"/>
              <p:cNvSpPr txBox="1">
                <a:spLocks/>
              </p:cNvSpPr>
              <p:nvPr/>
            </p:nvSpPr>
            <p:spPr>
              <a:xfrm>
                <a:off x="500198" y="2632315"/>
                <a:ext cx="6005803" cy="40455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457200" indent="-457200" hangingPunct="1">
                  <a:defRPr sz="4500"/>
                </a:pPr>
                <a:r>
                  <a:rPr lang="en-US" sz="3500" dirty="0" smtClean="0"/>
                  <a:t>Suppose last player tries a different value,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  <m:r>
                      <a:rPr lang="en-US" sz="3500" b="1" i="1" smtClean="0">
                        <a:latin typeface="Cambria Math" charset="0"/>
                      </a:rPr>
                      <m:t>′</m:t>
                    </m:r>
                  </m:oMath>
                </a14:m>
                <a:endParaRPr lang="en-US" sz="3500" dirty="0" smtClean="0"/>
              </a:p>
              <a:p>
                <a:pPr marL="457200" indent="-457200" hangingPunct="1">
                  <a:defRPr sz="4500"/>
                </a:pPr>
                <a:r>
                  <a:rPr lang="en-US" sz="3500" dirty="0" smtClean="0"/>
                  <a:t>Define an efficiency as</a:t>
                </a:r>
              </a:p>
              <a:p>
                <a:pPr marL="0" indent="0" hangingPunct="1">
                  <a:buNone/>
                  <a:defRPr sz="4500"/>
                </a:pP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𝑬</m:t>
                    </m:r>
                    <m:r>
                      <a:rPr lang="en-US" sz="3500" b="1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3500" b="1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3500" b="1" i="1" smtClean="0">
                            <a:latin typeface="Cambria Math" charset="0"/>
                          </a:rPr>
                          <m:t>𝟔𝟗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(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𝑻𝒐𝒕𝒂𝒍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𝒘𝒊𝒏𝒔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𝒇𝒐𝒓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𝒍𝒂𝒔𝒕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𝒑𝒍𝒂𝒚𝒆𝒓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)</m:t>
                        </m:r>
                      </m:num>
                      <m:den>
                        <m:r>
                          <a:rPr lang="en-US" sz="3500" b="1" i="1" smtClean="0">
                            <a:latin typeface="Cambria Math" charset="0"/>
                          </a:rPr>
                          <m:t>𝑻𝒐𝒕𝒂𝒍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𝒘𝒊𝒏𝒔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𝒇𝒐𝒓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𝒇𝒊𝒓𝒔𝒕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𝟔𝟗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3500" b="1" i="1" smtClean="0">
                            <a:latin typeface="Cambria Math" charset="0"/>
                          </a:rPr>
                          <m:t>𝒑𝒍𝒂𝒚𝒆𝒓𝒔</m:t>
                        </m:r>
                      </m:den>
                    </m:f>
                  </m:oMath>
                </a14:m>
                <a:r>
                  <a:rPr lang="en-US" sz="3500" dirty="0" smtClean="0"/>
                  <a:t> </a:t>
                </a:r>
                <a:endParaRPr lang="en-US" sz="3500" dirty="0"/>
              </a:p>
            </p:txBody>
          </p:sp>
        </mc:Choice>
        <mc:Fallback>
          <p:sp>
            <p:nvSpPr>
              <p:cNvPr id="13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98" y="2632315"/>
                <a:ext cx="6005803" cy="4045575"/>
              </a:xfrm>
              <a:prstGeom prst="rect">
                <a:avLst/>
              </a:prstGeom>
              <a:blipFill rotWithShape="0">
                <a:blip r:embed="rId4"/>
                <a:stretch>
                  <a:fillRect l="-6497" t="-12217" r="-27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Shape 296"/>
              <p:cNvSpPr txBox="1">
                <a:spLocks/>
              </p:cNvSpPr>
              <p:nvPr/>
            </p:nvSpPr>
            <p:spPr>
              <a:xfrm>
                <a:off x="454003" y="5915842"/>
                <a:ext cx="6005803" cy="40455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50800" tIns="50800" rIns="50800" bIns="50800" anchor="t"/>
              <a:lstStyle>
                <a:lvl1pPr marL="838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  <a:lvl2pPr marL="1282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2pPr>
                <a:lvl3pPr marL="1727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3pPr>
                <a:lvl4pPr marL="21717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4pPr>
                <a:lvl5pPr marL="2616200" marR="0" indent="-571500" algn="l" defTabSz="914400" rtl="0" latinLnBrk="0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1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5pPr>
                <a:lvl6pPr marL="31242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6pPr>
                <a:lvl7pPr marL="35814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7pPr>
                <a:lvl8pPr marL="40386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8pPr>
                <a:lvl9pPr marL="4495800" marR="0" indent="-571500" algn="l" defTabSz="914400" rtl="0" latinLnBrk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Pct val="171000"/>
                  <a:buFont typeface="Gill Sans"/>
                  <a:buChar char="•"/>
                  <a:tabLst/>
                  <a:defRPr sz="42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9pPr>
              </a:lstStyle>
              <a:p>
                <a:pPr marL="457200" indent="-457200" hangingPunct="1">
                  <a:defRPr sz="4500"/>
                </a:pPr>
                <a:r>
                  <a:rPr lang="en-US" sz="3500" dirty="0" smtClean="0"/>
                  <a:t>Search for </a:t>
                </a:r>
                <a14:m>
                  <m:oMath xmlns:m="http://schemas.openxmlformats.org/officeDocument/2006/math">
                    <m:r>
                      <a:rPr lang="en-US" sz="3500" b="1" i="1" smtClean="0">
                        <a:latin typeface="Cambria Math" charset="0"/>
                      </a:rPr>
                      <m:t>𝒎</m:t>
                    </m:r>
                  </m:oMath>
                </a14:m>
                <a:r>
                  <a:rPr lang="en-US" sz="3500" dirty="0" smtClean="0"/>
                  <a:t> where last player cannot gain advantage</a:t>
                </a:r>
              </a:p>
            </p:txBody>
          </p:sp>
        </mc:Choice>
        <mc:Fallback>
          <p:sp>
            <p:nvSpPr>
              <p:cNvPr id="7" name="Shape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3" y="5915842"/>
                <a:ext cx="6005803" cy="4045575"/>
              </a:xfrm>
              <a:prstGeom prst="rect">
                <a:avLst/>
              </a:prstGeom>
              <a:blipFill rotWithShape="0">
                <a:blip r:embed="rId5"/>
                <a:stretch>
                  <a:fillRect l="-6491" t="-121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2338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xfrm>
            <a:off x="767912" y="254000"/>
            <a:ext cx="11476183" cy="23783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800" b="1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8400" b="0">
                <a:solidFill>
                  <a:srgbClr val="000000"/>
                </a:solidFill>
                <a:effectLst/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5800" b="1" dirty="0" smtClean="0">
                <a:solidFill>
                  <a:srgbClr val="133C73"/>
                </a:solidFill>
                <a:effectLst>
                  <a:outerShdw blurRad="12700" dist="38100" dir="2700000" rotWithShape="0">
                    <a:srgbClr val="DDDDDD"/>
                  </a:outerShdw>
                </a:effectLst>
                <a:latin typeface="+mj-lt"/>
                <a:ea typeface="+mj-ea"/>
                <a:cs typeface="+mj-cs"/>
                <a:sym typeface="Helvetica"/>
              </a:rPr>
              <a:t>A more refined search</a:t>
            </a:r>
            <a:endParaRPr sz="5800" b="1" dirty="0">
              <a:solidFill>
                <a:srgbClr val="133C73"/>
              </a:solidFill>
              <a:effectLst>
                <a:outerShdw blurRad="12700" dist="38100" dir="2700000" rotWithShape="0">
                  <a:srgbClr val="DDDDDD"/>
                </a:outerShdw>
              </a:effectLst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3608" y="3552021"/>
            <a:ext cx="9239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0" y="3469093"/>
            <a:ext cx="4871390" cy="4843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36" y="3497060"/>
            <a:ext cx="4926217" cy="4812971"/>
          </a:xfrm>
          <a:prstGeom prst="rect">
            <a:avLst/>
          </a:prstGeom>
        </p:spPr>
      </p:pic>
      <p:sp>
        <p:nvSpPr>
          <p:cNvPr id="10" name="Shape 133"/>
          <p:cNvSpPr/>
          <p:nvPr/>
        </p:nvSpPr>
        <p:spPr>
          <a:xfrm>
            <a:off x="1197926" y="5376661"/>
            <a:ext cx="4717302" cy="440820"/>
          </a:xfrm>
          <a:prstGeom prst="roundRect">
            <a:avLst>
              <a:gd name="adj" fmla="val 40114"/>
            </a:avLst>
          </a:prstGeom>
          <a:ln w="508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135"/>
          <p:cNvSpPr/>
          <p:nvPr/>
        </p:nvSpPr>
        <p:spPr>
          <a:xfrm>
            <a:off x="6909913" y="6013418"/>
            <a:ext cx="4717302" cy="515482"/>
          </a:xfrm>
          <a:prstGeom prst="roundRect">
            <a:avLst>
              <a:gd name="adj" fmla="val 34304"/>
            </a:avLst>
          </a:prstGeom>
          <a:ln w="508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129"/>
          <p:cNvSpPr/>
          <p:nvPr/>
        </p:nvSpPr>
        <p:spPr>
          <a:xfrm>
            <a:off x="1160246" y="8316142"/>
            <a:ext cx="479458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500" dirty="0"/>
              <a:t>Four million trials for each test</a:t>
            </a:r>
          </a:p>
        </p:txBody>
      </p:sp>
      <p:sp>
        <p:nvSpPr>
          <p:cNvPr id="15" name="Shape 132"/>
          <p:cNvSpPr/>
          <p:nvPr/>
        </p:nvSpPr>
        <p:spPr>
          <a:xfrm>
            <a:off x="6909913" y="8367438"/>
            <a:ext cx="4717302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500" dirty="0"/>
              <a:t>One hundred million trials for each test</a:t>
            </a:r>
          </a:p>
        </p:txBody>
      </p:sp>
      <p:sp>
        <p:nvSpPr>
          <p:cNvPr id="17" name="Shape 129"/>
          <p:cNvSpPr/>
          <p:nvPr/>
        </p:nvSpPr>
        <p:spPr>
          <a:xfrm>
            <a:off x="1509262" y="2038767"/>
            <a:ext cx="10025446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ctr"/>
            <a:r>
              <a:rPr lang="en-US" sz="3000" dirty="0" smtClean="0"/>
              <a:t>Once we’re in the right ballpark, we can progressively refine the search by using more trials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15389844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Optimality of this solution</a:t>
            </a:r>
          </a:p>
        </p:txBody>
      </p:sp>
      <p:sp>
        <p:nvSpPr>
          <p:cNvPr id="138" name="Shape 138"/>
          <p:cNvSpPr>
            <a:spLocks noGrp="1"/>
          </p:cNvSpPr>
          <p:nvPr>
            <p:ph type="body" sz="half" idx="1"/>
          </p:nvPr>
        </p:nvSpPr>
        <p:spPr>
          <a:xfrm>
            <a:off x="952499" y="2603500"/>
            <a:ext cx="11099801" cy="4079627"/>
          </a:xfrm>
          <a:prstGeom prst="rect">
            <a:avLst/>
          </a:prstGeom>
        </p:spPr>
        <p:txBody>
          <a:bodyPr/>
          <a:lstStyle/>
          <a:p>
            <a:pPr marL="399679" indent="-399679" defTabSz="484886">
              <a:spcBef>
                <a:spcPts val="2100"/>
              </a:spcBef>
              <a:defRPr sz="3237"/>
            </a:pPr>
            <a:r>
              <a:t>If players were limited to choosing these strategies, then a value of </a:t>
            </a:r>
            <a:r>
              <a:rPr b="0" i="1"/>
              <a:t>m</a:t>
            </a:r>
            <a:r>
              <a:rPr b="0"/>
              <a:t> = 28</a:t>
            </a:r>
            <a:r>
              <a:t> would be a Nash equilibrium: no player can gain advantage by altering his/her value of </a:t>
            </a:r>
            <a:r>
              <a:rPr b="0" i="1"/>
              <a:t>m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rPr dirty="0"/>
              <a:t>Choosing values up to 28 seems fairly reasonable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rPr dirty="0"/>
              <a:t>It also beats the strategy of always playing zero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rPr dirty="0"/>
              <a:t>However some strategies can still win against it</a:t>
            </a:r>
          </a:p>
        </p:txBody>
      </p:sp>
    </p:spTree>
    <p:extLst>
      <p:ext uri="{BB962C8B-B14F-4D97-AF65-F5344CB8AC3E}">
        <p14:creationId xmlns:p14="http://schemas.microsoft.com/office/powerpoint/2010/main" val="14237500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2516">
              <a:defRPr sz="5488">
                <a:effectLst>
                  <a:outerShdw blurRad="87122" dist="37338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dirty="0"/>
              <a:t>Some </a:t>
            </a:r>
            <a:r>
              <a:rPr dirty="0" smtClean="0"/>
              <a:t>things </a:t>
            </a:r>
            <a:r>
              <a:rPr dirty="0"/>
              <a:t>to consider in designing a unique number strategy</a:t>
            </a:r>
          </a:p>
        </p:txBody>
      </p:sp>
      <p:sp>
        <p:nvSpPr>
          <p:cNvPr id="405" name="Shape 405"/>
          <p:cNvSpPr>
            <a:spLocks noGrp="1"/>
          </p:cNvSpPr>
          <p:nvPr>
            <p:ph type="body" idx="1"/>
          </p:nvPr>
        </p:nvSpPr>
        <p:spPr>
          <a:xfrm>
            <a:off x="952500" y="2962870"/>
            <a:ext cx="11099800" cy="5927130"/>
          </a:xfrm>
          <a:prstGeom prst="rect">
            <a:avLst/>
          </a:prstGeom>
        </p:spPr>
        <p:txBody>
          <a:bodyPr/>
          <a:lstStyle/>
          <a:p>
            <a:r>
              <a:rPr dirty="0"/>
              <a:t>If you have a probability distribution in mind, </a:t>
            </a:r>
            <a:r>
              <a:rPr dirty="0" smtClean="0"/>
              <a:t>the</a:t>
            </a:r>
            <a:r>
              <a:rPr lang="en-US" dirty="0" smtClean="0"/>
              <a:t>re are</a:t>
            </a:r>
            <a:r>
              <a:rPr dirty="0" smtClean="0"/>
              <a:t> routine</a:t>
            </a:r>
            <a:r>
              <a:rPr lang="en-US" dirty="0" smtClean="0"/>
              <a:t>s (bisection) that</a:t>
            </a:r>
            <a:r>
              <a:rPr dirty="0" smtClean="0"/>
              <a:t> </a:t>
            </a:r>
            <a:r>
              <a:rPr dirty="0"/>
              <a:t>can be used to rapidly create random samples from this distribution</a:t>
            </a:r>
          </a:p>
          <a:p>
            <a:r>
              <a:rPr dirty="0"/>
              <a:t>Other things to consider:</a:t>
            </a:r>
          </a:p>
          <a:p>
            <a:pPr lvl="1"/>
            <a:r>
              <a:rPr dirty="0"/>
              <a:t>Adaptivity: you know what other players did in previous rounds</a:t>
            </a:r>
          </a:p>
          <a:p>
            <a:pPr lvl="1"/>
            <a:r>
              <a:rPr dirty="0"/>
              <a:t>Introspection: you know how well your previous strategies worked out</a:t>
            </a:r>
          </a:p>
        </p:txBody>
      </p:sp>
    </p:spTree>
    <p:extLst>
      <p:ext uri="{BB962C8B-B14F-4D97-AF65-F5344CB8AC3E}">
        <p14:creationId xmlns:p14="http://schemas.microsoft.com/office/powerpoint/2010/main" val="2805518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333399"/>
      </a:accent2>
      <a:accent3>
        <a:srgbClr val="6E6E6E"/>
      </a:accent3>
      <a:accent4>
        <a:srgbClr val="707070"/>
      </a:accent4>
      <a:accent5>
        <a:srgbClr val="4D4D4D"/>
      </a:accent5>
      <a:accent6>
        <a:srgbClr val="2E2E8B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25400" cap="flat">
          <a:solidFill>
            <a:schemeClr val="accent1">
              <a:lumOff val="44000"/>
            </a:schemeClr>
          </a:solidFill>
          <a:prstDash val="solid"/>
          <a:bevel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333399"/>
      </a:accent2>
      <a:accent3>
        <a:srgbClr val="6E6E6E"/>
      </a:accent3>
      <a:accent4>
        <a:srgbClr val="707070"/>
      </a:accent4>
      <a:accent5>
        <a:srgbClr val="4D4D4D"/>
      </a:accent5>
      <a:accent6>
        <a:srgbClr val="2E2E8B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25400" cap="flat">
          <a:solidFill>
            <a:schemeClr val="accent1">
              <a:lumOff val="44000"/>
            </a:schemeClr>
          </a:solidFill>
          <a:prstDash val="solid"/>
          <a:bevel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3318</TotalTime>
  <Words>1622</Words>
  <Application>Microsoft Macintosh PowerPoint</Application>
  <PresentationFormat>Custom</PresentationFormat>
  <Paragraphs>251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Cambria Math</vt:lpstr>
      <vt:lpstr>courier</vt:lpstr>
      <vt:lpstr>Gill Sans</vt:lpstr>
      <vt:lpstr>Helvetica</vt:lpstr>
      <vt:lpstr>Helvetica Light</vt:lpstr>
      <vt:lpstr>Helvetica Neue</vt:lpstr>
      <vt:lpstr>ヒラギノ角ゴ ProN W6</vt:lpstr>
      <vt:lpstr>Arial</vt:lpstr>
      <vt:lpstr>Default</vt:lpstr>
      <vt:lpstr>Class 16: Game Theory</vt:lpstr>
      <vt:lpstr>The Prisoner’s Dilemma</vt:lpstr>
      <vt:lpstr>PowerPoint Presentation</vt:lpstr>
      <vt:lpstr>The Prisoner’s Dilemma</vt:lpstr>
      <vt:lpstr>The Prisoner’s Dilemma</vt:lpstr>
      <vt:lpstr>The Prisoner’s Dilemma</vt:lpstr>
      <vt:lpstr>Snowdrift Game</vt:lpstr>
      <vt:lpstr>Snowdrift Game</vt:lpstr>
      <vt:lpstr>Snowdrift Game</vt:lpstr>
      <vt:lpstr>Repeated Prisoner’s Dilemma (Axelrod, Hamilton, 1981)</vt:lpstr>
      <vt:lpstr>Repeated Prisoner’s Dilemma  vs Repeated Snow Drift Game</vt:lpstr>
      <vt:lpstr>Invent a game?</vt:lpstr>
      <vt:lpstr>Applications to Biology</vt:lpstr>
      <vt:lpstr>Lab: part 1</vt:lpstr>
      <vt:lpstr>The unique number game</vt:lpstr>
      <vt:lpstr>Two example games with five players</vt:lpstr>
      <vt:lpstr>Results of our game</vt:lpstr>
      <vt:lpstr>Let’s play again</vt:lpstr>
      <vt:lpstr>The AM 50 Competition!</vt:lpstr>
      <vt:lpstr>From upcoming lab:  uniform random up to some number </vt:lpstr>
      <vt:lpstr>From upcoming lab:  uniform random up to some number </vt:lpstr>
      <vt:lpstr>A simple weighted random strategy </vt:lpstr>
      <vt:lpstr>Probabilities</vt:lpstr>
      <vt:lpstr>Calculating the probabilities</vt:lpstr>
      <vt:lpstr>Calculating the probabilities</vt:lpstr>
      <vt:lpstr>Random sampling: Matlab</vt:lpstr>
      <vt:lpstr>Random sampling</vt:lpstr>
      <vt:lpstr>Random sampling</vt:lpstr>
      <vt:lpstr>Finding an optimal value of m</vt:lpstr>
      <vt:lpstr>Finding an optimal value of m</vt:lpstr>
      <vt:lpstr>Optimization results for 70 players</vt:lpstr>
      <vt:lpstr>Optimization results for 70 players</vt:lpstr>
      <vt:lpstr>A more refined search</vt:lpstr>
      <vt:lpstr>Optimality of this solution</vt:lpstr>
      <vt:lpstr>Some things to consider in designing a unique number strategy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Game Theory</dc:title>
  <cp:lastModifiedBy>Microsoft Office User</cp:lastModifiedBy>
  <cp:revision>77</cp:revision>
  <cp:lastPrinted>2017-04-06T00:26:22Z</cp:lastPrinted>
  <dcterms:modified xsi:type="dcterms:W3CDTF">2017-04-06T17:02:01Z</dcterms:modified>
</cp:coreProperties>
</file>