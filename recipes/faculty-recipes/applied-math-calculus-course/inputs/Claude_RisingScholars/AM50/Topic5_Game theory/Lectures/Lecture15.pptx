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91" r:id="rId3"/>
    <p:sldId id="292" r:id="rId4"/>
    <p:sldId id="293" r:id="rId5"/>
    <p:sldId id="294" r:id="rId6"/>
    <p:sldId id="295" r:id="rId7"/>
    <p:sldId id="300" r:id="rId8"/>
    <p:sldId id="296" r:id="rId9"/>
    <p:sldId id="340" r:id="rId10"/>
    <p:sldId id="297" r:id="rId11"/>
    <p:sldId id="310" r:id="rId12"/>
    <p:sldId id="311" r:id="rId13"/>
    <p:sldId id="309" r:id="rId14"/>
    <p:sldId id="331" r:id="rId15"/>
    <p:sldId id="324" r:id="rId16"/>
    <p:sldId id="335" r:id="rId17"/>
    <p:sldId id="299" r:id="rId18"/>
    <p:sldId id="301" r:id="rId19"/>
    <p:sldId id="302" r:id="rId20"/>
    <p:sldId id="303" r:id="rId21"/>
    <p:sldId id="304" r:id="rId22"/>
    <p:sldId id="305" r:id="rId23"/>
    <p:sldId id="336" r:id="rId24"/>
    <p:sldId id="327" r:id="rId25"/>
    <p:sldId id="328" r:id="rId26"/>
    <p:sldId id="329" r:id="rId27"/>
    <p:sldId id="330" r:id="rId28"/>
    <p:sldId id="339" r:id="rId29"/>
    <p:sldId id="313" r:id="rId30"/>
    <p:sldId id="314" r:id="rId31"/>
    <p:sldId id="315" r:id="rId32"/>
    <p:sldId id="316" r:id="rId33"/>
    <p:sldId id="317" r:id="rId34"/>
    <p:sldId id="332" r:id="rId35"/>
    <p:sldId id="333" r:id="rId36"/>
    <p:sldId id="334" r:id="rId37"/>
    <p:sldId id="318" r:id="rId38"/>
    <p:sldId id="319" r:id="rId39"/>
    <p:sldId id="320" r:id="rId4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1pPr>
    <a:lvl2pPr marL="0" marR="0" indent="45720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2pPr>
    <a:lvl3pPr marL="0" marR="0" indent="91440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3pPr>
    <a:lvl4pPr marL="0" marR="0" indent="137160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4pPr>
    <a:lvl5pPr marL="0" marR="0" indent="182880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lvl9pPr>
  </p:defaultTextStyle>
  <p:extLst>
    <p:ext uri="{521415D9-36F7-43E2-AB2F-B90AF26B5E84}">
      <p14:sectionLst xmlns:p14="http://schemas.microsoft.com/office/powerpoint/2010/main">
        <p14:section name="Default Section" id="{D534E68C-AECD-B14E-87A9-BA6AAF803C76}">
          <p14:sldIdLst>
            <p14:sldId id="256"/>
            <p14:sldId id="291"/>
            <p14:sldId id="292"/>
            <p14:sldId id="293"/>
            <p14:sldId id="294"/>
            <p14:sldId id="295"/>
            <p14:sldId id="300"/>
            <p14:sldId id="296"/>
            <p14:sldId id="340"/>
            <p14:sldId id="297"/>
            <p14:sldId id="310"/>
            <p14:sldId id="311"/>
            <p14:sldId id="309"/>
            <p14:sldId id="331"/>
            <p14:sldId id="324"/>
            <p14:sldId id="335"/>
            <p14:sldId id="299"/>
            <p14:sldId id="301"/>
            <p14:sldId id="302"/>
            <p14:sldId id="303"/>
            <p14:sldId id="304"/>
            <p14:sldId id="305"/>
            <p14:sldId id="336"/>
            <p14:sldId id="327"/>
            <p14:sldId id="328"/>
            <p14:sldId id="329"/>
            <p14:sldId id="330"/>
            <p14:sldId id="339"/>
            <p14:sldId id="313"/>
            <p14:sldId id="314"/>
            <p14:sldId id="315"/>
            <p14:sldId id="316"/>
            <p14:sldId id="317"/>
            <p14:sldId id="332"/>
            <p14:sldId id="333"/>
            <p14:sldId id="334"/>
            <p14:sldId id="318"/>
            <p14:sldId id="319"/>
            <p14:sldId id="320"/>
          </p14:sldIdLst>
        </p14:section>
        <p14:section name="2016" id="{ECB88DE2-E8F1-0145-B43A-39499BFDCAE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Gill Sans"/>
          <a:ea typeface="Gill Sans"/>
          <a:cs typeface="Gill Sans"/>
        </a:font>
        <a:srgbClr val="000000"/>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wholeTbl>
    <a:band2H>
      <a:tcTxStyle/>
      <a:tcStyle>
        <a:tcBdr/>
        <a:fill>
          <a:solidFill>
            <a:schemeClr val="accent1">
              <a:lumOff val="44000"/>
            </a:schemeClr>
          </a:solidFill>
        </a:fill>
      </a:tcStyle>
    </a:band2H>
    <a:firstCol>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firstCol>
    <a:la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381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lastRow>
    <a:fir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381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firstRow>
  </a:tblStyle>
  <a:tblStyle styleId="{C7B018BB-80A7-4F77-B60F-C8B233D01FF8}" styleName="">
    <a:tblBg/>
    <a:wholeTbl>
      <a:tcTxStyle b="on" i="on">
        <a:font>
          <a:latin typeface="Gill Sans"/>
          <a:ea typeface="Gill Sans"/>
          <a:cs typeface="Gill Sans"/>
        </a:font>
        <a:srgbClr val="000000"/>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wholeTbl>
    <a:band2H>
      <a:tcTxStyle/>
      <a:tcStyle>
        <a:tcBdr/>
        <a:fill>
          <a:solidFill>
            <a:schemeClr val="accent1">
              <a:lumOff val="44000"/>
            </a:schemeClr>
          </a:solidFill>
        </a:fill>
      </a:tcStyle>
    </a:band2H>
    <a:firstCol>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firstCol>
    <a:la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381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lastRow>
    <a:fir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381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1">
              <a:lumOff val="44000"/>
            </a:schemeClr>
          </a:solidFill>
        </a:fill>
      </a:tcStyle>
    </a:firstRow>
  </a:tblStyle>
  <a:tblStyle styleId="{EEE7283C-3CF3-47DC-8721-378D4A62B228}" styleName="">
    <a:tblBg/>
    <a:wholeTbl>
      <a:tcTxStyle b="on" i="on">
        <a:font>
          <a:latin typeface="Gill Sans"/>
          <a:ea typeface="Gill Sans"/>
          <a:cs typeface="Gill Sans"/>
        </a:font>
        <a:srgbClr val="000000"/>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rgbClr val="CCCCDA"/>
          </a:solidFill>
        </a:fill>
      </a:tcStyle>
    </a:wholeTbl>
    <a:band2H>
      <a:tcTxStyle/>
      <a:tcStyle>
        <a:tcBdr/>
        <a:fill>
          <a:solidFill>
            <a:srgbClr val="E7E7ED"/>
          </a:solidFill>
        </a:fill>
      </a:tcStyle>
    </a:band2H>
    <a:firstCol>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6"/>
          </a:solidFill>
        </a:fill>
      </a:tcStyle>
    </a:firstCol>
    <a:la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381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6"/>
          </a:solidFill>
        </a:fill>
      </a:tcStyle>
    </a:lastRow>
    <a:fir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381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chemeClr val="accent6"/>
          </a:solidFill>
        </a:fill>
      </a:tcStyle>
    </a:firstRow>
  </a:tblStyle>
  <a:tblStyle styleId="{CF821DB8-F4EB-4A41-A1BA-3FCAFE7338EE}" styleName="">
    <a:tblBg/>
    <a:wholeTbl>
      <a:tcTxStyle b="on" i="on">
        <a:font>
          <a:latin typeface="Gill Sans"/>
          <a:ea typeface="Gill Sans"/>
          <a:cs typeface="Gill San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1">
              <a:lumOff val="44000"/>
            </a:schemeClr>
          </a:solidFill>
        </a:fill>
      </a:tcStyle>
    </a:band2H>
    <a:firstCol>
      <a:tcTxStyle b="on" i="on">
        <a:font>
          <a:latin typeface="Gill Sans"/>
          <a:ea typeface="Gill Sans"/>
          <a:cs typeface="Gill Sans"/>
        </a:font>
        <a:schemeClr val="accent1">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44000"/>
            </a:schemeClr>
          </a:solidFill>
        </a:fill>
      </a:tcStyle>
    </a:firstCol>
    <a:lastRow>
      <a:tcTxStyle b="on" i="on">
        <a:font>
          <a:latin typeface="Gill Sans"/>
          <a:ea typeface="Gill Sans"/>
          <a:cs typeface="Gill Sans"/>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chemeClr val="accent1">
              <a:lumOff val="44000"/>
            </a:schemeClr>
          </a:solidFill>
        </a:fill>
      </a:tcStyle>
    </a:lastRow>
    <a:firstRow>
      <a:tcTxStyle b="on" i="on">
        <a:font>
          <a:latin typeface="Gill Sans"/>
          <a:ea typeface="Gill Sans"/>
          <a:cs typeface="Gill Sans"/>
        </a:font>
        <a:schemeClr val="accent1">
          <a:lumOff val="44000"/>
        </a:schemeClr>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chemeClr val="accent1">
              <a:lumOff val="44000"/>
            </a:schemeClr>
          </a:solidFill>
        </a:fill>
      </a:tcStyle>
    </a:firstRow>
  </a:tblStyle>
  <a:tblStyle styleId="{33BA23B1-9221-436E-865A-0063620EA4FD}" styleName="">
    <a:tblBg/>
    <a:wholeTbl>
      <a:tcTxStyle b="on" i="on">
        <a:font>
          <a:latin typeface="Gill Sans"/>
          <a:ea typeface="Gill Sans"/>
          <a:cs typeface="Gill Sans"/>
        </a:font>
        <a:srgbClr val="000000"/>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rgbClr val="000000"/>
          </a:solidFill>
        </a:fill>
      </a:tcStyle>
    </a:firstCol>
    <a:la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38100" cap="flat">
              <a:solidFill>
                <a:schemeClr val="accent1">
                  <a:lumOff val="44000"/>
                </a:schemeClr>
              </a:solidFill>
              <a:prstDash val="solid"/>
              <a:bevel/>
            </a:ln>
          </a:top>
          <a:bottom>
            <a:ln w="127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rgbClr val="000000"/>
          </a:solidFill>
        </a:fill>
      </a:tcStyle>
    </a:lastRow>
    <a:firstRow>
      <a:tcTxStyle b="on" i="on">
        <a:font>
          <a:latin typeface="Gill Sans"/>
          <a:ea typeface="Gill Sans"/>
          <a:cs typeface="Gill Sans"/>
        </a:font>
        <a:schemeClr val="accent1">
          <a:lumOff val="44000"/>
        </a:schemeClr>
      </a:tcTxStyle>
      <a:tcStyle>
        <a:tcBdr>
          <a:left>
            <a:ln w="12700" cap="flat">
              <a:solidFill>
                <a:schemeClr val="accent1">
                  <a:lumOff val="44000"/>
                </a:schemeClr>
              </a:solidFill>
              <a:prstDash val="solid"/>
              <a:bevel/>
            </a:ln>
          </a:left>
          <a:right>
            <a:ln w="12700" cap="flat">
              <a:solidFill>
                <a:schemeClr val="accent1">
                  <a:lumOff val="44000"/>
                </a:schemeClr>
              </a:solidFill>
              <a:prstDash val="solid"/>
              <a:bevel/>
            </a:ln>
          </a:right>
          <a:top>
            <a:ln w="12700" cap="flat">
              <a:solidFill>
                <a:schemeClr val="accent1">
                  <a:lumOff val="44000"/>
                </a:schemeClr>
              </a:solidFill>
              <a:prstDash val="solid"/>
              <a:bevel/>
            </a:ln>
          </a:top>
          <a:bottom>
            <a:ln w="38100" cap="flat">
              <a:solidFill>
                <a:schemeClr val="accent1">
                  <a:lumOff val="44000"/>
                </a:schemeClr>
              </a:solidFill>
              <a:prstDash val="solid"/>
              <a:bevel/>
            </a:ln>
          </a:bottom>
          <a:insideH>
            <a:ln w="12700" cap="flat">
              <a:solidFill>
                <a:schemeClr val="accent1">
                  <a:lumOff val="44000"/>
                </a:schemeClr>
              </a:solidFill>
              <a:prstDash val="solid"/>
              <a:bevel/>
            </a:ln>
          </a:insideH>
          <a:insideV>
            <a:ln w="12700" cap="flat">
              <a:solidFill>
                <a:schemeClr val="accent1">
                  <a:lumOff val="44000"/>
                </a:schemeClr>
              </a:solidFill>
              <a:prstDash val="solid"/>
              <a:bevel/>
            </a:ln>
          </a:insideV>
        </a:tcBdr>
        <a:fill>
          <a:solidFill>
            <a:srgbClr val="000000"/>
          </a:solidFill>
        </a:fill>
      </a:tcStyle>
    </a:firstRow>
  </a:tblStyle>
  <a:tblStyle styleId="{2708684C-4D16-4618-839F-0558EEFCDFE6}" styleName="">
    <a:tblBg/>
    <a:wholeTbl>
      <a:tcTxStyle b="on" i="on">
        <a:font>
          <a:latin typeface="Gill Sans"/>
          <a:ea typeface="Gill Sans"/>
          <a:cs typeface="Gill Sans"/>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chemeClr val="accent1">
              <a:lumOff val="44000"/>
            </a:schemeClr>
          </a:solidFill>
        </a:fill>
      </a:tcStyle>
    </a:band2H>
    <a:firstCol>
      <a:tcTxStyle b="on" i="on">
        <a:font>
          <a:latin typeface="Gill Sans"/>
          <a:ea typeface="Gill Sans"/>
          <a:cs typeface="Gill Sans"/>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Gill Sans"/>
          <a:ea typeface="Gill Sans"/>
          <a:cs typeface="Gill Sans"/>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Gill Sans"/>
          <a:ea typeface="Gill Sans"/>
          <a:cs typeface="Gill Sans"/>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8"/>
    <p:restoredTop sz="85044"/>
  </p:normalViewPr>
  <p:slideViewPr>
    <p:cSldViewPr snapToGrid="0" snapToObjects="1">
      <p:cViewPr>
        <p:scale>
          <a:sx n="46" d="100"/>
          <a:sy n="46" d="100"/>
        </p:scale>
        <p:origin x="152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5" name="Shape 145"/>
          <p:cNvSpPr>
            <a:spLocks noGrp="1" noRot="1" noChangeAspect="1"/>
          </p:cNvSpPr>
          <p:nvPr>
            <p:ph type="sldImg"/>
          </p:nvPr>
        </p:nvSpPr>
        <p:spPr>
          <a:xfrm>
            <a:off x="1143000" y="685800"/>
            <a:ext cx="4572000" cy="3429000"/>
          </a:xfrm>
          <a:prstGeom prst="rect">
            <a:avLst/>
          </a:prstGeom>
        </p:spPr>
        <p:txBody>
          <a:bodyPr/>
          <a:lstStyle/>
          <a:p>
            <a:endParaRPr/>
          </a:p>
        </p:txBody>
      </p:sp>
      <p:sp>
        <p:nvSpPr>
          <p:cNvPr id="146" name="Shape 146"/>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22503892"/>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en.wikipedia.org/wiki/Probability"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Arrived</a:t>
            </a:r>
            <a:r>
              <a:rPr lang="en-US" baseline="0" dirty="0" smtClean="0"/>
              <a:t> at Princeton for graduate school at age 20.  One sentence LOR from prof at Carnegie “This man is a genius”</a:t>
            </a:r>
          </a:p>
          <a:p>
            <a:endParaRPr lang="en-US" baseline="0" dirty="0" smtClean="0"/>
          </a:p>
          <a:p>
            <a:r>
              <a:rPr lang="en-US" baseline="0" dirty="0" smtClean="0"/>
              <a:t>Results for which he is honored for Nobel were obtained in his first 14 months of graduate school.</a:t>
            </a:r>
            <a:endParaRPr lang="en-US" dirty="0"/>
          </a:p>
        </p:txBody>
      </p:sp>
    </p:spTree>
    <p:extLst>
      <p:ext uri="{BB962C8B-B14F-4D97-AF65-F5344CB8AC3E}">
        <p14:creationId xmlns:p14="http://schemas.microsoft.com/office/powerpoint/2010/main" val="1019907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Change this to one</a:t>
            </a:r>
            <a:r>
              <a:rPr lang="en-US" baseline="0" dirty="0" smtClean="0"/>
              <a:t> where P1 and P2 have dominant strategies</a:t>
            </a:r>
            <a:endParaRPr lang="en-US" dirty="0"/>
          </a:p>
        </p:txBody>
      </p:sp>
    </p:spTree>
    <p:extLst>
      <p:ext uri="{BB962C8B-B14F-4D97-AF65-F5344CB8AC3E}">
        <p14:creationId xmlns:p14="http://schemas.microsoft.com/office/powerpoint/2010/main" val="116988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2142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200123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1883788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r>
              <a:rPr lang="en-US" dirty="0" smtClean="0"/>
              <a:t>I should always play</a:t>
            </a:r>
            <a:r>
              <a:rPr lang="en-US" baseline="0" dirty="0" smtClean="0"/>
              <a:t> strategy 1</a:t>
            </a:r>
            <a:endParaRPr lang="en-US" dirty="0"/>
          </a:p>
        </p:txBody>
      </p:sp>
    </p:spTree>
    <p:extLst>
      <p:ext uri="{BB962C8B-B14F-4D97-AF65-F5344CB8AC3E}">
        <p14:creationId xmlns:p14="http://schemas.microsoft.com/office/powerpoint/2010/main" val="1868226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1207632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r>
              <a:rPr lang="en-US" dirty="0" smtClean="0"/>
              <a:t> (</a:t>
            </a:r>
            <a:r>
              <a:rPr lang="en-US" dirty="0" err="1" smtClean="0"/>
              <a:t>aij</a:t>
            </a:r>
            <a:r>
              <a:rPr lang="en-US" dirty="0" smtClean="0"/>
              <a:t>,</a:t>
            </a:r>
            <a:r>
              <a:rPr lang="en-US" baseline="0" dirty="0" smtClean="0"/>
              <a:t> </a:t>
            </a:r>
            <a:r>
              <a:rPr lang="en-US" baseline="0" dirty="0" err="1" smtClean="0"/>
              <a:t>bij</a:t>
            </a:r>
            <a:r>
              <a:rPr lang="en-US" baseline="0" dirty="0" smtClean="0"/>
              <a:t>) is an equilibrium if </a:t>
            </a:r>
            <a:r>
              <a:rPr lang="en-US" baseline="0" dirty="0" err="1" smtClean="0"/>
              <a:t>aij</a:t>
            </a:r>
            <a:r>
              <a:rPr lang="en-US" baseline="0" dirty="0" smtClean="0"/>
              <a:t> is the largest element </a:t>
            </a:r>
            <a:r>
              <a:rPr lang="en-US" baseline="0" dirty="0" err="1" smtClean="0"/>
              <a:t>akj</a:t>
            </a:r>
            <a:r>
              <a:rPr lang="en-US" baseline="0" dirty="0" smtClean="0"/>
              <a:t> in column j and </a:t>
            </a:r>
            <a:r>
              <a:rPr lang="en-US" baseline="0" dirty="0" err="1" smtClean="0"/>
              <a:t>bij</a:t>
            </a:r>
            <a:r>
              <a:rPr lang="en-US" baseline="0" dirty="0" smtClean="0"/>
              <a:t> is the largest element </a:t>
            </a:r>
            <a:r>
              <a:rPr lang="en-US" baseline="0" dirty="0" err="1" smtClean="0"/>
              <a:t>bil</a:t>
            </a:r>
            <a:r>
              <a:rPr lang="en-US" baseline="0" dirty="0" smtClean="0"/>
              <a:t> in row I</a:t>
            </a:r>
          </a:p>
          <a:p>
            <a:pPr marL="0" marR="0" indent="0" defTabSz="457200" eaLnBrk="1" fontAlgn="auto" latinLnBrk="0" hangingPunct="1">
              <a:lnSpc>
                <a:spcPct val="117999"/>
              </a:lnSpc>
              <a:spcBef>
                <a:spcPts val="0"/>
              </a:spcBef>
              <a:spcAft>
                <a:spcPts val="0"/>
              </a:spcAft>
              <a:buClrTx/>
              <a:buSzTx/>
              <a:buFontTx/>
              <a:buNone/>
              <a:tabLst/>
              <a:defRPr/>
            </a:pPr>
            <a:endParaRPr lang="en-US" baseline="0" dirty="0" smtClean="0"/>
          </a:p>
          <a:p>
            <a:endParaRPr lang="en-US" baseline="0" dirty="0" smtClean="0"/>
          </a:p>
          <a:p>
            <a:r>
              <a:rPr lang="en-US" baseline="0" dirty="0" smtClean="0"/>
              <a:t>Strategy </a:t>
            </a:r>
            <a:r>
              <a:rPr lang="en-US" baseline="0" dirty="0" err="1" smtClean="0"/>
              <a:t>ij</a:t>
            </a:r>
            <a:r>
              <a:rPr lang="en-US" baseline="0" dirty="0" smtClean="0"/>
              <a:t> is an equilibrium if (</a:t>
            </a:r>
            <a:r>
              <a:rPr lang="en-US" baseline="0" dirty="0" err="1" smtClean="0"/>
              <a:t>aij</a:t>
            </a:r>
            <a:r>
              <a:rPr lang="en-US" baseline="0" dirty="0" smtClean="0"/>
              <a:t>, </a:t>
            </a:r>
            <a:r>
              <a:rPr lang="en-US" baseline="0" dirty="0" err="1" smtClean="0"/>
              <a:t>bij</a:t>
            </a:r>
            <a:r>
              <a:rPr lang="en-US" baseline="0" dirty="0" smtClean="0"/>
              <a:t>) has the following property: </a:t>
            </a:r>
            <a:r>
              <a:rPr lang="en-US" baseline="0" dirty="0" err="1" smtClean="0"/>
              <a:t>aij</a:t>
            </a:r>
            <a:r>
              <a:rPr lang="en-US" baseline="0" dirty="0" smtClean="0"/>
              <a:t> is the largest element </a:t>
            </a:r>
            <a:r>
              <a:rPr lang="en-US" baseline="0" dirty="0" err="1" smtClean="0"/>
              <a:t>akj</a:t>
            </a:r>
            <a:r>
              <a:rPr lang="en-US" baseline="0" dirty="0" smtClean="0"/>
              <a:t> in column j, and </a:t>
            </a:r>
            <a:r>
              <a:rPr lang="en-US" baseline="0" dirty="0" err="1" smtClean="0"/>
              <a:t>bij</a:t>
            </a:r>
            <a:r>
              <a:rPr lang="en-US" baseline="0" dirty="0" smtClean="0"/>
              <a:t> is the largest element in row </a:t>
            </a:r>
            <a:r>
              <a:rPr lang="en-US" baseline="0" dirty="0" err="1" smtClean="0"/>
              <a:t>i</a:t>
            </a:r>
            <a:r>
              <a:rPr lang="en-US" baseline="0" dirty="0" smtClean="0"/>
              <a:t>.  If this exists then pure strategy is optimal solution to game.  If it doesn’t exist then players must play mixed strategies.</a:t>
            </a:r>
            <a:endParaRPr lang="en-US" dirty="0" smtClean="0"/>
          </a:p>
          <a:p>
            <a:pPr marL="0" marR="0" indent="0" defTabSz="457200" eaLnBrk="1" fontAlgn="auto" latinLnBrk="0" hangingPunct="1">
              <a:lnSpc>
                <a:spcPct val="117999"/>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270999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r>
              <a:rPr lang="en-US" dirty="0" smtClean="0"/>
              <a:t> (</a:t>
            </a:r>
            <a:r>
              <a:rPr lang="en-US" dirty="0" err="1" smtClean="0"/>
              <a:t>aij</a:t>
            </a:r>
            <a:r>
              <a:rPr lang="en-US" dirty="0" smtClean="0"/>
              <a:t>,</a:t>
            </a:r>
            <a:r>
              <a:rPr lang="en-US" baseline="0" dirty="0" smtClean="0"/>
              <a:t> </a:t>
            </a:r>
            <a:r>
              <a:rPr lang="en-US" baseline="0" dirty="0" err="1" smtClean="0"/>
              <a:t>bij</a:t>
            </a:r>
            <a:r>
              <a:rPr lang="en-US" baseline="0" dirty="0" smtClean="0"/>
              <a:t>) is an equilibrium if </a:t>
            </a:r>
            <a:r>
              <a:rPr lang="en-US" baseline="0" dirty="0" err="1" smtClean="0"/>
              <a:t>aij</a:t>
            </a:r>
            <a:r>
              <a:rPr lang="en-US" baseline="0" dirty="0" smtClean="0"/>
              <a:t> is the largest element </a:t>
            </a:r>
            <a:r>
              <a:rPr lang="en-US" baseline="0" dirty="0" err="1" smtClean="0"/>
              <a:t>akj</a:t>
            </a:r>
            <a:r>
              <a:rPr lang="en-US" baseline="0" dirty="0" smtClean="0"/>
              <a:t> in column j and </a:t>
            </a:r>
            <a:r>
              <a:rPr lang="en-US" baseline="0" dirty="0" err="1" smtClean="0"/>
              <a:t>bij</a:t>
            </a:r>
            <a:r>
              <a:rPr lang="en-US" baseline="0" dirty="0" smtClean="0"/>
              <a:t> is the largest element </a:t>
            </a:r>
            <a:r>
              <a:rPr lang="en-US" baseline="0" dirty="0" err="1" smtClean="0"/>
              <a:t>bil</a:t>
            </a:r>
            <a:r>
              <a:rPr lang="en-US" baseline="0" dirty="0" smtClean="0"/>
              <a:t> in row I</a:t>
            </a:r>
          </a:p>
          <a:p>
            <a:pPr marL="0" marR="0" indent="0" defTabSz="457200" eaLnBrk="1" fontAlgn="auto" latinLnBrk="0" hangingPunct="1">
              <a:lnSpc>
                <a:spcPct val="117999"/>
              </a:lnSpc>
              <a:spcBef>
                <a:spcPts val="0"/>
              </a:spcBef>
              <a:spcAft>
                <a:spcPts val="0"/>
              </a:spcAft>
              <a:buClrTx/>
              <a:buSzTx/>
              <a:buFontTx/>
              <a:buNone/>
              <a:tabLst/>
              <a:defRPr/>
            </a:pPr>
            <a:endParaRPr lang="en-US" baseline="0" dirty="0" smtClean="0"/>
          </a:p>
          <a:p>
            <a:endParaRPr lang="en-US" baseline="0" dirty="0" smtClean="0"/>
          </a:p>
          <a:p>
            <a:r>
              <a:rPr lang="en-US" baseline="0" dirty="0" smtClean="0"/>
              <a:t>Strategy </a:t>
            </a:r>
            <a:r>
              <a:rPr lang="en-US" baseline="0" dirty="0" err="1" smtClean="0"/>
              <a:t>ij</a:t>
            </a:r>
            <a:r>
              <a:rPr lang="en-US" baseline="0" dirty="0" smtClean="0"/>
              <a:t> is an equilibrium if (</a:t>
            </a:r>
            <a:r>
              <a:rPr lang="en-US" baseline="0" dirty="0" err="1" smtClean="0"/>
              <a:t>aij</a:t>
            </a:r>
            <a:r>
              <a:rPr lang="en-US" baseline="0" dirty="0" smtClean="0"/>
              <a:t>, </a:t>
            </a:r>
            <a:r>
              <a:rPr lang="en-US" baseline="0" dirty="0" err="1" smtClean="0"/>
              <a:t>bij</a:t>
            </a:r>
            <a:r>
              <a:rPr lang="en-US" baseline="0" dirty="0" smtClean="0"/>
              <a:t>) has the following property: </a:t>
            </a:r>
            <a:r>
              <a:rPr lang="en-US" baseline="0" dirty="0" err="1" smtClean="0"/>
              <a:t>aij</a:t>
            </a:r>
            <a:r>
              <a:rPr lang="en-US" baseline="0" dirty="0" smtClean="0"/>
              <a:t> is the largest element </a:t>
            </a:r>
            <a:r>
              <a:rPr lang="en-US" baseline="0" dirty="0" err="1" smtClean="0"/>
              <a:t>akj</a:t>
            </a:r>
            <a:r>
              <a:rPr lang="en-US" baseline="0" dirty="0" smtClean="0"/>
              <a:t> in column j, and </a:t>
            </a:r>
            <a:r>
              <a:rPr lang="en-US" baseline="0" dirty="0" err="1" smtClean="0"/>
              <a:t>bij</a:t>
            </a:r>
            <a:r>
              <a:rPr lang="en-US" baseline="0" dirty="0" smtClean="0"/>
              <a:t> is the largest element in row </a:t>
            </a:r>
            <a:r>
              <a:rPr lang="en-US" baseline="0" dirty="0" err="1" smtClean="0"/>
              <a:t>i</a:t>
            </a:r>
            <a:r>
              <a:rPr lang="en-US" baseline="0" dirty="0" smtClean="0"/>
              <a:t>.  If this exists then pure strategy is optimal solution to game.  If it doesn’t exist then players must play mixed strategies.</a:t>
            </a:r>
            <a:endParaRPr lang="en-US" dirty="0" smtClean="0"/>
          </a:p>
          <a:p>
            <a:pPr marL="0" marR="0" indent="0" defTabSz="457200" eaLnBrk="1" fontAlgn="auto" latinLnBrk="0" hangingPunct="1">
              <a:lnSpc>
                <a:spcPct val="117999"/>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813676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1214926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62834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smtClean="0">
                <a:latin typeface="+mn-lt"/>
                <a:ea typeface="+mn-ea"/>
                <a:cs typeface="+mn-cs"/>
                <a:sym typeface="Helvetica Neue"/>
              </a:rPr>
              <a:t>A pure strategy is one where, each time the players play the game, they choose the same strategy. A mixed strategy is one where the players introduce a random element in their choice of a strategy, thus leaving the opponent guessing.</a:t>
            </a:r>
          </a:p>
          <a:p>
            <a:endParaRPr lang="en-US" sz="2200" dirty="0" smtClean="0">
              <a:latin typeface="+mn-lt"/>
              <a:ea typeface="+mn-ea"/>
              <a:cs typeface="+mn-cs"/>
              <a:sym typeface="Helvetica Neue"/>
            </a:endParaRPr>
          </a:p>
          <a:p>
            <a:endParaRPr lang="en-US" sz="2200" dirty="0" smtClean="0">
              <a:latin typeface="+mn-lt"/>
              <a:ea typeface="+mn-ea"/>
              <a:cs typeface="+mn-cs"/>
              <a:sym typeface="Helvetica Neue"/>
            </a:endParaRPr>
          </a:p>
          <a:p>
            <a:r>
              <a:rPr lang="en-US" sz="2200" dirty="0" smtClean="0">
                <a:latin typeface="+mn-lt"/>
                <a:ea typeface="+mn-ea"/>
                <a:cs typeface="+mn-cs"/>
                <a:sym typeface="Helvetica Neue"/>
              </a:rPr>
              <a:t>A </a:t>
            </a:r>
            <a:r>
              <a:rPr lang="en-US" sz="2200" b="1" dirty="0" smtClean="0">
                <a:latin typeface="+mn-lt"/>
                <a:ea typeface="+mn-ea"/>
                <a:cs typeface="+mn-cs"/>
                <a:sym typeface="Helvetica Neue"/>
              </a:rPr>
              <a:t>pure strategy</a:t>
            </a:r>
            <a:r>
              <a:rPr lang="en-US" sz="2200" b="0" dirty="0" smtClean="0">
                <a:latin typeface="+mn-lt"/>
                <a:ea typeface="+mn-ea"/>
                <a:cs typeface="+mn-cs"/>
                <a:sym typeface="Helvetica Neue"/>
              </a:rPr>
              <a:t> provides a complete definition of how a player will play a game. In particular, it determines the move a player will make for any situation he or she could face. A player's </a:t>
            </a:r>
            <a:r>
              <a:rPr lang="en-US" sz="2200" b="1" dirty="0" smtClean="0">
                <a:latin typeface="+mn-lt"/>
                <a:ea typeface="+mn-ea"/>
                <a:cs typeface="+mn-cs"/>
                <a:sym typeface="Helvetica Neue"/>
              </a:rPr>
              <a:t>strategy set</a:t>
            </a:r>
            <a:r>
              <a:rPr lang="en-US" sz="2200" b="0" dirty="0" smtClean="0">
                <a:latin typeface="+mn-lt"/>
                <a:ea typeface="+mn-ea"/>
                <a:cs typeface="+mn-cs"/>
                <a:sym typeface="Helvetica Neue"/>
              </a:rPr>
              <a:t> is the set of pure strategies available to that player.</a:t>
            </a:r>
          </a:p>
          <a:p>
            <a:r>
              <a:rPr lang="en-US" sz="2200" b="0" dirty="0" smtClean="0">
                <a:latin typeface="+mn-lt"/>
                <a:ea typeface="+mn-ea"/>
                <a:cs typeface="+mn-cs"/>
                <a:sym typeface="Helvetica Neue"/>
              </a:rPr>
              <a:t>A </a:t>
            </a:r>
            <a:r>
              <a:rPr lang="en-US" sz="2200" b="1" dirty="0" smtClean="0">
                <a:latin typeface="+mn-lt"/>
                <a:ea typeface="+mn-ea"/>
                <a:cs typeface="+mn-cs"/>
                <a:sym typeface="Helvetica Neue"/>
              </a:rPr>
              <a:t>mixed strategy</a:t>
            </a:r>
            <a:r>
              <a:rPr lang="en-US" sz="2200" b="0" dirty="0" smtClean="0">
                <a:latin typeface="+mn-lt"/>
                <a:ea typeface="+mn-ea"/>
                <a:cs typeface="+mn-cs"/>
                <a:sym typeface="Helvetica Neue"/>
              </a:rPr>
              <a:t> is an assignment of a </a:t>
            </a:r>
            <a:r>
              <a:rPr lang="en-US" sz="2200" b="0" dirty="0" smtClean="0">
                <a:latin typeface="+mn-lt"/>
                <a:ea typeface="+mn-ea"/>
                <a:cs typeface="+mn-cs"/>
                <a:sym typeface="Helvetica Neue"/>
                <a:hlinkClick r:id="rId3"/>
              </a:rPr>
              <a:t>probability to each pure strategy. This allows for a player to randomly select a pure strategy. Since probabilities are continuous, there are infinitely many mixed strategies available to a player.</a:t>
            </a:r>
          </a:p>
          <a:p>
            <a:r>
              <a:rPr lang="en-US" sz="2200" b="0" dirty="0" smtClean="0">
                <a:latin typeface="+mn-lt"/>
                <a:ea typeface="+mn-ea"/>
                <a:cs typeface="+mn-cs"/>
                <a:sym typeface="Helvetica Neue"/>
              </a:rPr>
              <a:t>Of course, one can regard a pure strategy as a degenerate case of a mixed strategy, in which that particular pure strategy is selected with probability </a:t>
            </a:r>
            <a:r>
              <a:rPr lang="en-US" sz="2200" b="0" i="1" dirty="0" smtClean="0">
                <a:latin typeface="+mn-lt"/>
                <a:ea typeface="+mn-ea"/>
                <a:cs typeface="+mn-cs"/>
                <a:sym typeface="Helvetica Neue"/>
              </a:rPr>
              <a:t>1</a:t>
            </a:r>
            <a:r>
              <a:rPr lang="en-US" sz="2200" b="0" i="0" dirty="0" smtClean="0">
                <a:latin typeface="+mn-lt"/>
                <a:ea typeface="+mn-ea"/>
                <a:cs typeface="+mn-cs"/>
                <a:sym typeface="Helvetica Neue"/>
              </a:rPr>
              <a:t> and every other strategy with probability </a:t>
            </a:r>
            <a:r>
              <a:rPr lang="en-US" sz="2200" b="0" i="1" dirty="0" smtClean="0">
                <a:latin typeface="+mn-lt"/>
                <a:ea typeface="+mn-ea"/>
                <a:cs typeface="+mn-cs"/>
                <a:sym typeface="Helvetica Neue"/>
              </a:rPr>
              <a:t>0</a:t>
            </a:r>
            <a:r>
              <a:rPr lang="en-US" sz="2200" b="0" i="0" dirty="0" smtClean="0">
                <a:latin typeface="+mn-lt"/>
                <a:ea typeface="+mn-ea"/>
                <a:cs typeface="+mn-cs"/>
                <a:sym typeface="Helvetica Neue"/>
              </a:rPr>
              <a:t>.</a:t>
            </a:r>
            <a:endParaRPr lang="en-US" dirty="0"/>
          </a:p>
        </p:txBody>
      </p:sp>
    </p:spTree>
    <p:extLst>
      <p:ext uri="{BB962C8B-B14F-4D97-AF65-F5344CB8AC3E}">
        <p14:creationId xmlns:p14="http://schemas.microsoft.com/office/powerpoint/2010/main" val="1164509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main result is the definition of a Nash Equilibrium</a:t>
            </a:r>
            <a:r>
              <a:rPr lang="en-US" baseline="0" dirty="0" smtClean="0"/>
              <a:t> and proof of its existence</a:t>
            </a:r>
            <a:endParaRPr lang="en-US" dirty="0"/>
          </a:p>
        </p:txBody>
      </p:sp>
    </p:spTree>
    <p:extLst>
      <p:ext uri="{BB962C8B-B14F-4D97-AF65-F5344CB8AC3E}">
        <p14:creationId xmlns:p14="http://schemas.microsoft.com/office/powerpoint/2010/main" val="1885978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r>
              <a:rPr lang="en-US" sz="2200" dirty="0" smtClean="0">
                <a:latin typeface="+mn-lt"/>
                <a:ea typeface="+mn-ea"/>
                <a:cs typeface="+mn-cs"/>
                <a:sym typeface="Helvetica Neue"/>
              </a:rPr>
              <a:t>2-person games where the players' interests are completely opposed are called </a:t>
            </a:r>
            <a:r>
              <a:rPr lang="en-US" sz="2200" i="1" dirty="0" smtClean="0">
                <a:latin typeface="+mn-lt"/>
                <a:ea typeface="+mn-ea"/>
                <a:cs typeface="+mn-cs"/>
                <a:sym typeface="Helvetica Neue"/>
              </a:rPr>
              <a:t>zero-sum</a:t>
            </a:r>
            <a:r>
              <a:rPr lang="en-US" sz="2200" i="0" dirty="0" smtClean="0">
                <a:latin typeface="+mn-lt"/>
                <a:ea typeface="+mn-ea"/>
                <a:cs typeface="+mn-cs"/>
                <a:sym typeface="Helvetica Neue"/>
              </a:rPr>
              <a:t> or </a:t>
            </a:r>
            <a:r>
              <a:rPr lang="en-US" sz="2200" i="1" dirty="0" smtClean="0">
                <a:latin typeface="+mn-lt"/>
                <a:ea typeface="+mn-ea"/>
                <a:cs typeface="+mn-cs"/>
                <a:sym typeface="Helvetica Neue"/>
              </a:rPr>
              <a:t>constant-sum</a:t>
            </a:r>
            <a:r>
              <a:rPr lang="en-US" sz="2200" i="0" dirty="0" smtClean="0">
                <a:latin typeface="+mn-lt"/>
                <a:ea typeface="+mn-ea"/>
                <a:cs typeface="+mn-cs"/>
                <a:sym typeface="Helvetica Neue"/>
              </a:rPr>
              <a:t> games: one player's gain is the other player's loss.</a:t>
            </a:r>
            <a:endParaRPr lang="en-US" dirty="0" smtClean="0"/>
          </a:p>
          <a:p>
            <a:endParaRPr lang="en-US" dirty="0"/>
          </a:p>
        </p:txBody>
      </p:sp>
    </p:spTree>
    <p:extLst>
      <p:ext uri="{BB962C8B-B14F-4D97-AF65-F5344CB8AC3E}">
        <p14:creationId xmlns:p14="http://schemas.microsoft.com/office/powerpoint/2010/main" val="1023771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6343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658522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341207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666612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837628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title"/>
          </p:nvPr>
        </p:nvSpPr>
        <p:spPr>
          <a:xfrm>
            <a:off x="1270000" y="240862"/>
            <a:ext cx="10464800" cy="2464676"/>
          </a:xfrm>
          <a:prstGeom prst="rect">
            <a:avLst/>
          </a:prstGeom>
        </p:spPr>
        <p:txBody>
          <a:bodyPr/>
          <a:lstStyle>
            <a:lvl1pPr>
              <a:defRPr>
                <a:solidFill>
                  <a:srgbClr val="000000"/>
                </a:solidFill>
              </a:defRPr>
            </a:lvl1pPr>
          </a:lstStyle>
          <a:p>
            <a:r>
              <a:t>Title Text</a:t>
            </a:r>
          </a:p>
        </p:txBody>
      </p:sp>
      <p:sp>
        <p:nvSpPr>
          <p:cNvPr id="12" name="Shape 12"/>
          <p:cNvSpPr>
            <a:spLocks noGrp="1"/>
          </p:cNvSpPr>
          <p:nvPr>
            <p:ph type="body" idx="1"/>
          </p:nvPr>
        </p:nvSpPr>
        <p:spPr>
          <a:xfrm>
            <a:off x="1270000" y="2705537"/>
            <a:ext cx="10464800" cy="5841126"/>
          </a:xfrm>
          <a:prstGeom prst="rect">
            <a:avLst/>
          </a:prstGeom>
        </p:spPr>
        <p:txBody>
          <a:bodyPr lIns="50800" tIns="50800" rIns="50800" bIns="50800" anchor="ctr"/>
          <a:lstStyle>
            <a:lvl1pPr marL="838200">
              <a:lnSpc>
                <a:spcPct val="90000"/>
              </a:lnSpc>
              <a:defRPr b="1">
                <a:latin typeface="+mj-lt"/>
                <a:ea typeface="+mj-ea"/>
                <a:cs typeface="+mj-cs"/>
                <a:sym typeface="Helvetica"/>
              </a:defRPr>
            </a:lvl1pPr>
            <a:lvl2pPr marL="1282700">
              <a:lnSpc>
                <a:spcPct val="90000"/>
              </a:lnSpc>
              <a:defRPr b="1">
                <a:latin typeface="+mj-lt"/>
                <a:ea typeface="+mj-ea"/>
                <a:cs typeface="+mj-cs"/>
                <a:sym typeface="Helvetica"/>
              </a:defRPr>
            </a:lvl2pPr>
            <a:lvl3pPr marL="1727200">
              <a:lnSpc>
                <a:spcPct val="90000"/>
              </a:lnSpc>
              <a:defRPr b="1">
                <a:latin typeface="+mj-lt"/>
                <a:ea typeface="+mj-ea"/>
                <a:cs typeface="+mj-cs"/>
                <a:sym typeface="Helvetica"/>
              </a:defRPr>
            </a:lvl3pPr>
            <a:lvl4pPr marL="2171700">
              <a:lnSpc>
                <a:spcPct val="90000"/>
              </a:lnSpc>
              <a:defRPr b="1">
                <a:latin typeface="+mj-lt"/>
                <a:ea typeface="+mj-ea"/>
                <a:cs typeface="+mj-cs"/>
                <a:sym typeface="Helvetica"/>
              </a:defRPr>
            </a:lvl4pPr>
            <a:lvl5pPr marL="2616200">
              <a:lnSpc>
                <a:spcPct val="90000"/>
              </a:lnSpc>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xfrm>
            <a:off x="9320106" y="8779791"/>
            <a:ext cx="3034454" cy="520701"/>
          </a:xfrm>
          <a:prstGeom prst="rect">
            <a:avLst/>
          </a:prstGeom>
        </p:spPr>
        <p:txBody>
          <a:bodyPr wrap="square" anchor="ctr"/>
          <a:lstStyle>
            <a:lvl1pPr algn="r">
              <a:defRPr sz="1200"/>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28" name="Shape 128"/>
          <p:cNvSpPr>
            <a:spLocks noGrp="1"/>
          </p:cNvSpPr>
          <p:nvPr>
            <p:ph type="title"/>
          </p:nvPr>
        </p:nvSpPr>
        <p:spPr>
          <a:xfrm>
            <a:off x="437232" y="444500"/>
            <a:ext cx="12130336" cy="2159000"/>
          </a:xfrm>
          <a:prstGeom prst="rect">
            <a:avLst/>
          </a:prstGeom>
        </p:spPr>
        <p:txBody>
          <a:bodyPr>
            <a:normAutofit/>
          </a:bodyPr>
          <a:lstStyle>
            <a:lvl1pPr defTabSz="584200">
              <a:defRPr sz="6400" b="1">
                <a:solidFill>
                  <a:srgbClr val="164F86"/>
                </a:solidFill>
                <a:effectLst>
                  <a:outerShdw blurRad="88900" dist="38100" dir="2700000" rotWithShape="0">
                    <a:srgbClr val="000000">
                      <a:alpha val="30000"/>
                    </a:srgbClr>
                  </a:outerShdw>
                </a:effectLst>
                <a:latin typeface="+mj-lt"/>
                <a:ea typeface="+mj-ea"/>
                <a:cs typeface="+mj-cs"/>
                <a:sym typeface="Helvetica"/>
              </a:defRPr>
            </a:lvl1pPr>
          </a:lstStyle>
          <a:p>
            <a:r>
              <a:t>Title Text</a:t>
            </a:r>
          </a:p>
        </p:txBody>
      </p:sp>
      <p:sp>
        <p:nvSpPr>
          <p:cNvPr id="129" name="Shape 129"/>
          <p:cNvSpPr>
            <a:spLocks noGrp="1"/>
          </p:cNvSpPr>
          <p:nvPr>
            <p:ph type="body" idx="1"/>
          </p:nvPr>
        </p:nvSpPr>
        <p:spPr>
          <a:xfrm>
            <a:off x="952500" y="2603500"/>
            <a:ext cx="11099800" cy="6286500"/>
          </a:xfrm>
          <a:prstGeom prst="rect">
            <a:avLst/>
          </a:prstGeom>
        </p:spPr>
        <p:txBody>
          <a:bodyPr lIns="50800" tIns="50800" rIns="50800" bIns="50800" anchor="ctr">
            <a:normAutofit/>
          </a:bodyPr>
          <a:lstStyle>
            <a:lvl1pPr marL="444500" indent="-444500" defTabSz="584200">
              <a:lnSpc>
                <a:spcPct val="90000"/>
              </a:lnSpc>
              <a:spcBef>
                <a:spcPts val="2600"/>
              </a:spcBef>
              <a:buSzPct val="75000"/>
              <a:buFontTx/>
              <a:defRPr sz="3600" b="1">
                <a:latin typeface="+mj-lt"/>
                <a:ea typeface="+mj-ea"/>
                <a:cs typeface="+mj-cs"/>
                <a:sym typeface="Helvetica"/>
              </a:defRPr>
            </a:lvl1pPr>
            <a:lvl2pPr marL="889000" indent="-444500" defTabSz="584200">
              <a:lnSpc>
                <a:spcPct val="90000"/>
              </a:lnSpc>
              <a:spcBef>
                <a:spcPts val="2600"/>
              </a:spcBef>
              <a:buSzPct val="75000"/>
              <a:buFontTx/>
              <a:defRPr sz="3600" b="1">
                <a:latin typeface="+mj-lt"/>
                <a:ea typeface="+mj-ea"/>
                <a:cs typeface="+mj-cs"/>
                <a:sym typeface="Helvetica"/>
              </a:defRPr>
            </a:lvl2pPr>
            <a:lvl3pPr marL="1333500" indent="-444500" defTabSz="584200">
              <a:lnSpc>
                <a:spcPct val="90000"/>
              </a:lnSpc>
              <a:spcBef>
                <a:spcPts val="2600"/>
              </a:spcBef>
              <a:buSzPct val="75000"/>
              <a:buFontTx/>
              <a:defRPr sz="3600" b="1">
                <a:latin typeface="+mj-lt"/>
                <a:ea typeface="+mj-ea"/>
                <a:cs typeface="+mj-cs"/>
                <a:sym typeface="Helvetica"/>
              </a:defRPr>
            </a:lvl3pPr>
            <a:lvl4pPr marL="1778000" indent="-444500" defTabSz="584200">
              <a:lnSpc>
                <a:spcPct val="90000"/>
              </a:lnSpc>
              <a:spcBef>
                <a:spcPts val="2600"/>
              </a:spcBef>
              <a:buSzPct val="75000"/>
              <a:buFontTx/>
              <a:defRPr sz="3600" b="1">
                <a:latin typeface="+mj-lt"/>
                <a:ea typeface="+mj-ea"/>
                <a:cs typeface="+mj-cs"/>
                <a:sym typeface="Helvetica"/>
              </a:defRPr>
            </a:lvl4pPr>
            <a:lvl5pPr marL="2222500" indent="-444500" defTabSz="584200">
              <a:lnSpc>
                <a:spcPct val="90000"/>
              </a:lnSpc>
              <a:spcBef>
                <a:spcPts val="2600"/>
              </a:spcBef>
              <a:buSzPct val="75000"/>
              <a:buFontTx/>
              <a:defRPr sz="3600"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30" name="Shape 130"/>
          <p:cNvSpPr>
            <a:spLocks noGrp="1"/>
          </p:cNvSpPr>
          <p:nvPr>
            <p:ph type="sldNum" sz="quarter" idx="2"/>
          </p:nvPr>
        </p:nvSpPr>
        <p:spPr>
          <a:xfrm>
            <a:off x="6311798" y="9251950"/>
            <a:ext cx="368504" cy="381000"/>
          </a:xfrm>
          <a:prstGeom prst="rect">
            <a:avLst/>
          </a:prstGeom>
        </p:spPr>
        <p:txBody>
          <a:bodyPr lIns="50800" tIns="50800" rIns="50800" bIns="50800">
            <a:normAutofit/>
          </a:bodyPr>
          <a:lstStyle>
            <a:lvl1pPr defTabSz="584200">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Off val="44000"/>
          </a:schemeClr>
        </a:solidFill>
        <a:effectLst/>
      </p:bgPr>
    </p:bg>
    <p:spTree>
      <p:nvGrpSpPr>
        <p:cNvPr id="1" name=""/>
        <p:cNvGrpSpPr/>
        <p:nvPr/>
      </p:nvGrpSpPr>
      <p:grpSpPr>
        <a:xfrm>
          <a:off x="0" y="0"/>
          <a:ext cx="0" cy="0"/>
          <a:chOff x="0" y="0"/>
          <a:chExt cx="0" cy="0"/>
        </a:xfrm>
      </p:grpSpPr>
      <p:sp>
        <p:nvSpPr>
          <p:cNvPr id="2" name="Shape 2"/>
          <p:cNvSpPr>
            <a:spLocks noGrp="1"/>
          </p:cNvSpPr>
          <p:nvPr>
            <p:ph type="sldNum" sz="quarter" idx="2"/>
          </p:nvPr>
        </p:nvSpPr>
        <p:spPr>
          <a:xfrm>
            <a:off x="6329680" y="9258300"/>
            <a:ext cx="332741" cy="358140"/>
          </a:xfrm>
          <a:prstGeom prst="rect">
            <a:avLst/>
          </a:prstGeom>
          <a:ln w="12700">
            <a:miter lim="400000"/>
          </a:ln>
        </p:spPr>
        <p:txBody>
          <a:bodyPr wrap="none" lIns="45719" rIns="45719">
            <a:spAutoFit/>
          </a:bodyPr>
          <a:lstStyle>
            <a:lvl1pPr algn="ctr">
              <a:defRPr sz="1800"/>
            </a:lvl1pPr>
          </a:lstStyle>
          <a:p>
            <a:fld id="{86CB4B4D-7CA3-9044-876B-883B54F8677D}" type="slidenum">
              <a:t>‹#›</a:t>
            </a:fld>
            <a:endParaRPr/>
          </a:p>
        </p:txBody>
      </p:sp>
      <p:sp>
        <p:nvSpPr>
          <p:cNvPr id="3" name="Shape 3"/>
          <p:cNvSpPr>
            <a:spLocks noGrp="1"/>
          </p:cNvSpPr>
          <p:nvPr>
            <p:ph type="title"/>
          </p:nvPr>
        </p:nvSpPr>
        <p:spPr>
          <a:xfrm>
            <a:off x="1270000" y="254000"/>
            <a:ext cx="10464800" cy="2438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r>
              <a:t>Title Text</a:t>
            </a:r>
          </a:p>
        </p:txBody>
      </p:sp>
      <p:sp>
        <p:nvSpPr>
          <p:cNvPr id="4" name="Shape 4"/>
          <p:cNvSpPr>
            <a:spLocks noGrp="1"/>
          </p:cNvSpPr>
          <p:nvPr>
            <p:ph type="body" idx="1"/>
          </p:nvPr>
        </p:nvSpPr>
        <p:spPr>
          <a:xfrm>
            <a:off x="650240" y="2275839"/>
            <a:ext cx="11704320" cy="6436926"/>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Lst>
  <p:transition spd="med"/>
  <p:txStyles>
    <p:titleStyle>
      <a:lvl1pPr marL="0" marR="0" indent="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1pPr>
      <a:lvl2pPr marL="0" marR="0" indent="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2pPr>
      <a:lvl3pPr marL="0" marR="0" indent="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3pPr>
      <a:lvl4pPr marL="0" marR="0" indent="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4pPr>
      <a:lvl5pPr marL="0" marR="0" indent="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5pPr>
      <a:lvl6pPr marL="0" marR="0" indent="45720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6pPr>
      <a:lvl7pPr marL="0" marR="0" indent="91440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7pPr>
      <a:lvl8pPr marL="0" marR="0" indent="137160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8pPr>
      <a:lvl9pPr marL="0" marR="0" indent="1828800" algn="ctr" defTabSz="914400" rtl="0" latinLnBrk="0">
        <a:lnSpc>
          <a:spcPct val="100000"/>
        </a:lnSpc>
        <a:spcBef>
          <a:spcPts val="0"/>
        </a:spcBef>
        <a:spcAft>
          <a:spcPts val="0"/>
        </a:spcAft>
        <a:buClrTx/>
        <a:buSzTx/>
        <a:buFontTx/>
        <a:buNone/>
        <a:tabLst/>
        <a:defRPr sz="8400" b="0" i="0" u="none" strike="noStrike" cap="none" spc="0" baseline="0">
          <a:ln>
            <a:noFill/>
          </a:ln>
          <a:solidFill>
            <a:srgbClr val="0000FF"/>
          </a:solidFill>
          <a:uFillTx/>
          <a:latin typeface="Gill Sans"/>
          <a:ea typeface="Gill Sans"/>
          <a:cs typeface="Gill Sans"/>
          <a:sym typeface="Gill Sans"/>
        </a:defRPr>
      </a:lvl9pPr>
    </p:titleStyle>
    <p:bodyStyle>
      <a:lvl1pPr marL="8890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1pPr>
      <a:lvl2pPr marL="13335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2pPr>
      <a:lvl3pPr marL="17780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3pPr>
      <a:lvl4pPr marL="22225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4pPr>
      <a:lvl5pPr marL="26670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5pPr>
      <a:lvl6pPr marL="31242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6pPr>
      <a:lvl7pPr marL="35814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7pPr>
      <a:lvl8pPr marL="40386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8pPr>
      <a:lvl9pPr marL="4495800" marR="0" indent="-571500" algn="l" defTabSz="914400" rtl="0" latinLnBrk="0">
        <a:lnSpc>
          <a:spcPct val="100000"/>
        </a:lnSpc>
        <a:spcBef>
          <a:spcPts val="2400"/>
        </a:spcBef>
        <a:spcAft>
          <a:spcPts val="0"/>
        </a:spcAft>
        <a:buClrTx/>
        <a:buSzPct val="171000"/>
        <a:buFont typeface="Gill Sans"/>
        <a:buChar char="•"/>
        <a:tabLst/>
        <a:defRPr sz="42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45720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91440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137160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182880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0" algn="ctr"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jpeg"/><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jpeg"/><Relationship Id="rId3" Type="http://schemas.openxmlformats.org/officeDocument/2006/relationships/image" Target="../media/image4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jpe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1" Type="http://schemas.openxmlformats.org/officeDocument/2006/relationships/slideLayout" Target="../slideLayouts/slideLayout1.xml"/><Relationship Id="rId2"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xfrm>
            <a:off x="1269999" y="254000"/>
            <a:ext cx="10464802" cy="2438400"/>
          </a:xfrm>
          <a:prstGeom prst="rect">
            <a:avLst/>
          </a:prstGeom>
        </p:spPr>
        <p:txBody>
          <a:bodyPr>
            <a:normAutofit/>
          </a:bodyPr>
          <a:lstStyle>
            <a:lvl1pP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Lecture </a:t>
            </a:r>
            <a:r>
              <a:rPr sz="5800" smtClean="0">
                <a:solidFill>
                  <a:srgbClr val="133C73"/>
                </a:solidFill>
                <a:effectLst>
                  <a:outerShdw blurRad="12700" dist="38100" dir="2700000" rotWithShape="0">
                    <a:srgbClr val="DDDDDD"/>
                  </a:outerShdw>
                </a:effectLst>
              </a:rPr>
              <a:t>1</a:t>
            </a:r>
            <a:r>
              <a:rPr lang="en-US" sz="5800" smtClean="0">
                <a:solidFill>
                  <a:srgbClr val="133C73"/>
                </a:solidFill>
                <a:effectLst>
                  <a:outerShdw blurRad="12700" dist="38100" dir="2700000" rotWithShape="0">
                    <a:srgbClr val="DDDDDD"/>
                  </a:outerShdw>
                </a:effectLst>
              </a:rPr>
              <a:t>5</a:t>
            </a:r>
            <a:r>
              <a:rPr sz="5800" smtClean="0">
                <a:solidFill>
                  <a:srgbClr val="133C73"/>
                </a:solidFill>
                <a:effectLst>
                  <a:outerShdw blurRad="12700" dist="38100" dir="2700000" rotWithShape="0">
                    <a:srgbClr val="DDDDDD"/>
                  </a:outerShdw>
                </a:effectLst>
              </a:rPr>
              <a:t>: </a:t>
            </a:r>
            <a:r>
              <a:rPr sz="5800">
                <a:solidFill>
                  <a:srgbClr val="133C73"/>
                </a:solidFill>
                <a:effectLst>
                  <a:outerShdw blurRad="12700" dist="38100" dir="2700000" rotWithShape="0">
                    <a:srgbClr val="DDDDDD"/>
                  </a:outerShdw>
                </a:effectLst>
              </a:rPr>
              <a:t>Game Theory</a:t>
            </a:r>
          </a:p>
        </p:txBody>
      </p:sp>
      <p:sp>
        <p:nvSpPr>
          <p:cNvPr id="149" name="Shape 149"/>
          <p:cNvSpPr>
            <a:spLocks noGrp="1"/>
          </p:cNvSpPr>
          <p:nvPr>
            <p:ph type="body" idx="1"/>
          </p:nvPr>
        </p:nvSpPr>
        <p:spPr>
          <a:xfrm>
            <a:off x="1269999" y="2768600"/>
            <a:ext cx="10464802" cy="5715000"/>
          </a:xfrm>
          <a:prstGeom prst="rect">
            <a:avLst/>
          </a:prstGeom>
        </p:spPr>
        <p:txBody>
          <a:bodyPr>
            <a:normAutofit/>
          </a:bodyPr>
          <a:lstStyle/>
          <a:p>
            <a:pPr marL="889000">
              <a:buFont typeface="Helvetica"/>
            </a:pPr>
            <a:r>
              <a:t>Origins: Nash and von Neumann</a:t>
            </a:r>
          </a:p>
          <a:p>
            <a:pPr marL="889000">
              <a:buFont typeface="Helvetica"/>
            </a:pPr>
            <a:r>
              <a:t>Payoff matrices</a:t>
            </a:r>
          </a:p>
          <a:p>
            <a:pPr marL="889000">
              <a:buFont typeface="Helvetica"/>
            </a:pPr>
            <a:r>
              <a:t>Nash Equilibrium</a:t>
            </a:r>
          </a:p>
          <a:p>
            <a:pPr marL="889000">
              <a:buFont typeface="Helvetica"/>
            </a:pPr>
            <a:r>
              <a:t>Classic games</a:t>
            </a:r>
          </a:p>
          <a:p>
            <a:pPr marL="889000">
              <a:buFont typeface="Helvetica"/>
            </a:pPr>
            <a:r>
              <a:t>The unique number game</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image.jpg"/>
          <p:cNvPicPr>
            <a:picLocks noChangeAspect="1"/>
          </p:cNvPicPr>
          <p:nvPr/>
        </p:nvPicPr>
        <p:blipFill>
          <a:blip r:embed="rId2">
            <a:extLst/>
          </a:blip>
          <a:srcRect l="8195" t="11282" r="9825" b="9161"/>
          <a:stretch>
            <a:fillRect/>
          </a:stretch>
        </p:blipFill>
        <p:spPr>
          <a:xfrm>
            <a:off x="8064500" y="2349499"/>
            <a:ext cx="5422901" cy="4775201"/>
          </a:xfrm>
          <a:prstGeom prst="rect">
            <a:avLst/>
          </a:prstGeom>
          <a:ln w="12700">
            <a:miter lim="400000"/>
          </a:ln>
        </p:spPr>
      </p:pic>
      <p:pic>
        <p:nvPicPr>
          <p:cNvPr id="153" name="image.jpg"/>
          <p:cNvPicPr>
            <a:picLocks noChangeAspect="1"/>
          </p:cNvPicPr>
          <p:nvPr/>
        </p:nvPicPr>
        <p:blipFill>
          <a:blip r:embed="rId3">
            <a:alphaModFix amt="86999"/>
            <a:extLst/>
          </a:blip>
          <a:stretch>
            <a:fillRect/>
          </a:stretch>
        </p:blipFill>
        <p:spPr>
          <a:xfrm>
            <a:off x="-1474788" y="4025900"/>
            <a:ext cx="7127876" cy="5346700"/>
          </a:xfrm>
          <a:prstGeom prst="rect">
            <a:avLst/>
          </a:prstGeom>
          <a:ln w="12700">
            <a:miter lim="400000"/>
          </a:ln>
        </p:spPr>
      </p:pic>
      <p:sp>
        <p:nvSpPr>
          <p:cNvPr id="154" name="Shape 154"/>
          <p:cNvSpPr>
            <a:spLocks noGrp="1"/>
          </p:cNvSpPr>
          <p:nvPr>
            <p:ph type="body" sz="half" idx="1"/>
          </p:nvPr>
        </p:nvSpPr>
        <p:spPr>
          <a:xfrm>
            <a:off x="3409950" y="2768600"/>
            <a:ext cx="5692031" cy="5715000"/>
          </a:xfrm>
          <a:prstGeom prst="rect">
            <a:avLst/>
          </a:prstGeom>
        </p:spPr>
        <p:txBody>
          <a:bodyPr>
            <a:normAutofit/>
          </a:bodyPr>
          <a:lstStyle/>
          <a:p>
            <a:pPr marL="822733" indent="-514758" defTabSz="886968">
              <a:spcBef>
                <a:spcPts val="2300"/>
              </a:spcBef>
              <a:buFont typeface="Helvetica"/>
              <a:defRPr sz="4074"/>
            </a:pPr>
            <a:r>
              <a:rPr sz="3783"/>
              <a:t>A framework for studying social interaction and decision-making</a:t>
            </a:r>
          </a:p>
          <a:p>
            <a:pPr marL="822733" indent="-514758" defTabSz="886968">
              <a:spcBef>
                <a:spcPts val="2300"/>
              </a:spcBef>
              <a:buFont typeface="Helvetica"/>
              <a:defRPr sz="4074"/>
            </a:pPr>
            <a:r>
              <a:rPr sz="3783"/>
              <a:t>Started in mathematics, then economics, but is used widely, e.g. in evolutionary biology</a:t>
            </a:r>
          </a:p>
        </p:txBody>
      </p:sp>
      <p:sp>
        <p:nvSpPr>
          <p:cNvPr id="7" name="Shape 148"/>
          <p:cNvSpPr>
            <a:spLocks noGrp="1"/>
          </p:cNvSpPr>
          <p:nvPr>
            <p:ph type="title"/>
          </p:nvPr>
        </p:nvSpPr>
        <p:spPr>
          <a:xfrm>
            <a:off x="1269999" y="254000"/>
            <a:ext cx="10464802" cy="2438400"/>
          </a:xfrm>
          <a:prstGeom prst="rect">
            <a:avLst/>
          </a:prstGeom>
        </p:spPr>
        <p:txBody>
          <a:bodyPr>
            <a:normAutofit/>
          </a:bodyPr>
          <a:lstStyle>
            <a:lvl1pP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What is game theory?</a:t>
            </a:r>
            <a:endParaRPr sz="5800" dirty="0">
              <a:solidFill>
                <a:srgbClr val="133C73"/>
              </a:solidFill>
              <a:effectLst>
                <a:outerShdw blurRad="12700" dist="38100" dir="2700000" rotWithShape="0">
                  <a:srgbClr val="DDDDDD"/>
                </a:outerShdw>
              </a:effectLst>
            </a:endParaRPr>
          </a:p>
        </p:txBody>
      </p:sp>
    </p:spTree>
    <p:extLst>
      <p:ext uri="{BB962C8B-B14F-4D97-AF65-F5344CB8AC3E}">
        <p14:creationId xmlns:p14="http://schemas.microsoft.com/office/powerpoint/2010/main" val="2050080073"/>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 name="Group 158"/>
          <p:cNvGrpSpPr/>
          <p:nvPr/>
        </p:nvGrpSpPr>
        <p:grpSpPr>
          <a:xfrm>
            <a:off x="6896100" y="2603500"/>
            <a:ext cx="4660900" cy="6032500"/>
            <a:chOff x="0" y="0"/>
            <a:chExt cx="4660900" cy="6032500"/>
          </a:xfrm>
        </p:grpSpPr>
        <p:pic>
          <p:nvPicPr>
            <p:cNvPr id="156" name="image.jpg"/>
            <p:cNvPicPr>
              <a:picLocks noChangeAspect="1"/>
            </p:cNvPicPr>
            <p:nvPr/>
          </p:nvPicPr>
          <p:blipFill>
            <a:blip r:embed="rId2">
              <a:extLst/>
            </a:blip>
            <a:srcRect t="5744" b="5816"/>
            <a:stretch>
              <a:fillRect/>
            </a:stretch>
          </p:blipFill>
          <p:spPr>
            <a:xfrm>
              <a:off x="279400" y="279399"/>
              <a:ext cx="4102100" cy="5473701"/>
            </a:xfrm>
            <a:prstGeom prst="rect">
              <a:avLst/>
            </a:prstGeom>
            <a:ln w="12700" cap="flat">
              <a:noFill/>
              <a:miter lim="400000"/>
            </a:ln>
            <a:effectLst/>
          </p:spPr>
        </p:pic>
        <p:pic>
          <p:nvPicPr>
            <p:cNvPr id="157" name="image.png"/>
            <p:cNvPicPr>
              <a:picLocks noChangeAspect="1"/>
            </p:cNvPicPr>
            <p:nvPr/>
          </p:nvPicPr>
          <p:blipFill>
            <a:blip r:embed="rId3">
              <a:extLst/>
            </a:blip>
            <a:stretch>
              <a:fillRect/>
            </a:stretch>
          </p:blipFill>
          <p:spPr>
            <a:xfrm>
              <a:off x="0" y="0"/>
              <a:ext cx="4660900" cy="6032500"/>
            </a:xfrm>
            <a:prstGeom prst="rect">
              <a:avLst/>
            </a:prstGeom>
            <a:ln w="12700" cap="flat">
              <a:noFill/>
              <a:miter lim="400000"/>
            </a:ln>
            <a:effectLst/>
          </p:spPr>
        </p:pic>
      </p:grpSp>
      <p:sp>
        <p:nvSpPr>
          <p:cNvPr id="159" name="Shape 159"/>
          <p:cNvSpPr>
            <a:spLocks noGrp="1"/>
          </p:cNvSpPr>
          <p:nvPr>
            <p:ph type="title"/>
          </p:nvPr>
        </p:nvSpPr>
        <p:spPr>
          <a:xfrm>
            <a:off x="704850" y="254000"/>
            <a:ext cx="11595100" cy="2438400"/>
          </a:xfrm>
          <a:prstGeom prst="rect">
            <a:avLst/>
          </a:prstGeom>
        </p:spPr>
        <p:txBody>
          <a:bodyPr>
            <a:normAutofit/>
          </a:bodyPr>
          <a:lstStyle>
            <a:lvl1pP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John Forbes Nash, Jr.</a:t>
            </a:r>
          </a:p>
        </p:txBody>
      </p:sp>
      <p:sp>
        <p:nvSpPr>
          <p:cNvPr id="160" name="Shape 160"/>
          <p:cNvSpPr/>
          <p:nvPr/>
        </p:nvSpPr>
        <p:spPr>
          <a:xfrm>
            <a:off x="304800" y="3327400"/>
            <a:ext cx="5969000" cy="3898900"/>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p>
            <a:pPr>
              <a:defRPr b="1">
                <a:latin typeface="+mj-lt"/>
                <a:ea typeface="+mj-ea"/>
                <a:cs typeface="+mj-cs"/>
                <a:sym typeface="Helvetica"/>
              </a:defRPr>
            </a:pPr>
            <a:r>
              <a:rPr sz="3600"/>
              <a:t>PhD thesis, Princeton (1950) 27 pages long</a:t>
            </a:r>
          </a:p>
          <a:p>
            <a:pPr>
              <a:defRPr b="1">
                <a:latin typeface="+mj-lt"/>
                <a:ea typeface="+mj-ea"/>
                <a:cs typeface="+mj-cs"/>
                <a:sym typeface="Helvetica"/>
              </a:defRPr>
            </a:pPr>
            <a:endParaRPr sz="3600"/>
          </a:p>
          <a:p>
            <a:pPr>
              <a:defRPr b="1">
                <a:latin typeface="+mj-lt"/>
                <a:ea typeface="+mj-ea"/>
                <a:cs typeface="+mj-cs"/>
                <a:sym typeface="Helvetica"/>
              </a:defRPr>
            </a:pPr>
            <a:r>
              <a:rPr sz="3600">
                <a:solidFill>
                  <a:srgbClr val="FF0000"/>
                </a:solidFill>
              </a:rPr>
              <a:t>Theses need not be long!</a:t>
            </a:r>
            <a:endParaRPr sz="3600"/>
          </a:p>
          <a:p>
            <a:pPr>
              <a:defRPr b="1">
                <a:latin typeface="+mj-lt"/>
                <a:ea typeface="+mj-ea"/>
                <a:cs typeface="+mj-cs"/>
                <a:sym typeface="Helvetica"/>
              </a:defRPr>
            </a:pPr>
            <a:endParaRPr sz="3600">
              <a:solidFill>
                <a:srgbClr val="FF0000"/>
              </a:solidFill>
            </a:endParaRPr>
          </a:p>
          <a:p>
            <a:pPr>
              <a:defRPr b="1">
                <a:latin typeface="+mj-lt"/>
                <a:ea typeface="+mj-ea"/>
                <a:cs typeface="+mj-cs"/>
                <a:sym typeface="Helvetica"/>
              </a:defRPr>
            </a:pPr>
            <a:r>
              <a:rPr sz="3600">
                <a:solidFill>
                  <a:srgbClr val="FF0000"/>
                </a:solidFill>
              </a:rPr>
              <a:t>[This is also true for senior theses!]</a:t>
            </a:r>
          </a:p>
        </p:txBody>
      </p:sp>
    </p:spTree>
    <p:extLst>
      <p:ext uri="{BB962C8B-B14F-4D97-AF65-F5344CB8AC3E}">
        <p14:creationId xmlns:p14="http://schemas.microsoft.com/office/powerpoint/2010/main" val="1560581200"/>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 name="Group 164"/>
          <p:cNvGrpSpPr/>
          <p:nvPr/>
        </p:nvGrpSpPr>
        <p:grpSpPr>
          <a:xfrm>
            <a:off x="211137" y="4165600"/>
            <a:ext cx="12585701" cy="3022600"/>
            <a:chOff x="0" y="0"/>
            <a:chExt cx="12585700" cy="3022600"/>
          </a:xfrm>
        </p:grpSpPr>
        <p:pic>
          <p:nvPicPr>
            <p:cNvPr id="162" name="image.png"/>
            <p:cNvPicPr>
              <a:picLocks noChangeAspect="1"/>
            </p:cNvPicPr>
            <p:nvPr/>
          </p:nvPicPr>
          <p:blipFill>
            <a:blip r:embed="rId3">
              <a:extLst/>
            </a:blip>
            <a:srcRect l="730" r="2339"/>
            <a:stretch>
              <a:fillRect/>
            </a:stretch>
          </p:blipFill>
          <p:spPr>
            <a:xfrm>
              <a:off x="203199" y="152400"/>
              <a:ext cx="12187239" cy="2357438"/>
            </a:xfrm>
            <a:prstGeom prst="rect">
              <a:avLst/>
            </a:prstGeom>
            <a:ln w="12700" cap="flat">
              <a:noFill/>
              <a:miter lim="400000"/>
            </a:ln>
            <a:effectLst/>
          </p:spPr>
        </p:pic>
        <p:pic>
          <p:nvPicPr>
            <p:cNvPr id="163" name="image.png"/>
            <p:cNvPicPr>
              <a:picLocks noChangeAspect="1"/>
            </p:cNvPicPr>
            <p:nvPr/>
          </p:nvPicPr>
          <p:blipFill>
            <a:blip r:embed="rId4">
              <a:extLst/>
            </a:blip>
            <a:stretch>
              <a:fillRect/>
            </a:stretch>
          </p:blipFill>
          <p:spPr>
            <a:xfrm>
              <a:off x="0" y="0"/>
              <a:ext cx="12585700" cy="3022600"/>
            </a:xfrm>
            <a:prstGeom prst="rect">
              <a:avLst/>
            </a:prstGeom>
            <a:ln w="12700" cap="flat">
              <a:noFill/>
              <a:miter lim="400000"/>
            </a:ln>
            <a:effectLst/>
          </p:spPr>
        </p:pic>
      </p:grpSp>
      <p:sp>
        <p:nvSpPr>
          <p:cNvPr id="165" name="Shape 165"/>
          <p:cNvSpPr>
            <a:spLocks noGrp="1"/>
          </p:cNvSpPr>
          <p:nvPr>
            <p:ph type="title"/>
          </p:nvPr>
        </p:nvSpPr>
        <p:spPr>
          <a:xfrm>
            <a:off x="1269999" y="254000"/>
            <a:ext cx="10464802" cy="3251200"/>
          </a:xfrm>
          <a:prstGeom prst="rect">
            <a:avLst/>
          </a:prstGeom>
        </p:spPr>
        <p:txBody>
          <a:bodyPr>
            <a:normAutofit/>
          </a:bodyPr>
          <a:lstStyle>
            <a:lvl1pPr>
              <a:lnSpc>
                <a:spcPct val="90000"/>
              </a:lnSpc>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FF"/>
                </a:solidFill>
                <a:effectLst/>
              </a:defRPr>
            </a:pPr>
            <a:r>
              <a:rPr sz="5800">
                <a:solidFill>
                  <a:srgbClr val="133C73"/>
                </a:solidFill>
                <a:effectLst>
                  <a:outerShdw blurRad="12700" dist="38100" dir="2700000" rotWithShape="0">
                    <a:srgbClr val="DDDDDD"/>
                  </a:outerShdw>
                </a:effectLst>
              </a:rPr>
              <a:t>Kuhn’s description of his thesis, at the awarding of Nash’s Nobel prize in 1994</a:t>
            </a:r>
          </a:p>
        </p:txBody>
      </p:sp>
    </p:spTree>
    <p:extLst>
      <p:ext uri="{BB962C8B-B14F-4D97-AF65-F5344CB8AC3E}">
        <p14:creationId xmlns:p14="http://schemas.microsoft.com/office/powerpoint/2010/main" val="1463226502"/>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Group 169"/>
          <p:cNvGrpSpPr/>
          <p:nvPr/>
        </p:nvGrpSpPr>
        <p:grpSpPr>
          <a:xfrm>
            <a:off x="7726362" y="1955800"/>
            <a:ext cx="4572001" cy="5842000"/>
            <a:chOff x="0" y="0"/>
            <a:chExt cx="4572000" cy="5842000"/>
          </a:xfrm>
        </p:grpSpPr>
        <p:pic>
          <p:nvPicPr>
            <p:cNvPr id="167" name="image.png"/>
            <p:cNvPicPr>
              <a:picLocks noChangeAspect="1"/>
            </p:cNvPicPr>
            <p:nvPr/>
          </p:nvPicPr>
          <p:blipFill>
            <a:blip r:embed="rId2">
              <a:extLst/>
            </a:blip>
            <a:stretch>
              <a:fillRect/>
            </a:stretch>
          </p:blipFill>
          <p:spPr>
            <a:xfrm>
              <a:off x="165100" y="165100"/>
              <a:ext cx="4241800" cy="5511800"/>
            </a:xfrm>
            <a:prstGeom prst="rect">
              <a:avLst/>
            </a:prstGeom>
            <a:ln w="12700" cap="flat">
              <a:noFill/>
              <a:miter lim="400000"/>
            </a:ln>
            <a:effectLst/>
          </p:spPr>
        </p:pic>
        <p:pic>
          <p:nvPicPr>
            <p:cNvPr id="168" name="image.png"/>
            <p:cNvPicPr>
              <a:picLocks noChangeAspect="1"/>
            </p:cNvPicPr>
            <p:nvPr/>
          </p:nvPicPr>
          <p:blipFill>
            <a:blip r:embed="rId3">
              <a:extLst/>
            </a:blip>
            <a:stretch>
              <a:fillRect/>
            </a:stretch>
          </p:blipFill>
          <p:spPr>
            <a:xfrm>
              <a:off x="0" y="0"/>
              <a:ext cx="4572000" cy="5842000"/>
            </a:xfrm>
            <a:prstGeom prst="rect">
              <a:avLst/>
            </a:prstGeom>
            <a:ln w="12700" cap="flat">
              <a:noFill/>
              <a:miter lim="400000"/>
            </a:ln>
            <a:effectLst/>
          </p:spPr>
        </p:pic>
      </p:grpSp>
      <p:pic>
        <p:nvPicPr>
          <p:cNvPr id="170" name="image.jpg"/>
          <p:cNvPicPr>
            <a:picLocks noChangeAspect="1"/>
          </p:cNvPicPr>
          <p:nvPr/>
        </p:nvPicPr>
        <p:blipFill>
          <a:blip r:embed="rId4">
            <a:extLst/>
          </a:blip>
          <a:stretch>
            <a:fillRect/>
          </a:stretch>
        </p:blipFill>
        <p:spPr>
          <a:xfrm>
            <a:off x="952500" y="2116137"/>
            <a:ext cx="3644900" cy="5516563"/>
          </a:xfrm>
          <a:prstGeom prst="rect">
            <a:avLst/>
          </a:prstGeom>
          <a:ln w="12700">
            <a:miter lim="400000"/>
          </a:ln>
        </p:spPr>
      </p:pic>
      <p:sp>
        <p:nvSpPr>
          <p:cNvPr id="171" name="Shape 171"/>
          <p:cNvSpPr/>
          <p:nvPr/>
        </p:nvSpPr>
        <p:spPr>
          <a:xfrm>
            <a:off x="950912" y="7834312"/>
            <a:ext cx="11353801" cy="14859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p>
            <a:pPr>
              <a:lnSpc>
                <a:spcPct val="90000"/>
              </a:lnSpc>
              <a:defRPr b="1">
                <a:latin typeface="+mj-lt"/>
                <a:ea typeface="+mj-ea"/>
                <a:cs typeface="+mj-cs"/>
                <a:sym typeface="Helvetica"/>
              </a:defRPr>
            </a:pPr>
            <a:r>
              <a:rPr sz="2500"/>
              <a:t>Nash’s work built on von Neumann’s original formulation.</a:t>
            </a:r>
          </a:p>
          <a:p>
            <a:pPr>
              <a:lnSpc>
                <a:spcPct val="90000"/>
              </a:lnSpc>
              <a:defRPr b="1">
                <a:latin typeface="+mj-lt"/>
                <a:ea typeface="+mj-ea"/>
                <a:cs typeface="+mj-cs"/>
                <a:sym typeface="Helvetica"/>
              </a:defRPr>
            </a:pPr>
            <a:endParaRPr sz="2500"/>
          </a:p>
          <a:p>
            <a:pPr>
              <a:lnSpc>
                <a:spcPct val="90000"/>
              </a:lnSpc>
              <a:defRPr b="1">
                <a:latin typeface="+mj-lt"/>
                <a:ea typeface="+mj-ea"/>
                <a:cs typeface="+mj-cs"/>
                <a:sym typeface="Helvetica"/>
              </a:defRPr>
            </a:pPr>
            <a:r>
              <a:rPr sz="2500"/>
              <a:t>His thesis was written as several papers—one very mathematical, </a:t>
            </a:r>
          </a:p>
          <a:p>
            <a:pPr>
              <a:lnSpc>
                <a:spcPct val="90000"/>
              </a:lnSpc>
              <a:defRPr b="1">
                <a:latin typeface="+mj-lt"/>
                <a:ea typeface="+mj-ea"/>
                <a:cs typeface="+mj-cs"/>
                <a:sym typeface="Helvetica"/>
              </a:defRPr>
            </a:pPr>
            <a:r>
              <a:rPr sz="2500"/>
              <a:t>the rest more explanatory</a:t>
            </a:r>
          </a:p>
        </p:txBody>
      </p:sp>
      <p:sp>
        <p:nvSpPr>
          <p:cNvPr id="172" name="Shape 172"/>
          <p:cNvSpPr>
            <a:spLocks noGrp="1"/>
          </p:cNvSpPr>
          <p:nvPr>
            <p:ph type="title"/>
          </p:nvPr>
        </p:nvSpPr>
        <p:spPr>
          <a:xfrm>
            <a:off x="-20315" y="-139700"/>
            <a:ext cx="13045431" cy="2438400"/>
          </a:xfrm>
          <a:prstGeom prst="rect">
            <a:avLst/>
          </a:prstGeom>
        </p:spPr>
        <p:txBody>
          <a:bodyPr>
            <a:normAutofit/>
          </a:bodyPr>
          <a:lstStyle>
            <a:lvl1pPr>
              <a:lnSpc>
                <a:spcPct val="9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300" b="1">
                <a:solidFill>
                  <a:srgbClr val="133C73"/>
                </a:solidFill>
                <a:effectLst>
                  <a:outerShdw blurRad="12700" dist="38100" dir="2700000" rotWithShape="0">
                    <a:srgbClr val="DDDDDD"/>
                  </a:outerShdw>
                </a:effectLst>
                <a:latin typeface="+mj-lt"/>
                <a:ea typeface="+mj-ea"/>
                <a:cs typeface="+mj-cs"/>
                <a:sym typeface="Helvetica"/>
              </a:defRPr>
            </a:lvl1pPr>
          </a:lstStyle>
          <a:p>
            <a:pPr>
              <a:defRPr>
                <a:solidFill>
                  <a:srgbClr val="0000FF"/>
                </a:solidFill>
                <a:effectLst/>
              </a:defRPr>
            </a:pPr>
            <a:r>
              <a:rPr>
                <a:solidFill>
                  <a:srgbClr val="133C73"/>
                </a:solidFill>
                <a:effectLst>
                  <a:outerShdw blurRad="12700" dist="38100" dir="2700000" rotWithShape="0">
                    <a:srgbClr val="DDDDDD"/>
                  </a:outerShdw>
                </a:effectLst>
              </a:rPr>
              <a:t>Original Formulation of Game Theory</a:t>
            </a:r>
          </a:p>
        </p:txBody>
      </p:sp>
      <p:sp>
        <p:nvSpPr>
          <p:cNvPr id="173" name="Shape 173"/>
          <p:cNvSpPr/>
          <p:nvPr/>
        </p:nvSpPr>
        <p:spPr>
          <a:xfrm>
            <a:off x="3499246" y="7143749"/>
            <a:ext cx="1040608" cy="431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sz="2800">
                <a:solidFill>
                  <a:schemeClr val="accent1">
                    <a:lumOff val="44000"/>
                  </a:schemeClr>
                </a:solidFill>
                <a:latin typeface="+mj-lt"/>
                <a:ea typeface="+mj-ea"/>
                <a:cs typeface="+mj-cs"/>
                <a:sym typeface="Helvetica"/>
              </a:defRPr>
            </a:lvl1pPr>
          </a:lstStyle>
          <a:p>
            <a:pPr>
              <a:defRPr sz="1200">
                <a:solidFill>
                  <a:srgbClr val="000000"/>
                </a:solidFill>
                <a:latin typeface="Gill Sans"/>
                <a:ea typeface="Gill Sans"/>
                <a:cs typeface="Gill Sans"/>
                <a:sym typeface="Gill Sans"/>
              </a:defRPr>
            </a:pPr>
            <a:r>
              <a:rPr sz="2800">
                <a:solidFill>
                  <a:schemeClr val="accent1">
                    <a:lumOff val="44000"/>
                  </a:schemeClr>
                </a:solidFill>
                <a:latin typeface="+mj-lt"/>
                <a:ea typeface="+mj-ea"/>
                <a:cs typeface="+mj-cs"/>
                <a:sym typeface="Helvetica"/>
              </a:rPr>
              <a:t>(1944)</a:t>
            </a:r>
          </a:p>
        </p:txBody>
      </p:sp>
    </p:spTree>
    <p:extLst>
      <p:ext uri="{BB962C8B-B14F-4D97-AF65-F5344CB8AC3E}">
        <p14:creationId xmlns:p14="http://schemas.microsoft.com/office/powerpoint/2010/main" val="1612577317"/>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175"/>
          <p:cNvSpPr/>
          <p:nvPr/>
        </p:nvSpPr>
        <p:spPr>
          <a:xfrm>
            <a:off x="2474911" y="6579401"/>
            <a:ext cx="8763001" cy="1184940"/>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lvl1pPr>
              <a:defRPr sz="3600" b="1">
                <a:latin typeface="+mj-lt"/>
                <a:ea typeface="+mj-ea"/>
                <a:cs typeface="+mj-cs"/>
                <a:sym typeface="Helvetica"/>
              </a:defRPr>
            </a:lvl1pPr>
          </a:lstStyle>
          <a:p>
            <a:pPr>
              <a:defRPr sz="1200"/>
            </a:pPr>
            <a:r>
              <a:rPr lang="en-US" sz="3600" dirty="0" smtClean="0"/>
              <a:t>My payoff matrix:  </a:t>
            </a:r>
            <a:r>
              <a:rPr lang="en-US" sz="3600" dirty="0"/>
              <a:t>Gives me a reward, given the adoption of a strategy.</a:t>
            </a:r>
            <a:endParaRPr sz="3600" dirty="0"/>
          </a:p>
        </p:txBody>
      </p:sp>
      <p:sp>
        <p:nvSpPr>
          <p:cNvPr id="176" name="Shape 176"/>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sz="5800" dirty="0" smtClean="0">
                <a:solidFill>
                  <a:srgbClr val="133C73"/>
                </a:solidFill>
                <a:effectLst>
                  <a:outerShdw blurRad="12700" dist="38100" dir="2700000" rotWithShape="0">
                    <a:srgbClr val="DDDDDD"/>
                  </a:outerShdw>
                </a:effectLst>
              </a:rPr>
              <a:t>Game</a:t>
            </a:r>
            <a:r>
              <a:rPr lang="en-US" sz="5800" dirty="0" smtClean="0">
                <a:solidFill>
                  <a:srgbClr val="133C73"/>
                </a:solidFill>
                <a:effectLst>
                  <a:outerShdw blurRad="12700" dist="38100" dir="2700000" rotWithShape="0">
                    <a:srgbClr val="DDDDDD"/>
                  </a:outerShdw>
                </a:effectLst>
              </a:rPr>
              <a:t>: my payoff</a:t>
            </a:r>
            <a:endParaRPr sz="5800" dirty="0">
              <a:solidFill>
                <a:srgbClr val="133C73"/>
              </a:solidFill>
              <a:effectLst>
                <a:outerShdw blurRad="12700" dist="38100" dir="2700000" rotWithShape="0">
                  <a:srgbClr val="DDDDDD"/>
                </a:outerShdw>
              </a:effectLst>
            </a:endParaRPr>
          </a:p>
        </p:txBody>
      </p:sp>
      <p:graphicFrame>
        <p:nvGraphicFramePr>
          <p:cNvPr id="177" name="Table 177"/>
          <p:cNvGraphicFramePr/>
          <p:nvPr>
            <p:extLst>
              <p:ext uri="{D42A27DB-BD31-4B8C-83A1-F6EECF244321}">
                <p14:modId xmlns:p14="http://schemas.microsoft.com/office/powerpoint/2010/main" val="1506408196"/>
              </p:ext>
            </p:extLst>
          </p:nvPr>
        </p:nvGraphicFramePr>
        <p:xfrm>
          <a:off x="2438508" y="2709609"/>
          <a:ext cx="8127783" cy="3470359"/>
        </p:xfrm>
        <a:graphic>
          <a:graphicData uri="http://schemas.openxmlformats.org/drawingml/2006/table">
            <a:tbl>
              <a:tblPr>
                <a:tableStyleId>{4C3C2611-4C71-4FC5-86AE-919BDF0F9419}</a:tableStyleId>
              </a:tblPr>
              <a:tblGrid>
                <a:gridCol w="2709261"/>
                <a:gridCol w="2709261"/>
                <a:gridCol w="2709261"/>
              </a:tblGrid>
              <a:tr h="1466553">
                <a:tc>
                  <a:txBody>
                    <a:bodyPr/>
                    <a:lstStyle/>
                    <a:p>
                      <a:pPr algn="l">
                        <a:tabLst>
                          <a:tab pos="914400" algn="l"/>
                        </a:tabLst>
                        <a:defRPr sz="2400" b="0" i="0">
                          <a:solidFill>
                            <a:schemeClr val="accent1">
                              <a:lumOff val="44000"/>
                            </a:schemeClr>
                          </a:solidFill>
                        </a:defRPr>
                      </a:pPr>
                      <a:endParaRPr sz="320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dirty="0" smtClean="0">
                        <a:solidFill>
                          <a:schemeClr val="accent1">
                            <a:lumOff val="44000"/>
                          </a:schemeClr>
                        </a:solidFill>
                      </a:endParaRPr>
                    </a:p>
                    <a:p>
                      <a:pPr algn="l">
                        <a:tabLst>
                          <a:tab pos="914400" algn="l"/>
                          <a:tab pos="914400" algn="l"/>
                        </a:tabLst>
                        <a:defRPr sz="4300" b="0" i="0"/>
                      </a:pPr>
                      <a:r>
                        <a:rPr lang="en-US" sz="3200" dirty="0" smtClean="0">
                          <a:solidFill>
                            <a:schemeClr val="accent1">
                              <a:lumOff val="44000"/>
                            </a:schemeClr>
                          </a:solidFill>
                        </a:rPr>
                        <a:t>You: Strategy 1</a:t>
                      </a:r>
                      <a:endParaRPr sz="320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dirty="0" smtClean="0">
                        <a:solidFill>
                          <a:schemeClr val="accent1">
                            <a:lumOff val="44000"/>
                          </a:schemeClr>
                        </a:solidFill>
                      </a:endParaRPr>
                    </a:p>
                    <a:p>
                      <a:pPr algn="l">
                        <a:tabLst>
                          <a:tab pos="914400" algn="l"/>
                          <a:tab pos="914400" algn="l"/>
                        </a:tabLst>
                        <a:defRPr sz="4300" b="0" i="0"/>
                      </a:pPr>
                      <a:r>
                        <a:rPr lang="en-US" sz="3200" dirty="0" smtClean="0">
                          <a:solidFill>
                            <a:schemeClr val="accent1">
                              <a:lumOff val="44000"/>
                            </a:schemeClr>
                          </a:solidFill>
                        </a:rPr>
                        <a:t>You: Strategy 2</a:t>
                      </a:r>
                      <a:endParaRPr sz="320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001903">
                <a:tc>
                  <a:txBody>
                    <a:bodyPr/>
                    <a:lstStyle/>
                    <a:p>
                      <a:pPr algn="l">
                        <a:tabLst>
                          <a:tab pos="914400" algn="l"/>
                        </a:tabLst>
                        <a:defRPr sz="4300" b="0" i="0"/>
                      </a:pPr>
                      <a:r>
                        <a:rPr sz="3200" dirty="0">
                          <a:solidFill>
                            <a:schemeClr val="accent1">
                              <a:lumOff val="44000"/>
                            </a:schemeClr>
                          </a:solidFill>
                        </a:rPr>
                        <a:t>Me:  Strategy </a:t>
                      </a:r>
                      <a:r>
                        <a:rPr lang="en-US" sz="3200" dirty="0" smtClean="0">
                          <a:solidFill>
                            <a:schemeClr val="accent1">
                              <a:lumOff val="44000"/>
                            </a:schemeClr>
                          </a:solidFill>
                        </a:rPr>
                        <a:t>1</a:t>
                      </a:r>
                      <a:endParaRPr sz="320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5</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dirty="0" smtClean="0"/>
                        <a:t>3</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001903">
                <a:tc>
                  <a:txBody>
                    <a:bodyPr/>
                    <a:lstStyle/>
                    <a:p>
                      <a:pPr algn="l">
                        <a:tabLst>
                          <a:tab pos="914400" algn="l"/>
                        </a:tabLst>
                        <a:defRPr sz="4300" b="0" i="0"/>
                      </a:pPr>
                      <a:r>
                        <a:rPr sz="3200" dirty="0">
                          <a:solidFill>
                            <a:schemeClr val="accent1">
                              <a:lumOff val="44000"/>
                            </a:schemeClr>
                          </a:solidFill>
                        </a:rPr>
                        <a:t>Me:  Strategy </a:t>
                      </a:r>
                      <a:r>
                        <a:rPr lang="en-US" sz="3200" dirty="0" smtClean="0">
                          <a:solidFill>
                            <a:schemeClr val="accent1">
                              <a:lumOff val="44000"/>
                            </a:schemeClr>
                          </a:solidFill>
                        </a:rPr>
                        <a:t>2</a:t>
                      </a:r>
                      <a:endParaRPr sz="320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4</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dirty="0" smtClean="0"/>
                        <a:t>2</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5" name="Shape 175"/>
          <p:cNvSpPr/>
          <p:nvPr/>
        </p:nvSpPr>
        <p:spPr>
          <a:xfrm>
            <a:off x="1728109" y="8374510"/>
            <a:ext cx="10629626" cy="630942"/>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lvl1pPr>
              <a:defRPr sz="3600" b="1">
                <a:latin typeface="+mj-lt"/>
                <a:ea typeface="+mj-ea"/>
                <a:cs typeface="+mj-cs"/>
                <a:sym typeface="Helvetica"/>
              </a:defRPr>
            </a:lvl1pPr>
          </a:lstStyle>
          <a:p>
            <a:pPr>
              <a:defRPr sz="1200"/>
            </a:pPr>
            <a:r>
              <a:rPr lang="en-US" sz="3600" dirty="0" smtClean="0"/>
              <a:t>Other player has a </a:t>
            </a:r>
            <a:r>
              <a:rPr lang="en-US" sz="3600" smtClean="0"/>
              <a:t>payoffs </a:t>
            </a:r>
            <a:r>
              <a:rPr lang="en-US" sz="3600" smtClean="0"/>
              <a:t>given their strategies</a:t>
            </a:r>
            <a:endParaRPr sz="3600" dirty="0"/>
          </a:p>
        </p:txBody>
      </p:sp>
      <mc:AlternateContent xmlns:mc="http://schemas.openxmlformats.org/markup-compatibility/2006" xmlns:a14="http://schemas.microsoft.com/office/drawing/2010/main">
        <mc:Choice Requires="a14">
          <p:sp>
            <p:nvSpPr>
              <p:cNvPr id="9" name="Shape 180"/>
              <p:cNvSpPr/>
              <p:nvPr/>
            </p:nvSpPr>
            <p:spPr>
              <a:xfrm>
                <a:off x="3175120" y="3200975"/>
                <a:ext cx="1204913" cy="531812"/>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14:m>
                  <m:oMathPara xmlns:m="http://schemas.openxmlformats.org/officeDocument/2006/math">
                    <m:oMathParaPr>
                      <m:jc m:val="centerGroup"/>
                    </m:oMathParaPr>
                    <m:oMath xmlns:m="http://schemas.openxmlformats.org/officeDocument/2006/math">
                      <m:sSub>
                        <m:sSubPr>
                          <m:ctrlPr>
                            <a:rPr lang="en-US" b="1" i="1" smtClean="0">
                              <a:solidFill>
                                <a:schemeClr val="bg1"/>
                              </a:solidFill>
                              <a:latin typeface="Cambria Math" charset="0"/>
                            </a:rPr>
                          </m:ctrlPr>
                        </m:sSubPr>
                        <m:e>
                          <m:r>
                            <a:rPr lang="en-US" b="1" i="1" smtClean="0">
                              <a:solidFill>
                                <a:schemeClr val="bg1"/>
                              </a:solidFill>
                              <a:latin typeface="Cambria Math" charset="0"/>
                            </a:rPr>
                            <m:t>𝒂</m:t>
                          </m:r>
                        </m:e>
                        <m:sub>
                          <m:r>
                            <a:rPr lang="en-US" b="1" i="1" smtClean="0">
                              <a:solidFill>
                                <a:schemeClr val="bg1"/>
                              </a:solidFill>
                              <a:latin typeface="Cambria Math" charset="0"/>
                            </a:rPr>
                            <m:t>𝒊𝒋</m:t>
                          </m:r>
                        </m:sub>
                      </m:sSub>
                    </m:oMath>
                  </m:oMathPara>
                </a14:m>
                <a:endParaRPr lang="en-US" dirty="0" smtClean="0">
                  <a:solidFill>
                    <a:schemeClr val="bg1"/>
                  </a:solidFill>
                </a:endParaRPr>
              </a:p>
            </p:txBody>
          </p:sp>
        </mc:Choice>
        <mc:Fallback xmlns="">
          <p:sp>
            <p:nvSpPr>
              <p:cNvPr id="9" name="Shape 180"/>
              <p:cNvSpPr>
                <a:spLocks noRot="1" noChangeAspect="1" noMove="1" noResize="1" noEditPoints="1" noAdjustHandles="1" noChangeArrowheads="1" noChangeShapeType="1" noTextEdit="1"/>
              </p:cNvSpPr>
              <p:nvPr/>
            </p:nvSpPr>
            <p:spPr>
              <a:xfrm>
                <a:off x="3175120" y="3200975"/>
                <a:ext cx="1204913" cy="531812"/>
              </a:xfrm>
              <a:prstGeom prst="rect">
                <a:avLst/>
              </a:prstGeom>
              <a:blipFill rotWithShape="0">
                <a:blip r:embed="rId3"/>
                <a:stretch>
                  <a:fillRect/>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798592" y="4241363"/>
                <a:ext cx="153990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ctrlPr>
                        </m:sSubPr>
                        <m:e>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𝒂</m:t>
                          </m:r>
                        </m:e>
                        <m: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𝟏𝟏</m:t>
                          </m:r>
                        </m:sub>
                      </m:s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𝟓</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 </m:t>
                      </m:r>
                    </m:oMath>
                  </m:oMathPara>
                </a14:m>
                <a:endParaRPr kumimoji="0" lang="en-US" sz="3000" b="1" i="0" u="none" strike="noStrike" cap="none" spc="0" normalizeH="0" baseline="0" dirty="0" smtClean="0">
                  <a:ln>
                    <a:noFill/>
                  </a:ln>
                  <a:solidFill>
                    <a:srgbClr val="000000"/>
                  </a:solidFill>
                  <a:effectLst/>
                  <a:uFillTx/>
                  <a:ea typeface="Gill Sans"/>
                  <a:cs typeface="Gill Sans"/>
                  <a:sym typeface="Gill Sans"/>
                </a:endParaRPr>
              </a:p>
              <a:p>
                <a:pPr marL="0" marR="0" indent="0" algn="l" defTabSz="9144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dirty="0">
                  <a:ln>
                    <a:noFill/>
                  </a:ln>
                  <a:solidFill>
                    <a:srgbClr val="000000"/>
                  </a:solidFill>
                  <a:effectLst/>
                  <a:uFillTx/>
                  <a:ea typeface="Gill Sans"/>
                  <a:cs typeface="Gill Sans"/>
                  <a:sym typeface="Gill San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0798592" y="4241363"/>
                <a:ext cx="1539909" cy="830997"/>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798591" y="4704833"/>
                <a:ext cx="1552733"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ctrlPr>
                        </m:sSubPr>
                        <m:e>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𝒂</m:t>
                          </m:r>
                        </m:e>
                        <m: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𝟐𝟏</m:t>
                          </m:r>
                        </m:sub>
                      </m:s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𝟑</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 </m:t>
                      </m:r>
                    </m:oMath>
                  </m:oMathPara>
                </a14:m>
                <a:endParaRPr kumimoji="0" lang="en-US" sz="3000" b="1" i="0" u="none" strike="noStrike" cap="none" spc="0" normalizeH="0" baseline="0" dirty="0" smtClean="0">
                  <a:ln>
                    <a:noFill/>
                  </a:ln>
                  <a:solidFill>
                    <a:srgbClr val="000000"/>
                  </a:solidFill>
                  <a:effectLst/>
                  <a:uFillTx/>
                  <a:ea typeface="Gill Sans"/>
                  <a:cs typeface="Gill Sans"/>
                  <a:sym typeface="Gill Sans"/>
                </a:endParaRPr>
              </a:p>
              <a:p>
                <a:pPr marL="0" marR="0" indent="0" algn="l" defTabSz="9144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dirty="0">
                  <a:ln>
                    <a:noFill/>
                  </a:ln>
                  <a:solidFill>
                    <a:srgbClr val="000000"/>
                  </a:solidFill>
                  <a:effectLst/>
                  <a:uFillTx/>
                  <a:ea typeface="Gill Sans"/>
                  <a:cs typeface="Gill Sans"/>
                  <a:sym typeface="Gill Sans"/>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0798591" y="4704833"/>
                <a:ext cx="1552733" cy="830997"/>
              </a:xfrm>
              <a:prstGeom prst="rect">
                <a:avLst/>
              </a:prstGeom>
              <a:blipFill rotWithShape="0">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798590" y="5166240"/>
                <a:ext cx="1559145"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ctrlPr>
                        </m:sSubPr>
                        <m:e>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𝒂</m:t>
                          </m:r>
                        </m:e>
                        <m: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𝟏𝟐</m:t>
                          </m:r>
                        </m:sub>
                      </m:s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𝟒</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 </m:t>
                      </m:r>
                    </m:oMath>
                  </m:oMathPara>
                </a14:m>
                <a:endParaRPr kumimoji="0" lang="en-US" sz="3000" b="1" i="0" u="none" strike="noStrike" cap="none" spc="0" normalizeH="0" baseline="0" dirty="0" smtClean="0">
                  <a:ln>
                    <a:noFill/>
                  </a:ln>
                  <a:solidFill>
                    <a:srgbClr val="000000"/>
                  </a:solidFill>
                  <a:effectLst/>
                  <a:uFillTx/>
                  <a:ea typeface="Gill Sans"/>
                  <a:cs typeface="Gill Sans"/>
                  <a:sym typeface="Gill Sans"/>
                </a:endParaRPr>
              </a:p>
              <a:p>
                <a:pPr marL="0" marR="0" indent="0" algn="l" defTabSz="9144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dirty="0">
                  <a:ln>
                    <a:noFill/>
                  </a:ln>
                  <a:solidFill>
                    <a:srgbClr val="000000"/>
                  </a:solidFill>
                  <a:effectLst/>
                  <a:uFillTx/>
                  <a:ea typeface="Gill Sans"/>
                  <a:cs typeface="Gill Sans"/>
                  <a:sym typeface="Gill Sans"/>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0798590" y="5166240"/>
                <a:ext cx="1559145" cy="830997"/>
              </a:xfrm>
              <a:prstGeom prst="rect">
                <a:avLst/>
              </a:prstGeom>
              <a:blipFill rotWithShape="0">
                <a:blip r:embed="rId6"/>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0815567" y="5661167"/>
                <a:ext cx="1553567"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ctrlPr>
                        </m:sSubPr>
                        <m:e>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𝒂</m:t>
                          </m:r>
                        </m:e>
                        <m: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𝟐𝟐</m:t>
                          </m:r>
                        </m:sub>
                      </m:sSub>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𝟐</m:t>
                      </m:r>
                      <m:r>
                        <a:rPr kumimoji="0" lang="en-US" sz="3000" b="1" i="1" u="none" strike="noStrike" cap="none" spc="0" normalizeH="0" baseline="0" smtClean="0">
                          <a:ln>
                            <a:noFill/>
                          </a:ln>
                          <a:solidFill>
                            <a:srgbClr val="000000"/>
                          </a:solidFill>
                          <a:effectLst/>
                          <a:uFillTx/>
                          <a:latin typeface="Cambria Math" charset="0"/>
                          <a:ea typeface="Gill Sans"/>
                          <a:cs typeface="Gill Sans"/>
                          <a:sym typeface="Gill Sans"/>
                        </a:rPr>
                        <m:t> </m:t>
                      </m:r>
                    </m:oMath>
                  </m:oMathPara>
                </a14:m>
                <a:endParaRPr kumimoji="0" lang="en-US" sz="3000" b="1" i="0" u="none" strike="noStrike" cap="none" spc="0" normalizeH="0" baseline="0" dirty="0" smtClean="0">
                  <a:ln>
                    <a:noFill/>
                  </a:ln>
                  <a:solidFill>
                    <a:srgbClr val="000000"/>
                  </a:solidFill>
                  <a:effectLst/>
                  <a:uFillTx/>
                  <a:ea typeface="Gill Sans"/>
                  <a:cs typeface="Gill Sans"/>
                  <a:sym typeface="Gill Sans"/>
                </a:endParaRPr>
              </a:p>
              <a:p>
                <a:pPr marL="0" marR="0" indent="0" algn="l" defTabSz="9144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dirty="0">
                  <a:ln>
                    <a:noFill/>
                  </a:ln>
                  <a:solidFill>
                    <a:srgbClr val="000000"/>
                  </a:solidFill>
                  <a:effectLst/>
                  <a:uFillTx/>
                  <a:ea typeface="Gill Sans"/>
                  <a:cs typeface="Gill Sans"/>
                  <a:sym typeface="Gill Sans"/>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0815567" y="5661167"/>
                <a:ext cx="1553567" cy="830997"/>
              </a:xfrm>
              <a:prstGeom prst="rect">
                <a:avLst/>
              </a:prstGeom>
              <a:blipFill rotWithShape="0">
                <a:blip r:embed="rId7"/>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759897368"/>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175"/>
          <p:cNvSpPr/>
          <p:nvPr/>
        </p:nvSpPr>
        <p:spPr>
          <a:xfrm>
            <a:off x="2474912" y="6362700"/>
            <a:ext cx="9827924" cy="1184940"/>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lvl1pPr>
              <a:defRPr sz="3600" b="1">
                <a:latin typeface="+mj-lt"/>
                <a:ea typeface="+mj-ea"/>
                <a:cs typeface="+mj-cs"/>
                <a:sym typeface="Helvetica"/>
              </a:defRPr>
            </a:lvl1pPr>
          </a:lstStyle>
          <a:p>
            <a:pPr>
              <a:defRPr sz="1200"/>
            </a:pPr>
            <a:r>
              <a:rPr lang="en-US" sz="3600" dirty="0" smtClean="0"/>
              <a:t>Your payoff matrix:  Gives you a </a:t>
            </a:r>
            <a:r>
              <a:rPr lang="en-US" sz="3600" dirty="0"/>
              <a:t>reward, given the adoption of a strategy.</a:t>
            </a:r>
            <a:endParaRPr sz="3600" dirty="0"/>
          </a:p>
        </p:txBody>
      </p:sp>
      <p:graphicFrame>
        <p:nvGraphicFramePr>
          <p:cNvPr id="177" name="Table 177"/>
          <p:cNvGraphicFramePr/>
          <p:nvPr>
            <p:extLst>
              <p:ext uri="{D42A27DB-BD31-4B8C-83A1-F6EECF244321}">
                <p14:modId xmlns:p14="http://schemas.microsoft.com/office/powerpoint/2010/main" val="42417580"/>
              </p:ext>
            </p:extLst>
          </p:nvPr>
        </p:nvGraphicFramePr>
        <p:xfrm>
          <a:off x="2639156" y="2692400"/>
          <a:ext cx="8368869" cy="3425536"/>
        </p:xfrm>
        <a:graphic>
          <a:graphicData uri="http://schemas.openxmlformats.org/drawingml/2006/table">
            <a:tbl>
              <a:tblPr>
                <a:tableStyleId>{4C3C2611-4C71-4FC5-86AE-919BDF0F9419}</a:tableStyleId>
              </a:tblPr>
              <a:tblGrid>
                <a:gridCol w="2789623"/>
                <a:gridCol w="2789623"/>
                <a:gridCol w="2789623"/>
              </a:tblGrid>
              <a:tr h="1496484">
                <a:tc>
                  <a:txBody>
                    <a:bodyPr/>
                    <a:lstStyle/>
                    <a:p>
                      <a:pPr algn="l">
                        <a:tabLst>
                          <a:tab pos="914400" algn="l"/>
                        </a:tabLst>
                        <a:defRPr sz="2400" b="0" i="0">
                          <a:solidFill>
                            <a:schemeClr val="accent1">
                              <a:lumOff val="44000"/>
                            </a:schemeClr>
                          </a:solidFill>
                        </a:defRPr>
                      </a:pPr>
                      <a:endParaRPr sz="320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dirty="0" smtClean="0">
                        <a:solidFill>
                          <a:schemeClr val="accent1">
                            <a:lumOff val="44000"/>
                          </a:schemeClr>
                        </a:solidFill>
                      </a:endParaRPr>
                    </a:p>
                    <a:p>
                      <a:pPr algn="l">
                        <a:tabLst>
                          <a:tab pos="914400" algn="l"/>
                          <a:tab pos="914400" algn="l"/>
                        </a:tabLst>
                        <a:defRPr sz="4300" b="0" i="0"/>
                      </a:pPr>
                      <a:r>
                        <a:rPr lang="en-US" sz="3200" dirty="0" smtClean="0">
                          <a:solidFill>
                            <a:schemeClr val="accent1">
                              <a:lumOff val="44000"/>
                            </a:schemeClr>
                          </a:solidFill>
                        </a:rPr>
                        <a:t>You: Strategy 1</a:t>
                      </a:r>
                      <a:endParaRPr sz="320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dirty="0" smtClean="0">
                        <a:solidFill>
                          <a:schemeClr val="accent1">
                            <a:lumOff val="44000"/>
                          </a:schemeClr>
                        </a:solidFill>
                      </a:endParaRPr>
                    </a:p>
                    <a:p>
                      <a:pPr algn="l">
                        <a:tabLst>
                          <a:tab pos="914400" algn="l"/>
                          <a:tab pos="914400" algn="l"/>
                        </a:tabLst>
                        <a:defRPr sz="4300" b="0" i="0"/>
                      </a:pPr>
                      <a:r>
                        <a:rPr lang="en-US" sz="3200" dirty="0" smtClean="0">
                          <a:solidFill>
                            <a:schemeClr val="accent1">
                              <a:lumOff val="44000"/>
                            </a:schemeClr>
                          </a:solidFill>
                        </a:rPr>
                        <a:t>You: Strategy</a:t>
                      </a:r>
                      <a:r>
                        <a:rPr lang="en-US" sz="3200" baseline="0" dirty="0" smtClean="0">
                          <a:solidFill>
                            <a:schemeClr val="accent1">
                              <a:lumOff val="44000"/>
                            </a:schemeClr>
                          </a:solidFill>
                        </a:rPr>
                        <a:t> 2</a:t>
                      </a:r>
                      <a:endParaRPr sz="320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964526">
                <a:tc>
                  <a:txBody>
                    <a:bodyPr/>
                    <a:lstStyle/>
                    <a:p>
                      <a:pPr algn="l">
                        <a:tabLst>
                          <a:tab pos="914400" algn="l"/>
                        </a:tabLst>
                        <a:defRPr sz="4300" b="0" i="0"/>
                      </a:pPr>
                      <a:r>
                        <a:rPr sz="3200" dirty="0">
                          <a:solidFill>
                            <a:schemeClr val="accent1">
                              <a:lumOff val="44000"/>
                            </a:schemeClr>
                          </a:solidFill>
                        </a:rPr>
                        <a:t>Me:  Strategy </a:t>
                      </a:r>
                      <a:r>
                        <a:rPr lang="en-US" sz="3200" dirty="0" smtClean="0">
                          <a:solidFill>
                            <a:schemeClr val="accent1">
                              <a:lumOff val="44000"/>
                            </a:schemeClr>
                          </a:solidFill>
                        </a:rPr>
                        <a:t>1</a:t>
                      </a:r>
                      <a:endParaRPr sz="320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sz="3200"/>
                        <a:t>3</a:t>
                      </a:r>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dirty="0" smtClean="0"/>
                        <a:t>4</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964526">
                <a:tc>
                  <a:txBody>
                    <a:bodyPr/>
                    <a:lstStyle/>
                    <a:p>
                      <a:pPr algn="l">
                        <a:tabLst>
                          <a:tab pos="914400" algn="l"/>
                        </a:tabLst>
                        <a:defRPr sz="4300" b="0" i="0"/>
                      </a:pPr>
                      <a:r>
                        <a:rPr sz="3200" dirty="0">
                          <a:solidFill>
                            <a:schemeClr val="accent1">
                              <a:lumOff val="44000"/>
                            </a:schemeClr>
                          </a:solidFill>
                        </a:rPr>
                        <a:t>Me:  Strategy </a:t>
                      </a:r>
                      <a:r>
                        <a:rPr lang="en-US" sz="3200" dirty="0" smtClean="0">
                          <a:solidFill>
                            <a:schemeClr val="accent1">
                              <a:lumOff val="44000"/>
                            </a:schemeClr>
                          </a:solidFill>
                        </a:rPr>
                        <a:t>1</a:t>
                      </a:r>
                      <a:endParaRPr sz="320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4</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dirty="0" smtClean="0"/>
                        <a:t>5</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AlternateContent xmlns:mc="http://schemas.openxmlformats.org/markup-compatibility/2006" xmlns:a14="http://schemas.microsoft.com/office/drawing/2010/main">
        <mc:Choice Requires="a14">
          <p:sp>
            <p:nvSpPr>
              <p:cNvPr id="7" name="Shape 180"/>
              <p:cNvSpPr/>
              <p:nvPr/>
            </p:nvSpPr>
            <p:spPr>
              <a:xfrm>
                <a:off x="3420495" y="3253147"/>
                <a:ext cx="1204913" cy="531812"/>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14:m>
                  <m:oMathPara xmlns:m="http://schemas.openxmlformats.org/officeDocument/2006/math">
                    <m:oMathParaPr>
                      <m:jc m:val="centerGroup"/>
                    </m:oMathParaPr>
                    <m:oMath xmlns:m="http://schemas.openxmlformats.org/officeDocument/2006/math">
                      <m:sSub>
                        <m:sSubPr>
                          <m:ctrlPr>
                            <a:rPr lang="en-US" b="1" i="1" smtClean="0">
                              <a:solidFill>
                                <a:schemeClr val="bg1"/>
                              </a:solidFill>
                              <a:latin typeface="Cambria Math" charset="0"/>
                            </a:rPr>
                          </m:ctrlPr>
                        </m:sSubPr>
                        <m:e>
                          <m:r>
                            <a:rPr lang="en-US" b="1" i="1" smtClean="0">
                              <a:solidFill>
                                <a:schemeClr val="bg1"/>
                              </a:solidFill>
                              <a:latin typeface="Cambria Math" charset="0"/>
                            </a:rPr>
                            <m:t>𝒃</m:t>
                          </m:r>
                        </m:e>
                        <m:sub>
                          <m:r>
                            <a:rPr lang="en-US" b="1" i="1" smtClean="0">
                              <a:solidFill>
                                <a:schemeClr val="bg1"/>
                              </a:solidFill>
                              <a:latin typeface="Cambria Math" charset="0"/>
                            </a:rPr>
                            <m:t>𝒊𝒋</m:t>
                          </m:r>
                        </m:sub>
                      </m:sSub>
                    </m:oMath>
                  </m:oMathPara>
                </a14:m>
                <a:endParaRPr lang="en-US" dirty="0" smtClean="0">
                  <a:solidFill>
                    <a:schemeClr val="bg1"/>
                  </a:solidFill>
                </a:endParaRPr>
              </a:p>
            </p:txBody>
          </p:sp>
        </mc:Choice>
        <mc:Fallback xmlns="">
          <p:sp>
            <p:nvSpPr>
              <p:cNvPr id="7" name="Shape 180"/>
              <p:cNvSpPr>
                <a:spLocks noRot="1" noChangeAspect="1" noMove="1" noResize="1" noEditPoints="1" noAdjustHandles="1" noChangeArrowheads="1" noChangeShapeType="1" noTextEdit="1"/>
              </p:cNvSpPr>
              <p:nvPr/>
            </p:nvSpPr>
            <p:spPr>
              <a:xfrm>
                <a:off x="3420495" y="3253147"/>
                <a:ext cx="1204913" cy="531812"/>
              </a:xfrm>
              <a:prstGeom prst="rect">
                <a:avLst/>
              </a:prstGeom>
              <a:blipFill rotWithShape="0">
                <a:blip r:embed="rId2"/>
                <a:stretch>
                  <a:fillRect/>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p:sp>
        <p:nvSpPr>
          <p:cNvPr id="9" name="Shape 176"/>
          <p:cNvSpPr>
            <a:spLocks noGrp="1"/>
          </p:cNvSpPr>
          <p:nvPr>
            <p:ph type="title"/>
          </p:nvPr>
        </p:nvSpPr>
        <p:spPr>
          <a:xfrm>
            <a:off x="1269999" y="254000"/>
            <a:ext cx="1082985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sz="5800" dirty="0" smtClean="0">
                <a:solidFill>
                  <a:srgbClr val="133C73"/>
                </a:solidFill>
                <a:effectLst>
                  <a:outerShdw blurRad="12700" dist="38100" dir="2700000" rotWithShape="0">
                    <a:srgbClr val="DDDDDD"/>
                  </a:outerShdw>
                </a:effectLst>
              </a:rPr>
              <a:t>Game</a:t>
            </a:r>
            <a:r>
              <a:rPr lang="en-US" sz="5800" smtClean="0">
                <a:solidFill>
                  <a:srgbClr val="133C73"/>
                </a:solidFill>
                <a:effectLst>
                  <a:outerShdw blurRad="12700" dist="38100" dir="2700000" rotWithShape="0">
                    <a:srgbClr val="DDDDDD"/>
                  </a:outerShdw>
                </a:effectLst>
              </a:rPr>
              <a:t>: your </a:t>
            </a:r>
            <a:r>
              <a:rPr lang="en-US" sz="5800" dirty="0" smtClean="0">
                <a:solidFill>
                  <a:srgbClr val="133C73"/>
                </a:solidFill>
                <a:effectLst>
                  <a:outerShdw blurRad="12700" dist="38100" dir="2700000" rotWithShape="0">
                    <a:srgbClr val="DDDDDD"/>
                  </a:outerShdw>
                </a:effectLst>
              </a:rPr>
              <a:t>payoff</a:t>
            </a:r>
            <a:endParaRPr sz="5800" dirty="0">
              <a:solidFill>
                <a:srgbClr val="133C73"/>
              </a:solidFill>
              <a:effectLst>
                <a:outerShdw blurRad="12700" dist="38100" dir="2700000" rotWithShape="0">
                  <a:srgbClr val="DDDDDD"/>
                </a:outerShdw>
              </a:effectLst>
            </a:endParaRPr>
          </a:p>
        </p:txBody>
      </p:sp>
    </p:spTree>
    <p:extLst>
      <p:ext uri="{BB962C8B-B14F-4D97-AF65-F5344CB8AC3E}">
        <p14:creationId xmlns:p14="http://schemas.microsoft.com/office/powerpoint/2010/main" val="1282304411"/>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Two Player Game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77" name="Table 177"/>
              <p:cNvGraphicFramePr/>
              <p:nvPr>
                <p:extLst>
                  <p:ext uri="{D42A27DB-BD31-4B8C-83A1-F6EECF244321}">
                    <p14:modId xmlns:p14="http://schemas.microsoft.com/office/powerpoint/2010/main" val="165752937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mr-IN" sz="3200" b="0" i="1" baseline="0" smtClean="0">
                                            <a:latin typeface="Cambria Math" charset="0"/>
                                          </a:rPr>
                                          <m:t>1</m:t>
                                        </m:r>
                                        <m:r>
                                          <a:rPr lang="en-US" sz="3200" b="0" i="1" baseline="0" smtClean="0">
                                            <a:latin typeface="Cambria Math" charset="0"/>
                                          </a:rPr>
                                          <m:t>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mr-IN" sz="3200" b="0" i="1" baseline="0" smtClean="0">
                                            <a:latin typeface="Cambria Math" charset="0"/>
                                          </a:rPr>
                                          <m:t>1</m:t>
                                        </m:r>
                                        <m:r>
                                          <a:rPr lang="en-US" sz="3200" b="0" i="1" baseline="0" smtClean="0">
                                            <a:latin typeface="Cambria Math" charset="0"/>
                                          </a:rPr>
                                          <m:t>2</m:t>
                                        </m:r>
                                      </m:sub>
                                    </m:sSub>
                                  </m:e>
                                </m:d>
                                <m:r>
                                  <a:rPr lang="mr-IN" sz="3200" b="0" i="1" baseline="0" smtClean="0">
                                    <a:latin typeface="Cambria Math" charset="0"/>
                                  </a:rPr>
                                  <m:t>=(</m:t>
                                </m:r>
                                <m:r>
                                  <a:rPr lang="en-US" sz="3200" b="0" i="1" baseline="0" smtClean="0">
                                    <a:latin typeface="Cambria Math" charset="0"/>
                                  </a:rPr>
                                  <m:t>3</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77" name="Table 177"/>
              <p:cNvGraphicFramePr/>
              <p:nvPr>
                <p:extLst>
                  <p:ext uri="{D42A27DB-BD31-4B8C-83A1-F6EECF244321}">
                    <p14:modId xmlns:p14="http://schemas.microsoft.com/office/powerpoint/2010/main" val="165752937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p:spTree>
    <p:extLst>
      <p:ext uri="{BB962C8B-B14F-4D97-AF65-F5344CB8AC3E}">
        <p14:creationId xmlns:p14="http://schemas.microsoft.com/office/powerpoint/2010/main" val="990623362"/>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p:nvPr/>
        </p:nvSpPr>
        <p:spPr>
          <a:xfrm>
            <a:off x="4569940" y="2174589"/>
            <a:ext cx="373380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dirty="0"/>
              <a:t>How </a:t>
            </a:r>
            <a:r>
              <a:rPr dirty="0" smtClean="0"/>
              <a:t>should</a:t>
            </a:r>
            <a:r>
              <a:rPr lang="en-US" dirty="0"/>
              <a:t> </a:t>
            </a:r>
            <a:r>
              <a:rPr lang="en-US" dirty="0" smtClean="0"/>
              <a:t>I </a:t>
            </a:r>
            <a:r>
              <a:rPr dirty="0" smtClean="0"/>
              <a:t>play?</a:t>
            </a:r>
            <a:endParaRPr lang="en-US" dirty="0" smtClean="0"/>
          </a:p>
        </p:txBody>
      </p:sp>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lang="en-US" sz="5800" dirty="0" smtClean="0">
                <a:solidFill>
                  <a:srgbClr val="133C73"/>
                </a:solidFill>
                <a:effectLst>
                  <a:outerShdw blurRad="12700" dist="38100" dir="2700000" rotWithShape="0">
                    <a:srgbClr val="DDDDDD"/>
                  </a:outerShdw>
                </a:effectLst>
              </a:rPr>
              <a:t>G</a:t>
            </a:r>
            <a:r>
              <a:rPr sz="5800" dirty="0" smtClean="0">
                <a:solidFill>
                  <a:srgbClr val="133C73"/>
                </a:solidFill>
                <a:effectLst>
                  <a:outerShdw blurRad="12700" dist="38100" dir="2700000" rotWithShape="0">
                    <a:srgbClr val="DDDDDD"/>
                  </a:outerShdw>
                </a:effectLst>
              </a:rPr>
              <a:t>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1" name="Table 177"/>
              <p:cNvGraphicFramePr/>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mr-IN" sz="3200" b="0" i="1" baseline="0" smtClean="0">
                                            <a:latin typeface="Cambria Math" charset="0"/>
                                          </a:rPr>
                                          <m:t>1</m:t>
                                        </m:r>
                                        <m:r>
                                          <a:rPr lang="en-US" sz="3200" b="0" i="1" baseline="0" smtClean="0">
                                            <a:latin typeface="Cambria Math" charset="0"/>
                                          </a:rPr>
                                          <m:t>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mr-IN" sz="3200" b="0" i="1" baseline="0" smtClean="0">
                                            <a:latin typeface="Cambria Math" charset="0"/>
                                          </a:rPr>
                                          <m:t>1</m:t>
                                        </m:r>
                                        <m:r>
                                          <a:rPr lang="en-US" sz="3200" b="0" i="1" baseline="0" smtClean="0">
                                            <a:latin typeface="Cambria Math" charset="0"/>
                                          </a:rPr>
                                          <m:t>2</m:t>
                                        </m:r>
                                      </m:sub>
                                    </m:sSub>
                                  </m:e>
                                </m:d>
                                <m:r>
                                  <a:rPr lang="mr-IN" sz="3200" b="0" i="1" baseline="0" smtClean="0">
                                    <a:latin typeface="Cambria Math" charset="0"/>
                                  </a:rPr>
                                  <m:t>=(</m:t>
                                </m:r>
                                <m:r>
                                  <a:rPr lang="en-US" sz="3200" b="0" i="1" baseline="0" smtClean="0">
                                    <a:latin typeface="Cambria Math" charset="0"/>
                                  </a:rPr>
                                  <m:t>3</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1" name="Table 177"/>
              <p:cNvGraphicFramePr/>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p:spTree>
    <p:extLst>
      <p:ext uri="{BB962C8B-B14F-4D97-AF65-F5344CB8AC3E}">
        <p14:creationId xmlns:p14="http://schemas.microsoft.com/office/powerpoint/2010/main" val="1246801879"/>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p:nvPr/>
        </p:nvSpPr>
        <p:spPr>
          <a:xfrm>
            <a:off x="4569940" y="2174589"/>
            <a:ext cx="373380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dirty="0"/>
              <a:t>How </a:t>
            </a:r>
            <a:r>
              <a:rPr dirty="0" smtClean="0"/>
              <a:t>should</a:t>
            </a:r>
            <a:r>
              <a:rPr lang="en-US" dirty="0"/>
              <a:t> </a:t>
            </a:r>
            <a:r>
              <a:rPr lang="en-US" dirty="0" smtClean="0"/>
              <a:t>I </a:t>
            </a:r>
            <a:r>
              <a:rPr dirty="0" smtClean="0"/>
              <a:t>play?</a:t>
            </a:r>
            <a:endParaRPr lang="en-US" dirty="0" smtClean="0"/>
          </a:p>
        </p:txBody>
      </p:sp>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lang="en-US" sz="5800" dirty="0" smtClean="0">
                <a:solidFill>
                  <a:srgbClr val="133C73"/>
                </a:solidFill>
                <a:effectLst>
                  <a:outerShdw blurRad="12700" dist="38100" dir="2700000" rotWithShape="0">
                    <a:srgbClr val="DDDDDD"/>
                  </a:outerShdw>
                </a:effectLst>
              </a:rPr>
              <a:t>G</a:t>
            </a:r>
            <a:r>
              <a:rPr sz="5800" dirty="0" smtClean="0">
                <a:solidFill>
                  <a:srgbClr val="133C73"/>
                </a:solidFill>
                <a:effectLst>
                  <a:outerShdw blurRad="12700" dist="38100" dir="2700000" rotWithShape="0">
                    <a:srgbClr val="DDDDDD"/>
                  </a:outerShdw>
                </a:effectLst>
              </a:rPr>
              <a:t>ame</a:t>
            </a:r>
            <a:endParaRPr sz="5800" dirty="0">
              <a:solidFill>
                <a:srgbClr val="133C73"/>
              </a:solidFill>
              <a:effectLst>
                <a:outerShdw blurRad="12700" dist="38100" dir="2700000" rotWithShape="0">
                  <a:srgbClr val="DDDDDD"/>
                </a:outerShdw>
              </a:effectLst>
            </a:endParaRPr>
          </a:p>
        </p:txBody>
      </p:sp>
      <p:sp>
        <p:nvSpPr>
          <p:cNvPr id="9" name="Shape 180"/>
          <p:cNvSpPr/>
          <p:nvPr/>
        </p:nvSpPr>
        <p:spPr>
          <a:xfrm>
            <a:off x="1551259" y="7615681"/>
            <a:ext cx="10183542" cy="1738938"/>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marL="457200" indent="-457200">
              <a:lnSpc>
                <a:spcPct val="90000"/>
              </a:lnSpc>
              <a:buFont typeface="Arial" charset="0"/>
              <a:buChar char="•"/>
              <a:defRPr sz="3000" b="1">
                <a:latin typeface="+mj-lt"/>
                <a:ea typeface="+mj-ea"/>
                <a:cs typeface="+mj-cs"/>
                <a:sym typeface="Helvetica"/>
              </a:defRPr>
            </a:pPr>
            <a:r>
              <a:rPr lang="en-US" dirty="0" smtClean="0"/>
              <a:t>If you choose strategy 1, then I should choose strategy 1</a:t>
            </a:r>
          </a:p>
          <a:p>
            <a:pPr marL="457200" indent="-457200">
              <a:lnSpc>
                <a:spcPct val="90000"/>
              </a:lnSpc>
              <a:buFont typeface="Arial" charset="0"/>
              <a:buChar char="•"/>
              <a:defRPr sz="3000" b="1">
                <a:latin typeface="+mj-lt"/>
                <a:ea typeface="+mj-ea"/>
                <a:cs typeface="+mj-cs"/>
                <a:sym typeface="Helvetica"/>
              </a:defRPr>
            </a:pPr>
            <a:r>
              <a:rPr lang="en-US" dirty="0" smtClean="0"/>
              <a:t>If you choose strategy 2, then I should choose strategy 1</a:t>
            </a:r>
          </a:p>
        </p:txBody>
      </p:sp>
      <mc:AlternateContent xmlns:mc="http://schemas.openxmlformats.org/markup-compatibility/2006" xmlns:a14="http://schemas.microsoft.com/office/drawing/2010/main">
        <mc:Choice Requires="a14">
          <p:graphicFrame>
            <p:nvGraphicFramePr>
              <p:cNvPr id="11" name="Table 177"/>
              <p:cNvGraphicFramePr/>
              <p:nvPr>
                <p:extLst>
                  <p:ext uri="{D42A27DB-BD31-4B8C-83A1-F6EECF244321}">
                    <p14:modId xmlns:p14="http://schemas.microsoft.com/office/powerpoint/2010/main" val="567080505"/>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mr-IN" sz="3200" b="0" i="1" baseline="0" smtClean="0">
                                            <a:latin typeface="Cambria Math" charset="0"/>
                                          </a:rPr>
                                          <m:t>1</m:t>
                                        </m:r>
                                        <m:r>
                                          <a:rPr lang="en-US" sz="3200" b="0" i="1" baseline="0" smtClean="0">
                                            <a:latin typeface="Cambria Math" charset="0"/>
                                          </a:rPr>
                                          <m:t>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mr-IN" sz="3200" b="0" i="1" baseline="0" smtClean="0">
                                            <a:latin typeface="Cambria Math" charset="0"/>
                                          </a:rPr>
                                          <m:t>1</m:t>
                                        </m:r>
                                        <m:r>
                                          <a:rPr lang="en-US" sz="3200" b="0" i="1" baseline="0" smtClean="0">
                                            <a:latin typeface="Cambria Math" charset="0"/>
                                          </a:rPr>
                                          <m:t>2</m:t>
                                        </m:r>
                                      </m:sub>
                                    </m:sSub>
                                  </m:e>
                                </m:d>
                                <m:r>
                                  <a:rPr lang="mr-IN" sz="3200" b="0" i="1" baseline="0" smtClean="0">
                                    <a:latin typeface="Cambria Math" charset="0"/>
                                  </a:rPr>
                                  <m:t>=(</m:t>
                                </m:r>
                                <m:r>
                                  <a:rPr lang="en-US" sz="3200" b="0" i="1" baseline="0" smtClean="0">
                                    <a:latin typeface="Cambria Math" charset="0"/>
                                  </a:rPr>
                                  <m:t>3</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1" name="Table 177"/>
              <p:cNvGraphicFramePr/>
              <p:nvPr>
                <p:extLst>
                  <p:ext uri="{D42A27DB-BD31-4B8C-83A1-F6EECF244321}">
                    <p14:modId xmlns:p14="http://schemas.microsoft.com/office/powerpoint/2010/main" val="567080505"/>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p:spTree>
    <p:extLst>
      <p:ext uri="{BB962C8B-B14F-4D97-AF65-F5344CB8AC3E}">
        <p14:creationId xmlns:p14="http://schemas.microsoft.com/office/powerpoint/2010/main" val="1405451562"/>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p:nvPr/>
        </p:nvSpPr>
        <p:spPr>
          <a:xfrm>
            <a:off x="4569940" y="2174589"/>
            <a:ext cx="373380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dirty="0"/>
              <a:t>How should </a:t>
            </a:r>
            <a:r>
              <a:rPr lang="en-US" dirty="0" smtClean="0"/>
              <a:t>I </a:t>
            </a:r>
            <a:r>
              <a:rPr smtClean="0"/>
              <a:t>play?</a:t>
            </a:r>
            <a:endParaRPr lang="en-US" dirty="0" smtClean="0"/>
          </a:p>
        </p:txBody>
      </p:sp>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lang="en-US" sz="5800" dirty="0" smtClean="0">
                <a:solidFill>
                  <a:srgbClr val="133C73"/>
                </a:solidFill>
                <a:effectLst>
                  <a:outerShdw blurRad="12700" dist="38100" dir="2700000" rotWithShape="0">
                    <a:srgbClr val="DDDDDD"/>
                  </a:outerShdw>
                </a:effectLst>
              </a:rPr>
              <a:t>G</a:t>
            </a:r>
            <a:r>
              <a:rPr sz="5800" dirty="0" smtClean="0">
                <a:solidFill>
                  <a:srgbClr val="133C73"/>
                </a:solidFill>
                <a:effectLst>
                  <a:outerShdw blurRad="12700" dist="38100" dir="2700000" rotWithShape="0">
                    <a:srgbClr val="DDDDDD"/>
                  </a:outerShdw>
                </a:effectLst>
              </a:rPr>
              <a:t>ame</a:t>
            </a:r>
            <a:endParaRPr sz="5800" dirty="0">
              <a:solidFill>
                <a:srgbClr val="133C73"/>
              </a:solidFill>
              <a:effectLst>
                <a:outerShdw blurRad="12700" dist="38100" dir="2700000" rotWithShape="0">
                  <a:srgbClr val="DDDDDD"/>
                </a:outerShdw>
              </a:effectLst>
            </a:endParaRPr>
          </a:p>
        </p:txBody>
      </p:sp>
      <p:sp>
        <p:nvSpPr>
          <p:cNvPr id="9" name="Shape 180"/>
          <p:cNvSpPr/>
          <p:nvPr/>
        </p:nvSpPr>
        <p:spPr>
          <a:xfrm>
            <a:off x="1551259" y="7615681"/>
            <a:ext cx="1018354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For me, strategy 1 </a:t>
            </a:r>
            <a:r>
              <a:rPr lang="en-US" i="1" dirty="0" smtClean="0"/>
              <a:t>dominates</a:t>
            </a:r>
            <a:r>
              <a:rPr lang="en-US" dirty="0" smtClean="0"/>
              <a:t> over strategy 2</a:t>
            </a:r>
          </a:p>
        </p:txBody>
      </p:sp>
      <mc:AlternateContent xmlns:mc="http://schemas.openxmlformats.org/markup-compatibility/2006" xmlns:a14="http://schemas.microsoft.com/office/drawing/2010/main">
        <mc:Choice Requires="a14">
          <p:graphicFrame>
            <p:nvGraphicFramePr>
              <p:cNvPr id="8" name="Table 177"/>
              <p:cNvGraphicFramePr/>
              <p:nvPr>
                <p:extLst>
                  <p:ext uri="{D42A27DB-BD31-4B8C-83A1-F6EECF244321}">
                    <p14:modId xmlns:p14="http://schemas.microsoft.com/office/powerpoint/2010/main" val="92227173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mr-IN" sz="3200" b="0" i="1" baseline="0" smtClean="0">
                                            <a:latin typeface="Cambria Math" charset="0"/>
                                          </a:rPr>
                                          <m:t>1</m:t>
                                        </m:r>
                                        <m:r>
                                          <a:rPr lang="en-US" sz="3200" b="0" i="1" baseline="0" smtClean="0">
                                            <a:latin typeface="Cambria Math" charset="0"/>
                                          </a:rPr>
                                          <m:t>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mr-IN" sz="3200" b="0" i="1" baseline="0" smtClean="0">
                                            <a:latin typeface="Cambria Math" charset="0"/>
                                          </a:rPr>
                                          <m:t>1</m:t>
                                        </m:r>
                                        <m:r>
                                          <a:rPr lang="en-US" sz="3200" b="0" i="1" baseline="0" smtClean="0">
                                            <a:latin typeface="Cambria Math" charset="0"/>
                                          </a:rPr>
                                          <m:t>2</m:t>
                                        </m:r>
                                      </m:sub>
                                    </m:sSub>
                                  </m:e>
                                </m:d>
                                <m:r>
                                  <a:rPr lang="mr-IN" sz="3200" b="0" i="1" baseline="0" smtClean="0">
                                    <a:latin typeface="Cambria Math" charset="0"/>
                                  </a:rPr>
                                  <m:t>=(</m:t>
                                </m:r>
                                <m:r>
                                  <a:rPr lang="en-US" sz="3200" b="0" i="1" baseline="0" smtClean="0">
                                    <a:latin typeface="Cambria Math" charset="0"/>
                                  </a:rPr>
                                  <m:t>3</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8" name="Table 177"/>
              <p:cNvGraphicFramePr/>
              <p:nvPr>
                <p:extLst>
                  <p:ext uri="{D42A27DB-BD31-4B8C-83A1-F6EECF244321}">
                    <p14:modId xmlns:p14="http://schemas.microsoft.com/office/powerpoint/2010/main" val="92227173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mc:AlternateContent xmlns:mc="http://schemas.openxmlformats.org/markup-compatibility/2006" xmlns:a14="http://schemas.microsoft.com/office/drawing/2010/main">
        <mc:Choice Requires="a14">
          <p:sp>
            <p:nvSpPr>
              <p:cNvPr id="10" name="Shape 180"/>
              <p:cNvSpPr/>
              <p:nvPr/>
            </p:nvSpPr>
            <p:spPr>
              <a:xfrm>
                <a:off x="1551259" y="8406921"/>
                <a:ext cx="10830211" cy="531812"/>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For me, strategy </a:t>
                </a:r>
                <a14:m>
                  <m:oMath xmlns:m="http://schemas.openxmlformats.org/officeDocument/2006/math">
                    <m:r>
                      <a:rPr lang="en-US" b="1" i="1" smtClean="0">
                        <a:latin typeface="Cambria Math" charset="0"/>
                      </a:rPr>
                      <m:t>𝒊</m:t>
                    </m:r>
                  </m:oMath>
                </a14:m>
                <a:r>
                  <a:rPr lang="en-US" dirty="0" smtClean="0"/>
                  <a:t> </a:t>
                </a:r>
                <a:r>
                  <a:rPr lang="en-US" i="1" dirty="0" smtClean="0"/>
                  <a:t>dominates</a:t>
                </a:r>
                <a:r>
                  <a:rPr lang="en-US" dirty="0" smtClean="0"/>
                  <a:t> strategy </a:t>
                </a:r>
                <a14:m>
                  <m:oMath xmlns:m="http://schemas.openxmlformats.org/officeDocument/2006/math">
                    <m:r>
                      <a:rPr lang="en-US" b="1" i="1" smtClean="0">
                        <a:latin typeface="Cambria Math" charset="0"/>
                      </a:rPr>
                      <m:t>𝒋</m:t>
                    </m:r>
                  </m:oMath>
                </a14:m>
                <a:r>
                  <a:rPr lang="en-US" dirty="0" smtClean="0"/>
                  <a:t> if </a:t>
                </a:r>
                <a14:m>
                  <m:oMath xmlns:m="http://schemas.openxmlformats.org/officeDocument/2006/math">
                    <m:sSub>
                      <m:sSubPr>
                        <m:ctrlPr>
                          <a:rPr lang="en-US" b="1" i="1" smtClean="0">
                            <a:latin typeface="Cambria Math" charset="0"/>
                          </a:rPr>
                        </m:ctrlPr>
                      </m:sSubPr>
                      <m:e>
                        <m:r>
                          <a:rPr lang="en-US" b="1" i="1" smtClean="0">
                            <a:latin typeface="Cambria Math" charset="0"/>
                          </a:rPr>
                          <m:t>𝒂</m:t>
                        </m:r>
                      </m:e>
                      <m:sub>
                        <m:r>
                          <a:rPr lang="en-US" b="1" i="1" smtClean="0">
                            <a:latin typeface="Cambria Math" charset="0"/>
                          </a:rPr>
                          <m:t>𝒊𝒋</m:t>
                        </m:r>
                      </m:sub>
                    </m:sSub>
                    <m:r>
                      <a:rPr lang="en-US" b="1" i="1" smtClean="0">
                        <a:latin typeface="Cambria Math" charset="0"/>
                      </a:rPr>
                      <m:t>≥</m:t>
                    </m:r>
                    <m:sSub>
                      <m:sSubPr>
                        <m:ctrlPr>
                          <a:rPr lang="en-US" b="1" i="1" smtClean="0">
                            <a:latin typeface="Cambria Math" charset="0"/>
                          </a:rPr>
                        </m:ctrlPr>
                      </m:sSubPr>
                      <m:e>
                        <m:r>
                          <a:rPr lang="en-US" b="1" i="1" smtClean="0">
                            <a:latin typeface="Cambria Math" charset="0"/>
                          </a:rPr>
                          <m:t>𝒂</m:t>
                        </m:r>
                      </m:e>
                      <m:sub>
                        <m:r>
                          <a:rPr lang="en-US" b="1" i="1" smtClean="0">
                            <a:latin typeface="Cambria Math" charset="0"/>
                          </a:rPr>
                          <m:t>𝒌𝒋</m:t>
                        </m:r>
                      </m:sub>
                    </m:sSub>
                  </m:oMath>
                </a14:m>
                <a:r>
                  <a:rPr lang="en-US" dirty="0" smtClean="0"/>
                  <a:t> for all </a:t>
                </a:r>
                <a14:m>
                  <m:oMath xmlns:m="http://schemas.openxmlformats.org/officeDocument/2006/math">
                    <m:r>
                      <a:rPr lang="en-US" b="1" i="1" smtClean="0">
                        <a:latin typeface="Cambria Math" charset="0"/>
                      </a:rPr>
                      <m:t>𝒋</m:t>
                    </m:r>
                  </m:oMath>
                </a14:m>
                <a:endParaRPr lang="en-US" dirty="0" smtClean="0"/>
              </a:p>
            </p:txBody>
          </p:sp>
        </mc:Choice>
        <mc:Fallback xmlns="">
          <p:sp>
            <p:nvSpPr>
              <p:cNvPr id="10" name="Shape 180"/>
              <p:cNvSpPr>
                <a:spLocks noRot="1" noChangeAspect="1" noMove="1" noResize="1" noEditPoints="1" noAdjustHandles="1" noChangeArrowheads="1" noChangeShapeType="1" noTextEdit="1"/>
              </p:cNvSpPr>
              <p:nvPr/>
            </p:nvSpPr>
            <p:spPr>
              <a:xfrm>
                <a:off x="1551259" y="8406921"/>
                <a:ext cx="10830211" cy="531812"/>
              </a:xfrm>
              <a:prstGeom prst="rect">
                <a:avLst/>
              </a:prstGeom>
              <a:blipFill rotWithShape="0">
                <a:blip r:embed="rId4"/>
                <a:stretch>
                  <a:fillRect l="-1801" t="-24138" b="-33333"/>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p:spTree>
    <p:extLst>
      <p:ext uri="{BB962C8B-B14F-4D97-AF65-F5344CB8AC3E}">
        <p14:creationId xmlns:p14="http://schemas.microsoft.com/office/powerpoint/2010/main" val="1080944392"/>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dirty="0" smtClean="0">
                <a:solidFill>
                  <a:srgbClr val="133C73"/>
                </a:solidFill>
                <a:effectLst>
                  <a:outerShdw blurRad="12700" dist="38100" dir="2700000" rotWithShape="0">
                    <a:srgbClr val="DDDDDD"/>
                  </a:outerShdw>
                </a:effectLst>
              </a:rPr>
              <a:t>Two </a:t>
            </a:r>
            <a:r>
              <a:rPr sz="5800" dirty="0">
                <a:solidFill>
                  <a:srgbClr val="133C73"/>
                </a:solidFill>
                <a:effectLst>
                  <a:outerShdw blurRad="12700" dist="38100" dir="2700000" rotWithShape="0">
                    <a:srgbClr val="DDDDDD"/>
                  </a:outerShdw>
                </a:effectLst>
              </a:rPr>
              <a:t>Player </a:t>
            </a:r>
            <a:r>
              <a:rPr lang="en-US" sz="5800" dirty="0" smtClean="0">
                <a:solidFill>
                  <a:srgbClr val="133C73"/>
                </a:solidFill>
                <a:effectLst>
                  <a:outerShdw blurRad="12700" dist="38100" dir="2700000" rotWithShape="0">
                    <a:srgbClr val="DDDDDD"/>
                  </a:outerShdw>
                </a:effectLst>
              </a:rPr>
              <a:t>G</a:t>
            </a:r>
            <a:r>
              <a:rPr sz="5800" dirty="0" smtClean="0">
                <a:solidFill>
                  <a:srgbClr val="133C73"/>
                </a:solidFill>
                <a:effectLst>
                  <a:outerShdw blurRad="12700" dist="38100" dir="2700000" rotWithShape="0">
                    <a:srgbClr val="DDDDDD"/>
                  </a:outerShdw>
                </a:effectLst>
              </a:rPr>
              <a:t>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sp>
            <p:nvSpPr>
              <p:cNvPr id="12" name="Shape 180"/>
              <p:cNvSpPr/>
              <p:nvPr/>
            </p:nvSpPr>
            <p:spPr>
              <a:xfrm>
                <a:off x="1551259" y="8451989"/>
                <a:ext cx="10830211" cy="531812"/>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For you, strategy </a:t>
                </a:r>
                <a14:m>
                  <m:oMath xmlns:m="http://schemas.openxmlformats.org/officeDocument/2006/math">
                    <m:r>
                      <a:rPr lang="en-US" b="1" i="1" smtClean="0">
                        <a:latin typeface="Cambria Math" charset="0"/>
                      </a:rPr>
                      <m:t>𝒋</m:t>
                    </m:r>
                  </m:oMath>
                </a14:m>
                <a:r>
                  <a:rPr lang="en-US" dirty="0" smtClean="0"/>
                  <a:t> </a:t>
                </a:r>
                <a:r>
                  <a:rPr lang="en-US" i="1" dirty="0" smtClean="0"/>
                  <a:t>dominates</a:t>
                </a:r>
                <a:r>
                  <a:rPr lang="en-US" dirty="0" smtClean="0"/>
                  <a:t> strategy </a:t>
                </a:r>
                <a14:m>
                  <m:oMath xmlns:m="http://schemas.openxmlformats.org/officeDocument/2006/math">
                    <m:r>
                      <a:rPr lang="en-US" b="1" i="1" smtClean="0">
                        <a:latin typeface="Cambria Math" charset="0"/>
                      </a:rPr>
                      <m:t>𝒍</m:t>
                    </m:r>
                  </m:oMath>
                </a14:m>
                <a:r>
                  <a:rPr lang="en-US" dirty="0" smtClean="0"/>
                  <a:t> if </a:t>
                </a:r>
                <a14:m>
                  <m:oMath xmlns:m="http://schemas.openxmlformats.org/officeDocument/2006/math">
                    <m:sSub>
                      <m:sSubPr>
                        <m:ctrlPr>
                          <a:rPr lang="en-US" b="1" i="1" smtClean="0">
                            <a:latin typeface="Cambria Math" charset="0"/>
                          </a:rPr>
                        </m:ctrlPr>
                      </m:sSubPr>
                      <m:e>
                        <m:r>
                          <a:rPr lang="en-US" b="1" i="1" smtClean="0">
                            <a:latin typeface="Cambria Math" charset="0"/>
                          </a:rPr>
                          <m:t>𝒃</m:t>
                        </m:r>
                      </m:e>
                      <m:sub>
                        <m:r>
                          <a:rPr lang="en-US" b="1" i="1" smtClean="0">
                            <a:latin typeface="Cambria Math" charset="0"/>
                          </a:rPr>
                          <m:t>𝒊𝒋</m:t>
                        </m:r>
                      </m:sub>
                    </m:sSub>
                    <m:r>
                      <a:rPr lang="en-US" b="1" i="1" smtClean="0">
                        <a:latin typeface="Cambria Math" charset="0"/>
                      </a:rPr>
                      <m:t>≥</m:t>
                    </m:r>
                    <m:sSub>
                      <m:sSubPr>
                        <m:ctrlPr>
                          <a:rPr lang="en-US" b="1" i="1" smtClean="0">
                            <a:latin typeface="Cambria Math" charset="0"/>
                          </a:rPr>
                        </m:ctrlPr>
                      </m:sSubPr>
                      <m:e>
                        <m:r>
                          <a:rPr lang="en-US" b="1" i="1" smtClean="0">
                            <a:latin typeface="Cambria Math" charset="0"/>
                          </a:rPr>
                          <m:t>𝒃</m:t>
                        </m:r>
                      </m:e>
                      <m:sub>
                        <m:r>
                          <a:rPr lang="en-US" b="1" i="1" smtClean="0">
                            <a:latin typeface="Cambria Math" charset="0"/>
                          </a:rPr>
                          <m:t>𝒊𝒍</m:t>
                        </m:r>
                      </m:sub>
                    </m:sSub>
                  </m:oMath>
                </a14:m>
                <a:r>
                  <a:rPr lang="en-US" dirty="0" smtClean="0"/>
                  <a:t> for all </a:t>
                </a:r>
                <a14:m>
                  <m:oMath xmlns:m="http://schemas.openxmlformats.org/officeDocument/2006/math">
                    <m:r>
                      <a:rPr lang="en-US" b="1" i="1" smtClean="0">
                        <a:latin typeface="Cambria Math" charset="0"/>
                      </a:rPr>
                      <m:t>𝒋</m:t>
                    </m:r>
                  </m:oMath>
                </a14:m>
                <a:endParaRPr lang="en-US" dirty="0" smtClean="0"/>
              </a:p>
            </p:txBody>
          </p:sp>
        </mc:Choice>
        <mc:Fallback xmlns="">
          <p:sp>
            <p:nvSpPr>
              <p:cNvPr id="12" name="Shape 180"/>
              <p:cNvSpPr>
                <a:spLocks noRot="1" noChangeAspect="1" noMove="1" noResize="1" noEditPoints="1" noAdjustHandles="1" noChangeArrowheads="1" noChangeShapeType="1" noTextEdit="1"/>
              </p:cNvSpPr>
              <p:nvPr/>
            </p:nvSpPr>
            <p:spPr>
              <a:xfrm>
                <a:off x="1551259" y="8451989"/>
                <a:ext cx="10830211" cy="531812"/>
              </a:xfrm>
              <a:prstGeom prst="rect">
                <a:avLst/>
              </a:prstGeom>
              <a:blipFill rotWithShape="0">
                <a:blip r:embed="rId3"/>
                <a:stretch>
                  <a:fillRect l="-1801" t="-23864" b="-31818"/>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177"/>
              <p:cNvGraphicFramePr/>
              <p:nvPr>
                <p:extLst>
                  <p:ext uri="{D42A27DB-BD31-4B8C-83A1-F6EECF244321}">
                    <p14:modId xmlns:p14="http://schemas.microsoft.com/office/powerpoint/2010/main" val="1005813328"/>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mr-IN" sz="3200" b="0" i="1" baseline="0" smtClean="0">
                                            <a:latin typeface="Cambria Math" charset="0"/>
                                          </a:rPr>
                                          <m:t>1</m:t>
                                        </m:r>
                                        <m:r>
                                          <a:rPr lang="en-US" sz="3200" b="0" i="1" baseline="0" smtClean="0">
                                            <a:latin typeface="Cambria Math" charset="0"/>
                                          </a:rPr>
                                          <m:t>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mr-IN" sz="3200" b="0" i="1" baseline="0" smtClean="0">
                                            <a:latin typeface="Cambria Math" charset="0"/>
                                          </a:rPr>
                                          <m:t>1</m:t>
                                        </m:r>
                                        <m:r>
                                          <a:rPr lang="en-US" sz="3200" b="0" i="1" baseline="0" smtClean="0">
                                            <a:latin typeface="Cambria Math" charset="0"/>
                                          </a:rPr>
                                          <m:t>2</m:t>
                                        </m:r>
                                      </m:sub>
                                    </m:sSub>
                                  </m:e>
                                </m:d>
                                <m:r>
                                  <a:rPr lang="mr-IN" sz="3200" b="0" i="1" baseline="0" smtClean="0">
                                    <a:latin typeface="Cambria Math" charset="0"/>
                                  </a:rPr>
                                  <m:t>=(</m:t>
                                </m:r>
                                <m:r>
                                  <a:rPr lang="en-US" sz="3200" b="0" i="1" baseline="0" smtClean="0">
                                    <a:latin typeface="Cambria Math" charset="0"/>
                                  </a:rPr>
                                  <m:t>3</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3" name="Table 177"/>
              <p:cNvGraphicFramePr/>
              <p:nvPr>
                <p:extLst>
                  <p:ext uri="{D42A27DB-BD31-4B8C-83A1-F6EECF244321}">
                    <p14:modId xmlns:p14="http://schemas.microsoft.com/office/powerpoint/2010/main" val="1005813328"/>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4"/>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4"/>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4"/>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4"/>
                          <a:stretch>
                            <a:fillRect l="-206089" t="-177470" r="-7934" b="-791"/>
                          </a:stretch>
                        </a:blipFill>
                      </a:tcPr>
                    </a:tc>
                  </a:tr>
                </a:tbl>
              </a:graphicData>
            </a:graphic>
          </p:graphicFrame>
        </mc:Fallback>
      </mc:AlternateContent>
      <p:sp>
        <p:nvSpPr>
          <p:cNvPr id="14" name="Shape 180"/>
          <p:cNvSpPr/>
          <p:nvPr/>
        </p:nvSpPr>
        <p:spPr>
          <a:xfrm>
            <a:off x="4569940" y="2174590"/>
            <a:ext cx="4382674"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dirty="0"/>
              <a:t>How </a:t>
            </a:r>
            <a:r>
              <a:rPr/>
              <a:t>should </a:t>
            </a:r>
            <a:r>
              <a:rPr lang="en-US" smtClean="0"/>
              <a:t>you </a:t>
            </a:r>
            <a:r>
              <a:rPr smtClean="0"/>
              <a:t>play?</a:t>
            </a:r>
            <a:endParaRPr lang="en-US" dirty="0" smtClean="0"/>
          </a:p>
        </p:txBody>
      </p:sp>
      <p:sp>
        <p:nvSpPr>
          <p:cNvPr id="15" name="Shape 180"/>
          <p:cNvSpPr/>
          <p:nvPr/>
        </p:nvSpPr>
        <p:spPr>
          <a:xfrm>
            <a:off x="1551259" y="7638215"/>
            <a:ext cx="1018354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For you, strategy 2 </a:t>
            </a:r>
            <a:r>
              <a:rPr lang="en-US" i="1" dirty="0" smtClean="0"/>
              <a:t>dominates</a:t>
            </a:r>
            <a:r>
              <a:rPr lang="en-US" dirty="0" smtClean="0"/>
              <a:t> over strategy 1</a:t>
            </a:r>
          </a:p>
        </p:txBody>
      </p:sp>
    </p:spTree>
    <p:extLst>
      <p:ext uri="{BB962C8B-B14F-4D97-AF65-F5344CB8AC3E}">
        <p14:creationId xmlns:p14="http://schemas.microsoft.com/office/powerpoint/2010/main" val="1113998338"/>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929758" y="254000"/>
            <a:ext cx="11297686" cy="2133787"/>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smtClean="0">
                <a:solidFill>
                  <a:srgbClr val="133C73"/>
                </a:solidFill>
                <a:effectLst>
                  <a:outerShdw blurRad="12700" dist="38100" dir="2700000" rotWithShape="0">
                    <a:srgbClr val="DDDDDD"/>
                  </a:outerShdw>
                </a:effectLst>
              </a:rPr>
              <a:t>Dominant Strategy Equilibrium</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9" name="Table 177"/>
              <p:cNvGraphicFramePr/>
              <p:nvPr>
                <p:extLst>
                  <p:ext uri="{D42A27DB-BD31-4B8C-83A1-F6EECF244321}">
                    <p14:modId xmlns:p14="http://schemas.microsoft.com/office/powerpoint/2010/main" val="1240308319"/>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solidFill>
                                          <a:srgbClr val="FF0000"/>
                                        </a:solidFill>
                                        <a:latin typeface="Cambria Math" charset="0"/>
                                      </a:rPr>
                                    </m:ctrlPr>
                                  </m:dPr>
                                  <m:e>
                                    <m:sSub>
                                      <m:sSubPr>
                                        <m:ctrlPr>
                                          <a:rPr lang="mr-IN" sz="3200" b="0" i="1" baseline="0" smtClean="0">
                                            <a:solidFill>
                                              <a:srgbClr val="FF0000"/>
                                            </a:solidFill>
                                            <a:latin typeface="Cambria Math" charset="0"/>
                                          </a:rPr>
                                        </m:ctrlPr>
                                      </m:sSubPr>
                                      <m:e>
                                        <m:r>
                                          <a:rPr lang="mr-IN" sz="3200" b="0" i="1" baseline="0" smtClean="0">
                                            <a:solidFill>
                                              <a:srgbClr val="FF0000"/>
                                            </a:solidFill>
                                            <a:latin typeface="Cambria Math" charset="0"/>
                                          </a:rPr>
                                          <m:t>𝑎</m:t>
                                        </m:r>
                                      </m:e>
                                      <m:sub>
                                        <m:r>
                                          <a:rPr lang="mr-IN" sz="3200" b="0" i="1" baseline="0" smtClean="0">
                                            <a:solidFill>
                                              <a:srgbClr val="FF0000"/>
                                            </a:solidFill>
                                            <a:latin typeface="Cambria Math" charset="0"/>
                                          </a:rPr>
                                          <m:t>1</m:t>
                                        </m:r>
                                        <m:r>
                                          <a:rPr lang="en-US" sz="3200" b="0" i="1" baseline="0" smtClean="0">
                                            <a:solidFill>
                                              <a:srgbClr val="FF0000"/>
                                            </a:solidFill>
                                            <a:latin typeface="Cambria Math" charset="0"/>
                                          </a:rPr>
                                          <m:t>2</m:t>
                                        </m:r>
                                      </m:sub>
                                    </m:sSub>
                                    <m:r>
                                      <a:rPr lang="mr-IN" sz="3200" b="0" i="1" baseline="0" smtClean="0">
                                        <a:solidFill>
                                          <a:srgbClr val="FF0000"/>
                                        </a:solidFill>
                                        <a:latin typeface="Cambria Math" charset="0"/>
                                      </a:rPr>
                                      <m:t>,</m:t>
                                    </m:r>
                                    <m:sSub>
                                      <m:sSubPr>
                                        <m:ctrlPr>
                                          <a:rPr lang="mr-IN" sz="3200" b="0" i="1" baseline="0" smtClean="0">
                                            <a:solidFill>
                                              <a:srgbClr val="FF0000"/>
                                            </a:solidFill>
                                            <a:latin typeface="Cambria Math" charset="0"/>
                                          </a:rPr>
                                        </m:ctrlPr>
                                      </m:sSubPr>
                                      <m:e>
                                        <m:r>
                                          <a:rPr lang="mr-IN" sz="3200" b="0" i="1" baseline="0" smtClean="0">
                                            <a:solidFill>
                                              <a:srgbClr val="FF0000"/>
                                            </a:solidFill>
                                            <a:latin typeface="Cambria Math" charset="0"/>
                                          </a:rPr>
                                          <m:t>𝑏</m:t>
                                        </m:r>
                                      </m:e>
                                      <m:sub>
                                        <m:r>
                                          <a:rPr lang="mr-IN" sz="3200" b="0" i="1" baseline="0" smtClean="0">
                                            <a:solidFill>
                                              <a:srgbClr val="FF0000"/>
                                            </a:solidFill>
                                            <a:latin typeface="Cambria Math" charset="0"/>
                                          </a:rPr>
                                          <m:t>1</m:t>
                                        </m:r>
                                        <m:r>
                                          <a:rPr lang="en-US" sz="3200" b="0" i="1" baseline="0" smtClean="0">
                                            <a:solidFill>
                                              <a:srgbClr val="FF0000"/>
                                            </a:solidFill>
                                            <a:latin typeface="Cambria Math" charset="0"/>
                                          </a:rPr>
                                          <m:t>2</m:t>
                                        </m:r>
                                      </m:sub>
                                    </m:sSub>
                                  </m:e>
                                </m:d>
                                <m:r>
                                  <a:rPr lang="mr-IN" sz="3200" b="0" i="1" baseline="0" smtClean="0">
                                    <a:solidFill>
                                      <a:srgbClr val="FF0000"/>
                                    </a:solidFill>
                                    <a:latin typeface="Cambria Math" charset="0"/>
                                  </a:rPr>
                                  <m:t>=(</m:t>
                                </m:r>
                                <m:r>
                                  <a:rPr lang="en-US" sz="3200" b="0" i="1" baseline="0" smtClean="0">
                                    <a:solidFill>
                                      <a:srgbClr val="FF0000"/>
                                    </a:solidFill>
                                    <a:latin typeface="Cambria Math" charset="0"/>
                                  </a:rPr>
                                  <m:t>3</m:t>
                                </m:r>
                                <m:r>
                                  <a:rPr lang="mr-IN" sz="3200" b="0" i="1" baseline="0" smtClean="0">
                                    <a:solidFill>
                                      <a:srgbClr val="FF0000"/>
                                    </a:solidFill>
                                    <a:latin typeface="Cambria Math" charset="0"/>
                                  </a:rPr>
                                  <m:t>, </m:t>
                                </m:r>
                                <m:r>
                                  <a:rPr lang="en-US" sz="3200" b="0" i="1" baseline="0" smtClean="0">
                                    <a:solidFill>
                                      <a:srgbClr val="FF0000"/>
                                    </a:solidFill>
                                    <a:latin typeface="Cambria Math" charset="0"/>
                                  </a:rPr>
                                  <m:t>4</m:t>
                                </m:r>
                                <m:r>
                                  <a:rPr lang="mr-IN" sz="3200" b="0" i="1" baseline="0" smtClean="0">
                                    <a:solidFill>
                                      <a:srgbClr val="FF0000"/>
                                    </a:solidFill>
                                    <a:latin typeface="Cambria Math" charset="0"/>
                                  </a:rPr>
                                  <m:t>)</m:t>
                                </m:r>
                              </m:oMath>
                            </m:oMathPara>
                          </a14:m>
                          <a:endParaRPr lang="mr-IN" sz="3200" baseline="0" dirty="0">
                            <a:solidFill>
                              <a:srgbClr val="FF0000"/>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9" name="Table 177"/>
              <p:cNvGraphicFramePr/>
              <p:nvPr>
                <p:extLst>
                  <p:ext uri="{D42A27DB-BD31-4B8C-83A1-F6EECF244321}">
                    <p14:modId xmlns:p14="http://schemas.microsoft.com/office/powerpoint/2010/main" val="1240308319"/>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p:sp>
        <p:nvSpPr>
          <p:cNvPr id="15" name="Shape 180"/>
          <p:cNvSpPr/>
          <p:nvPr/>
        </p:nvSpPr>
        <p:spPr>
          <a:xfrm>
            <a:off x="1551260" y="7501041"/>
            <a:ext cx="10183542"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Both players play their dominant strategies.</a:t>
            </a:r>
          </a:p>
        </p:txBody>
      </p:sp>
    </p:spTree>
    <p:extLst>
      <p:ext uri="{BB962C8B-B14F-4D97-AF65-F5344CB8AC3E}">
        <p14:creationId xmlns:p14="http://schemas.microsoft.com/office/powerpoint/2010/main" val="241439139"/>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929758" y="254000"/>
            <a:ext cx="11297686" cy="2133787"/>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smtClean="0">
                <a:solidFill>
                  <a:srgbClr val="133C73"/>
                </a:solidFill>
                <a:effectLst>
                  <a:outerShdw blurRad="12700" dist="38100" dir="2700000" rotWithShape="0">
                    <a:srgbClr val="DDDDDD"/>
                  </a:outerShdw>
                </a:effectLst>
              </a:rPr>
              <a:t>Dominant Strategy Equilibrium</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9" name="Table 177"/>
              <p:cNvGraphicFramePr/>
              <p:nvPr>
                <p:extLst>
                  <p:ext uri="{D42A27DB-BD31-4B8C-83A1-F6EECF244321}">
                    <p14:modId xmlns:p14="http://schemas.microsoft.com/office/powerpoint/2010/main" val="29012852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en-US" sz="3200" b="0" i="1" baseline="0" smtClean="0">
                                        <a:latin typeface="Cambria Math" charset="0"/>
                                      </a:rPr>
                                    </m:ctrlPr>
                                  </m:dPr>
                                  <m:e>
                                    <m:sSub>
                                      <m:sSubPr>
                                        <m:ctrlPr>
                                          <a:rPr lang="en-US" sz="3200" b="0" i="1" baseline="0" smtClean="0">
                                            <a:latin typeface="Cambria Math" charset="0"/>
                                          </a:rPr>
                                        </m:ctrlPr>
                                      </m:sSubPr>
                                      <m:e>
                                        <m:r>
                                          <a:rPr lang="en-US" sz="3200" b="0" i="1" baseline="0" smtClean="0">
                                            <a:latin typeface="Cambria Math" charset="0"/>
                                          </a:rPr>
                                          <m:t>𝑎</m:t>
                                        </m:r>
                                      </m:e>
                                      <m:sub>
                                        <m:r>
                                          <a:rPr lang="en-US" sz="3200" b="0" i="1" baseline="0" smtClean="0">
                                            <a:latin typeface="Cambria Math" charset="0"/>
                                          </a:rPr>
                                          <m:t>11</m:t>
                                        </m:r>
                                      </m:sub>
                                    </m:sSub>
                                    <m:r>
                                      <a:rPr lang="en-US" sz="3200" b="0" i="1" baseline="0" smtClean="0">
                                        <a:latin typeface="Cambria Math" charset="0"/>
                                      </a:rPr>
                                      <m:t>,</m:t>
                                    </m:r>
                                    <m:sSub>
                                      <m:sSubPr>
                                        <m:ctrlPr>
                                          <a:rPr lang="en-US" sz="3200" b="0" i="1" baseline="0" smtClean="0">
                                            <a:latin typeface="Cambria Math" charset="0"/>
                                          </a:rPr>
                                        </m:ctrlPr>
                                      </m:sSubPr>
                                      <m:e>
                                        <m:r>
                                          <a:rPr lang="en-US" sz="3200" b="0" i="1" baseline="0" smtClean="0">
                                            <a:latin typeface="Cambria Math" charset="0"/>
                                          </a:rPr>
                                          <m:t>𝑏</m:t>
                                        </m:r>
                                      </m:e>
                                      <m:sub>
                                        <m:r>
                                          <a:rPr lang="en-US" sz="3200" b="0" i="1" baseline="0" smtClean="0">
                                            <a:latin typeface="Cambria Math" charset="0"/>
                                          </a:rPr>
                                          <m:t>11</m:t>
                                        </m:r>
                                      </m:sub>
                                    </m:sSub>
                                  </m:e>
                                </m:d>
                                <m:r>
                                  <a:rPr lang="en-US" sz="3200" b="0" i="1" baseline="0" smtClean="0">
                                    <a:latin typeface="Cambria Math" charset="0"/>
                                  </a:rPr>
                                  <m:t>=(5, 3)</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solidFill>
                                          <a:srgbClr val="FF0000"/>
                                        </a:solidFill>
                                        <a:latin typeface="Cambria Math" charset="0"/>
                                      </a:rPr>
                                    </m:ctrlPr>
                                  </m:dPr>
                                  <m:e>
                                    <m:sSub>
                                      <m:sSubPr>
                                        <m:ctrlPr>
                                          <a:rPr lang="mr-IN" sz="3200" b="0" i="1" baseline="0" smtClean="0">
                                            <a:solidFill>
                                              <a:srgbClr val="FF0000"/>
                                            </a:solidFill>
                                            <a:latin typeface="Cambria Math" charset="0"/>
                                          </a:rPr>
                                        </m:ctrlPr>
                                      </m:sSubPr>
                                      <m:e>
                                        <m:r>
                                          <a:rPr lang="mr-IN" sz="3200" b="0" i="1" baseline="0" smtClean="0">
                                            <a:solidFill>
                                              <a:srgbClr val="FF0000"/>
                                            </a:solidFill>
                                            <a:latin typeface="Cambria Math" charset="0"/>
                                          </a:rPr>
                                          <m:t>𝑎</m:t>
                                        </m:r>
                                      </m:e>
                                      <m:sub>
                                        <m:r>
                                          <a:rPr lang="mr-IN" sz="3200" b="0" i="1" baseline="0" smtClean="0">
                                            <a:solidFill>
                                              <a:srgbClr val="FF0000"/>
                                            </a:solidFill>
                                            <a:latin typeface="Cambria Math" charset="0"/>
                                          </a:rPr>
                                          <m:t>1</m:t>
                                        </m:r>
                                        <m:r>
                                          <a:rPr lang="en-US" sz="3200" b="0" i="1" baseline="0" smtClean="0">
                                            <a:solidFill>
                                              <a:srgbClr val="FF0000"/>
                                            </a:solidFill>
                                            <a:latin typeface="Cambria Math" charset="0"/>
                                          </a:rPr>
                                          <m:t>2</m:t>
                                        </m:r>
                                      </m:sub>
                                    </m:sSub>
                                    <m:r>
                                      <a:rPr lang="mr-IN" sz="3200" b="0" i="1" baseline="0" smtClean="0">
                                        <a:solidFill>
                                          <a:srgbClr val="FF0000"/>
                                        </a:solidFill>
                                        <a:latin typeface="Cambria Math" charset="0"/>
                                      </a:rPr>
                                      <m:t>,</m:t>
                                    </m:r>
                                    <m:sSub>
                                      <m:sSubPr>
                                        <m:ctrlPr>
                                          <a:rPr lang="mr-IN" sz="3200" b="0" i="1" baseline="0" smtClean="0">
                                            <a:solidFill>
                                              <a:srgbClr val="FF0000"/>
                                            </a:solidFill>
                                            <a:latin typeface="Cambria Math" charset="0"/>
                                          </a:rPr>
                                        </m:ctrlPr>
                                      </m:sSubPr>
                                      <m:e>
                                        <m:r>
                                          <a:rPr lang="mr-IN" sz="3200" b="0" i="1" baseline="0" smtClean="0">
                                            <a:solidFill>
                                              <a:srgbClr val="FF0000"/>
                                            </a:solidFill>
                                            <a:latin typeface="Cambria Math" charset="0"/>
                                          </a:rPr>
                                          <m:t>𝑏</m:t>
                                        </m:r>
                                      </m:e>
                                      <m:sub>
                                        <m:r>
                                          <a:rPr lang="mr-IN" sz="3200" b="0" i="1" baseline="0" smtClean="0">
                                            <a:solidFill>
                                              <a:srgbClr val="FF0000"/>
                                            </a:solidFill>
                                            <a:latin typeface="Cambria Math" charset="0"/>
                                          </a:rPr>
                                          <m:t>1</m:t>
                                        </m:r>
                                        <m:r>
                                          <a:rPr lang="en-US" sz="3200" b="0" i="1" baseline="0" smtClean="0">
                                            <a:solidFill>
                                              <a:srgbClr val="FF0000"/>
                                            </a:solidFill>
                                            <a:latin typeface="Cambria Math" charset="0"/>
                                          </a:rPr>
                                          <m:t>2</m:t>
                                        </m:r>
                                      </m:sub>
                                    </m:sSub>
                                  </m:e>
                                </m:d>
                                <m:r>
                                  <a:rPr lang="mr-IN" sz="3200" b="0" i="1" baseline="0" smtClean="0">
                                    <a:solidFill>
                                      <a:srgbClr val="FF0000"/>
                                    </a:solidFill>
                                    <a:latin typeface="Cambria Math" charset="0"/>
                                  </a:rPr>
                                  <m:t>=(</m:t>
                                </m:r>
                                <m:r>
                                  <a:rPr lang="en-US" sz="3200" b="0" i="1" baseline="0" smtClean="0">
                                    <a:solidFill>
                                      <a:srgbClr val="FF0000"/>
                                    </a:solidFill>
                                    <a:latin typeface="Cambria Math" charset="0"/>
                                  </a:rPr>
                                  <m:t>3</m:t>
                                </m:r>
                                <m:r>
                                  <a:rPr lang="mr-IN" sz="3200" b="0" i="1" baseline="0" smtClean="0">
                                    <a:solidFill>
                                      <a:srgbClr val="FF0000"/>
                                    </a:solidFill>
                                    <a:latin typeface="Cambria Math" charset="0"/>
                                  </a:rPr>
                                  <m:t>, </m:t>
                                </m:r>
                                <m:r>
                                  <a:rPr lang="en-US" sz="3200" b="0" i="1" baseline="0" smtClean="0">
                                    <a:solidFill>
                                      <a:srgbClr val="FF0000"/>
                                    </a:solidFill>
                                    <a:latin typeface="Cambria Math" charset="0"/>
                                  </a:rPr>
                                  <m:t>4</m:t>
                                </m:r>
                                <m:r>
                                  <a:rPr lang="mr-IN" sz="3200" b="0" i="1" baseline="0" smtClean="0">
                                    <a:solidFill>
                                      <a:srgbClr val="FF0000"/>
                                    </a:solidFill>
                                    <a:latin typeface="Cambria Math" charset="0"/>
                                  </a:rPr>
                                  <m:t>)</m:t>
                                </m:r>
                              </m:oMath>
                            </m:oMathPara>
                          </a14:m>
                          <a:endParaRPr lang="mr-IN" sz="3200" baseline="0" dirty="0">
                            <a:solidFill>
                              <a:srgbClr val="FF0000"/>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m:t>
                                        </m:r>
                                        <m:r>
                                          <a:rPr lang="mr-IN" sz="3200" b="0" i="1" baseline="0" smtClean="0">
                                            <a:latin typeface="Cambria Math" charset="0"/>
                                          </a:rPr>
                                          <m:t>1</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m:t>
                                        </m:r>
                                        <m:r>
                                          <a:rPr lang="mr-IN" sz="3200" b="0" i="1" baseline="0" smtClean="0">
                                            <a:latin typeface="Cambria Math" charset="0"/>
                                          </a:rPr>
                                          <m:t>1</m:t>
                                        </m:r>
                                      </m:sub>
                                    </m:sSub>
                                  </m:e>
                                </m:d>
                                <m:r>
                                  <a:rPr lang="mr-IN" sz="3200" b="0" i="1" baseline="0" smtClean="0">
                                    <a:latin typeface="Cambria Math" charset="0"/>
                                  </a:rPr>
                                  <m:t>=(</m:t>
                                </m:r>
                                <m:r>
                                  <a:rPr lang="en-US" sz="3200" b="0" i="1" baseline="0" smtClean="0">
                                    <a:latin typeface="Cambria Math" charset="0"/>
                                  </a:rPr>
                                  <m:t>4</m:t>
                                </m:r>
                                <m:r>
                                  <a:rPr lang="mr-IN" sz="3200" b="0" i="1" baseline="0" smtClean="0">
                                    <a:latin typeface="Cambria Math" charset="0"/>
                                  </a:rPr>
                                  <m:t>, </m:t>
                                </m:r>
                                <m:r>
                                  <a:rPr lang="en-US" sz="3200" b="0" i="1" baseline="0" smtClean="0">
                                    <a:latin typeface="Cambria Math" charset="0"/>
                                  </a:rPr>
                                  <m:t>4</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d>
                                  <m:dPr>
                                    <m:ctrlPr>
                                      <a:rPr lang="mr-IN" sz="3200" b="0" i="1" baseline="0" smtClean="0">
                                        <a:latin typeface="Cambria Math" charset="0"/>
                                      </a:rPr>
                                    </m:ctrlPr>
                                  </m:dPr>
                                  <m:e>
                                    <m:sSub>
                                      <m:sSubPr>
                                        <m:ctrlPr>
                                          <a:rPr lang="mr-IN" sz="3200" b="0" i="1" baseline="0" smtClean="0">
                                            <a:latin typeface="Cambria Math" charset="0"/>
                                          </a:rPr>
                                        </m:ctrlPr>
                                      </m:sSubPr>
                                      <m:e>
                                        <m:r>
                                          <a:rPr lang="mr-IN" sz="3200" b="0" i="1" baseline="0" smtClean="0">
                                            <a:latin typeface="Cambria Math" charset="0"/>
                                          </a:rPr>
                                          <m:t>𝑎</m:t>
                                        </m:r>
                                      </m:e>
                                      <m:sub>
                                        <m:r>
                                          <a:rPr lang="en-US" sz="3200" b="0" i="1" baseline="0" smtClean="0">
                                            <a:latin typeface="Cambria Math" charset="0"/>
                                          </a:rPr>
                                          <m:t>22</m:t>
                                        </m:r>
                                      </m:sub>
                                    </m:sSub>
                                    <m:r>
                                      <a:rPr lang="mr-IN" sz="3200" b="0" i="1" baseline="0" smtClean="0">
                                        <a:latin typeface="Cambria Math" charset="0"/>
                                      </a:rPr>
                                      <m:t>,</m:t>
                                    </m:r>
                                    <m:sSub>
                                      <m:sSubPr>
                                        <m:ctrlPr>
                                          <a:rPr lang="mr-IN" sz="3200" b="0" i="1" baseline="0" smtClean="0">
                                            <a:latin typeface="Cambria Math" charset="0"/>
                                          </a:rPr>
                                        </m:ctrlPr>
                                      </m:sSubPr>
                                      <m:e>
                                        <m:r>
                                          <a:rPr lang="mr-IN" sz="3200" b="0" i="1" baseline="0" smtClean="0">
                                            <a:latin typeface="Cambria Math" charset="0"/>
                                          </a:rPr>
                                          <m:t>𝑏</m:t>
                                        </m:r>
                                      </m:e>
                                      <m:sub>
                                        <m:r>
                                          <a:rPr lang="en-US" sz="3200" b="0" i="1" baseline="0" smtClean="0">
                                            <a:latin typeface="Cambria Math" charset="0"/>
                                          </a:rPr>
                                          <m:t>22</m:t>
                                        </m:r>
                                      </m:sub>
                                    </m:sSub>
                                  </m:e>
                                </m:d>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5</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9" name="Table 177"/>
              <p:cNvGraphicFramePr/>
              <p:nvPr>
                <p:extLst>
                  <p:ext uri="{D42A27DB-BD31-4B8C-83A1-F6EECF244321}">
                    <p14:modId xmlns:p14="http://schemas.microsoft.com/office/powerpoint/2010/main" val="290128524"/>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8133"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7934"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8133"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7934" b="-791"/>
                          </a:stretch>
                        </a:blipFill>
                      </a:tcPr>
                    </a:tc>
                  </a:tr>
                </a:tbl>
              </a:graphicData>
            </a:graphic>
          </p:graphicFrame>
        </mc:Fallback>
      </mc:AlternateContent>
      <p:sp>
        <p:nvSpPr>
          <p:cNvPr id="17" name="Shape 180"/>
          <p:cNvSpPr/>
          <p:nvPr/>
        </p:nvSpPr>
        <p:spPr>
          <a:xfrm>
            <a:off x="1551260" y="7389623"/>
            <a:ext cx="10183542" cy="907941"/>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Example of a </a:t>
            </a:r>
            <a:r>
              <a:rPr lang="en-US" dirty="0" smtClean="0">
                <a:solidFill>
                  <a:srgbClr val="00B050"/>
                </a:solidFill>
              </a:rPr>
              <a:t>Nash Equilibrium</a:t>
            </a:r>
            <a:r>
              <a:rPr lang="en-US" dirty="0" smtClean="0"/>
              <a:t>, each strategy is best for the respective player.</a:t>
            </a:r>
          </a:p>
        </p:txBody>
      </p:sp>
      <p:sp>
        <p:nvSpPr>
          <p:cNvPr id="10" name="Shape 180"/>
          <p:cNvSpPr/>
          <p:nvPr/>
        </p:nvSpPr>
        <p:spPr>
          <a:xfrm>
            <a:off x="1551260" y="8484123"/>
            <a:ext cx="10183542" cy="907941"/>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Neither player can improve by unilaterally changing strategy.</a:t>
            </a:r>
          </a:p>
        </p:txBody>
      </p:sp>
    </p:spTree>
    <p:extLst>
      <p:ext uri="{BB962C8B-B14F-4D97-AF65-F5344CB8AC3E}">
        <p14:creationId xmlns:p14="http://schemas.microsoft.com/office/powerpoint/2010/main" val="1401012934"/>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p:sp>
        <p:nvSpPr>
          <p:cNvPr id="8" name="Shape 180"/>
          <p:cNvSpPr/>
          <p:nvPr/>
        </p:nvSpPr>
        <p:spPr>
          <a:xfrm>
            <a:off x="1674672" y="7148026"/>
            <a:ext cx="9655456"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Does either player have a dominant strategy?</a:t>
            </a:r>
          </a:p>
        </p:txBody>
      </p:sp>
      <p:graphicFrame>
        <p:nvGraphicFramePr>
          <p:cNvPr id="17" name="Table 187"/>
          <p:cNvGraphicFramePr/>
          <p:nvPr>
            <p:extLst>
              <p:ext uri="{D42A27DB-BD31-4B8C-83A1-F6EECF244321}">
                <p14:modId xmlns:p14="http://schemas.microsoft.com/office/powerpoint/2010/main" val="1733782997"/>
              </p:ext>
            </p:extLst>
          </p:nvPr>
        </p:nvGraphicFramePr>
        <p:xfrm>
          <a:off x="1692877" y="2801304"/>
          <a:ext cx="9513840" cy="3617073"/>
        </p:xfrm>
        <a:graphic>
          <a:graphicData uri="http://schemas.openxmlformats.org/drawingml/2006/table">
            <a:tbl>
              <a:tblPr>
                <a:tableStyleId>{4C3C2611-4C71-4FC5-86AE-919BDF0F9419}</a:tableStyleId>
              </a:tblPr>
              <a:tblGrid>
                <a:gridCol w="3171280"/>
                <a:gridCol w="3171280"/>
                <a:gridCol w="3171280"/>
              </a:tblGrid>
              <a:tr h="1209068">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a:t>
                      </a:r>
                      <a:r>
                        <a:rPr sz="3200" baseline="0" dirty="0" smtClean="0">
                          <a:solidFill>
                            <a:schemeClr val="accent1">
                              <a:lumOff val="44000"/>
                            </a:schemeClr>
                          </a:solidFill>
                        </a:rPr>
                        <a:t>: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a:t>
                      </a:r>
                      <a:r>
                        <a:rPr sz="3200" baseline="0" dirty="0" smtClean="0">
                          <a:solidFill>
                            <a:schemeClr val="accent1">
                              <a:lumOff val="44000"/>
                            </a:schemeClr>
                          </a:solidFill>
                        </a:rPr>
                        <a:t>: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198937">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sz="3200" baseline="0" dirty="0" smtClean="0"/>
                        <a:t>(</a:t>
                      </a:r>
                      <a:r>
                        <a:rPr lang="en-US" sz="3200" baseline="0" dirty="0" smtClean="0"/>
                        <a:t>2, 1</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sz="3200" baseline="0" dirty="0" smtClean="0"/>
                        <a:t>(</a:t>
                      </a:r>
                      <a:r>
                        <a:rPr lang="en-US" sz="3200" baseline="0" dirty="0" smtClean="0"/>
                        <a:t>0</a:t>
                      </a:r>
                      <a:r>
                        <a:rPr sz="3200" baseline="0" dirty="0" smtClean="0"/>
                        <a:t>,</a:t>
                      </a:r>
                      <a:r>
                        <a:rPr lang="en-US" sz="3200" baseline="0" dirty="0" smtClean="0"/>
                        <a:t>0</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209068">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sz="3200" baseline="0" dirty="0" smtClean="0"/>
                        <a:t>(</a:t>
                      </a:r>
                      <a:r>
                        <a:rPr lang="en-US" sz="3200" baseline="0" dirty="0" smtClean="0"/>
                        <a:t>0</a:t>
                      </a:r>
                      <a:r>
                        <a:rPr sz="3200" baseline="0" dirty="0" smtClean="0"/>
                        <a:t>,</a:t>
                      </a:r>
                      <a:r>
                        <a:rPr lang="en-US" sz="3200" baseline="0" dirty="0" smtClean="0"/>
                        <a:t>0</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sz="3200" baseline="0" dirty="0" smtClean="0"/>
                        <a:t>(</a:t>
                      </a:r>
                      <a:r>
                        <a:rPr lang="en-US" sz="3200" baseline="0" dirty="0" smtClean="0"/>
                        <a:t>1</a:t>
                      </a:r>
                      <a:r>
                        <a:rPr sz="3200" baseline="0" dirty="0" smtClean="0"/>
                        <a:t>,</a:t>
                      </a:r>
                      <a:r>
                        <a:rPr lang="en-US" sz="3200" baseline="0" dirty="0" smtClean="0"/>
                        <a:t>1</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Tree>
    <p:extLst>
      <p:ext uri="{BB962C8B-B14F-4D97-AF65-F5344CB8AC3E}">
        <p14:creationId xmlns:p14="http://schemas.microsoft.com/office/powerpoint/2010/main" val="1216217307"/>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p:sp>
        <p:nvSpPr>
          <p:cNvPr id="8" name="Shape 180"/>
          <p:cNvSpPr/>
          <p:nvPr/>
        </p:nvSpPr>
        <p:spPr>
          <a:xfrm>
            <a:off x="1674672" y="7148026"/>
            <a:ext cx="9655456"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No player has a dominant strategy.</a:t>
            </a:r>
          </a:p>
        </p:txBody>
      </p:sp>
      <p:graphicFrame>
        <p:nvGraphicFramePr>
          <p:cNvPr id="17" name="Table 187"/>
          <p:cNvGraphicFramePr/>
          <p:nvPr/>
        </p:nvGraphicFramePr>
        <p:xfrm>
          <a:off x="1692877" y="2801304"/>
          <a:ext cx="9513840" cy="3617073"/>
        </p:xfrm>
        <a:graphic>
          <a:graphicData uri="http://schemas.openxmlformats.org/drawingml/2006/table">
            <a:tbl>
              <a:tblPr>
                <a:tableStyleId>{4C3C2611-4C71-4FC5-86AE-919BDF0F9419}</a:tableStyleId>
              </a:tblPr>
              <a:tblGrid>
                <a:gridCol w="3171280"/>
                <a:gridCol w="3171280"/>
                <a:gridCol w="3171280"/>
              </a:tblGrid>
              <a:tr h="1209068">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a:t>
                      </a:r>
                      <a:r>
                        <a:rPr sz="3200" baseline="0" dirty="0" smtClean="0">
                          <a:solidFill>
                            <a:schemeClr val="accent1">
                              <a:lumOff val="44000"/>
                            </a:schemeClr>
                          </a:solidFill>
                        </a:rPr>
                        <a:t>: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a:t>
                      </a:r>
                      <a:r>
                        <a:rPr sz="3200" baseline="0" dirty="0" smtClean="0">
                          <a:solidFill>
                            <a:schemeClr val="accent1">
                              <a:lumOff val="44000"/>
                            </a:schemeClr>
                          </a:solidFill>
                        </a:rPr>
                        <a:t>: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198937">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sz="3200" baseline="0" dirty="0" smtClean="0"/>
                        <a:t>(</a:t>
                      </a:r>
                      <a:r>
                        <a:rPr lang="en-US" sz="3200" baseline="0" dirty="0" smtClean="0"/>
                        <a:t>2, 1</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sz="3200" baseline="0" dirty="0" smtClean="0"/>
                        <a:t>(</a:t>
                      </a:r>
                      <a:r>
                        <a:rPr lang="en-US" sz="3200" baseline="0" dirty="0" smtClean="0"/>
                        <a:t>0</a:t>
                      </a:r>
                      <a:r>
                        <a:rPr sz="3200" baseline="0" dirty="0" smtClean="0"/>
                        <a:t>,</a:t>
                      </a:r>
                      <a:r>
                        <a:rPr lang="en-US" sz="3200" baseline="0" dirty="0" smtClean="0"/>
                        <a:t>0</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209068">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sz="3200" baseline="0" dirty="0" smtClean="0"/>
                        <a:t>(</a:t>
                      </a:r>
                      <a:r>
                        <a:rPr lang="en-US" sz="3200" baseline="0" dirty="0" smtClean="0"/>
                        <a:t>0</a:t>
                      </a:r>
                      <a:r>
                        <a:rPr sz="3200" baseline="0" dirty="0" smtClean="0"/>
                        <a:t>,</a:t>
                      </a:r>
                      <a:r>
                        <a:rPr lang="en-US" sz="3200" baseline="0" dirty="0" smtClean="0"/>
                        <a:t>0</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sz="3200" baseline="0" dirty="0" smtClean="0"/>
                        <a:t>(</a:t>
                      </a:r>
                      <a:r>
                        <a:rPr lang="en-US" sz="3200" baseline="0" dirty="0" smtClean="0"/>
                        <a:t>1</a:t>
                      </a:r>
                      <a:r>
                        <a:rPr sz="3200" baseline="0" dirty="0" smtClean="0"/>
                        <a:t>,</a:t>
                      </a:r>
                      <a:r>
                        <a:rPr lang="en-US" sz="3200" baseline="0" dirty="0" smtClean="0"/>
                        <a:t>1</a:t>
                      </a:r>
                      <a:r>
                        <a:rPr sz="3200" baseline="0" dirty="0" smtClean="0"/>
                        <a:t>)</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18" name="Oval 17"/>
          <p:cNvSpPr/>
          <p:nvPr/>
        </p:nvSpPr>
        <p:spPr>
          <a:xfrm>
            <a:off x="5966691" y="4393285"/>
            <a:ext cx="471054" cy="433109"/>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19" name="Oval 18"/>
          <p:cNvSpPr/>
          <p:nvPr/>
        </p:nvSpPr>
        <p:spPr>
          <a:xfrm>
            <a:off x="9171710" y="5615379"/>
            <a:ext cx="471054" cy="433109"/>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20" name="Rectangle 19"/>
          <p:cNvSpPr/>
          <p:nvPr/>
        </p:nvSpPr>
        <p:spPr>
          <a:xfrm>
            <a:off x="6502400" y="4367366"/>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21" name="Rectangle 20"/>
          <p:cNvSpPr/>
          <p:nvPr/>
        </p:nvSpPr>
        <p:spPr>
          <a:xfrm>
            <a:off x="9642764" y="5602419"/>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22" name="Shape 180"/>
          <p:cNvSpPr/>
          <p:nvPr/>
        </p:nvSpPr>
        <p:spPr>
          <a:xfrm>
            <a:off x="1692877" y="8370118"/>
            <a:ext cx="9655456" cy="907941"/>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Two Nash Equilibria. Neither player can improve payoff by unilaterally changing strategy.</a:t>
            </a:r>
          </a:p>
        </p:txBody>
      </p:sp>
    </p:spTree>
    <p:extLst>
      <p:ext uri="{BB962C8B-B14F-4D97-AF65-F5344CB8AC3E}">
        <p14:creationId xmlns:p14="http://schemas.microsoft.com/office/powerpoint/2010/main" val="1253875491"/>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Fundamental Questions</a:t>
            </a:r>
          </a:p>
        </p:txBody>
      </p:sp>
      <mc:AlternateContent xmlns:mc="http://schemas.openxmlformats.org/markup-compatibility/2006" xmlns:a14="http://schemas.microsoft.com/office/drawing/2010/main">
        <mc:Choice Requires="a14">
          <p:sp>
            <p:nvSpPr>
              <p:cNvPr id="189" name="Shape 189"/>
              <p:cNvSpPr>
                <a:spLocks noGrp="1"/>
              </p:cNvSpPr>
              <p:nvPr>
                <p:ph type="body" sz="half" idx="1"/>
              </p:nvPr>
            </p:nvSpPr>
            <p:spPr>
              <a:xfrm>
                <a:off x="504455" y="5103425"/>
                <a:ext cx="10464802" cy="2832100"/>
              </a:xfrm>
              <a:prstGeom prst="rect">
                <a:avLst/>
              </a:prstGeom>
            </p:spPr>
            <p:txBody>
              <a:bodyPr>
                <a:normAutofit/>
              </a:bodyPr>
              <a:lstStyle/>
              <a:p>
                <a:pPr marL="762000" lvl="1" indent="0">
                  <a:spcBef>
                    <a:spcPts val="300"/>
                  </a:spcBef>
                  <a:buNone/>
                </a:pPr>
                <a:r>
                  <a:rPr lang="en-US" sz="3000" dirty="0" smtClean="0"/>
                  <a:t>Pure: we play the same strategy every time we play</a:t>
                </a:r>
                <a:endParaRPr lang="en-US" sz="3000" dirty="0"/>
              </a:p>
              <a:p>
                <a:pPr marL="762000" lvl="1" indent="0">
                  <a:spcBef>
                    <a:spcPts val="300"/>
                  </a:spcBef>
                  <a:buNone/>
                </a:pPr>
                <a:endParaRPr lang="en-US" sz="3000" dirty="0" smtClean="0"/>
              </a:p>
              <a:p>
                <a:pPr marL="762000" lvl="1" indent="0">
                  <a:spcBef>
                    <a:spcPts val="300"/>
                  </a:spcBef>
                  <a:buNone/>
                </a:pPr>
                <a:r>
                  <a:rPr lang="en-US" sz="3000" dirty="0" smtClean="0"/>
                  <a:t>Mixed: we play one strategy with probability </a:t>
                </a:r>
                <a14:m>
                  <m:oMath xmlns:m="http://schemas.openxmlformats.org/officeDocument/2006/math">
                    <m:r>
                      <a:rPr lang="en-US" sz="3000" b="1" i="1" smtClean="0">
                        <a:latin typeface="Cambria Math" charset="0"/>
                      </a:rPr>
                      <m:t>𝒑</m:t>
                    </m:r>
                  </m:oMath>
                </a14:m>
                <a:r>
                  <a:rPr lang="en-US" sz="3000" dirty="0" smtClean="0"/>
                  <a:t>, and a second strategy with probability </a:t>
                </a:r>
                <a14:m>
                  <m:oMath xmlns:m="http://schemas.openxmlformats.org/officeDocument/2006/math">
                    <m:r>
                      <a:rPr lang="en-US" sz="3000" b="1" i="1" smtClean="0">
                        <a:latin typeface="Cambria Math" charset="0"/>
                      </a:rPr>
                      <m:t>𝟏</m:t>
                    </m:r>
                    <m:r>
                      <a:rPr lang="en-US" sz="3000" b="1" i="1" smtClean="0">
                        <a:latin typeface="Cambria Math" charset="0"/>
                      </a:rPr>
                      <m:t> −</m:t>
                    </m:r>
                    <m:r>
                      <a:rPr lang="en-US" sz="3000" b="1" i="1" smtClean="0">
                        <a:latin typeface="Cambria Math" charset="0"/>
                      </a:rPr>
                      <m:t>𝒑</m:t>
                    </m:r>
                  </m:oMath>
                </a14:m>
                <a:r>
                  <a:rPr lang="en-US" sz="3000" dirty="0" smtClean="0"/>
                  <a:t> </a:t>
                </a:r>
                <a:endParaRPr sz="3000" dirty="0"/>
              </a:p>
            </p:txBody>
          </p:sp>
        </mc:Choice>
        <mc:Fallback xmlns="">
          <p:sp>
            <p:nvSpPr>
              <p:cNvPr id="189" name="Shape 189"/>
              <p:cNvSpPr>
                <a:spLocks noGrp="1" noRot="1" noChangeAspect="1" noMove="1" noResize="1" noEditPoints="1" noAdjustHandles="1" noChangeArrowheads="1" noChangeShapeType="1" noTextEdit="1"/>
              </p:cNvSpPr>
              <p:nvPr>
                <p:ph type="body" sz="half" idx="1"/>
              </p:nvPr>
            </p:nvSpPr>
            <p:spPr>
              <a:xfrm>
                <a:off x="504455" y="5103425"/>
                <a:ext cx="10464802" cy="2832100"/>
              </a:xfrm>
              <a:prstGeom prst="rect">
                <a:avLst/>
              </a:prstGeom>
              <a:blipFill rotWithShape="0">
                <a:blip r:embed="rId3"/>
                <a:stretch>
                  <a:fillRect r="-2214"/>
                </a:stretch>
              </a:blipFill>
            </p:spPr>
            <p:txBody>
              <a:bodyPr/>
              <a:lstStyle/>
              <a:p>
                <a:r>
                  <a:rPr lang="en-US">
                    <a:noFill/>
                  </a:rPr>
                  <a:t> </a:t>
                </a:r>
              </a:p>
            </p:txBody>
          </p:sp>
        </mc:Fallback>
      </mc:AlternateContent>
      <p:sp>
        <p:nvSpPr>
          <p:cNvPr id="190" name="Shape 190"/>
          <p:cNvSpPr/>
          <p:nvPr/>
        </p:nvSpPr>
        <p:spPr>
          <a:xfrm>
            <a:off x="711199" y="2400012"/>
            <a:ext cx="12293601" cy="584775"/>
          </a:xfrm>
          <a:prstGeom prst="rect">
            <a:avLst/>
          </a:prstGeom>
          <a:ln w="12700">
            <a:miter lim="400000"/>
          </a:ln>
          <a:extLst>
            <a:ext uri="{C572A759-6A51-4108-AA02-DFA0A04FC94B}">
              <ma14:wrappingTextBoxFlag xmlns:ma14="http://schemas.microsoft.com/office/mac/drawingml/2011/main" val="1"/>
            </a:ext>
          </a:extLst>
        </p:spPr>
        <p:txBody>
          <a:bodyPr wrap="square" lIns="0" tIns="0" rIns="0" bIns="0" anchor="ctr">
            <a:spAutoFit/>
          </a:bodyPr>
          <a:lstStyle>
            <a:lvl1pPr>
              <a:defRPr sz="3800">
                <a:solidFill>
                  <a:srgbClr val="008000"/>
                </a:solidFill>
                <a:latin typeface="+mj-lt"/>
                <a:ea typeface="+mj-ea"/>
                <a:cs typeface="+mj-cs"/>
                <a:sym typeface="Helvetica"/>
              </a:defRPr>
            </a:lvl1pPr>
          </a:lstStyle>
          <a:p>
            <a:pPr>
              <a:defRPr sz="1200">
                <a:solidFill>
                  <a:srgbClr val="000000"/>
                </a:solidFill>
                <a:latin typeface="Gill Sans"/>
                <a:ea typeface="Gill Sans"/>
                <a:cs typeface="Gill Sans"/>
                <a:sym typeface="Gill Sans"/>
              </a:defRPr>
            </a:pPr>
            <a:r>
              <a:rPr sz="3800" b="1" dirty="0">
                <a:solidFill>
                  <a:srgbClr val="008000"/>
                </a:solidFill>
                <a:latin typeface="+mj-lt"/>
                <a:ea typeface="+mj-ea"/>
                <a:cs typeface="+mj-cs"/>
                <a:sym typeface="Helvetica"/>
              </a:rPr>
              <a:t>What should </a:t>
            </a:r>
            <a:r>
              <a:rPr lang="en-US" sz="3800" b="1" dirty="0" smtClean="0">
                <a:solidFill>
                  <a:srgbClr val="008000"/>
                </a:solidFill>
                <a:latin typeface="+mj-lt"/>
                <a:ea typeface="+mj-ea"/>
                <a:cs typeface="+mj-cs"/>
                <a:sym typeface="Helvetica"/>
              </a:rPr>
              <a:t>I </a:t>
            </a:r>
            <a:r>
              <a:rPr sz="3800" b="1" dirty="0" smtClean="0">
                <a:solidFill>
                  <a:srgbClr val="008000"/>
                </a:solidFill>
                <a:latin typeface="+mj-lt"/>
                <a:ea typeface="+mj-ea"/>
                <a:cs typeface="+mj-cs"/>
                <a:sym typeface="Helvetica"/>
              </a:rPr>
              <a:t>do</a:t>
            </a:r>
            <a:r>
              <a:rPr sz="3800" b="1" dirty="0">
                <a:solidFill>
                  <a:srgbClr val="008000"/>
                </a:solidFill>
                <a:latin typeface="+mj-lt"/>
                <a:ea typeface="+mj-ea"/>
                <a:cs typeface="+mj-cs"/>
                <a:sym typeface="Helvetica"/>
              </a:rPr>
              <a:t>? What maximizes </a:t>
            </a:r>
            <a:r>
              <a:rPr lang="en-US" sz="3800" b="1" dirty="0" smtClean="0">
                <a:solidFill>
                  <a:srgbClr val="008000"/>
                </a:solidFill>
                <a:latin typeface="+mj-lt"/>
                <a:ea typeface="+mj-ea"/>
                <a:cs typeface="+mj-cs"/>
                <a:sym typeface="Helvetica"/>
              </a:rPr>
              <a:t>my </a:t>
            </a:r>
            <a:r>
              <a:rPr sz="3800" b="1" dirty="0" smtClean="0">
                <a:solidFill>
                  <a:srgbClr val="008000"/>
                </a:solidFill>
                <a:latin typeface="+mj-lt"/>
                <a:ea typeface="+mj-ea"/>
                <a:cs typeface="+mj-cs"/>
                <a:sym typeface="Helvetica"/>
              </a:rPr>
              <a:t>payoff</a:t>
            </a:r>
            <a:r>
              <a:rPr sz="3800" b="1" dirty="0">
                <a:solidFill>
                  <a:srgbClr val="008000"/>
                </a:solidFill>
                <a:latin typeface="+mj-lt"/>
                <a:ea typeface="+mj-ea"/>
                <a:cs typeface="+mj-cs"/>
                <a:sym typeface="Helvetica"/>
              </a:rPr>
              <a:t>?</a:t>
            </a:r>
          </a:p>
        </p:txBody>
      </p:sp>
      <p:sp>
        <p:nvSpPr>
          <p:cNvPr id="191" name="Shape 191"/>
          <p:cNvSpPr/>
          <p:nvPr/>
        </p:nvSpPr>
        <p:spPr>
          <a:xfrm>
            <a:off x="1270000" y="5672951"/>
            <a:ext cx="65" cy="55399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3600" b="1">
                <a:solidFill>
                  <a:srgbClr val="133C73"/>
                </a:solidFill>
                <a:effectLst>
                  <a:outerShdw blurRad="12700" dist="25400" dir="2700000" rotWithShape="0">
                    <a:srgbClr val="DDDDDD"/>
                  </a:outerShdw>
                </a:effectLst>
                <a:latin typeface="+mj-lt"/>
                <a:ea typeface="+mj-ea"/>
                <a:cs typeface="+mj-cs"/>
                <a:sym typeface="Helvetica"/>
              </a:defRPr>
            </a:lvl1pPr>
          </a:lstStyle>
          <a:p>
            <a:pPr>
              <a:defRPr sz="1200">
                <a:solidFill>
                  <a:srgbClr val="000000"/>
                </a:solidFill>
                <a:effectLst/>
              </a:defRPr>
            </a:pPr>
            <a:endParaRPr sz="3600" dirty="0">
              <a:solidFill>
                <a:srgbClr val="133C73"/>
              </a:solidFill>
              <a:effectLst>
                <a:outerShdw blurRad="12700" dist="25400" dir="2700000" rotWithShape="0">
                  <a:srgbClr val="DDDDDD"/>
                </a:outerShdw>
              </a:effectLst>
            </a:endParaRPr>
          </a:p>
        </p:txBody>
      </p:sp>
      <p:sp>
        <p:nvSpPr>
          <p:cNvPr id="8" name="Shape 190"/>
          <p:cNvSpPr/>
          <p:nvPr/>
        </p:nvSpPr>
        <p:spPr>
          <a:xfrm>
            <a:off x="711199" y="4518650"/>
            <a:ext cx="12293601" cy="584775"/>
          </a:xfrm>
          <a:prstGeom prst="rect">
            <a:avLst/>
          </a:prstGeom>
          <a:ln w="12700">
            <a:miter lim="400000"/>
          </a:ln>
          <a:extLst>
            <a:ext uri="{C572A759-6A51-4108-AA02-DFA0A04FC94B}">
              <ma14:wrappingTextBoxFlag xmlns:ma14="http://schemas.microsoft.com/office/mac/drawingml/2011/main" val="1"/>
            </a:ext>
          </a:extLst>
        </p:spPr>
        <p:txBody>
          <a:bodyPr wrap="square" lIns="0" tIns="0" rIns="0" bIns="0" anchor="ctr">
            <a:spAutoFit/>
          </a:bodyPr>
          <a:lstStyle>
            <a:lvl1pPr>
              <a:defRPr sz="3800">
                <a:solidFill>
                  <a:srgbClr val="008000"/>
                </a:solidFill>
                <a:latin typeface="+mj-lt"/>
                <a:ea typeface="+mj-ea"/>
                <a:cs typeface="+mj-cs"/>
                <a:sym typeface="Helvetica"/>
              </a:defRPr>
            </a:lvl1pPr>
          </a:lstStyle>
          <a:p>
            <a:pPr>
              <a:defRPr sz="1200">
                <a:solidFill>
                  <a:srgbClr val="000000"/>
                </a:solidFill>
                <a:latin typeface="Gill Sans"/>
                <a:ea typeface="Gill Sans"/>
                <a:cs typeface="Gill Sans"/>
                <a:sym typeface="Gill Sans"/>
              </a:defRPr>
            </a:pPr>
            <a:r>
              <a:rPr lang="en-US" sz="3800" b="1" dirty="0" smtClean="0">
                <a:solidFill>
                  <a:srgbClr val="008000"/>
                </a:solidFill>
                <a:latin typeface="+mj-lt"/>
                <a:ea typeface="+mj-ea"/>
                <a:cs typeface="+mj-cs"/>
                <a:sym typeface="Helvetica"/>
              </a:rPr>
              <a:t>What strategy?</a:t>
            </a:r>
            <a:endParaRPr sz="3800" b="1" dirty="0">
              <a:solidFill>
                <a:srgbClr val="008000"/>
              </a:solidFill>
              <a:latin typeface="+mj-lt"/>
              <a:ea typeface="+mj-ea"/>
              <a:cs typeface="+mj-cs"/>
              <a:sym typeface="Helvetica"/>
            </a:endParaRPr>
          </a:p>
        </p:txBody>
      </p:sp>
    </p:spTree>
    <p:extLst>
      <p:ext uri="{BB962C8B-B14F-4D97-AF65-F5344CB8AC3E}">
        <p14:creationId xmlns:p14="http://schemas.microsoft.com/office/powerpoint/2010/main" val="924137567"/>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5" name="Group 195"/>
          <p:cNvGrpSpPr/>
          <p:nvPr/>
        </p:nvGrpSpPr>
        <p:grpSpPr>
          <a:xfrm>
            <a:off x="658812" y="1030287"/>
            <a:ext cx="11676064" cy="6858001"/>
            <a:chOff x="0" y="0"/>
            <a:chExt cx="11676063" cy="6858000"/>
          </a:xfrm>
        </p:grpSpPr>
        <p:pic>
          <p:nvPicPr>
            <p:cNvPr id="193" name="image.png"/>
            <p:cNvPicPr>
              <a:picLocks noChangeAspect="1"/>
            </p:cNvPicPr>
            <p:nvPr/>
          </p:nvPicPr>
          <p:blipFill>
            <a:blip r:embed="rId3">
              <a:extLst/>
            </a:blip>
            <a:stretch>
              <a:fillRect/>
            </a:stretch>
          </p:blipFill>
          <p:spPr>
            <a:xfrm>
              <a:off x="-1" y="0"/>
              <a:ext cx="11676064" cy="4106863"/>
            </a:xfrm>
            <a:prstGeom prst="rect">
              <a:avLst/>
            </a:prstGeom>
            <a:ln w="12700" cap="flat">
              <a:noFill/>
              <a:miter lim="400000"/>
            </a:ln>
            <a:effectLst/>
          </p:spPr>
        </p:pic>
        <p:pic>
          <p:nvPicPr>
            <p:cNvPr id="194" name="image.png"/>
            <p:cNvPicPr>
              <a:picLocks noChangeAspect="1"/>
            </p:cNvPicPr>
            <p:nvPr/>
          </p:nvPicPr>
          <p:blipFill>
            <a:blip r:embed="rId4">
              <a:extLst/>
            </a:blip>
            <a:stretch>
              <a:fillRect/>
            </a:stretch>
          </p:blipFill>
          <p:spPr>
            <a:xfrm>
              <a:off x="897059" y="3595687"/>
              <a:ext cx="9756515" cy="3262313"/>
            </a:xfrm>
            <a:prstGeom prst="rect">
              <a:avLst/>
            </a:prstGeom>
            <a:ln w="12700" cap="flat">
              <a:noFill/>
              <a:miter lim="400000"/>
            </a:ln>
            <a:effectLst/>
          </p:spPr>
        </p:pic>
      </p:grpSp>
      <p:sp>
        <p:nvSpPr>
          <p:cNvPr id="196" name="Shape 196"/>
          <p:cNvSpPr/>
          <p:nvPr/>
        </p:nvSpPr>
        <p:spPr>
          <a:xfrm>
            <a:off x="330200" y="8407400"/>
            <a:ext cx="12674600" cy="1092607"/>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defRPr sz="3500" b="1">
                <a:latin typeface="+mj-lt"/>
                <a:ea typeface="+mj-ea"/>
                <a:cs typeface="+mj-cs"/>
                <a:sym typeface="Helvetica"/>
              </a:defRPr>
            </a:pPr>
            <a:r>
              <a:rPr sz="3300" dirty="0"/>
              <a:t>Note: This is basically the whole paper!</a:t>
            </a:r>
          </a:p>
          <a:p>
            <a:pPr>
              <a:defRPr sz="3500" b="1">
                <a:latin typeface="+mj-lt"/>
                <a:ea typeface="+mj-ea"/>
                <a:cs typeface="+mj-cs"/>
                <a:sym typeface="Helvetica"/>
              </a:defRPr>
            </a:pPr>
            <a:r>
              <a:rPr sz="3300" dirty="0"/>
              <a:t>It relies on the notion of “fixed point theorems” (from analysis)</a:t>
            </a:r>
          </a:p>
        </p:txBody>
      </p:sp>
      <p:pic>
        <p:nvPicPr>
          <p:cNvPr id="197" name="image.png"/>
          <p:cNvPicPr>
            <a:picLocks noChangeAspect="1"/>
          </p:cNvPicPr>
          <p:nvPr/>
        </p:nvPicPr>
        <p:blipFill>
          <a:blip r:embed="rId5">
            <a:extLst/>
          </a:blip>
          <a:stretch>
            <a:fillRect/>
          </a:stretch>
        </p:blipFill>
        <p:spPr>
          <a:xfrm>
            <a:off x="1231900" y="1155700"/>
            <a:ext cx="10477500" cy="7188200"/>
          </a:xfrm>
          <a:prstGeom prst="rect">
            <a:avLst/>
          </a:prstGeom>
          <a:ln w="12700">
            <a:miter lim="400000"/>
          </a:ln>
        </p:spPr>
      </p:pic>
      <p:sp>
        <p:nvSpPr>
          <p:cNvPr id="198" name="Shape 198"/>
          <p:cNvSpPr/>
          <p:nvPr/>
        </p:nvSpPr>
        <p:spPr>
          <a:xfrm>
            <a:off x="3452812" y="3941762"/>
            <a:ext cx="1838326" cy="1"/>
          </a:xfrm>
          <a:prstGeom prst="line">
            <a:avLst/>
          </a:prstGeom>
          <a:ln w="38100">
            <a:solidFill>
              <a:srgbClr val="D90B00"/>
            </a:solidFill>
            <a:miter/>
          </a:ln>
        </p:spPr>
        <p:txBody>
          <a:bodyPr lIns="45719" rIns="45719"/>
          <a:lstStyle/>
          <a:p>
            <a:pPr defTabSz="457200">
              <a:defRPr>
                <a:latin typeface="+mj-lt"/>
                <a:ea typeface="+mj-ea"/>
                <a:cs typeface="+mj-cs"/>
                <a:sym typeface="Helvetica"/>
              </a:defRPr>
            </a:pPr>
            <a:endParaRPr/>
          </a:p>
        </p:txBody>
      </p:sp>
      <p:sp>
        <p:nvSpPr>
          <p:cNvPr id="199" name="Shape 199"/>
          <p:cNvSpPr/>
          <p:nvPr/>
        </p:nvSpPr>
        <p:spPr>
          <a:xfrm>
            <a:off x="6107112" y="4619307"/>
            <a:ext cx="2093913" cy="1"/>
          </a:xfrm>
          <a:prstGeom prst="line">
            <a:avLst/>
          </a:prstGeom>
          <a:ln w="38100">
            <a:solidFill>
              <a:srgbClr val="D90B00"/>
            </a:solidFill>
            <a:miter/>
          </a:ln>
        </p:spPr>
        <p:txBody>
          <a:bodyPr lIns="45719" rIns="45719"/>
          <a:lstStyle/>
          <a:p>
            <a:pPr defTabSz="457200">
              <a:defRPr>
                <a:latin typeface="+mj-lt"/>
                <a:ea typeface="+mj-ea"/>
                <a:cs typeface="+mj-cs"/>
                <a:sym typeface="Helvetica"/>
              </a:defRPr>
            </a:pPr>
            <a:endParaRPr/>
          </a:p>
        </p:txBody>
      </p:sp>
      <p:sp>
        <p:nvSpPr>
          <p:cNvPr id="200" name="Shape 200"/>
          <p:cNvSpPr/>
          <p:nvPr/>
        </p:nvSpPr>
        <p:spPr>
          <a:xfrm>
            <a:off x="8991600" y="7884794"/>
            <a:ext cx="2271713" cy="1"/>
          </a:xfrm>
          <a:prstGeom prst="line">
            <a:avLst/>
          </a:prstGeom>
          <a:ln w="38100">
            <a:solidFill>
              <a:srgbClr val="D90B00"/>
            </a:solidFill>
            <a:miter/>
          </a:ln>
        </p:spPr>
        <p:txBody>
          <a:bodyPr lIns="45719" rIns="45719"/>
          <a:lstStyle/>
          <a:p>
            <a:pPr defTabSz="457200">
              <a:defRPr>
                <a:latin typeface="+mj-lt"/>
                <a:ea typeface="+mj-ea"/>
                <a:cs typeface="+mj-cs"/>
                <a:sym typeface="Helvetica"/>
              </a:defRPr>
            </a:pPr>
            <a:endParaRPr/>
          </a:p>
        </p:txBody>
      </p:sp>
      <p:sp>
        <p:nvSpPr>
          <p:cNvPr id="201" name="Shape 201"/>
          <p:cNvSpPr/>
          <p:nvPr/>
        </p:nvSpPr>
        <p:spPr>
          <a:xfrm>
            <a:off x="676275" y="277812"/>
            <a:ext cx="8521676" cy="965201"/>
          </a:xfrm>
          <a:prstGeom prst="rect">
            <a:avLst/>
          </a:prstGeom>
          <a:ln w="12700">
            <a:miter lim="400000"/>
          </a:ln>
          <a:extLst>
            <a:ext uri="{C572A759-6A51-4108-AA02-DFA0A04FC94B}">
              <ma14:wrappingTextBoxFlag xmlns:ma14="http://schemas.microsoft.com/office/mac/drawingml/2011/main" val="1"/>
            </a:ext>
          </a:extLst>
        </p:spPr>
        <p:txBody>
          <a:bodyPr wrap="none" lIns="38100" tIns="38100" rIns="38100" bIns="38100">
            <a:sp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1200">
                <a:solidFill>
                  <a:srgbClr val="000000"/>
                </a:solidFill>
                <a:effectLst/>
              </a:defRPr>
            </a:pPr>
            <a:r>
              <a:rPr sz="5800">
                <a:solidFill>
                  <a:srgbClr val="133C73"/>
                </a:solidFill>
                <a:effectLst>
                  <a:outerShdw blurRad="12700" dist="38100" dir="2700000" rotWithShape="0">
                    <a:srgbClr val="DDDDDD"/>
                  </a:outerShdw>
                </a:effectLst>
              </a:rPr>
              <a:t>The Mathematical Paper</a:t>
            </a:r>
          </a:p>
        </p:txBody>
      </p:sp>
    </p:spTree>
    <p:extLst>
      <p:ext uri="{BB962C8B-B14F-4D97-AF65-F5344CB8AC3E}">
        <p14:creationId xmlns:p14="http://schemas.microsoft.com/office/powerpoint/2010/main" val="1863219165"/>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6" name="Group 206"/>
          <p:cNvGrpSpPr/>
          <p:nvPr/>
        </p:nvGrpSpPr>
        <p:grpSpPr>
          <a:xfrm>
            <a:off x="800099" y="279400"/>
            <a:ext cx="11417302" cy="6146800"/>
            <a:chOff x="0" y="0"/>
            <a:chExt cx="11417300" cy="6146800"/>
          </a:xfrm>
        </p:grpSpPr>
        <p:pic>
          <p:nvPicPr>
            <p:cNvPr id="203" name="image.png"/>
            <p:cNvPicPr>
              <a:picLocks noChangeAspect="1"/>
            </p:cNvPicPr>
            <p:nvPr/>
          </p:nvPicPr>
          <p:blipFill>
            <a:blip r:embed="rId3">
              <a:extLst/>
            </a:blip>
            <a:stretch>
              <a:fillRect/>
            </a:stretch>
          </p:blipFill>
          <p:spPr>
            <a:xfrm>
              <a:off x="-1" y="0"/>
              <a:ext cx="11417302" cy="2781300"/>
            </a:xfrm>
            <a:prstGeom prst="rect">
              <a:avLst/>
            </a:prstGeom>
            <a:ln w="12700" cap="flat">
              <a:noFill/>
              <a:miter lim="400000"/>
            </a:ln>
            <a:effectLst/>
          </p:spPr>
        </p:pic>
        <p:pic>
          <p:nvPicPr>
            <p:cNvPr id="204" name="image.png"/>
            <p:cNvPicPr>
              <a:picLocks noChangeAspect="1"/>
            </p:cNvPicPr>
            <p:nvPr/>
          </p:nvPicPr>
          <p:blipFill>
            <a:blip r:embed="rId4">
              <a:extLst/>
            </a:blip>
            <a:stretch>
              <a:fillRect/>
            </a:stretch>
          </p:blipFill>
          <p:spPr>
            <a:xfrm>
              <a:off x="-1" y="3073400"/>
              <a:ext cx="10883828" cy="3073400"/>
            </a:xfrm>
            <a:prstGeom prst="rect">
              <a:avLst/>
            </a:prstGeom>
            <a:ln w="12700" cap="flat">
              <a:noFill/>
              <a:miter lim="400000"/>
            </a:ln>
            <a:effectLst/>
          </p:spPr>
        </p:pic>
        <p:sp>
          <p:nvSpPr>
            <p:cNvPr id="205" name="Shape 205"/>
            <p:cNvSpPr/>
            <p:nvPr/>
          </p:nvSpPr>
          <p:spPr>
            <a:xfrm>
              <a:off x="-1" y="5245100"/>
              <a:ext cx="10898117" cy="901700"/>
            </a:xfrm>
            <a:prstGeom prst="rect">
              <a:avLst/>
            </a:prstGeom>
            <a:solidFill>
              <a:srgbClr val="FFFF00">
                <a:alpha val="23921"/>
              </a:srgbClr>
            </a:solidFill>
            <a:ln w="9525" cap="flat">
              <a:solidFill>
                <a:srgbClr val="FFFF00"/>
              </a:solidFill>
              <a:prstDash val="solid"/>
              <a:round/>
            </a:ln>
            <a:effectLst>
              <a:outerShdw blurRad="63500" dist="23000" dir="5400000" rotWithShape="0">
                <a:srgbClr val="000000">
                  <a:alpha val="34999"/>
                </a:srgbClr>
              </a:outerShdw>
            </a:effectLst>
          </p:spPr>
          <p:txBody>
            <a:bodyPr wrap="square" lIns="45719" tIns="45719" rIns="45719" bIns="45719" numCol="1" anchor="t">
              <a:noAutofit/>
            </a:bodyPr>
            <a:lstStyle/>
            <a:p>
              <a:endParaRPr/>
            </a:p>
          </p:txBody>
        </p:sp>
      </p:grpSp>
      <p:sp>
        <p:nvSpPr>
          <p:cNvPr id="207" name="Shape 207"/>
          <p:cNvSpPr/>
          <p:nvPr/>
        </p:nvSpPr>
        <p:spPr>
          <a:xfrm>
            <a:off x="3161797" y="7169150"/>
            <a:ext cx="6687556" cy="596900"/>
          </a:xfrm>
          <a:prstGeom prst="rect">
            <a:avLst/>
          </a:prstGeom>
          <a:ln w="12700">
            <a:miter lim="400000"/>
          </a:ln>
          <a:extLst>
            <a:ext uri="{C572A759-6A51-4108-AA02-DFA0A04FC94B}">
              <ma14:wrappingTextBoxFlag xmlns:ma14="http://schemas.microsoft.com/office/mac/drawingml/2011/main" val="1"/>
            </a:ext>
          </a:extLst>
        </p:spPr>
        <p:txBody>
          <a:bodyPr wrap="none" lIns="38100" tIns="38100" rIns="38100" bIns="38100">
            <a:spAutoFit/>
          </a:bodyPr>
          <a:lstStyle>
            <a:lvl1pPr algn="ctr">
              <a:defRPr sz="3400" b="1">
                <a:solidFill>
                  <a:srgbClr val="FF0000"/>
                </a:solidFill>
                <a:latin typeface="+mj-lt"/>
                <a:ea typeface="+mj-ea"/>
                <a:cs typeface="+mj-cs"/>
                <a:sym typeface="Helvetica"/>
              </a:defRPr>
            </a:lvl1pPr>
          </a:lstStyle>
          <a:p>
            <a:pPr>
              <a:defRPr sz="1200">
                <a:solidFill>
                  <a:srgbClr val="000000"/>
                </a:solidFill>
              </a:defRPr>
            </a:pPr>
            <a:r>
              <a:rPr sz="3400">
                <a:solidFill>
                  <a:srgbClr val="FF0000"/>
                </a:solidFill>
              </a:rPr>
              <a:t>“Values are found for the game”</a:t>
            </a:r>
          </a:p>
        </p:txBody>
      </p:sp>
      <p:pic>
        <p:nvPicPr>
          <p:cNvPr id="208" name="image.png"/>
          <p:cNvPicPr>
            <a:picLocks noChangeAspect="1"/>
          </p:cNvPicPr>
          <p:nvPr/>
        </p:nvPicPr>
        <p:blipFill>
          <a:blip r:embed="rId5">
            <a:extLst/>
          </a:blip>
          <a:stretch>
            <a:fillRect/>
          </a:stretch>
        </p:blipFill>
        <p:spPr>
          <a:xfrm>
            <a:off x="673100" y="1447800"/>
            <a:ext cx="11277600" cy="5575300"/>
          </a:xfrm>
          <a:prstGeom prst="rect">
            <a:avLst/>
          </a:prstGeom>
          <a:ln w="12700">
            <a:miter lim="400000"/>
          </a:ln>
        </p:spPr>
      </p:pic>
      <p:sp>
        <p:nvSpPr>
          <p:cNvPr id="209" name="Shape 209"/>
          <p:cNvSpPr/>
          <p:nvPr/>
        </p:nvSpPr>
        <p:spPr>
          <a:xfrm>
            <a:off x="676275" y="277812"/>
            <a:ext cx="9300717" cy="965201"/>
          </a:xfrm>
          <a:prstGeom prst="rect">
            <a:avLst/>
          </a:prstGeom>
          <a:ln w="12700">
            <a:miter lim="400000"/>
          </a:ln>
          <a:extLst>
            <a:ext uri="{C572A759-6A51-4108-AA02-DFA0A04FC94B}">
              <ma14:wrappingTextBoxFlag xmlns:ma14="http://schemas.microsoft.com/office/mac/drawingml/2011/main" val="1"/>
            </a:ext>
          </a:extLst>
        </p:spPr>
        <p:txBody>
          <a:bodyPr wrap="none" lIns="38100" tIns="38100" rIns="38100" bIns="38100">
            <a:sp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1200">
                <a:solidFill>
                  <a:srgbClr val="000000"/>
                </a:solidFill>
                <a:effectLst/>
              </a:defRPr>
            </a:pPr>
            <a:r>
              <a:rPr sz="5800">
                <a:solidFill>
                  <a:srgbClr val="133C73"/>
                </a:solidFill>
                <a:effectLst>
                  <a:outerShdw blurRad="12700" dist="38100" dir="2700000" rotWithShape="0">
                    <a:srgbClr val="DDDDDD"/>
                  </a:outerShdw>
                </a:effectLst>
              </a:rPr>
              <a:t>Less Mathematical Papers</a:t>
            </a:r>
          </a:p>
        </p:txBody>
      </p:sp>
    </p:spTree>
    <p:extLst>
      <p:ext uri="{BB962C8B-B14F-4D97-AF65-F5344CB8AC3E}">
        <p14:creationId xmlns:p14="http://schemas.microsoft.com/office/powerpoint/2010/main" val="5179656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4" name="Group 214"/>
          <p:cNvGrpSpPr/>
          <p:nvPr/>
        </p:nvGrpSpPr>
        <p:grpSpPr>
          <a:xfrm>
            <a:off x="546100" y="368300"/>
            <a:ext cx="12280900" cy="8724900"/>
            <a:chOff x="0" y="0"/>
            <a:chExt cx="12280900" cy="8724900"/>
          </a:xfrm>
        </p:grpSpPr>
        <p:pic>
          <p:nvPicPr>
            <p:cNvPr id="211" name="image.png"/>
            <p:cNvPicPr>
              <a:picLocks noChangeAspect="1"/>
            </p:cNvPicPr>
            <p:nvPr/>
          </p:nvPicPr>
          <p:blipFill>
            <a:blip r:embed="rId3">
              <a:extLst/>
            </a:blip>
            <a:stretch>
              <a:fillRect/>
            </a:stretch>
          </p:blipFill>
          <p:spPr>
            <a:xfrm>
              <a:off x="101600" y="0"/>
              <a:ext cx="11872913" cy="2298700"/>
            </a:xfrm>
            <a:prstGeom prst="rect">
              <a:avLst/>
            </a:prstGeom>
            <a:ln w="12700" cap="flat">
              <a:noFill/>
              <a:miter lim="400000"/>
            </a:ln>
            <a:effectLst/>
          </p:spPr>
        </p:pic>
        <p:pic>
          <p:nvPicPr>
            <p:cNvPr id="212" name="image.png"/>
            <p:cNvPicPr>
              <a:picLocks noChangeAspect="1"/>
            </p:cNvPicPr>
            <p:nvPr/>
          </p:nvPicPr>
          <p:blipFill>
            <a:blip r:embed="rId4">
              <a:extLst/>
            </a:blip>
            <a:stretch>
              <a:fillRect/>
            </a:stretch>
          </p:blipFill>
          <p:spPr>
            <a:xfrm>
              <a:off x="0" y="2844800"/>
              <a:ext cx="12280900" cy="5868988"/>
            </a:xfrm>
            <a:prstGeom prst="rect">
              <a:avLst/>
            </a:prstGeom>
            <a:ln w="12700" cap="flat">
              <a:noFill/>
              <a:miter lim="400000"/>
            </a:ln>
            <a:effectLst/>
          </p:spPr>
        </p:pic>
        <p:sp>
          <p:nvSpPr>
            <p:cNvPr id="213" name="Shape 213"/>
            <p:cNvSpPr/>
            <p:nvPr/>
          </p:nvSpPr>
          <p:spPr>
            <a:xfrm>
              <a:off x="101600" y="6540500"/>
              <a:ext cx="11595100" cy="2184400"/>
            </a:xfrm>
            <a:prstGeom prst="rect">
              <a:avLst/>
            </a:prstGeom>
            <a:solidFill>
              <a:srgbClr val="FFFF00">
                <a:alpha val="23921"/>
              </a:srgbClr>
            </a:solidFill>
            <a:ln w="9525" cap="flat">
              <a:solidFill>
                <a:srgbClr val="FFFF00"/>
              </a:solidFill>
              <a:prstDash val="solid"/>
              <a:round/>
            </a:ln>
            <a:effectLst>
              <a:outerShdw blurRad="63500" dist="23000" dir="5400000" rotWithShape="0">
                <a:srgbClr val="000000">
                  <a:alpha val="34999"/>
                </a:srgbClr>
              </a:outerShdw>
            </a:effectLst>
          </p:spPr>
          <p:txBody>
            <a:bodyPr wrap="square" lIns="45719" tIns="45719" rIns="45719" bIns="45719" numCol="1" anchor="t">
              <a:noAutofit/>
            </a:bodyPr>
            <a:lstStyle/>
            <a:p>
              <a:endParaRPr/>
            </a:p>
          </p:txBody>
        </p:sp>
      </p:grpSp>
      <p:pic>
        <p:nvPicPr>
          <p:cNvPr id="215" name="image.png"/>
          <p:cNvPicPr>
            <a:picLocks noChangeAspect="1"/>
          </p:cNvPicPr>
          <p:nvPr/>
        </p:nvPicPr>
        <p:blipFill>
          <a:blip r:embed="rId5">
            <a:extLst/>
          </a:blip>
          <a:stretch>
            <a:fillRect/>
          </a:stretch>
        </p:blipFill>
        <p:spPr>
          <a:xfrm>
            <a:off x="368300" y="368300"/>
            <a:ext cx="12280900" cy="9309100"/>
          </a:xfrm>
          <a:prstGeom prst="rect">
            <a:avLst/>
          </a:prstGeom>
          <a:ln w="12700">
            <a:miter lim="400000"/>
          </a:ln>
        </p:spPr>
      </p:pic>
    </p:spTree>
    <p:extLst>
      <p:ext uri="{BB962C8B-B14F-4D97-AF65-F5344CB8AC3E}">
        <p14:creationId xmlns:p14="http://schemas.microsoft.com/office/powerpoint/2010/main" val="1696634716"/>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9"/>
          <p:cNvGrpSpPr/>
          <p:nvPr/>
        </p:nvGrpSpPr>
        <p:grpSpPr>
          <a:xfrm>
            <a:off x="546100" y="2578100"/>
            <a:ext cx="11909425" cy="5791200"/>
            <a:chOff x="0" y="0"/>
            <a:chExt cx="11909425" cy="5791200"/>
          </a:xfrm>
        </p:grpSpPr>
        <p:pic>
          <p:nvPicPr>
            <p:cNvPr id="217" name="image.png"/>
            <p:cNvPicPr>
              <a:picLocks noChangeAspect="1"/>
            </p:cNvPicPr>
            <p:nvPr/>
          </p:nvPicPr>
          <p:blipFill>
            <a:blip r:embed="rId2">
              <a:extLst/>
            </a:blip>
            <a:stretch>
              <a:fillRect/>
            </a:stretch>
          </p:blipFill>
          <p:spPr>
            <a:xfrm>
              <a:off x="0" y="2501900"/>
              <a:ext cx="11909425" cy="3289300"/>
            </a:xfrm>
            <a:prstGeom prst="rect">
              <a:avLst/>
            </a:prstGeom>
            <a:ln w="12700" cap="flat">
              <a:noFill/>
              <a:miter lim="400000"/>
            </a:ln>
            <a:effectLst/>
          </p:spPr>
        </p:pic>
        <p:pic>
          <p:nvPicPr>
            <p:cNvPr id="218" name="image.png"/>
            <p:cNvPicPr>
              <a:picLocks noChangeAspect="1"/>
            </p:cNvPicPr>
            <p:nvPr/>
          </p:nvPicPr>
          <p:blipFill>
            <a:blip r:embed="rId3">
              <a:extLst/>
            </a:blip>
            <a:stretch>
              <a:fillRect/>
            </a:stretch>
          </p:blipFill>
          <p:spPr>
            <a:xfrm>
              <a:off x="0" y="0"/>
              <a:ext cx="11887200" cy="2768600"/>
            </a:xfrm>
            <a:prstGeom prst="rect">
              <a:avLst/>
            </a:prstGeom>
            <a:ln w="12700" cap="flat">
              <a:noFill/>
              <a:miter lim="400000"/>
            </a:ln>
            <a:effectLst/>
          </p:spPr>
        </p:pic>
      </p:grpSp>
      <p:sp>
        <p:nvSpPr>
          <p:cNvPr id="220" name="Shape 220"/>
          <p:cNvSpPr/>
          <p:nvPr/>
        </p:nvSpPr>
        <p:spPr>
          <a:xfrm>
            <a:off x="698500" y="5257800"/>
            <a:ext cx="11760200" cy="2235200"/>
          </a:xfrm>
          <a:prstGeom prst="rect">
            <a:avLst/>
          </a:prstGeom>
          <a:solidFill>
            <a:srgbClr val="FFFF00">
              <a:alpha val="23921"/>
            </a:srgbClr>
          </a:solidFill>
          <a:ln>
            <a:solidFill>
              <a:srgbClr val="FFFF00"/>
            </a:solidFill>
          </a:ln>
          <a:effectLst>
            <a:outerShdw blurRad="63500" dist="23000" dir="5400000" rotWithShape="0">
              <a:srgbClr val="000000">
                <a:alpha val="34999"/>
              </a:srgbClr>
            </a:outerShdw>
          </a:effectLst>
        </p:spPr>
        <p:txBody>
          <a:bodyPr lIns="45719" rIns="45719"/>
          <a:lstStyle/>
          <a:p>
            <a:endParaRPr/>
          </a:p>
        </p:txBody>
      </p:sp>
      <p:pic>
        <p:nvPicPr>
          <p:cNvPr id="221" name="image.png"/>
          <p:cNvPicPr>
            <a:picLocks noChangeAspect="1"/>
          </p:cNvPicPr>
          <p:nvPr/>
        </p:nvPicPr>
        <p:blipFill>
          <a:blip r:embed="rId4">
            <a:extLst/>
          </a:blip>
          <a:stretch>
            <a:fillRect/>
          </a:stretch>
        </p:blipFill>
        <p:spPr>
          <a:xfrm>
            <a:off x="342900" y="2578100"/>
            <a:ext cx="12280900" cy="5791200"/>
          </a:xfrm>
          <a:prstGeom prst="rect">
            <a:avLst/>
          </a:prstGeom>
          <a:ln w="12700">
            <a:miter lim="400000"/>
          </a:ln>
        </p:spPr>
      </p:pic>
      <p:sp>
        <p:nvSpPr>
          <p:cNvPr id="222" name="Shape 222"/>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Nash’s Bargaining Example</a:t>
            </a:r>
          </a:p>
        </p:txBody>
      </p:sp>
    </p:spTree>
    <p:extLst>
      <p:ext uri="{BB962C8B-B14F-4D97-AF65-F5344CB8AC3E}">
        <p14:creationId xmlns:p14="http://schemas.microsoft.com/office/powerpoint/2010/main" val="1051806946"/>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6" name="Group 226"/>
          <p:cNvGrpSpPr/>
          <p:nvPr/>
        </p:nvGrpSpPr>
        <p:grpSpPr>
          <a:xfrm>
            <a:off x="2035607" y="857250"/>
            <a:ext cx="10461193" cy="8103755"/>
            <a:chOff x="0" y="0"/>
            <a:chExt cx="7378700" cy="5421312"/>
          </a:xfrm>
        </p:grpSpPr>
        <p:pic>
          <p:nvPicPr>
            <p:cNvPr id="224" name="image.png"/>
            <p:cNvPicPr>
              <a:picLocks noChangeAspect="1"/>
            </p:cNvPicPr>
            <p:nvPr/>
          </p:nvPicPr>
          <p:blipFill>
            <a:blip r:embed="rId2">
              <a:extLst/>
            </a:blip>
            <a:stretch>
              <a:fillRect/>
            </a:stretch>
          </p:blipFill>
          <p:spPr>
            <a:xfrm>
              <a:off x="0" y="20637"/>
              <a:ext cx="7378700" cy="4892676"/>
            </a:xfrm>
            <a:prstGeom prst="rect">
              <a:avLst/>
            </a:prstGeom>
            <a:ln w="12700" cap="flat">
              <a:noFill/>
              <a:miter lim="400000"/>
            </a:ln>
            <a:effectLst/>
          </p:spPr>
        </p:pic>
        <p:pic>
          <p:nvPicPr>
            <p:cNvPr id="225" name="image.png"/>
            <p:cNvPicPr>
              <a:picLocks noChangeAspect="1"/>
            </p:cNvPicPr>
            <p:nvPr/>
          </p:nvPicPr>
          <p:blipFill>
            <a:blip r:embed="rId3">
              <a:extLst/>
            </a:blip>
            <a:stretch>
              <a:fillRect/>
            </a:stretch>
          </p:blipFill>
          <p:spPr>
            <a:xfrm>
              <a:off x="209550" y="0"/>
              <a:ext cx="6769100" cy="5421313"/>
            </a:xfrm>
            <a:prstGeom prst="rect">
              <a:avLst/>
            </a:prstGeom>
            <a:ln w="12700" cap="flat">
              <a:noFill/>
              <a:miter lim="400000"/>
            </a:ln>
            <a:effectLst/>
          </p:spPr>
        </p:pic>
      </p:grpSp>
      <p:sp>
        <p:nvSpPr>
          <p:cNvPr id="231" name="Shape 231"/>
          <p:cNvSpPr/>
          <p:nvPr/>
        </p:nvSpPr>
        <p:spPr>
          <a:xfrm>
            <a:off x="382156" y="596900"/>
            <a:ext cx="1932608" cy="5207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3400" b="1">
                <a:latin typeface="+mj-lt"/>
                <a:ea typeface="+mj-ea"/>
                <a:cs typeface="+mj-cs"/>
                <a:sym typeface="Helvetica"/>
              </a:defRPr>
            </a:lvl1pPr>
          </a:lstStyle>
          <a:p>
            <a:pPr>
              <a:defRPr sz="1200"/>
            </a:pPr>
            <a:r>
              <a:rPr sz="3400"/>
              <a:t>Example:</a:t>
            </a:r>
          </a:p>
        </p:txBody>
      </p:sp>
    </p:spTree>
    <p:extLst>
      <p:ext uri="{BB962C8B-B14F-4D97-AF65-F5344CB8AC3E}">
        <p14:creationId xmlns:p14="http://schemas.microsoft.com/office/powerpoint/2010/main" val="1701451029"/>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6" name="Group 226"/>
          <p:cNvGrpSpPr/>
          <p:nvPr/>
        </p:nvGrpSpPr>
        <p:grpSpPr>
          <a:xfrm>
            <a:off x="2811462" y="596900"/>
            <a:ext cx="7378701" cy="5421313"/>
            <a:chOff x="0" y="0"/>
            <a:chExt cx="7378700" cy="5421312"/>
          </a:xfrm>
        </p:grpSpPr>
        <p:pic>
          <p:nvPicPr>
            <p:cNvPr id="224" name="image.png"/>
            <p:cNvPicPr>
              <a:picLocks noChangeAspect="1"/>
            </p:cNvPicPr>
            <p:nvPr/>
          </p:nvPicPr>
          <p:blipFill>
            <a:blip r:embed="rId2">
              <a:extLst/>
            </a:blip>
            <a:stretch>
              <a:fillRect/>
            </a:stretch>
          </p:blipFill>
          <p:spPr>
            <a:xfrm>
              <a:off x="0" y="20637"/>
              <a:ext cx="7378700" cy="4892676"/>
            </a:xfrm>
            <a:prstGeom prst="rect">
              <a:avLst/>
            </a:prstGeom>
            <a:ln w="12700" cap="flat">
              <a:noFill/>
              <a:miter lim="400000"/>
            </a:ln>
            <a:effectLst/>
          </p:spPr>
        </p:pic>
        <p:pic>
          <p:nvPicPr>
            <p:cNvPr id="225" name="image.png"/>
            <p:cNvPicPr>
              <a:picLocks noChangeAspect="1"/>
            </p:cNvPicPr>
            <p:nvPr/>
          </p:nvPicPr>
          <p:blipFill>
            <a:blip r:embed="rId3">
              <a:extLst/>
            </a:blip>
            <a:stretch>
              <a:fillRect/>
            </a:stretch>
          </p:blipFill>
          <p:spPr>
            <a:xfrm>
              <a:off x="209550" y="0"/>
              <a:ext cx="6769100" cy="5421313"/>
            </a:xfrm>
            <a:prstGeom prst="rect">
              <a:avLst/>
            </a:prstGeom>
            <a:ln w="12700" cap="flat">
              <a:noFill/>
              <a:miter lim="400000"/>
            </a:ln>
            <a:effectLst/>
          </p:spPr>
        </p:pic>
      </p:grpSp>
      <p:grpSp>
        <p:nvGrpSpPr>
          <p:cNvPr id="229" name="Group 229"/>
          <p:cNvGrpSpPr/>
          <p:nvPr/>
        </p:nvGrpSpPr>
        <p:grpSpPr>
          <a:xfrm>
            <a:off x="569912" y="6707187"/>
            <a:ext cx="11872913" cy="2819401"/>
            <a:chOff x="0" y="0"/>
            <a:chExt cx="11872912" cy="2819400"/>
          </a:xfrm>
        </p:grpSpPr>
        <p:pic>
          <p:nvPicPr>
            <p:cNvPr id="227" name="image.png"/>
            <p:cNvPicPr>
              <a:picLocks noChangeAspect="1"/>
            </p:cNvPicPr>
            <p:nvPr/>
          </p:nvPicPr>
          <p:blipFill>
            <a:blip r:embed="rId4">
              <a:extLst/>
            </a:blip>
            <a:srcRect t="6590"/>
            <a:stretch>
              <a:fillRect/>
            </a:stretch>
          </p:blipFill>
          <p:spPr>
            <a:xfrm>
              <a:off x="141287" y="212724"/>
              <a:ext cx="11582401" cy="2159001"/>
            </a:xfrm>
            <a:prstGeom prst="rect">
              <a:avLst/>
            </a:prstGeom>
            <a:ln w="12700" cap="flat">
              <a:noFill/>
              <a:miter lim="400000"/>
            </a:ln>
            <a:effectLst/>
          </p:spPr>
        </p:pic>
        <p:pic>
          <p:nvPicPr>
            <p:cNvPr id="228" name="image.png"/>
            <p:cNvPicPr>
              <a:picLocks noChangeAspect="1"/>
            </p:cNvPicPr>
            <p:nvPr/>
          </p:nvPicPr>
          <p:blipFill>
            <a:blip r:embed="rId5">
              <a:extLst/>
            </a:blip>
            <a:stretch>
              <a:fillRect/>
            </a:stretch>
          </p:blipFill>
          <p:spPr>
            <a:xfrm>
              <a:off x="0" y="0"/>
              <a:ext cx="11872913" cy="2819400"/>
            </a:xfrm>
            <a:prstGeom prst="rect">
              <a:avLst/>
            </a:prstGeom>
            <a:ln w="12700" cap="flat">
              <a:noFill/>
              <a:miter lim="400000"/>
            </a:ln>
            <a:effectLst/>
          </p:spPr>
        </p:pic>
      </p:grpSp>
      <p:sp>
        <p:nvSpPr>
          <p:cNvPr id="230" name="Shape 230"/>
          <p:cNvSpPr/>
          <p:nvPr/>
        </p:nvSpPr>
        <p:spPr>
          <a:xfrm>
            <a:off x="825500" y="6108700"/>
            <a:ext cx="1259607" cy="5207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3400" b="1">
                <a:latin typeface="+mj-lt"/>
                <a:ea typeface="+mj-ea"/>
                <a:cs typeface="+mj-cs"/>
                <a:sym typeface="Helvetica"/>
              </a:defRPr>
            </a:lvl1pPr>
          </a:lstStyle>
          <a:p>
            <a:pPr>
              <a:defRPr sz="1200"/>
            </a:pPr>
            <a:r>
              <a:rPr sz="3400"/>
              <a:t>Kuhn:</a:t>
            </a:r>
          </a:p>
        </p:txBody>
      </p:sp>
      <p:sp>
        <p:nvSpPr>
          <p:cNvPr id="231" name="Shape 231"/>
          <p:cNvSpPr/>
          <p:nvPr/>
        </p:nvSpPr>
        <p:spPr>
          <a:xfrm>
            <a:off x="825500" y="596900"/>
            <a:ext cx="1932608" cy="5207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3400" b="1">
                <a:latin typeface="+mj-lt"/>
                <a:ea typeface="+mj-ea"/>
                <a:cs typeface="+mj-cs"/>
                <a:sym typeface="Helvetica"/>
              </a:defRPr>
            </a:lvl1pPr>
          </a:lstStyle>
          <a:p>
            <a:pPr>
              <a:defRPr sz="1200"/>
            </a:pPr>
            <a:r>
              <a:rPr sz="3400"/>
              <a:t>Example:</a:t>
            </a:r>
          </a:p>
        </p:txBody>
      </p:sp>
    </p:spTree>
    <p:extLst>
      <p:ext uri="{BB962C8B-B14F-4D97-AF65-F5344CB8AC3E}">
        <p14:creationId xmlns:p14="http://schemas.microsoft.com/office/powerpoint/2010/main" val="128859938"/>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3" name="Table 177"/>
              <p:cNvGraphicFramePr/>
              <p:nvPr>
                <p:extLst>
                  <p:ext uri="{D42A27DB-BD31-4B8C-83A1-F6EECF244321}">
                    <p14:modId xmlns:p14="http://schemas.microsoft.com/office/powerpoint/2010/main" val="119398750"/>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en-US" sz="3200" b="0" i="1" baseline="0" smtClean="0">
                                    <a:latin typeface="Cambria Math" charset="0"/>
                                  </a:rPr>
                                  <m:t>(2, 1 )</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1</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3" name="Table 177"/>
              <p:cNvGraphicFramePr/>
              <p:nvPr>
                <p:extLst>
                  <p:ext uri="{D42A27DB-BD31-4B8C-83A1-F6EECF244321}">
                    <p14:modId xmlns:p14="http://schemas.microsoft.com/office/powerpoint/2010/main" val="119398750"/>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1109"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923"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1109"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923" b="-791"/>
                          </a:stretch>
                        </a:blipFill>
                      </a:tcPr>
                    </a:tc>
                  </a:tr>
                </a:tbl>
              </a:graphicData>
            </a:graphic>
          </p:graphicFrame>
        </mc:Fallback>
      </mc:AlternateContent>
    </p:spTree>
    <p:extLst>
      <p:ext uri="{BB962C8B-B14F-4D97-AF65-F5344CB8AC3E}">
        <p14:creationId xmlns:p14="http://schemas.microsoft.com/office/powerpoint/2010/main" val="857652690"/>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3" name="Table 177"/>
              <p:cNvGraphicFramePr/>
              <p:nvPr>
                <p:extLst>
                  <p:ext uri="{D42A27DB-BD31-4B8C-83A1-F6EECF244321}">
                    <p14:modId xmlns:p14="http://schemas.microsoft.com/office/powerpoint/2010/main" val="2068959240"/>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en-US" sz="3200" b="0" i="1" baseline="0" smtClean="0">
                                    <a:latin typeface="Cambria Math" charset="0"/>
                                  </a:rPr>
                                  <m:t>(2, 1 )</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1</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3" name="Table 177"/>
              <p:cNvGraphicFramePr/>
              <p:nvPr>
                <p:extLst>
                  <p:ext uri="{D42A27DB-BD31-4B8C-83A1-F6EECF244321}">
                    <p14:modId xmlns:p14="http://schemas.microsoft.com/office/powerpoint/2010/main" val="2068959240"/>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1109"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923"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1109"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923" b="-791"/>
                          </a:stretch>
                        </a:blipFill>
                      </a:tcPr>
                    </a:tc>
                  </a:tr>
                </a:tbl>
              </a:graphicData>
            </a:graphic>
          </p:graphicFrame>
        </mc:Fallback>
      </mc:AlternateContent>
      <p:sp>
        <p:nvSpPr>
          <p:cNvPr id="8" name="Shape 180"/>
          <p:cNvSpPr/>
          <p:nvPr/>
        </p:nvSpPr>
        <p:spPr>
          <a:xfrm>
            <a:off x="1551260" y="7358766"/>
            <a:ext cx="9655456" cy="907941"/>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If you choose strategy 1, then I choose strategy 1</a:t>
            </a:r>
          </a:p>
          <a:p>
            <a:pPr>
              <a:lnSpc>
                <a:spcPct val="90000"/>
              </a:lnSpc>
              <a:defRPr sz="3000" b="1">
                <a:latin typeface="+mj-lt"/>
                <a:ea typeface="+mj-ea"/>
                <a:cs typeface="+mj-cs"/>
                <a:sym typeface="Helvetica"/>
              </a:defRPr>
            </a:pPr>
            <a:r>
              <a:rPr lang="en-US" dirty="0" smtClean="0"/>
              <a:t>If you choose strategy 2, then I choose strategy 2</a:t>
            </a:r>
          </a:p>
        </p:txBody>
      </p:sp>
      <p:sp>
        <p:nvSpPr>
          <p:cNvPr id="2" name="Oval 1"/>
          <p:cNvSpPr/>
          <p:nvPr/>
        </p:nvSpPr>
        <p:spPr>
          <a:xfrm>
            <a:off x="5929746" y="4554527"/>
            <a:ext cx="471054" cy="433109"/>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6" name="Oval 5"/>
          <p:cNvSpPr/>
          <p:nvPr/>
        </p:nvSpPr>
        <p:spPr>
          <a:xfrm>
            <a:off x="9351818" y="5985165"/>
            <a:ext cx="457200" cy="484908"/>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Tree>
    <p:extLst>
      <p:ext uri="{BB962C8B-B14F-4D97-AF65-F5344CB8AC3E}">
        <p14:creationId xmlns:p14="http://schemas.microsoft.com/office/powerpoint/2010/main" val="1798810971"/>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3" name="Table 177"/>
              <p:cNvGraphicFramePr/>
              <p:nvPr>
                <p:extLst>
                  <p:ext uri="{D42A27DB-BD31-4B8C-83A1-F6EECF244321}">
                    <p14:modId xmlns:p14="http://schemas.microsoft.com/office/powerpoint/2010/main" val="1121185391"/>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en-US" sz="3200" b="0" i="1" baseline="0" smtClean="0">
                                    <a:latin typeface="Cambria Math" charset="0"/>
                                  </a:rPr>
                                  <m:t>(2, 1 )</m:t>
                                </m:r>
                              </m:oMath>
                            </m:oMathPara>
                          </a14:m>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1, 2</m:t>
                                </m:r>
                                <m:r>
                                  <a:rPr lang="mr-IN" sz="3200" b="0" i="1" baseline="0" smtClean="0">
                                    <a:latin typeface="Cambria Math" charset="0"/>
                                  </a:rPr>
                                  <m:t>)</m:t>
                                </m:r>
                              </m:oMath>
                            </m:oMathPara>
                          </a14:m>
                          <a:endParaRPr lang="mr-IN"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32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r>
                                  <a:rPr lang="mr-IN" sz="3200" b="0" i="1" baseline="0" smtClean="0">
                                    <a:latin typeface="Cambria Math" charset="0"/>
                                  </a:rPr>
                                  <m:t>(</m:t>
                                </m:r>
                                <m:r>
                                  <a:rPr lang="en-US" sz="3200" b="0" i="1" baseline="0" smtClean="0">
                                    <a:latin typeface="Cambria Math" charset="0"/>
                                  </a:rPr>
                                  <m:t>2</m:t>
                                </m:r>
                                <m:r>
                                  <a:rPr lang="mr-IN" sz="3200" b="0" i="1" baseline="0" smtClean="0">
                                    <a:latin typeface="Cambria Math" charset="0"/>
                                  </a:rPr>
                                  <m:t>, </m:t>
                                </m:r>
                                <m:r>
                                  <a:rPr lang="en-US" sz="3200" b="0" i="1" baseline="0" smtClean="0">
                                    <a:latin typeface="Cambria Math" charset="0"/>
                                  </a:rPr>
                                  <m:t>1</m:t>
                                </m:r>
                                <m:r>
                                  <a:rPr lang="mr-IN" sz="3200" b="0" i="1" baseline="0" smtClean="0">
                                    <a:latin typeface="Cambria Math" charset="0"/>
                                  </a:rPr>
                                  <m:t>)</m:t>
                                </m:r>
                              </m:oMath>
                            </m:oMathPara>
                          </a14:m>
                          <a:endParaRPr lang="mr-IN" sz="3200" baseline="0" dirty="0"/>
                        </a:p>
                        <a:p>
                          <a:pPr>
                            <a:tabLst>
                              <a:tab pos="914400" algn="l"/>
                            </a:tabLst>
                            <a:defRPr sz="4300" b="0" i="0"/>
                          </a:pP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3" name="Table 177"/>
              <p:cNvGraphicFramePr/>
              <p:nvPr>
                <p:extLst>
                  <p:ext uri="{D42A27DB-BD31-4B8C-83A1-F6EECF244321}">
                    <p14:modId xmlns:p14="http://schemas.microsoft.com/office/powerpoint/2010/main" val="1121185391"/>
                  </p:ext>
                </p:extLst>
              </p:nvPr>
            </p:nvGraphicFramePr>
            <p:xfrm>
              <a:off x="1551260" y="2692400"/>
              <a:ext cx="9902280" cy="4267688"/>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1</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3200" baseline="0" dirty="0" smtClean="0">
                            <a:solidFill>
                              <a:schemeClr val="accent1">
                                <a:lumOff val="44000"/>
                              </a:schemeClr>
                            </a:solidFill>
                          </a:endParaRPr>
                        </a:p>
                        <a:p>
                          <a:pPr algn="l">
                            <a:tabLst>
                              <a:tab pos="914400" algn="l"/>
                              <a:tab pos="914400" algn="l"/>
                            </a:tabLst>
                            <a:defRPr sz="4300" b="0" i="0"/>
                          </a:pPr>
                          <a:r>
                            <a:rPr lang="en-US" sz="3200" baseline="0" dirty="0" smtClean="0">
                              <a:solidFill>
                                <a:schemeClr val="accent1">
                                  <a:lumOff val="44000"/>
                                </a:schemeClr>
                              </a:solidFill>
                            </a:rPr>
                            <a:t>You: Strategy 2</a:t>
                          </a:r>
                          <a:endParaRPr sz="32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1</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6470" t="-100446" r="-101109" b="-113839"/>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6089" t="-100446" r="-923" b="-113839"/>
                          </a:stretch>
                        </a:blipFill>
                      </a:tcPr>
                    </a:tc>
                  </a:tr>
                  <a:tr h="1539240">
                    <a:tc>
                      <a:txBody>
                        <a:bodyPr/>
                        <a:lstStyle/>
                        <a:p>
                          <a:pPr algn="l">
                            <a:tabLst>
                              <a:tab pos="914400" algn="l"/>
                            </a:tabLst>
                            <a:defRPr sz="4300" b="0" i="0"/>
                          </a:pPr>
                          <a:r>
                            <a:rPr sz="3200" baseline="0" dirty="0">
                              <a:solidFill>
                                <a:schemeClr val="accent1">
                                  <a:lumOff val="44000"/>
                                </a:schemeClr>
                              </a:solidFill>
                            </a:rPr>
                            <a:t>Me:  Strategy </a:t>
                          </a:r>
                          <a:r>
                            <a:rPr lang="en-US" sz="3200" baseline="0" dirty="0" smtClean="0">
                              <a:solidFill>
                                <a:schemeClr val="accent1">
                                  <a:lumOff val="44000"/>
                                </a:schemeClr>
                              </a:solidFill>
                            </a:rPr>
                            <a:t>2</a:t>
                          </a:r>
                          <a:endParaRPr sz="32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6470" t="-177470" r="-101109" b="-791"/>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6089" t="-177470" r="-923" b="-791"/>
                          </a:stretch>
                        </a:blipFill>
                      </a:tcPr>
                    </a:tc>
                  </a:tr>
                </a:tbl>
              </a:graphicData>
            </a:graphic>
          </p:graphicFrame>
        </mc:Fallback>
      </mc:AlternateContent>
      <p:sp>
        <p:nvSpPr>
          <p:cNvPr id="8" name="Shape 180"/>
          <p:cNvSpPr/>
          <p:nvPr/>
        </p:nvSpPr>
        <p:spPr>
          <a:xfrm>
            <a:off x="1551260" y="7358766"/>
            <a:ext cx="9655456" cy="907941"/>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If I choose strategy 1, then you choose strategy 2</a:t>
            </a:r>
          </a:p>
          <a:p>
            <a:pPr>
              <a:lnSpc>
                <a:spcPct val="90000"/>
              </a:lnSpc>
              <a:defRPr sz="3000" b="1">
                <a:latin typeface="+mj-lt"/>
                <a:ea typeface="+mj-ea"/>
                <a:cs typeface="+mj-cs"/>
                <a:sym typeface="Helvetica"/>
              </a:defRPr>
            </a:pPr>
            <a:r>
              <a:rPr lang="en-US" dirty="0" smtClean="0"/>
              <a:t>If I choose strategy 2, then you choose strategy 1</a:t>
            </a:r>
          </a:p>
        </p:txBody>
      </p:sp>
      <p:sp>
        <p:nvSpPr>
          <p:cNvPr id="2" name="Rectangle 1"/>
          <p:cNvSpPr/>
          <p:nvPr/>
        </p:nvSpPr>
        <p:spPr>
          <a:xfrm>
            <a:off x="9753601" y="4528609"/>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6" name="Rectangle 5"/>
          <p:cNvSpPr/>
          <p:nvPr/>
        </p:nvSpPr>
        <p:spPr>
          <a:xfrm>
            <a:off x="6419273" y="5983336"/>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Tree>
    <p:extLst>
      <p:ext uri="{BB962C8B-B14F-4D97-AF65-F5344CB8AC3E}">
        <p14:creationId xmlns:p14="http://schemas.microsoft.com/office/powerpoint/2010/main" val="886913227"/>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lang="en-US" sz="5800" dirty="0" smtClean="0">
                <a:solidFill>
                  <a:srgbClr val="133C73"/>
                </a:solidFill>
                <a:effectLst>
                  <a:outerShdw blurRad="12700" dist="38100" dir="2700000" rotWithShape="0">
                    <a:srgbClr val="DDDDDD"/>
                  </a:outerShdw>
                </a:effectLst>
              </a:rPr>
              <a:t>Another game</a:t>
            </a:r>
            <a:endParaRPr sz="5800" dirty="0">
              <a:solidFill>
                <a:srgbClr val="133C73"/>
              </a:solidFill>
              <a:effectLst>
                <a:outerShdw blurRad="12700" dist="38100" dir="2700000" rotWithShape="0">
                  <a:srgbClr val="DDDDDD"/>
                </a:outerShdw>
              </a:effectLst>
            </a:endParaRPr>
          </a:p>
        </p:txBody>
      </p:sp>
      <mc:AlternateContent xmlns:mc="http://schemas.openxmlformats.org/markup-compatibility/2006" xmlns:a14="http://schemas.microsoft.com/office/drawing/2010/main">
        <mc:Choice Requires="a14">
          <p:graphicFrame>
            <p:nvGraphicFramePr>
              <p:cNvPr id="13" name="Table 177"/>
              <p:cNvGraphicFramePr/>
              <p:nvPr/>
            </p:nvGraphicFramePr>
            <p:xfrm>
              <a:off x="1551260" y="2692400"/>
              <a:ext cx="9902280" cy="4092672"/>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28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2800" baseline="0" dirty="0" smtClean="0">
                            <a:solidFill>
                              <a:schemeClr val="accent1">
                                <a:lumOff val="44000"/>
                              </a:schemeClr>
                            </a:solidFill>
                          </a:endParaRPr>
                        </a:p>
                        <a:p>
                          <a:pPr algn="l">
                            <a:tabLst>
                              <a:tab pos="914400" algn="l"/>
                              <a:tab pos="914400" algn="l"/>
                            </a:tabLst>
                            <a:defRPr sz="4300" b="0" i="0"/>
                          </a:pPr>
                          <a:r>
                            <a:rPr lang="en-US" sz="2800" baseline="0" dirty="0" smtClean="0">
                              <a:solidFill>
                                <a:schemeClr val="accent1">
                                  <a:lumOff val="44000"/>
                                </a:schemeClr>
                              </a:solidFill>
                            </a:rPr>
                            <a:t>You: Strategy 1</a:t>
                          </a:r>
                          <a:endParaRPr sz="28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2800" baseline="0" dirty="0" smtClean="0">
                            <a:solidFill>
                              <a:schemeClr val="accent1">
                                <a:lumOff val="44000"/>
                              </a:schemeClr>
                            </a:solidFill>
                          </a:endParaRPr>
                        </a:p>
                        <a:p>
                          <a:pPr algn="l">
                            <a:tabLst>
                              <a:tab pos="914400" algn="l"/>
                              <a:tab pos="914400" algn="l"/>
                            </a:tabLst>
                            <a:defRPr sz="4300" b="0" i="0"/>
                          </a:pPr>
                          <a:r>
                            <a:rPr lang="en-US" sz="2800" baseline="0" dirty="0" smtClean="0">
                              <a:solidFill>
                                <a:schemeClr val="accent1">
                                  <a:lumOff val="44000"/>
                                </a:schemeClr>
                              </a:solidFill>
                            </a:rPr>
                            <a:t>You: Strategy 2</a:t>
                          </a:r>
                          <a:endParaRPr sz="28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2800" baseline="0" dirty="0">
                              <a:solidFill>
                                <a:schemeClr val="accent1">
                                  <a:lumOff val="44000"/>
                                </a:schemeClr>
                              </a:solidFill>
                            </a:rPr>
                            <a:t>Me:  Strategy </a:t>
                          </a:r>
                          <a:r>
                            <a:rPr lang="en-US" sz="2800" baseline="0" dirty="0" smtClean="0">
                              <a:solidFill>
                                <a:schemeClr val="accent1">
                                  <a:lumOff val="44000"/>
                                </a:schemeClr>
                              </a:solidFill>
                            </a:rPr>
                            <a:t>1</a:t>
                          </a:r>
                          <a:endParaRPr sz="28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en-US" sz="2800" b="0" i="1" baseline="0" smtClean="0">
                                    <a:latin typeface="Cambria Math" charset="0"/>
                                  </a:rPr>
                                  <m:t>(2, 1 )</m:t>
                                </m:r>
                              </m:oMath>
                            </m:oMathPara>
                          </a14:m>
                          <a:endParaRPr sz="28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2800" b="0" i="1" baseline="0" smtClean="0">
                                    <a:latin typeface="Cambria Math" charset="0"/>
                                  </a:rPr>
                                  <m:t>(</m:t>
                                </m:r>
                                <m:r>
                                  <a:rPr lang="en-US" sz="2800" b="0" i="1" baseline="0" smtClean="0">
                                    <a:latin typeface="Cambria Math" charset="0"/>
                                  </a:rPr>
                                  <m:t>1, 2</m:t>
                                </m:r>
                                <m:r>
                                  <a:rPr lang="mr-IN" sz="2800" b="0" i="1" baseline="0" smtClean="0">
                                    <a:latin typeface="Cambria Math" charset="0"/>
                                  </a:rPr>
                                  <m:t>)</m:t>
                                </m:r>
                              </m:oMath>
                            </m:oMathPara>
                          </a14:m>
                          <a:endParaRPr lang="mr-IN" sz="28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364224">
                    <a:tc>
                      <a:txBody>
                        <a:bodyPr/>
                        <a:lstStyle/>
                        <a:p>
                          <a:pPr algn="l">
                            <a:tabLst>
                              <a:tab pos="914400" algn="l"/>
                            </a:tabLst>
                            <a:defRPr sz="4300" b="0" i="0"/>
                          </a:pPr>
                          <a:r>
                            <a:rPr sz="2800" baseline="0" dirty="0">
                              <a:solidFill>
                                <a:schemeClr val="accent1">
                                  <a:lumOff val="44000"/>
                                </a:schemeClr>
                              </a:solidFill>
                            </a:rPr>
                            <a:t>Me:  Strategy </a:t>
                          </a:r>
                          <a:r>
                            <a:rPr lang="en-US" sz="2800" baseline="0" dirty="0" smtClean="0">
                              <a:solidFill>
                                <a:schemeClr val="accent1">
                                  <a:lumOff val="44000"/>
                                </a:schemeClr>
                              </a:solidFill>
                            </a:rPr>
                            <a:t>2</a:t>
                          </a:r>
                          <a:endParaRPr sz="28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14:m>
                            <m:oMathPara xmlns:m="http://schemas.openxmlformats.org/officeDocument/2006/math">
                              <m:oMathParaPr>
                                <m:jc m:val="centerGroup"/>
                              </m:oMathParaPr>
                              <m:oMath xmlns:m="http://schemas.openxmlformats.org/officeDocument/2006/math">
                                <m:r>
                                  <a:rPr lang="mr-IN" sz="2800" b="0" i="1" baseline="0" smtClean="0">
                                    <a:latin typeface="Cambria Math" charset="0"/>
                                  </a:rPr>
                                  <m:t>(</m:t>
                                </m:r>
                                <m:r>
                                  <a:rPr lang="en-US" sz="2800" b="0" i="1" baseline="0" smtClean="0">
                                    <a:latin typeface="Cambria Math" charset="0"/>
                                  </a:rPr>
                                  <m:t>1, 2</m:t>
                                </m:r>
                                <m:r>
                                  <a:rPr lang="mr-IN" sz="2800" b="0" i="1" baseline="0" smtClean="0">
                                    <a:latin typeface="Cambria Math" charset="0"/>
                                  </a:rPr>
                                  <m:t>)</m:t>
                                </m:r>
                              </m:oMath>
                            </m:oMathPara>
                          </a14:m>
                          <a:endParaRPr lang="mr-IN" sz="28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endParaRPr lang="en-US" sz="2800" b="0" i="1" baseline="0" dirty="0" smtClean="0">
                            <a:latin typeface="Cambria Math" charset="0"/>
                          </a:endParaRPr>
                        </a:p>
                        <a:p>
                          <a:pPr marL="0" marR="0" indent="0" algn="ctr" defTabSz="914400" rtl="0" eaLnBrk="1" fontAlgn="auto" latinLnBrk="0" hangingPunct="1">
                            <a:lnSpc>
                              <a:spcPct val="100000"/>
                            </a:lnSpc>
                            <a:spcBef>
                              <a:spcPts val="0"/>
                            </a:spcBef>
                            <a:spcAft>
                              <a:spcPts val="0"/>
                            </a:spcAft>
                            <a:buClrTx/>
                            <a:buSzTx/>
                            <a:buFontTx/>
                            <a:buNone/>
                            <a:tabLst>
                              <a:tab pos="914400" algn="l"/>
                            </a:tabLst>
                            <a:defRPr sz="4300" b="0" i="0"/>
                          </a:pPr>
                          <a14:m>
                            <m:oMathPara xmlns:m="http://schemas.openxmlformats.org/officeDocument/2006/math">
                              <m:oMathParaPr>
                                <m:jc m:val="centerGroup"/>
                              </m:oMathParaPr>
                              <m:oMath xmlns:m="http://schemas.openxmlformats.org/officeDocument/2006/math">
                                <m:r>
                                  <a:rPr lang="mr-IN" sz="2800" b="0" i="1" baseline="0" smtClean="0">
                                    <a:latin typeface="Cambria Math" charset="0"/>
                                  </a:rPr>
                                  <m:t>(</m:t>
                                </m:r>
                                <m:r>
                                  <a:rPr lang="en-US" sz="2800" b="0" i="1" baseline="0" smtClean="0">
                                    <a:latin typeface="Cambria Math" charset="0"/>
                                  </a:rPr>
                                  <m:t>2</m:t>
                                </m:r>
                                <m:r>
                                  <a:rPr lang="mr-IN" sz="2800" b="0" i="1" baseline="0" smtClean="0">
                                    <a:latin typeface="Cambria Math" charset="0"/>
                                  </a:rPr>
                                  <m:t>, </m:t>
                                </m:r>
                                <m:r>
                                  <a:rPr lang="en-US" sz="2800" b="0" i="1" baseline="0" smtClean="0">
                                    <a:latin typeface="Cambria Math" charset="0"/>
                                  </a:rPr>
                                  <m:t>1</m:t>
                                </m:r>
                                <m:r>
                                  <a:rPr lang="mr-IN" sz="2800" b="0" i="1" baseline="0" smtClean="0">
                                    <a:latin typeface="Cambria Math" charset="0"/>
                                  </a:rPr>
                                  <m:t>)</m:t>
                                </m:r>
                              </m:oMath>
                            </m:oMathPara>
                          </a14:m>
                          <a:endParaRPr lang="mr-IN" sz="2800" baseline="0" dirty="0"/>
                        </a:p>
                        <a:p>
                          <a:pPr>
                            <a:tabLst>
                              <a:tab pos="914400" algn="l"/>
                            </a:tabLst>
                            <a:defRPr sz="4300" b="0" i="0"/>
                          </a:pPr>
                          <a:endParaRPr sz="28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mc:Choice>
        <mc:Fallback xmlns="">
          <p:graphicFrame>
            <p:nvGraphicFramePr>
              <p:cNvPr id="13" name="Table 177"/>
              <p:cNvGraphicFramePr/>
              <p:nvPr/>
            </p:nvGraphicFramePr>
            <p:xfrm>
              <a:off x="1551260" y="2692400"/>
              <a:ext cx="9902280" cy="4092672"/>
            </p:xfrm>
            <a:graphic>
              <a:graphicData uri="http://schemas.openxmlformats.org/drawingml/2006/table">
                <a:tbl>
                  <a:tblPr>
                    <a:tableStyleId>{4C3C2611-4C71-4FC5-86AE-919BDF0F9419}</a:tableStyleId>
                  </a:tblPr>
                  <a:tblGrid>
                    <a:gridCol w="3300760"/>
                    <a:gridCol w="3300760"/>
                    <a:gridCol w="3300760"/>
                  </a:tblGrid>
                  <a:tr h="1364224">
                    <a:tc>
                      <a:txBody>
                        <a:bodyPr/>
                        <a:lstStyle/>
                        <a:p>
                          <a:pPr algn="l">
                            <a:tabLst>
                              <a:tab pos="914400" algn="l"/>
                            </a:tabLst>
                            <a:defRPr sz="2400" b="0" i="0">
                              <a:solidFill>
                                <a:schemeClr val="accent1">
                                  <a:lumOff val="44000"/>
                                </a:schemeClr>
                              </a:solidFill>
                            </a:defRPr>
                          </a:pPr>
                          <a:endParaRPr sz="28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2800" baseline="0" dirty="0" smtClean="0">
                            <a:solidFill>
                              <a:schemeClr val="accent1">
                                <a:lumOff val="44000"/>
                              </a:schemeClr>
                            </a:solidFill>
                          </a:endParaRPr>
                        </a:p>
                        <a:p>
                          <a:pPr algn="l">
                            <a:tabLst>
                              <a:tab pos="914400" algn="l"/>
                              <a:tab pos="914400" algn="l"/>
                            </a:tabLst>
                            <a:defRPr sz="4300" b="0" i="0"/>
                          </a:pPr>
                          <a:r>
                            <a:rPr lang="en-US" sz="2800" baseline="0" dirty="0" smtClean="0">
                              <a:solidFill>
                                <a:schemeClr val="accent1">
                                  <a:lumOff val="44000"/>
                                </a:schemeClr>
                              </a:solidFill>
                            </a:rPr>
                            <a:t>You: Strategy 1</a:t>
                          </a:r>
                          <a:endParaRPr sz="28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endParaRPr lang="en-US" sz="2800" baseline="0" dirty="0" smtClean="0">
                            <a:solidFill>
                              <a:schemeClr val="accent1">
                                <a:lumOff val="44000"/>
                              </a:schemeClr>
                            </a:solidFill>
                          </a:endParaRPr>
                        </a:p>
                        <a:p>
                          <a:pPr algn="l">
                            <a:tabLst>
                              <a:tab pos="914400" algn="l"/>
                              <a:tab pos="914400" algn="l"/>
                            </a:tabLst>
                            <a:defRPr sz="4300" b="0" i="0"/>
                          </a:pPr>
                          <a:r>
                            <a:rPr lang="en-US" sz="2800" baseline="0" dirty="0" smtClean="0">
                              <a:solidFill>
                                <a:schemeClr val="accent1">
                                  <a:lumOff val="44000"/>
                                </a:schemeClr>
                              </a:solidFill>
                            </a:rPr>
                            <a:t>You: Strategy 2</a:t>
                          </a:r>
                          <a:endParaRPr sz="2800" baseline="0" dirty="0">
                            <a:solidFill>
                              <a:schemeClr val="accent1">
                                <a:lumOff val="44000"/>
                              </a:schemeClr>
                            </a:solidFill>
                          </a:endParaRP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364224">
                    <a:tc>
                      <a:txBody>
                        <a:bodyPr/>
                        <a:lstStyle/>
                        <a:p>
                          <a:pPr algn="l">
                            <a:tabLst>
                              <a:tab pos="914400" algn="l"/>
                            </a:tabLst>
                            <a:defRPr sz="4300" b="0" i="0"/>
                          </a:pPr>
                          <a:r>
                            <a:rPr sz="2800" baseline="0" dirty="0">
                              <a:solidFill>
                                <a:schemeClr val="accent1">
                                  <a:lumOff val="44000"/>
                                </a:schemeClr>
                              </a:solidFill>
                            </a:rPr>
                            <a:t>Me:  Strategy </a:t>
                          </a:r>
                          <a:r>
                            <a:rPr lang="en-US" sz="2800" baseline="0" dirty="0" smtClean="0">
                              <a:solidFill>
                                <a:schemeClr val="accent1">
                                  <a:lumOff val="44000"/>
                                </a:schemeClr>
                              </a:solidFill>
                            </a:rPr>
                            <a:t>1</a:t>
                          </a:r>
                          <a:endParaRPr sz="28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105545" t="-100000" r="-101109" b="-100444"/>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blipFill rotWithShape="0">
                          <a:blip r:embed="rId3"/>
                          <a:stretch>
                            <a:fillRect l="-205166" t="-100000" r="-923" b="-100444"/>
                          </a:stretch>
                        </a:blipFill>
                      </a:tcPr>
                    </a:tc>
                  </a:tr>
                  <a:tr h="1364224">
                    <a:tc>
                      <a:txBody>
                        <a:bodyPr/>
                        <a:lstStyle/>
                        <a:p>
                          <a:pPr algn="l">
                            <a:tabLst>
                              <a:tab pos="914400" algn="l"/>
                            </a:tabLst>
                            <a:defRPr sz="4300" b="0" i="0"/>
                          </a:pPr>
                          <a:r>
                            <a:rPr sz="2800" baseline="0" dirty="0">
                              <a:solidFill>
                                <a:schemeClr val="accent1">
                                  <a:lumOff val="44000"/>
                                </a:schemeClr>
                              </a:solidFill>
                            </a:rPr>
                            <a:t>Me:  Strategy </a:t>
                          </a:r>
                          <a:r>
                            <a:rPr lang="en-US" sz="2800" baseline="0" dirty="0" smtClean="0">
                              <a:solidFill>
                                <a:schemeClr val="accent1">
                                  <a:lumOff val="44000"/>
                                </a:schemeClr>
                              </a:solidFill>
                            </a:rPr>
                            <a:t>2</a:t>
                          </a:r>
                          <a:endParaRPr sz="2800" baseline="0" dirty="0">
                            <a:solidFill>
                              <a:schemeClr val="accent1">
                                <a:lumOff val="44000"/>
                              </a:schemeClr>
                            </a:solidFill>
                          </a:endParaRPr>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105545" t="-200893" r="-101109" b="-893"/>
                          </a:stretch>
                        </a:blipFill>
                      </a:tcPr>
                    </a:tc>
                    <a:tc>
                      <a:txBody>
                        <a:bodyPr/>
                        <a:lstStyle/>
                        <a:p>
                          <a:endParaRPr lang="en-US"/>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blipFill rotWithShape="0">
                          <a:blip r:embed="rId3"/>
                          <a:stretch>
                            <a:fillRect l="-205166" t="-200893" r="-923" b="-893"/>
                          </a:stretch>
                        </a:blipFill>
                      </a:tcPr>
                    </a:tc>
                  </a:tr>
                </a:tbl>
              </a:graphicData>
            </a:graphic>
          </p:graphicFrame>
        </mc:Fallback>
      </mc:AlternateContent>
      <p:sp>
        <p:nvSpPr>
          <p:cNvPr id="8" name="Shape 180"/>
          <p:cNvSpPr/>
          <p:nvPr/>
        </p:nvSpPr>
        <p:spPr>
          <a:xfrm>
            <a:off x="1551260" y="7358766"/>
            <a:ext cx="9655456" cy="49244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lnSpc>
                <a:spcPct val="90000"/>
              </a:lnSpc>
              <a:defRPr sz="3000" b="1">
                <a:latin typeface="+mj-lt"/>
                <a:ea typeface="+mj-ea"/>
                <a:cs typeface="+mj-cs"/>
                <a:sym typeface="Helvetica"/>
              </a:defRPr>
            </a:pPr>
            <a:r>
              <a:rPr lang="en-US" dirty="0" smtClean="0"/>
              <a:t>No Nash Equilibria</a:t>
            </a:r>
          </a:p>
        </p:txBody>
      </p:sp>
      <p:sp>
        <p:nvSpPr>
          <p:cNvPr id="2" name="Rectangle 1"/>
          <p:cNvSpPr/>
          <p:nvPr/>
        </p:nvSpPr>
        <p:spPr>
          <a:xfrm>
            <a:off x="9725892" y="4528609"/>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6" name="Rectangle 5"/>
          <p:cNvSpPr/>
          <p:nvPr/>
        </p:nvSpPr>
        <p:spPr>
          <a:xfrm>
            <a:off x="6391564" y="5872500"/>
            <a:ext cx="498764" cy="459028"/>
          </a:xfrm>
          <a:prstGeom prst="rect">
            <a:avLst/>
          </a:prstGeom>
          <a:noFill/>
          <a:ln w="47625" cap="flat">
            <a:solidFill>
              <a:srgbClr val="00B05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7" name="Oval 6"/>
          <p:cNvSpPr/>
          <p:nvPr/>
        </p:nvSpPr>
        <p:spPr>
          <a:xfrm>
            <a:off x="5929746" y="4526818"/>
            <a:ext cx="471054" cy="433109"/>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
        <p:nvSpPr>
          <p:cNvPr id="9" name="Oval 8"/>
          <p:cNvSpPr/>
          <p:nvPr/>
        </p:nvSpPr>
        <p:spPr>
          <a:xfrm>
            <a:off x="9351818" y="5926127"/>
            <a:ext cx="471054" cy="433109"/>
          </a:xfrm>
          <a:prstGeom prst="ellipse">
            <a:avLst/>
          </a:prstGeom>
          <a:noFill/>
          <a:ln w="44450" cap="flat">
            <a:solidFill>
              <a:srgbClr val="FF0000"/>
            </a:solidFill>
            <a:prstDash val="solid"/>
            <a:bevel/>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Gill Sans"/>
              <a:ea typeface="Gill Sans"/>
              <a:cs typeface="Gill Sans"/>
              <a:sym typeface="Gill Sans"/>
            </a:endParaRPr>
          </a:p>
        </p:txBody>
      </p:sp>
    </p:spTree>
    <p:extLst>
      <p:ext uri="{BB962C8B-B14F-4D97-AF65-F5344CB8AC3E}">
        <p14:creationId xmlns:p14="http://schemas.microsoft.com/office/powerpoint/2010/main" val="1576515194"/>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image.png"/>
          <p:cNvPicPr>
            <a:picLocks noChangeAspect="1"/>
          </p:cNvPicPr>
          <p:nvPr/>
        </p:nvPicPr>
        <p:blipFill>
          <a:blip r:embed="rId2">
            <a:extLst/>
          </a:blip>
          <a:stretch>
            <a:fillRect/>
          </a:stretch>
        </p:blipFill>
        <p:spPr>
          <a:xfrm>
            <a:off x="4305300" y="5499100"/>
            <a:ext cx="4394200" cy="1346200"/>
          </a:xfrm>
          <a:prstGeom prst="rect">
            <a:avLst/>
          </a:prstGeom>
          <a:ln w="12700">
            <a:miter lim="400000"/>
          </a:ln>
        </p:spPr>
      </p:pic>
      <p:sp>
        <p:nvSpPr>
          <p:cNvPr id="253" name="Shape 253"/>
          <p:cNvSpPr/>
          <p:nvPr/>
        </p:nvSpPr>
        <p:spPr>
          <a:xfrm>
            <a:off x="495300" y="3733800"/>
            <a:ext cx="12014200" cy="1877060"/>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p>
            <a:pPr>
              <a:lnSpc>
                <a:spcPct val="90000"/>
              </a:lnSpc>
              <a:defRPr b="1">
                <a:latin typeface="+mj-lt"/>
                <a:ea typeface="+mj-ea"/>
                <a:cs typeface="+mj-cs"/>
                <a:sym typeface="Helvetica"/>
              </a:defRPr>
            </a:pPr>
            <a:r>
              <a:rPr sz="3400"/>
              <a:t>He explains his proof in words in his short paper (1 page).</a:t>
            </a:r>
          </a:p>
          <a:p>
            <a:pPr>
              <a:lnSpc>
                <a:spcPct val="90000"/>
              </a:lnSpc>
              <a:defRPr b="1">
                <a:latin typeface="+mj-lt"/>
                <a:ea typeface="+mj-ea"/>
                <a:cs typeface="+mj-cs"/>
                <a:sym typeface="Helvetica"/>
              </a:defRPr>
            </a:pPr>
            <a:endParaRPr sz="2500"/>
          </a:p>
          <a:p>
            <a:pPr>
              <a:lnSpc>
                <a:spcPct val="90000"/>
              </a:lnSpc>
              <a:defRPr b="1">
                <a:latin typeface="+mj-lt"/>
                <a:ea typeface="+mj-ea"/>
                <a:cs typeface="+mj-cs"/>
                <a:sym typeface="Helvetica"/>
              </a:defRPr>
            </a:pPr>
            <a:r>
              <a:rPr sz="3400"/>
              <a:t>In equations, payoff for strategy p with payoff matrix A against strategy q is</a:t>
            </a:r>
          </a:p>
        </p:txBody>
      </p:sp>
      <p:sp>
        <p:nvSpPr>
          <p:cNvPr id="254" name="Shape 254"/>
          <p:cNvSpPr>
            <a:spLocks noGrp="1"/>
          </p:cNvSpPr>
          <p:nvPr>
            <p:ph type="title"/>
          </p:nvPr>
        </p:nvSpPr>
        <p:spPr>
          <a:xfrm>
            <a:off x="1269999" y="0"/>
            <a:ext cx="10464802" cy="2438400"/>
          </a:xfrm>
          <a:prstGeom prst="rect">
            <a:avLst/>
          </a:prstGeom>
        </p:spPr>
        <p:txBody>
          <a:bodyPr lIns="0" tIns="0" rIns="0" bIns="0" anchor="ct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FF"/>
                </a:solidFill>
                <a:effectLst/>
              </a:defRPr>
            </a:pPr>
            <a:r>
              <a:rPr sz="5800">
                <a:solidFill>
                  <a:srgbClr val="133C73"/>
                </a:solidFill>
                <a:effectLst>
                  <a:outerShdw blurRad="12700" dist="38100" dir="2700000" rotWithShape="0">
                    <a:srgbClr val="DDDDDD"/>
                  </a:outerShdw>
                </a:effectLst>
              </a:rPr>
              <a:t>Nash’s Main Theorem</a:t>
            </a:r>
          </a:p>
        </p:txBody>
      </p:sp>
      <p:sp>
        <p:nvSpPr>
          <p:cNvPr id="255" name="Shape 255"/>
          <p:cNvSpPr/>
          <p:nvPr/>
        </p:nvSpPr>
        <p:spPr>
          <a:xfrm>
            <a:off x="2205955" y="2095500"/>
            <a:ext cx="8592890" cy="1050290"/>
          </a:xfrm>
          <a:prstGeom prst="rect">
            <a:avLst/>
          </a:prstGeom>
          <a:solidFill>
            <a:srgbClr val="FFFCC5"/>
          </a:solidFill>
          <a:ln w="12700">
            <a:solidFill>
              <a:srgbClr val="FFFF00"/>
            </a:solidFill>
            <a:miter lim="400000"/>
          </a:ln>
          <a:effectLst>
            <a:outerShdw blurRad="101600" dist="25400" dir="2700000" rotWithShape="0">
              <a:srgbClr val="000000">
                <a:alpha val="20383"/>
              </a:srgbClr>
            </a:outerShdw>
          </a:effectLst>
          <a:extLst>
            <a:ext uri="{C572A759-6A51-4108-AA02-DFA0A04FC94B}">
              <ma14:wrappingTextBoxFlag xmlns:ma14="http://schemas.microsoft.com/office/mac/drawingml/2011/main" val="1"/>
            </a:ext>
          </a:extLst>
        </p:spPr>
        <p:txBody>
          <a:bodyPr lIns="0" tIns="0" rIns="0" bIns="0">
            <a:spAutoFit/>
          </a:bodyPr>
          <a:lstStyle>
            <a:lvl1pPr algn="ctr">
              <a:lnSpc>
                <a:spcPct val="90000"/>
              </a:lnSpc>
              <a:spcBef>
                <a:spcPts val="600"/>
              </a:spcBef>
              <a:defRPr sz="3600" b="1">
                <a:latin typeface="+mj-lt"/>
                <a:ea typeface="+mj-ea"/>
                <a:cs typeface="+mj-cs"/>
                <a:sym typeface="Helvetica"/>
              </a:defRPr>
            </a:lvl1pPr>
          </a:lstStyle>
          <a:p>
            <a:r>
              <a:t>There is always a Nash Equilibrium using mixed strategies!</a:t>
            </a:r>
          </a:p>
        </p:txBody>
      </p:sp>
      <p:pic>
        <p:nvPicPr>
          <p:cNvPr id="256" name="image.png"/>
          <p:cNvPicPr>
            <a:picLocks noChangeAspect="1"/>
          </p:cNvPicPr>
          <p:nvPr/>
        </p:nvPicPr>
        <p:blipFill>
          <a:blip r:embed="rId3">
            <a:extLst/>
          </a:blip>
          <a:stretch>
            <a:fillRect/>
          </a:stretch>
        </p:blipFill>
        <p:spPr>
          <a:xfrm>
            <a:off x="4965700" y="8115300"/>
            <a:ext cx="3073400" cy="419100"/>
          </a:xfrm>
          <a:prstGeom prst="rect">
            <a:avLst/>
          </a:prstGeom>
          <a:ln w="12700">
            <a:miter lim="400000"/>
          </a:ln>
        </p:spPr>
      </p:pic>
      <p:sp>
        <p:nvSpPr>
          <p:cNvPr id="257" name="Shape 257"/>
          <p:cNvSpPr/>
          <p:nvPr/>
        </p:nvSpPr>
        <p:spPr>
          <a:xfrm>
            <a:off x="495300" y="6934200"/>
            <a:ext cx="12014200" cy="9893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defRPr b="1">
                <a:latin typeface="+mj-lt"/>
                <a:ea typeface="+mj-ea"/>
                <a:cs typeface="+mj-cs"/>
                <a:sym typeface="Helvetica"/>
              </a:defRPr>
            </a:pPr>
            <a:r>
              <a:rPr sz="3400"/>
              <a:t>For any A, there is at least one strategy q such that for all opposing strategies p</a:t>
            </a:r>
          </a:p>
        </p:txBody>
      </p:sp>
      <p:sp>
        <p:nvSpPr>
          <p:cNvPr id="258" name="Shape 258"/>
          <p:cNvSpPr/>
          <p:nvPr/>
        </p:nvSpPr>
        <p:spPr>
          <a:xfrm>
            <a:off x="496887" y="8737600"/>
            <a:ext cx="12014201" cy="52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latin typeface="+mj-lt"/>
                <a:ea typeface="+mj-ea"/>
                <a:cs typeface="+mj-cs"/>
                <a:sym typeface="Helvetica"/>
              </a:defRPr>
            </a:pPr>
            <a:r>
              <a:rPr sz="3400"/>
              <a:t>Here q is a Nash equilibrium.</a:t>
            </a:r>
          </a:p>
        </p:txBody>
      </p:sp>
      <p:sp>
        <p:nvSpPr>
          <p:cNvPr id="259" name="Shape 259"/>
          <p:cNvSpPr/>
          <p:nvPr/>
        </p:nvSpPr>
        <p:spPr>
          <a:xfrm>
            <a:off x="368300" y="4610100"/>
            <a:ext cx="12128500" cy="4800600"/>
          </a:xfrm>
          <a:prstGeom prst="roundRect">
            <a:avLst>
              <a:gd name="adj" fmla="val 3968"/>
            </a:avLst>
          </a:prstGeom>
          <a:ln w="50800">
            <a:solidFill>
              <a:srgbClr val="123C73"/>
            </a:solidFill>
            <a:miter/>
          </a:ln>
        </p:spPr>
        <p:txBody>
          <a:bodyPr lIns="45719" rIns="45719"/>
          <a:lstStyle/>
          <a:p>
            <a:endParaRPr/>
          </a:p>
        </p:txBody>
      </p:sp>
    </p:spTree>
    <p:extLst>
      <p:ext uri="{BB962C8B-B14F-4D97-AF65-F5344CB8AC3E}">
        <p14:creationId xmlns:p14="http://schemas.microsoft.com/office/powerpoint/2010/main" val="1037637326"/>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p:cNvSpPr>
          <p:nvPr>
            <p:ph type="title"/>
          </p:nvPr>
        </p:nvSpPr>
        <p:spPr>
          <a:xfrm>
            <a:off x="1269999" y="2971800"/>
            <a:ext cx="10464802" cy="38100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Do such games appear in real life?</a:t>
            </a:r>
          </a:p>
        </p:txBody>
      </p:sp>
    </p:spTree>
    <p:extLst>
      <p:ext uri="{BB962C8B-B14F-4D97-AF65-F5344CB8AC3E}">
        <p14:creationId xmlns:p14="http://schemas.microsoft.com/office/powerpoint/2010/main" val="147073956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5" name="Group 265"/>
          <p:cNvGrpSpPr/>
          <p:nvPr/>
        </p:nvGrpSpPr>
        <p:grpSpPr>
          <a:xfrm>
            <a:off x="546100" y="1524000"/>
            <a:ext cx="11912600" cy="8026400"/>
            <a:chOff x="0" y="0"/>
            <a:chExt cx="11912600" cy="8026400"/>
          </a:xfrm>
        </p:grpSpPr>
        <p:sp>
          <p:nvSpPr>
            <p:cNvPr id="263" name="Shape 263"/>
            <p:cNvSpPr/>
            <p:nvPr/>
          </p:nvSpPr>
          <p:spPr>
            <a:xfrm>
              <a:off x="203200" y="152400"/>
              <a:ext cx="11506200" cy="74422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a:defRPr sz="2400">
                  <a:latin typeface="+mj-lt"/>
                  <a:ea typeface="+mj-ea"/>
                  <a:cs typeface="+mj-cs"/>
                  <a:sym typeface="Helvetica"/>
                </a:defRPr>
              </a:lvl1pPr>
            </a:lstStyle>
            <a:p>
              <a:pPr>
                <a:defRPr sz="1200">
                  <a:latin typeface="Gill Sans"/>
                  <a:ea typeface="Gill Sans"/>
                  <a:cs typeface="Gill Sans"/>
                  <a:sym typeface="Gill Sans"/>
                </a:defRPr>
              </a:pPr>
              <a:r>
                <a:rPr sz="2400">
                  <a:latin typeface="+mj-lt"/>
                  <a:ea typeface="+mj-ea"/>
                  <a:cs typeface="+mj-cs"/>
                  <a:sym typeface="Helvetica"/>
                </a:rPr>
                <a:t>Since the nuclear stalemate became apparent, the Governments of East and West have adopted the policy which Mr. Dulles calls ‘brinkmanship’. This is a policy adapted from a sport which, I am told, is practised by some youthful degenerates. This sport is called ‘Chicken!’. It is played by choosing a long straight road with a white line down the middle and starting two very fast cars towards each other from opposite ends. Each car is expected to keep the wheels of one side on the white line. As they approach each other, mutual destruction becomes more and more imminent. If one of them swerves from the white line before the other, the other, as he passes, shouts ‘Chicken!’, and the one who has swerved becomes an object of contempt. As played by irresponsible boys, this game is considered decadent and immoral, though only the lives of the players are risked. But when the game is played by eminent statesmen, who risk not only their own lives but those of many hundreds of millions of human beings, it is thought on both sides that the statesmen on one side are displaying a high degree of wisdom and courage, and only the statesmen on the other side are reprehensible. This, of course, is absurd. Both are to blame for playing such an incredibly dangerous game. The game may be played without misfortune a few times, but sooner or later it will come to be felt that loss of face is more dreadful than nuclear annihilation. The moment will come when neither side can face the derisive cry of ‘Chicken!’ from the other side. When that moment is come, the statesmen of both sides will plunge the world into destruction.[3]</a:t>
              </a:r>
            </a:p>
          </p:txBody>
        </p:sp>
        <p:pic>
          <p:nvPicPr>
            <p:cNvPr id="264" name="image.png"/>
            <p:cNvPicPr>
              <a:picLocks noChangeAspect="1"/>
            </p:cNvPicPr>
            <p:nvPr/>
          </p:nvPicPr>
          <p:blipFill>
            <a:blip r:embed="rId2">
              <a:extLst/>
            </a:blip>
            <a:stretch>
              <a:fillRect/>
            </a:stretch>
          </p:blipFill>
          <p:spPr>
            <a:xfrm>
              <a:off x="0" y="0"/>
              <a:ext cx="11912600" cy="8026400"/>
            </a:xfrm>
            <a:prstGeom prst="rect">
              <a:avLst/>
            </a:prstGeom>
            <a:ln w="12700" cap="flat">
              <a:noFill/>
              <a:miter lim="400000"/>
            </a:ln>
            <a:effectLst/>
          </p:spPr>
        </p:pic>
      </p:grpSp>
      <p:sp>
        <p:nvSpPr>
          <p:cNvPr id="266" name="Shape 266"/>
          <p:cNvSpPr/>
          <p:nvPr/>
        </p:nvSpPr>
        <p:spPr>
          <a:xfrm>
            <a:off x="304800" y="265112"/>
            <a:ext cx="8031448" cy="965201"/>
          </a:xfrm>
          <a:prstGeom prst="rect">
            <a:avLst/>
          </a:prstGeom>
          <a:ln w="12700">
            <a:miter lim="400000"/>
          </a:ln>
          <a:extLst>
            <a:ext uri="{C572A759-6A51-4108-AA02-DFA0A04FC94B}">
              <ma14:wrappingTextBoxFlag xmlns:ma14="http://schemas.microsoft.com/office/mac/drawingml/2011/main" val="1"/>
            </a:ext>
          </a:extLst>
        </p:spPr>
        <p:txBody>
          <a:bodyPr wrap="none" lIns="38100" tIns="38100" rIns="38100" bIns="38100">
            <a:sp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1200">
                <a:solidFill>
                  <a:srgbClr val="000000"/>
                </a:solidFill>
                <a:effectLst/>
              </a:defRPr>
            </a:pPr>
            <a:r>
              <a:rPr sz="5800">
                <a:solidFill>
                  <a:srgbClr val="133C73"/>
                </a:solidFill>
                <a:effectLst>
                  <a:outerShdw blurRad="12700" dist="38100" dir="2700000" rotWithShape="0">
                    <a:srgbClr val="DDDDDD"/>
                  </a:outerShdw>
                </a:effectLst>
              </a:rPr>
              <a:t>Bertrand Russell, 1959</a:t>
            </a:r>
          </a:p>
        </p:txBody>
      </p:sp>
      <p:sp>
        <p:nvSpPr>
          <p:cNvPr id="267" name="Shape 267"/>
          <p:cNvSpPr/>
          <p:nvPr/>
        </p:nvSpPr>
        <p:spPr>
          <a:xfrm>
            <a:off x="698500" y="1689100"/>
            <a:ext cx="11595100" cy="1511300"/>
          </a:xfrm>
          <a:prstGeom prst="rect">
            <a:avLst/>
          </a:prstGeom>
          <a:solidFill>
            <a:srgbClr val="FFFF00">
              <a:alpha val="23921"/>
            </a:srgbClr>
          </a:solidFill>
          <a:ln>
            <a:solidFill>
              <a:srgbClr val="FFFF00"/>
            </a:solidFill>
          </a:ln>
          <a:effectLst>
            <a:outerShdw blurRad="63500" dist="23000" dir="5400000" rotWithShape="0">
              <a:srgbClr val="000000">
                <a:alpha val="34999"/>
              </a:srgbClr>
            </a:outerShdw>
          </a:effectLst>
        </p:spPr>
        <p:txBody>
          <a:bodyPr lIns="45719" rIns="45719"/>
          <a:lstStyle/>
          <a:p>
            <a:endParaRPr/>
          </a:p>
        </p:txBody>
      </p:sp>
      <p:sp>
        <p:nvSpPr>
          <p:cNvPr id="268" name="Shape 268"/>
          <p:cNvSpPr/>
          <p:nvPr/>
        </p:nvSpPr>
        <p:spPr>
          <a:xfrm>
            <a:off x="698500" y="5067300"/>
            <a:ext cx="11595100" cy="2197100"/>
          </a:xfrm>
          <a:prstGeom prst="rect">
            <a:avLst/>
          </a:prstGeom>
          <a:solidFill>
            <a:srgbClr val="FFFF00">
              <a:alpha val="23921"/>
            </a:srgbClr>
          </a:solidFill>
          <a:ln>
            <a:solidFill>
              <a:srgbClr val="FFFF00"/>
            </a:solidFill>
          </a:ln>
          <a:effectLst>
            <a:outerShdw blurRad="63500" dist="23000" dir="5400000" rotWithShape="0">
              <a:srgbClr val="000000">
                <a:alpha val="34999"/>
              </a:srgbClr>
            </a:outerShdw>
          </a:effectLst>
        </p:spPr>
        <p:txBody>
          <a:bodyPr lIns="45719" rIns="45719"/>
          <a:lstStyle/>
          <a:p>
            <a:endParaRPr/>
          </a:p>
        </p:txBody>
      </p:sp>
    </p:spTree>
    <p:extLst>
      <p:ext uri="{BB962C8B-B14F-4D97-AF65-F5344CB8AC3E}">
        <p14:creationId xmlns:p14="http://schemas.microsoft.com/office/powerpoint/2010/main" val="118309198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 name="Table 270"/>
          <p:cNvGraphicFramePr/>
          <p:nvPr>
            <p:extLst>
              <p:ext uri="{D42A27DB-BD31-4B8C-83A1-F6EECF244321}">
                <p14:modId xmlns:p14="http://schemas.microsoft.com/office/powerpoint/2010/main" val="1217013609"/>
              </p:ext>
            </p:extLst>
          </p:nvPr>
        </p:nvGraphicFramePr>
        <p:xfrm>
          <a:off x="2628900" y="5257801"/>
          <a:ext cx="7779147" cy="2901954"/>
        </p:xfrm>
        <a:graphic>
          <a:graphicData uri="http://schemas.openxmlformats.org/drawingml/2006/table">
            <a:tbl>
              <a:tblPr>
                <a:tableStyleId>{4C3C2611-4C71-4FC5-86AE-919BDF0F9419}</a:tableStyleId>
              </a:tblPr>
              <a:tblGrid>
                <a:gridCol w="2593049"/>
                <a:gridCol w="2593049"/>
                <a:gridCol w="2593049"/>
              </a:tblGrid>
              <a:tr h="967318">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Lst>
                        <a:defRPr sz="4300" b="0" i="0"/>
                      </a:pPr>
                      <a:r>
                        <a:rPr sz="3200" baseline="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r>
                        <a:rPr sz="3200" baseline="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967318">
                <a:tc>
                  <a:txBody>
                    <a:bodyPr/>
                    <a:lstStyle/>
                    <a:p>
                      <a:pPr algn="l">
                        <a:tabLst>
                          <a:tab pos="914400" algn="l"/>
                        </a:tabLst>
                        <a:defRPr sz="4300" b="0" i="0"/>
                      </a:pPr>
                      <a:r>
                        <a:rPr sz="3200" baseline="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baseline="0" dirty="0" smtClean="0"/>
                        <a:t>-c</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baseline="0" dirty="0" smtClean="0"/>
                        <a:t>b</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967318">
                <a:tc>
                  <a:txBody>
                    <a:bodyPr/>
                    <a:lstStyle/>
                    <a:p>
                      <a:pPr algn="l">
                        <a:tabLst>
                          <a:tab pos="914400" algn="l"/>
                          <a:tab pos="914400" algn="l"/>
                        </a:tabLst>
                        <a:defRPr sz="4300" b="0" i="0"/>
                      </a:pPr>
                      <a:r>
                        <a:rPr sz="3200" baseline="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baseline="0" dirty="0" smtClean="0"/>
                        <a:t>-b</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baseline="0" dirty="0" smtClean="0"/>
                        <a:t>0</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272" name="Shape 272"/>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The Chicken Game</a:t>
            </a:r>
          </a:p>
        </p:txBody>
      </p:sp>
      <p:pic>
        <p:nvPicPr>
          <p:cNvPr id="273" name="image.jpg"/>
          <p:cNvPicPr>
            <a:picLocks noChangeAspect="1"/>
          </p:cNvPicPr>
          <p:nvPr/>
        </p:nvPicPr>
        <p:blipFill>
          <a:blip r:embed="rId2">
            <a:extLst/>
          </a:blip>
          <a:stretch>
            <a:fillRect/>
          </a:stretch>
        </p:blipFill>
        <p:spPr>
          <a:xfrm>
            <a:off x="8966200" y="2286000"/>
            <a:ext cx="3125788" cy="1625600"/>
          </a:xfrm>
          <a:prstGeom prst="rect">
            <a:avLst/>
          </a:prstGeom>
          <a:ln w="12700">
            <a:miter lim="400000"/>
          </a:ln>
          <a:effectLst>
            <a:outerShdw blurRad="63500" dist="12699" dir="5400000" rotWithShape="0">
              <a:srgbClr val="000000">
                <a:alpha val="50000"/>
              </a:srgbClr>
            </a:outerShdw>
          </a:effectLst>
        </p:spPr>
      </p:pic>
      <p:pic>
        <p:nvPicPr>
          <p:cNvPr id="274" name="image.jpg"/>
          <p:cNvPicPr>
            <a:picLocks noChangeAspect="1"/>
          </p:cNvPicPr>
          <p:nvPr/>
        </p:nvPicPr>
        <p:blipFill>
          <a:blip r:embed="rId3">
            <a:extLst/>
          </a:blip>
          <a:stretch>
            <a:fillRect/>
          </a:stretch>
        </p:blipFill>
        <p:spPr>
          <a:xfrm>
            <a:off x="1249362" y="2286000"/>
            <a:ext cx="2516188" cy="1625600"/>
          </a:xfrm>
          <a:prstGeom prst="rect">
            <a:avLst/>
          </a:prstGeom>
          <a:ln w="12700">
            <a:miter lim="400000"/>
          </a:ln>
          <a:effectLst>
            <a:outerShdw blurRad="63500" dist="12699" dir="5400000" rotWithShape="0">
              <a:srgbClr val="000000">
                <a:alpha val="50000"/>
              </a:srgbClr>
            </a:outerShdw>
          </a:effectLst>
        </p:spPr>
      </p:pic>
      <p:sp>
        <p:nvSpPr>
          <p:cNvPr id="275" name="Shape 275"/>
          <p:cNvSpPr/>
          <p:nvPr/>
        </p:nvSpPr>
        <p:spPr>
          <a:xfrm>
            <a:off x="4038600" y="2390775"/>
            <a:ext cx="4927600" cy="1427480"/>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lvl1pPr>
              <a:lnSpc>
                <a:spcPct val="90000"/>
              </a:lnSpc>
              <a:defRPr sz="3200" b="1">
                <a:latin typeface="+mj-lt"/>
                <a:ea typeface="+mj-ea"/>
                <a:cs typeface="+mj-cs"/>
                <a:sym typeface="Helvetica"/>
              </a:defRPr>
            </a:lvl1pPr>
          </a:lstStyle>
          <a:p>
            <a:pPr>
              <a:defRPr sz="1200"/>
            </a:pPr>
            <a:r>
              <a:rPr sz="3200"/>
              <a:t>Cars drive towards each other at high speeds on a single lane road.</a:t>
            </a:r>
          </a:p>
        </p:txBody>
      </p:sp>
      <p:sp>
        <p:nvSpPr>
          <p:cNvPr id="276" name="Shape 276"/>
          <p:cNvSpPr/>
          <p:nvPr/>
        </p:nvSpPr>
        <p:spPr>
          <a:xfrm>
            <a:off x="2628900" y="4338479"/>
            <a:ext cx="7213513" cy="49244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defRPr sz="3200" b="1">
                <a:latin typeface="+mj-lt"/>
                <a:ea typeface="+mj-ea"/>
                <a:cs typeface="+mj-cs"/>
                <a:sym typeface="Helvetica"/>
              </a:defRPr>
            </a:lvl1pPr>
          </a:lstStyle>
          <a:p>
            <a:pPr>
              <a:defRPr sz="1200"/>
            </a:pPr>
            <a:r>
              <a:rPr sz="3200" dirty="0"/>
              <a:t>Do </a:t>
            </a:r>
            <a:r>
              <a:rPr lang="en-US" sz="3200" dirty="0" smtClean="0"/>
              <a:t>I </a:t>
            </a:r>
            <a:r>
              <a:rPr sz="3200" dirty="0" smtClean="0"/>
              <a:t>turn </a:t>
            </a:r>
            <a:r>
              <a:rPr sz="3200" dirty="0"/>
              <a:t>off the road, or keep going?</a:t>
            </a:r>
          </a:p>
        </p:txBody>
      </p:sp>
      <p:sp>
        <p:nvSpPr>
          <p:cNvPr id="10" name="Shape 271"/>
          <p:cNvSpPr/>
          <p:nvPr/>
        </p:nvSpPr>
        <p:spPr>
          <a:xfrm>
            <a:off x="6168748" y="8209607"/>
            <a:ext cx="4360346" cy="75405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defRPr b="1">
                <a:latin typeface="+mj-lt"/>
                <a:ea typeface="+mj-ea"/>
                <a:cs typeface="+mj-cs"/>
                <a:sym typeface="Helvetica"/>
              </a:defRPr>
            </a:pPr>
            <a:r>
              <a:rPr sz="2200" dirty="0"/>
              <a:t>-c = cost of </a:t>
            </a:r>
            <a:r>
              <a:rPr sz="2200" dirty="0" smtClean="0"/>
              <a:t>crashing</a:t>
            </a:r>
            <a:r>
              <a:rPr lang="en-US" sz="2200" dirty="0" smtClean="0"/>
              <a:t>, c &gt; 0</a:t>
            </a:r>
            <a:endParaRPr sz="2200" dirty="0"/>
          </a:p>
          <a:p>
            <a:pPr>
              <a:defRPr b="1">
                <a:latin typeface="+mj-lt"/>
                <a:ea typeface="+mj-ea"/>
                <a:cs typeface="+mj-cs"/>
                <a:sym typeface="Helvetica"/>
              </a:defRPr>
            </a:pPr>
            <a:r>
              <a:rPr sz="2200" dirty="0"/>
              <a:t> b = gain from </a:t>
            </a:r>
            <a:r>
              <a:rPr sz="2200" dirty="0" smtClean="0"/>
              <a:t>winning</a:t>
            </a:r>
            <a:r>
              <a:rPr lang="en-US" sz="2200" dirty="0" smtClean="0"/>
              <a:t>, c &gt; b &gt; 0</a:t>
            </a:r>
            <a:endParaRPr sz="2200" dirty="0"/>
          </a:p>
        </p:txBody>
      </p:sp>
      <p:sp>
        <p:nvSpPr>
          <p:cNvPr id="11" name="Shape 282"/>
          <p:cNvSpPr/>
          <p:nvPr/>
        </p:nvSpPr>
        <p:spPr>
          <a:xfrm>
            <a:off x="762000" y="5767625"/>
            <a:ext cx="1371600" cy="1477328"/>
          </a:xfrm>
          <a:prstGeom prst="rect">
            <a:avLst/>
          </a:prstGeom>
          <a:ln w="12700">
            <a:miter lim="400000"/>
          </a:ln>
          <a:extLst>
            <a:ext uri="{C572A759-6A51-4108-AA02-DFA0A04FC94B}">
              <ma14:wrappingTextBoxFlag xmlns:ma14="http://schemas.microsoft.com/office/mac/drawingml/2011/main" val="1"/>
            </a:ext>
          </a:extLst>
        </p:spPr>
        <p:txBody>
          <a:bodyPr wrap="square" lIns="0" tIns="0" rIns="0" bIns="0" anchor="ctr">
            <a:spAutoFit/>
          </a:bodyPr>
          <a:lstStyle/>
          <a:p>
            <a:pPr>
              <a:defRPr b="1">
                <a:latin typeface="+mj-lt"/>
                <a:ea typeface="+mj-ea"/>
                <a:cs typeface="+mj-cs"/>
                <a:sym typeface="Helvetica"/>
              </a:defRPr>
            </a:pPr>
            <a:r>
              <a:rPr lang="en-US" sz="3200" u="sng" dirty="0" smtClean="0"/>
              <a:t>My</a:t>
            </a:r>
            <a:r>
              <a:rPr lang="en-US" sz="3200" dirty="0" smtClean="0"/>
              <a:t> payoff</a:t>
            </a:r>
            <a:r>
              <a:rPr lang="en-US" sz="3200" dirty="0"/>
              <a:t> </a:t>
            </a:r>
            <a:r>
              <a:rPr lang="en-US" sz="3200" dirty="0" smtClean="0"/>
              <a:t>matrix</a:t>
            </a:r>
          </a:p>
        </p:txBody>
      </p:sp>
    </p:spTree>
    <p:extLst>
      <p:ext uri="{BB962C8B-B14F-4D97-AF65-F5344CB8AC3E}">
        <p14:creationId xmlns:p14="http://schemas.microsoft.com/office/powerpoint/2010/main" val="675904322"/>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The Chicken Game</a:t>
            </a:r>
          </a:p>
        </p:txBody>
      </p:sp>
      <p:sp>
        <p:nvSpPr>
          <p:cNvPr id="283" name="Shape 283"/>
          <p:cNvSpPr/>
          <p:nvPr/>
        </p:nvSpPr>
        <p:spPr>
          <a:xfrm>
            <a:off x="1714500" y="6113800"/>
            <a:ext cx="9575800"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latin typeface="+mj-lt"/>
                <a:ea typeface="+mj-ea"/>
                <a:cs typeface="+mj-cs"/>
                <a:sym typeface="Helvetica"/>
              </a:defRPr>
            </a:pPr>
            <a:r>
              <a:rPr sz="3200" dirty="0"/>
              <a:t>In a Nash equilibrium, neither player can </a:t>
            </a:r>
            <a:r>
              <a:rPr sz="3200" i="1" dirty="0"/>
              <a:t>unilaterally </a:t>
            </a:r>
            <a:r>
              <a:rPr sz="3200" dirty="0"/>
              <a:t>improve its payoff by changing strategies.</a:t>
            </a:r>
          </a:p>
        </p:txBody>
      </p:sp>
      <p:sp>
        <p:nvSpPr>
          <p:cNvPr id="284" name="Shape 284"/>
          <p:cNvSpPr/>
          <p:nvPr/>
        </p:nvSpPr>
        <p:spPr>
          <a:xfrm>
            <a:off x="1714500" y="8007738"/>
            <a:ext cx="95758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b="1">
                <a:latin typeface="+mj-lt"/>
                <a:ea typeface="+mj-ea"/>
                <a:cs typeface="+mj-cs"/>
                <a:sym typeface="Helvetica"/>
              </a:defRPr>
            </a:lvl1pPr>
          </a:lstStyle>
          <a:p>
            <a:pPr>
              <a:defRPr sz="1200"/>
            </a:pPr>
            <a:r>
              <a:rPr sz="3200" dirty="0"/>
              <a:t>Are there Nash equilibria?</a:t>
            </a:r>
          </a:p>
        </p:txBody>
      </p:sp>
      <p:sp>
        <p:nvSpPr>
          <p:cNvPr id="285" name="Shape 285"/>
          <p:cNvSpPr/>
          <p:nvPr/>
        </p:nvSpPr>
        <p:spPr>
          <a:xfrm>
            <a:off x="5434754" y="8895100"/>
            <a:ext cx="5422901" cy="4924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b="1">
                <a:solidFill>
                  <a:srgbClr val="FF0000"/>
                </a:solidFill>
                <a:latin typeface="+mj-lt"/>
                <a:ea typeface="+mj-ea"/>
                <a:cs typeface="+mj-cs"/>
                <a:sym typeface="Helvetica"/>
              </a:defRPr>
            </a:lvl1pPr>
          </a:lstStyle>
          <a:p>
            <a:pPr>
              <a:defRPr sz="1200">
                <a:solidFill>
                  <a:srgbClr val="000000"/>
                </a:solidFill>
              </a:defRPr>
            </a:pPr>
            <a:r>
              <a:rPr sz="3200" dirty="0" smtClean="0">
                <a:solidFill>
                  <a:srgbClr val="FF0000"/>
                </a:solidFill>
              </a:rPr>
              <a:t>Discuss</a:t>
            </a:r>
            <a:endParaRPr sz="3200" dirty="0">
              <a:solidFill>
                <a:srgbClr val="FF0000"/>
              </a:solidFill>
            </a:endParaRPr>
          </a:p>
        </p:txBody>
      </p:sp>
      <p:sp>
        <p:nvSpPr>
          <p:cNvPr id="10" name="Shape 271"/>
          <p:cNvSpPr/>
          <p:nvPr/>
        </p:nvSpPr>
        <p:spPr>
          <a:xfrm>
            <a:off x="6103119" y="5248128"/>
            <a:ext cx="4360346" cy="75405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defRPr b="1">
                <a:latin typeface="+mj-lt"/>
                <a:ea typeface="+mj-ea"/>
                <a:cs typeface="+mj-cs"/>
                <a:sym typeface="Helvetica"/>
              </a:defRPr>
            </a:pPr>
            <a:r>
              <a:rPr sz="2200" dirty="0"/>
              <a:t>-c = cost of </a:t>
            </a:r>
            <a:r>
              <a:rPr sz="2200" dirty="0" smtClean="0"/>
              <a:t>crashing</a:t>
            </a:r>
            <a:r>
              <a:rPr lang="en-US" sz="2200" dirty="0" smtClean="0"/>
              <a:t>, c &gt; 0</a:t>
            </a:r>
            <a:endParaRPr sz="2200" dirty="0"/>
          </a:p>
          <a:p>
            <a:pPr>
              <a:defRPr b="1">
                <a:latin typeface="+mj-lt"/>
                <a:ea typeface="+mj-ea"/>
                <a:cs typeface="+mj-cs"/>
                <a:sym typeface="Helvetica"/>
              </a:defRPr>
            </a:pPr>
            <a:r>
              <a:rPr sz="2200" dirty="0"/>
              <a:t> b = gain from </a:t>
            </a:r>
            <a:r>
              <a:rPr sz="2200" dirty="0" smtClean="0"/>
              <a:t>winning</a:t>
            </a:r>
            <a:r>
              <a:rPr lang="en-US" sz="2200" dirty="0" smtClean="0"/>
              <a:t>, c &gt; b &gt; 0</a:t>
            </a:r>
            <a:endParaRPr sz="2200" dirty="0"/>
          </a:p>
        </p:txBody>
      </p:sp>
      <p:graphicFrame>
        <p:nvGraphicFramePr>
          <p:cNvPr id="12" name="Table 270"/>
          <p:cNvGraphicFramePr/>
          <p:nvPr>
            <p:extLst>
              <p:ext uri="{D42A27DB-BD31-4B8C-83A1-F6EECF244321}">
                <p14:modId xmlns:p14="http://schemas.microsoft.com/office/powerpoint/2010/main" val="688232278"/>
              </p:ext>
            </p:extLst>
          </p:nvPr>
        </p:nvGraphicFramePr>
        <p:xfrm>
          <a:off x="2684318" y="2348782"/>
          <a:ext cx="7779147" cy="2901954"/>
        </p:xfrm>
        <a:graphic>
          <a:graphicData uri="http://schemas.openxmlformats.org/drawingml/2006/table">
            <a:tbl>
              <a:tblPr>
                <a:tableStyleId>{4C3C2611-4C71-4FC5-86AE-919BDF0F9419}</a:tableStyleId>
              </a:tblPr>
              <a:tblGrid>
                <a:gridCol w="2593049"/>
                <a:gridCol w="2593049"/>
                <a:gridCol w="2593049"/>
              </a:tblGrid>
              <a:tr h="967318">
                <a:tc>
                  <a:txBody>
                    <a:bodyPr/>
                    <a:lstStyle/>
                    <a:p>
                      <a:pPr algn="l">
                        <a:tabLst>
                          <a:tab pos="914400" algn="l"/>
                        </a:tabLst>
                        <a:defRPr sz="2400" b="0" i="0">
                          <a:solidFill>
                            <a:schemeClr val="accent1">
                              <a:lumOff val="44000"/>
                            </a:schemeClr>
                          </a:solidFill>
                        </a:defRPr>
                      </a:pPr>
                      <a:endParaRPr sz="3200" baseline="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Lst>
                        <a:defRPr sz="4300" b="0" i="0"/>
                      </a:pPr>
                      <a:r>
                        <a:rPr sz="3200" baseline="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r>
                        <a:rPr sz="3200" baseline="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967318">
                <a:tc>
                  <a:txBody>
                    <a:bodyPr/>
                    <a:lstStyle/>
                    <a:p>
                      <a:pPr algn="l">
                        <a:tabLst>
                          <a:tab pos="914400" algn="l"/>
                        </a:tabLst>
                        <a:defRPr sz="4300" b="0" i="0"/>
                      </a:pPr>
                      <a:r>
                        <a:rPr sz="3200" baseline="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baseline="0" dirty="0" smtClean="0"/>
                        <a:t>-c</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baseline="0" dirty="0" smtClean="0"/>
                        <a:t>b</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967318">
                <a:tc>
                  <a:txBody>
                    <a:bodyPr/>
                    <a:lstStyle/>
                    <a:p>
                      <a:pPr algn="l">
                        <a:tabLst>
                          <a:tab pos="914400" algn="l"/>
                          <a:tab pos="914400" algn="l"/>
                        </a:tabLst>
                        <a:defRPr sz="4300" b="0" i="0"/>
                      </a:pPr>
                      <a:r>
                        <a:rPr sz="3200" baseline="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baseline="0" dirty="0" smtClean="0"/>
                        <a:t>-b</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baseline="0" dirty="0" smtClean="0"/>
                        <a:t>0</a:t>
                      </a:r>
                      <a:endParaRPr sz="3200" baseline="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13" name="Shape 282"/>
          <p:cNvSpPr/>
          <p:nvPr/>
        </p:nvSpPr>
        <p:spPr>
          <a:xfrm>
            <a:off x="817418" y="2415262"/>
            <a:ext cx="1371600" cy="1477328"/>
          </a:xfrm>
          <a:prstGeom prst="rect">
            <a:avLst/>
          </a:prstGeom>
          <a:ln w="12700">
            <a:miter lim="400000"/>
          </a:ln>
          <a:extLst>
            <a:ext uri="{C572A759-6A51-4108-AA02-DFA0A04FC94B}">
              <ma14:wrappingTextBoxFlag xmlns:ma14="http://schemas.microsoft.com/office/mac/drawingml/2011/main" val="1"/>
            </a:ext>
          </a:extLst>
        </p:spPr>
        <p:txBody>
          <a:bodyPr wrap="square" lIns="0" tIns="0" rIns="0" bIns="0" anchor="ctr">
            <a:spAutoFit/>
          </a:bodyPr>
          <a:lstStyle/>
          <a:p>
            <a:pPr>
              <a:defRPr b="1">
                <a:latin typeface="+mj-lt"/>
                <a:ea typeface="+mj-ea"/>
                <a:cs typeface="+mj-cs"/>
                <a:sym typeface="Helvetica"/>
              </a:defRPr>
            </a:pPr>
            <a:r>
              <a:rPr lang="en-US" sz="3200" u="sng" dirty="0" smtClean="0"/>
              <a:t>My</a:t>
            </a:r>
            <a:r>
              <a:rPr lang="en-US" sz="3200" dirty="0" smtClean="0"/>
              <a:t> payoff</a:t>
            </a:r>
            <a:r>
              <a:rPr lang="en-US" sz="3200" dirty="0"/>
              <a:t> </a:t>
            </a:r>
            <a:r>
              <a:rPr lang="en-US" sz="3200" dirty="0" smtClean="0"/>
              <a:t>matrix</a:t>
            </a:r>
          </a:p>
        </p:txBody>
      </p:sp>
    </p:spTree>
    <p:extLst>
      <p:ext uri="{BB962C8B-B14F-4D97-AF65-F5344CB8AC3E}">
        <p14:creationId xmlns:p14="http://schemas.microsoft.com/office/powerpoint/2010/main" val="1882930871"/>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Shape 289"/>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The Chicken Game</a:t>
            </a:r>
          </a:p>
        </p:txBody>
      </p:sp>
      <p:sp>
        <p:nvSpPr>
          <p:cNvPr id="290" name="Shape 290"/>
          <p:cNvSpPr/>
          <p:nvPr/>
        </p:nvSpPr>
        <p:spPr>
          <a:xfrm>
            <a:off x="673100" y="2588737"/>
            <a:ext cx="1866900" cy="14773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latin typeface="+mj-lt"/>
                <a:ea typeface="+mj-ea"/>
                <a:cs typeface="+mj-cs"/>
                <a:sym typeface="Helvetica"/>
              </a:defRPr>
            </a:pPr>
            <a:r>
              <a:rPr lang="en-US" sz="3200" dirty="0" smtClean="0"/>
              <a:t>Full </a:t>
            </a:r>
            <a:r>
              <a:rPr sz="3200" dirty="0" smtClean="0"/>
              <a:t>payoff </a:t>
            </a:r>
            <a:r>
              <a:rPr sz="3200" dirty="0"/>
              <a:t>matrix</a:t>
            </a:r>
          </a:p>
        </p:txBody>
      </p:sp>
      <p:sp>
        <p:nvSpPr>
          <p:cNvPr id="291" name="Shape 291"/>
          <p:cNvSpPr/>
          <p:nvPr/>
        </p:nvSpPr>
        <p:spPr>
          <a:xfrm>
            <a:off x="1606550" y="8730298"/>
            <a:ext cx="10509251" cy="492443"/>
          </a:xfrm>
          <a:prstGeom prst="rect">
            <a:avLst/>
          </a:prstGeom>
          <a:ln w="12700">
            <a:miter lim="400000"/>
          </a:ln>
          <a:extLst>
            <a:ext uri="{C572A759-6A51-4108-AA02-DFA0A04FC94B}">
              <ma14:wrappingTextBoxFlag xmlns:ma14="http://schemas.microsoft.com/office/mac/drawingml/2011/main" val="1"/>
            </a:ext>
          </a:extLst>
        </p:spPr>
        <p:txBody>
          <a:bodyPr wrap="square" lIns="0" tIns="0" rIns="0" bIns="0" anchor="ctr">
            <a:spAutoFit/>
          </a:bodyPr>
          <a:lstStyle>
            <a:lvl1pPr>
              <a:defRPr sz="3200" b="1">
                <a:solidFill>
                  <a:srgbClr val="FF0000"/>
                </a:solidFill>
                <a:latin typeface="+mj-lt"/>
                <a:ea typeface="+mj-ea"/>
                <a:cs typeface="+mj-cs"/>
                <a:sym typeface="Helvetica"/>
              </a:defRPr>
            </a:lvl1pPr>
          </a:lstStyle>
          <a:p>
            <a:pPr>
              <a:defRPr sz="1200">
                <a:solidFill>
                  <a:srgbClr val="000000"/>
                </a:solidFill>
              </a:defRPr>
            </a:pPr>
            <a:r>
              <a:rPr sz="3200">
                <a:solidFill>
                  <a:srgbClr val="FF0000"/>
                </a:solidFill>
              </a:rPr>
              <a:t>YES: either (go for it, chicken) or (chicken, go for it)</a:t>
            </a:r>
          </a:p>
        </p:txBody>
      </p:sp>
      <p:sp>
        <p:nvSpPr>
          <p:cNvPr id="292" name="Shape 292"/>
          <p:cNvSpPr/>
          <p:nvPr/>
        </p:nvSpPr>
        <p:spPr>
          <a:xfrm>
            <a:off x="1631373" y="6158706"/>
            <a:ext cx="9575800"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latin typeface="+mj-lt"/>
                <a:ea typeface="+mj-ea"/>
                <a:cs typeface="+mj-cs"/>
                <a:sym typeface="Helvetica"/>
              </a:defRPr>
            </a:pPr>
            <a:r>
              <a:rPr sz="3200" dirty="0"/>
              <a:t>In a Nash equilibrium, neither player can </a:t>
            </a:r>
            <a:r>
              <a:rPr sz="3200" i="1" dirty="0"/>
              <a:t>unilaterally </a:t>
            </a:r>
            <a:r>
              <a:rPr sz="3200" dirty="0"/>
              <a:t>improve its payoff by changing strategies.</a:t>
            </a:r>
          </a:p>
        </p:txBody>
      </p:sp>
      <p:sp>
        <p:nvSpPr>
          <p:cNvPr id="293" name="Shape 293"/>
          <p:cNvSpPr/>
          <p:nvPr/>
        </p:nvSpPr>
        <p:spPr>
          <a:xfrm>
            <a:off x="1631373" y="7841614"/>
            <a:ext cx="95758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b="1">
                <a:latin typeface="+mj-lt"/>
                <a:ea typeface="+mj-ea"/>
                <a:cs typeface="+mj-cs"/>
                <a:sym typeface="Helvetica"/>
              </a:defRPr>
            </a:lvl1pPr>
          </a:lstStyle>
          <a:p>
            <a:pPr>
              <a:defRPr sz="1200"/>
            </a:pPr>
            <a:r>
              <a:rPr sz="3200" dirty="0"/>
              <a:t>Are there Nash equilibria?</a:t>
            </a:r>
          </a:p>
        </p:txBody>
      </p:sp>
      <p:graphicFrame>
        <p:nvGraphicFramePr>
          <p:cNvPr id="10" name="Table 270"/>
          <p:cNvGraphicFramePr/>
          <p:nvPr>
            <p:extLst>
              <p:ext uri="{D42A27DB-BD31-4B8C-83A1-F6EECF244321}">
                <p14:modId xmlns:p14="http://schemas.microsoft.com/office/powerpoint/2010/main" val="211905149"/>
              </p:ext>
            </p:extLst>
          </p:nvPr>
        </p:nvGraphicFramePr>
        <p:xfrm>
          <a:off x="2781228" y="2198688"/>
          <a:ext cx="7554264" cy="3065304"/>
        </p:xfrm>
        <a:graphic>
          <a:graphicData uri="http://schemas.openxmlformats.org/drawingml/2006/table">
            <a:tbl>
              <a:tblPr>
                <a:tableStyleId>{4C3C2611-4C71-4FC5-86AE-919BDF0F9419}</a:tableStyleId>
              </a:tblPr>
              <a:tblGrid>
                <a:gridCol w="2518088"/>
                <a:gridCol w="2518088"/>
                <a:gridCol w="2518088"/>
              </a:tblGrid>
              <a:tr h="1021768">
                <a:tc>
                  <a:txBody>
                    <a:bodyPr/>
                    <a:lstStyle/>
                    <a:p>
                      <a:pPr algn="l">
                        <a:tabLst>
                          <a:tab pos="914400" algn="l"/>
                        </a:tabLst>
                        <a:defRPr sz="2400" b="0" i="0">
                          <a:solidFill>
                            <a:schemeClr val="accent1">
                              <a:lumOff val="44000"/>
                            </a:schemeClr>
                          </a:solidFill>
                        </a:defRPr>
                      </a:pPr>
                      <a:endParaRPr sz="320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Lst>
                        <a:defRPr sz="4300" b="0" i="0"/>
                      </a:pPr>
                      <a:r>
                        <a:rPr sz="320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 pos="914400" algn="l"/>
                        </a:tabLst>
                        <a:defRPr sz="4300" b="0" i="0"/>
                      </a:pPr>
                      <a:r>
                        <a:rPr sz="320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021768">
                <a:tc>
                  <a:txBody>
                    <a:bodyPr/>
                    <a:lstStyle/>
                    <a:p>
                      <a:pPr algn="l">
                        <a:tabLst>
                          <a:tab pos="914400" algn="l"/>
                        </a:tabLst>
                        <a:defRPr sz="4300" b="0" i="0"/>
                      </a:pPr>
                      <a:r>
                        <a:rPr sz="3200">
                          <a:solidFill>
                            <a:schemeClr val="accent1">
                              <a:lumOff val="44000"/>
                            </a:schemeClr>
                          </a:solidFill>
                        </a:rPr>
                        <a:t>Go for it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a:t>
                      </a:r>
                      <a:r>
                        <a:rPr sz="3200" dirty="0" smtClean="0"/>
                        <a:t>-c</a:t>
                      </a:r>
                      <a:r>
                        <a:rPr lang="en-US" sz="3200" dirty="0" smtClean="0"/>
                        <a:t>, -c)</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dirty="0" smtClean="0"/>
                        <a:t>(</a:t>
                      </a:r>
                      <a:r>
                        <a:rPr sz="3200" dirty="0" smtClean="0"/>
                        <a:t>b</a:t>
                      </a:r>
                      <a:r>
                        <a:rPr lang="en-US" sz="3200" dirty="0" smtClean="0"/>
                        <a:t>, -b)</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021768">
                <a:tc>
                  <a:txBody>
                    <a:bodyPr/>
                    <a:lstStyle/>
                    <a:p>
                      <a:pPr algn="l">
                        <a:tabLst>
                          <a:tab pos="914400" algn="l"/>
                          <a:tab pos="914400" algn="l"/>
                        </a:tabLst>
                        <a:defRPr sz="4300" b="0" i="0"/>
                      </a:pPr>
                      <a:r>
                        <a:rPr sz="3200">
                          <a:solidFill>
                            <a:schemeClr val="accent1">
                              <a:lumOff val="44000"/>
                            </a:schemeClr>
                          </a:solidFill>
                        </a:rPr>
                        <a:t>Chicken</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(-b,</a:t>
                      </a:r>
                      <a:r>
                        <a:rPr lang="en-US" sz="3200" baseline="0" dirty="0" smtClean="0"/>
                        <a:t> b)</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dirty="0" smtClean="0"/>
                        <a:t>(0, 0)</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11" name="Shape 271"/>
          <p:cNvSpPr/>
          <p:nvPr/>
        </p:nvSpPr>
        <p:spPr>
          <a:xfrm>
            <a:off x="6216374" y="5263992"/>
            <a:ext cx="4360346" cy="754053"/>
          </a:xfrm>
          <a:prstGeom prst="rect">
            <a:avLst/>
          </a:prstGeom>
          <a:ln w="12700">
            <a:miter lim="400000"/>
          </a:ln>
          <a:extLst>
            <a:ext uri="{C572A759-6A51-4108-AA02-DFA0A04FC94B}">
              <ma14:wrappingTextBoxFlag xmlns:ma14="http://schemas.microsoft.com/office/mac/drawingml/2011/main" val="1"/>
            </a:ext>
          </a:extLst>
        </p:spPr>
        <p:txBody>
          <a:bodyPr wrap="square" lIns="38100" tIns="38100" rIns="38100" bIns="38100">
            <a:spAutoFit/>
          </a:bodyPr>
          <a:lstStyle/>
          <a:p>
            <a:pPr>
              <a:defRPr b="1">
                <a:latin typeface="+mj-lt"/>
                <a:ea typeface="+mj-ea"/>
                <a:cs typeface="+mj-cs"/>
                <a:sym typeface="Helvetica"/>
              </a:defRPr>
            </a:pPr>
            <a:r>
              <a:rPr sz="2200" dirty="0"/>
              <a:t>-c = cost of </a:t>
            </a:r>
            <a:r>
              <a:rPr sz="2200" dirty="0" smtClean="0"/>
              <a:t>crashing</a:t>
            </a:r>
            <a:r>
              <a:rPr lang="en-US" sz="2200" dirty="0" smtClean="0"/>
              <a:t>, c &gt; 0</a:t>
            </a:r>
            <a:endParaRPr sz="2200" dirty="0"/>
          </a:p>
          <a:p>
            <a:pPr>
              <a:defRPr b="1">
                <a:latin typeface="+mj-lt"/>
                <a:ea typeface="+mj-ea"/>
                <a:cs typeface="+mj-cs"/>
                <a:sym typeface="Helvetica"/>
              </a:defRPr>
            </a:pPr>
            <a:r>
              <a:rPr sz="2200" dirty="0"/>
              <a:t> b = gain from </a:t>
            </a:r>
            <a:r>
              <a:rPr sz="2200" dirty="0" smtClean="0"/>
              <a:t>winning</a:t>
            </a:r>
            <a:r>
              <a:rPr lang="en-US" sz="2200" dirty="0" smtClean="0"/>
              <a:t>, c &gt; b &gt; 0</a:t>
            </a:r>
            <a:endParaRPr sz="2200" dirty="0"/>
          </a:p>
        </p:txBody>
      </p:sp>
    </p:spTree>
    <p:extLst>
      <p:ext uri="{BB962C8B-B14F-4D97-AF65-F5344CB8AC3E}">
        <p14:creationId xmlns:p14="http://schemas.microsoft.com/office/powerpoint/2010/main" val="1100126705"/>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Shape 320"/>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a:solidFill>
                  <a:srgbClr val="000000"/>
                </a:solidFill>
                <a:effectLst/>
              </a:defRPr>
            </a:pPr>
            <a:r>
              <a:rPr sz="5800">
                <a:solidFill>
                  <a:srgbClr val="133C73"/>
                </a:solidFill>
                <a:effectLst>
                  <a:outerShdw blurRad="12700" dist="38100" dir="2700000" rotWithShape="0">
                    <a:srgbClr val="DDDDDD"/>
                  </a:outerShdw>
                </a:effectLst>
              </a:rPr>
              <a:t>The Prisoner’s Dilemma</a:t>
            </a:r>
          </a:p>
        </p:txBody>
      </p:sp>
      <p:sp>
        <p:nvSpPr>
          <p:cNvPr id="321" name="Shape 321"/>
          <p:cNvSpPr>
            <a:spLocks noGrp="1"/>
          </p:cNvSpPr>
          <p:nvPr>
            <p:ph type="body" idx="1"/>
          </p:nvPr>
        </p:nvSpPr>
        <p:spPr>
          <a:xfrm>
            <a:off x="1269999" y="3987800"/>
            <a:ext cx="10464802" cy="5321300"/>
          </a:xfrm>
          <a:prstGeom prst="rect">
            <a:avLst/>
          </a:prstGeom>
        </p:spPr>
        <p:txBody>
          <a:bodyPr>
            <a:normAutofit/>
          </a:bodyPr>
          <a:lstStyle/>
          <a:p>
            <a:pPr marL="703942" indent="-395967" defTabSz="886968">
              <a:spcBef>
                <a:spcPts val="0"/>
              </a:spcBef>
              <a:buFont typeface="Helvetica"/>
              <a:defRPr sz="4074"/>
            </a:pPr>
            <a:r>
              <a:rPr sz="2910" dirty="0"/>
              <a:t>Two prisoners committed a crime together.  They are separated and cannot talk to each other.</a:t>
            </a:r>
          </a:p>
          <a:p>
            <a:pPr marL="703942" indent="-395967" defTabSz="886968">
              <a:spcBef>
                <a:spcPts val="1600"/>
              </a:spcBef>
              <a:buFont typeface="Helvetica"/>
              <a:defRPr sz="4074"/>
            </a:pPr>
            <a:r>
              <a:rPr sz="2910" dirty="0"/>
              <a:t>The prosecutor offers each the same deal: confess, become a witness to the prosecution, and no jail time.</a:t>
            </a:r>
          </a:p>
          <a:p>
            <a:pPr marL="703942" indent="-395967" defTabSz="886968">
              <a:spcBef>
                <a:spcPts val="1600"/>
              </a:spcBef>
              <a:buFont typeface="Helvetica"/>
              <a:defRPr sz="4074"/>
            </a:pPr>
            <a:r>
              <a:rPr sz="2910" dirty="0"/>
              <a:t>If one prisoner confesses while other does not, the first goes free and the second goes to jail for 10 years.</a:t>
            </a:r>
          </a:p>
          <a:p>
            <a:pPr marL="703942" indent="-395967" defTabSz="886968">
              <a:spcBef>
                <a:spcPts val="1600"/>
              </a:spcBef>
              <a:buFont typeface="Helvetica"/>
              <a:defRPr sz="4074"/>
            </a:pPr>
            <a:r>
              <a:rPr sz="2910" dirty="0"/>
              <a:t>If both confess they will each go to jail for 7 years.</a:t>
            </a:r>
          </a:p>
          <a:p>
            <a:pPr marL="703942" indent="-395967" defTabSz="886968">
              <a:spcBef>
                <a:spcPts val="1600"/>
              </a:spcBef>
              <a:buFont typeface="Helvetica"/>
              <a:defRPr sz="4074"/>
            </a:pPr>
            <a:r>
              <a:rPr sz="2910" dirty="0"/>
              <a:t>If neither confess they go to jail for 1 year (since nothing can be proven).</a:t>
            </a:r>
          </a:p>
        </p:txBody>
      </p:sp>
      <p:pic>
        <p:nvPicPr>
          <p:cNvPr id="322" name="image.jpg"/>
          <p:cNvPicPr>
            <a:picLocks noChangeAspect="1"/>
          </p:cNvPicPr>
          <p:nvPr/>
        </p:nvPicPr>
        <p:blipFill>
          <a:blip r:embed="rId2">
            <a:extLst/>
          </a:blip>
          <a:stretch>
            <a:fillRect/>
          </a:stretch>
        </p:blipFill>
        <p:spPr>
          <a:xfrm>
            <a:off x="4035425" y="2273300"/>
            <a:ext cx="1854200" cy="1231900"/>
          </a:xfrm>
          <a:prstGeom prst="rect">
            <a:avLst/>
          </a:prstGeom>
          <a:ln w="12700">
            <a:miter lim="400000"/>
          </a:ln>
        </p:spPr>
      </p:pic>
      <p:pic>
        <p:nvPicPr>
          <p:cNvPr id="323" name="image.jpg"/>
          <p:cNvPicPr>
            <a:picLocks noChangeAspect="1"/>
          </p:cNvPicPr>
          <p:nvPr/>
        </p:nvPicPr>
        <p:blipFill>
          <a:blip r:embed="rId2">
            <a:extLst/>
          </a:blip>
          <a:stretch>
            <a:fillRect/>
          </a:stretch>
        </p:blipFill>
        <p:spPr>
          <a:xfrm>
            <a:off x="7092950" y="2276475"/>
            <a:ext cx="1854200" cy="1231900"/>
          </a:xfrm>
          <a:prstGeom prst="rect">
            <a:avLst/>
          </a:prstGeom>
          <a:ln w="12700">
            <a:miter lim="400000"/>
          </a:ln>
        </p:spPr>
      </p:pic>
    </p:spTree>
    <p:extLst>
      <p:ext uri="{BB962C8B-B14F-4D97-AF65-F5344CB8AC3E}">
        <p14:creationId xmlns:p14="http://schemas.microsoft.com/office/powerpoint/2010/main" val="425823016"/>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hape 325"/>
          <p:cNvSpPr/>
          <p:nvPr/>
        </p:nvSpPr>
        <p:spPr>
          <a:xfrm>
            <a:off x="676275" y="277812"/>
            <a:ext cx="12014200" cy="18542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sp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1200" b="0">
                <a:solidFill>
                  <a:srgbClr val="000000"/>
                </a:solidFill>
                <a:effectLst/>
                <a:latin typeface="Gill Sans"/>
                <a:ea typeface="Gill Sans"/>
                <a:cs typeface="Gill Sans"/>
                <a:sym typeface="Gill Sans"/>
              </a:defRPr>
            </a:pPr>
            <a:r>
              <a:rPr sz="5800" b="1">
                <a:solidFill>
                  <a:srgbClr val="133C73"/>
                </a:solidFill>
                <a:effectLst>
                  <a:outerShdw blurRad="12700" dist="38100" dir="2700000" rotWithShape="0">
                    <a:srgbClr val="DDDDDD"/>
                  </a:outerShdw>
                </a:effectLst>
                <a:latin typeface="+mj-lt"/>
                <a:ea typeface="+mj-ea"/>
                <a:cs typeface="+mj-cs"/>
                <a:sym typeface="Helvetica"/>
              </a:rPr>
              <a:t>Discovered by Al Tucker, Nash’s PhD advisor</a:t>
            </a:r>
          </a:p>
        </p:txBody>
      </p:sp>
      <p:grpSp>
        <p:nvGrpSpPr>
          <p:cNvPr id="328" name="Group 328"/>
          <p:cNvGrpSpPr/>
          <p:nvPr/>
        </p:nvGrpSpPr>
        <p:grpSpPr>
          <a:xfrm>
            <a:off x="76200" y="2032000"/>
            <a:ext cx="13095288" cy="6059488"/>
            <a:chOff x="0" y="0"/>
            <a:chExt cx="13095287" cy="6059487"/>
          </a:xfrm>
        </p:grpSpPr>
        <p:pic>
          <p:nvPicPr>
            <p:cNvPr id="326" name="image.png"/>
            <p:cNvPicPr>
              <a:picLocks noChangeAspect="1"/>
            </p:cNvPicPr>
            <p:nvPr/>
          </p:nvPicPr>
          <p:blipFill>
            <a:blip r:embed="rId2">
              <a:extLst/>
            </a:blip>
            <a:stretch>
              <a:fillRect/>
            </a:stretch>
          </p:blipFill>
          <p:spPr>
            <a:xfrm>
              <a:off x="0" y="0"/>
              <a:ext cx="13095288" cy="5157788"/>
            </a:xfrm>
            <a:prstGeom prst="rect">
              <a:avLst/>
            </a:prstGeom>
            <a:ln w="12700" cap="flat">
              <a:noFill/>
              <a:miter lim="400000"/>
            </a:ln>
            <a:effectLst/>
          </p:spPr>
        </p:pic>
        <p:pic>
          <p:nvPicPr>
            <p:cNvPr id="327" name="image.png"/>
            <p:cNvPicPr>
              <a:picLocks noChangeAspect="1"/>
            </p:cNvPicPr>
            <p:nvPr/>
          </p:nvPicPr>
          <p:blipFill>
            <a:blip r:embed="rId3">
              <a:extLst/>
            </a:blip>
            <a:stretch>
              <a:fillRect/>
            </a:stretch>
          </p:blipFill>
          <p:spPr>
            <a:xfrm>
              <a:off x="241300" y="4897437"/>
              <a:ext cx="12496800" cy="1162051"/>
            </a:xfrm>
            <a:prstGeom prst="rect">
              <a:avLst/>
            </a:prstGeom>
            <a:ln w="12700" cap="flat">
              <a:noFill/>
              <a:miter lim="400000"/>
            </a:ln>
            <a:effectLst/>
          </p:spPr>
        </p:pic>
      </p:grpSp>
      <p:pic>
        <p:nvPicPr>
          <p:cNvPr id="329" name="image.png"/>
          <p:cNvPicPr>
            <a:picLocks noChangeAspect="1"/>
          </p:cNvPicPr>
          <p:nvPr/>
        </p:nvPicPr>
        <p:blipFill>
          <a:blip r:embed="rId4">
            <a:extLst/>
          </a:blip>
          <a:stretch>
            <a:fillRect/>
          </a:stretch>
        </p:blipFill>
        <p:spPr>
          <a:xfrm>
            <a:off x="101600" y="2133600"/>
            <a:ext cx="12827000" cy="6540500"/>
          </a:xfrm>
          <a:prstGeom prst="rect">
            <a:avLst/>
          </a:prstGeom>
          <a:ln w="12700">
            <a:miter lim="400000"/>
          </a:ln>
        </p:spPr>
      </p:pic>
    </p:spTree>
    <p:extLst>
      <p:ext uri="{BB962C8B-B14F-4D97-AF65-F5344CB8AC3E}">
        <p14:creationId xmlns:p14="http://schemas.microsoft.com/office/powerpoint/2010/main" val="1391918108"/>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Shape 331"/>
          <p:cNvSpPr>
            <a:spLocks noGrp="1"/>
          </p:cNvSpPr>
          <p:nvPr>
            <p:ph type="title"/>
          </p:nvPr>
        </p:nvSpPr>
        <p:spPr>
          <a:xfrm>
            <a:off x="1269999" y="254000"/>
            <a:ext cx="10464802" cy="2438400"/>
          </a:xfrm>
          <a:prstGeom prst="rect">
            <a:avLst/>
          </a:prstGeom>
        </p:spPr>
        <p:txBody>
          <a:bodyPr>
            <a:normAutofit/>
          </a:bodyPr>
          <a:lstStyle>
            <a:lvl1pPr>
              <a:defRPr sz="5800" b="1">
                <a:solidFill>
                  <a:srgbClr val="133C73"/>
                </a:solidFill>
                <a:effectLst>
                  <a:outerShdw blurRad="12700" dist="38100" dir="2700000" rotWithShape="0">
                    <a:srgbClr val="DDDDDD"/>
                  </a:outerShdw>
                </a:effectLst>
                <a:latin typeface="+mj-lt"/>
                <a:ea typeface="+mj-ea"/>
                <a:cs typeface="+mj-cs"/>
                <a:sym typeface="Helvetica"/>
              </a:defRPr>
            </a:lvl1pPr>
          </a:lstStyle>
          <a:p>
            <a:pPr>
              <a:defRPr sz="8400" b="0">
                <a:solidFill>
                  <a:srgbClr val="000000"/>
                </a:solidFill>
                <a:effectLst/>
                <a:latin typeface="Gill Sans"/>
                <a:ea typeface="Gill Sans"/>
                <a:cs typeface="Gill Sans"/>
                <a:sym typeface="Gill Sans"/>
              </a:defRPr>
            </a:pPr>
            <a:r>
              <a:rPr sz="5800" b="1">
                <a:solidFill>
                  <a:srgbClr val="133C73"/>
                </a:solidFill>
                <a:effectLst>
                  <a:outerShdw blurRad="12700" dist="38100" dir="2700000" rotWithShape="0">
                    <a:srgbClr val="DDDDDD"/>
                  </a:outerShdw>
                </a:effectLst>
                <a:latin typeface="+mj-lt"/>
                <a:ea typeface="+mj-ea"/>
                <a:cs typeface="+mj-cs"/>
                <a:sym typeface="Helvetica"/>
              </a:rPr>
              <a:t>The Prisoner’s Dilemma</a:t>
            </a:r>
          </a:p>
        </p:txBody>
      </p:sp>
      <p:pic>
        <p:nvPicPr>
          <p:cNvPr id="332" name="image.jpg"/>
          <p:cNvPicPr>
            <a:picLocks noChangeAspect="1"/>
          </p:cNvPicPr>
          <p:nvPr/>
        </p:nvPicPr>
        <p:blipFill>
          <a:blip r:embed="rId2">
            <a:extLst/>
          </a:blip>
          <a:stretch>
            <a:fillRect/>
          </a:stretch>
        </p:blipFill>
        <p:spPr>
          <a:xfrm>
            <a:off x="4035425" y="2273300"/>
            <a:ext cx="1854200" cy="1231900"/>
          </a:xfrm>
          <a:prstGeom prst="rect">
            <a:avLst/>
          </a:prstGeom>
          <a:ln w="12700">
            <a:miter lim="400000"/>
          </a:ln>
        </p:spPr>
      </p:pic>
      <p:pic>
        <p:nvPicPr>
          <p:cNvPr id="333" name="image.jpg"/>
          <p:cNvPicPr>
            <a:picLocks noChangeAspect="1"/>
          </p:cNvPicPr>
          <p:nvPr/>
        </p:nvPicPr>
        <p:blipFill>
          <a:blip r:embed="rId2">
            <a:extLst/>
          </a:blip>
          <a:stretch>
            <a:fillRect/>
          </a:stretch>
        </p:blipFill>
        <p:spPr>
          <a:xfrm>
            <a:off x="7092950" y="2276475"/>
            <a:ext cx="1854200" cy="1231900"/>
          </a:xfrm>
          <a:prstGeom prst="rect">
            <a:avLst/>
          </a:prstGeom>
          <a:ln w="12700">
            <a:miter lim="400000"/>
          </a:ln>
        </p:spPr>
      </p:pic>
      <p:graphicFrame>
        <p:nvGraphicFramePr>
          <p:cNvPr id="334" name="Table 334"/>
          <p:cNvGraphicFramePr/>
          <p:nvPr>
            <p:extLst>
              <p:ext uri="{D42A27DB-BD31-4B8C-83A1-F6EECF244321}">
                <p14:modId xmlns:p14="http://schemas.microsoft.com/office/powerpoint/2010/main" val="635876226"/>
              </p:ext>
            </p:extLst>
          </p:nvPr>
        </p:nvGraphicFramePr>
        <p:xfrm>
          <a:off x="2147887" y="3823890"/>
          <a:ext cx="8228013" cy="3401220"/>
        </p:xfrm>
        <a:graphic>
          <a:graphicData uri="http://schemas.openxmlformats.org/drawingml/2006/table">
            <a:tbl>
              <a:tblPr>
                <a:tableStyleId>{4C3C2611-4C71-4FC5-86AE-919BDF0F9419}</a:tableStyleId>
              </a:tblPr>
              <a:tblGrid>
                <a:gridCol w="2742671"/>
                <a:gridCol w="2742671"/>
                <a:gridCol w="2742671"/>
              </a:tblGrid>
              <a:tr h="1133740">
                <a:tc>
                  <a:txBody>
                    <a:bodyPr/>
                    <a:lstStyle/>
                    <a:p>
                      <a:pPr algn="l">
                        <a:tabLst>
                          <a:tab pos="914400" algn="l"/>
                        </a:tabLst>
                        <a:defRPr sz="2400" b="0" i="0">
                          <a:solidFill>
                            <a:schemeClr val="accent1">
                              <a:lumOff val="44000"/>
                            </a:schemeClr>
                          </a:solidFill>
                        </a:defRPr>
                      </a:pPr>
                      <a:endParaRPr sz="3200" dirty="0"/>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lgn="l">
                        <a:tabLst>
                          <a:tab pos="914400" algn="l"/>
                        </a:tabLst>
                        <a:defRPr sz="4300" b="0" i="0"/>
                      </a:pPr>
                      <a:r>
                        <a:rPr sz="3200">
                          <a:solidFill>
                            <a:schemeClr val="accent1">
                              <a:lumOff val="44000"/>
                            </a:schemeClr>
                          </a:solidFill>
                        </a:rPr>
                        <a:t>Remain Silent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c>
                  <a:txBody>
                    <a:bodyPr/>
                    <a:lstStyle/>
                    <a:p>
                      <a:pPr algn="l">
                        <a:tabLst>
                          <a:tab pos="914400" algn="l"/>
                        </a:tabLst>
                        <a:defRPr sz="4300" b="0" i="0"/>
                      </a:pPr>
                      <a:r>
                        <a:rPr sz="3200">
                          <a:solidFill>
                            <a:schemeClr val="accent1">
                              <a:lumOff val="44000"/>
                            </a:schemeClr>
                          </a:solidFill>
                        </a:rPr>
                        <a:t>Confess</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38100">
                      <a:solidFill>
                        <a:schemeClr val="accent1">
                          <a:lumOff val="44000"/>
                        </a:schemeClr>
                      </a:solidFill>
                    </a:lnB>
                    <a:solidFill>
                      <a:srgbClr val="4F81BD"/>
                    </a:solidFill>
                  </a:tcPr>
                </a:tc>
              </a:tr>
              <a:tr h="1133740">
                <a:tc>
                  <a:txBody>
                    <a:bodyPr/>
                    <a:lstStyle/>
                    <a:p>
                      <a:pPr algn="l">
                        <a:tabLst>
                          <a:tab pos="914400" algn="l"/>
                        </a:tabLst>
                        <a:defRPr sz="4300" b="0" i="0"/>
                      </a:pPr>
                      <a:r>
                        <a:rPr sz="3200">
                          <a:solidFill>
                            <a:schemeClr val="accent1">
                              <a:lumOff val="44000"/>
                            </a:schemeClr>
                          </a:solidFill>
                        </a:rPr>
                        <a:t>Remain Silent</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a:t>
                      </a:r>
                      <a:r>
                        <a:rPr sz="3200" dirty="0" smtClean="0"/>
                        <a:t>-1</a:t>
                      </a:r>
                      <a:r>
                        <a:rPr lang="en-US" sz="3200" dirty="0" smtClean="0"/>
                        <a:t>, -1)</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c>
                  <a:txBody>
                    <a:bodyPr/>
                    <a:lstStyle/>
                    <a:p>
                      <a:pPr>
                        <a:tabLst>
                          <a:tab pos="914400" algn="l"/>
                        </a:tabLst>
                        <a:defRPr sz="4300" b="0" i="0"/>
                      </a:pPr>
                      <a:r>
                        <a:rPr lang="en-US" sz="3200" dirty="0" smtClean="0"/>
                        <a:t>(</a:t>
                      </a:r>
                      <a:r>
                        <a:rPr sz="3200" dirty="0" smtClean="0"/>
                        <a:t>-10</a:t>
                      </a:r>
                      <a:r>
                        <a:rPr lang="en-US" sz="3200" dirty="0" smtClean="0"/>
                        <a:t>, 0)</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38100">
                      <a:solidFill>
                        <a:schemeClr val="accent1">
                          <a:lumOff val="44000"/>
                        </a:schemeClr>
                      </a:solidFill>
                    </a:lnT>
                    <a:lnB w="12700">
                      <a:solidFill>
                        <a:schemeClr val="accent1">
                          <a:lumOff val="44000"/>
                        </a:schemeClr>
                      </a:solidFill>
                    </a:lnB>
                    <a:solidFill>
                      <a:srgbClr val="DAE4F1"/>
                    </a:solidFill>
                  </a:tcPr>
                </a:tc>
              </a:tr>
              <a:tr h="1133740">
                <a:tc>
                  <a:txBody>
                    <a:bodyPr/>
                    <a:lstStyle/>
                    <a:p>
                      <a:pPr algn="l">
                        <a:tabLst>
                          <a:tab pos="914400" algn="l"/>
                        </a:tabLst>
                        <a:defRPr sz="4300" b="0" i="0"/>
                      </a:pPr>
                      <a:r>
                        <a:rPr sz="3200">
                          <a:solidFill>
                            <a:schemeClr val="accent1">
                              <a:lumOff val="44000"/>
                            </a:schemeClr>
                          </a:solidFill>
                        </a:rPr>
                        <a:t>Confess</a:t>
                      </a:r>
                    </a:p>
                  </a:txBody>
                  <a:tcPr marL="38100" marR="38100" marT="38100" marB="38100"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4F81BD"/>
                    </a:solidFill>
                  </a:tcPr>
                </a:tc>
                <a:tc>
                  <a:txBody>
                    <a:bodyPr/>
                    <a:lstStyle/>
                    <a:p>
                      <a:pPr>
                        <a:tabLst>
                          <a:tab pos="914400" algn="l"/>
                        </a:tabLst>
                        <a:defRPr sz="4300" b="0" i="0"/>
                      </a:pPr>
                      <a:r>
                        <a:rPr lang="en-US" sz="3200" dirty="0" smtClean="0"/>
                        <a:t>(</a:t>
                      </a:r>
                      <a:r>
                        <a:rPr sz="3200" dirty="0" smtClean="0"/>
                        <a:t>0</a:t>
                      </a:r>
                      <a:r>
                        <a:rPr lang="en-US" sz="3200" dirty="0" smtClean="0"/>
                        <a:t>, -10)</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c>
                  <a:txBody>
                    <a:bodyPr/>
                    <a:lstStyle/>
                    <a:p>
                      <a:pPr>
                        <a:tabLst>
                          <a:tab pos="914400" algn="l"/>
                        </a:tabLst>
                        <a:defRPr sz="4300" b="0" i="0"/>
                      </a:pPr>
                      <a:r>
                        <a:rPr lang="en-US" sz="3200" dirty="0" smtClean="0"/>
                        <a:t>(</a:t>
                      </a:r>
                      <a:r>
                        <a:rPr sz="3200" dirty="0" smtClean="0"/>
                        <a:t>-7</a:t>
                      </a:r>
                      <a:r>
                        <a:rPr lang="en-US" sz="3200" dirty="0" smtClean="0"/>
                        <a:t>, -7)</a:t>
                      </a:r>
                      <a:endParaRPr sz="3200" dirty="0"/>
                    </a:p>
                  </a:txBody>
                  <a:tcPr marL="38100" marR="38100" marT="38100" marB="38100" anchor="ctr" horzOverflow="overflow">
                    <a:lnL w="12700">
                      <a:solidFill>
                        <a:schemeClr val="accent1">
                          <a:lumOff val="44000"/>
                        </a:schemeClr>
                      </a:solidFill>
                    </a:lnL>
                    <a:lnR w="12700">
                      <a:solidFill>
                        <a:schemeClr val="accent1">
                          <a:lumOff val="44000"/>
                        </a:schemeClr>
                      </a:solidFill>
                    </a:lnR>
                    <a:lnT w="12700">
                      <a:solidFill>
                        <a:schemeClr val="accent1">
                          <a:lumOff val="44000"/>
                        </a:schemeClr>
                      </a:solidFill>
                    </a:lnT>
                    <a:lnB w="12700">
                      <a:solidFill>
                        <a:schemeClr val="accent1">
                          <a:lumOff val="44000"/>
                        </a:schemeClr>
                      </a:solidFill>
                    </a:lnB>
                    <a:solidFill>
                      <a:srgbClr val="EEF2F8"/>
                    </a:solidFill>
                  </a:tcPr>
                </a:tc>
              </a:tr>
            </a:tbl>
          </a:graphicData>
        </a:graphic>
      </p:graphicFrame>
      <p:sp>
        <p:nvSpPr>
          <p:cNvPr id="335" name="Shape 335"/>
          <p:cNvSpPr/>
          <p:nvPr/>
        </p:nvSpPr>
        <p:spPr>
          <a:xfrm>
            <a:off x="2159001" y="7723739"/>
            <a:ext cx="95758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latin typeface="+mj-lt"/>
                <a:ea typeface="+mj-ea"/>
                <a:cs typeface="+mj-cs"/>
                <a:sym typeface="Helvetica"/>
              </a:defRPr>
            </a:lvl1pPr>
          </a:lstStyle>
          <a:p>
            <a:pPr>
              <a:defRPr sz="1200">
                <a:latin typeface="Gill Sans"/>
                <a:ea typeface="Gill Sans"/>
                <a:cs typeface="Gill Sans"/>
                <a:sym typeface="Gill Sans"/>
              </a:defRPr>
            </a:pPr>
            <a:r>
              <a:rPr sz="3200">
                <a:latin typeface="+mj-lt"/>
                <a:ea typeface="+mj-ea"/>
                <a:cs typeface="+mj-cs"/>
                <a:sym typeface="Helvetica"/>
              </a:rPr>
              <a:t>What should they do?</a:t>
            </a:r>
          </a:p>
        </p:txBody>
      </p:sp>
      <p:sp>
        <p:nvSpPr>
          <p:cNvPr id="336" name="Shape 336"/>
          <p:cNvSpPr/>
          <p:nvPr/>
        </p:nvSpPr>
        <p:spPr>
          <a:xfrm>
            <a:off x="5867399" y="8704970"/>
            <a:ext cx="5422901" cy="4924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F0000"/>
                </a:solidFill>
                <a:latin typeface="+mj-lt"/>
                <a:ea typeface="+mj-ea"/>
                <a:cs typeface="+mj-cs"/>
                <a:sym typeface="Helvetica"/>
              </a:defRPr>
            </a:lvl1pPr>
          </a:lstStyle>
          <a:p>
            <a:pPr>
              <a:defRPr sz="1200">
                <a:solidFill>
                  <a:srgbClr val="000000"/>
                </a:solidFill>
                <a:latin typeface="Gill Sans"/>
                <a:ea typeface="Gill Sans"/>
                <a:cs typeface="Gill Sans"/>
                <a:sym typeface="Gill Sans"/>
              </a:defRPr>
            </a:pPr>
            <a:r>
              <a:rPr sz="3200" b="1" dirty="0" smtClean="0">
                <a:solidFill>
                  <a:srgbClr val="FF0000"/>
                </a:solidFill>
                <a:latin typeface="+mj-lt"/>
                <a:ea typeface="+mj-ea"/>
                <a:cs typeface="+mj-cs"/>
                <a:sym typeface="Helvetica"/>
              </a:rPr>
              <a:t>Discuss</a:t>
            </a:r>
            <a:endParaRPr sz="3200" b="1" dirty="0">
              <a:solidFill>
                <a:srgbClr val="FF0000"/>
              </a:solidFill>
              <a:latin typeface="+mj-lt"/>
              <a:ea typeface="+mj-ea"/>
              <a:cs typeface="+mj-cs"/>
              <a:sym typeface="Helvetica"/>
            </a:endParaRPr>
          </a:p>
        </p:txBody>
      </p:sp>
      <p:sp>
        <p:nvSpPr>
          <p:cNvPr id="337" name="Shape 337"/>
          <p:cNvSpPr/>
          <p:nvPr/>
        </p:nvSpPr>
        <p:spPr>
          <a:xfrm>
            <a:off x="12877800" y="1981864"/>
            <a:ext cx="1754793"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r>
              <a:t>http://www.bbc.com/news/</a:t>
            </a:r>
          </a:p>
        </p:txBody>
      </p:sp>
    </p:spTree>
    <p:extLst>
      <p:ext uri="{BB962C8B-B14F-4D97-AF65-F5344CB8AC3E}">
        <p14:creationId xmlns:p14="http://schemas.microsoft.com/office/powerpoint/2010/main" val="1428274385"/>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a:spLocks noGrp="1"/>
          </p:cNvSpPr>
          <p:nvPr>
            <p:ph type="title"/>
          </p:nvPr>
        </p:nvSpPr>
        <p:spPr>
          <a:prstGeom prst="rect">
            <a:avLst/>
          </a:prstGeom>
        </p:spPr>
        <p:txBody>
          <a:bodyPr/>
          <a:lstStyle/>
          <a:p>
            <a:r>
              <a:t>The unique number game</a:t>
            </a:r>
          </a:p>
        </p:txBody>
      </p:sp>
      <p:sp>
        <p:nvSpPr>
          <p:cNvPr id="296" name="Shape 296"/>
          <p:cNvSpPr>
            <a:spLocks noGrp="1"/>
          </p:cNvSpPr>
          <p:nvPr>
            <p:ph type="body" sz="half" idx="1"/>
          </p:nvPr>
        </p:nvSpPr>
        <p:spPr>
          <a:xfrm>
            <a:off x="952500" y="3672433"/>
            <a:ext cx="11099801" cy="4161334"/>
          </a:xfrm>
          <a:prstGeom prst="rect">
            <a:avLst/>
          </a:prstGeom>
        </p:spPr>
        <p:txBody>
          <a:bodyPr anchor="t"/>
          <a:lstStyle/>
          <a:p>
            <a:pPr marL="555625" indent="-555625">
              <a:defRPr sz="4500"/>
            </a:pPr>
            <a:r>
              <a:t>Take </a:t>
            </a:r>
            <a:r>
              <a:rPr b="0" i="1"/>
              <a:t>n</a:t>
            </a:r>
            <a:r>
              <a:t> players</a:t>
            </a:r>
          </a:p>
          <a:p>
            <a:pPr marL="555625" indent="-555625">
              <a:defRPr sz="4500"/>
            </a:pPr>
            <a:r>
              <a:t>They each choose an integer from 0 to 99</a:t>
            </a:r>
          </a:p>
          <a:p>
            <a:pPr marL="555625" indent="-555625">
              <a:defRPr sz="4500"/>
            </a:pPr>
            <a:r>
              <a:t>The person who chose the lowest unique number wins</a:t>
            </a:r>
          </a:p>
        </p:txBody>
      </p:sp>
    </p:spTree>
    <p:extLst>
      <p:ext uri="{BB962C8B-B14F-4D97-AF65-F5344CB8AC3E}">
        <p14:creationId xmlns:p14="http://schemas.microsoft.com/office/powerpoint/2010/main" val="2142813912"/>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Shape 298"/>
          <p:cNvSpPr>
            <a:spLocks noGrp="1"/>
          </p:cNvSpPr>
          <p:nvPr>
            <p:ph type="title"/>
          </p:nvPr>
        </p:nvSpPr>
        <p:spPr>
          <a:prstGeom prst="rect">
            <a:avLst/>
          </a:prstGeom>
        </p:spPr>
        <p:txBody>
          <a:bodyPr/>
          <a:lstStyle>
            <a:lvl1pPr>
              <a:defRPr sz="5400"/>
            </a:lvl1pPr>
          </a:lstStyle>
          <a:p>
            <a:r>
              <a:t>Two example games with five players</a:t>
            </a:r>
          </a:p>
        </p:txBody>
      </p:sp>
      <p:graphicFrame>
        <p:nvGraphicFramePr>
          <p:cNvPr id="299" name="Table 299"/>
          <p:cNvGraphicFramePr/>
          <p:nvPr>
            <p:extLst>
              <p:ext uri="{D42A27DB-BD31-4B8C-83A1-F6EECF244321}">
                <p14:modId xmlns:p14="http://schemas.microsoft.com/office/powerpoint/2010/main" val="742940735"/>
              </p:ext>
            </p:extLst>
          </p:nvPr>
        </p:nvGraphicFramePr>
        <p:xfrm>
          <a:off x="2791100" y="3066406"/>
          <a:ext cx="7422594" cy="1524644"/>
        </p:xfrm>
        <a:graphic>
          <a:graphicData uri="http://schemas.openxmlformats.org/drawingml/2006/table">
            <a:tbl>
              <a:tblPr>
                <a:tableStyleId>{4C3C2611-4C71-4FC5-86AE-919BDF0F9419}</a:tableStyleId>
              </a:tblPr>
              <a:tblGrid>
                <a:gridCol w="1237099"/>
                <a:gridCol w="1237099"/>
                <a:gridCol w="1237099"/>
                <a:gridCol w="1237099"/>
                <a:gridCol w="1237099"/>
                <a:gridCol w="1237099"/>
              </a:tblGrid>
              <a:tr h="762322">
                <a:tc>
                  <a:txBody>
                    <a:bodyPr/>
                    <a:lstStyle/>
                    <a:p>
                      <a:pPr>
                        <a:defRPr b="0" i="0"/>
                      </a:pPr>
                      <a:r>
                        <a:rPr sz="2600" b="1">
                          <a:latin typeface="+mj-lt"/>
                          <a:ea typeface="+mj-ea"/>
                          <a:cs typeface="+mj-cs"/>
                          <a:sym typeface="Helvetica"/>
                        </a:rPr>
                        <a:t>Player</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A</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B</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C</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D</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E</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762322">
                <a:tc>
                  <a:txBody>
                    <a:bodyPr/>
                    <a:lstStyle/>
                    <a:p>
                      <a:pPr>
                        <a:defRPr b="0" i="0"/>
                      </a:pPr>
                      <a:r>
                        <a:rPr sz="2600" b="1">
                          <a:latin typeface="+mj-lt"/>
                          <a:ea typeface="+mj-ea"/>
                          <a:cs typeface="+mj-cs"/>
                          <a:sym typeface="Helvetica"/>
                        </a:rPr>
                        <a:t>Choice</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4</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3</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2</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dirty="0">
                          <a:latin typeface="+mj-lt"/>
                          <a:ea typeface="+mj-ea"/>
                          <a:cs typeface="+mj-cs"/>
                          <a:sym typeface="Helvetica"/>
                        </a:rPr>
                        <a:t>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bl>
          </a:graphicData>
        </a:graphic>
      </p:graphicFrame>
      <p:graphicFrame>
        <p:nvGraphicFramePr>
          <p:cNvPr id="300" name="Table 300"/>
          <p:cNvGraphicFramePr/>
          <p:nvPr>
            <p:extLst>
              <p:ext uri="{D42A27DB-BD31-4B8C-83A1-F6EECF244321}">
                <p14:modId xmlns:p14="http://schemas.microsoft.com/office/powerpoint/2010/main" val="1772948314"/>
              </p:ext>
            </p:extLst>
          </p:nvPr>
        </p:nvGraphicFramePr>
        <p:xfrm>
          <a:off x="2791100" y="6685906"/>
          <a:ext cx="7422594" cy="1524644"/>
        </p:xfrm>
        <a:graphic>
          <a:graphicData uri="http://schemas.openxmlformats.org/drawingml/2006/table">
            <a:tbl>
              <a:tblPr>
                <a:tableStyleId>{4C3C2611-4C71-4FC5-86AE-919BDF0F9419}</a:tableStyleId>
              </a:tblPr>
              <a:tblGrid>
                <a:gridCol w="1237099"/>
                <a:gridCol w="1237099"/>
                <a:gridCol w="1237099"/>
                <a:gridCol w="1237099"/>
                <a:gridCol w="1237099"/>
                <a:gridCol w="1237099"/>
              </a:tblGrid>
              <a:tr h="762322">
                <a:tc>
                  <a:txBody>
                    <a:bodyPr/>
                    <a:lstStyle/>
                    <a:p>
                      <a:pPr>
                        <a:defRPr b="0" i="0"/>
                      </a:pPr>
                      <a:r>
                        <a:rPr sz="2600" b="1">
                          <a:latin typeface="+mj-lt"/>
                          <a:ea typeface="+mj-ea"/>
                          <a:cs typeface="+mj-cs"/>
                          <a:sym typeface="Helvetica"/>
                        </a:rPr>
                        <a:t>Player</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dirty="0">
                          <a:latin typeface="+mj-lt"/>
                          <a:ea typeface="+mj-ea"/>
                          <a:cs typeface="+mj-cs"/>
                          <a:sym typeface="Helvetica"/>
                        </a:rPr>
                        <a:t>A</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B</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C</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D</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E</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762322">
                <a:tc>
                  <a:txBody>
                    <a:bodyPr/>
                    <a:lstStyle/>
                    <a:p>
                      <a:pPr>
                        <a:defRPr b="0" i="0"/>
                      </a:pPr>
                      <a:r>
                        <a:rPr sz="2600" b="1">
                          <a:latin typeface="+mj-lt"/>
                          <a:ea typeface="+mj-ea"/>
                          <a:cs typeface="+mj-cs"/>
                          <a:sym typeface="Helvetica"/>
                        </a:rPr>
                        <a:t>Choice</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3</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3</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a:latin typeface="+mj-lt"/>
                          <a:ea typeface="+mj-ea"/>
                          <a:cs typeface="+mj-cs"/>
                          <a:sym typeface="Helvetica"/>
                        </a:rPr>
                        <a:t>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a:defRPr b="0" i="0"/>
                      </a:pPr>
                      <a:r>
                        <a:rPr sz="2600" b="1" dirty="0">
                          <a:latin typeface="+mj-lt"/>
                          <a:ea typeface="+mj-ea"/>
                          <a:cs typeface="+mj-cs"/>
                          <a:sym typeface="Helvetica"/>
                        </a:rPr>
                        <a:t>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bl>
          </a:graphicData>
        </a:graphic>
      </p:graphicFrame>
      <p:sp>
        <p:nvSpPr>
          <p:cNvPr id="301" name="Shape 301"/>
          <p:cNvSpPr/>
          <p:nvPr/>
        </p:nvSpPr>
        <p:spPr>
          <a:xfrm>
            <a:off x="4958680" y="4654550"/>
            <a:ext cx="3087440"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584200">
              <a:defRPr sz="3600" b="1">
                <a:solidFill>
                  <a:srgbClr val="773F9B"/>
                </a:solidFill>
                <a:latin typeface="+mj-lt"/>
                <a:ea typeface="+mj-ea"/>
                <a:cs typeface="+mj-cs"/>
                <a:sym typeface="Helvetica"/>
              </a:defRPr>
            </a:lvl1pPr>
          </a:lstStyle>
          <a:p>
            <a:r>
              <a:rPr dirty="0"/>
              <a:t>Player D wins</a:t>
            </a:r>
          </a:p>
        </p:txBody>
      </p:sp>
      <p:sp>
        <p:nvSpPr>
          <p:cNvPr id="302" name="Shape 302"/>
          <p:cNvSpPr/>
          <p:nvPr/>
        </p:nvSpPr>
        <p:spPr>
          <a:xfrm>
            <a:off x="3638314" y="8210550"/>
            <a:ext cx="5728172"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584200">
              <a:defRPr sz="3600" b="1">
                <a:solidFill>
                  <a:srgbClr val="773F9B"/>
                </a:solidFill>
                <a:latin typeface="+mj-lt"/>
                <a:ea typeface="+mj-ea"/>
                <a:cs typeface="+mj-cs"/>
                <a:sym typeface="Helvetica"/>
              </a:defRPr>
            </a:lvl1pPr>
          </a:lstStyle>
          <a:p>
            <a:r>
              <a:rPr dirty="0"/>
              <a:t>No unique number – draw</a:t>
            </a:r>
          </a:p>
        </p:txBody>
      </p:sp>
    </p:spTree>
    <p:extLst>
      <p:ext uri="{BB962C8B-B14F-4D97-AF65-F5344CB8AC3E}">
        <p14:creationId xmlns:p14="http://schemas.microsoft.com/office/powerpoint/2010/main" val="972658794"/>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animBg="1"/>
      <p:bldP spid="30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Shape 304"/>
          <p:cNvSpPr>
            <a:spLocks noGrp="1"/>
          </p:cNvSpPr>
          <p:nvPr>
            <p:ph type="title"/>
          </p:nvPr>
        </p:nvSpPr>
        <p:spPr>
          <a:prstGeom prst="rect">
            <a:avLst/>
          </a:prstGeom>
        </p:spPr>
        <p:txBody>
          <a:bodyPr/>
          <a:lstStyle/>
          <a:p>
            <a:r>
              <a:t>Let’s play!</a:t>
            </a:r>
          </a:p>
        </p:txBody>
      </p:sp>
      <p:sp>
        <p:nvSpPr>
          <p:cNvPr id="305" name="Shape 305"/>
          <p:cNvSpPr>
            <a:spLocks noGrp="1"/>
          </p:cNvSpPr>
          <p:nvPr>
            <p:ph type="body" idx="1"/>
          </p:nvPr>
        </p:nvSpPr>
        <p:spPr>
          <a:prstGeom prst="rect">
            <a:avLst/>
          </a:prstGeom>
        </p:spPr>
        <p:txBody>
          <a:bodyPr/>
          <a:lstStyle/>
          <a:p>
            <a:r>
              <a:rPr dirty="0"/>
              <a:t>We’ll give you five minutes to think and discuss general strategy</a:t>
            </a:r>
          </a:p>
          <a:p>
            <a:r>
              <a:rPr dirty="0"/>
              <a:t>We want you to make a choice in secret, without cooperation with your neighbors</a:t>
            </a:r>
          </a:p>
          <a:p>
            <a:r>
              <a:rPr dirty="0"/>
              <a:t>Write your choice and your name on the paper</a:t>
            </a:r>
          </a:p>
          <a:p>
            <a:r>
              <a:rPr dirty="0"/>
              <a:t>We’ll collect all the guesses and determine the winner</a:t>
            </a:r>
          </a:p>
          <a:p>
            <a:r>
              <a:rPr dirty="0"/>
              <a:t>The winner will be rewarded with chocolate</a:t>
            </a:r>
          </a:p>
        </p:txBody>
      </p:sp>
    </p:spTree>
    <p:extLst>
      <p:ext uri="{BB962C8B-B14F-4D97-AF65-F5344CB8AC3E}">
        <p14:creationId xmlns:p14="http://schemas.microsoft.com/office/powerpoint/2010/main" val="830829794"/>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8F8F8F"/>
      </a:accent1>
      <a:accent2>
        <a:srgbClr val="333399"/>
      </a:accent2>
      <a:accent3>
        <a:srgbClr val="6E6E6E"/>
      </a:accent3>
      <a:accent4>
        <a:srgbClr val="707070"/>
      </a:accent4>
      <a:accent5>
        <a:srgbClr val="4D4D4D"/>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44000"/>
          </a:schemeClr>
        </a:solidFill>
        <a:ln w="25400" cap="flat">
          <a:solidFill>
            <a:schemeClr val="accent1">
              <a:lumOff val="44000"/>
            </a:schemeClr>
          </a:solidFill>
          <a:prstDash val="solid"/>
          <a:bevel/>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lumOff val="44000"/>
            </a:schemeClr>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8F8F8F"/>
      </a:accent1>
      <a:accent2>
        <a:srgbClr val="333399"/>
      </a:accent2>
      <a:accent3>
        <a:srgbClr val="6E6E6E"/>
      </a:accent3>
      <a:accent4>
        <a:srgbClr val="707070"/>
      </a:accent4>
      <a:accent5>
        <a:srgbClr val="4D4D4D"/>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44000"/>
          </a:schemeClr>
        </a:solidFill>
        <a:ln w="25400" cap="flat">
          <a:solidFill>
            <a:schemeClr val="accent1">
              <a:lumOff val="44000"/>
            </a:schemeClr>
          </a:solidFill>
          <a:prstDash val="solid"/>
          <a:bevel/>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lumOff val="44000"/>
            </a:schemeClr>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2322</TotalTime>
  <Words>2217</Words>
  <Application>Microsoft Macintosh PowerPoint</Application>
  <PresentationFormat>Custom</PresentationFormat>
  <Paragraphs>375</Paragraphs>
  <Slides>39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Cambria Math</vt:lpstr>
      <vt:lpstr>Gill Sans</vt:lpstr>
      <vt:lpstr>Helvetica</vt:lpstr>
      <vt:lpstr>Helvetica Light</vt:lpstr>
      <vt:lpstr>Helvetica Neue</vt:lpstr>
      <vt:lpstr>Arial</vt:lpstr>
      <vt:lpstr>Default</vt:lpstr>
      <vt:lpstr>Lecture 15: Game Theory</vt:lpstr>
      <vt:lpstr>What is game theory?</vt:lpstr>
      <vt:lpstr>John Forbes Nash, Jr.</vt:lpstr>
      <vt:lpstr>Kuhn’s description of his thesis, at the awarding of Nash’s Nobel prize in 1994</vt:lpstr>
      <vt:lpstr>Original Formulation of Game Theory</vt:lpstr>
      <vt:lpstr>Two Player Game: my payoff</vt:lpstr>
      <vt:lpstr>Two Player Game: your payoff</vt:lpstr>
      <vt:lpstr>Two Player Game</vt:lpstr>
      <vt:lpstr>Two Player Game</vt:lpstr>
      <vt:lpstr>Two Player Game</vt:lpstr>
      <vt:lpstr>Two Player Game</vt:lpstr>
      <vt:lpstr>Two Player Game</vt:lpstr>
      <vt:lpstr>Dominant Strategy Equilibrium</vt:lpstr>
      <vt:lpstr>Dominant Strategy Equilibrium</vt:lpstr>
      <vt:lpstr>Another game</vt:lpstr>
      <vt:lpstr>Another game</vt:lpstr>
      <vt:lpstr>Fundamental Questions</vt:lpstr>
      <vt:lpstr>PowerPoint Presentation</vt:lpstr>
      <vt:lpstr>PowerPoint Presentation</vt:lpstr>
      <vt:lpstr>PowerPoint Presentation</vt:lpstr>
      <vt:lpstr>Nash’s Bargaining Example</vt:lpstr>
      <vt:lpstr>PowerPoint Presentation</vt:lpstr>
      <vt:lpstr>PowerPoint Presentation</vt:lpstr>
      <vt:lpstr>Another game</vt:lpstr>
      <vt:lpstr>Another game</vt:lpstr>
      <vt:lpstr>Another game</vt:lpstr>
      <vt:lpstr>Another game</vt:lpstr>
      <vt:lpstr>Nash’s Main Theorem</vt:lpstr>
      <vt:lpstr>Do such games appear in real life?</vt:lpstr>
      <vt:lpstr>PowerPoint Presentation</vt:lpstr>
      <vt:lpstr>The Chicken Game</vt:lpstr>
      <vt:lpstr>The Chicken Game</vt:lpstr>
      <vt:lpstr>The Chicken Game</vt:lpstr>
      <vt:lpstr>The Prisoner’s Dilemma</vt:lpstr>
      <vt:lpstr>PowerPoint Presentation</vt:lpstr>
      <vt:lpstr>The Prisoner’s Dilemma</vt:lpstr>
      <vt:lpstr>The unique number game</vt:lpstr>
      <vt:lpstr>Two example games with five players</vt:lpstr>
      <vt:lpstr>Let’s play!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Game Theory</dc:title>
  <cp:lastModifiedBy>Microsoft Office User</cp:lastModifiedBy>
  <cp:revision>43</cp:revision>
  <cp:lastPrinted>2017-04-06T00:21:15Z</cp:lastPrinted>
  <dcterms:modified xsi:type="dcterms:W3CDTF">2017-04-06T00:25:57Z</dcterms:modified>
</cp:coreProperties>
</file>