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tif" ContentType="image/tif"/>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16" r:id="rId2"/>
    <p:sldId id="317" r:id="rId3"/>
    <p:sldId id="330" r:id="rId4"/>
    <p:sldId id="325" r:id="rId5"/>
    <p:sldId id="326" r:id="rId6"/>
    <p:sldId id="327" r:id="rId7"/>
    <p:sldId id="293" r:id="rId8"/>
    <p:sldId id="294" r:id="rId9"/>
    <p:sldId id="295" r:id="rId10"/>
    <p:sldId id="296" r:id="rId11"/>
    <p:sldId id="297" r:id="rId12"/>
    <p:sldId id="298" r:id="rId13"/>
    <p:sldId id="299" r:id="rId14"/>
    <p:sldId id="300" r:id="rId15"/>
    <p:sldId id="301" r:id="rId16"/>
    <p:sldId id="302" r:id="rId17"/>
    <p:sldId id="303" r:id="rId18"/>
    <p:sldId id="305" r:id="rId19"/>
    <p:sldId id="304" r:id="rId20"/>
    <p:sldId id="306" r:id="rId21"/>
    <p:sldId id="307" r:id="rId22"/>
    <p:sldId id="308" r:id="rId23"/>
    <p:sldId id="309" r:id="rId24"/>
    <p:sldId id="310" r:id="rId25"/>
    <p:sldId id="311" r:id="rId26"/>
    <p:sldId id="328" r:id="rId27"/>
    <p:sldId id="257" r:id="rId28"/>
    <p:sldId id="312" r:id="rId29"/>
    <p:sldId id="313" r:id="rId30"/>
    <p:sldId id="315" r:id="rId31"/>
    <p:sldId id="331" r:id="rId32"/>
    <p:sldId id="332" r:id="rId33"/>
    <p:sldId id="318" r:id="rId34"/>
    <p:sldId id="319" r:id="rId35"/>
    <p:sldId id="320" r:id="rId36"/>
    <p:sldId id="321" r:id="rId37"/>
    <p:sldId id="322" r:id="rId38"/>
    <p:sldId id="323" r:id="rId39"/>
    <p:sldId id="324" r:id="rId40"/>
    <p:sldId id="329" r:id="rId4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1pPr>
    <a:lvl2pPr marL="0" marR="0" indent="2286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2pPr>
    <a:lvl3pPr marL="0" marR="0" indent="4572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3pPr>
    <a:lvl4pPr marL="0" marR="0" indent="6858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4pPr>
    <a:lvl5pPr marL="0" marR="0" indent="9144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5pPr>
    <a:lvl6pPr marL="0" marR="0" indent="11430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6pPr>
    <a:lvl7pPr marL="0" marR="0" indent="13716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7pPr>
    <a:lvl8pPr marL="0" marR="0" indent="16002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8pPr>
    <a:lvl9pPr marL="0" marR="0" indent="182880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43"/>
    <p:restoredTop sz="92474"/>
  </p:normalViewPr>
  <p:slideViewPr>
    <p:cSldViewPr snapToGrid="0" snapToObjects="1">
      <p:cViewPr varScale="1">
        <p:scale>
          <a:sx n="53" d="100"/>
          <a:sy n="53" d="100"/>
        </p:scale>
        <p:origin x="5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 Id="rId4"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 Id="rId4"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3.emf"/><Relationship Id="rId1" Type="http://schemas.openxmlformats.org/officeDocument/2006/relationships/image" Target="../media/image21.emf"/><Relationship Id="rId5" Type="http://schemas.openxmlformats.org/officeDocument/2006/relationships/image" Target="../media/image23.emf"/><Relationship Id="rId4"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13.emf"/><Relationship Id="rId7" Type="http://schemas.openxmlformats.org/officeDocument/2006/relationships/image" Target="../media/image26.emf"/><Relationship Id="rId2" Type="http://schemas.openxmlformats.org/officeDocument/2006/relationships/image" Target="../media/image24.emf"/><Relationship Id="rId1" Type="http://schemas.openxmlformats.org/officeDocument/2006/relationships/image" Target="../media/image23.emf"/><Relationship Id="rId6" Type="http://schemas.openxmlformats.org/officeDocument/2006/relationships/image" Target="../media/image25.emf"/><Relationship Id="rId5" Type="http://schemas.openxmlformats.org/officeDocument/2006/relationships/image" Target="../media/image15.emf"/><Relationship Id="rId10" Type="http://schemas.openxmlformats.org/officeDocument/2006/relationships/image" Target="../media/image29.emf"/><Relationship Id="rId4" Type="http://schemas.openxmlformats.org/officeDocument/2006/relationships/image" Target="../media/image22.emf"/><Relationship Id="rId9"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2.emf"/><Relationship Id="rId13" Type="http://schemas.openxmlformats.org/officeDocument/2006/relationships/image" Target="../media/image37.emf"/><Relationship Id="rId3" Type="http://schemas.openxmlformats.org/officeDocument/2006/relationships/image" Target="../media/image27.emf"/><Relationship Id="rId7" Type="http://schemas.openxmlformats.org/officeDocument/2006/relationships/image" Target="../media/image31.emf"/><Relationship Id="rId12" Type="http://schemas.openxmlformats.org/officeDocument/2006/relationships/image" Target="../media/image36.emf"/><Relationship Id="rId2" Type="http://schemas.openxmlformats.org/officeDocument/2006/relationships/image" Target="../media/image26.emf"/><Relationship Id="rId1" Type="http://schemas.openxmlformats.org/officeDocument/2006/relationships/image" Target="../media/image25.emf"/><Relationship Id="rId6" Type="http://schemas.openxmlformats.org/officeDocument/2006/relationships/image" Target="../media/image30.emf"/><Relationship Id="rId11" Type="http://schemas.openxmlformats.org/officeDocument/2006/relationships/image" Target="../media/image35.emf"/><Relationship Id="rId5" Type="http://schemas.openxmlformats.org/officeDocument/2006/relationships/image" Target="../media/image13.emf"/><Relationship Id="rId10" Type="http://schemas.openxmlformats.org/officeDocument/2006/relationships/image" Target="../media/image34.emf"/><Relationship Id="rId4" Type="http://schemas.openxmlformats.org/officeDocument/2006/relationships/image" Target="../media/image28.emf"/><Relationship Id="rId9" Type="http://schemas.openxmlformats.org/officeDocument/2006/relationships/image" Target="../media/image33.emf"/><Relationship Id="rId14" Type="http://schemas.openxmlformats.org/officeDocument/2006/relationships/image" Target="../media/image38.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image" Target="../media/image22.emf"/><Relationship Id="rId7" Type="http://schemas.openxmlformats.org/officeDocument/2006/relationships/image" Target="../media/image27.emf"/><Relationship Id="rId2" Type="http://schemas.openxmlformats.org/officeDocument/2006/relationships/image" Target="../media/image13.emf"/><Relationship Id="rId1" Type="http://schemas.openxmlformats.org/officeDocument/2006/relationships/image" Target="../media/image39.emf"/><Relationship Id="rId6" Type="http://schemas.openxmlformats.org/officeDocument/2006/relationships/image" Target="../media/image26.emf"/><Relationship Id="rId5" Type="http://schemas.openxmlformats.org/officeDocument/2006/relationships/image" Target="../media/image25.emf"/><Relationship Id="rId10" Type="http://schemas.openxmlformats.org/officeDocument/2006/relationships/image" Target="../media/image29.emf"/><Relationship Id="rId4" Type="http://schemas.openxmlformats.org/officeDocument/2006/relationships/image" Target="../media/image15.emf"/><Relationship Id="rId9" Type="http://schemas.openxmlformats.org/officeDocument/2006/relationships/image" Target="../media/image23.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5.emf"/><Relationship Id="rId7" Type="http://schemas.openxmlformats.org/officeDocument/2006/relationships/image" Target="../media/image28.emf"/><Relationship Id="rId2" Type="http://schemas.openxmlformats.org/officeDocument/2006/relationships/image" Target="../media/image22.emf"/><Relationship Id="rId1" Type="http://schemas.openxmlformats.org/officeDocument/2006/relationships/image" Target="../media/image13.emf"/><Relationship Id="rId6" Type="http://schemas.openxmlformats.org/officeDocument/2006/relationships/image" Target="../media/image27.emf"/><Relationship Id="rId5" Type="http://schemas.openxmlformats.org/officeDocument/2006/relationships/image" Target="../media/image26.emf"/><Relationship Id="rId10" Type="http://schemas.openxmlformats.org/officeDocument/2006/relationships/image" Target="../media/image39.emf"/><Relationship Id="rId4" Type="http://schemas.openxmlformats.org/officeDocument/2006/relationships/image" Target="../media/image25.emf"/><Relationship Id="rId9" Type="http://schemas.openxmlformats.org/officeDocument/2006/relationships/image" Target="../media/image2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image" Target="../media/image54.emf"/><Relationship Id="rId6" Type="http://schemas.openxmlformats.org/officeDocument/2006/relationships/image" Target="../media/image59.emf"/><Relationship Id="rId5" Type="http://schemas.openxmlformats.org/officeDocument/2006/relationships/image" Target="../media/image58.emf"/><Relationship Id="rId4" Type="http://schemas.openxmlformats.org/officeDocument/2006/relationships/image" Target="../media/image57.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 Id="rId4" Type="http://schemas.openxmlformats.org/officeDocument/2006/relationships/image" Target="../media/image79.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image" Target="../media/image8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0" name="Shape 70"/>
          <p:cNvSpPr>
            <a:spLocks noGrp="1" noRot="1" noChangeAspect="1"/>
          </p:cNvSpPr>
          <p:nvPr>
            <p:ph type="sldImg"/>
          </p:nvPr>
        </p:nvSpPr>
        <p:spPr>
          <a:xfrm>
            <a:off x="1143000" y="685800"/>
            <a:ext cx="4572000" cy="3429000"/>
          </a:xfrm>
          <a:prstGeom prst="rect">
            <a:avLst/>
          </a:prstGeom>
        </p:spPr>
        <p:txBody>
          <a:bodyPr/>
          <a:lstStyle/>
          <a:p>
            <a:endParaRPr/>
          </a:p>
        </p:txBody>
      </p:sp>
      <p:sp>
        <p:nvSpPr>
          <p:cNvPr id="71" name="Shape 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962822386"/>
      </p:ext>
    </p:extLst>
  </p:cSld>
  <p:clrMap bg1="lt1" tx1="dk1" bg2="lt2" tx2="dk2" accent1="accent1" accent2="accent2" accent3="accent3" accent4="accent4" accent5="accent5" accent6="accent6" hlink="hlink" folHlink="folHlink"/>
  <p:notesStyle>
    <a:lvl1pPr defTabSz="457200" latinLnBrk="0">
      <a:lnSpc>
        <a:spcPct val="125000"/>
      </a:lnSpc>
      <a:defRPr sz="2400">
        <a:latin typeface="Avenir Roman"/>
        <a:ea typeface="Avenir Roman"/>
        <a:cs typeface="Avenir Roman"/>
        <a:sym typeface="Avenir Roman"/>
      </a:defRPr>
    </a:lvl1pPr>
    <a:lvl2pPr indent="228600" defTabSz="457200" latinLnBrk="0">
      <a:lnSpc>
        <a:spcPct val="125000"/>
      </a:lnSpc>
      <a:defRPr sz="2400">
        <a:latin typeface="Avenir Roman"/>
        <a:ea typeface="Avenir Roman"/>
        <a:cs typeface="Avenir Roman"/>
        <a:sym typeface="Avenir Roman"/>
      </a:defRPr>
    </a:lvl2pPr>
    <a:lvl3pPr indent="457200" defTabSz="457200" latinLnBrk="0">
      <a:lnSpc>
        <a:spcPct val="125000"/>
      </a:lnSpc>
      <a:defRPr sz="2400">
        <a:latin typeface="Avenir Roman"/>
        <a:ea typeface="Avenir Roman"/>
        <a:cs typeface="Avenir Roman"/>
        <a:sym typeface="Avenir Roman"/>
      </a:defRPr>
    </a:lvl3pPr>
    <a:lvl4pPr indent="685800" defTabSz="457200" latinLnBrk="0">
      <a:lnSpc>
        <a:spcPct val="125000"/>
      </a:lnSpc>
      <a:defRPr sz="2400">
        <a:latin typeface="Avenir Roman"/>
        <a:ea typeface="Avenir Roman"/>
        <a:cs typeface="Avenir Roman"/>
        <a:sym typeface="Avenir Roman"/>
      </a:defRPr>
    </a:lvl4pPr>
    <a:lvl5pPr indent="914400" defTabSz="457200" latinLnBrk="0">
      <a:lnSpc>
        <a:spcPct val="125000"/>
      </a:lnSpc>
      <a:defRPr sz="2400">
        <a:latin typeface="Avenir Roman"/>
        <a:ea typeface="Avenir Roman"/>
        <a:cs typeface="Avenir Roman"/>
        <a:sym typeface="Avenir Roman"/>
      </a:defRPr>
    </a:lvl5pPr>
    <a:lvl6pPr indent="1143000" defTabSz="457200" latinLnBrk="0">
      <a:lnSpc>
        <a:spcPct val="125000"/>
      </a:lnSpc>
      <a:defRPr sz="2400">
        <a:latin typeface="Avenir Roman"/>
        <a:ea typeface="Avenir Roman"/>
        <a:cs typeface="Avenir Roman"/>
        <a:sym typeface="Avenir Roman"/>
      </a:defRPr>
    </a:lvl6pPr>
    <a:lvl7pPr indent="1371600" defTabSz="457200" latinLnBrk="0">
      <a:lnSpc>
        <a:spcPct val="125000"/>
      </a:lnSpc>
      <a:defRPr sz="2400">
        <a:latin typeface="Avenir Roman"/>
        <a:ea typeface="Avenir Roman"/>
        <a:cs typeface="Avenir Roman"/>
        <a:sym typeface="Avenir Roman"/>
      </a:defRPr>
    </a:lvl7pPr>
    <a:lvl8pPr indent="1600200" defTabSz="457200" latinLnBrk="0">
      <a:lnSpc>
        <a:spcPct val="125000"/>
      </a:lnSpc>
      <a:defRPr sz="2400">
        <a:latin typeface="Avenir Roman"/>
        <a:ea typeface="Avenir Roman"/>
        <a:cs typeface="Avenir Roman"/>
        <a:sym typeface="Avenir Roman"/>
      </a:defRPr>
    </a:lvl8pPr>
    <a:lvl9pPr indent="1828800" defTabSz="457200" latinLnBrk="0">
      <a:lnSpc>
        <a:spcPct val="125000"/>
      </a:lnSpc>
      <a:defRPr sz="2400">
        <a:latin typeface="Avenir Roman"/>
        <a:ea typeface="Avenir Roman"/>
        <a:cs typeface="Avenir Roman"/>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a:t>
            </a:r>
            <a:r>
              <a:rPr lang="en-US" baseline="0" dirty="0"/>
              <a:t> CT, MRI</a:t>
            </a:r>
            <a:endParaRPr lang="en-US" dirty="0"/>
          </a:p>
        </p:txBody>
      </p:sp>
    </p:spTree>
    <p:extLst>
      <p:ext uri="{BB962C8B-B14F-4D97-AF65-F5344CB8AC3E}">
        <p14:creationId xmlns:p14="http://schemas.microsoft.com/office/powerpoint/2010/main" val="152035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algn="l"/>
            <a:r>
              <a:rPr lang="en-US" sz="2400" dirty="0"/>
              <a:t>- Concerning feature ~ 5cm </a:t>
            </a:r>
          </a:p>
          <a:p>
            <a:pPr algn="l"/>
            <a:r>
              <a:rPr lang="en-US" sz="2400" dirty="0"/>
              <a:t>- Emphysema?</a:t>
            </a:r>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0DE9CBA-9651-614F-91D3-E56C96491530}" type="slidenum">
              <a:rPr lang="en-US" smtClean="0"/>
              <a:t>6</a:t>
            </a:fld>
            <a:endParaRPr lang="en-US"/>
          </a:p>
        </p:txBody>
      </p:sp>
    </p:spTree>
    <p:extLst>
      <p:ext uri="{BB962C8B-B14F-4D97-AF65-F5344CB8AC3E}">
        <p14:creationId xmlns:p14="http://schemas.microsoft.com/office/powerpoint/2010/main" val="917426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mu(x) into its’ line integrals the</a:t>
            </a:r>
            <a:r>
              <a:rPr lang="en-US" baseline="0" dirty="0"/>
              <a:t> radon transform of mu(x)</a:t>
            </a:r>
            <a:endParaRPr lang="en-US" dirty="0"/>
          </a:p>
        </p:txBody>
      </p:sp>
    </p:spTree>
    <p:extLst>
      <p:ext uri="{BB962C8B-B14F-4D97-AF65-F5344CB8AC3E}">
        <p14:creationId xmlns:p14="http://schemas.microsoft.com/office/powerpoint/2010/main" val="2092370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arrow to the clearly visible mass, as</a:t>
            </a:r>
            <a:r>
              <a:rPr lang="en-US" baseline="0" dirty="0"/>
              <a:t> well as what other objects are</a:t>
            </a:r>
          </a:p>
          <a:p>
            <a:r>
              <a:rPr lang="en-US" baseline="0" dirty="0"/>
              <a:t>Notice in this case – one cross section is enough for now, but….</a:t>
            </a:r>
          </a:p>
          <a:p>
            <a:endParaRPr lang="en-US" baseline="0" dirty="0"/>
          </a:p>
          <a:p>
            <a:r>
              <a:rPr lang="en-US" sz="2400" dirty="0"/>
              <a:t>- Mass 7cm across</a:t>
            </a:r>
          </a:p>
          <a:p>
            <a:r>
              <a:rPr lang="en-US" sz="2400" dirty="0"/>
              <a:t>- Enlarged lymph nodes</a:t>
            </a:r>
          </a:p>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A0DE9CBA-9651-614F-91D3-E56C96491530}" type="slidenum">
              <a:rPr lang="en-US" smtClean="0"/>
              <a:t>21</a:t>
            </a:fld>
            <a:endParaRPr lang="en-US"/>
          </a:p>
        </p:txBody>
      </p:sp>
    </p:spTree>
    <p:extLst>
      <p:ext uri="{BB962C8B-B14F-4D97-AF65-F5344CB8AC3E}">
        <p14:creationId xmlns:p14="http://schemas.microsoft.com/office/powerpoint/2010/main" val="678552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p:spPr>
        <p:txBody>
          <a:bodyPr/>
          <a:lstStyle/>
          <a:p>
            <a:pPr>
              <a:defRPr/>
            </a:pPr>
            <a:fld id="{66111F1E-A22A-2245-B9F9-798F2F981C91}" type="slidenum">
              <a:rPr lang="en-US"/>
              <a:pPr>
                <a:defRPr/>
              </a:pPr>
              <a:t>24</a:t>
            </a:fld>
            <a:endParaRPr lang="en-US"/>
          </a:p>
        </p:txBody>
      </p:sp>
      <p:sp>
        <p:nvSpPr>
          <p:cNvPr id="2324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32451" name="Rectangle 3"/>
          <p:cNvSpPr>
            <a:spLocks noGrp="1" noChangeArrowheads="1"/>
          </p:cNvSpPr>
          <p:nvPr>
            <p:ph type="body" idx="1"/>
          </p:nvPr>
        </p:nvSpPr>
        <p:spPr/>
        <p:txBody>
          <a:bodyPr/>
          <a:lstStyle/>
          <a:p>
            <a:pPr marL="228600" indent="-228600" eaLnBrk="1" hangingPunct="1">
              <a:defRPr/>
            </a:pPr>
            <a:r>
              <a:rPr lang="en-US">
                <a:cs typeface="+mn-cs"/>
              </a:rPr>
              <a:t>So how do we get these great CT images?  CT scanners measure I, the x-ray intensity after attenuation through the patient.  For some small block of width delta x with constant attenuation f, the x-ray intensity leaving the object can be determined by solving dI/dx = -f I with initial condition being the initial intensity of the x-ray beam.  Building this up for many small blocks with width delta x and different constant attenuations, and in the limit as delta x goes to zero, we can write blah.  Taking the log of both sides and defining g = …, we have the following integral equation.  G here is called the measured projection, which is given, since we know the initial input intensity and the measured intensity from the scanner.  So the goal is, given these measured projections g, can we determine the patient</a:t>
            </a:r>
            <a:r>
              <a:rPr lang="ja-JP" altLang="en-US">
                <a:latin typeface="Arial"/>
                <a:cs typeface="+mn-cs"/>
              </a:rPr>
              <a:t>’</a:t>
            </a:r>
            <a:r>
              <a:rPr lang="en-US">
                <a:cs typeface="+mn-cs"/>
              </a:rPr>
              <a:t>s attenuation function f.  Or, solve an integral equation.</a:t>
            </a:r>
          </a:p>
          <a:p>
            <a:pPr marL="228600" indent="-228600" eaLnBrk="1" hangingPunct="1">
              <a:defRPr/>
            </a:pPr>
            <a:endParaRPr lang="en-US">
              <a:cs typeface="+mn-cs"/>
            </a:endParaRPr>
          </a:p>
          <a:p>
            <a:pPr marL="228600" indent="-228600" eaLnBrk="1" hangingPunct="1">
              <a:defRPr/>
            </a:pPr>
            <a:r>
              <a:rPr lang="en-US">
                <a:cs typeface="+mn-cs"/>
              </a:rPr>
              <a:t>Now we have the model for one x-ray.  But for a CT scan, we use many x-rays.  The simplest configuration is to have an x-ray source on a line and a detector directly across from it, with the x-ray beams running parallel to each other.  Then after the x-rays hit the detector, we rotate the entire configuration, and do it all again.  This was the first type of scanner built in the 70s; no one uses this anymore.  A more complicated version is the one shown here, called fan-beam because the x-ray source emanates from a point in a fan.  The detector is curved.</a:t>
            </a:r>
          </a:p>
          <a:p>
            <a:pPr marL="228600" indent="-228600" eaLnBrk="1" hangingPunct="1">
              <a:defRPr/>
            </a:pPr>
            <a:endParaRPr lang="en-US">
              <a:cs typeface="+mn-cs"/>
            </a:endParaRPr>
          </a:p>
        </p:txBody>
      </p:sp>
    </p:spTree>
    <p:extLst>
      <p:ext uri="{BB962C8B-B14F-4D97-AF65-F5344CB8AC3E}">
        <p14:creationId xmlns:p14="http://schemas.microsoft.com/office/powerpoint/2010/main" val="1014185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Shape 11"/>
          <p:cNvSpPr>
            <a:spLocks noGrp="1"/>
          </p:cNvSpPr>
          <p:nvPr>
            <p:ph type="title"/>
          </p:nvPr>
        </p:nvSpPr>
        <p:spPr>
          <a:xfrm>
            <a:off x="1270000" y="1638300"/>
            <a:ext cx="10464800" cy="3302000"/>
          </a:xfrm>
          <a:prstGeom prst="rect">
            <a:avLst/>
          </a:prstGeom>
        </p:spPr>
        <p:txBody>
          <a:bodyPr anchor="b"/>
          <a:lstStyle/>
          <a:p>
            <a:r>
              <a:t>Title Text</a:t>
            </a:r>
          </a:p>
        </p:txBody>
      </p:sp>
      <p:sp>
        <p:nvSpPr>
          <p:cNvPr id="12" name="Shape 12"/>
          <p:cNvSpPr>
            <a:spLocks noGrp="1"/>
          </p:cNvSpPr>
          <p:nvPr>
            <p:ph type="body" sz="quarter" idx="1"/>
          </p:nvPr>
        </p:nvSpPr>
        <p:spPr>
          <a:xfrm>
            <a:off x="1270000" y="5029200"/>
            <a:ext cx="10464800" cy="1130300"/>
          </a:xfrm>
          <a:prstGeom prst="rect">
            <a:avLst/>
          </a:prstGeom>
        </p:spPr>
        <p:txBody>
          <a:bodyPr anchor="t"/>
          <a:lstStyle>
            <a:lvl1pPr marL="0" indent="0" algn="ctr">
              <a:lnSpc>
                <a:spcPct val="100000"/>
              </a:lnSpc>
              <a:spcBef>
                <a:spcPts val="0"/>
              </a:spcBef>
              <a:buSzTx/>
              <a:buNone/>
              <a:defRPr sz="3200"/>
            </a:lvl1pPr>
            <a:lvl2pPr marL="0" indent="228600" algn="ctr">
              <a:lnSpc>
                <a:spcPct val="100000"/>
              </a:lnSpc>
              <a:spcBef>
                <a:spcPts val="0"/>
              </a:spcBef>
              <a:buSzTx/>
              <a:buNone/>
              <a:defRPr sz="3200"/>
            </a:lvl2pPr>
            <a:lvl3pPr marL="0" indent="457200" algn="ctr">
              <a:lnSpc>
                <a:spcPct val="100000"/>
              </a:lnSpc>
              <a:spcBef>
                <a:spcPts val="0"/>
              </a:spcBef>
              <a:buSzTx/>
              <a:buNone/>
              <a:defRPr sz="3200"/>
            </a:lvl3pPr>
            <a:lvl4pPr marL="0" indent="685800" algn="ctr">
              <a:lnSpc>
                <a:spcPct val="100000"/>
              </a:lnSpc>
              <a:spcBef>
                <a:spcPts val="0"/>
              </a:spcBef>
              <a:buSzTx/>
              <a:buNone/>
              <a:defRPr sz="3200"/>
            </a:lvl4pPr>
            <a:lvl5pPr marL="0" indent="914400" algn="ctr">
              <a:lnSpc>
                <a:spcPct val="100000"/>
              </a:lnSpc>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1606550" y="635000"/>
            <a:ext cx="9779000" cy="59182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1270000" y="6718300"/>
            <a:ext cx="10464800" cy="1422400"/>
          </a:xfrm>
          <a:prstGeom prst="rect">
            <a:avLst/>
          </a:prstGeom>
        </p:spPr>
        <p:txBody>
          <a:bodyPr anchor="b"/>
          <a:lstStyle/>
          <a:p>
            <a:r>
              <a:t>Title Text</a:t>
            </a:r>
          </a:p>
        </p:txBody>
      </p:sp>
      <p:sp>
        <p:nvSpPr>
          <p:cNvPr id="22" name="Shape 22"/>
          <p:cNvSpPr>
            <a:spLocks noGrp="1"/>
          </p:cNvSpPr>
          <p:nvPr>
            <p:ph type="body" sz="quarter" idx="1"/>
          </p:nvPr>
        </p:nvSpPr>
        <p:spPr>
          <a:xfrm>
            <a:off x="1270000" y="8191500"/>
            <a:ext cx="10464800" cy="1130300"/>
          </a:xfrm>
          <a:prstGeom prst="rect">
            <a:avLst/>
          </a:prstGeom>
        </p:spPr>
        <p:txBody>
          <a:bodyPr anchor="t"/>
          <a:lstStyle>
            <a:lvl1pPr marL="0" indent="0" algn="ctr">
              <a:lnSpc>
                <a:spcPct val="100000"/>
              </a:lnSpc>
              <a:spcBef>
                <a:spcPts val="0"/>
              </a:spcBef>
              <a:buSzTx/>
              <a:buNone/>
              <a:defRPr sz="3200" b="0">
                <a:latin typeface="+mn-lt"/>
                <a:ea typeface="+mn-ea"/>
                <a:cs typeface="+mn-cs"/>
                <a:sym typeface="Helvetica Light"/>
              </a:defRPr>
            </a:lvl1pPr>
            <a:lvl2pPr marL="0" indent="228600" algn="ctr">
              <a:lnSpc>
                <a:spcPct val="100000"/>
              </a:lnSpc>
              <a:spcBef>
                <a:spcPts val="0"/>
              </a:spcBef>
              <a:buSzTx/>
              <a:buNone/>
              <a:defRPr sz="3200" b="0">
                <a:latin typeface="+mn-lt"/>
                <a:ea typeface="+mn-ea"/>
                <a:cs typeface="+mn-cs"/>
                <a:sym typeface="Helvetica Light"/>
              </a:defRPr>
            </a:lvl2pPr>
            <a:lvl3pPr marL="0" indent="457200" algn="ctr">
              <a:lnSpc>
                <a:spcPct val="100000"/>
              </a:lnSpc>
              <a:spcBef>
                <a:spcPts val="0"/>
              </a:spcBef>
              <a:buSzTx/>
              <a:buNone/>
              <a:defRPr sz="3200" b="0">
                <a:latin typeface="+mn-lt"/>
                <a:ea typeface="+mn-ea"/>
                <a:cs typeface="+mn-cs"/>
                <a:sym typeface="Helvetica Light"/>
              </a:defRPr>
            </a:lvl3pPr>
            <a:lvl4pPr marL="0" indent="685800" algn="ctr">
              <a:lnSpc>
                <a:spcPct val="100000"/>
              </a:lnSpc>
              <a:spcBef>
                <a:spcPts val="0"/>
              </a:spcBef>
              <a:buSzTx/>
              <a:buNone/>
              <a:defRPr sz="3200" b="0">
                <a:latin typeface="+mn-lt"/>
                <a:ea typeface="+mn-ea"/>
                <a:cs typeface="+mn-cs"/>
                <a:sym typeface="Helvetica Light"/>
              </a:defRPr>
            </a:lvl4pPr>
            <a:lvl5pPr marL="0" indent="914400" algn="ctr">
              <a:lnSpc>
                <a:spcPct val="100000"/>
              </a:lnSpc>
              <a:spcBef>
                <a:spcPts val="0"/>
              </a:spcBef>
              <a:buSzTx/>
              <a:buNone/>
              <a:defRPr sz="3200" b="0">
                <a:latin typeface="+mn-lt"/>
                <a:ea typeface="+mn-ea"/>
                <a:cs typeface="+mn-cs"/>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xfrm>
            <a:off x="6311798" y="9245600"/>
            <a:ext cx="368504" cy="3810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38" name="Shape 38"/>
          <p:cNvSpPr>
            <a:spLocks noGrp="1"/>
          </p:cNvSpPr>
          <p:nvPr>
            <p:ph type="body" sz="half" idx="13"/>
          </p:nvPr>
        </p:nvSpPr>
        <p:spPr>
          <a:xfrm>
            <a:off x="437232" y="444500"/>
            <a:ext cx="12130336" cy="2159000"/>
          </a:xfrm>
          <a:prstGeom prst="rect">
            <a:avLst/>
          </a:prstGeom>
        </p:spPr>
        <p:txBody>
          <a:bodyPr/>
          <a:lstStyle>
            <a:lvl1pPr marL="0" indent="0" algn="ctr">
              <a:lnSpc>
                <a:spcPct val="100000"/>
              </a:lnSpc>
              <a:spcBef>
                <a:spcPts val="0"/>
              </a:spcBef>
              <a:buSzTx/>
              <a:buNone/>
              <a:defRPr sz="6400">
                <a:solidFill>
                  <a:schemeClr val="accent1">
                    <a:hueOff val="47394"/>
                    <a:satOff val="-25753"/>
                    <a:lumOff val="-7544"/>
                  </a:schemeClr>
                </a:solidFill>
                <a:effectLst>
                  <a:outerShdw blurRad="88900" dist="38100" dir="2700000" rotWithShape="0">
                    <a:srgbClr val="000000">
                      <a:alpha val="30000"/>
                    </a:srgbClr>
                  </a:outerShdw>
                </a:effectLst>
              </a:defRPr>
            </a:lvl1pPr>
          </a:lstStyle>
          <a:p>
            <a:r>
              <a:t>Title Text</a:t>
            </a:r>
          </a:p>
        </p:txBody>
      </p:sp>
      <p:sp>
        <p:nvSpPr>
          <p:cNvPr id="39" name="Shape 3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6" name="Shape 46"/>
          <p:cNvSpPr>
            <a:spLocks noGrp="1"/>
          </p:cNvSpPr>
          <p:nvPr>
            <p:ph type="title"/>
          </p:nvPr>
        </p:nvSpPr>
        <p:spPr>
          <a:xfrm>
            <a:off x="437232" y="444500"/>
            <a:ext cx="12130336" cy="2159000"/>
          </a:xfrm>
          <a:prstGeom prst="rect">
            <a:avLst/>
          </a:prstGeom>
        </p:spPr>
        <p:txBody>
          <a:bodyPr/>
          <a:lstStyle/>
          <a:p>
            <a:r>
              <a:t>Title Text</a:t>
            </a:r>
          </a:p>
        </p:txBody>
      </p:sp>
      <p:sp>
        <p:nvSpPr>
          <p:cNvPr id="47" name="Shape 4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55" name="Shape 5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2" name="Shape 62"/>
          <p:cNvSpPr>
            <a:spLocks noGrp="1"/>
          </p:cNvSpPr>
          <p:nvPr>
            <p:ph type="title"/>
          </p:nvPr>
        </p:nvSpPr>
        <p:spPr>
          <a:xfrm>
            <a:off x="1270000" y="254000"/>
            <a:ext cx="10464800" cy="2438400"/>
          </a:xfrm>
          <a:prstGeom prst="rect">
            <a:avLst/>
          </a:prstGeom>
        </p:spPr>
        <p:txBody>
          <a:bodyPr>
            <a:noAutofit/>
          </a:bodyPr>
          <a:lstStyle>
            <a:lvl1pPr>
              <a:defRPr sz="8400" b="0">
                <a:solidFill>
                  <a:srgbClr val="000000"/>
                </a:solidFill>
                <a:latin typeface="Gill Sans"/>
                <a:ea typeface="Gill Sans"/>
                <a:cs typeface="Gill Sans"/>
                <a:sym typeface="Gill Sans"/>
              </a:defRPr>
            </a:lvl1pPr>
          </a:lstStyle>
          <a:p>
            <a:pPr>
              <a:defRPr>
                <a:effectLst/>
              </a:defRPr>
            </a:pPr>
            <a:r>
              <a:t>Title Text</a:t>
            </a:r>
          </a:p>
        </p:txBody>
      </p:sp>
      <p:sp>
        <p:nvSpPr>
          <p:cNvPr id="63" name="Shape 63"/>
          <p:cNvSpPr>
            <a:spLocks noGrp="1"/>
          </p:cNvSpPr>
          <p:nvPr>
            <p:ph type="body" idx="1"/>
          </p:nvPr>
        </p:nvSpPr>
        <p:spPr>
          <a:xfrm>
            <a:off x="1270000" y="2768600"/>
            <a:ext cx="10464800" cy="5715000"/>
          </a:xfrm>
          <a:prstGeom prst="rect">
            <a:avLst/>
          </a:prstGeom>
        </p:spPr>
        <p:txBody>
          <a:bodyPr>
            <a:noAutofit/>
          </a:bodyPr>
          <a:lstStyle>
            <a:lvl1pPr marL="889000" indent="-571500">
              <a:lnSpc>
                <a:spcPct val="100000"/>
              </a:lnSpc>
              <a:spcBef>
                <a:spcPts val="2400"/>
              </a:spcBef>
              <a:buSzPct val="171000"/>
              <a:defRPr sz="4200" b="0">
                <a:latin typeface="Gill Sans"/>
                <a:ea typeface="Gill Sans"/>
                <a:cs typeface="Gill Sans"/>
                <a:sym typeface="Gill Sans"/>
              </a:defRPr>
            </a:lvl1pPr>
            <a:lvl2pPr marL="1333500" indent="-571500">
              <a:lnSpc>
                <a:spcPct val="100000"/>
              </a:lnSpc>
              <a:spcBef>
                <a:spcPts val="2400"/>
              </a:spcBef>
              <a:buSzPct val="171000"/>
              <a:defRPr sz="4200" b="0">
                <a:latin typeface="Gill Sans"/>
                <a:ea typeface="Gill Sans"/>
                <a:cs typeface="Gill Sans"/>
                <a:sym typeface="Gill Sans"/>
              </a:defRPr>
            </a:lvl2pPr>
            <a:lvl3pPr marL="1778000" indent="-571500">
              <a:lnSpc>
                <a:spcPct val="100000"/>
              </a:lnSpc>
              <a:spcBef>
                <a:spcPts val="2400"/>
              </a:spcBef>
              <a:buSzPct val="171000"/>
              <a:defRPr sz="4200" b="0">
                <a:latin typeface="Gill Sans"/>
                <a:ea typeface="Gill Sans"/>
                <a:cs typeface="Gill Sans"/>
                <a:sym typeface="Gill Sans"/>
              </a:defRPr>
            </a:lvl3pPr>
            <a:lvl4pPr marL="2222500" indent="-571500">
              <a:lnSpc>
                <a:spcPct val="100000"/>
              </a:lnSpc>
              <a:spcBef>
                <a:spcPts val="2400"/>
              </a:spcBef>
              <a:buSzPct val="171000"/>
              <a:defRPr sz="4200" b="0">
                <a:latin typeface="Gill Sans"/>
                <a:ea typeface="Gill Sans"/>
                <a:cs typeface="Gill Sans"/>
                <a:sym typeface="Gill Sans"/>
              </a:defRPr>
            </a:lvl4pPr>
            <a:lvl5pPr marL="2667000" indent="-571500">
              <a:lnSpc>
                <a:spcPct val="100000"/>
              </a:lnSpc>
              <a:spcBef>
                <a:spcPts val="2400"/>
              </a:spcBef>
              <a:buSzPct val="171000"/>
              <a:defRPr sz="4200" b="0">
                <a:latin typeface="Gill Sans"/>
                <a:ea typeface="Gill Sans"/>
                <a:cs typeface="Gill San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64" name="Shape 64"/>
          <p:cNvSpPr>
            <a:spLocks noGrp="1"/>
          </p:cNvSpPr>
          <p:nvPr>
            <p:ph type="sldNum" sz="quarter" idx="2"/>
          </p:nvPr>
        </p:nvSpPr>
        <p:spPr>
          <a:xfrm>
            <a:off x="6324600" y="9258300"/>
            <a:ext cx="342900" cy="368300"/>
          </a:xfrm>
          <a:prstGeom prst="rect">
            <a:avLst/>
          </a:prstGeom>
        </p:spPr>
        <p:txBody>
          <a:bodyPr>
            <a:spAutoFit/>
          </a:bodyPr>
          <a:lstStyle>
            <a:lvl1pPr>
              <a:defRPr>
                <a:latin typeface="Gill Sans"/>
                <a:ea typeface="Gill Sans"/>
                <a:cs typeface="Gill Sans"/>
                <a:sym typeface="Gill Sans"/>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50240" y="9040143"/>
            <a:ext cx="3034453" cy="519289"/>
          </a:xfrm>
          <a:prstGeom prst="rect">
            <a:avLst/>
          </a:prstGeom>
        </p:spPr>
        <p:txBody>
          <a:bodyPr/>
          <a:lstStyle/>
          <a:p>
            <a:fld id="{1E832B15-C0DB-0644-84A7-A902E2BCE2FE}" type="datetimeFigureOut">
              <a:rPr lang="en-US" smtClean="0"/>
              <a:t>1/28/19</a:t>
            </a:fld>
            <a:endParaRPr lang="en-US"/>
          </a:p>
        </p:txBody>
      </p:sp>
      <p:sp>
        <p:nvSpPr>
          <p:cNvPr id="5" name="Footer Placeholder 4"/>
          <p:cNvSpPr>
            <a:spLocks noGrp="1"/>
          </p:cNvSpPr>
          <p:nvPr>
            <p:ph type="ftr" sz="quarter" idx="11"/>
          </p:nvPr>
        </p:nvSpPr>
        <p:spPr>
          <a:xfrm>
            <a:off x="4443307" y="9040143"/>
            <a:ext cx="4118187" cy="519289"/>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5072F3B3-BBAA-1F45-BC0A-5E2512C3F0C1}" type="slidenum">
              <a:rPr lang="en-US" smtClean="0"/>
              <a:t>‹#›</a:t>
            </a:fld>
            <a:endParaRPr lang="en-US"/>
          </a:p>
        </p:txBody>
      </p:sp>
    </p:spTree>
    <p:extLst>
      <p:ext uri="{BB962C8B-B14F-4D97-AF65-F5344CB8AC3E}">
        <p14:creationId xmlns:p14="http://schemas.microsoft.com/office/powerpoint/2010/main" val="55791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50240" y="9040143"/>
            <a:ext cx="3034453" cy="519289"/>
          </a:xfrm>
          <a:prstGeom prst="rect">
            <a:avLst/>
          </a:prstGeom>
        </p:spPr>
        <p:txBody>
          <a:bodyPr/>
          <a:lstStyle/>
          <a:p>
            <a:fld id="{1E832B15-C0DB-0644-84A7-A902E2BCE2FE}" type="datetimeFigureOut">
              <a:rPr lang="en-US" smtClean="0"/>
              <a:t>1/28/19</a:t>
            </a:fld>
            <a:endParaRPr lang="en-US"/>
          </a:p>
        </p:txBody>
      </p:sp>
      <p:sp>
        <p:nvSpPr>
          <p:cNvPr id="4" name="Footer Placeholder 3"/>
          <p:cNvSpPr>
            <a:spLocks noGrp="1"/>
          </p:cNvSpPr>
          <p:nvPr>
            <p:ph type="ftr" sz="quarter" idx="11"/>
          </p:nvPr>
        </p:nvSpPr>
        <p:spPr>
          <a:xfrm>
            <a:off x="4443307" y="9040143"/>
            <a:ext cx="4118187" cy="519289"/>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5072F3B3-BBAA-1F45-BC0A-5E2512C3F0C1}" type="slidenum">
              <a:rPr lang="en-US" smtClean="0"/>
              <a:t>‹#›</a:t>
            </a:fld>
            <a:endParaRPr lang="en-US"/>
          </a:p>
        </p:txBody>
      </p:sp>
    </p:spTree>
    <p:extLst>
      <p:ext uri="{BB962C8B-B14F-4D97-AF65-F5344CB8AC3E}">
        <p14:creationId xmlns:p14="http://schemas.microsoft.com/office/powerpoint/2010/main" val="1261663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1270000" y="3225800"/>
            <a:ext cx="10464800" cy="33020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892402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normAutofit/>
          </a:bodyPr>
          <a:lstStyle>
            <a:lvl1pPr>
              <a:lnSpc>
                <a:spcPct val="100000"/>
              </a:lnSpc>
              <a:defRPr sz="1800" b="0">
                <a:latin typeface="+mn-lt"/>
                <a:ea typeface="+mn-ea"/>
                <a:cs typeface="+mn-cs"/>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transition spd="med"/>
  <p:txStyles>
    <p:titleStyle>
      <a:lvl1pPr marL="0" marR="0" indent="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1pPr>
      <a:lvl2pPr marL="0" marR="0" indent="2286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2pPr>
      <a:lvl3pPr marL="0" marR="0" indent="4572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3pPr>
      <a:lvl4pPr marL="0" marR="0" indent="6858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4pPr>
      <a:lvl5pPr marL="0" marR="0" indent="9144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5pPr>
      <a:lvl6pPr marL="0" marR="0" indent="11430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6pPr>
      <a:lvl7pPr marL="0" marR="0" indent="13716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7pPr>
      <a:lvl8pPr marL="0" marR="0" indent="16002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8pPr>
      <a:lvl9pPr marL="0" marR="0" indent="18288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9pPr>
    </p:titleStyle>
    <p:bodyStyle>
      <a:lvl1pPr marL="444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1pPr>
      <a:lvl2pPr marL="889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2pPr>
      <a:lvl3pPr marL="1333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3pPr>
      <a:lvl4pPr marL="1778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4pPr>
      <a:lvl5pPr marL="2222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5pPr>
      <a:lvl6pPr marL="2667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6pPr>
      <a:lvl7pPr marL="3111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7pPr>
      <a:lvl8pPr marL="3556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8pPr>
      <a:lvl9pPr marL="4000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ti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4.xml"/><Relationship Id="rId4" Type="http://schemas.openxmlformats.org/officeDocument/2006/relationships/hyperlink" Target="https://en.wikipedia.org/wiki/Wilhelm_R&#246;ntge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9.emf"/><Relationship Id="rId5" Type="http://schemas.openxmlformats.org/officeDocument/2006/relationships/oleObject" Target="../embeddings/oleObject1.bin"/><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13.emf"/><Relationship Id="rId11" Type="http://schemas.openxmlformats.org/officeDocument/2006/relationships/image" Target="../media/image16.emf"/><Relationship Id="rId5" Type="http://schemas.openxmlformats.org/officeDocument/2006/relationships/oleObject" Target="../embeddings/oleObject3.bin"/><Relationship Id="rId10" Type="http://schemas.openxmlformats.org/officeDocument/2006/relationships/image" Target="../media/image15.emf"/><Relationship Id="rId4" Type="http://schemas.openxmlformats.org/officeDocument/2006/relationships/image" Target="../media/image12.emf"/><Relationship Id="rId9"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8.emf"/><Relationship Id="rId3" Type="http://schemas.openxmlformats.org/officeDocument/2006/relationships/image" Target="../media/image17.emf"/><Relationship Id="rId7" Type="http://schemas.openxmlformats.org/officeDocument/2006/relationships/image" Target="../media/image13.emf"/><Relationship Id="rId12" Type="http://schemas.openxmlformats.org/officeDocument/2006/relationships/image" Target="../media/image16.emf"/><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7.bin"/><Relationship Id="rId11" Type="http://schemas.openxmlformats.org/officeDocument/2006/relationships/image" Target="../media/image15.emf"/><Relationship Id="rId5" Type="http://schemas.openxmlformats.org/officeDocument/2006/relationships/image" Target="../media/image12.emf"/><Relationship Id="rId15" Type="http://schemas.openxmlformats.org/officeDocument/2006/relationships/image" Target="../media/image20.e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4.emf"/><Relationship Id="rId14" Type="http://schemas.openxmlformats.org/officeDocument/2006/relationships/image" Target="../media/image19.emf"/></Relationships>
</file>

<file path=ppt/slides/_rels/slide12.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3.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3.e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5.emf"/><Relationship Id="rId4" Type="http://schemas.openxmlformats.org/officeDocument/2006/relationships/image" Target="../media/image21.emf"/><Relationship Id="rId9" Type="http://schemas.openxmlformats.org/officeDocument/2006/relationships/oleObject" Target="../embeddings/oleObject13.bin"/></Relationships>
</file>

<file path=ppt/slides/_rels/slide13.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oleObject" Target="../embeddings/oleObject20.bin"/><Relationship Id="rId18" Type="http://schemas.openxmlformats.org/officeDocument/2006/relationships/image" Target="../media/image27.emf"/><Relationship Id="rId3" Type="http://schemas.openxmlformats.org/officeDocument/2006/relationships/oleObject" Target="../embeddings/oleObject15.bin"/><Relationship Id="rId21" Type="http://schemas.openxmlformats.org/officeDocument/2006/relationships/oleObject" Target="../embeddings/oleObject24.bin"/><Relationship Id="rId7" Type="http://schemas.openxmlformats.org/officeDocument/2006/relationships/oleObject" Target="../embeddings/oleObject17.bin"/><Relationship Id="rId12" Type="http://schemas.openxmlformats.org/officeDocument/2006/relationships/image" Target="../media/image15.emf"/><Relationship Id="rId17" Type="http://schemas.openxmlformats.org/officeDocument/2006/relationships/oleObject" Target="../embeddings/oleObject22.bin"/><Relationship Id="rId2" Type="http://schemas.openxmlformats.org/officeDocument/2006/relationships/slideLayout" Target="../slideLayouts/slideLayout7.xml"/><Relationship Id="rId16" Type="http://schemas.openxmlformats.org/officeDocument/2006/relationships/image" Target="../media/image26.emf"/><Relationship Id="rId20" Type="http://schemas.openxmlformats.org/officeDocument/2006/relationships/image" Target="../media/image28.emf"/><Relationship Id="rId1" Type="http://schemas.openxmlformats.org/officeDocument/2006/relationships/vmlDrawing" Target="../drawings/vmlDrawing5.vml"/><Relationship Id="rId6" Type="http://schemas.openxmlformats.org/officeDocument/2006/relationships/image" Target="../media/image24.e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2.emf"/><Relationship Id="rId19" Type="http://schemas.openxmlformats.org/officeDocument/2006/relationships/oleObject" Target="../embeddings/oleObject23.bin"/><Relationship Id="rId4" Type="http://schemas.openxmlformats.org/officeDocument/2006/relationships/image" Target="../media/image23.emf"/><Relationship Id="rId9" Type="http://schemas.openxmlformats.org/officeDocument/2006/relationships/oleObject" Target="../embeddings/oleObject18.bin"/><Relationship Id="rId14" Type="http://schemas.openxmlformats.org/officeDocument/2006/relationships/image" Target="../media/image25.emf"/><Relationship Id="rId22" Type="http://schemas.openxmlformats.org/officeDocument/2006/relationships/image" Target="../media/image29.emf"/></Relationships>
</file>

<file path=ppt/slides/_rels/slide14.xml.rels><?xml version="1.0" encoding="UTF-8" standalone="yes"?>
<Relationships xmlns="http://schemas.openxmlformats.org/package/2006/relationships"><Relationship Id="rId13" Type="http://schemas.openxmlformats.org/officeDocument/2006/relationships/image" Target="../media/image28.emf"/><Relationship Id="rId18" Type="http://schemas.openxmlformats.org/officeDocument/2006/relationships/oleObject" Target="../embeddings/oleObject34.bin"/><Relationship Id="rId26" Type="http://schemas.openxmlformats.org/officeDocument/2006/relationships/oleObject" Target="../embeddings/oleObject39.bin"/><Relationship Id="rId3" Type="http://schemas.openxmlformats.org/officeDocument/2006/relationships/oleObject" Target="../embeddings/oleObject25.bin"/><Relationship Id="rId21" Type="http://schemas.openxmlformats.org/officeDocument/2006/relationships/image" Target="../media/image32.emf"/><Relationship Id="rId34" Type="http://schemas.openxmlformats.org/officeDocument/2006/relationships/oleObject" Target="../embeddings/oleObject43.bin"/><Relationship Id="rId7" Type="http://schemas.openxmlformats.org/officeDocument/2006/relationships/oleObject" Target="../embeddings/oleObject27.bin"/><Relationship Id="rId12" Type="http://schemas.openxmlformats.org/officeDocument/2006/relationships/oleObject" Target="../embeddings/oleObject31.bin"/><Relationship Id="rId17" Type="http://schemas.openxmlformats.org/officeDocument/2006/relationships/image" Target="../media/image30.emf"/><Relationship Id="rId25" Type="http://schemas.openxmlformats.org/officeDocument/2006/relationships/oleObject" Target="../embeddings/oleObject38.bin"/><Relationship Id="rId33" Type="http://schemas.openxmlformats.org/officeDocument/2006/relationships/image" Target="../media/image37.emf"/><Relationship Id="rId2" Type="http://schemas.openxmlformats.org/officeDocument/2006/relationships/slideLayout" Target="../slideLayouts/slideLayout7.xml"/><Relationship Id="rId16" Type="http://schemas.openxmlformats.org/officeDocument/2006/relationships/oleObject" Target="../embeddings/oleObject33.bin"/><Relationship Id="rId20" Type="http://schemas.openxmlformats.org/officeDocument/2006/relationships/oleObject" Target="../embeddings/oleObject35.bin"/><Relationship Id="rId29" Type="http://schemas.openxmlformats.org/officeDocument/2006/relationships/image" Target="../media/image35.emf"/><Relationship Id="rId1" Type="http://schemas.openxmlformats.org/officeDocument/2006/relationships/vmlDrawing" Target="../drawings/vmlDrawing6.vml"/><Relationship Id="rId6" Type="http://schemas.openxmlformats.org/officeDocument/2006/relationships/image" Target="../media/image26.emf"/><Relationship Id="rId11" Type="http://schemas.openxmlformats.org/officeDocument/2006/relationships/oleObject" Target="../embeddings/oleObject30.bin"/><Relationship Id="rId24" Type="http://schemas.openxmlformats.org/officeDocument/2006/relationships/oleObject" Target="../embeddings/oleObject37.bin"/><Relationship Id="rId32" Type="http://schemas.openxmlformats.org/officeDocument/2006/relationships/oleObject" Target="../embeddings/oleObject42.bin"/><Relationship Id="rId5" Type="http://schemas.openxmlformats.org/officeDocument/2006/relationships/oleObject" Target="../embeddings/oleObject26.bin"/><Relationship Id="rId15" Type="http://schemas.openxmlformats.org/officeDocument/2006/relationships/image" Target="../media/image13.emf"/><Relationship Id="rId23" Type="http://schemas.openxmlformats.org/officeDocument/2006/relationships/image" Target="../media/image33.emf"/><Relationship Id="rId28" Type="http://schemas.openxmlformats.org/officeDocument/2006/relationships/oleObject" Target="../embeddings/oleObject40.bin"/><Relationship Id="rId10" Type="http://schemas.openxmlformats.org/officeDocument/2006/relationships/oleObject" Target="../embeddings/oleObject29.bin"/><Relationship Id="rId19" Type="http://schemas.openxmlformats.org/officeDocument/2006/relationships/image" Target="../media/image31.emf"/><Relationship Id="rId31" Type="http://schemas.openxmlformats.org/officeDocument/2006/relationships/image" Target="../media/image36.emf"/><Relationship Id="rId4" Type="http://schemas.openxmlformats.org/officeDocument/2006/relationships/image" Target="../media/image25.emf"/><Relationship Id="rId9" Type="http://schemas.openxmlformats.org/officeDocument/2006/relationships/oleObject" Target="../embeddings/oleObject28.bin"/><Relationship Id="rId14" Type="http://schemas.openxmlformats.org/officeDocument/2006/relationships/oleObject" Target="../embeddings/oleObject32.bin"/><Relationship Id="rId22" Type="http://schemas.openxmlformats.org/officeDocument/2006/relationships/oleObject" Target="../embeddings/oleObject36.bin"/><Relationship Id="rId27" Type="http://schemas.openxmlformats.org/officeDocument/2006/relationships/image" Target="../media/image34.emf"/><Relationship Id="rId30" Type="http://schemas.openxmlformats.org/officeDocument/2006/relationships/oleObject" Target="../embeddings/oleObject41.bin"/><Relationship Id="rId35" Type="http://schemas.openxmlformats.org/officeDocument/2006/relationships/image" Target="../media/image38.emf"/><Relationship Id="rId8" Type="http://schemas.openxmlformats.org/officeDocument/2006/relationships/image" Target="../media/image27.emf"/></Relationships>
</file>

<file path=ppt/slides/_rels/slide15.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oleObject" Target="../embeddings/oleObject48.bin"/><Relationship Id="rId18" Type="http://schemas.openxmlformats.org/officeDocument/2006/relationships/image" Target="../media/image27.emf"/><Relationship Id="rId3" Type="http://schemas.openxmlformats.org/officeDocument/2006/relationships/slideLayout" Target="../slideLayouts/slideLayout7.xml"/><Relationship Id="rId21" Type="http://schemas.openxmlformats.org/officeDocument/2006/relationships/oleObject" Target="../embeddings/oleObject52.bin"/><Relationship Id="rId7" Type="http://schemas.openxmlformats.org/officeDocument/2006/relationships/oleObject" Target="../embeddings/oleObject45.bin"/><Relationship Id="rId12" Type="http://schemas.openxmlformats.org/officeDocument/2006/relationships/image" Target="../media/image15.emf"/><Relationship Id="rId17" Type="http://schemas.openxmlformats.org/officeDocument/2006/relationships/oleObject" Target="../embeddings/oleObject50.bin"/><Relationship Id="rId2" Type="http://schemas.openxmlformats.org/officeDocument/2006/relationships/tags" Target="../tags/tag1.xml"/><Relationship Id="rId16" Type="http://schemas.openxmlformats.org/officeDocument/2006/relationships/image" Target="../media/image26.emf"/><Relationship Id="rId20" Type="http://schemas.openxmlformats.org/officeDocument/2006/relationships/image" Target="../media/image28.emf"/><Relationship Id="rId1" Type="http://schemas.openxmlformats.org/officeDocument/2006/relationships/vmlDrawing" Target="../drawings/vmlDrawing7.vml"/><Relationship Id="rId6" Type="http://schemas.openxmlformats.org/officeDocument/2006/relationships/image" Target="../media/image39.emf"/><Relationship Id="rId11" Type="http://schemas.openxmlformats.org/officeDocument/2006/relationships/oleObject" Target="../embeddings/oleObject47.bin"/><Relationship Id="rId24" Type="http://schemas.openxmlformats.org/officeDocument/2006/relationships/image" Target="../media/image29.emf"/><Relationship Id="rId5" Type="http://schemas.openxmlformats.org/officeDocument/2006/relationships/oleObject" Target="../embeddings/oleObject44.bin"/><Relationship Id="rId15" Type="http://schemas.openxmlformats.org/officeDocument/2006/relationships/oleObject" Target="../embeddings/oleObject49.bin"/><Relationship Id="rId23" Type="http://schemas.openxmlformats.org/officeDocument/2006/relationships/oleObject" Target="../embeddings/oleObject53.bin"/><Relationship Id="rId10" Type="http://schemas.openxmlformats.org/officeDocument/2006/relationships/image" Target="../media/image22.emf"/><Relationship Id="rId19" Type="http://schemas.openxmlformats.org/officeDocument/2006/relationships/oleObject" Target="../embeddings/oleObject51.bin"/><Relationship Id="rId4" Type="http://schemas.openxmlformats.org/officeDocument/2006/relationships/image" Target="../media/image40.png"/><Relationship Id="rId9" Type="http://schemas.openxmlformats.org/officeDocument/2006/relationships/oleObject" Target="../embeddings/oleObject46.bin"/><Relationship Id="rId14" Type="http://schemas.openxmlformats.org/officeDocument/2006/relationships/image" Target="../media/image25.emf"/><Relationship Id="rId22" Type="http://schemas.openxmlformats.org/officeDocument/2006/relationships/image" Target="../media/image23.emf"/></Relationships>
</file>

<file path=ppt/slides/_rels/slide16.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oleObject" Target="../embeddings/oleObject58.bin"/><Relationship Id="rId18" Type="http://schemas.openxmlformats.org/officeDocument/2006/relationships/image" Target="../media/image28.emf"/><Relationship Id="rId3" Type="http://schemas.openxmlformats.org/officeDocument/2006/relationships/slideLayout" Target="../slideLayouts/slideLayout7.xml"/><Relationship Id="rId21" Type="http://schemas.openxmlformats.org/officeDocument/2006/relationships/oleObject" Target="../embeddings/oleObject62.bin"/><Relationship Id="rId7" Type="http://schemas.openxmlformats.org/officeDocument/2006/relationships/oleObject" Target="../embeddings/oleObject55.bin"/><Relationship Id="rId12" Type="http://schemas.openxmlformats.org/officeDocument/2006/relationships/image" Target="../media/image25.emf"/><Relationship Id="rId17" Type="http://schemas.openxmlformats.org/officeDocument/2006/relationships/oleObject" Target="../embeddings/oleObject60.bin"/><Relationship Id="rId2" Type="http://schemas.openxmlformats.org/officeDocument/2006/relationships/tags" Target="../tags/tag2.xml"/><Relationship Id="rId16" Type="http://schemas.openxmlformats.org/officeDocument/2006/relationships/image" Target="../media/image27.emf"/><Relationship Id="rId20" Type="http://schemas.openxmlformats.org/officeDocument/2006/relationships/image" Target="../media/image23.emf"/><Relationship Id="rId1" Type="http://schemas.openxmlformats.org/officeDocument/2006/relationships/vmlDrawing" Target="../drawings/vmlDrawing8.vml"/><Relationship Id="rId6" Type="http://schemas.openxmlformats.org/officeDocument/2006/relationships/image" Target="../media/image13.emf"/><Relationship Id="rId11" Type="http://schemas.openxmlformats.org/officeDocument/2006/relationships/oleObject" Target="../embeddings/oleObject57.bin"/><Relationship Id="rId24" Type="http://schemas.openxmlformats.org/officeDocument/2006/relationships/image" Target="../media/image39.emf"/><Relationship Id="rId5" Type="http://schemas.openxmlformats.org/officeDocument/2006/relationships/oleObject" Target="../embeddings/oleObject54.bin"/><Relationship Id="rId15" Type="http://schemas.openxmlformats.org/officeDocument/2006/relationships/oleObject" Target="../embeddings/oleObject59.bin"/><Relationship Id="rId23" Type="http://schemas.openxmlformats.org/officeDocument/2006/relationships/oleObject" Target="../embeddings/oleObject63.bin"/><Relationship Id="rId10" Type="http://schemas.openxmlformats.org/officeDocument/2006/relationships/image" Target="../media/image15.emf"/><Relationship Id="rId19" Type="http://schemas.openxmlformats.org/officeDocument/2006/relationships/oleObject" Target="../embeddings/oleObject61.bin"/><Relationship Id="rId4" Type="http://schemas.openxmlformats.org/officeDocument/2006/relationships/image" Target="../media/image41.png"/><Relationship Id="rId9" Type="http://schemas.openxmlformats.org/officeDocument/2006/relationships/oleObject" Target="../embeddings/oleObject56.bin"/><Relationship Id="rId14" Type="http://schemas.openxmlformats.org/officeDocument/2006/relationships/image" Target="../media/image26.emf"/><Relationship Id="rId22" Type="http://schemas.openxmlformats.org/officeDocument/2006/relationships/image" Target="../media/image29.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4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slideLayout" Target="../slideLayouts/slideLayout7.xml"/><Relationship Id="rId1" Type="http://schemas.openxmlformats.org/officeDocument/2006/relationships/tags" Target="../tags/tag7.xml"/><Relationship Id="rId6" Type="http://schemas.openxmlformats.org/officeDocument/2006/relationships/image" Target="../media/image49.png"/><Relationship Id="rId5" Type="http://schemas.openxmlformats.org/officeDocument/2006/relationships/image" Target="../media/image48.jpg"/><Relationship Id="rId4" Type="http://schemas.openxmlformats.org/officeDocument/2006/relationships/image" Target="../media/image47.jpg"/></Relationships>
</file>

<file path=ppt/slides/_rels/slide2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0.emf"/><Relationship Id="rId5" Type="http://schemas.openxmlformats.org/officeDocument/2006/relationships/oleObject" Target="../embeddings/oleObject64.bin"/><Relationship Id="rId4" Type="http://schemas.openxmlformats.org/officeDocument/2006/relationships/image" Target="../media/image52.jpeg"/></Relationships>
</file>

<file path=ppt/slides/_rels/slide2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8" Type="http://schemas.openxmlformats.org/officeDocument/2006/relationships/image" Target="../media/image55.emf"/><Relationship Id="rId13" Type="http://schemas.openxmlformats.org/officeDocument/2006/relationships/oleObject" Target="../embeddings/oleObject69.bin"/><Relationship Id="rId3" Type="http://schemas.openxmlformats.org/officeDocument/2006/relationships/image" Target="../media/image60.png"/><Relationship Id="rId7" Type="http://schemas.openxmlformats.org/officeDocument/2006/relationships/oleObject" Target="../embeddings/oleObject66.bin"/><Relationship Id="rId12" Type="http://schemas.openxmlformats.org/officeDocument/2006/relationships/image" Target="../media/image57.emf"/><Relationship Id="rId2" Type="http://schemas.openxmlformats.org/officeDocument/2006/relationships/slideLayout" Target="../slideLayouts/slideLayout7.xml"/><Relationship Id="rId16" Type="http://schemas.openxmlformats.org/officeDocument/2006/relationships/image" Target="../media/image59.emf"/><Relationship Id="rId1" Type="http://schemas.openxmlformats.org/officeDocument/2006/relationships/vmlDrawing" Target="../drawings/vmlDrawing10.vml"/><Relationship Id="rId6" Type="http://schemas.openxmlformats.org/officeDocument/2006/relationships/image" Target="../media/image54.emf"/><Relationship Id="rId11" Type="http://schemas.openxmlformats.org/officeDocument/2006/relationships/oleObject" Target="../embeddings/oleObject68.bin"/><Relationship Id="rId5" Type="http://schemas.openxmlformats.org/officeDocument/2006/relationships/oleObject" Target="../embeddings/oleObject65.bin"/><Relationship Id="rId15" Type="http://schemas.openxmlformats.org/officeDocument/2006/relationships/oleObject" Target="../embeddings/oleObject70.bin"/><Relationship Id="rId10" Type="http://schemas.openxmlformats.org/officeDocument/2006/relationships/image" Target="../media/image56.emf"/><Relationship Id="rId4" Type="http://schemas.openxmlformats.org/officeDocument/2006/relationships/image" Target="../media/image61.jpeg"/><Relationship Id="rId9" Type="http://schemas.openxmlformats.org/officeDocument/2006/relationships/oleObject" Target="../embeddings/oleObject67.bin"/><Relationship Id="rId14" Type="http://schemas.openxmlformats.org/officeDocument/2006/relationships/image" Target="../media/image58.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www.telegraph.co.uk/news/newstopics/howaboutthat/11963318/Uber-delivers-cute-kittens-to-stressed-workers-on-National-Cat-Day.html" TargetMode="External"/><Relationship Id="rId2" Type="http://schemas.openxmlformats.org/officeDocument/2006/relationships/image" Target="../media/image64.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image" Target="../media/image73.png"/><Relationship Id="rId1" Type="http://schemas.openxmlformats.org/officeDocument/2006/relationships/slideLayout" Target="../slideLayouts/slideLayout7.xml"/><Relationship Id="rId4" Type="http://schemas.openxmlformats.org/officeDocument/2006/relationships/image" Target="../media/image75.jpg"/></Relationships>
</file>

<file path=ppt/slides/_rels/slide34.x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77.emf"/><Relationship Id="rId5" Type="http://schemas.openxmlformats.org/officeDocument/2006/relationships/oleObject" Target="../embeddings/oleObject72.bin"/><Relationship Id="rId10" Type="http://schemas.openxmlformats.org/officeDocument/2006/relationships/image" Target="../media/image79.emf"/><Relationship Id="rId4" Type="http://schemas.openxmlformats.org/officeDocument/2006/relationships/image" Target="../media/image76.emf"/><Relationship Id="rId9" Type="http://schemas.openxmlformats.org/officeDocument/2006/relationships/oleObject" Target="../embeddings/oleObject74.bin"/></Relationships>
</file>

<file path=ppt/slides/_rels/slide35.xml.rels><?xml version="1.0" encoding="UTF-8" standalone="yes"?>
<Relationships xmlns="http://schemas.openxmlformats.org/package/2006/relationships"><Relationship Id="rId8" Type="http://schemas.openxmlformats.org/officeDocument/2006/relationships/image" Target="../media/image82.e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81.emf"/><Relationship Id="rId5" Type="http://schemas.openxmlformats.org/officeDocument/2006/relationships/oleObject" Target="../embeddings/oleObject76.bin"/><Relationship Id="rId4" Type="http://schemas.openxmlformats.org/officeDocument/2006/relationships/image" Target="../media/image80.emf"/></Relationships>
</file>

<file path=ppt/slides/_rels/slide3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3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prstGeom prst="rect">
            <a:avLst/>
          </a:prstGeom>
        </p:spPr>
        <p:txBody>
          <a:bodyPr/>
          <a:lstStyle/>
          <a:p>
            <a:r>
              <a:rPr lang="en-US" dirty="0"/>
              <a:t>Inverse problems and imaging</a:t>
            </a:r>
            <a:endParaRPr dirty="0"/>
          </a:p>
        </p:txBody>
      </p:sp>
      <p:sp>
        <p:nvSpPr>
          <p:cNvPr id="74" name="Shape 74"/>
          <p:cNvSpPr>
            <a:spLocks noGrp="1"/>
          </p:cNvSpPr>
          <p:nvPr>
            <p:ph type="body" idx="1"/>
          </p:nvPr>
        </p:nvSpPr>
        <p:spPr>
          <a:prstGeom prst="rect">
            <a:avLst/>
          </a:prstGeom>
        </p:spPr>
        <p:txBody>
          <a:bodyPr anchor="t"/>
          <a:lstStyle/>
          <a:p>
            <a:r>
              <a:rPr lang="en-US" dirty="0"/>
              <a:t>Recap of last class</a:t>
            </a:r>
          </a:p>
          <a:p>
            <a:r>
              <a:rPr lang="en-US" dirty="0"/>
              <a:t>Inverse problems and DNA</a:t>
            </a:r>
          </a:p>
          <a:p>
            <a:r>
              <a:rPr lang="en-US" dirty="0"/>
              <a:t>Another inverse problem in medical imaging.  Light attenuation model and the Radon transform</a:t>
            </a:r>
          </a:p>
          <a:p>
            <a:r>
              <a:rPr lang="en-US" dirty="0"/>
              <a:t>Working with images in </a:t>
            </a:r>
            <a:r>
              <a:rPr lang="en-US" dirty="0" err="1"/>
              <a:t>Matlab</a:t>
            </a:r>
            <a:endParaRPr lang="en-US" dirty="0"/>
          </a:p>
        </p:txBody>
      </p:sp>
    </p:spTree>
    <p:extLst>
      <p:ext uri="{BB962C8B-B14F-4D97-AF65-F5344CB8AC3E}">
        <p14:creationId xmlns:p14="http://schemas.microsoft.com/office/powerpoint/2010/main" val="16697928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xfrm>
            <a:off x="260769" y="-116587"/>
            <a:ext cx="12567568" cy="2159000"/>
          </a:xfrm>
          <a:prstGeom prst="rect">
            <a:avLst/>
          </a:prstGeom>
        </p:spPr>
        <p:txBody>
          <a:bodyPr/>
          <a:lstStyle/>
          <a:p>
            <a:r>
              <a:rPr lang="en-US" dirty="0"/>
              <a:t>Photograph 51, FT, double helix</a:t>
            </a:r>
            <a:endParaRPr dirty="0"/>
          </a:p>
        </p:txBody>
      </p:sp>
      <p:pic>
        <p:nvPicPr>
          <p:cNvPr id="5" name="pasted-image.tif"/>
          <p:cNvPicPr>
            <a:picLocks noChangeAspect="1"/>
          </p:cNvPicPr>
          <p:nvPr/>
        </p:nvPicPr>
        <p:blipFill>
          <a:blip r:embed="rId2">
            <a:extLst/>
          </a:blip>
          <a:stretch>
            <a:fillRect/>
          </a:stretch>
        </p:blipFill>
        <p:spPr>
          <a:xfrm>
            <a:off x="5116052" y="1863509"/>
            <a:ext cx="7225426" cy="7339391"/>
          </a:xfrm>
          <a:prstGeom prst="rect">
            <a:avLst/>
          </a:prstGeom>
          <a:ln w="12700">
            <a:miter lim="400000"/>
          </a:ln>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r="53000"/>
          <a:stretch/>
        </p:blipFill>
        <p:spPr>
          <a:xfrm>
            <a:off x="865737" y="2042413"/>
            <a:ext cx="3086809" cy="6567713"/>
          </a:xfrm>
          <a:prstGeom prst="rect">
            <a:avLst/>
          </a:prstGeom>
        </p:spPr>
      </p:pic>
    </p:spTree>
    <p:extLst>
      <p:ext uri="{BB962C8B-B14F-4D97-AF65-F5344CB8AC3E}">
        <p14:creationId xmlns:p14="http://schemas.microsoft.com/office/powerpoint/2010/main" val="73144041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Shape 341"/>
          <p:cNvSpPr>
            <a:spLocks noGrp="1"/>
          </p:cNvSpPr>
          <p:nvPr>
            <p:ph type="title"/>
          </p:nvPr>
        </p:nvSpPr>
        <p:spPr>
          <a:xfrm>
            <a:off x="657725" y="3225800"/>
            <a:ext cx="11935327" cy="3302000"/>
          </a:xfrm>
          <a:prstGeom prst="rect">
            <a:avLst/>
          </a:prstGeom>
        </p:spPr>
        <p:txBody>
          <a:bodyPr/>
          <a:lstStyle/>
          <a:p>
            <a:r>
              <a:rPr lang="en-US" dirty="0"/>
              <a:t>Medical imaging</a:t>
            </a:r>
            <a:br>
              <a:rPr lang="en-US" dirty="0"/>
            </a:br>
            <a:r>
              <a:rPr lang="en-US" dirty="0"/>
              <a:t>“Reconstruction” problems</a:t>
            </a:r>
            <a:br>
              <a:rPr lang="en-US" dirty="0"/>
            </a:br>
            <a:endParaRPr dirty="0"/>
          </a:p>
        </p:txBody>
      </p:sp>
    </p:spTree>
    <p:extLst>
      <p:ext uri="{BB962C8B-B14F-4D97-AF65-F5344CB8AC3E}">
        <p14:creationId xmlns:p14="http://schemas.microsoft.com/office/powerpoint/2010/main" val="63309123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prstGeom prst="rect">
            <a:avLst/>
          </a:prstGeom>
        </p:spPr>
        <p:txBody>
          <a:bodyPr/>
          <a:lstStyle/>
          <a:p>
            <a:r>
              <a:rPr lang="en-US" dirty="0"/>
              <a:t>Medical imaging</a:t>
            </a:r>
            <a:endParaRPr dirty="0"/>
          </a:p>
        </p:txBody>
      </p:sp>
      <p:sp>
        <p:nvSpPr>
          <p:cNvPr id="74" name="Shape 74"/>
          <p:cNvSpPr>
            <a:spLocks noGrp="1"/>
          </p:cNvSpPr>
          <p:nvPr>
            <p:ph type="body" idx="1"/>
          </p:nvPr>
        </p:nvSpPr>
        <p:spPr>
          <a:xfrm>
            <a:off x="952500" y="2198451"/>
            <a:ext cx="11099800" cy="6691549"/>
          </a:xfrm>
          <a:prstGeom prst="rect">
            <a:avLst/>
          </a:prstGeom>
        </p:spPr>
        <p:txBody>
          <a:bodyPr anchor="t"/>
          <a:lstStyle/>
          <a:p>
            <a:r>
              <a:rPr lang="en-US"/>
              <a:t>Many </a:t>
            </a:r>
            <a:r>
              <a:rPr lang="en-US" dirty="0"/>
              <a:t>medical images result from solving an inverse problem</a:t>
            </a:r>
          </a:p>
        </p:txBody>
      </p:sp>
      <p:pic>
        <p:nvPicPr>
          <p:cNvPr id="5" name="Picture 4" descr="petct.gif"/>
          <p:cNvPicPr>
            <a:picLocks noChangeAspect="1"/>
          </p:cNvPicPr>
          <p:nvPr/>
        </p:nvPicPr>
        <p:blipFill rotWithShape="1">
          <a:blip r:embed="rId3">
            <a:extLst>
              <a:ext uri="{28A0092B-C50C-407E-A947-70E740481C1C}">
                <a14:useLocalDpi xmlns:a14="http://schemas.microsoft.com/office/drawing/2010/main" val="0"/>
              </a:ext>
            </a:extLst>
          </a:blip>
          <a:srcRect b="8325"/>
          <a:stretch/>
        </p:blipFill>
        <p:spPr>
          <a:xfrm>
            <a:off x="3146425" y="3633310"/>
            <a:ext cx="6711950" cy="5256690"/>
          </a:xfrm>
          <a:prstGeom prst="rect">
            <a:avLst/>
          </a:prstGeom>
        </p:spPr>
      </p:pic>
    </p:spTree>
    <p:extLst>
      <p:ext uri="{BB962C8B-B14F-4D97-AF65-F5344CB8AC3E}">
        <p14:creationId xmlns:p14="http://schemas.microsoft.com/office/powerpoint/2010/main" val="103347469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58410" y="486928"/>
            <a:ext cx="12354560" cy="1625600"/>
          </a:xfrm>
        </p:spPr>
        <p:txBody>
          <a:bodyPr>
            <a:noAutofit/>
          </a:bodyPr>
          <a:lstStyle/>
          <a:p>
            <a:r>
              <a:rPr lang="en-US" dirty="0"/>
              <a:t>Enter patient: 65 year old man</a:t>
            </a:r>
          </a:p>
        </p:txBody>
      </p:sp>
      <p:sp>
        <p:nvSpPr>
          <p:cNvPr id="4" name="TextBox 3"/>
          <p:cNvSpPr txBox="1"/>
          <p:nvPr/>
        </p:nvSpPr>
        <p:spPr>
          <a:xfrm>
            <a:off x="589603" y="2968562"/>
            <a:ext cx="10140918" cy="5230919"/>
          </a:xfrm>
          <a:prstGeom prst="rect">
            <a:avLst/>
          </a:prstGeom>
          <a:noFill/>
        </p:spPr>
        <p:txBody>
          <a:bodyPr wrap="none" rtlCol="0">
            <a:spAutoFit/>
          </a:bodyPr>
          <a:lstStyle/>
          <a:p>
            <a:pPr marL="406394" indent="-406394" algn="l">
              <a:buFont typeface="Arial"/>
              <a:buChar char="•"/>
            </a:pPr>
            <a:r>
              <a:rPr lang="en-US" sz="4000" dirty="0"/>
              <a:t>Persistent dry cough</a:t>
            </a:r>
          </a:p>
          <a:p>
            <a:pPr marL="406394" indent="-406394" algn="l">
              <a:buFont typeface="Arial"/>
              <a:buChar char="•"/>
            </a:pPr>
            <a:endParaRPr lang="en-US" sz="4000" dirty="0"/>
          </a:p>
          <a:p>
            <a:pPr marL="406394" indent="-406394" algn="l">
              <a:buFont typeface="Arial"/>
              <a:buChar char="•"/>
            </a:pPr>
            <a:r>
              <a:rPr lang="en-US" sz="4000" dirty="0"/>
              <a:t>Mild fatigue</a:t>
            </a:r>
          </a:p>
          <a:p>
            <a:pPr marL="406394" indent="-406394" algn="l">
              <a:buFont typeface="Arial"/>
              <a:buChar char="•"/>
            </a:pPr>
            <a:endParaRPr lang="en-US" sz="4000" dirty="0"/>
          </a:p>
          <a:p>
            <a:pPr marL="406394" indent="-406394" algn="l">
              <a:buFont typeface="Arial"/>
              <a:buChar char="•"/>
            </a:pPr>
            <a:r>
              <a:rPr lang="en-US" sz="4000" dirty="0"/>
              <a:t>Smoked a pack a day for a decade</a:t>
            </a:r>
          </a:p>
          <a:p>
            <a:pPr algn="l"/>
            <a:endParaRPr lang="en-US" sz="4000" dirty="0"/>
          </a:p>
          <a:p>
            <a:pPr marL="406394" indent="-406394" algn="l">
              <a:buFont typeface="Arial"/>
              <a:buChar char="•"/>
            </a:pPr>
            <a:r>
              <a:rPr lang="en-US" sz="4000" dirty="0"/>
              <a:t>Lost 10 – 15 pounds in last six months </a:t>
            </a:r>
          </a:p>
          <a:p>
            <a:pPr lvl="2"/>
            <a:endParaRPr lang="en-US" sz="4551" dirty="0"/>
          </a:p>
          <a:p>
            <a:pPr marL="406394" indent="-406394">
              <a:buFont typeface="Arial"/>
              <a:buChar char="•"/>
            </a:pPr>
            <a:endParaRPr lang="en-US" sz="4551" dirty="0"/>
          </a:p>
        </p:txBody>
      </p:sp>
    </p:spTree>
    <p:extLst>
      <p:ext uri="{BB962C8B-B14F-4D97-AF65-F5344CB8AC3E}">
        <p14:creationId xmlns:p14="http://schemas.microsoft.com/office/powerpoint/2010/main" val="1330288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120" dirty="0"/>
              <a:t>Patient’s chest x-ray</a:t>
            </a:r>
          </a:p>
        </p:txBody>
      </p:sp>
      <p:pic>
        <p:nvPicPr>
          <p:cNvPr id="4" name="Content Placeholder 3" descr="Right Upper Lobe Mass[8].gif"/>
          <p:cNvPicPr>
            <a:picLocks noGrp="1" noChangeAspect="1"/>
          </p:cNvPicPr>
          <p:nvPr>
            <p:ph idx="1"/>
          </p:nvPr>
        </p:nvPicPr>
        <p:blipFill rotWithShape="1">
          <a:blip r:embed="rId3">
            <a:extLst>
              <a:ext uri="{28A0092B-C50C-407E-A947-70E740481C1C}">
                <a14:useLocalDpi xmlns:a14="http://schemas.microsoft.com/office/drawing/2010/main" val="0"/>
              </a:ext>
            </a:extLst>
          </a:blip>
          <a:srcRect l="-516" r="562" b="16568"/>
          <a:stretch/>
        </p:blipFill>
        <p:spPr>
          <a:xfrm>
            <a:off x="1619711" y="2473889"/>
            <a:ext cx="9369131" cy="6277379"/>
          </a:xfrm>
        </p:spPr>
      </p:pic>
      <p:sp>
        <p:nvSpPr>
          <p:cNvPr id="5" name="Rectangle 4"/>
          <p:cNvSpPr/>
          <p:nvPr/>
        </p:nvSpPr>
        <p:spPr>
          <a:xfrm>
            <a:off x="155074" y="8621657"/>
            <a:ext cx="6502400" cy="1006429"/>
          </a:xfrm>
          <a:prstGeom prst="rect">
            <a:avLst/>
          </a:prstGeom>
        </p:spPr>
        <p:txBody>
          <a:bodyPr>
            <a:spAutoFit/>
          </a:bodyPr>
          <a:lstStyle/>
          <a:p>
            <a:endParaRPr lang="en-US" dirty="0"/>
          </a:p>
          <a:p>
            <a:endParaRPr lang="en-US" dirty="0"/>
          </a:p>
          <a:p>
            <a:pPr algn="l"/>
            <a:r>
              <a:rPr lang="en-US" sz="1400" dirty="0">
                <a:solidFill>
                  <a:srgbClr val="0070C0"/>
                </a:solidFill>
              </a:rPr>
              <a:t>Photo credit: Dr. Joseph Levine</a:t>
            </a:r>
          </a:p>
        </p:txBody>
      </p:sp>
    </p:spTree>
    <p:extLst>
      <p:ext uri="{BB962C8B-B14F-4D97-AF65-F5344CB8AC3E}">
        <p14:creationId xmlns:p14="http://schemas.microsoft.com/office/powerpoint/2010/main" val="698973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4"/>
          <p:cNvGrpSpPr>
            <a:grpSpLocks noChangeAspect="1"/>
          </p:cNvGrpSpPr>
          <p:nvPr/>
        </p:nvGrpSpPr>
        <p:grpSpPr bwMode="auto">
          <a:xfrm>
            <a:off x="133683" y="5390147"/>
            <a:ext cx="7248005" cy="5556804"/>
            <a:chOff x="192" y="1584"/>
            <a:chExt cx="2880" cy="2208"/>
          </a:xfrm>
        </p:grpSpPr>
        <p:pic>
          <p:nvPicPr>
            <p:cNvPr id="13" name="Picture 12" descr="xray_schematic"/>
            <p:cNvPicPr>
              <a:picLocks noChangeAspect="1" noChangeArrowheads="1"/>
            </p:cNvPicPr>
            <p:nvPr/>
          </p:nvPicPr>
          <p:blipFill rotWithShape="1">
            <a:blip r:embed="rId2">
              <a:extLst>
                <a:ext uri="{28A0092B-C50C-407E-A947-70E740481C1C}">
                  <a14:useLocalDpi xmlns:a14="http://schemas.microsoft.com/office/drawing/2010/main" val="0"/>
                </a:ext>
              </a:extLst>
            </a:blip>
            <a:srcRect b="50767"/>
            <a:stretch/>
          </p:blipFill>
          <p:spPr bwMode="auto">
            <a:xfrm>
              <a:off x="336" y="1584"/>
              <a:ext cx="2534" cy="9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4" name="Rectangle 13"/>
            <p:cNvSpPr>
              <a:spLocks noChangeArrowheads="1"/>
            </p:cNvSpPr>
            <p:nvPr/>
          </p:nvSpPr>
          <p:spPr bwMode="auto">
            <a:xfrm>
              <a:off x="192" y="2544"/>
              <a:ext cx="2880" cy="124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73" name="Shape 73"/>
          <p:cNvSpPr>
            <a:spLocks noGrp="1"/>
          </p:cNvSpPr>
          <p:nvPr>
            <p:ph type="title"/>
          </p:nvPr>
        </p:nvSpPr>
        <p:spPr>
          <a:prstGeom prst="rect">
            <a:avLst/>
          </a:prstGeom>
        </p:spPr>
        <p:txBody>
          <a:bodyPr/>
          <a:lstStyle/>
          <a:p>
            <a:r>
              <a:rPr lang="en-US" dirty="0"/>
              <a:t>Conventional x-rays </a:t>
            </a:r>
            <a:endParaRPr dirty="0"/>
          </a:p>
        </p:txBody>
      </p:sp>
      <p:sp>
        <p:nvSpPr>
          <p:cNvPr id="10" name="Text Box 20"/>
          <p:cNvSpPr txBox="1">
            <a:spLocks noChangeArrowheads="1"/>
          </p:cNvSpPr>
          <p:nvPr/>
        </p:nvSpPr>
        <p:spPr bwMode="auto">
          <a:xfrm>
            <a:off x="773899" y="3302205"/>
            <a:ext cx="6235611" cy="12557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l"/>
            <a:r>
              <a:rPr lang="en-US" sz="2800" b="1" dirty="0">
                <a:solidFill>
                  <a:srgbClr val="009900"/>
                </a:solidFill>
              </a:rPr>
              <a:t>Roentgen (1895):</a:t>
            </a:r>
            <a:r>
              <a:rPr lang="en-US" sz="2800" b="1" dirty="0"/>
              <a:t> </a:t>
            </a:r>
          </a:p>
          <a:p>
            <a:pPr algn="l"/>
            <a:r>
              <a:rPr lang="en-US" sz="2800" dirty="0"/>
              <a:t>   experiments with electron beams</a:t>
            </a:r>
          </a:p>
          <a:p>
            <a:pPr algn="l"/>
            <a:r>
              <a:rPr lang="en-US" sz="2800" dirty="0"/>
              <a:t>   1901: first physics Nobel</a:t>
            </a:r>
          </a:p>
        </p:txBody>
      </p:sp>
      <p:pic>
        <p:nvPicPr>
          <p:cNvPr id="11" name="Picture 10" descr="Roentge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2950" y="2156941"/>
            <a:ext cx="5131178" cy="7210086"/>
          </a:xfrm>
          <a:prstGeom prst="rect">
            <a:avLst/>
          </a:prstGeom>
        </p:spPr>
      </p:pic>
    </p:spTree>
    <p:extLst>
      <p:ext uri="{BB962C8B-B14F-4D97-AF65-F5344CB8AC3E}">
        <p14:creationId xmlns:p14="http://schemas.microsoft.com/office/powerpoint/2010/main" val="96653056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prstGeom prst="rect">
            <a:avLst/>
          </a:prstGeom>
        </p:spPr>
        <p:txBody>
          <a:bodyPr/>
          <a:lstStyle/>
          <a:p>
            <a:r>
              <a:rPr lang="en-US" dirty="0"/>
              <a:t>First radiographs</a:t>
            </a:r>
            <a:endParaRPr dirty="0"/>
          </a:p>
        </p:txBody>
      </p:sp>
      <p:pic>
        <p:nvPicPr>
          <p:cNvPr id="10" name="Picture 9" descr="handmitringe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3497" y="2697519"/>
            <a:ext cx="4831978" cy="5688712"/>
          </a:xfrm>
          <a:prstGeom prst="rect">
            <a:avLst/>
          </a:prstGeom>
        </p:spPr>
      </p:pic>
      <p:pic>
        <p:nvPicPr>
          <p:cNvPr id="11" name="Picture 10" descr="hand_mit_ringe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8589" y="2697518"/>
            <a:ext cx="4028581" cy="5688711"/>
          </a:xfrm>
          <a:prstGeom prst="rect">
            <a:avLst/>
          </a:prstGeom>
          <a:ln>
            <a:solidFill>
              <a:schemeClr val="tx1"/>
            </a:solidFill>
          </a:ln>
        </p:spPr>
      </p:pic>
      <p:sp>
        <p:nvSpPr>
          <p:cNvPr id="12" name="TextBox 11"/>
          <p:cNvSpPr txBox="1"/>
          <p:nvPr/>
        </p:nvSpPr>
        <p:spPr>
          <a:xfrm>
            <a:off x="1748589" y="8386228"/>
            <a:ext cx="4028581" cy="812530"/>
          </a:xfrm>
          <a:prstGeom prst="rect">
            <a:avLst/>
          </a:prstGeom>
          <a:noFill/>
        </p:spPr>
        <p:txBody>
          <a:bodyPr wrap="square" rtlCol="0">
            <a:spAutoFit/>
          </a:bodyPr>
          <a:lstStyle/>
          <a:p>
            <a:r>
              <a:rPr lang="en-US" dirty="0"/>
              <a:t>Roentgen’s wife’s hand (1895) </a:t>
            </a:r>
          </a:p>
        </p:txBody>
      </p:sp>
      <p:sp>
        <p:nvSpPr>
          <p:cNvPr id="13" name="TextBox 12"/>
          <p:cNvSpPr txBox="1"/>
          <p:nvPr/>
        </p:nvSpPr>
        <p:spPr>
          <a:xfrm>
            <a:off x="7300434" y="8386228"/>
            <a:ext cx="3538104" cy="812528"/>
          </a:xfrm>
          <a:prstGeom prst="rect">
            <a:avLst/>
          </a:prstGeom>
          <a:noFill/>
        </p:spPr>
        <p:txBody>
          <a:bodyPr wrap="square" rtlCol="0">
            <a:spAutoFit/>
          </a:bodyPr>
          <a:lstStyle/>
          <a:p>
            <a:r>
              <a:rPr lang="en-US" dirty="0"/>
              <a:t>Colleague’s hand (1896) </a:t>
            </a:r>
          </a:p>
        </p:txBody>
      </p:sp>
      <p:sp>
        <p:nvSpPr>
          <p:cNvPr id="2" name="Rectangle 1"/>
          <p:cNvSpPr/>
          <p:nvPr/>
        </p:nvSpPr>
        <p:spPr>
          <a:xfrm>
            <a:off x="1139995" y="9384268"/>
            <a:ext cx="10058400" cy="507831"/>
          </a:xfrm>
          <a:prstGeom prst="rect">
            <a:avLst/>
          </a:prstGeom>
        </p:spPr>
        <p:txBody>
          <a:bodyPr wrap="square">
            <a:spAutoFit/>
          </a:bodyPr>
          <a:lstStyle/>
          <a:p>
            <a:r>
              <a:rPr lang="en-US" sz="1500" dirty="0">
                <a:hlinkClick r:id="rId4"/>
              </a:rPr>
              <a:t>https://en.wikipedia.org/wiki/Wilhelm_Röntgen</a:t>
            </a:r>
            <a:endParaRPr lang="en-US" sz="1500" dirty="0"/>
          </a:p>
          <a:p>
            <a:endParaRPr lang="en-US" sz="1500" dirty="0"/>
          </a:p>
        </p:txBody>
      </p:sp>
    </p:spTree>
    <p:extLst>
      <p:ext uri="{BB962C8B-B14F-4D97-AF65-F5344CB8AC3E}">
        <p14:creationId xmlns:p14="http://schemas.microsoft.com/office/powerpoint/2010/main" val="111984966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prstGeom prst="rect">
            <a:avLst/>
          </a:prstGeom>
        </p:spPr>
        <p:txBody>
          <a:bodyPr/>
          <a:lstStyle/>
          <a:p>
            <a:r>
              <a:rPr lang="en-US" dirty="0"/>
              <a:t>Electromagnetic spectrum</a:t>
            </a:r>
            <a:endParaRPr dirty="0"/>
          </a:p>
        </p:txBody>
      </p:sp>
      <p:pic>
        <p:nvPicPr>
          <p:cNvPr id="7" name="Picture 6" descr="em_spectrum.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232" y="2907201"/>
            <a:ext cx="5986664" cy="3762217"/>
          </a:xfrm>
          <a:prstGeom prst="rect">
            <a:avLst/>
          </a:prstGeom>
        </p:spPr>
      </p:pic>
      <p:pic>
        <p:nvPicPr>
          <p:cNvPr id="8" name="Picture 7" descr="Screen shot 2011-03-07 at 9.05.15 AM.png"/>
          <p:cNvPicPr>
            <a:picLocks noChangeAspect="1"/>
          </p:cNvPicPr>
          <p:nvPr/>
        </p:nvPicPr>
        <p:blipFill rotWithShape="1">
          <a:blip r:embed="rId4">
            <a:extLst>
              <a:ext uri="{28A0092B-C50C-407E-A947-70E740481C1C}">
                <a14:useLocalDpi xmlns:a14="http://schemas.microsoft.com/office/drawing/2010/main" val="0"/>
              </a:ext>
            </a:extLst>
          </a:blip>
          <a:srcRect l="38122" t="33982" r="35877" b="15410"/>
          <a:stretch/>
        </p:blipFill>
        <p:spPr>
          <a:xfrm>
            <a:off x="6802802" y="3035538"/>
            <a:ext cx="5522296" cy="6718062"/>
          </a:xfrm>
          <a:prstGeom prst="rect">
            <a:avLst/>
          </a:prstGeom>
        </p:spPr>
      </p:pic>
      <p:sp>
        <p:nvSpPr>
          <p:cNvPr id="9" name="TextBox 8"/>
          <p:cNvSpPr txBox="1"/>
          <p:nvPr/>
        </p:nvSpPr>
        <p:spPr>
          <a:xfrm>
            <a:off x="6966307" y="2554794"/>
            <a:ext cx="1446230" cy="452432"/>
          </a:xfrm>
          <a:prstGeom prst="rect">
            <a:avLst/>
          </a:prstGeom>
          <a:noFill/>
        </p:spPr>
        <p:txBody>
          <a:bodyPr wrap="none" rtlCol="0">
            <a:spAutoFit/>
          </a:bodyPr>
          <a:lstStyle/>
          <a:p>
            <a:r>
              <a:rPr lang="en-US"/>
              <a:t>Material</a:t>
            </a:r>
            <a:endParaRPr lang="en-US" dirty="0"/>
          </a:p>
        </p:txBody>
      </p:sp>
      <p:sp>
        <p:nvSpPr>
          <p:cNvPr id="14" name="TextBox 13"/>
          <p:cNvSpPr txBox="1"/>
          <p:nvPr/>
        </p:nvSpPr>
        <p:spPr>
          <a:xfrm>
            <a:off x="11637126" y="2537869"/>
            <a:ext cx="812805" cy="369332"/>
          </a:xfrm>
          <a:prstGeom prst="rect">
            <a:avLst/>
          </a:prstGeom>
          <a:noFill/>
        </p:spPr>
        <p:txBody>
          <a:bodyPr wrap="none" rtlCol="0">
            <a:spAutoFit/>
          </a:bodyPr>
          <a:lstStyle/>
          <a:p>
            <a:r>
              <a:rPr lang="en-US" dirty="0"/>
              <a:t>(1/cm)</a:t>
            </a:r>
          </a:p>
        </p:txBody>
      </p:sp>
      <p:graphicFrame>
        <p:nvGraphicFramePr>
          <p:cNvPr id="15" name="Object 14"/>
          <p:cNvGraphicFramePr>
            <a:graphicFrameLocks noChangeAspect="1"/>
          </p:cNvGraphicFramePr>
          <p:nvPr>
            <p:extLst>
              <p:ext uri="{D42A27DB-BD31-4B8C-83A1-F6EECF244321}">
                <p14:modId xmlns:p14="http://schemas.microsoft.com/office/powerpoint/2010/main" val="150636408"/>
              </p:ext>
            </p:extLst>
          </p:nvPr>
        </p:nvGraphicFramePr>
        <p:xfrm>
          <a:off x="11203146" y="2606873"/>
          <a:ext cx="349250" cy="412750"/>
        </p:xfrm>
        <a:graphic>
          <a:graphicData uri="http://schemas.openxmlformats.org/presentationml/2006/ole">
            <mc:AlternateContent xmlns:mc="http://schemas.openxmlformats.org/markup-compatibility/2006">
              <mc:Choice xmlns:v="urn:schemas-microsoft-com:vml" Requires="v">
                <p:oleObj spid="_x0000_s1062" name="Equation" r:id="rId5" imgW="139700" imgH="165100" progId="Equation.3">
                  <p:embed/>
                </p:oleObj>
              </mc:Choice>
              <mc:Fallback>
                <p:oleObj name="Equation" r:id="rId5" imgW="139700" imgH="165100" progId="Equation.3">
                  <p:embed/>
                  <p:pic>
                    <p:nvPicPr>
                      <p:cNvPr id="0" name=""/>
                      <p:cNvPicPr/>
                      <p:nvPr/>
                    </p:nvPicPr>
                    <p:blipFill>
                      <a:blip r:embed="rId6"/>
                      <a:stretch>
                        <a:fillRect/>
                      </a:stretch>
                    </p:blipFill>
                    <p:spPr>
                      <a:xfrm>
                        <a:off x="11203146" y="2606873"/>
                        <a:ext cx="349250" cy="412750"/>
                      </a:xfrm>
                      <a:prstGeom prst="rect">
                        <a:avLst/>
                      </a:prstGeom>
                    </p:spPr>
                  </p:pic>
                </p:oleObj>
              </mc:Fallback>
            </mc:AlternateContent>
          </a:graphicData>
        </a:graphic>
      </p:graphicFrame>
      <p:sp>
        <p:nvSpPr>
          <p:cNvPr id="10" name="TextBox 9"/>
          <p:cNvSpPr txBox="1"/>
          <p:nvPr/>
        </p:nvSpPr>
        <p:spPr>
          <a:xfrm>
            <a:off x="9239370" y="2551276"/>
            <a:ext cx="2036135" cy="452432"/>
          </a:xfrm>
          <a:prstGeom prst="rect">
            <a:avLst/>
          </a:prstGeom>
          <a:noFill/>
        </p:spPr>
        <p:txBody>
          <a:bodyPr wrap="none" rtlCol="0">
            <a:spAutoFit/>
          </a:bodyPr>
          <a:lstStyle/>
          <a:p>
            <a:r>
              <a:rPr lang="en-US" dirty="0"/>
              <a:t>Attenuation</a:t>
            </a:r>
          </a:p>
        </p:txBody>
      </p:sp>
    </p:spTree>
    <p:extLst>
      <p:ext uri="{BB962C8B-B14F-4D97-AF65-F5344CB8AC3E}">
        <p14:creationId xmlns:p14="http://schemas.microsoft.com/office/powerpoint/2010/main" val="97543096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xfrm>
            <a:off x="437232" y="444500"/>
            <a:ext cx="12396452" cy="2159000"/>
          </a:xfrm>
          <a:prstGeom prst="rect">
            <a:avLst/>
          </a:prstGeom>
        </p:spPr>
        <p:txBody>
          <a:bodyPr/>
          <a:lstStyle/>
          <a:p>
            <a:r>
              <a:rPr lang="en-US"/>
              <a:t>Activity: model </a:t>
            </a:r>
            <a:r>
              <a:rPr lang="en-US" dirty="0"/>
              <a:t>for attenuation?</a:t>
            </a:r>
            <a:endParaRPr dirty="0"/>
          </a:p>
        </p:txBody>
      </p:sp>
      <p:grpSp>
        <p:nvGrpSpPr>
          <p:cNvPr id="16" name="Group 15"/>
          <p:cNvGrpSpPr>
            <a:grpSpLocks noChangeAspect="1"/>
          </p:cNvGrpSpPr>
          <p:nvPr/>
        </p:nvGrpSpPr>
        <p:grpSpPr>
          <a:xfrm>
            <a:off x="2105077" y="3908339"/>
            <a:ext cx="9144361" cy="1850777"/>
            <a:chOff x="3292192" y="3362908"/>
            <a:chExt cx="5339819" cy="1080755"/>
          </a:xfrm>
        </p:grpSpPr>
        <p:grpSp>
          <p:nvGrpSpPr>
            <p:cNvPr id="17" name="Group 16"/>
            <p:cNvGrpSpPr/>
            <p:nvPr/>
          </p:nvGrpSpPr>
          <p:grpSpPr>
            <a:xfrm>
              <a:off x="3292192" y="3362908"/>
              <a:ext cx="5339819" cy="927100"/>
              <a:chOff x="2169585" y="2348973"/>
              <a:chExt cx="5339819" cy="927100"/>
            </a:xfrm>
          </p:grpSpPr>
          <p:sp>
            <p:nvSpPr>
              <p:cNvPr id="19" name="Rectangle 18"/>
              <p:cNvSpPr/>
              <p:nvPr/>
            </p:nvSpPr>
            <p:spPr>
              <a:xfrm>
                <a:off x="3853921" y="2348973"/>
                <a:ext cx="694268" cy="647700"/>
              </a:xfrm>
              <a:prstGeom prst="rect">
                <a:avLst/>
              </a:prstGeom>
              <a:solidFill>
                <a:srgbClr val="0000FF">
                  <a:alpha val="67000"/>
                </a:srgbClr>
              </a:solid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20" name="Object 19"/>
              <p:cNvGraphicFramePr>
                <a:graphicFrameLocks noChangeAspect="1"/>
              </p:cNvGraphicFramePr>
              <p:nvPr>
                <p:extLst>
                  <p:ext uri="{D42A27DB-BD31-4B8C-83A1-F6EECF244321}">
                    <p14:modId xmlns:p14="http://schemas.microsoft.com/office/powerpoint/2010/main" val="1833792628"/>
                  </p:ext>
                </p:extLst>
              </p:nvPr>
            </p:nvGraphicFramePr>
            <p:xfrm>
              <a:off x="3966104" y="2475973"/>
              <a:ext cx="419100" cy="495300"/>
            </p:xfrm>
            <a:graphic>
              <a:graphicData uri="http://schemas.openxmlformats.org/presentationml/2006/ole">
                <mc:AlternateContent xmlns:mc="http://schemas.openxmlformats.org/markup-compatibility/2006">
                  <mc:Choice xmlns:v="urn:schemas-microsoft-com:vml" Requires="v">
                    <p:oleObj spid="_x0000_s20546" name="Equation" r:id="rId3" imgW="139700" imgH="165100" progId="Equation.3">
                      <p:embed/>
                    </p:oleObj>
                  </mc:Choice>
                  <mc:Fallback>
                    <p:oleObj name="Equation" r:id="rId3" imgW="139700" imgH="165100" progId="Equation.3">
                      <p:embed/>
                      <p:pic>
                        <p:nvPicPr>
                          <p:cNvPr id="0" name=""/>
                          <p:cNvPicPr/>
                          <p:nvPr/>
                        </p:nvPicPr>
                        <p:blipFill>
                          <a:blip r:embed="rId4"/>
                          <a:stretch>
                            <a:fillRect/>
                          </a:stretch>
                        </p:blipFill>
                        <p:spPr>
                          <a:xfrm>
                            <a:off x="3966104" y="2475973"/>
                            <a:ext cx="419100" cy="495300"/>
                          </a:xfrm>
                          <a:prstGeom prst="rect">
                            <a:avLst/>
                          </a:prstGeom>
                        </p:spPr>
                      </p:pic>
                    </p:oleObj>
                  </mc:Fallback>
                </mc:AlternateContent>
              </a:graphicData>
            </a:graphic>
          </p:graphicFrame>
          <p:graphicFrame>
            <p:nvGraphicFramePr>
              <p:cNvPr id="21" name="Object 20"/>
              <p:cNvGraphicFramePr>
                <a:graphicFrameLocks noChangeAspect="1"/>
              </p:cNvGraphicFramePr>
              <p:nvPr>
                <p:extLst>
                  <p:ext uri="{D42A27DB-BD31-4B8C-83A1-F6EECF244321}">
                    <p14:modId xmlns:p14="http://schemas.microsoft.com/office/powerpoint/2010/main" val="2014880699"/>
                  </p:ext>
                </p:extLst>
              </p:nvPr>
            </p:nvGraphicFramePr>
            <p:xfrm>
              <a:off x="2169585" y="2348973"/>
              <a:ext cx="457200" cy="647700"/>
            </p:xfrm>
            <a:graphic>
              <a:graphicData uri="http://schemas.openxmlformats.org/presentationml/2006/ole">
                <mc:AlternateContent xmlns:mc="http://schemas.openxmlformats.org/markup-compatibility/2006">
                  <mc:Choice xmlns:v="urn:schemas-microsoft-com:vml" Requires="v">
                    <p:oleObj spid="_x0000_s20547" name="Equation" r:id="rId5" imgW="152400" imgH="215900" progId="Equation.3">
                      <p:embed/>
                    </p:oleObj>
                  </mc:Choice>
                  <mc:Fallback>
                    <p:oleObj name="Equation" r:id="rId5" imgW="152400" imgH="215900" progId="Equation.3">
                      <p:embed/>
                      <p:pic>
                        <p:nvPicPr>
                          <p:cNvPr id="0" name=""/>
                          <p:cNvPicPr/>
                          <p:nvPr/>
                        </p:nvPicPr>
                        <p:blipFill>
                          <a:blip r:embed="rId6"/>
                          <a:stretch>
                            <a:fillRect/>
                          </a:stretch>
                        </p:blipFill>
                        <p:spPr>
                          <a:xfrm>
                            <a:off x="2169585" y="2348973"/>
                            <a:ext cx="457200" cy="647700"/>
                          </a:xfrm>
                          <a:prstGeom prst="rect">
                            <a:avLst/>
                          </a:prstGeom>
                        </p:spPr>
                      </p:pic>
                    </p:oleObj>
                  </mc:Fallback>
                </mc:AlternateContent>
              </a:graphicData>
            </a:graphic>
          </p:graphicFrame>
          <p:graphicFrame>
            <p:nvGraphicFramePr>
              <p:cNvPr id="22" name="Object 21"/>
              <p:cNvGraphicFramePr>
                <a:graphicFrameLocks noChangeAspect="1"/>
              </p:cNvGraphicFramePr>
              <p:nvPr>
                <p:extLst>
                  <p:ext uri="{D42A27DB-BD31-4B8C-83A1-F6EECF244321}">
                    <p14:modId xmlns:p14="http://schemas.microsoft.com/office/powerpoint/2010/main" val="430278550"/>
                  </p:ext>
                </p:extLst>
              </p:nvPr>
            </p:nvGraphicFramePr>
            <p:xfrm>
              <a:off x="5741988" y="2435756"/>
              <a:ext cx="342900" cy="457200"/>
            </p:xfrm>
            <a:graphic>
              <a:graphicData uri="http://schemas.openxmlformats.org/presentationml/2006/ole">
                <mc:AlternateContent xmlns:mc="http://schemas.openxmlformats.org/markup-compatibility/2006">
                  <mc:Choice xmlns:v="urn:schemas-microsoft-com:vml" Requires="v">
                    <p:oleObj spid="_x0000_s20548" name="Equation" r:id="rId7" imgW="114300" imgH="152400" progId="Equation.3">
                      <p:embed/>
                    </p:oleObj>
                  </mc:Choice>
                  <mc:Fallback>
                    <p:oleObj name="Equation" r:id="rId7" imgW="114300" imgH="152400" progId="Equation.3">
                      <p:embed/>
                      <p:pic>
                        <p:nvPicPr>
                          <p:cNvPr id="0" name=""/>
                          <p:cNvPicPr/>
                          <p:nvPr/>
                        </p:nvPicPr>
                        <p:blipFill>
                          <a:blip r:embed="rId8"/>
                          <a:stretch>
                            <a:fillRect/>
                          </a:stretch>
                        </p:blipFill>
                        <p:spPr>
                          <a:xfrm>
                            <a:off x="5741988" y="2435756"/>
                            <a:ext cx="342900" cy="457200"/>
                          </a:xfrm>
                          <a:prstGeom prst="rect">
                            <a:avLst/>
                          </a:prstGeom>
                        </p:spPr>
                      </p:pic>
                    </p:oleObj>
                  </mc:Fallback>
                </mc:AlternateContent>
              </a:graphicData>
            </a:graphic>
          </p:graphicFrame>
          <p:cxnSp>
            <p:nvCxnSpPr>
              <p:cNvPr id="23" name="Straight Arrow Connector 22"/>
              <p:cNvCxnSpPr/>
              <p:nvPr/>
            </p:nvCxnSpPr>
            <p:spPr>
              <a:xfrm>
                <a:off x="2804055" y="2664356"/>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4751389" y="2687639"/>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a:off x="3853921" y="2996673"/>
                <a:ext cx="3285067"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26" name="Object 25"/>
              <p:cNvGraphicFramePr>
                <a:graphicFrameLocks noChangeAspect="1"/>
              </p:cNvGraphicFramePr>
              <p:nvPr>
                <p:extLst>
                  <p:ext uri="{D42A27DB-BD31-4B8C-83A1-F6EECF244321}">
                    <p14:modId xmlns:p14="http://schemas.microsoft.com/office/powerpoint/2010/main" val="1114150401"/>
                  </p:ext>
                </p:extLst>
              </p:nvPr>
            </p:nvGraphicFramePr>
            <p:xfrm>
              <a:off x="7255404" y="2996673"/>
              <a:ext cx="254000" cy="279400"/>
            </p:xfrm>
            <a:graphic>
              <a:graphicData uri="http://schemas.openxmlformats.org/presentationml/2006/ole">
                <mc:AlternateContent xmlns:mc="http://schemas.openxmlformats.org/markup-compatibility/2006">
                  <mc:Choice xmlns:v="urn:schemas-microsoft-com:vml" Requires="v">
                    <p:oleObj spid="_x0000_s20549" name="Equation" r:id="rId9" imgW="127000" imgH="139700" progId="Equation.3">
                      <p:embed/>
                    </p:oleObj>
                  </mc:Choice>
                  <mc:Fallback>
                    <p:oleObj name="Equation" r:id="rId9" imgW="127000" imgH="139700" progId="Equation.3">
                      <p:embed/>
                      <p:pic>
                        <p:nvPicPr>
                          <p:cNvPr id="0" name=""/>
                          <p:cNvPicPr/>
                          <p:nvPr/>
                        </p:nvPicPr>
                        <p:blipFill>
                          <a:blip r:embed="rId10"/>
                          <a:stretch>
                            <a:fillRect/>
                          </a:stretch>
                        </p:blipFill>
                        <p:spPr>
                          <a:xfrm>
                            <a:off x="7255404" y="2996673"/>
                            <a:ext cx="254000" cy="279400"/>
                          </a:xfrm>
                          <a:prstGeom prst="rect">
                            <a:avLst/>
                          </a:prstGeom>
                        </p:spPr>
                      </p:pic>
                    </p:oleObj>
                  </mc:Fallback>
                </mc:AlternateContent>
              </a:graphicData>
            </a:graphic>
          </p:graphicFrame>
        </p:grpSp>
        <p:pic>
          <p:nvPicPr>
            <p:cNvPr id="18" name="Picture 1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49302" y="4147883"/>
              <a:ext cx="525831" cy="295780"/>
            </a:xfrm>
            <a:prstGeom prst="rect">
              <a:avLst/>
            </a:prstGeom>
          </p:spPr>
        </p:pic>
      </p:grpSp>
    </p:spTree>
    <p:extLst>
      <p:ext uri="{BB962C8B-B14F-4D97-AF65-F5344CB8AC3E}">
        <p14:creationId xmlns:p14="http://schemas.microsoft.com/office/powerpoint/2010/main" val="16281417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title"/>
          </p:nvPr>
        </p:nvSpPr>
        <p:spPr>
          <a:prstGeom prst="rect">
            <a:avLst/>
          </a:prstGeom>
        </p:spPr>
        <p:txBody>
          <a:bodyPr/>
          <a:lstStyle/>
          <a:p>
            <a:r>
              <a:rPr lang="en-US" dirty="0"/>
              <a:t>Attenuation: uniform material</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0741" y="7104392"/>
            <a:ext cx="1790700" cy="469900"/>
          </a:xfrm>
          <a:prstGeom prst="rect">
            <a:avLst/>
          </a:prstGeom>
        </p:spPr>
      </p:pic>
      <p:grpSp>
        <p:nvGrpSpPr>
          <p:cNvPr id="16" name="Group 15"/>
          <p:cNvGrpSpPr>
            <a:grpSpLocks noChangeAspect="1"/>
          </p:cNvGrpSpPr>
          <p:nvPr/>
        </p:nvGrpSpPr>
        <p:grpSpPr>
          <a:xfrm>
            <a:off x="2859056" y="3314781"/>
            <a:ext cx="6729771" cy="1362075"/>
            <a:chOff x="3292192" y="3362908"/>
            <a:chExt cx="5339819" cy="1080755"/>
          </a:xfrm>
        </p:grpSpPr>
        <p:grpSp>
          <p:nvGrpSpPr>
            <p:cNvPr id="4" name="Group 3"/>
            <p:cNvGrpSpPr/>
            <p:nvPr/>
          </p:nvGrpSpPr>
          <p:grpSpPr>
            <a:xfrm>
              <a:off x="3292192" y="3362908"/>
              <a:ext cx="5339819" cy="927100"/>
              <a:chOff x="2169585" y="2348973"/>
              <a:chExt cx="5339819" cy="927100"/>
            </a:xfrm>
          </p:grpSpPr>
          <p:sp>
            <p:nvSpPr>
              <p:cNvPr id="5" name="Rectangle 4"/>
              <p:cNvSpPr/>
              <p:nvPr/>
            </p:nvSpPr>
            <p:spPr>
              <a:xfrm>
                <a:off x="3853921" y="2348973"/>
                <a:ext cx="694268" cy="647700"/>
              </a:xfrm>
              <a:prstGeom prst="rect">
                <a:avLst/>
              </a:prstGeom>
              <a:solidFill>
                <a:srgbClr val="0000FF">
                  <a:alpha val="67000"/>
                </a:srgbClr>
              </a:solid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47712809"/>
                  </p:ext>
                </p:extLst>
              </p:nvPr>
            </p:nvGraphicFramePr>
            <p:xfrm>
              <a:off x="3966104" y="2475973"/>
              <a:ext cx="419100" cy="495300"/>
            </p:xfrm>
            <a:graphic>
              <a:graphicData uri="http://schemas.openxmlformats.org/presentationml/2006/ole">
                <mc:AlternateContent xmlns:mc="http://schemas.openxmlformats.org/markup-compatibility/2006">
                  <mc:Choice xmlns:v="urn:schemas-microsoft-com:vml" Requires="v">
                    <p:oleObj spid="_x0000_s3242" name="Equation" r:id="rId4" imgW="139700" imgH="165100" progId="Equation.3">
                      <p:embed/>
                    </p:oleObj>
                  </mc:Choice>
                  <mc:Fallback>
                    <p:oleObj name="Equation" r:id="rId4" imgW="139700" imgH="165100" progId="Equation.3">
                      <p:embed/>
                      <p:pic>
                        <p:nvPicPr>
                          <p:cNvPr id="0" name=""/>
                          <p:cNvPicPr/>
                          <p:nvPr/>
                        </p:nvPicPr>
                        <p:blipFill>
                          <a:blip r:embed="rId5"/>
                          <a:stretch>
                            <a:fillRect/>
                          </a:stretch>
                        </p:blipFill>
                        <p:spPr>
                          <a:xfrm>
                            <a:off x="3966104" y="2475973"/>
                            <a:ext cx="419100" cy="49530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485872977"/>
                  </p:ext>
                </p:extLst>
              </p:nvPr>
            </p:nvGraphicFramePr>
            <p:xfrm>
              <a:off x="2169585" y="2348973"/>
              <a:ext cx="457200" cy="647700"/>
            </p:xfrm>
            <a:graphic>
              <a:graphicData uri="http://schemas.openxmlformats.org/presentationml/2006/ole">
                <mc:AlternateContent xmlns:mc="http://schemas.openxmlformats.org/markup-compatibility/2006">
                  <mc:Choice xmlns:v="urn:schemas-microsoft-com:vml" Requires="v">
                    <p:oleObj spid="_x0000_s3243" name="Equation" r:id="rId6" imgW="152400" imgH="215900" progId="Equation.3">
                      <p:embed/>
                    </p:oleObj>
                  </mc:Choice>
                  <mc:Fallback>
                    <p:oleObj name="Equation" r:id="rId6" imgW="152400" imgH="215900" progId="Equation.3">
                      <p:embed/>
                      <p:pic>
                        <p:nvPicPr>
                          <p:cNvPr id="0" name=""/>
                          <p:cNvPicPr/>
                          <p:nvPr/>
                        </p:nvPicPr>
                        <p:blipFill>
                          <a:blip r:embed="rId7"/>
                          <a:stretch>
                            <a:fillRect/>
                          </a:stretch>
                        </p:blipFill>
                        <p:spPr>
                          <a:xfrm>
                            <a:off x="2169585" y="2348973"/>
                            <a:ext cx="457200" cy="6477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127277123"/>
                  </p:ext>
                </p:extLst>
              </p:nvPr>
            </p:nvGraphicFramePr>
            <p:xfrm>
              <a:off x="5741988" y="2435756"/>
              <a:ext cx="342900" cy="457200"/>
            </p:xfrm>
            <a:graphic>
              <a:graphicData uri="http://schemas.openxmlformats.org/presentationml/2006/ole">
                <mc:AlternateContent xmlns:mc="http://schemas.openxmlformats.org/markup-compatibility/2006">
                  <mc:Choice xmlns:v="urn:schemas-microsoft-com:vml" Requires="v">
                    <p:oleObj spid="_x0000_s3244" name="Equation" r:id="rId8" imgW="114300" imgH="152400" progId="Equation.3">
                      <p:embed/>
                    </p:oleObj>
                  </mc:Choice>
                  <mc:Fallback>
                    <p:oleObj name="Equation" r:id="rId8" imgW="114300" imgH="152400" progId="Equation.3">
                      <p:embed/>
                      <p:pic>
                        <p:nvPicPr>
                          <p:cNvPr id="0" name=""/>
                          <p:cNvPicPr/>
                          <p:nvPr/>
                        </p:nvPicPr>
                        <p:blipFill>
                          <a:blip r:embed="rId9"/>
                          <a:stretch>
                            <a:fillRect/>
                          </a:stretch>
                        </p:blipFill>
                        <p:spPr>
                          <a:xfrm>
                            <a:off x="5741988" y="2435756"/>
                            <a:ext cx="342900" cy="457200"/>
                          </a:xfrm>
                          <a:prstGeom prst="rect">
                            <a:avLst/>
                          </a:prstGeom>
                        </p:spPr>
                      </p:pic>
                    </p:oleObj>
                  </mc:Fallback>
                </mc:AlternateContent>
              </a:graphicData>
            </a:graphic>
          </p:graphicFrame>
          <p:cxnSp>
            <p:nvCxnSpPr>
              <p:cNvPr id="9" name="Straight Arrow Connector 8"/>
              <p:cNvCxnSpPr/>
              <p:nvPr/>
            </p:nvCxnSpPr>
            <p:spPr>
              <a:xfrm>
                <a:off x="2804055" y="2664356"/>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4751389" y="2687639"/>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3853921" y="2996673"/>
                <a:ext cx="3285067"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13" name="Object 12"/>
              <p:cNvGraphicFramePr>
                <a:graphicFrameLocks noChangeAspect="1"/>
              </p:cNvGraphicFramePr>
              <p:nvPr>
                <p:extLst>
                  <p:ext uri="{D42A27DB-BD31-4B8C-83A1-F6EECF244321}">
                    <p14:modId xmlns:p14="http://schemas.microsoft.com/office/powerpoint/2010/main" val="892425442"/>
                  </p:ext>
                </p:extLst>
              </p:nvPr>
            </p:nvGraphicFramePr>
            <p:xfrm>
              <a:off x="7255404" y="2996673"/>
              <a:ext cx="254000" cy="279400"/>
            </p:xfrm>
            <a:graphic>
              <a:graphicData uri="http://schemas.openxmlformats.org/presentationml/2006/ole">
                <mc:AlternateContent xmlns:mc="http://schemas.openxmlformats.org/markup-compatibility/2006">
                  <mc:Choice xmlns:v="urn:schemas-microsoft-com:vml" Requires="v">
                    <p:oleObj spid="_x0000_s3245" name="Equation" r:id="rId10" imgW="127000" imgH="139700" progId="Equation.3">
                      <p:embed/>
                    </p:oleObj>
                  </mc:Choice>
                  <mc:Fallback>
                    <p:oleObj name="Equation" r:id="rId10" imgW="127000" imgH="139700" progId="Equation.3">
                      <p:embed/>
                      <p:pic>
                        <p:nvPicPr>
                          <p:cNvPr id="0" name=""/>
                          <p:cNvPicPr/>
                          <p:nvPr/>
                        </p:nvPicPr>
                        <p:blipFill>
                          <a:blip r:embed="rId11"/>
                          <a:stretch>
                            <a:fillRect/>
                          </a:stretch>
                        </p:blipFill>
                        <p:spPr>
                          <a:xfrm>
                            <a:off x="7255404" y="2996673"/>
                            <a:ext cx="254000" cy="279400"/>
                          </a:xfrm>
                          <a:prstGeom prst="rect">
                            <a:avLst/>
                          </a:prstGeom>
                        </p:spPr>
                      </p:pic>
                    </p:oleObj>
                  </mc:Fallback>
                </mc:AlternateContent>
              </a:graphicData>
            </a:graphic>
          </p:graphicFrame>
        </p:grpSp>
        <p:pic>
          <p:nvPicPr>
            <p:cNvPr id="3" name="Picture 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49302" y="4147883"/>
              <a:ext cx="525831" cy="295780"/>
            </a:xfrm>
            <a:prstGeom prst="rect">
              <a:avLst/>
            </a:prstGeom>
          </p:spPr>
        </p:pic>
      </p:grpSp>
      <p:pic>
        <p:nvPicPr>
          <p:cNvPr id="17" name="Picture 1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563936" y="6046638"/>
            <a:ext cx="2768600" cy="469900"/>
          </a:xfrm>
          <a:prstGeom prst="rect">
            <a:avLst/>
          </a:prstGeom>
        </p:spPr>
      </p:pic>
      <p:pic>
        <p:nvPicPr>
          <p:cNvPr id="18" name="Picture 1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563936" y="7034977"/>
            <a:ext cx="4457700" cy="533400"/>
          </a:xfrm>
          <a:prstGeom prst="rect">
            <a:avLst/>
          </a:prstGeom>
        </p:spPr>
      </p:pic>
      <p:pic>
        <p:nvPicPr>
          <p:cNvPr id="10" name="Picture 9"/>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874163" y="5805338"/>
            <a:ext cx="1993900" cy="952500"/>
          </a:xfrm>
          <a:prstGeom prst="rect">
            <a:avLst/>
          </a:prstGeom>
        </p:spPr>
      </p:pic>
    </p:spTree>
    <p:extLst>
      <p:ext uri="{BB962C8B-B14F-4D97-AF65-F5344CB8AC3E}">
        <p14:creationId xmlns:p14="http://schemas.microsoft.com/office/powerpoint/2010/main" val="89988783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p:cNvCxnSpPr/>
          <p:nvPr/>
        </p:nvCxnSpPr>
        <p:spPr>
          <a:xfrm>
            <a:off x="3330020" y="5432092"/>
            <a:ext cx="6188568" cy="0"/>
          </a:xfrm>
          <a:prstGeom prst="straightConnector1">
            <a:avLst/>
          </a:prstGeom>
          <a:ln w="25400">
            <a:solidFill>
              <a:schemeClr val="tx1"/>
            </a:solidFill>
            <a:headEnd type="arrow"/>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6" name="Object 5"/>
          <p:cNvGraphicFramePr>
            <a:graphicFrameLocks noChangeAspect="1"/>
          </p:cNvGraphicFramePr>
          <p:nvPr>
            <p:extLst/>
          </p:nvPr>
        </p:nvGraphicFramePr>
        <p:xfrm>
          <a:off x="6220179" y="5775396"/>
          <a:ext cx="596053" cy="650240"/>
        </p:xfrm>
        <a:graphic>
          <a:graphicData uri="http://schemas.openxmlformats.org/presentationml/2006/ole">
            <mc:AlternateContent xmlns:mc="http://schemas.openxmlformats.org/markup-compatibility/2006">
              <mc:Choice xmlns:v="urn:schemas-microsoft-com:vml" Requires="v">
                <p:oleObj spid="_x0000_s7331" name="Equation" r:id="rId3" imgW="139700" imgH="152400" progId="Equation.3">
                  <p:embed/>
                </p:oleObj>
              </mc:Choice>
              <mc:Fallback>
                <p:oleObj name="Equation" r:id="rId3" imgW="139700" imgH="152400" progId="Equation.3">
                  <p:embed/>
                  <p:pic>
                    <p:nvPicPr>
                      <p:cNvPr id="0" name=""/>
                      <p:cNvPicPr/>
                      <p:nvPr/>
                    </p:nvPicPr>
                    <p:blipFill>
                      <a:blip r:embed="rId4"/>
                      <a:stretch>
                        <a:fillRect/>
                      </a:stretch>
                    </p:blipFill>
                    <p:spPr>
                      <a:xfrm>
                        <a:off x="6220179" y="5775396"/>
                        <a:ext cx="596053" cy="650240"/>
                      </a:xfrm>
                      <a:prstGeom prst="rect">
                        <a:avLst/>
                      </a:prstGeom>
                    </p:spPr>
                  </p:pic>
                </p:oleObj>
              </mc:Fallback>
            </mc:AlternateContent>
          </a:graphicData>
        </a:graphic>
      </p:graphicFrame>
      <p:grpSp>
        <p:nvGrpSpPr>
          <p:cNvPr id="7" name="Group 6"/>
          <p:cNvGrpSpPr/>
          <p:nvPr/>
        </p:nvGrpSpPr>
        <p:grpSpPr>
          <a:xfrm>
            <a:off x="1268984" y="4028457"/>
            <a:ext cx="10190330" cy="921173"/>
            <a:chOff x="1310967" y="2868167"/>
            <a:chExt cx="7165076" cy="647700"/>
          </a:xfrm>
        </p:grpSpPr>
        <p:graphicFrame>
          <p:nvGraphicFramePr>
            <p:cNvPr id="12" name="Object 11"/>
            <p:cNvGraphicFramePr>
              <a:graphicFrameLocks noChangeAspect="1"/>
            </p:cNvGraphicFramePr>
            <p:nvPr>
              <p:extLst/>
            </p:nvPr>
          </p:nvGraphicFramePr>
          <p:xfrm>
            <a:off x="1310967" y="2868167"/>
            <a:ext cx="457200" cy="647700"/>
          </p:xfrm>
          <a:graphic>
            <a:graphicData uri="http://schemas.openxmlformats.org/presentationml/2006/ole">
              <mc:AlternateContent xmlns:mc="http://schemas.openxmlformats.org/markup-compatibility/2006">
                <mc:Choice xmlns:v="urn:schemas-microsoft-com:vml" Requires="v">
                  <p:oleObj spid="_x0000_s7332" name="Equation" r:id="rId5" imgW="152400" imgH="215900" progId="Equation.3">
                    <p:embed/>
                  </p:oleObj>
                </mc:Choice>
                <mc:Fallback>
                  <p:oleObj name="Equation" r:id="rId5" imgW="152400" imgH="215900" progId="Equation.3">
                    <p:embed/>
                    <p:pic>
                      <p:nvPicPr>
                        <p:cNvPr id="0" name=""/>
                        <p:cNvPicPr/>
                        <p:nvPr/>
                      </p:nvPicPr>
                      <p:blipFill>
                        <a:blip r:embed="rId6"/>
                        <a:stretch>
                          <a:fillRect/>
                        </a:stretch>
                      </p:blipFill>
                      <p:spPr>
                        <a:xfrm>
                          <a:off x="1310967" y="2868167"/>
                          <a:ext cx="457200" cy="647700"/>
                        </a:xfrm>
                        <a:prstGeom prst="rect">
                          <a:avLst/>
                        </a:prstGeom>
                      </p:spPr>
                    </p:pic>
                  </p:oleObj>
                </mc:Fallback>
              </mc:AlternateContent>
            </a:graphicData>
          </a:graphic>
        </p:graphicFrame>
        <p:cxnSp>
          <p:nvCxnSpPr>
            <p:cNvPr id="13" name="Straight Arrow Connector 12"/>
            <p:cNvCxnSpPr/>
            <p:nvPr/>
          </p:nvCxnSpPr>
          <p:spPr>
            <a:xfrm>
              <a:off x="1804335" y="3183550"/>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7255982" y="3117849"/>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18" name="Object 17"/>
            <p:cNvGraphicFramePr>
              <a:graphicFrameLocks noChangeAspect="1"/>
            </p:cNvGraphicFramePr>
            <p:nvPr>
              <p:extLst/>
            </p:nvPr>
          </p:nvGraphicFramePr>
          <p:xfrm>
            <a:off x="8133143" y="2890448"/>
            <a:ext cx="342900" cy="457200"/>
          </p:xfrm>
          <a:graphic>
            <a:graphicData uri="http://schemas.openxmlformats.org/presentationml/2006/ole">
              <mc:AlternateContent xmlns:mc="http://schemas.openxmlformats.org/markup-compatibility/2006">
                <mc:Choice xmlns:v="urn:schemas-microsoft-com:vml" Requires="v">
                  <p:oleObj spid="_x0000_s7333" name="Equation" r:id="rId7" imgW="114300" imgH="152400" progId="Equation.3">
                    <p:embed/>
                  </p:oleObj>
                </mc:Choice>
                <mc:Fallback>
                  <p:oleObj name="Equation" r:id="rId7" imgW="114300" imgH="152400" progId="Equation.3">
                    <p:embed/>
                    <p:pic>
                      <p:nvPicPr>
                        <p:cNvPr id="0" name=""/>
                        <p:cNvPicPr/>
                        <p:nvPr/>
                      </p:nvPicPr>
                      <p:blipFill>
                        <a:blip r:embed="rId8"/>
                        <a:stretch>
                          <a:fillRect/>
                        </a:stretch>
                      </p:blipFill>
                      <p:spPr>
                        <a:xfrm>
                          <a:off x="8133143" y="2890448"/>
                          <a:ext cx="342900" cy="457200"/>
                        </a:xfrm>
                        <a:prstGeom prst="rect">
                          <a:avLst/>
                        </a:prstGeom>
                      </p:spPr>
                    </p:pic>
                  </p:oleObj>
                </mc:Fallback>
              </mc:AlternateContent>
            </a:graphicData>
          </a:graphic>
        </p:graphicFrame>
      </p:grpSp>
      <p:graphicFrame>
        <p:nvGraphicFramePr>
          <p:cNvPr id="24" name="Object 23"/>
          <p:cNvGraphicFramePr>
            <a:graphicFrameLocks noChangeAspect="1"/>
          </p:cNvGraphicFramePr>
          <p:nvPr>
            <p:extLst/>
          </p:nvPr>
        </p:nvGraphicFramePr>
        <p:xfrm>
          <a:off x="11952608" y="4946112"/>
          <a:ext cx="361244" cy="397369"/>
        </p:xfrm>
        <a:graphic>
          <a:graphicData uri="http://schemas.openxmlformats.org/presentationml/2006/ole">
            <mc:AlternateContent xmlns:mc="http://schemas.openxmlformats.org/markup-compatibility/2006">
              <mc:Choice xmlns:v="urn:schemas-microsoft-com:vml" Requires="v">
                <p:oleObj spid="_x0000_s7334" name="Equation" r:id="rId9" imgW="127000" imgH="139700" progId="Equation.3">
                  <p:embed/>
                </p:oleObj>
              </mc:Choice>
              <mc:Fallback>
                <p:oleObj name="Equation" r:id="rId9" imgW="127000" imgH="139700" progId="Equation.3">
                  <p:embed/>
                  <p:pic>
                    <p:nvPicPr>
                      <p:cNvPr id="0" name=""/>
                      <p:cNvPicPr/>
                      <p:nvPr/>
                    </p:nvPicPr>
                    <p:blipFill>
                      <a:blip r:embed="rId10"/>
                      <a:stretch>
                        <a:fillRect/>
                      </a:stretch>
                    </p:blipFill>
                    <p:spPr>
                      <a:xfrm>
                        <a:off x="11952608" y="4946112"/>
                        <a:ext cx="361244" cy="397369"/>
                      </a:xfrm>
                      <a:prstGeom prst="rect">
                        <a:avLst/>
                      </a:prstGeom>
                    </p:spPr>
                  </p:pic>
                </p:oleObj>
              </mc:Fallback>
            </mc:AlternateContent>
          </a:graphicData>
        </a:graphic>
      </p:graphicFrame>
      <p:cxnSp>
        <p:nvCxnSpPr>
          <p:cNvPr id="25" name="Straight Arrow Connector 24"/>
          <p:cNvCxnSpPr/>
          <p:nvPr/>
        </p:nvCxnSpPr>
        <p:spPr>
          <a:xfrm>
            <a:off x="3319113" y="5144796"/>
            <a:ext cx="854622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 name="Rectangle 2"/>
          <p:cNvSpPr/>
          <p:nvPr/>
        </p:nvSpPr>
        <p:spPr>
          <a:xfrm>
            <a:off x="3319113" y="3945037"/>
            <a:ext cx="6188568" cy="1063929"/>
          </a:xfrm>
          <a:prstGeom prst="rect">
            <a:avLst/>
          </a:prstGeom>
          <a:gradFill flip="none" rotWithShape="1">
            <a:gsLst>
              <a:gs pos="0">
                <a:srgbClr val="0000FF"/>
              </a:gs>
              <a:gs pos="20000">
                <a:srgbClr val="3366FF"/>
              </a:gs>
              <a:gs pos="62000">
                <a:srgbClr val="1ED3FF"/>
              </a:gs>
              <a:gs pos="92000">
                <a:srgbClr val="11FAFF"/>
              </a:gs>
            </a:gsLst>
            <a:lin ang="0" scaled="1"/>
            <a:tileRect/>
          </a:grad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26" name="Object 25"/>
          <p:cNvGraphicFramePr>
            <a:graphicFrameLocks noChangeAspect="1"/>
          </p:cNvGraphicFramePr>
          <p:nvPr>
            <p:extLst/>
          </p:nvPr>
        </p:nvGraphicFramePr>
        <p:xfrm>
          <a:off x="5284314" y="1826039"/>
          <a:ext cx="2384213" cy="866987"/>
        </p:xfrm>
        <a:graphic>
          <a:graphicData uri="http://schemas.openxmlformats.org/presentationml/2006/ole">
            <mc:AlternateContent xmlns:mc="http://schemas.openxmlformats.org/markup-compatibility/2006">
              <mc:Choice xmlns:v="urn:schemas-microsoft-com:vml" Requires="v">
                <p:oleObj spid="_x0000_s7335" name="Equation" r:id="rId11" imgW="558800" imgH="203200" progId="Equation.3">
                  <p:embed/>
                </p:oleObj>
              </mc:Choice>
              <mc:Fallback>
                <p:oleObj name="Equation" r:id="rId11" imgW="558800" imgH="203200" progId="Equation.3">
                  <p:embed/>
                  <p:pic>
                    <p:nvPicPr>
                      <p:cNvPr id="0" name=""/>
                      <p:cNvPicPr/>
                      <p:nvPr/>
                    </p:nvPicPr>
                    <p:blipFill>
                      <a:blip r:embed="rId12"/>
                      <a:stretch>
                        <a:fillRect/>
                      </a:stretch>
                    </p:blipFill>
                    <p:spPr>
                      <a:xfrm>
                        <a:off x="5284314" y="1826039"/>
                        <a:ext cx="2384213" cy="866987"/>
                      </a:xfrm>
                      <a:prstGeom prst="rect">
                        <a:avLst/>
                      </a:prstGeom>
                    </p:spPr>
                  </p:pic>
                </p:oleObj>
              </mc:Fallback>
            </mc:AlternateContent>
          </a:graphicData>
        </a:graphic>
      </p:graphicFrame>
      <p:sp>
        <p:nvSpPr>
          <p:cNvPr id="28" name="Rectangle 27"/>
          <p:cNvSpPr/>
          <p:nvPr/>
        </p:nvSpPr>
        <p:spPr>
          <a:xfrm>
            <a:off x="3319112" y="3931108"/>
            <a:ext cx="6188568" cy="1073951"/>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5" name="Shape 73"/>
          <p:cNvSpPr>
            <a:spLocks noGrp="1"/>
          </p:cNvSpPr>
          <p:nvPr>
            <p:ph type="title"/>
          </p:nvPr>
        </p:nvSpPr>
        <p:spPr>
          <a:xfrm>
            <a:off x="212643" y="380331"/>
            <a:ext cx="12567568" cy="1673058"/>
          </a:xfrm>
          <a:prstGeom prst="rect">
            <a:avLst/>
          </a:prstGeom>
        </p:spPr>
        <p:txBody>
          <a:bodyPr>
            <a:normAutofit fontScale="90000"/>
          </a:bodyPr>
          <a:lstStyle/>
          <a:p>
            <a:r>
              <a:rPr lang="en-US" dirty="0"/>
              <a:t>Attenuation: </a:t>
            </a:r>
            <a:r>
              <a:rPr lang="en-US" dirty="0" err="1"/>
              <a:t>nonuniform</a:t>
            </a:r>
            <a:r>
              <a:rPr lang="en-US" dirty="0"/>
              <a:t> material</a:t>
            </a:r>
            <a:endParaRPr dirty="0"/>
          </a:p>
        </p:txBody>
      </p:sp>
    </p:spTree>
    <p:extLst>
      <p:ext uri="{BB962C8B-B14F-4D97-AF65-F5344CB8AC3E}">
        <p14:creationId xmlns:p14="http://schemas.microsoft.com/office/powerpoint/2010/main" val="1001987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p:cNvGraphicFramePr>
            <a:graphicFrameLocks noChangeAspect="1"/>
          </p:cNvGraphicFramePr>
          <p:nvPr>
            <p:extLst/>
          </p:nvPr>
        </p:nvGraphicFramePr>
        <p:xfrm>
          <a:off x="5284314" y="1826039"/>
          <a:ext cx="2384213" cy="866987"/>
        </p:xfrm>
        <a:graphic>
          <a:graphicData uri="http://schemas.openxmlformats.org/presentationml/2006/ole">
            <mc:AlternateContent xmlns:mc="http://schemas.openxmlformats.org/markup-compatibility/2006">
              <mc:Choice xmlns:v="urn:schemas-microsoft-com:vml" Requires="v">
                <p:oleObj spid="_x0000_s8515" name="Equation" r:id="rId3" imgW="558800" imgH="203200" progId="Equation.3">
                  <p:embed/>
                </p:oleObj>
              </mc:Choice>
              <mc:Fallback>
                <p:oleObj name="Equation" r:id="rId3" imgW="558800" imgH="203200" progId="Equation.3">
                  <p:embed/>
                  <p:pic>
                    <p:nvPicPr>
                      <p:cNvPr id="0" name=""/>
                      <p:cNvPicPr/>
                      <p:nvPr/>
                    </p:nvPicPr>
                    <p:blipFill>
                      <a:blip r:embed="rId4"/>
                      <a:stretch>
                        <a:fillRect/>
                      </a:stretch>
                    </p:blipFill>
                    <p:spPr>
                      <a:xfrm>
                        <a:off x="5284314" y="1826039"/>
                        <a:ext cx="2384213" cy="866987"/>
                      </a:xfrm>
                      <a:prstGeom prst="rect">
                        <a:avLst/>
                      </a:prstGeom>
                    </p:spPr>
                  </p:pic>
                </p:oleObj>
              </mc:Fallback>
            </mc:AlternateContent>
          </a:graphicData>
        </a:graphic>
      </p:graphicFrame>
      <p:grpSp>
        <p:nvGrpSpPr>
          <p:cNvPr id="3" name="Group 2"/>
          <p:cNvGrpSpPr/>
          <p:nvPr/>
        </p:nvGrpSpPr>
        <p:grpSpPr>
          <a:xfrm>
            <a:off x="1268984" y="3753740"/>
            <a:ext cx="11044868" cy="2726871"/>
            <a:chOff x="892254" y="2639348"/>
            <a:chExt cx="7765923" cy="1917331"/>
          </a:xfrm>
        </p:grpSpPr>
        <p:sp>
          <p:nvSpPr>
            <p:cNvPr id="58" name="Rectangle 57"/>
            <p:cNvSpPr/>
            <p:nvPr/>
          </p:nvSpPr>
          <p:spPr>
            <a:xfrm>
              <a:off x="2333751" y="2773854"/>
              <a:ext cx="4351337" cy="748075"/>
            </a:xfrm>
            <a:prstGeom prst="rect">
              <a:avLst/>
            </a:prstGeom>
            <a:gradFill flip="none" rotWithShape="1">
              <a:gsLst>
                <a:gs pos="0">
                  <a:srgbClr val="0000FF"/>
                </a:gs>
                <a:gs pos="20000">
                  <a:srgbClr val="3366FF"/>
                </a:gs>
                <a:gs pos="62000">
                  <a:srgbClr val="1ED3FF"/>
                </a:gs>
                <a:gs pos="92000">
                  <a:srgbClr val="11FAFF"/>
                </a:gs>
              </a:gsLst>
              <a:lin ang="0" scaled="1"/>
              <a:tileRect/>
            </a:grad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cxnSp>
          <p:nvCxnSpPr>
            <p:cNvPr id="38" name="Straight Arrow Connector 37"/>
            <p:cNvCxnSpPr/>
            <p:nvPr/>
          </p:nvCxnSpPr>
          <p:spPr>
            <a:xfrm>
              <a:off x="2341420" y="3819440"/>
              <a:ext cx="4351337" cy="0"/>
            </a:xfrm>
            <a:prstGeom prst="straightConnector1">
              <a:avLst/>
            </a:prstGeom>
            <a:ln w="25400">
              <a:solidFill>
                <a:schemeClr val="tx1"/>
              </a:solidFill>
              <a:headEnd type="arrow"/>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39" name="Object 38"/>
            <p:cNvGraphicFramePr>
              <a:graphicFrameLocks noChangeAspect="1"/>
            </p:cNvGraphicFramePr>
            <p:nvPr>
              <p:extLst/>
            </p:nvPr>
          </p:nvGraphicFramePr>
          <p:xfrm>
            <a:off x="3783751" y="4023279"/>
            <a:ext cx="1600200" cy="533400"/>
          </p:xfrm>
          <a:graphic>
            <a:graphicData uri="http://schemas.openxmlformats.org/presentationml/2006/ole">
              <mc:AlternateContent xmlns:mc="http://schemas.openxmlformats.org/markup-compatibility/2006">
                <mc:Choice xmlns:v="urn:schemas-microsoft-com:vml" Requires="v">
                  <p:oleObj spid="_x0000_s8516" name="Equation" r:id="rId5" imgW="533400" imgH="177800" progId="Equation.3">
                    <p:embed/>
                  </p:oleObj>
                </mc:Choice>
                <mc:Fallback>
                  <p:oleObj name="Equation" r:id="rId5" imgW="533400" imgH="177800" progId="Equation.3">
                    <p:embed/>
                    <p:pic>
                      <p:nvPicPr>
                        <p:cNvPr id="0" name=""/>
                        <p:cNvPicPr/>
                        <p:nvPr/>
                      </p:nvPicPr>
                      <p:blipFill>
                        <a:blip r:embed="rId6"/>
                        <a:stretch>
                          <a:fillRect/>
                        </a:stretch>
                      </p:blipFill>
                      <p:spPr>
                        <a:xfrm>
                          <a:off x="3783751" y="4023279"/>
                          <a:ext cx="1600200" cy="533400"/>
                        </a:xfrm>
                        <a:prstGeom prst="rect">
                          <a:avLst/>
                        </a:prstGeom>
                      </p:spPr>
                    </p:pic>
                  </p:oleObj>
                </mc:Fallback>
              </mc:AlternateContent>
            </a:graphicData>
          </a:graphic>
        </p:graphicFrame>
        <p:grpSp>
          <p:nvGrpSpPr>
            <p:cNvPr id="40" name="Group 39"/>
            <p:cNvGrpSpPr/>
            <p:nvPr/>
          </p:nvGrpSpPr>
          <p:grpSpPr>
            <a:xfrm>
              <a:off x="892254" y="2832509"/>
              <a:ext cx="7165076" cy="647700"/>
              <a:chOff x="1310967" y="2868167"/>
              <a:chExt cx="7165076" cy="647700"/>
            </a:xfrm>
          </p:grpSpPr>
          <p:graphicFrame>
            <p:nvGraphicFramePr>
              <p:cNvPr id="41" name="Object 40"/>
              <p:cNvGraphicFramePr>
                <a:graphicFrameLocks noChangeAspect="1"/>
              </p:cNvGraphicFramePr>
              <p:nvPr>
                <p:extLst/>
              </p:nvPr>
            </p:nvGraphicFramePr>
            <p:xfrm>
              <a:off x="1310967" y="2868167"/>
              <a:ext cx="457200" cy="647700"/>
            </p:xfrm>
            <a:graphic>
              <a:graphicData uri="http://schemas.openxmlformats.org/presentationml/2006/ole">
                <mc:AlternateContent xmlns:mc="http://schemas.openxmlformats.org/markup-compatibility/2006">
                  <mc:Choice xmlns:v="urn:schemas-microsoft-com:vml" Requires="v">
                    <p:oleObj spid="_x0000_s8517" name="Equation" r:id="rId7" imgW="152400" imgH="215900" progId="Equation.3">
                      <p:embed/>
                    </p:oleObj>
                  </mc:Choice>
                  <mc:Fallback>
                    <p:oleObj name="Equation" r:id="rId7" imgW="152400" imgH="215900" progId="Equation.3">
                      <p:embed/>
                      <p:pic>
                        <p:nvPicPr>
                          <p:cNvPr id="0" name=""/>
                          <p:cNvPicPr/>
                          <p:nvPr/>
                        </p:nvPicPr>
                        <p:blipFill>
                          <a:blip r:embed="rId8"/>
                          <a:stretch>
                            <a:fillRect/>
                          </a:stretch>
                        </p:blipFill>
                        <p:spPr>
                          <a:xfrm>
                            <a:off x="1310967" y="2868167"/>
                            <a:ext cx="457200" cy="647700"/>
                          </a:xfrm>
                          <a:prstGeom prst="rect">
                            <a:avLst/>
                          </a:prstGeom>
                        </p:spPr>
                      </p:pic>
                    </p:oleObj>
                  </mc:Fallback>
                </mc:AlternateContent>
              </a:graphicData>
            </a:graphic>
          </p:graphicFrame>
          <p:cxnSp>
            <p:nvCxnSpPr>
              <p:cNvPr id="42" name="Straight Arrow Connector 41"/>
              <p:cNvCxnSpPr/>
              <p:nvPr/>
            </p:nvCxnSpPr>
            <p:spPr>
              <a:xfrm>
                <a:off x="1804335" y="3183550"/>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a:off x="7255982" y="3117849"/>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44" name="Object 43"/>
              <p:cNvGraphicFramePr>
                <a:graphicFrameLocks noChangeAspect="1"/>
              </p:cNvGraphicFramePr>
              <p:nvPr>
                <p:extLst/>
              </p:nvPr>
            </p:nvGraphicFramePr>
            <p:xfrm>
              <a:off x="8133143" y="2890448"/>
              <a:ext cx="342900" cy="457200"/>
            </p:xfrm>
            <a:graphic>
              <a:graphicData uri="http://schemas.openxmlformats.org/presentationml/2006/ole">
                <mc:AlternateContent xmlns:mc="http://schemas.openxmlformats.org/markup-compatibility/2006">
                  <mc:Choice xmlns:v="urn:schemas-microsoft-com:vml" Requires="v">
                    <p:oleObj spid="_x0000_s8518" name="Equation" r:id="rId9" imgW="114300" imgH="152400" progId="Equation.3">
                      <p:embed/>
                    </p:oleObj>
                  </mc:Choice>
                  <mc:Fallback>
                    <p:oleObj name="Equation" r:id="rId9" imgW="114300" imgH="152400" progId="Equation.3">
                      <p:embed/>
                      <p:pic>
                        <p:nvPicPr>
                          <p:cNvPr id="0" name=""/>
                          <p:cNvPicPr/>
                          <p:nvPr/>
                        </p:nvPicPr>
                        <p:blipFill>
                          <a:blip r:embed="rId10"/>
                          <a:stretch>
                            <a:fillRect/>
                          </a:stretch>
                        </p:blipFill>
                        <p:spPr>
                          <a:xfrm>
                            <a:off x="8133143" y="2890448"/>
                            <a:ext cx="342900" cy="457200"/>
                          </a:xfrm>
                          <a:prstGeom prst="rect">
                            <a:avLst/>
                          </a:prstGeom>
                        </p:spPr>
                      </p:pic>
                    </p:oleObj>
                  </mc:Fallback>
                </mc:AlternateContent>
              </a:graphicData>
            </a:graphic>
          </p:graphicFrame>
        </p:grpSp>
        <p:graphicFrame>
          <p:nvGraphicFramePr>
            <p:cNvPr id="45" name="Object 44"/>
            <p:cNvGraphicFramePr>
              <a:graphicFrameLocks noChangeAspect="1"/>
            </p:cNvGraphicFramePr>
            <p:nvPr>
              <p:extLst/>
            </p:nvPr>
          </p:nvGraphicFramePr>
          <p:xfrm>
            <a:off x="8404177" y="3477735"/>
            <a:ext cx="254000" cy="279400"/>
          </p:xfrm>
          <a:graphic>
            <a:graphicData uri="http://schemas.openxmlformats.org/presentationml/2006/ole">
              <mc:AlternateContent xmlns:mc="http://schemas.openxmlformats.org/markup-compatibility/2006">
                <mc:Choice xmlns:v="urn:schemas-microsoft-com:vml" Requires="v">
                  <p:oleObj spid="_x0000_s8519" name="Equation" r:id="rId11" imgW="127000" imgH="139700" progId="Equation.3">
                    <p:embed/>
                  </p:oleObj>
                </mc:Choice>
                <mc:Fallback>
                  <p:oleObj name="Equation" r:id="rId11" imgW="127000" imgH="139700" progId="Equation.3">
                    <p:embed/>
                    <p:pic>
                      <p:nvPicPr>
                        <p:cNvPr id="0" name=""/>
                        <p:cNvPicPr/>
                        <p:nvPr/>
                      </p:nvPicPr>
                      <p:blipFill>
                        <a:blip r:embed="rId12"/>
                        <a:stretch>
                          <a:fillRect/>
                        </a:stretch>
                      </p:blipFill>
                      <p:spPr>
                        <a:xfrm>
                          <a:off x="8404177" y="3477735"/>
                          <a:ext cx="254000" cy="279400"/>
                        </a:xfrm>
                        <a:prstGeom prst="rect">
                          <a:avLst/>
                        </a:prstGeom>
                      </p:spPr>
                    </p:pic>
                  </p:oleObj>
                </mc:Fallback>
              </mc:AlternateContent>
            </a:graphicData>
          </a:graphic>
        </p:graphicFrame>
        <p:cxnSp>
          <p:nvCxnSpPr>
            <p:cNvPr id="46" name="Straight Arrow Connector 45"/>
            <p:cNvCxnSpPr/>
            <p:nvPr/>
          </p:nvCxnSpPr>
          <p:spPr>
            <a:xfrm>
              <a:off x="2333751" y="3617435"/>
              <a:ext cx="600906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2333751"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49" name="Rectangle 48"/>
            <p:cNvSpPr/>
            <p:nvPr/>
          </p:nvSpPr>
          <p:spPr>
            <a:xfrm>
              <a:off x="3021265"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50" name="Rectangle 49"/>
            <p:cNvSpPr/>
            <p:nvPr/>
          </p:nvSpPr>
          <p:spPr>
            <a:xfrm>
              <a:off x="3720068"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53" name="Object 52"/>
            <p:cNvGraphicFramePr>
              <a:graphicFrameLocks noChangeAspect="1"/>
            </p:cNvGraphicFramePr>
            <p:nvPr>
              <p:extLst/>
            </p:nvPr>
          </p:nvGraphicFramePr>
          <p:xfrm>
            <a:off x="6054320" y="2792376"/>
            <a:ext cx="571500" cy="647700"/>
          </p:xfrm>
          <a:graphic>
            <a:graphicData uri="http://schemas.openxmlformats.org/presentationml/2006/ole">
              <mc:AlternateContent xmlns:mc="http://schemas.openxmlformats.org/markup-compatibility/2006">
                <mc:Choice xmlns:v="urn:schemas-microsoft-com:vml" Requires="v">
                  <p:oleObj spid="_x0000_s8520" name="Equation" r:id="rId13" imgW="190500" imgH="215900" progId="Equation.3">
                    <p:embed/>
                  </p:oleObj>
                </mc:Choice>
                <mc:Fallback>
                  <p:oleObj name="Equation" r:id="rId13" imgW="190500" imgH="215900" progId="Equation.3">
                    <p:embed/>
                    <p:pic>
                      <p:nvPicPr>
                        <p:cNvPr id="0" name=""/>
                        <p:cNvPicPr/>
                        <p:nvPr/>
                      </p:nvPicPr>
                      <p:blipFill>
                        <a:blip r:embed="rId14"/>
                        <a:stretch>
                          <a:fillRect/>
                        </a:stretch>
                      </p:blipFill>
                      <p:spPr>
                        <a:xfrm>
                          <a:off x="6054320" y="2792376"/>
                          <a:ext cx="571500" cy="647700"/>
                        </a:xfrm>
                        <a:prstGeom prst="rect">
                          <a:avLst/>
                        </a:prstGeom>
                      </p:spPr>
                    </p:pic>
                  </p:oleObj>
                </mc:Fallback>
              </mc:AlternateContent>
            </a:graphicData>
          </a:graphic>
        </p:graphicFrame>
        <p:sp>
          <p:nvSpPr>
            <p:cNvPr id="54" name="TextBox 53"/>
            <p:cNvSpPr txBox="1"/>
            <p:nvPr/>
          </p:nvSpPr>
          <p:spPr>
            <a:xfrm>
              <a:off x="4546672" y="2639348"/>
              <a:ext cx="1265972" cy="618965"/>
            </a:xfrm>
            <a:prstGeom prst="rect">
              <a:avLst/>
            </a:prstGeom>
            <a:noFill/>
          </p:spPr>
          <p:txBody>
            <a:bodyPr wrap="none" rtlCol="0">
              <a:spAutoFit/>
            </a:bodyPr>
            <a:lstStyle/>
            <a:p>
              <a:r>
                <a:rPr lang="en-US" sz="5689" dirty="0"/>
                <a:t> . . .  </a:t>
              </a:r>
            </a:p>
          </p:txBody>
        </p:sp>
        <p:graphicFrame>
          <p:nvGraphicFramePr>
            <p:cNvPr id="55" name="Object 54"/>
            <p:cNvGraphicFramePr>
              <a:graphicFrameLocks noChangeAspect="1"/>
            </p:cNvGraphicFramePr>
            <p:nvPr>
              <p:extLst/>
            </p:nvPr>
          </p:nvGraphicFramePr>
          <p:xfrm>
            <a:off x="2451100" y="2792413"/>
            <a:ext cx="495300" cy="609600"/>
          </p:xfrm>
          <a:graphic>
            <a:graphicData uri="http://schemas.openxmlformats.org/presentationml/2006/ole">
              <mc:AlternateContent xmlns:mc="http://schemas.openxmlformats.org/markup-compatibility/2006">
                <mc:Choice xmlns:v="urn:schemas-microsoft-com:vml" Requires="v">
                  <p:oleObj spid="_x0000_s8521" name="Equation" r:id="rId15" imgW="165100" imgH="203200" progId="Equation.3">
                    <p:embed/>
                  </p:oleObj>
                </mc:Choice>
                <mc:Fallback>
                  <p:oleObj name="Equation" r:id="rId15" imgW="165100" imgH="203200" progId="Equation.3">
                    <p:embed/>
                    <p:pic>
                      <p:nvPicPr>
                        <p:cNvPr id="0" name=""/>
                        <p:cNvPicPr/>
                        <p:nvPr/>
                      </p:nvPicPr>
                      <p:blipFill>
                        <a:blip r:embed="rId16"/>
                        <a:stretch>
                          <a:fillRect/>
                        </a:stretch>
                      </p:blipFill>
                      <p:spPr>
                        <a:xfrm>
                          <a:off x="2451100" y="2792413"/>
                          <a:ext cx="495300" cy="609600"/>
                        </a:xfrm>
                        <a:prstGeom prst="rect">
                          <a:avLst/>
                        </a:prstGeom>
                      </p:spPr>
                    </p:pic>
                  </p:oleObj>
                </mc:Fallback>
              </mc:AlternateContent>
            </a:graphicData>
          </a:graphic>
        </p:graphicFrame>
        <p:graphicFrame>
          <p:nvGraphicFramePr>
            <p:cNvPr id="56" name="Object 55"/>
            <p:cNvGraphicFramePr>
              <a:graphicFrameLocks noChangeAspect="1"/>
            </p:cNvGraphicFramePr>
            <p:nvPr>
              <p:extLst/>
            </p:nvPr>
          </p:nvGraphicFramePr>
          <p:xfrm>
            <a:off x="3129284" y="2811194"/>
            <a:ext cx="571500" cy="609600"/>
          </p:xfrm>
          <a:graphic>
            <a:graphicData uri="http://schemas.openxmlformats.org/presentationml/2006/ole">
              <mc:AlternateContent xmlns:mc="http://schemas.openxmlformats.org/markup-compatibility/2006">
                <mc:Choice xmlns:v="urn:schemas-microsoft-com:vml" Requires="v">
                  <p:oleObj spid="_x0000_s8522" name="Equation" r:id="rId17" imgW="190500" imgH="203200" progId="Equation.3">
                    <p:embed/>
                  </p:oleObj>
                </mc:Choice>
                <mc:Fallback>
                  <p:oleObj name="Equation" r:id="rId17" imgW="190500" imgH="203200" progId="Equation.3">
                    <p:embed/>
                    <p:pic>
                      <p:nvPicPr>
                        <p:cNvPr id="0" name=""/>
                        <p:cNvPicPr/>
                        <p:nvPr/>
                      </p:nvPicPr>
                      <p:blipFill>
                        <a:blip r:embed="rId18"/>
                        <a:stretch>
                          <a:fillRect/>
                        </a:stretch>
                      </p:blipFill>
                      <p:spPr>
                        <a:xfrm>
                          <a:off x="3129284" y="2811194"/>
                          <a:ext cx="571500" cy="609600"/>
                        </a:xfrm>
                        <a:prstGeom prst="rect">
                          <a:avLst/>
                        </a:prstGeom>
                      </p:spPr>
                    </p:pic>
                  </p:oleObj>
                </mc:Fallback>
              </mc:AlternateContent>
            </a:graphicData>
          </a:graphic>
        </p:graphicFrame>
        <p:graphicFrame>
          <p:nvGraphicFramePr>
            <p:cNvPr id="57" name="Object 56"/>
            <p:cNvGraphicFramePr>
              <a:graphicFrameLocks noChangeAspect="1"/>
            </p:cNvGraphicFramePr>
            <p:nvPr>
              <p:extLst/>
            </p:nvPr>
          </p:nvGraphicFramePr>
          <p:xfrm>
            <a:off x="3783335" y="2830772"/>
            <a:ext cx="533400" cy="647700"/>
          </p:xfrm>
          <a:graphic>
            <a:graphicData uri="http://schemas.openxmlformats.org/presentationml/2006/ole">
              <mc:AlternateContent xmlns:mc="http://schemas.openxmlformats.org/markup-compatibility/2006">
                <mc:Choice xmlns:v="urn:schemas-microsoft-com:vml" Requires="v">
                  <p:oleObj spid="_x0000_s8523" name="Equation" r:id="rId19" imgW="177800" imgH="215900" progId="Equation.3">
                    <p:embed/>
                  </p:oleObj>
                </mc:Choice>
                <mc:Fallback>
                  <p:oleObj name="Equation" r:id="rId19" imgW="177800" imgH="215900" progId="Equation.3">
                    <p:embed/>
                    <p:pic>
                      <p:nvPicPr>
                        <p:cNvPr id="0" name=""/>
                        <p:cNvPicPr/>
                        <p:nvPr/>
                      </p:nvPicPr>
                      <p:blipFill>
                        <a:blip r:embed="rId20"/>
                        <a:stretch>
                          <a:fillRect/>
                        </a:stretch>
                      </p:blipFill>
                      <p:spPr>
                        <a:xfrm>
                          <a:off x="3783335" y="2830772"/>
                          <a:ext cx="533400" cy="647700"/>
                        </a:xfrm>
                        <a:prstGeom prst="rect">
                          <a:avLst/>
                        </a:prstGeom>
                      </p:spPr>
                    </p:pic>
                  </p:oleObj>
                </mc:Fallback>
              </mc:AlternateContent>
            </a:graphicData>
          </a:graphic>
        </p:graphicFrame>
      </p:grpSp>
      <p:graphicFrame>
        <p:nvGraphicFramePr>
          <p:cNvPr id="25" name="Object 24"/>
          <p:cNvGraphicFramePr>
            <a:graphicFrameLocks noChangeAspect="1"/>
          </p:cNvGraphicFramePr>
          <p:nvPr>
            <p:extLst/>
          </p:nvPr>
        </p:nvGraphicFramePr>
        <p:xfrm>
          <a:off x="3385343" y="3027667"/>
          <a:ext cx="921173" cy="758613"/>
        </p:xfrm>
        <a:graphic>
          <a:graphicData uri="http://schemas.openxmlformats.org/presentationml/2006/ole">
            <mc:AlternateContent xmlns:mc="http://schemas.openxmlformats.org/markup-compatibility/2006">
              <mc:Choice xmlns:v="urn:schemas-microsoft-com:vml" Requires="v">
                <p:oleObj spid="_x0000_s8524" name="Equation" r:id="rId21" imgW="215900" imgH="177800" progId="Equation.3">
                  <p:embed/>
                </p:oleObj>
              </mc:Choice>
              <mc:Fallback>
                <p:oleObj name="Equation" r:id="rId21" imgW="215900" imgH="177800" progId="Equation.3">
                  <p:embed/>
                  <p:pic>
                    <p:nvPicPr>
                      <p:cNvPr id="0" name=""/>
                      <p:cNvPicPr/>
                      <p:nvPr/>
                    </p:nvPicPr>
                    <p:blipFill>
                      <a:blip r:embed="rId22"/>
                      <a:stretch>
                        <a:fillRect/>
                      </a:stretch>
                    </p:blipFill>
                    <p:spPr>
                      <a:xfrm>
                        <a:off x="3385343" y="3027667"/>
                        <a:ext cx="921173" cy="758613"/>
                      </a:xfrm>
                      <a:prstGeom prst="rect">
                        <a:avLst/>
                      </a:prstGeom>
                    </p:spPr>
                  </p:pic>
                </p:oleObj>
              </mc:Fallback>
            </mc:AlternateContent>
          </a:graphicData>
        </a:graphic>
      </p:graphicFrame>
      <p:cxnSp>
        <p:nvCxnSpPr>
          <p:cNvPr id="27" name="Straight Arrow Connector 26"/>
          <p:cNvCxnSpPr/>
          <p:nvPr/>
        </p:nvCxnSpPr>
        <p:spPr>
          <a:xfrm>
            <a:off x="3309012" y="3729867"/>
            <a:ext cx="997504" cy="0"/>
          </a:xfrm>
          <a:prstGeom prst="straightConnector1">
            <a:avLst/>
          </a:prstGeom>
          <a:ln w="25400">
            <a:solidFill>
              <a:schemeClr val="tx1"/>
            </a:solidFill>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535533" y="3949430"/>
            <a:ext cx="987403" cy="1031520"/>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0" name="Shape 73"/>
          <p:cNvSpPr>
            <a:spLocks noGrp="1"/>
          </p:cNvSpPr>
          <p:nvPr>
            <p:ph type="title"/>
          </p:nvPr>
        </p:nvSpPr>
        <p:spPr>
          <a:xfrm>
            <a:off x="212643" y="380331"/>
            <a:ext cx="12567568" cy="1673058"/>
          </a:xfrm>
          <a:prstGeom prst="rect">
            <a:avLst/>
          </a:prstGeom>
        </p:spPr>
        <p:txBody>
          <a:bodyPr>
            <a:normAutofit fontScale="90000"/>
          </a:bodyPr>
          <a:lstStyle/>
          <a:p>
            <a:r>
              <a:rPr lang="en-US" dirty="0"/>
              <a:t>Attenuation: </a:t>
            </a:r>
            <a:r>
              <a:rPr lang="en-US" dirty="0" err="1"/>
              <a:t>nonuniform</a:t>
            </a:r>
            <a:r>
              <a:rPr lang="en-US" dirty="0"/>
              <a:t> material</a:t>
            </a:r>
            <a:endParaRPr dirty="0"/>
          </a:p>
        </p:txBody>
      </p:sp>
    </p:spTree>
    <p:extLst>
      <p:ext uri="{BB962C8B-B14F-4D97-AF65-F5344CB8AC3E}">
        <p14:creationId xmlns:p14="http://schemas.microsoft.com/office/powerpoint/2010/main" val="1988031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p:cNvGrpSpPr/>
          <p:nvPr/>
        </p:nvGrpSpPr>
        <p:grpSpPr>
          <a:xfrm>
            <a:off x="-2772061" y="4498257"/>
            <a:ext cx="11949316" cy="1403066"/>
            <a:chOff x="-1288706" y="4034608"/>
            <a:chExt cx="8401863" cy="986531"/>
          </a:xfrm>
        </p:grpSpPr>
        <p:grpSp>
          <p:nvGrpSpPr>
            <p:cNvPr id="53" name="Group 52"/>
            <p:cNvGrpSpPr/>
            <p:nvPr/>
          </p:nvGrpSpPr>
          <p:grpSpPr>
            <a:xfrm>
              <a:off x="-1288706" y="4034608"/>
              <a:ext cx="6817176" cy="986362"/>
              <a:chOff x="-1288706" y="4034608"/>
              <a:chExt cx="6817176" cy="986362"/>
            </a:xfrm>
          </p:grpSpPr>
          <p:grpSp>
            <p:nvGrpSpPr>
              <p:cNvPr id="55" name="Group 54"/>
              <p:cNvGrpSpPr/>
              <p:nvPr/>
            </p:nvGrpSpPr>
            <p:grpSpPr>
              <a:xfrm>
                <a:off x="1177133" y="4034608"/>
                <a:ext cx="4351337" cy="889628"/>
                <a:chOff x="855987" y="1478421"/>
                <a:chExt cx="4351337" cy="889628"/>
              </a:xfrm>
            </p:grpSpPr>
            <p:sp>
              <p:nvSpPr>
                <p:cNvPr id="57" name="Rectangle 56"/>
                <p:cNvSpPr/>
                <p:nvPr/>
              </p:nvSpPr>
              <p:spPr>
                <a:xfrm>
                  <a:off x="855987" y="1612927"/>
                  <a:ext cx="4351337" cy="748075"/>
                </a:xfrm>
                <a:prstGeom prst="rect">
                  <a:avLst/>
                </a:prstGeom>
                <a:gradFill flip="none" rotWithShape="1">
                  <a:gsLst>
                    <a:gs pos="0">
                      <a:srgbClr val="0000FF"/>
                    </a:gs>
                    <a:gs pos="20000">
                      <a:srgbClr val="3366FF"/>
                    </a:gs>
                    <a:gs pos="62000">
                      <a:srgbClr val="1ED3FF"/>
                    </a:gs>
                    <a:gs pos="92000">
                      <a:srgbClr val="11FAFF"/>
                    </a:gs>
                  </a:gsLst>
                  <a:lin ang="0" scaled="1"/>
                  <a:tileRect/>
                </a:grad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58" name="Rectangle 57"/>
                <p:cNvSpPr/>
                <p:nvPr/>
              </p:nvSpPr>
              <p:spPr>
                <a:xfrm>
                  <a:off x="855987"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59" name="Rectangle 58"/>
                <p:cNvSpPr/>
                <p:nvPr/>
              </p:nvSpPr>
              <p:spPr>
                <a:xfrm>
                  <a:off x="1543501"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60" name="Rectangle 59"/>
                <p:cNvSpPr/>
                <p:nvPr/>
              </p:nvSpPr>
              <p:spPr>
                <a:xfrm>
                  <a:off x="2242304"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61" name="Rectangle 60"/>
                <p:cNvSpPr/>
                <p:nvPr/>
              </p:nvSpPr>
              <p:spPr>
                <a:xfrm>
                  <a:off x="4513056" y="161292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62" name="Rectangle 61"/>
                <p:cNvSpPr/>
                <p:nvPr/>
              </p:nvSpPr>
              <p:spPr>
                <a:xfrm>
                  <a:off x="2936572" y="1612166"/>
                  <a:ext cx="1576484" cy="749808"/>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63" name="Object 62"/>
                <p:cNvGraphicFramePr>
                  <a:graphicFrameLocks noChangeAspect="1"/>
                </p:cNvGraphicFramePr>
                <p:nvPr>
                  <p:extLst/>
                </p:nvPr>
              </p:nvGraphicFramePr>
              <p:xfrm>
                <a:off x="4576556" y="1631449"/>
                <a:ext cx="571500" cy="647700"/>
              </p:xfrm>
              <a:graphic>
                <a:graphicData uri="http://schemas.openxmlformats.org/presentationml/2006/ole">
                  <mc:AlternateContent xmlns:mc="http://schemas.openxmlformats.org/markup-compatibility/2006">
                    <mc:Choice xmlns:v="urn:schemas-microsoft-com:vml" Requires="v">
                      <p:oleObj spid="_x0000_s9827" name="Equation" r:id="rId3" imgW="190500" imgH="215900" progId="Equation.3">
                        <p:embed/>
                      </p:oleObj>
                    </mc:Choice>
                    <mc:Fallback>
                      <p:oleObj name="Equation" r:id="rId3" imgW="190500" imgH="215900" progId="Equation.3">
                        <p:embed/>
                        <p:pic>
                          <p:nvPicPr>
                            <p:cNvPr id="0" name=""/>
                            <p:cNvPicPr/>
                            <p:nvPr/>
                          </p:nvPicPr>
                          <p:blipFill>
                            <a:blip r:embed="rId4"/>
                            <a:stretch>
                              <a:fillRect/>
                            </a:stretch>
                          </p:blipFill>
                          <p:spPr>
                            <a:xfrm>
                              <a:off x="4576556" y="1631449"/>
                              <a:ext cx="571500" cy="647700"/>
                            </a:xfrm>
                            <a:prstGeom prst="rect">
                              <a:avLst/>
                            </a:prstGeom>
                          </p:spPr>
                        </p:pic>
                      </p:oleObj>
                    </mc:Fallback>
                  </mc:AlternateContent>
                </a:graphicData>
              </a:graphic>
            </p:graphicFrame>
            <p:sp>
              <p:nvSpPr>
                <p:cNvPr id="64" name="TextBox 63"/>
                <p:cNvSpPr txBox="1"/>
                <p:nvPr/>
              </p:nvSpPr>
              <p:spPr>
                <a:xfrm>
                  <a:off x="3068908" y="1478421"/>
                  <a:ext cx="1265972" cy="618965"/>
                </a:xfrm>
                <a:prstGeom prst="rect">
                  <a:avLst/>
                </a:prstGeom>
                <a:noFill/>
              </p:spPr>
              <p:txBody>
                <a:bodyPr wrap="none" rtlCol="0">
                  <a:spAutoFit/>
                </a:bodyPr>
                <a:lstStyle/>
                <a:p>
                  <a:r>
                    <a:rPr lang="en-US" sz="5689" dirty="0"/>
                    <a:t> . . .  </a:t>
                  </a:r>
                </a:p>
              </p:txBody>
            </p:sp>
            <p:graphicFrame>
              <p:nvGraphicFramePr>
                <p:cNvPr id="65" name="Object 64"/>
                <p:cNvGraphicFramePr>
                  <a:graphicFrameLocks noChangeAspect="1"/>
                </p:cNvGraphicFramePr>
                <p:nvPr>
                  <p:extLst/>
                </p:nvPr>
              </p:nvGraphicFramePr>
              <p:xfrm>
                <a:off x="973658" y="1631745"/>
                <a:ext cx="495300" cy="609600"/>
              </p:xfrm>
              <a:graphic>
                <a:graphicData uri="http://schemas.openxmlformats.org/presentationml/2006/ole">
                  <mc:AlternateContent xmlns:mc="http://schemas.openxmlformats.org/markup-compatibility/2006">
                    <mc:Choice xmlns:v="urn:schemas-microsoft-com:vml" Requires="v">
                      <p:oleObj spid="_x0000_s9828" name="Equation" r:id="rId5" imgW="165100" imgH="203200" progId="Equation.3">
                        <p:embed/>
                      </p:oleObj>
                    </mc:Choice>
                    <mc:Fallback>
                      <p:oleObj name="Equation" r:id="rId5" imgW="165100" imgH="203200" progId="Equation.3">
                        <p:embed/>
                        <p:pic>
                          <p:nvPicPr>
                            <p:cNvPr id="0" name=""/>
                            <p:cNvPicPr/>
                            <p:nvPr/>
                          </p:nvPicPr>
                          <p:blipFill>
                            <a:blip r:embed="rId6"/>
                            <a:stretch>
                              <a:fillRect/>
                            </a:stretch>
                          </p:blipFill>
                          <p:spPr>
                            <a:xfrm>
                              <a:off x="973658" y="1631745"/>
                              <a:ext cx="495300" cy="609600"/>
                            </a:xfrm>
                            <a:prstGeom prst="rect">
                              <a:avLst/>
                            </a:prstGeom>
                          </p:spPr>
                        </p:pic>
                      </p:oleObj>
                    </mc:Fallback>
                  </mc:AlternateContent>
                </a:graphicData>
              </a:graphic>
            </p:graphicFrame>
            <p:graphicFrame>
              <p:nvGraphicFramePr>
                <p:cNvPr id="66" name="Object 65"/>
                <p:cNvGraphicFramePr>
                  <a:graphicFrameLocks noChangeAspect="1"/>
                </p:cNvGraphicFramePr>
                <p:nvPr>
                  <p:extLst/>
                </p:nvPr>
              </p:nvGraphicFramePr>
              <p:xfrm>
                <a:off x="2286520" y="1650267"/>
                <a:ext cx="571500" cy="609600"/>
              </p:xfrm>
              <a:graphic>
                <a:graphicData uri="http://schemas.openxmlformats.org/presentationml/2006/ole">
                  <mc:AlternateContent xmlns:mc="http://schemas.openxmlformats.org/markup-compatibility/2006">
                    <mc:Choice xmlns:v="urn:schemas-microsoft-com:vml" Requires="v">
                      <p:oleObj spid="_x0000_s9829" name="Equation" r:id="rId7" imgW="190500" imgH="203200" progId="Equation.3">
                        <p:embed/>
                      </p:oleObj>
                    </mc:Choice>
                    <mc:Fallback>
                      <p:oleObj name="Equation" r:id="rId7" imgW="190500" imgH="203200" progId="Equation.3">
                        <p:embed/>
                        <p:pic>
                          <p:nvPicPr>
                            <p:cNvPr id="0" name=""/>
                            <p:cNvPicPr/>
                            <p:nvPr/>
                          </p:nvPicPr>
                          <p:blipFill>
                            <a:blip r:embed="rId8"/>
                            <a:stretch>
                              <a:fillRect/>
                            </a:stretch>
                          </p:blipFill>
                          <p:spPr>
                            <a:xfrm>
                              <a:off x="2286520" y="1650267"/>
                              <a:ext cx="571500" cy="609600"/>
                            </a:xfrm>
                            <a:prstGeom prst="rect">
                              <a:avLst/>
                            </a:prstGeom>
                          </p:spPr>
                        </p:pic>
                      </p:oleObj>
                    </mc:Fallback>
                  </mc:AlternateContent>
                </a:graphicData>
              </a:graphic>
            </p:graphicFrame>
          </p:grpSp>
          <p:sp>
            <p:nvSpPr>
              <p:cNvPr id="56" name="Rectangle 55"/>
              <p:cNvSpPr/>
              <p:nvPr/>
            </p:nvSpPr>
            <p:spPr>
              <a:xfrm>
                <a:off x="-1288706" y="4149367"/>
                <a:ext cx="3827135" cy="87160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sp>
          <p:nvSpPr>
            <p:cNvPr id="54" name="Rectangle 53"/>
            <p:cNvSpPr/>
            <p:nvPr/>
          </p:nvSpPr>
          <p:spPr>
            <a:xfrm>
              <a:off x="3286022" y="4149536"/>
              <a:ext cx="3827135" cy="87160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grpSp>
        <p:nvGrpSpPr>
          <p:cNvPr id="35" name="Group 34"/>
          <p:cNvGrpSpPr/>
          <p:nvPr/>
        </p:nvGrpSpPr>
        <p:grpSpPr>
          <a:xfrm>
            <a:off x="2650476" y="2679849"/>
            <a:ext cx="6466564" cy="1384764"/>
            <a:chOff x="855987" y="1478421"/>
            <a:chExt cx="4546803" cy="973662"/>
          </a:xfrm>
        </p:grpSpPr>
        <p:grpSp>
          <p:nvGrpSpPr>
            <p:cNvPr id="33" name="Group 32"/>
            <p:cNvGrpSpPr/>
            <p:nvPr/>
          </p:nvGrpSpPr>
          <p:grpSpPr>
            <a:xfrm>
              <a:off x="855987" y="1478421"/>
              <a:ext cx="4351337" cy="889628"/>
              <a:chOff x="855987" y="1478421"/>
              <a:chExt cx="4351337" cy="889628"/>
            </a:xfrm>
          </p:grpSpPr>
          <p:sp>
            <p:nvSpPr>
              <p:cNvPr id="22" name="Rectangle 21"/>
              <p:cNvSpPr/>
              <p:nvPr/>
            </p:nvSpPr>
            <p:spPr>
              <a:xfrm>
                <a:off x="855987" y="1612927"/>
                <a:ext cx="4351337" cy="748075"/>
              </a:xfrm>
              <a:prstGeom prst="rect">
                <a:avLst/>
              </a:prstGeom>
              <a:gradFill flip="none" rotWithShape="1">
                <a:gsLst>
                  <a:gs pos="0">
                    <a:srgbClr val="0000FF"/>
                  </a:gs>
                  <a:gs pos="20000">
                    <a:srgbClr val="3366FF"/>
                  </a:gs>
                  <a:gs pos="62000">
                    <a:srgbClr val="1ED3FF"/>
                  </a:gs>
                  <a:gs pos="92000">
                    <a:srgbClr val="11FAFF"/>
                  </a:gs>
                </a:gsLst>
                <a:lin ang="0" scaled="1"/>
                <a:tileRect/>
              </a:grad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3" name="Rectangle 22"/>
              <p:cNvSpPr/>
              <p:nvPr/>
            </p:nvSpPr>
            <p:spPr>
              <a:xfrm>
                <a:off x="855987"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4" name="Rectangle 23"/>
              <p:cNvSpPr/>
              <p:nvPr/>
            </p:nvSpPr>
            <p:spPr>
              <a:xfrm>
                <a:off x="1543501"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5" name="Rectangle 24"/>
              <p:cNvSpPr/>
              <p:nvPr/>
            </p:nvSpPr>
            <p:spPr>
              <a:xfrm>
                <a:off x="2242304"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6" name="Rectangle 25"/>
              <p:cNvSpPr/>
              <p:nvPr/>
            </p:nvSpPr>
            <p:spPr>
              <a:xfrm>
                <a:off x="4513056" y="161292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7" name="Rectangle 26"/>
              <p:cNvSpPr/>
              <p:nvPr/>
            </p:nvSpPr>
            <p:spPr>
              <a:xfrm>
                <a:off x="2936572" y="1612166"/>
                <a:ext cx="1576484" cy="749808"/>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28" name="Object 27"/>
              <p:cNvGraphicFramePr>
                <a:graphicFrameLocks noChangeAspect="1"/>
              </p:cNvGraphicFramePr>
              <p:nvPr>
                <p:extLst/>
              </p:nvPr>
            </p:nvGraphicFramePr>
            <p:xfrm>
              <a:off x="4576556" y="1631449"/>
              <a:ext cx="571500" cy="647700"/>
            </p:xfrm>
            <a:graphic>
              <a:graphicData uri="http://schemas.openxmlformats.org/presentationml/2006/ole">
                <mc:AlternateContent xmlns:mc="http://schemas.openxmlformats.org/markup-compatibility/2006">
                  <mc:Choice xmlns:v="urn:schemas-microsoft-com:vml" Requires="v">
                    <p:oleObj spid="_x0000_s9830" name="Equation" r:id="rId9" imgW="190500" imgH="215900" progId="Equation.3">
                      <p:embed/>
                    </p:oleObj>
                  </mc:Choice>
                  <mc:Fallback>
                    <p:oleObj name="Equation" r:id="rId9" imgW="190500" imgH="215900" progId="Equation.3">
                      <p:embed/>
                      <p:pic>
                        <p:nvPicPr>
                          <p:cNvPr id="0" name=""/>
                          <p:cNvPicPr/>
                          <p:nvPr/>
                        </p:nvPicPr>
                        <p:blipFill>
                          <a:blip r:embed="rId4"/>
                          <a:stretch>
                            <a:fillRect/>
                          </a:stretch>
                        </p:blipFill>
                        <p:spPr>
                          <a:xfrm>
                            <a:off x="4576556" y="1631449"/>
                            <a:ext cx="571500" cy="647700"/>
                          </a:xfrm>
                          <a:prstGeom prst="rect">
                            <a:avLst/>
                          </a:prstGeom>
                        </p:spPr>
                      </p:pic>
                    </p:oleObj>
                  </mc:Fallback>
                </mc:AlternateContent>
              </a:graphicData>
            </a:graphic>
          </p:graphicFrame>
          <p:sp>
            <p:nvSpPr>
              <p:cNvPr id="29" name="TextBox 28"/>
              <p:cNvSpPr txBox="1"/>
              <p:nvPr/>
            </p:nvSpPr>
            <p:spPr>
              <a:xfrm>
                <a:off x="3068908" y="1478421"/>
                <a:ext cx="1265972" cy="618965"/>
              </a:xfrm>
              <a:prstGeom prst="rect">
                <a:avLst/>
              </a:prstGeom>
              <a:noFill/>
            </p:spPr>
            <p:txBody>
              <a:bodyPr wrap="none" rtlCol="0">
                <a:spAutoFit/>
              </a:bodyPr>
              <a:lstStyle/>
              <a:p>
                <a:r>
                  <a:rPr lang="en-US" sz="5689" dirty="0"/>
                  <a:t> . . .  </a:t>
                </a:r>
              </a:p>
            </p:txBody>
          </p:sp>
          <p:graphicFrame>
            <p:nvGraphicFramePr>
              <p:cNvPr id="30" name="Object 29"/>
              <p:cNvGraphicFramePr>
                <a:graphicFrameLocks noChangeAspect="1"/>
              </p:cNvGraphicFramePr>
              <p:nvPr>
                <p:extLst/>
              </p:nvPr>
            </p:nvGraphicFramePr>
            <p:xfrm>
              <a:off x="973658" y="1631745"/>
              <a:ext cx="495300" cy="609600"/>
            </p:xfrm>
            <a:graphic>
              <a:graphicData uri="http://schemas.openxmlformats.org/presentationml/2006/ole">
                <mc:AlternateContent xmlns:mc="http://schemas.openxmlformats.org/markup-compatibility/2006">
                  <mc:Choice xmlns:v="urn:schemas-microsoft-com:vml" Requires="v">
                    <p:oleObj spid="_x0000_s9831" name="Equation" r:id="rId10" imgW="165100" imgH="203200" progId="Equation.3">
                      <p:embed/>
                    </p:oleObj>
                  </mc:Choice>
                  <mc:Fallback>
                    <p:oleObj name="Equation" r:id="rId10" imgW="165100" imgH="203200" progId="Equation.3">
                      <p:embed/>
                      <p:pic>
                        <p:nvPicPr>
                          <p:cNvPr id="0" name=""/>
                          <p:cNvPicPr/>
                          <p:nvPr/>
                        </p:nvPicPr>
                        <p:blipFill>
                          <a:blip r:embed="rId6"/>
                          <a:stretch>
                            <a:fillRect/>
                          </a:stretch>
                        </p:blipFill>
                        <p:spPr>
                          <a:xfrm>
                            <a:off x="973658" y="1631745"/>
                            <a:ext cx="495300" cy="609600"/>
                          </a:xfrm>
                          <a:prstGeom prst="rect">
                            <a:avLst/>
                          </a:prstGeom>
                        </p:spPr>
                      </p:pic>
                    </p:oleObj>
                  </mc:Fallback>
                </mc:AlternateContent>
              </a:graphicData>
            </a:graphic>
          </p:graphicFrame>
          <p:graphicFrame>
            <p:nvGraphicFramePr>
              <p:cNvPr id="31" name="Object 30"/>
              <p:cNvGraphicFramePr>
                <a:graphicFrameLocks noChangeAspect="1"/>
              </p:cNvGraphicFramePr>
              <p:nvPr>
                <p:extLst/>
              </p:nvPr>
            </p:nvGraphicFramePr>
            <p:xfrm>
              <a:off x="1651520" y="1650267"/>
              <a:ext cx="571500" cy="609600"/>
            </p:xfrm>
            <a:graphic>
              <a:graphicData uri="http://schemas.openxmlformats.org/presentationml/2006/ole">
                <mc:AlternateContent xmlns:mc="http://schemas.openxmlformats.org/markup-compatibility/2006">
                  <mc:Choice xmlns:v="urn:schemas-microsoft-com:vml" Requires="v">
                    <p:oleObj spid="_x0000_s9832" name="Equation" r:id="rId11" imgW="190500" imgH="203200" progId="Equation.3">
                      <p:embed/>
                    </p:oleObj>
                  </mc:Choice>
                  <mc:Fallback>
                    <p:oleObj name="Equation" r:id="rId11" imgW="190500" imgH="203200" progId="Equation.3">
                      <p:embed/>
                      <p:pic>
                        <p:nvPicPr>
                          <p:cNvPr id="0" name=""/>
                          <p:cNvPicPr/>
                          <p:nvPr/>
                        </p:nvPicPr>
                        <p:blipFill>
                          <a:blip r:embed="rId8"/>
                          <a:stretch>
                            <a:fillRect/>
                          </a:stretch>
                        </p:blipFill>
                        <p:spPr>
                          <a:xfrm>
                            <a:off x="1651520" y="1650267"/>
                            <a:ext cx="571500" cy="609600"/>
                          </a:xfrm>
                          <a:prstGeom prst="rect">
                            <a:avLst/>
                          </a:prstGeom>
                        </p:spPr>
                      </p:pic>
                    </p:oleObj>
                  </mc:Fallback>
                </mc:AlternateContent>
              </a:graphicData>
            </a:graphic>
          </p:graphicFrame>
          <p:graphicFrame>
            <p:nvGraphicFramePr>
              <p:cNvPr id="32" name="Object 31"/>
              <p:cNvGraphicFramePr>
                <a:graphicFrameLocks noChangeAspect="1"/>
              </p:cNvGraphicFramePr>
              <p:nvPr>
                <p:extLst/>
              </p:nvPr>
            </p:nvGraphicFramePr>
            <p:xfrm>
              <a:off x="2305571" y="1669845"/>
              <a:ext cx="533400" cy="647700"/>
            </p:xfrm>
            <a:graphic>
              <a:graphicData uri="http://schemas.openxmlformats.org/presentationml/2006/ole">
                <mc:AlternateContent xmlns:mc="http://schemas.openxmlformats.org/markup-compatibility/2006">
                  <mc:Choice xmlns:v="urn:schemas-microsoft-com:vml" Requires="v">
                    <p:oleObj spid="_x0000_s9833" name="Equation" r:id="rId12" imgW="177800" imgH="215900" progId="Equation.3">
                      <p:embed/>
                    </p:oleObj>
                  </mc:Choice>
                  <mc:Fallback>
                    <p:oleObj name="Equation" r:id="rId12" imgW="177800" imgH="215900" progId="Equation.3">
                      <p:embed/>
                      <p:pic>
                        <p:nvPicPr>
                          <p:cNvPr id="0" name=""/>
                          <p:cNvPicPr/>
                          <p:nvPr/>
                        </p:nvPicPr>
                        <p:blipFill>
                          <a:blip r:embed="rId13"/>
                          <a:stretch>
                            <a:fillRect/>
                          </a:stretch>
                        </p:blipFill>
                        <p:spPr>
                          <a:xfrm>
                            <a:off x="2305571" y="1669845"/>
                            <a:ext cx="533400" cy="647700"/>
                          </a:xfrm>
                          <a:prstGeom prst="rect">
                            <a:avLst/>
                          </a:prstGeom>
                        </p:spPr>
                      </p:pic>
                    </p:oleObj>
                  </mc:Fallback>
                </mc:AlternateContent>
              </a:graphicData>
            </a:graphic>
          </p:graphicFrame>
        </p:grpSp>
        <p:sp>
          <p:nvSpPr>
            <p:cNvPr id="34" name="Rectangle 33"/>
            <p:cNvSpPr/>
            <p:nvPr/>
          </p:nvSpPr>
          <p:spPr>
            <a:xfrm>
              <a:off x="1575655" y="1580480"/>
              <a:ext cx="3827135" cy="87160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cxnSp>
        <p:nvCxnSpPr>
          <p:cNvPr id="5" name="Straight Arrow Connector 4"/>
          <p:cNvCxnSpPr/>
          <p:nvPr/>
        </p:nvCxnSpPr>
        <p:spPr>
          <a:xfrm>
            <a:off x="3809624" y="3404449"/>
            <a:ext cx="746571"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7" name="Object 6"/>
          <p:cNvGraphicFramePr>
            <a:graphicFrameLocks noChangeAspect="1"/>
          </p:cNvGraphicFramePr>
          <p:nvPr>
            <p:extLst/>
          </p:nvPr>
        </p:nvGraphicFramePr>
        <p:xfrm>
          <a:off x="1124372" y="2971337"/>
          <a:ext cx="650240" cy="921173"/>
        </p:xfrm>
        <a:graphic>
          <a:graphicData uri="http://schemas.openxmlformats.org/presentationml/2006/ole">
            <mc:AlternateContent xmlns:mc="http://schemas.openxmlformats.org/markup-compatibility/2006">
              <mc:Choice xmlns:v="urn:schemas-microsoft-com:vml" Requires="v">
                <p:oleObj spid="_x0000_s9834" name="Equation" r:id="rId14" imgW="152400" imgH="215900" progId="Equation.3">
                  <p:embed/>
                </p:oleObj>
              </mc:Choice>
              <mc:Fallback>
                <p:oleObj name="Equation" r:id="rId14" imgW="152400" imgH="215900" progId="Equation.3">
                  <p:embed/>
                  <p:pic>
                    <p:nvPicPr>
                      <p:cNvPr id="0" name=""/>
                      <p:cNvPicPr/>
                      <p:nvPr/>
                    </p:nvPicPr>
                    <p:blipFill>
                      <a:blip r:embed="rId15"/>
                      <a:stretch>
                        <a:fillRect/>
                      </a:stretch>
                    </p:blipFill>
                    <p:spPr>
                      <a:xfrm>
                        <a:off x="1124372" y="2971337"/>
                        <a:ext cx="650240" cy="921173"/>
                      </a:xfrm>
                      <a:prstGeom prst="rect">
                        <a:avLst/>
                      </a:prstGeom>
                    </p:spPr>
                  </p:pic>
                </p:oleObj>
              </mc:Fallback>
            </mc:AlternateContent>
          </a:graphicData>
        </a:graphic>
      </p:graphicFrame>
      <p:cxnSp>
        <p:nvCxnSpPr>
          <p:cNvPr id="8" name="Straight Arrow Connector 7"/>
          <p:cNvCxnSpPr/>
          <p:nvPr/>
        </p:nvCxnSpPr>
        <p:spPr>
          <a:xfrm>
            <a:off x="1774613" y="3386386"/>
            <a:ext cx="746571"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11" name="Group 10"/>
          <p:cNvGrpSpPr/>
          <p:nvPr/>
        </p:nvGrpSpPr>
        <p:grpSpPr>
          <a:xfrm>
            <a:off x="1012982" y="4656315"/>
            <a:ext cx="10492646" cy="1948978"/>
            <a:chOff x="704846" y="2602052"/>
            <a:chExt cx="7377642" cy="1370375"/>
          </a:xfrm>
        </p:grpSpPr>
        <p:grpSp>
          <p:nvGrpSpPr>
            <p:cNvPr id="14" name="Group 13"/>
            <p:cNvGrpSpPr/>
            <p:nvPr/>
          </p:nvGrpSpPr>
          <p:grpSpPr>
            <a:xfrm>
              <a:off x="704846" y="2602052"/>
              <a:ext cx="7377642" cy="739580"/>
              <a:chOff x="687913" y="2468172"/>
              <a:chExt cx="7377642" cy="739580"/>
            </a:xfrm>
          </p:grpSpPr>
          <p:graphicFrame>
            <p:nvGraphicFramePr>
              <p:cNvPr id="16" name="Object 15"/>
              <p:cNvGraphicFramePr>
                <a:graphicFrameLocks noChangeAspect="1"/>
              </p:cNvGraphicFramePr>
              <p:nvPr>
                <p:extLst/>
              </p:nvPr>
            </p:nvGraphicFramePr>
            <p:xfrm>
              <a:off x="3226855" y="2468172"/>
              <a:ext cx="2171700" cy="685800"/>
            </p:xfrm>
            <a:graphic>
              <a:graphicData uri="http://schemas.openxmlformats.org/presentationml/2006/ole">
                <mc:AlternateContent xmlns:mc="http://schemas.openxmlformats.org/markup-compatibility/2006">
                  <mc:Choice xmlns:v="urn:schemas-microsoft-com:vml" Requires="v">
                    <p:oleObj spid="_x0000_s9835" name="Equation" r:id="rId16" imgW="723900" imgH="228600" progId="Equation.3">
                      <p:embed/>
                    </p:oleObj>
                  </mc:Choice>
                  <mc:Fallback>
                    <p:oleObj name="Equation" r:id="rId16" imgW="723900" imgH="228600" progId="Equation.3">
                      <p:embed/>
                      <p:pic>
                        <p:nvPicPr>
                          <p:cNvPr id="0" name=""/>
                          <p:cNvPicPr/>
                          <p:nvPr/>
                        </p:nvPicPr>
                        <p:blipFill>
                          <a:blip r:embed="rId17"/>
                          <a:stretch>
                            <a:fillRect/>
                          </a:stretch>
                        </p:blipFill>
                        <p:spPr>
                          <a:xfrm>
                            <a:off x="3226855" y="2468172"/>
                            <a:ext cx="2171700" cy="685800"/>
                          </a:xfrm>
                          <a:prstGeom prst="rect">
                            <a:avLst/>
                          </a:prstGeom>
                        </p:spPr>
                      </p:pic>
                    </p:oleObj>
                  </mc:Fallback>
                </mc:AlternateContent>
              </a:graphicData>
            </a:graphic>
          </p:graphicFrame>
          <p:graphicFrame>
            <p:nvGraphicFramePr>
              <p:cNvPr id="17" name="Object 16"/>
              <p:cNvGraphicFramePr>
                <a:graphicFrameLocks noChangeAspect="1"/>
              </p:cNvGraphicFramePr>
              <p:nvPr>
                <p:extLst/>
              </p:nvPr>
            </p:nvGraphicFramePr>
            <p:xfrm>
              <a:off x="5398555" y="2483852"/>
              <a:ext cx="2667000" cy="723900"/>
            </p:xfrm>
            <a:graphic>
              <a:graphicData uri="http://schemas.openxmlformats.org/presentationml/2006/ole">
                <mc:AlternateContent xmlns:mc="http://schemas.openxmlformats.org/markup-compatibility/2006">
                  <mc:Choice xmlns:v="urn:schemas-microsoft-com:vml" Requires="v">
                    <p:oleObj spid="_x0000_s9836" name="Equation" r:id="rId18" imgW="889000" imgH="241300" progId="Equation.3">
                      <p:embed/>
                    </p:oleObj>
                  </mc:Choice>
                  <mc:Fallback>
                    <p:oleObj name="Equation" r:id="rId18" imgW="889000" imgH="241300" progId="Equation.3">
                      <p:embed/>
                      <p:pic>
                        <p:nvPicPr>
                          <p:cNvPr id="0" name=""/>
                          <p:cNvPicPr/>
                          <p:nvPr/>
                        </p:nvPicPr>
                        <p:blipFill>
                          <a:blip r:embed="rId19"/>
                          <a:stretch>
                            <a:fillRect/>
                          </a:stretch>
                        </p:blipFill>
                        <p:spPr>
                          <a:xfrm>
                            <a:off x="5398555" y="2483852"/>
                            <a:ext cx="2667000" cy="723900"/>
                          </a:xfrm>
                          <a:prstGeom prst="rect">
                            <a:avLst/>
                          </a:prstGeom>
                        </p:spPr>
                      </p:pic>
                    </p:oleObj>
                  </mc:Fallback>
                </mc:AlternateContent>
              </a:graphicData>
            </a:graphic>
          </p:graphicFrame>
          <p:cxnSp>
            <p:nvCxnSpPr>
              <p:cNvPr id="18" name="Straight Arrow Connector 17"/>
              <p:cNvCxnSpPr/>
              <p:nvPr/>
            </p:nvCxnSpPr>
            <p:spPr>
              <a:xfrm>
                <a:off x="1230839" y="2804068"/>
                <a:ext cx="52493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677579" y="2815406"/>
                <a:ext cx="52493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20" name="Object 19"/>
              <p:cNvGraphicFramePr>
                <a:graphicFrameLocks noChangeAspect="1"/>
              </p:cNvGraphicFramePr>
              <p:nvPr>
                <p:extLst/>
              </p:nvPr>
            </p:nvGraphicFramePr>
            <p:xfrm>
              <a:off x="687913" y="2484717"/>
              <a:ext cx="419100" cy="609600"/>
            </p:xfrm>
            <a:graphic>
              <a:graphicData uri="http://schemas.openxmlformats.org/presentationml/2006/ole">
                <mc:AlternateContent xmlns:mc="http://schemas.openxmlformats.org/markup-compatibility/2006">
                  <mc:Choice xmlns:v="urn:schemas-microsoft-com:vml" Requires="v">
                    <p:oleObj spid="_x0000_s9837" name="Equation" r:id="rId20" imgW="139700" imgH="203200" progId="Equation.3">
                      <p:embed/>
                    </p:oleObj>
                  </mc:Choice>
                  <mc:Fallback>
                    <p:oleObj name="Equation" r:id="rId20" imgW="139700" imgH="203200" progId="Equation.3">
                      <p:embed/>
                      <p:pic>
                        <p:nvPicPr>
                          <p:cNvPr id="0" name=""/>
                          <p:cNvPicPr/>
                          <p:nvPr/>
                        </p:nvPicPr>
                        <p:blipFill>
                          <a:blip r:embed="rId21"/>
                          <a:stretch>
                            <a:fillRect/>
                          </a:stretch>
                        </p:blipFill>
                        <p:spPr>
                          <a:xfrm>
                            <a:off x="687913" y="2484717"/>
                            <a:ext cx="419100" cy="609600"/>
                          </a:xfrm>
                          <a:prstGeom prst="rect">
                            <a:avLst/>
                          </a:prstGeom>
                        </p:spPr>
                      </p:pic>
                    </p:oleObj>
                  </mc:Fallback>
                </mc:AlternateContent>
              </a:graphicData>
            </a:graphic>
          </p:graphicFrame>
        </p:grpSp>
        <p:graphicFrame>
          <p:nvGraphicFramePr>
            <p:cNvPr id="13" name="Object 12"/>
            <p:cNvGraphicFramePr>
              <a:graphicFrameLocks noChangeAspect="1"/>
            </p:cNvGraphicFramePr>
            <p:nvPr>
              <p:extLst/>
            </p:nvPr>
          </p:nvGraphicFramePr>
          <p:xfrm>
            <a:off x="5415488" y="3248527"/>
            <a:ext cx="2362200" cy="723900"/>
          </p:xfrm>
          <a:graphic>
            <a:graphicData uri="http://schemas.openxmlformats.org/presentationml/2006/ole">
              <mc:AlternateContent xmlns:mc="http://schemas.openxmlformats.org/markup-compatibility/2006">
                <mc:Choice xmlns:v="urn:schemas-microsoft-com:vml" Requires="v">
                  <p:oleObj spid="_x0000_s9838" name="Equation" r:id="rId22" imgW="787400" imgH="241300" progId="Equation.3">
                    <p:embed/>
                  </p:oleObj>
                </mc:Choice>
                <mc:Fallback>
                  <p:oleObj name="Equation" r:id="rId22" imgW="787400" imgH="241300" progId="Equation.3">
                    <p:embed/>
                    <p:pic>
                      <p:nvPicPr>
                        <p:cNvPr id="0" name=""/>
                        <p:cNvPicPr/>
                        <p:nvPr/>
                      </p:nvPicPr>
                      <p:blipFill>
                        <a:blip r:embed="rId23"/>
                        <a:stretch>
                          <a:fillRect/>
                        </a:stretch>
                      </p:blipFill>
                      <p:spPr>
                        <a:xfrm>
                          <a:off x="5415488" y="3248527"/>
                          <a:ext cx="2362200" cy="723900"/>
                        </a:xfrm>
                        <a:prstGeom prst="rect">
                          <a:avLst/>
                        </a:prstGeom>
                      </p:spPr>
                    </p:pic>
                  </p:oleObj>
                </mc:Fallback>
              </mc:AlternateContent>
            </a:graphicData>
          </a:graphic>
        </p:graphicFrame>
      </p:grpSp>
      <p:grpSp>
        <p:nvGrpSpPr>
          <p:cNvPr id="75" name="Group 74"/>
          <p:cNvGrpSpPr/>
          <p:nvPr/>
        </p:nvGrpSpPr>
        <p:grpSpPr>
          <a:xfrm>
            <a:off x="-2743836" y="6627562"/>
            <a:ext cx="11949316" cy="1403066"/>
            <a:chOff x="-1288706" y="4034608"/>
            <a:chExt cx="8401863" cy="986531"/>
          </a:xfrm>
        </p:grpSpPr>
        <p:grpSp>
          <p:nvGrpSpPr>
            <p:cNvPr id="76" name="Group 75"/>
            <p:cNvGrpSpPr/>
            <p:nvPr/>
          </p:nvGrpSpPr>
          <p:grpSpPr>
            <a:xfrm>
              <a:off x="-1288706" y="4034608"/>
              <a:ext cx="6817176" cy="986362"/>
              <a:chOff x="-1288706" y="4034608"/>
              <a:chExt cx="6817176" cy="986362"/>
            </a:xfrm>
          </p:grpSpPr>
          <p:grpSp>
            <p:nvGrpSpPr>
              <p:cNvPr id="78" name="Group 77"/>
              <p:cNvGrpSpPr/>
              <p:nvPr/>
            </p:nvGrpSpPr>
            <p:grpSpPr>
              <a:xfrm>
                <a:off x="228829" y="4034608"/>
                <a:ext cx="5299641" cy="889628"/>
                <a:chOff x="-92317" y="1478421"/>
                <a:chExt cx="5299641" cy="889628"/>
              </a:xfrm>
            </p:grpSpPr>
            <p:sp>
              <p:nvSpPr>
                <p:cNvPr id="80" name="Rectangle 79"/>
                <p:cNvSpPr/>
                <p:nvPr/>
              </p:nvSpPr>
              <p:spPr>
                <a:xfrm>
                  <a:off x="-92317" y="1612927"/>
                  <a:ext cx="4351337" cy="748075"/>
                </a:xfrm>
                <a:prstGeom prst="rect">
                  <a:avLst/>
                </a:prstGeom>
                <a:gradFill flip="none" rotWithShape="1">
                  <a:gsLst>
                    <a:gs pos="0">
                      <a:srgbClr val="0000FF"/>
                    </a:gs>
                    <a:gs pos="20000">
                      <a:srgbClr val="3366FF"/>
                    </a:gs>
                    <a:gs pos="62000">
                      <a:srgbClr val="1ED3FF"/>
                    </a:gs>
                    <a:gs pos="92000">
                      <a:srgbClr val="11FAFF"/>
                    </a:gs>
                  </a:gsLst>
                  <a:lin ang="0" scaled="1"/>
                  <a:tileRect/>
                </a:grad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81" name="Rectangle 80"/>
                <p:cNvSpPr/>
                <p:nvPr/>
              </p:nvSpPr>
              <p:spPr>
                <a:xfrm>
                  <a:off x="855987"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82" name="Rectangle 81"/>
                <p:cNvSpPr/>
                <p:nvPr/>
              </p:nvSpPr>
              <p:spPr>
                <a:xfrm>
                  <a:off x="1543501"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83" name="Rectangle 82"/>
                <p:cNvSpPr/>
                <p:nvPr/>
              </p:nvSpPr>
              <p:spPr>
                <a:xfrm>
                  <a:off x="2242304" y="1605880"/>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84" name="Rectangle 83"/>
                <p:cNvSpPr/>
                <p:nvPr/>
              </p:nvSpPr>
              <p:spPr>
                <a:xfrm>
                  <a:off x="4513056" y="161292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85" name="Rectangle 84"/>
                <p:cNvSpPr/>
                <p:nvPr/>
              </p:nvSpPr>
              <p:spPr>
                <a:xfrm>
                  <a:off x="2936572" y="1612166"/>
                  <a:ext cx="1576484" cy="749808"/>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86" name="Object 85"/>
                <p:cNvGraphicFramePr>
                  <a:graphicFrameLocks noChangeAspect="1"/>
                </p:cNvGraphicFramePr>
                <p:nvPr>
                  <p:extLst/>
                </p:nvPr>
              </p:nvGraphicFramePr>
              <p:xfrm>
                <a:off x="4576556" y="1631449"/>
                <a:ext cx="571500" cy="647700"/>
              </p:xfrm>
              <a:graphic>
                <a:graphicData uri="http://schemas.openxmlformats.org/presentationml/2006/ole">
                  <mc:AlternateContent xmlns:mc="http://schemas.openxmlformats.org/markup-compatibility/2006">
                    <mc:Choice xmlns:v="urn:schemas-microsoft-com:vml" Requires="v">
                      <p:oleObj spid="_x0000_s9839" name="Equation" r:id="rId24" imgW="190500" imgH="215900" progId="Equation.3">
                        <p:embed/>
                      </p:oleObj>
                    </mc:Choice>
                    <mc:Fallback>
                      <p:oleObj name="Equation" r:id="rId24" imgW="190500" imgH="215900" progId="Equation.3">
                        <p:embed/>
                        <p:pic>
                          <p:nvPicPr>
                            <p:cNvPr id="0" name=""/>
                            <p:cNvPicPr/>
                            <p:nvPr/>
                          </p:nvPicPr>
                          <p:blipFill>
                            <a:blip r:embed="rId4"/>
                            <a:stretch>
                              <a:fillRect/>
                            </a:stretch>
                          </p:blipFill>
                          <p:spPr>
                            <a:xfrm>
                              <a:off x="4576556" y="1631449"/>
                              <a:ext cx="571500" cy="647700"/>
                            </a:xfrm>
                            <a:prstGeom prst="rect">
                              <a:avLst/>
                            </a:prstGeom>
                          </p:spPr>
                        </p:pic>
                      </p:oleObj>
                    </mc:Fallback>
                  </mc:AlternateContent>
                </a:graphicData>
              </a:graphic>
            </p:graphicFrame>
            <p:sp>
              <p:nvSpPr>
                <p:cNvPr id="87" name="TextBox 86"/>
                <p:cNvSpPr txBox="1"/>
                <p:nvPr/>
              </p:nvSpPr>
              <p:spPr>
                <a:xfrm>
                  <a:off x="3068908" y="1478421"/>
                  <a:ext cx="1265972" cy="618965"/>
                </a:xfrm>
                <a:prstGeom prst="rect">
                  <a:avLst/>
                </a:prstGeom>
                <a:noFill/>
              </p:spPr>
              <p:txBody>
                <a:bodyPr wrap="none" rtlCol="0">
                  <a:spAutoFit/>
                </a:bodyPr>
                <a:lstStyle/>
                <a:p>
                  <a:r>
                    <a:rPr lang="en-US" sz="5689" dirty="0"/>
                    <a:t> . . .  </a:t>
                  </a:r>
                </a:p>
              </p:txBody>
            </p:sp>
            <p:graphicFrame>
              <p:nvGraphicFramePr>
                <p:cNvPr id="88" name="Object 87"/>
                <p:cNvGraphicFramePr>
                  <a:graphicFrameLocks noChangeAspect="1"/>
                </p:cNvGraphicFramePr>
                <p:nvPr>
                  <p:extLst/>
                </p:nvPr>
              </p:nvGraphicFramePr>
              <p:xfrm>
                <a:off x="973658" y="1631745"/>
                <a:ext cx="495300" cy="609600"/>
              </p:xfrm>
              <a:graphic>
                <a:graphicData uri="http://schemas.openxmlformats.org/presentationml/2006/ole">
                  <mc:AlternateContent xmlns:mc="http://schemas.openxmlformats.org/markup-compatibility/2006">
                    <mc:Choice xmlns:v="urn:schemas-microsoft-com:vml" Requires="v">
                      <p:oleObj spid="_x0000_s9840" name="Equation" r:id="rId25" imgW="165100" imgH="203200" progId="Equation.3">
                        <p:embed/>
                      </p:oleObj>
                    </mc:Choice>
                    <mc:Fallback>
                      <p:oleObj name="Equation" r:id="rId25" imgW="165100" imgH="203200" progId="Equation.3">
                        <p:embed/>
                        <p:pic>
                          <p:nvPicPr>
                            <p:cNvPr id="0" name=""/>
                            <p:cNvPicPr/>
                            <p:nvPr/>
                          </p:nvPicPr>
                          <p:blipFill>
                            <a:blip r:embed="rId6"/>
                            <a:stretch>
                              <a:fillRect/>
                            </a:stretch>
                          </p:blipFill>
                          <p:spPr>
                            <a:xfrm>
                              <a:off x="973658" y="1631745"/>
                              <a:ext cx="495300" cy="609600"/>
                            </a:xfrm>
                            <a:prstGeom prst="rect">
                              <a:avLst/>
                            </a:prstGeom>
                          </p:spPr>
                        </p:pic>
                      </p:oleObj>
                    </mc:Fallback>
                  </mc:AlternateContent>
                </a:graphicData>
              </a:graphic>
            </p:graphicFrame>
            <p:graphicFrame>
              <p:nvGraphicFramePr>
                <p:cNvPr id="89" name="Object 88"/>
                <p:cNvGraphicFramePr>
                  <a:graphicFrameLocks noChangeAspect="1"/>
                </p:cNvGraphicFramePr>
                <p:nvPr>
                  <p:extLst/>
                </p:nvPr>
              </p:nvGraphicFramePr>
              <p:xfrm>
                <a:off x="2337121" y="1631717"/>
                <a:ext cx="571500" cy="647700"/>
              </p:xfrm>
              <a:graphic>
                <a:graphicData uri="http://schemas.openxmlformats.org/presentationml/2006/ole">
                  <mc:AlternateContent xmlns:mc="http://schemas.openxmlformats.org/markup-compatibility/2006">
                    <mc:Choice xmlns:v="urn:schemas-microsoft-com:vml" Requires="v">
                      <p:oleObj spid="_x0000_s9841" name="Equation" r:id="rId26" imgW="190500" imgH="215900" progId="Equation.3">
                        <p:embed/>
                      </p:oleObj>
                    </mc:Choice>
                    <mc:Fallback>
                      <p:oleObj name="Equation" r:id="rId26" imgW="190500" imgH="215900" progId="Equation.3">
                        <p:embed/>
                        <p:pic>
                          <p:nvPicPr>
                            <p:cNvPr id="0" name=""/>
                            <p:cNvPicPr/>
                            <p:nvPr/>
                          </p:nvPicPr>
                          <p:blipFill>
                            <a:blip r:embed="rId27"/>
                            <a:stretch>
                              <a:fillRect/>
                            </a:stretch>
                          </p:blipFill>
                          <p:spPr>
                            <a:xfrm>
                              <a:off x="2337121" y="1631717"/>
                              <a:ext cx="571500" cy="647700"/>
                            </a:xfrm>
                            <a:prstGeom prst="rect">
                              <a:avLst/>
                            </a:prstGeom>
                          </p:spPr>
                        </p:pic>
                      </p:oleObj>
                    </mc:Fallback>
                  </mc:AlternateContent>
                </a:graphicData>
              </a:graphic>
            </p:graphicFrame>
          </p:grpSp>
          <p:sp>
            <p:nvSpPr>
              <p:cNvPr id="79" name="Rectangle 78"/>
              <p:cNvSpPr/>
              <p:nvPr/>
            </p:nvSpPr>
            <p:spPr>
              <a:xfrm>
                <a:off x="-1288706" y="4149367"/>
                <a:ext cx="3827135" cy="87160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sp>
          <p:nvSpPr>
            <p:cNvPr id="77" name="Rectangle 76"/>
            <p:cNvSpPr/>
            <p:nvPr/>
          </p:nvSpPr>
          <p:spPr>
            <a:xfrm>
              <a:off x="3286022" y="4149536"/>
              <a:ext cx="3827135" cy="87160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grpSp>
        <p:nvGrpSpPr>
          <p:cNvPr id="91" name="Group 90"/>
          <p:cNvGrpSpPr/>
          <p:nvPr/>
        </p:nvGrpSpPr>
        <p:grpSpPr>
          <a:xfrm>
            <a:off x="824090" y="6757529"/>
            <a:ext cx="7321966" cy="1029547"/>
            <a:chOff x="535252" y="2448421"/>
            <a:chExt cx="5148257" cy="723900"/>
          </a:xfrm>
        </p:grpSpPr>
        <p:graphicFrame>
          <p:nvGraphicFramePr>
            <p:cNvPr id="93" name="Object 92"/>
            <p:cNvGraphicFramePr>
              <a:graphicFrameLocks noChangeAspect="1"/>
            </p:cNvGraphicFramePr>
            <p:nvPr>
              <p:extLst/>
            </p:nvPr>
          </p:nvGraphicFramePr>
          <p:xfrm>
            <a:off x="3207009" y="2448421"/>
            <a:ext cx="2476500" cy="723900"/>
          </p:xfrm>
          <a:graphic>
            <a:graphicData uri="http://schemas.openxmlformats.org/presentationml/2006/ole">
              <mc:AlternateContent xmlns:mc="http://schemas.openxmlformats.org/markup-compatibility/2006">
                <mc:Choice xmlns:v="urn:schemas-microsoft-com:vml" Requires="v">
                  <p:oleObj spid="_x0000_s9842" name="Equation" r:id="rId28" imgW="825500" imgH="241300" progId="Equation.3">
                    <p:embed/>
                  </p:oleObj>
                </mc:Choice>
                <mc:Fallback>
                  <p:oleObj name="Equation" r:id="rId28" imgW="825500" imgH="241300" progId="Equation.3">
                    <p:embed/>
                    <p:pic>
                      <p:nvPicPr>
                        <p:cNvPr id="0" name=""/>
                        <p:cNvPicPr/>
                        <p:nvPr/>
                      </p:nvPicPr>
                      <p:blipFill>
                        <a:blip r:embed="rId29"/>
                        <a:stretch>
                          <a:fillRect/>
                        </a:stretch>
                      </p:blipFill>
                      <p:spPr>
                        <a:xfrm>
                          <a:off x="3207009" y="2448421"/>
                          <a:ext cx="2476500" cy="723900"/>
                        </a:xfrm>
                        <a:prstGeom prst="rect">
                          <a:avLst/>
                        </a:prstGeom>
                      </p:spPr>
                    </p:pic>
                  </p:oleObj>
                </mc:Fallback>
              </mc:AlternateContent>
            </a:graphicData>
          </a:graphic>
        </p:graphicFrame>
        <p:cxnSp>
          <p:nvCxnSpPr>
            <p:cNvPr id="95" name="Straight Arrow Connector 94"/>
            <p:cNvCxnSpPr/>
            <p:nvPr/>
          </p:nvCxnSpPr>
          <p:spPr>
            <a:xfrm>
              <a:off x="1230839" y="2804068"/>
              <a:ext cx="52493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a:off x="2677579" y="2815406"/>
              <a:ext cx="52493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97" name="Object 96"/>
            <p:cNvGraphicFramePr>
              <a:graphicFrameLocks noChangeAspect="1"/>
            </p:cNvGraphicFramePr>
            <p:nvPr>
              <p:extLst/>
            </p:nvPr>
          </p:nvGraphicFramePr>
          <p:xfrm>
            <a:off x="535252" y="2465883"/>
            <a:ext cx="723900" cy="647700"/>
          </p:xfrm>
          <a:graphic>
            <a:graphicData uri="http://schemas.openxmlformats.org/presentationml/2006/ole">
              <mc:AlternateContent xmlns:mc="http://schemas.openxmlformats.org/markup-compatibility/2006">
                <mc:Choice xmlns:v="urn:schemas-microsoft-com:vml" Requires="v">
                  <p:oleObj spid="_x0000_s9843" name="Equation" r:id="rId30" imgW="241300" imgH="215900" progId="Equation.3">
                    <p:embed/>
                  </p:oleObj>
                </mc:Choice>
                <mc:Fallback>
                  <p:oleObj name="Equation" r:id="rId30" imgW="241300" imgH="215900" progId="Equation.3">
                    <p:embed/>
                    <p:pic>
                      <p:nvPicPr>
                        <p:cNvPr id="0" name=""/>
                        <p:cNvPicPr/>
                        <p:nvPr/>
                      </p:nvPicPr>
                      <p:blipFill>
                        <a:blip r:embed="rId31"/>
                        <a:stretch>
                          <a:fillRect/>
                        </a:stretch>
                      </p:blipFill>
                      <p:spPr>
                        <a:xfrm>
                          <a:off x="535252" y="2465883"/>
                          <a:ext cx="723900" cy="647700"/>
                        </a:xfrm>
                        <a:prstGeom prst="rect">
                          <a:avLst/>
                        </a:prstGeom>
                      </p:spPr>
                    </p:pic>
                  </p:oleObj>
                </mc:Fallback>
              </mc:AlternateContent>
            </a:graphicData>
          </a:graphic>
        </p:graphicFrame>
      </p:grpSp>
      <p:graphicFrame>
        <p:nvGraphicFramePr>
          <p:cNvPr id="98" name="Object 97"/>
          <p:cNvGraphicFramePr>
            <a:graphicFrameLocks noChangeAspect="1"/>
          </p:cNvGraphicFramePr>
          <p:nvPr>
            <p:extLst/>
          </p:nvPr>
        </p:nvGraphicFramePr>
        <p:xfrm>
          <a:off x="4613390" y="2889675"/>
          <a:ext cx="3034453" cy="1029547"/>
        </p:xfrm>
        <a:graphic>
          <a:graphicData uri="http://schemas.openxmlformats.org/presentationml/2006/ole">
            <mc:AlternateContent xmlns:mc="http://schemas.openxmlformats.org/markup-compatibility/2006">
              <mc:Choice xmlns:v="urn:schemas-microsoft-com:vml" Requires="v">
                <p:oleObj spid="_x0000_s9844" name="Equation" r:id="rId32" imgW="711200" imgH="241300" progId="Equation.3">
                  <p:embed/>
                </p:oleObj>
              </mc:Choice>
              <mc:Fallback>
                <p:oleObj name="Equation" r:id="rId32" imgW="711200" imgH="241300" progId="Equation.3">
                  <p:embed/>
                  <p:pic>
                    <p:nvPicPr>
                      <p:cNvPr id="0" name=""/>
                      <p:cNvPicPr/>
                      <p:nvPr/>
                    </p:nvPicPr>
                    <p:blipFill>
                      <a:blip r:embed="rId33"/>
                      <a:stretch>
                        <a:fillRect/>
                      </a:stretch>
                    </p:blipFill>
                    <p:spPr>
                      <a:xfrm>
                        <a:off x="4613390" y="2889675"/>
                        <a:ext cx="3034453" cy="1029547"/>
                      </a:xfrm>
                      <a:prstGeom prst="rect">
                        <a:avLst/>
                      </a:prstGeom>
                    </p:spPr>
                  </p:pic>
                </p:oleObj>
              </mc:Fallback>
            </mc:AlternateContent>
          </a:graphicData>
        </a:graphic>
      </p:graphicFrame>
      <p:cxnSp>
        <p:nvCxnSpPr>
          <p:cNvPr id="6" name="Straight Connector 5"/>
          <p:cNvCxnSpPr/>
          <p:nvPr/>
        </p:nvCxnSpPr>
        <p:spPr>
          <a:xfrm>
            <a:off x="3197013" y="6107107"/>
            <a:ext cx="0" cy="498186"/>
          </a:xfrm>
          <a:prstGeom prst="line">
            <a:avLst/>
          </a:prstGeom>
          <a:ln>
            <a:prstDash val="dot"/>
          </a:ln>
        </p:spPr>
        <p:style>
          <a:lnRef idx="2">
            <a:schemeClr val="dk1"/>
          </a:lnRef>
          <a:fillRef idx="0">
            <a:schemeClr val="dk1"/>
          </a:fillRef>
          <a:effectRef idx="1">
            <a:schemeClr val="dk1"/>
          </a:effectRef>
          <a:fontRef idx="minor">
            <a:schemeClr val="tx1"/>
          </a:fontRef>
        </p:style>
      </p:cxnSp>
      <p:graphicFrame>
        <p:nvGraphicFramePr>
          <p:cNvPr id="67" name="Object 66"/>
          <p:cNvGraphicFramePr>
            <a:graphicFrameLocks noChangeAspect="1"/>
          </p:cNvGraphicFramePr>
          <p:nvPr>
            <p:extLst/>
          </p:nvPr>
        </p:nvGraphicFramePr>
        <p:xfrm>
          <a:off x="7712562" y="6817505"/>
          <a:ext cx="4497493" cy="1029547"/>
        </p:xfrm>
        <a:graphic>
          <a:graphicData uri="http://schemas.openxmlformats.org/presentationml/2006/ole">
            <mc:AlternateContent xmlns:mc="http://schemas.openxmlformats.org/markup-compatibility/2006">
              <mc:Choice xmlns:v="urn:schemas-microsoft-com:vml" Requires="v">
                <p:oleObj spid="_x0000_s9845" name="Equation" r:id="rId34" imgW="1054100" imgH="241300" progId="Equation.3">
                  <p:embed/>
                </p:oleObj>
              </mc:Choice>
              <mc:Fallback>
                <p:oleObj name="Equation" r:id="rId34" imgW="1054100" imgH="241300" progId="Equation.3">
                  <p:embed/>
                  <p:pic>
                    <p:nvPicPr>
                      <p:cNvPr id="0" name=""/>
                      <p:cNvPicPr/>
                      <p:nvPr/>
                    </p:nvPicPr>
                    <p:blipFill>
                      <a:blip r:embed="rId35"/>
                      <a:stretch>
                        <a:fillRect/>
                      </a:stretch>
                    </p:blipFill>
                    <p:spPr>
                      <a:xfrm>
                        <a:off x="7712562" y="6817505"/>
                        <a:ext cx="4497493" cy="1029547"/>
                      </a:xfrm>
                      <a:prstGeom prst="rect">
                        <a:avLst/>
                      </a:prstGeom>
                      <a:noFill/>
                    </p:spPr>
                  </p:pic>
                </p:oleObj>
              </mc:Fallback>
            </mc:AlternateContent>
          </a:graphicData>
        </a:graphic>
      </p:graphicFrame>
      <p:sp>
        <p:nvSpPr>
          <p:cNvPr id="3" name="Rectangle 2"/>
          <p:cNvSpPr/>
          <p:nvPr/>
        </p:nvSpPr>
        <p:spPr>
          <a:xfrm>
            <a:off x="9259653" y="6845622"/>
            <a:ext cx="2860085" cy="577951"/>
          </a:xfrm>
          <a:prstGeom prst="rect">
            <a:avLst/>
          </a:prstGeom>
          <a:solidFill>
            <a:schemeClr val="lt1">
              <a:alpha val="0"/>
            </a:schemeClr>
          </a:solidFill>
          <a:ln w="38100" cmpd="sng">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3698">
              <a:solidFill>
                <a:srgbClr val="FF0000"/>
              </a:solidFill>
            </a:endParaRPr>
          </a:p>
        </p:txBody>
      </p:sp>
      <p:sp>
        <p:nvSpPr>
          <p:cNvPr id="68" name="Shape 73"/>
          <p:cNvSpPr>
            <a:spLocks noGrp="1"/>
          </p:cNvSpPr>
          <p:nvPr>
            <p:ph type="title"/>
          </p:nvPr>
        </p:nvSpPr>
        <p:spPr>
          <a:xfrm>
            <a:off x="212643" y="380331"/>
            <a:ext cx="12567568" cy="1673058"/>
          </a:xfrm>
          <a:prstGeom prst="rect">
            <a:avLst/>
          </a:prstGeom>
        </p:spPr>
        <p:txBody>
          <a:bodyPr>
            <a:normAutofit fontScale="90000"/>
          </a:bodyPr>
          <a:lstStyle/>
          <a:p>
            <a:r>
              <a:rPr lang="en-US" dirty="0"/>
              <a:t>Attenuation: </a:t>
            </a:r>
            <a:r>
              <a:rPr lang="en-US" dirty="0" err="1"/>
              <a:t>nonuniform</a:t>
            </a:r>
            <a:r>
              <a:rPr lang="en-US" dirty="0"/>
              <a:t> material</a:t>
            </a:r>
            <a:endParaRPr dirty="0"/>
          </a:p>
        </p:txBody>
      </p:sp>
    </p:spTree>
    <p:extLst>
      <p:ext uri="{BB962C8B-B14F-4D97-AF65-F5344CB8AC3E}">
        <p14:creationId xmlns:p14="http://schemas.microsoft.com/office/powerpoint/2010/main" val="207825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TP_tmp.png"/>
          <p:cNvPicPr>
            <a:picLocks noChangeAspect="1"/>
          </p:cNvPicPr>
          <p:nvPr>
            <p:custDataLst>
              <p:tags r:id="rId2"/>
            </p:custDataLst>
          </p:nvPr>
        </p:nvPicPr>
        <p:blipFill>
          <a:blip r:embed="rId4">
            <a:extLst>
              <a:ext uri="{28A0092B-C50C-407E-A947-70E740481C1C}">
                <a14:useLocalDpi xmlns:a14="http://schemas.microsoft.com/office/drawing/2010/main" val="0"/>
              </a:ext>
            </a:extLst>
          </a:blip>
          <a:stretch>
            <a:fillRect/>
          </a:stretch>
        </p:blipFill>
        <p:spPr bwMode="auto">
          <a:xfrm>
            <a:off x="2566133" y="7242726"/>
            <a:ext cx="7804918" cy="867213"/>
          </a:xfrm>
          <a:prstGeom prst="rect">
            <a:avLst/>
          </a:prstGeom>
          <a:noFill/>
          <a:ln/>
          <a:effectLst/>
          <a:extLst>
            <a:ext uri="{909E8E84-426E-40dd-AFC4-6F175D3DCCD1}">
              <a14:hiddenFill xmlns="" xmlns:a14="http://schemas.microsoft.com/office/drawing/2010/main">
                <a:pattFill prst="pct5">
                  <a:fgClr>
                    <a:srgbClr val="FFFFFF">
                      <a:alpha val="0"/>
                    </a:srgbClr>
                  </a:fgClr>
                  <a:bgClr>
                    <a:srgbClr val="FFFFFF">
                      <a:alpha val="0"/>
                    </a:srgbClr>
                  </a:bgClr>
                </a:pattFill>
              </a14:hiddenFill>
            </a:ext>
            <a:ext uri="{AF507438-7753-43e0-B8FC-AC1667EBCBE1}">
              <a14:hiddenEffects xmlns="" xmlns:a14="http://schemas.microsoft.com/office/drawing/2010/main">
                <a:effectLst>
                  <a:outerShdw blurRad="63500" dist="37357" dir="2700000" rotWithShape="0">
                    <a:scrgbClr r="0" g="0" b="0"/>
                  </a:outerShdw>
                </a:effectLst>
              </a14:hiddenEffects>
            </a:ext>
            <a:ext uri="{31F19639-BCED-4a60-ADC4-E9642A236FB7}">
              <a14:hiddenScene3d xmlns="" xmlns:a14="http://schemas.microsoft.com/office/drawing/2010/main">
                <a:camera prst="orthographicFront">
                  <a:rot lat="0" lon="0" rev="0"/>
                </a:camera>
                <a:lightRig rig="threePt" dir="t">
                  <a:rot lat="0" lon="0" rev="0"/>
                </a:lightRig>
              </a14:hiddenScene3d>
            </a:ext>
            <a:ext uri="{E45631CC-5BF2-4c18-A39C-3461C7D3F71A}">
              <a14:hiddenSp3d xmlns="" xmlns:a14="http://schemas.microsoft.com/office/drawing/2010/main" extrusionH="457200">
                <a:contourClr>
                  <a:srgbClr val="000000"/>
                </a:contourClr>
              </a14:hiddenSp3d>
            </a:ext>
            <a:ext uri="{53640926-AAD7-44d8-BBD7-CCE9431645EC}">
              <a14:shadowObscured xmlns="" xmlns:a14="http://schemas.microsoft.com/office/drawing/2010/main"/>
            </a:ext>
          </a:extLst>
        </p:spPr>
      </p:pic>
      <p:grpSp>
        <p:nvGrpSpPr>
          <p:cNvPr id="28" name="Group 27"/>
          <p:cNvGrpSpPr/>
          <p:nvPr/>
        </p:nvGrpSpPr>
        <p:grpSpPr>
          <a:xfrm>
            <a:off x="1268984" y="3753740"/>
            <a:ext cx="11044868" cy="2671896"/>
            <a:chOff x="892254" y="2639348"/>
            <a:chExt cx="7765923" cy="1878677"/>
          </a:xfrm>
        </p:grpSpPr>
        <p:sp>
          <p:nvSpPr>
            <p:cNvPr id="29" name="Rectangle 28"/>
            <p:cNvSpPr/>
            <p:nvPr/>
          </p:nvSpPr>
          <p:spPr>
            <a:xfrm>
              <a:off x="2333751" y="2773854"/>
              <a:ext cx="4351337" cy="748075"/>
            </a:xfrm>
            <a:prstGeom prst="rect">
              <a:avLst/>
            </a:prstGeom>
            <a:gradFill flip="none" rotWithShape="1">
              <a:gsLst>
                <a:gs pos="0">
                  <a:srgbClr val="0000FF"/>
                </a:gs>
                <a:gs pos="20000">
                  <a:srgbClr val="3366FF"/>
                </a:gs>
                <a:gs pos="62000">
                  <a:srgbClr val="1ED3FF"/>
                </a:gs>
                <a:gs pos="92000">
                  <a:srgbClr val="11FAFF"/>
                </a:gs>
              </a:gsLst>
              <a:lin ang="0" scaled="1"/>
              <a:tileRect/>
            </a:grad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cxnSp>
          <p:nvCxnSpPr>
            <p:cNvPr id="30" name="Straight Arrow Connector 29"/>
            <p:cNvCxnSpPr/>
            <p:nvPr/>
          </p:nvCxnSpPr>
          <p:spPr>
            <a:xfrm>
              <a:off x="2341420" y="3819440"/>
              <a:ext cx="4351337" cy="0"/>
            </a:xfrm>
            <a:prstGeom prst="straightConnector1">
              <a:avLst/>
            </a:prstGeom>
            <a:ln w="25400">
              <a:solidFill>
                <a:schemeClr val="tx1"/>
              </a:solidFill>
              <a:headEnd type="arrow"/>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31" name="Object 30"/>
            <p:cNvGraphicFramePr>
              <a:graphicFrameLocks noChangeAspect="1"/>
            </p:cNvGraphicFramePr>
            <p:nvPr>
              <p:extLst/>
            </p:nvPr>
          </p:nvGraphicFramePr>
          <p:xfrm>
            <a:off x="4373563" y="4060825"/>
            <a:ext cx="419100" cy="457200"/>
          </p:xfrm>
          <a:graphic>
            <a:graphicData uri="http://schemas.openxmlformats.org/presentationml/2006/ole">
              <mc:AlternateContent xmlns:mc="http://schemas.openxmlformats.org/markup-compatibility/2006">
                <mc:Choice xmlns:v="urn:schemas-microsoft-com:vml" Requires="v">
                  <p:oleObj spid="_x0000_s10563" name="Equation" r:id="rId5" imgW="139700" imgH="152400" progId="Equation.3">
                    <p:embed/>
                  </p:oleObj>
                </mc:Choice>
                <mc:Fallback>
                  <p:oleObj name="Equation" r:id="rId5" imgW="139700" imgH="152400" progId="Equation.3">
                    <p:embed/>
                    <p:pic>
                      <p:nvPicPr>
                        <p:cNvPr id="0" name=""/>
                        <p:cNvPicPr/>
                        <p:nvPr/>
                      </p:nvPicPr>
                      <p:blipFill>
                        <a:blip r:embed="rId6"/>
                        <a:stretch>
                          <a:fillRect/>
                        </a:stretch>
                      </p:blipFill>
                      <p:spPr>
                        <a:xfrm>
                          <a:off x="4373563" y="4060825"/>
                          <a:ext cx="419100" cy="457200"/>
                        </a:xfrm>
                        <a:prstGeom prst="rect">
                          <a:avLst/>
                        </a:prstGeom>
                      </p:spPr>
                    </p:pic>
                  </p:oleObj>
                </mc:Fallback>
              </mc:AlternateContent>
            </a:graphicData>
          </a:graphic>
        </p:graphicFrame>
        <p:grpSp>
          <p:nvGrpSpPr>
            <p:cNvPr id="32" name="Group 31"/>
            <p:cNvGrpSpPr/>
            <p:nvPr/>
          </p:nvGrpSpPr>
          <p:grpSpPr>
            <a:xfrm>
              <a:off x="892254" y="2832509"/>
              <a:ext cx="7165076" cy="647700"/>
              <a:chOff x="1310967" y="2868167"/>
              <a:chExt cx="7165076" cy="647700"/>
            </a:xfrm>
          </p:grpSpPr>
          <p:graphicFrame>
            <p:nvGraphicFramePr>
              <p:cNvPr id="45" name="Object 44"/>
              <p:cNvGraphicFramePr>
                <a:graphicFrameLocks noChangeAspect="1"/>
              </p:cNvGraphicFramePr>
              <p:nvPr>
                <p:extLst/>
              </p:nvPr>
            </p:nvGraphicFramePr>
            <p:xfrm>
              <a:off x="1310967" y="2868167"/>
              <a:ext cx="457200" cy="647700"/>
            </p:xfrm>
            <a:graphic>
              <a:graphicData uri="http://schemas.openxmlformats.org/presentationml/2006/ole">
                <mc:AlternateContent xmlns:mc="http://schemas.openxmlformats.org/markup-compatibility/2006">
                  <mc:Choice xmlns:v="urn:schemas-microsoft-com:vml" Requires="v">
                    <p:oleObj spid="_x0000_s10564" name="Equation" r:id="rId7" imgW="152400" imgH="215900" progId="Equation.3">
                      <p:embed/>
                    </p:oleObj>
                  </mc:Choice>
                  <mc:Fallback>
                    <p:oleObj name="Equation" r:id="rId7" imgW="152400" imgH="215900" progId="Equation.3">
                      <p:embed/>
                      <p:pic>
                        <p:nvPicPr>
                          <p:cNvPr id="0" name=""/>
                          <p:cNvPicPr/>
                          <p:nvPr/>
                        </p:nvPicPr>
                        <p:blipFill>
                          <a:blip r:embed="rId8"/>
                          <a:stretch>
                            <a:fillRect/>
                          </a:stretch>
                        </p:blipFill>
                        <p:spPr>
                          <a:xfrm>
                            <a:off x="1310967" y="2868167"/>
                            <a:ext cx="457200" cy="647700"/>
                          </a:xfrm>
                          <a:prstGeom prst="rect">
                            <a:avLst/>
                          </a:prstGeom>
                        </p:spPr>
                      </p:pic>
                    </p:oleObj>
                  </mc:Fallback>
                </mc:AlternateContent>
              </a:graphicData>
            </a:graphic>
          </p:graphicFrame>
          <p:cxnSp>
            <p:nvCxnSpPr>
              <p:cNvPr id="46" name="Straight Arrow Connector 45"/>
              <p:cNvCxnSpPr/>
              <p:nvPr/>
            </p:nvCxnSpPr>
            <p:spPr>
              <a:xfrm>
                <a:off x="1804335" y="3183550"/>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7255982" y="3117849"/>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48" name="Object 47"/>
              <p:cNvGraphicFramePr>
                <a:graphicFrameLocks noChangeAspect="1"/>
              </p:cNvGraphicFramePr>
              <p:nvPr>
                <p:extLst/>
              </p:nvPr>
            </p:nvGraphicFramePr>
            <p:xfrm>
              <a:off x="8133143" y="2890448"/>
              <a:ext cx="342900" cy="457200"/>
            </p:xfrm>
            <a:graphic>
              <a:graphicData uri="http://schemas.openxmlformats.org/presentationml/2006/ole">
                <mc:AlternateContent xmlns:mc="http://schemas.openxmlformats.org/markup-compatibility/2006">
                  <mc:Choice xmlns:v="urn:schemas-microsoft-com:vml" Requires="v">
                    <p:oleObj spid="_x0000_s10565" name="Equation" r:id="rId9" imgW="114300" imgH="152400" progId="Equation.3">
                      <p:embed/>
                    </p:oleObj>
                  </mc:Choice>
                  <mc:Fallback>
                    <p:oleObj name="Equation" r:id="rId9" imgW="114300" imgH="152400" progId="Equation.3">
                      <p:embed/>
                      <p:pic>
                        <p:nvPicPr>
                          <p:cNvPr id="0" name=""/>
                          <p:cNvPicPr/>
                          <p:nvPr/>
                        </p:nvPicPr>
                        <p:blipFill>
                          <a:blip r:embed="rId10"/>
                          <a:stretch>
                            <a:fillRect/>
                          </a:stretch>
                        </p:blipFill>
                        <p:spPr>
                          <a:xfrm>
                            <a:off x="8133143" y="2890448"/>
                            <a:ext cx="342900" cy="457200"/>
                          </a:xfrm>
                          <a:prstGeom prst="rect">
                            <a:avLst/>
                          </a:prstGeom>
                        </p:spPr>
                      </p:pic>
                    </p:oleObj>
                  </mc:Fallback>
                </mc:AlternateContent>
              </a:graphicData>
            </a:graphic>
          </p:graphicFrame>
        </p:grpSp>
        <p:graphicFrame>
          <p:nvGraphicFramePr>
            <p:cNvPr id="33" name="Object 32"/>
            <p:cNvGraphicFramePr>
              <a:graphicFrameLocks noChangeAspect="1"/>
            </p:cNvGraphicFramePr>
            <p:nvPr>
              <p:extLst/>
            </p:nvPr>
          </p:nvGraphicFramePr>
          <p:xfrm>
            <a:off x="8404177" y="3477735"/>
            <a:ext cx="254000" cy="279400"/>
          </p:xfrm>
          <a:graphic>
            <a:graphicData uri="http://schemas.openxmlformats.org/presentationml/2006/ole">
              <mc:AlternateContent xmlns:mc="http://schemas.openxmlformats.org/markup-compatibility/2006">
                <mc:Choice xmlns:v="urn:schemas-microsoft-com:vml" Requires="v">
                  <p:oleObj spid="_x0000_s10566" name="Equation" r:id="rId11" imgW="127000" imgH="139700" progId="Equation.3">
                    <p:embed/>
                  </p:oleObj>
                </mc:Choice>
                <mc:Fallback>
                  <p:oleObj name="Equation" r:id="rId11" imgW="127000" imgH="139700" progId="Equation.3">
                    <p:embed/>
                    <p:pic>
                      <p:nvPicPr>
                        <p:cNvPr id="0" name=""/>
                        <p:cNvPicPr/>
                        <p:nvPr/>
                      </p:nvPicPr>
                      <p:blipFill>
                        <a:blip r:embed="rId12"/>
                        <a:stretch>
                          <a:fillRect/>
                        </a:stretch>
                      </p:blipFill>
                      <p:spPr>
                        <a:xfrm>
                          <a:off x="8404177" y="3477735"/>
                          <a:ext cx="254000" cy="279400"/>
                        </a:xfrm>
                        <a:prstGeom prst="rect">
                          <a:avLst/>
                        </a:prstGeom>
                      </p:spPr>
                    </p:pic>
                  </p:oleObj>
                </mc:Fallback>
              </mc:AlternateContent>
            </a:graphicData>
          </a:graphic>
        </p:graphicFrame>
        <p:cxnSp>
          <p:nvCxnSpPr>
            <p:cNvPr id="34" name="Straight Arrow Connector 33"/>
            <p:cNvCxnSpPr/>
            <p:nvPr/>
          </p:nvCxnSpPr>
          <p:spPr>
            <a:xfrm>
              <a:off x="2333751" y="3617435"/>
              <a:ext cx="600906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333751"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6" name="Rectangle 35"/>
            <p:cNvSpPr/>
            <p:nvPr/>
          </p:nvSpPr>
          <p:spPr>
            <a:xfrm>
              <a:off x="3021265"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7" name="Rectangle 36"/>
            <p:cNvSpPr/>
            <p:nvPr/>
          </p:nvSpPr>
          <p:spPr>
            <a:xfrm>
              <a:off x="3720068"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8" name="Rectangle 37"/>
            <p:cNvSpPr/>
            <p:nvPr/>
          </p:nvSpPr>
          <p:spPr>
            <a:xfrm>
              <a:off x="5990820" y="2773854"/>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9" name="Rectangle 38"/>
            <p:cNvSpPr/>
            <p:nvPr/>
          </p:nvSpPr>
          <p:spPr>
            <a:xfrm>
              <a:off x="4414336" y="2773093"/>
              <a:ext cx="1576484" cy="749808"/>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40" name="Object 39"/>
            <p:cNvGraphicFramePr>
              <a:graphicFrameLocks noChangeAspect="1"/>
            </p:cNvGraphicFramePr>
            <p:nvPr>
              <p:extLst/>
            </p:nvPr>
          </p:nvGraphicFramePr>
          <p:xfrm>
            <a:off x="6054320" y="2792376"/>
            <a:ext cx="571500" cy="647700"/>
          </p:xfrm>
          <a:graphic>
            <a:graphicData uri="http://schemas.openxmlformats.org/presentationml/2006/ole">
              <mc:AlternateContent xmlns:mc="http://schemas.openxmlformats.org/markup-compatibility/2006">
                <mc:Choice xmlns:v="urn:schemas-microsoft-com:vml" Requires="v">
                  <p:oleObj spid="_x0000_s10567" name="Equation" r:id="rId13" imgW="190500" imgH="215900" progId="Equation.3">
                    <p:embed/>
                  </p:oleObj>
                </mc:Choice>
                <mc:Fallback>
                  <p:oleObj name="Equation" r:id="rId13" imgW="190500" imgH="215900" progId="Equation.3">
                    <p:embed/>
                    <p:pic>
                      <p:nvPicPr>
                        <p:cNvPr id="0" name=""/>
                        <p:cNvPicPr/>
                        <p:nvPr/>
                      </p:nvPicPr>
                      <p:blipFill>
                        <a:blip r:embed="rId14"/>
                        <a:stretch>
                          <a:fillRect/>
                        </a:stretch>
                      </p:blipFill>
                      <p:spPr>
                        <a:xfrm>
                          <a:off x="6054320" y="2792376"/>
                          <a:ext cx="571500" cy="647700"/>
                        </a:xfrm>
                        <a:prstGeom prst="rect">
                          <a:avLst/>
                        </a:prstGeom>
                      </p:spPr>
                    </p:pic>
                  </p:oleObj>
                </mc:Fallback>
              </mc:AlternateContent>
            </a:graphicData>
          </a:graphic>
        </p:graphicFrame>
        <p:sp>
          <p:nvSpPr>
            <p:cNvPr id="41" name="TextBox 40"/>
            <p:cNvSpPr txBox="1"/>
            <p:nvPr/>
          </p:nvSpPr>
          <p:spPr>
            <a:xfrm>
              <a:off x="4546672" y="2639348"/>
              <a:ext cx="1265972" cy="618965"/>
            </a:xfrm>
            <a:prstGeom prst="rect">
              <a:avLst/>
            </a:prstGeom>
            <a:noFill/>
          </p:spPr>
          <p:txBody>
            <a:bodyPr wrap="none" rtlCol="0">
              <a:spAutoFit/>
            </a:bodyPr>
            <a:lstStyle/>
            <a:p>
              <a:r>
                <a:rPr lang="en-US" sz="5689" dirty="0"/>
                <a:t> . . .  </a:t>
              </a:r>
            </a:p>
          </p:txBody>
        </p:sp>
        <p:graphicFrame>
          <p:nvGraphicFramePr>
            <p:cNvPr id="42" name="Object 41"/>
            <p:cNvGraphicFramePr>
              <a:graphicFrameLocks noChangeAspect="1"/>
            </p:cNvGraphicFramePr>
            <p:nvPr>
              <p:extLst/>
            </p:nvPr>
          </p:nvGraphicFramePr>
          <p:xfrm>
            <a:off x="2451422" y="2792672"/>
            <a:ext cx="495300" cy="609600"/>
          </p:xfrm>
          <a:graphic>
            <a:graphicData uri="http://schemas.openxmlformats.org/presentationml/2006/ole">
              <mc:AlternateContent xmlns:mc="http://schemas.openxmlformats.org/markup-compatibility/2006">
                <mc:Choice xmlns:v="urn:schemas-microsoft-com:vml" Requires="v">
                  <p:oleObj spid="_x0000_s10568" name="Equation" r:id="rId15" imgW="165100" imgH="203200" progId="Equation.3">
                    <p:embed/>
                  </p:oleObj>
                </mc:Choice>
                <mc:Fallback>
                  <p:oleObj name="Equation" r:id="rId15" imgW="165100" imgH="203200" progId="Equation.3">
                    <p:embed/>
                    <p:pic>
                      <p:nvPicPr>
                        <p:cNvPr id="0" name=""/>
                        <p:cNvPicPr/>
                        <p:nvPr/>
                      </p:nvPicPr>
                      <p:blipFill>
                        <a:blip r:embed="rId16"/>
                        <a:stretch>
                          <a:fillRect/>
                        </a:stretch>
                      </p:blipFill>
                      <p:spPr>
                        <a:xfrm>
                          <a:off x="2451422" y="2792672"/>
                          <a:ext cx="495300" cy="609600"/>
                        </a:xfrm>
                        <a:prstGeom prst="rect">
                          <a:avLst/>
                        </a:prstGeom>
                      </p:spPr>
                    </p:pic>
                  </p:oleObj>
                </mc:Fallback>
              </mc:AlternateContent>
            </a:graphicData>
          </a:graphic>
        </p:graphicFrame>
        <p:graphicFrame>
          <p:nvGraphicFramePr>
            <p:cNvPr id="43" name="Object 42"/>
            <p:cNvGraphicFramePr>
              <a:graphicFrameLocks noChangeAspect="1"/>
            </p:cNvGraphicFramePr>
            <p:nvPr>
              <p:extLst/>
            </p:nvPr>
          </p:nvGraphicFramePr>
          <p:xfrm>
            <a:off x="3129284" y="2811194"/>
            <a:ext cx="571500" cy="609600"/>
          </p:xfrm>
          <a:graphic>
            <a:graphicData uri="http://schemas.openxmlformats.org/presentationml/2006/ole">
              <mc:AlternateContent xmlns:mc="http://schemas.openxmlformats.org/markup-compatibility/2006">
                <mc:Choice xmlns:v="urn:schemas-microsoft-com:vml" Requires="v">
                  <p:oleObj spid="_x0000_s10569" name="Equation" r:id="rId17" imgW="190500" imgH="203200" progId="Equation.3">
                    <p:embed/>
                  </p:oleObj>
                </mc:Choice>
                <mc:Fallback>
                  <p:oleObj name="Equation" r:id="rId17" imgW="190500" imgH="203200" progId="Equation.3">
                    <p:embed/>
                    <p:pic>
                      <p:nvPicPr>
                        <p:cNvPr id="0" name=""/>
                        <p:cNvPicPr/>
                        <p:nvPr/>
                      </p:nvPicPr>
                      <p:blipFill>
                        <a:blip r:embed="rId18"/>
                        <a:stretch>
                          <a:fillRect/>
                        </a:stretch>
                      </p:blipFill>
                      <p:spPr>
                        <a:xfrm>
                          <a:off x="3129284" y="2811194"/>
                          <a:ext cx="571500" cy="609600"/>
                        </a:xfrm>
                        <a:prstGeom prst="rect">
                          <a:avLst/>
                        </a:prstGeom>
                      </p:spPr>
                    </p:pic>
                  </p:oleObj>
                </mc:Fallback>
              </mc:AlternateContent>
            </a:graphicData>
          </a:graphic>
        </p:graphicFrame>
        <p:graphicFrame>
          <p:nvGraphicFramePr>
            <p:cNvPr id="44" name="Object 43"/>
            <p:cNvGraphicFramePr>
              <a:graphicFrameLocks noChangeAspect="1"/>
            </p:cNvGraphicFramePr>
            <p:nvPr>
              <p:extLst/>
            </p:nvPr>
          </p:nvGraphicFramePr>
          <p:xfrm>
            <a:off x="3783335" y="2830772"/>
            <a:ext cx="533400" cy="647700"/>
          </p:xfrm>
          <a:graphic>
            <a:graphicData uri="http://schemas.openxmlformats.org/presentationml/2006/ole">
              <mc:AlternateContent xmlns:mc="http://schemas.openxmlformats.org/markup-compatibility/2006">
                <mc:Choice xmlns:v="urn:schemas-microsoft-com:vml" Requires="v">
                  <p:oleObj spid="_x0000_s10570" name="Equation" r:id="rId19" imgW="177800" imgH="215900" progId="Equation.3">
                    <p:embed/>
                  </p:oleObj>
                </mc:Choice>
                <mc:Fallback>
                  <p:oleObj name="Equation" r:id="rId19" imgW="177800" imgH="215900" progId="Equation.3">
                    <p:embed/>
                    <p:pic>
                      <p:nvPicPr>
                        <p:cNvPr id="0" name=""/>
                        <p:cNvPicPr/>
                        <p:nvPr/>
                      </p:nvPicPr>
                      <p:blipFill>
                        <a:blip r:embed="rId20"/>
                        <a:stretch>
                          <a:fillRect/>
                        </a:stretch>
                      </p:blipFill>
                      <p:spPr>
                        <a:xfrm>
                          <a:off x="3783335" y="2830772"/>
                          <a:ext cx="533400" cy="647700"/>
                        </a:xfrm>
                        <a:prstGeom prst="rect">
                          <a:avLst/>
                        </a:prstGeom>
                      </p:spPr>
                    </p:pic>
                  </p:oleObj>
                </mc:Fallback>
              </mc:AlternateContent>
            </a:graphicData>
          </a:graphic>
        </p:graphicFrame>
      </p:grpSp>
      <p:graphicFrame>
        <p:nvGraphicFramePr>
          <p:cNvPr id="26" name="Object 25"/>
          <p:cNvGraphicFramePr>
            <a:graphicFrameLocks noChangeAspect="1"/>
          </p:cNvGraphicFramePr>
          <p:nvPr>
            <p:extLst/>
          </p:nvPr>
        </p:nvGraphicFramePr>
        <p:xfrm>
          <a:off x="5284314" y="1826039"/>
          <a:ext cx="2384213" cy="866987"/>
        </p:xfrm>
        <a:graphic>
          <a:graphicData uri="http://schemas.openxmlformats.org/presentationml/2006/ole">
            <mc:AlternateContent xmlns:mc="http://schemas.openxmlformats.org/markup-compatibility/2006">
              <mc:Choice xmlns:v="urn:schemas-microsoft-com:vml" Requires="v">
                <p:oleObj spid="_x0000_s10571" name="Equation" r:id="rId21" imgW="558800" imgH="203200" progId="Equation.3">
                  <p:embed/>
                </p:oleObj>
              </mc:Choice>
              <mc:Fallback>
                <p:oleObj name="Equation" r:id="rId21" imgW="558800" imgH="203200" progId="Equation.3">
                  <p:embed/>
                  <p:pic>
                    <p:nvPicPr>
                      <p:cNvPr id="0" name=""/>
                      <p:cNvPicPr/>
                      <p:nvPr/>
                    </p:nvPicPr>
                    <p:blipFill>
                      <a:blip r:embed="rId22"/>
                      <a:stretch>
                        <a:fillRect/>
                      </a:stretch>
                    </p:blipFill>
                    <p:spPr>
                      <a:xfrm>
                        <a:off x="5284314" y="1826039"/>
                        <a:ext cx="2384213" cy="866987"/>
                      </a:xfrm>
                      <a:prstGeom prst="rect">
                        <a:avLst/>
                      </a:prstGeom>
                    </p:spPr>
                  </p:pic>
                </p:oleObj>
              </mc:Fallback>
            </mc:AlternateContent>
          </a:graphicData>
        </a:graphic>
      </p:graphicFrame>
      <p:graphicFrame>
        <p:nvGraphicFramePr>
          <p:cNvPr id="27" name="Object 26"/>
          <p:cNvGraphicFramePr>
            <a:graphicFrameLocks noChangeAspect="1"/>
          </p:cNvGraphicFramePr>
          <p:nvPr>
            <p:extLst/>
          </p:nvPr>
        </p:nvGraphicFramePr>
        <p:xfrm>
          <a:off x="3385343" y="3027667"/>
          <a:ext cx="921173" cy="758613"/>
        </p:xfrm>
        <a:graphic>
          <a:graphicData uri="http://schemas.openxmlformats.org/presentationml/2006/ole">
            <mc:AlternateContent xmlns:mc="http://schemas.openxmlformats.org/markup-compatibility/2006">
              <mc:Choice xmlns:v="urn:schemas-microsoft-com:vml" Requires="v">
                <p:oleObj spid="_x0000_s10572" name="Equation" r:id="rId23" imgW="215900" imgH="177800" progId="Equation.3">
                  <p:embed/>
                </p:oleObj>
              </mc:Choice>
              <mc:Fallback>
                <p:oleObj name="Equation" r:id="rId23" imgW="215900" imgH="177800" progId="Equation.3">
                  <p:embed/>
                  <p:pic>
                    <p:nvPicPr>
                      <p:cNvPr id="0" name=""/>
                      <p:cNvPicPr/>
                      <p:nvPr/>
                    </p:nvPicPr>
                    <p:blipFill>
                      <a:blip r:embed="rId24"/>
                      <a:stretch>
                        <a:fillRect/>
                      </a:stretch>
                    </p:blipFill>
                    <p:spPr>
                      <a:xfrm>
                        <a:off x="3385343" y="3027667"/>
                        <a:ext cx="921173" cy="758613"/>
                      </a:xfrm>
                      <a:prstGeom prst="rect">
                        <a:avLst/>
                      </a:prstGeom>
                    </p:spPr>
                  </p:pic>
                </p:oleObj>
              </mc:Fallback>
            </mc:AlternateContent>
          </a:graphicData>
        </a:graphic>
      </p:graphicFrame>
      <p:cxnSp>
        <p:nvCxnSpPr>
          <p:cNvPr id="49" name="Straight Arrow Connector 48"/>
          <p:cNvCxnSpPr/>
          <p:nvPr/>
        </p:nvCxnSpPr>
        <p:spPr>
          <a:xfrm>
            <a:off x="3309012" y="3729867"/>
            <a:ext cx="997504" cy="0"/>
          </a:xfrm>
          <a:prstGeom prst="straightConnector1">
            <a:avLst/>
          </a:prstGeom>
          <a:ln w="25400">
            <a:solidFill>
              <a:schemeClr val="tx1"/>
            </a:solidFill>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356661" y="7218643"/>
            <a:ext cx="5155651" cy="696626"/>
          </a:xfrm>
          <a:prstGeom prst="rect">
            <a:avLst/>
          </a:prstGeom>
          <a:solidFill>
            <a:schemeClr val="lt1">
              <a:alpha val="0"/>
            </a:schemeClr>
          </a:solidFill>
          <a:ln w="38100" cmpd="sng">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98" dirty="0"/>
              <a:t> </a:t>
            </a:r>
          </a:p>
        </p:txBody>
      </p:sp>
      <p:sp>
        <p:nvSpPr>
          <p:cNvPr id="7" name="TextBox 6"/>
          <p:cNvSpPr txBox="1"/>
          <p:nvPr/>
        </p:nvSpPr>
        <p:spPr>
          <a:xfrm>
            <a:off x="7436372" y="8463156"/>
            <a:ext cx="3591048" cy="643831"/>
          </a:xfrm>
          <a:prstGeom prst="rect">
            <a:avLst/>
          </a:prstGeom>
          <a:noFill/>
          <a:ln>
            <a:noFill/>
          </a:ln>
        </p:spPr>
        <p:txBody>
          <a:bodyPr wrap="none" rtlCol="0">
            <a:spAutoFit/>
          </a:bodyPr>
          <a:lstStyle/>
          <a:p>
            <a:r>
              <a:rPr lang="en-US" sz="3982" dirty="0">
                <a:solidFill>
                  <a:srgbClr val="0000FF"/>
                </a:solidFill>
              </a:rPr>
              <a:t>Riemann Sum</a:t>
            </a:r>
          </a:p>
        </p:txBody>
      </p:sp>
      <p:cxnSp>
        <p:nvCxnSpPr>
          <p:cNvPr id="9" name="Straight Arrow Connector 8"/>
          <p:cNvCxnSpPr/>
          <p:nvPr/>
        </p:nvCxnSpPr>
        <p:spPr>
          <a:xfrm flipH="1" flipV="1">
            <a:off x="7351325" y="8109938"/>
            <a:ext cx="317202" cy="353217"/>
          </a:xfrm>
          <a:prstGeom prst="straightConnector1">
            <a:avLst/>
          </a:prstGeom>
          <a:ln>
            <a:solidFill>
              <a:srgbClr val="0000FF"/>
            </a:solidFill>
            <a:prstDash val="lgDash"/>
            <a:tailEnd type="arrow"/>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8323" y="5603289"/>
            <a:ext cx="184730" cy="604524"/>
          </a:xfrm>
          <a:prstGeom prst="rect">
            <a:avLst/>
          </a:prstGeom>
          <a:noFill/>
        </p:spPr>
        <p:txBody>
          <a:bodyPr wrap="none" rtlCol="0">
            <a:spAutoFit/>
          </a:bodyPr>
          <a:lstStyle/>
          <a:p>
            <a:endParaRPr lang="en-US" sz="3698" dirty="0"/>
          </a:p>
        </p:txBody>
      </p:sp>
      <p:sp>
        <p:nvSpPr>
          <p:cNvPr id="50" name="Shape 73"/>
          <p:cNvSpPr>
            <a:spLocks noGrp="1"/>
          </p:cNvSpPr>
          <p:nvPr>
            <p:ph type="title"/>
          </p:nvPr>
        </p:nvSpPr>
        <p:spPr>
          <a:xfrm>
            <a:off x="212643" y="380331"/>
            <a:ext cx="12567568" cy="1673058"/>
          </a:xfrm>
          <a:prstGeom prst="rect">
            <a:avLst/>
          </a:prstGeom>
        </p:spPr>
        <p:txBody>
          <a:bodyPr>
            <a:normAutofit fontScale="90000"/>
          </a:bodyPr>
          <a:lstStyle/>
          <a:p>
            <a:r>
              <a:rPr lang="en-US" dirty="0"/>
              <a:t>Attenuation: </a:t>
            </a:r>
            <a:r>
              <a:rPr lang="en-US" dirty="0" err="1"/>
              <a:t>nonuniform</a:t>
            </a:r>
            <a:r>
              <a:rPr lang="en-US" dirty="0"/>
              <a:t> material</a:t>
            </a:r>
            <a:endParaRPr dirty="0"/>
          </a:p>
        </p:txBody>
      </p:sp>
    </p:spTree>
    <p:extLst>
      <p:ext uri="{BB962C8B-B14F-4D97-AF65-F5344CB8AC3E}">
        <p14:creationId xmlns:p14="http://schemas.microsoft.com/office/powerpoint/2010/main" val="35263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P_tmp.png"/>
          <p:cNvPicPr>
            <a:picLocks noChangeAspect="1"/>
          </p:cNvPicPr>
          <p:nvPr>
            <p:custDataLst>
              <p:tags r:id="rId2"/>
            </p:custDataLst>
          </p:nvPr>
        </p:nvPicPr>
        <p:blipFill>
          <a:blip r:embed="rId4">
            <a:extLst>
              <a:ext uri="{28A0092B-C50C-407E-A947-70E740481C1C}">
                <a14:useLocalDpi xmlns:a14="http://schemas.microsoft.com/office/drawing/2010/main" val="0"/>
              </a:ext>
            </a:extLst>
          </a:blip>
          <a:stretch>
            <a:fillRect/>
          </a:stretch>
        </p:blipFill>
        <p:spPr bwMode="auto">
          <a:xfrm>
            <a:off x="3614014" y="6889507"/>
            <a:ext cx="5709153" cy="1157439"/>
          </a:xfrm>
          <a:prstGeom prst="rect">
            <a:avLst/>
          </a:prstGeom>
          <a:noFill/>
          <a:ln w="41275">
            <a:noFill/>
          </a:ln>
          <a:effectLst/>
          <a:extLst>
            <a:ext uri="{909E8E84-426E-40dd-AFC4-6F175D3DCCD1}">
              <a14:hiddenFill xmlns="" xmlns:a14="http://schemas.microsoft.com/office/drawing/2010/main">
                <a:pattFill prst="pct5">
                  <a:fgClr>
                    <a:srgbClr val="FFFFFF">
                      <a:alpha val="0"/>
                    </a:srgbClr>
                  </a:fgClr>
                  <a:bgClr>
                    <a:srgbClr val="FFFFFF">
                      <a:alpha val="0"/>
                    </a:srgbClr>
                  </a:bgClr>
                </a:pattFill>
              </a14:hiddenFill>
            </a:ext>
            <a:ext uri="{AF507438-7753-43e0-B8FC-AC1667EBCBE1}">
              <a14:hiddenEffects xmlns="" xmlns:a14="http://schemas.microsoft.com/office/drawing/2010/main">
                <a:effectLst>
                  <a:outerShdw blurRad="63500" dist="37357" dir="2700000" rotWithShape="0">
                    <a:scrgbClr r="0" g="0" b="0"/>
                  </a:outerShdw>
                </a:effectLst>
              </a14:hiddenEffects>
            </a:ext>
            <a:ext uri="{31F19639-BCED-4a60-ADC4-E9642A236FB7}">
              <a14:hiddenScene3d xmlns="" xmlns:a14="http://schemas.microsoft.com/office/drawing/2010/main">
                <a:camera prst="orthographicFront">
                  <a:rot lat="0" lon="0" rev="0"/>
                </a:camera>
                <a:lightRig rig="threePt" dir="t">
                  <a:rot lat="0" lon="0" rev="0"/>
                </a:lightRig>
              </a14:hiddenScene3d>
            </a:ext>
            <a:ext uri="{E45631CC-5BF2-4c18-A39C-3461C7D3F71A}">
              <a14:hiddenSp3d xmlns="" xmlns:a14="http://schemas.microsoft.com/office/drawing/2010/main" extrusionH="457200">
                <a:contourClr>
                  <a:srgbClr val="000000"/>
                </a:contourClr>
              </a14:hiddenSp3d>
            </a:ext>
            <a:ext uri="{53640926-AAD7-44d8-BBD7-CCE9431645EC}">
              <a14:shadowObscured xmlns="" xmlns:a14="http://schemas.microsoft.com/office/drawing/2010/main"/>
            </a:ext>
          </a:extLst>
        </p:spPr>
      </p:pic>
      <p:grpSp>
        <p:nvGrpSpPr>
          <p:cNvPr id="28" name="Group 27"/>
          <p:cNvGrpSpPr/>
          <p:nvPr/>
        </p:nvGrpSpPr>
        <p:grpSpPr>
          <a:xfrm>
            <a:off x="1268984" y="3753739"/>
            <a:ext cx="11044868" cy="1678353"/>
            <a:chOff x="892254" y="2639348"/>
            <a:chExt cx="7765923" cy="1180092"/>
          </a:xfrm>
        </p:grpSpPr>
        <p:sp>
          <p:nvSpPr>
            <p:cNvPr id="29" name="Rectangle 28"/>
            <p:cNvSpPr/>
            <p:nvPr/>
          </p:nvSpPr>
          <p:spPr>
            <a:xfrm>
              <a:off x="2333751" y="2773854"/>
              <a:ext cx="4351337" cy="748075"/>
            </a:xfrm>
            <a:prstGeom prst="rect">
              <a:avLst/>
            </a:prstGeom>
            <a:gradFill flip="none" rotWithShape="1">
              <a:gsLst>
                <a:gs pos="0">
                  <a:srgbClr val="0000FF"/>
                </a:gs>
                <a:gs pos="20000">
                  <a:srgbClr val="3366FF"/>
                </a:gs>
                <a:gs pos="62000">
                  <a:srgbClr val="1ED3FF"/>
                </a:gs>
                <a:gs pos="92000">
                  <a:srgbClr val="11FAFF"/>
                </a:gs>
              </a:gsLst>
              <a:lin ang="0" scaled="1"/>
              <a:tileRect/>
            </a:gradFill>
            <a:ln w="317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cxnSp>
          <p:nvCxnSpPr>
            <p:cNvPr id="30" name="Straight Arrow Connector 29"/>
            <p:cNvCxnSpPr/>
            <p:nvPr/>
          </p:nvCxnSpPr>
          <p:spPr>
            <a:xfrm>
              <a:off x="2341420" y="3819440"/>
              <a:ext cx="4351337" cy="0"/>
            </a:xfrm>
            <a:prstGeom prst="straightConnector1">
              <a:avLst/>
            </a:prstGeom>
            <a:ln w="25400">
              <a:solidFill>
                <a:schemeClr val="tx1"/>
              </a:solidFill>
              <a:headEnd type="arrow"/>
              <a:tailEnd type="arrow"/>
            </a:ln>
            <a:effectLst/>
          </p:spPr>
          <p:style>
            <a:lnRef idx="2">
              <a:schemeClr val="accent1"/>
            </a:lnRef>
            <a:fillRef idx="0">
              <a:schemeClr val="accent1"/>
            </a:fillRef>
            <a:effectRef idx="1">
              <a:schemeClr val="accent1"/>
            </a:effectRef>
            <a:fontRef idx="minor">
              <a:schemeClr val="tx1"/>
            </a:fontRef>
          </p:style>
        </p:cxnSp>
        <p:grpSp>
          <p:nvGrpSpPr>
            <p:cNvPr id="32" name="Group 31"/>
            <p:cNvGrpSpPr/>
            <p:nvPr/>
          </p:nvGrpSpPr>
          <p:grpSpPr>
            <a:xfrm>
              <a:off x="892254" y="2832509"/>
              <a:ext cx="7165076" cy="647700"/>
              <a:chOff x="1310967" y="2868167"/>
              <a:chExt cx="7165076" cy="647700"/>
            </a:xfrm>
          </p:grpSpPr>
          <p:graphicFrame>
            <p:nvGraphicFramePr>
              <p:cNvPr id="45" name="Object 44"/>
              <p:cNvGraphicFramePr>
                <a:graphicFrameLocks noChangeAspect="1"/>
              </p:cNvGraphicFramePr>
              <p:nvPr>
                <p:extLst/>
              </p:nvPr>
            </p:nvGraphicFramePr>
            <p:xfrm>
              <a:off x="1310967" y="2868167"/>
              <a:ext cx="457200" cy="647700"/>
            </p:xfrm>
            <a:graphic>
              <a:graphicData uri="http://schemas.openxmlformats.org/presentationml/2006/ole">
                <mc:AlternateContent xmlns:mc="http://schemas.openxmlformats.org/markup-compatibility/2006">
                  <mc:Choice xmlns:v="urn:schemas-microsoft-com:vml" Requires="v">
                    <p:oleObj spid="_x0000_s11587" name="Equation" r:id="rId5" imgW="152400" imgH="215900" progId="Equation.3">
                      <p:embed/>
                    </p:oleObj>
                  </mc:Choice>
                  <mc:Fallback>
                    <p:oleObj name="Equation" r:id="rId5" imgW="152400" imgH="215900" progId="Equation.3">
                      <p:embed/>
                      <p:pic>
                        <p:nvPicPr>
                          <p:cNvPr id="0" name=""/>
                          <p:cNvPicPr/>
                          <p:nvPr/>
                        </p:nvPicPr>
                        <p:blipFill>
                          <a:blip r:embed="rId6"/>
                          <a:stretch>
                            <a:fillRect/>
                          </a:stretch>
                        </p:blipFill>
                        <p:spPr>
                          <a:xfrm>
                            <a:off x="1310967" y="2868167"/>
                            <a:ext cx="457200" cy="647700"/>
                          </a:xfrm>
                          <a:prstGeom prst="rect">
                            <a:avLst/>
                          </a:prstGeom>
                        </p:spPr>
                      </p:pic>
                    </p:oleObj>
                  </mc:Fallback>
                </mc:AlternateContent>
              </a:graphicData>
            </a:graphic>
          </p:graphicFrame>
          <p:cxnSp>
            <p:nvCxnSpPr>
              <p:cNvPr id="46" name="Straight Arrow Connector 45"/>
              <p:cNvCxnSpPr/>
              <p:nvPr/>
            </p:nvCxnSpPr>
            <p:spPr>
              <a:xfrm>
                <a:off x="1804335" y="3183550"/>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7255982" y="3117849"/>
                <a:ext cx="791633" cy="0"/>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48" name="Object 47"/>
              <p:cNvGraphicFramePr>
                <a:graphicFrameLocks noChangeAspect="1"/>
              </p:cNvGraphicFramePr>
              <p:nvPr>
                <p:extLst/>
              </p:nvPr>
            </p:nvGraphicFramePr>
            <p:xfrm>
              <a:off x="8133143" y="2890448"/>
              <a:ext cx="342900" cy="457200"/>
            </p:xfrm>
            <a:graphic>
              <a:graphicData uri="http://schemas.openxmlformats.org/presentationml/2006/ole">
                <mc:AlternateContent xmlns:mc="http://schemas.openxmlformats.org/markup-compatibility/2006">
                  <mc:Choice xmlns:v="urn:schemas-microsoft-com:vml" Requires="v">
                    <p:oleObj spid="_x0000_s11588" name="Equation" r:id="rId7" imgW="114300" imgH="152400" progId="Equation.3">
                      <p:embed/>
                    </p:oleObj>
                  </mc:Choice>
                  <mc:Fallback>
                    <p:oleObj name="Equation" r:id="rId7" imgW="114300" imgH="152400" progId="Equation.3">
                      <p:embed/>
                      <p:pic>
                        <p:nvPicPr>
                          <p:cNvPr id="0" name=""/>
                          <p:cNvPicPr/>
                          <p:nvPr/>
                        </p:nvPicPr>
                        <p:blipFill>
                          <a:blip r:embed="rId8"/>
                          <a:stretch>
                            <a:fillRect/>
                          </a:stretch>
                        </p:blipFill>
                        <p:spPr>
                          <a:xfrm>
                            <a:off x="8133143" y="2890448"/>
                            <a:ext cx="342900" cy="457200"/>
                          </a:xfrm>
                          <a:prstGeom prst="rect">
                            <a:avLst/>
                          </a:prstGeom>
                        </p:spPr>
                      </p:pic>
                    </p:oleObj>
                  </mc:Fallback>
                </mc:AlternateContent>
              </a:graphicData>
            </a:graphic>
          </p:graphicFrame>
        </p:grpSp>
        <p:graphicFrame>
          <p:nvGraphicFramePr>
            <p:cNvPr id="33" name="Object 32"/>
            <p:cNvGraphicFramePr>
              <a:graphicFrameLocks noChangeAspect="1"/>
            </p:cNvGraphicFramePr>
            <p:nvPr>
              <p:extLst/>
            </p:nvPr>
          </p:nvGraphicFramePr>
          <p:xfrm>
            <a:off x="8404177" y="3477735"/>
            <a:ext cx="254000" cy="279400"/>
          </p:xfrm>
          <a:graphic>
            <a:graphicData uri="http://schemas.openxmlformats.org/presentationml/2006/ole">
              <mc:AlternateContent xmlns:mc="http://schemas.openxmlformats.org/markup-compatibility/2006">
                <mc:Choice xmlns:v="urn:schemas-microsoft-com:vml" Requires="v">
                  <p:oleObj spid="_x0000_s11589" name="Equation" r:id="rId9" imgW="127000" imgH="139700" progId="Equation.3">
                    <p:embed/>
                  </p:oleObj>
                </mc:Choice>
                <mc:Fallback>
                  <p:oleObj name="Equation" r:id="rId9" imgW="127000" imgH="139700" progId="Equation.3">
                    <p:embed/>
                    <p:pic>
                      <p:nvPicPr>
                        <p:cNvPr id="0" name=""/>
                        <p:cNvPicPr/>
                        <p:nvPr/>
                      </p:nvPicPr>
                      <p:blipFill>
                        <a:blip r:embed="rId10"/>
                        <a:stretch>
                          <a:fillRect/>
                        </a:stretch>
                      </p:blipFill>
                      <p:spPr>
                        <a:xfrm>
                          <a:off x="8404177" y="3477735"/>
                          <a:ext cx="254000" cy="279400"/>
                        </a:xfrm>
                        <a:prstGeom prst="rect">
                          <a:avLst/>
                        </a:prstGeom>
                      </p:spPr>
                    </p:pic>
                  </p:oleObj>
                </mc:Fallback>
              </mc:AlternateContent>
            </a:graphicData>
          </a:graphic>
        </p:graphicFrame>
        <p:cxnSp>
          <p:nvCxnSpPr>
            <p:cNvPr id="34" name="Straight Arrow Connector 33"/>
            <p:cNvCxnSpPr/>
            <p:nvPr/>
          </p:nvCxnSpPr>
          <p:spPr>
            <a:xfrm>
              <a:off x="2333751" y="3617435"/>
              <a:ext cx="6009063" cy="0"/>
            </a:xfrm>
            <a:prstGeom prst="straightConnector1">
              <a:avLst/>
            </a:prstGeom>
            <a:ln w="28575">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2333751"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6" name="Rectangle 35"/>
            <p:cNvSpPr/>
            <p:nvPr/>
          </p:nvSpPr>
          <p:spPr>
            <a:xfrm>
              <a:off x="3021265"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7" name="Rectangle 36"/>
            <p:cNvSpPr/>
            <p:nvPr/>
          </p:nvSpPr>
          <p:spPr>
            <a:xfrm>
              <a:off x="3720068" y="2766807"/>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8" name="Rectangle 37"/>
            <p:cNvSpPr/>
            <p:nvPr/>
          </p:nvSpPr>
          <p:spPr>
            <a:xfrm>
              <a:off x="5990820" y="2773854"/>
              <a:ext cx="694268" cy="755122"/>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9" name="Rectangle 38"/>
            <p:cNvSpPr/>
            <p:nvPr/>
          </p:nvSpPr>
          <p:spPr>
            <a:xfrm>
              <a:off x="4414336" y="2773093"/>
              <a:ext cx="1576484" cy="749808"/>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40" name="Object 39"/>
            <p:cNvGraphicFramePr>
              <a:graphicFrameLocks noChangeAspect="1"/>
            </p:cNvGraphicFramePr>
            <p:nvPr>
              <p:extLst/>
            </p:nvPr>
          </p:nvGraphicFramePr>
          <p:xfrm>
            <a:off x="6054320" y="2792376"/>
            <a:ext cx="571500" cy="647700"/>
          </p:xfrm>
          <a:graphic>
            <a:graphicData uri="http://schemas.openxmlformats.org/presentationml/2006/ole">
              <mc:AlternateContent xmlns:mc="http://schemas.openxmlformats.org/markup-compatibility/2006">
                <mc:Choice xmlns:v="urn:schemas-microsoft-com:vml" Requires="v">
                  <p:oleObj spid="_x0000_s11590" name="Equation" r:id="rId11" imgW="190500" imgH="215900" progId="Equation.3">
                    <p:embed/>
                  </p:oleObj>
                </mc:Choice>
                <mc:Fallback>
                  <p:oleObj name="Equation" r:id="rId11" imgW="190500" imgH="215900" progId="Equation.3">
                    <p:embed/>
                    <p:pic>
                      <p:nvPicPr>
                        <p:cNvPr id="0" name=""/>
                        <p:cNvPicPr/>
                        <p:nvPr/>
                      </p:nvPicPr>
                      <p:blipFill>
                        <a:blip r:embed="rId12"/>
                        <a:stretch>
                          <a:fillRect/>
                        </a:stretch>
                      </p:blipFill>
                      <p:spPr>
                        <a:xfrm>
                          <a:off x="6054320" y="2792376"/>
                          <a:ext cx="571500" cy="647700"/>
                        </a:xfrm>
                        <a:prstGeom prst="rect">
                          <a:avLst/>
                        </a:prstGeom>
                      </p:spPr>
                    </p:pic>
                  </p:oleObj>
                </mc:Fallback>
              </mc:AlternateContent>
            </a:graphicData>
          </a:graphic>
        </p:graphicFrame>
        <p:sp>
          <p:nvSpPr>
            <p:cNvPr id="41" name="TextBox 40"/>
            <p:cNvSpPr txBox="1"/>
            <p:nvPr/>
          </p:nvSpPr>
          <p:spPr>
            <a:xfrm>
              <a:off x="4546672" y="2639348"/>
              <a:ext cx="1265972" cy="618965"/>
            </a:xfrm>
            <a:prstGeom prst="rect">
              <a:avLst/>
            </a:prstGeom>
            <a:noFill/>
          </p:spPr>
          <p:txBody>
            <a:bodyPr wrap="none" rtlCol="0">
              <a:spAutoFit/>
            </a:bodyPr>
            <a:lstStyle/>
            <a:p>
              <a:r>
                <a:rPr lang="en-US" sz="5689" dirty="0"/>
                <a:t> . . .  </a:t>
              </a:r>
            </a:p>
          </p:txBody>
        </p:sp>
        <p:graphicFrame>
          <p:nvGraphicFramePr>
            <p:cNvPr id="42" name="Object 41"/>
            <p:cNvGraphicFramePr>
              <a:graphicFrameLocks noChangeAspect="1"/>
            </p:cNvGraphicFramePr>
            <p:nvPr>
              <p:extLst/>
            </p:nvPr>
          </p:nvGraphicFramePr>
          <p:xfrm>
            <a:off x="2451422" y="2792672"/>
            <a:ext cx="495300" cy="609600"/>
          </p:xfrm>
          <a:graphic>
            <a:graphicData uri="http://schemas.openxmlformats.org/presentationml/2006/ole">
              <mc:AlternateContent xmlns:mc="http://schemas.openxmlformats.org/markup-compatibility/2006">
                <mc:Choice xmlns:v="urn:schemas-microsoft-com:vml" Requires="v">
                  <p:oleObj spid="_x0000_s11591" name="Equation" r:id="rId13" imgW="165100" imgH="203200" progId="Equation.3">
                    <p:embed/>
                  </p:oleObj>
                </mc:Choice>
                <mc:Fallback>
                  <p:oleObj name="Equation" r:id="rId13" imgW="165100" imgH="203200" progId="Equation.3">
                    <p:embed/>
                    <p:pic>
                      <p:nvPicPr>
                        <p:cNvPr id="0" name=""/>
                        <p:cNvPicPr/>
                        <p:nvPr/>
                      </p:nvPicPr>
                      <p:blipFill>
                        <a:blip r:embed="rId14"/>
                        <a:stretch>
                          <a:fillRect/>
                        </a:stretch>
                      </p:blipFill>
                      <p:spPr>
                        <a:xfrm>
                          <a:off x="2451422" y="2792672"/>
                          <a:ext cx="495300" cy="609600"/>
                        </a:xfrm>
                        <a:prstGeom prst="rect">
                          <a:avLst/>
                        </a:prstGeom>
                      </p:spPr>
                    </p:pic>
                  </p:oleObj>
                </mc:Fallback>
              </mc:AlternateContent>
            </a:graphicData>
          </a:graphic>
        </p:graphicFrame>
        <p:graphicFrame>
          <p:nvGraphicFramePr>
            <p:cNvPr id="43" name="Object 42"/>
            <p:cNvGraphicFramePr>
              <a:graphicFrameLocks noChangeAspect="1"/>
            </p:cNvGraphicFramePr>
            <p:nvPr>
              <p:extLst/>
            </p:nvPr>
          </p:nvGraphicFramePr>
          <p:xfrm>
            <a:off x="3129284" y="2811194"/>
            <a:ext cx="571500" cy="609600"/>
          </p:xfrm>
          <a:graphic>
            <a:graphicData uri="http://schemas.openxmlformats.org/presentationml/2006/ole">
              <mc:AlternateContent xmlns:mc="http://schemas.openxmlformats.org/markup-compatibility/2006">
                <mc:Choice xmlns:v="urn:schemas-microsoft-com:vml" Requires="v">
                  <p:oleObj spid="_x0000_s11592" name="Equation" r:id="rId15" imgW="190500" imgH="203200" progId="Equation.3">
                    <p:embed/>
                  </p:oleObj>
                </mc:Choice>
                <mc:Fallback>
                  <p:oleObj name="Equation" r:id="rId15" imgW="190500" imgH="203200" progId="Equation.3">
                    <p:embed/>
                    <p:pic>
                      <p:nvPicPr>
                        <p:cNvPr id="0" name=""/>
                        <p:cNvPicPr/>
                        <p:nvPr/>
                      </p:nvPicPr>
                      <p:blipFill>
                        <a:blip r:embed="rId16"/>
                        <a:stretch>
                          <a:fillRect/>
                        </a:stretch>
                      </p:blipFill>
                      <p:spPr>
                        <a:xfrm>
                          <a:off x="3129284" y="2811194"/>
                          <a:ext cx="571500" cy="609600"/>
                        </a:xfrm>
                        <a:prstGeom prst="rect">
                          <a:avLst/>
                        </a:prstGeom>
                      </p:spPr>
                    </p:pic>
                  </p:oleObj>
                </mc:Fallback>
              </mc:AlternateContent>
            </a:graphicData>
          </a:graphic>
        </p:graphicFrame>
        <p:graphicFrame>
          <p:nvGraphicFramePr>
            <p:cNvPr id="44" name="Object 43"/>
            <p:cNvGraphicFramePr>
              <a:graphicFrameLocks noChangeAspect="1"/>
            </p:cNvGraphicFramePr>
            <p:nvPr>
              <p:extLst/>
            </p:nvPr>
          </p:nvGraphicFramePr>
          <p:xfrm>
            <a:off x="3783335" y="2830772"/>
            <a:ext cx="533400" cy="647700"/>
          </p:xfrm>
          <a:graphic>
            <a:graphicData uri="http://schemas.openxmlformats.org/presentationml/2006/ole">
              <mc:AlternateContent xmlns:mc="http://schemas.openxmlformats.org/markup-compatibility/2006">
                <mc:Choice xmlns:v="urn:schemas-microsoft-com:vml" Requires="v">
                  <p:oleObj spid="_x0000_s11593" name="Equation" r:id="rId17" imgW="177800" imgH="215900" progId="Equation.3">
                    <p:embed/>
                  </p:oleObj>
                </mc:Choice>
                <mc:Fallback>
                  <p:oleObj name="Equation" r:id="rId17" imgW="177800" imgH="215900" progId="Equation.3">
                    <p:embed/>
                    <p:pic>
                      <p:nvPicPr>
                        <p:cNvPr id="0" name=""/>
                        <p:cNvPicPr/>
                        <p:nvPr/>
                      </p:nvPicPr>
                      <p:blipFill>
                        <a:blip r:embed="rId18"/>
                        <a:stretch>
                          <a:fillRect/>
                        </a:stretch>
                      </p:blipFill>
                      <p:spPr>
                        <a:xfrm>
                          <a:off x="3783335" y="2830772"/>
                          <a:ext cx="533400" cy="647700"/>
                        </a:xfrm>
                        <a:prstGeom prst="rect">
                          <a:avLst/>
                        </a:prstGeom>
                      </p:spPr>
                    </p:pic>
                  </p:oleObj>
                </mc:Fallback>
              </mc:AlternateContent>
            </a:graphicData>
          </a:graphic>
        </p:graphicFrame>
      </p:grpSp>
      <p:sp>
        <p:nvSpPr>
          <p:cNvPr id="25" name="Rectangle 24"/>
          <p:cNvSpPr/>
          <p:nvPr/>
        </p:nvSpPr>
        <p:spPr>
          <a:xfrm>
            <a:off x="3486466" y="6836551"/>
            <a:ext cx="6032121" cy="1426916"/>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26" name="Object 25"/>
          <p:cNvGraphicFramePr>
            <a:graphicFrameLocks noChangeAspect="1"/>
          </p:cNvGraphicFramePr>
          <p:nvPr>
            <p:extLst/>
          </p:nvPr>
        </p:nvGraphicFramePr>
        <p:xfrm>
          <a:off x="5284314" y="1826039"/>
          <a:ext cx="2384213" cy="866987"/>
        </p:xfrm>
        <a:graphic>
          <a:graphicData uri="http://schemas.openxmlformats.org/presentationml/2006/ole">
            <mc:AlternateContent xmlns:mc="http://schemas.openxmlformats.org/markup-compatibility/2006">
              <mc:Choice xmlns:v="urn:schemas-microsoft-com:vml" Requires="v">
                <p:oleObj spid="_x0000_s11594" name="Equation" r:id="rId19" imgW="558800" imgH="203200" progId="Equation.3">
                  <p:embed/>
                </p:oleObj>
              </mc:Choice>
              <mc:Fallback>
                <p:oleObj name="Equation" r:id="rId19" imgW="558800" imgH="203200" progId="Equation.3">
                  <p:embed/>
                  <p:pic>
                    <p:nvPicPr>
                      <p:cNvPr id="0" name=""/>
                      <p:cNvPicPr/>
                      <p:nvPr/>
                    </p:nvPicPr>
                    <p:blipFill>
                      <a:blip r:embed="rId20"/>
                      <a:stretch>
                        <a:fillRect/>
                      </a:stretch>
                    </p:blipFill>
                    <p:spPr>
                      <a:xfrm>
                        <a:off x="5284314" y="1826039"/>
                        <a:ext cx="2384213" cy="866987"/>
                      </a:xfrm>
                      <a:prstGeom prst="rect">
                        <a:avLst/>
                      </a:prstGeom>
                    </p:spPr>
                  </p:pic>
                </p:oleObj>
              </mc:Fallback>
            </mc:AlternateContent>
          </a:graphicData>
        </a:graphic>
      </p:graphicFrame>
      <p:graphicFrame>
        <p:nvGraphicFramePr>
          <p:cNvPr id="27" name="Object 26"/>
          <p:cNvGraphicFramePr>
            <a:graphicFrameLocks noChangeAspect="1"/>
          </p:cNvGraphicFramePr>
          <p:nvPr>
            <p:extLst/>
          </p:nvPr>
        </p:nvGraphicFramePr>
        <p:xfrm>
          <a:off x="3385343" y="3027667"/>
          <a:ext cx="921173" cy="758613"/>
        </p:xfrm>
        <a:graphic>
          <a:graphicData uri="http://schemas.openxmlformats.org/presentationml/2006/ole">
            <mc:AlternateContent xmlns:mc="http://schemas.openxmlformats.org/markup-compatibility/2006">
              <mc:Choice xmlns:v="urn:schemas-microsoft-com:vml" Requires="v">
                <p:oleObj spid="_x0000_s11595" name="Equation" r:id="rId21" imgW="215900" imgH="177800" progId="Equation.3">
                  <p:embed/>
                </p:oleObj>
              </mc:Choice>
              <mc:Fallback>
                <p:oleObj name="Equation" r:id="rId21" imgW="215900" imgH="177800" progId="Equation.3">
                  <p:embed/>
                  <p:pic>
                    <p:nvPicPr>
                      <p:cNvPr id="0" name=""/>
                      <p:cNvPicPr/>
                      <p:nvPr/>
                    </p:nvPicPr>
                    <p:blipFill>
                      <a:blip r:embed="rId22"/>
                      <a:stretch>
                        <a:fillRect/>
                      </a:stretch>
                    </p:blipFill>
                    <p:spPr>
                      <a:xfrm>
                        <a:off x="3385343" y="3027667"/>
                        <a:ext cx="921173" cy="758613"/>
                      </a:xfrm>
                      <a:prstGeom prst="rect">
                        <a:avLst/>
                      </a:prstGeom>
                    </p:spPr>
                  </p:pic>
                </p:oleObj>
              </mc:Fallback>
            </mc:AlternateContent>
          </a:graphicData>
        </a:graphic>
      </p:graphicFrame>
      <p:cxnSp>
        <p:nvCxnSpPr>
          <p:cNvPr id="49" name="Straight Arrow Connector 48"/>
          <p:cNvCxnSpPr/>
          <p:nvPr/>
        </p:nvCxnSpPr>
        <p:spPr>
          <a:xfrm>
            <a:off x="3309012" y="3729867"/>
            <a:ext cx="997504" cy="0"/>
          </a:xfrm>
          <a:prstGeom prst="straightConnector1">
            <a:avLst/>
          </a:prstGeom>
          <a:ln w="25400">
            <a:solidFill>
              <a:schemeClr val="tx1"/>
            </a:solidFill>
            <a:headEnd type="arrow"/>
            <a:tailEnd type="arrow"/>
          </a:ln>
          <a:effectLst/>
        </p:spPr>
        <p:style>
          <a:lnRef idx="2">
            <a:schemeClr val="accent1"/>
          </a:lnRef>
          <a:fillRef idx="0">
            <a:schemeClr val="accent1"/>
          </a:fillRef>
          <a:effectRef idx="1">
            <a:schemeClr val="accent1"/>
          </a:effectRef>
          <a:fontRef idx="minor">
            <a:schemeClr val="tx1"/>
          </a:fontRef>
        </p:style>
      </p:cxnSp>
      <p:graphicFrame>
        <p:nvGraphicFramePr>
          <p:cNvPr id="52" name="Object 51"/>
          <p:cNvGraphicFramePr>
            <a:graphicFrameLocks noChangeAspect="1"/>
          </p:cNvGraphicFramePr>
          <p:nvPr>
            <p:extLst/>
          </p:nvPr>
        </p:nvGraphicFramePr>
        <p:xfrm>
          <a:off x="6220179" y="5775396"/>
          <a:ext cx="596053" cy="650240"/>
        </p:xfrm>
        <a:graphic>
          <a:graphicData uri="http://schemas.openxmlformats.org/presentationml/2006/ole">
            <mc:AlternateContent xmlns:mc="http://schemas.openxmlformats.org/markup-compatibility/2006">
              <mc:Choice xmlns:v="urn:schemas-microsoft-com:vml" Requires="v">
                <p:oleObj spid="_x0000_s11596" name="Equation" r:id="rId23" imgW="139700" imgH="152400" progId="Equation.3">
                  <p:embed/>
                </p:oleObj>
              </mc:Choice>
              <mc:Fallback>
                <p:oleObj name="Equation" r:id="rId23" imgW="139700" imgH="152400" progId="Equation.3">
                  <p:embed/>
                  <p:pic>
                    <p:nvPicPr>
                      <p:cNvPr id="0" name=""/>
                      <p:cNvPicPr/>
                      <p:nvPr/>
                    </p:nvPicPr>
                    <p:blipFill>
                      <a:blip r:embed="rId24"/>
                      <a:stretch>
                        <a:fillRect/>
                      </a:stretch>
                    </p:blipFill>
                    <p:spPr>
                      <a:xfrm>
                        <a:off x="6220179" y="5775396"/>
                        <a:ext cx="596053" cy="650240"/>
                      </a:xfrm>
                      <a:prstGeom prst="rect">
                        <a:avLst/>
                      </a:prstGeom>
                    </p:spPr>
                  </p:pic>
                </p:oleObj>
              </mc:Fallback>
            </mc:AlternateContent>
          </a:graphicData>
        </a:graphic>
      </p:graphicFrame>
      <p:sp>
        <p:nvSpPr>
          <p:cNvPr id="50" name="Shape 73"/>
          <p:cNvSpPr>
            <a:spLocks noGrp="1"/>
          </p:cNvSpPr>
          <p:nvPr>
            <p:ph type="title"/>
          </p:nvPr>
        </p:nvSpPr>
        <p:spPr>
          <a:xfrm>
            <a:off x="212643" y="380331"/>
            <a:ext cx="12567568" cy="1673058"/>
          </a:xfrm>
          <a:prstGeom prst="rect">
            <a:avLst/>
          </a:prstGeom>
        </p:spPr>
        <p:txBody>
          <a:bodyPr>
            <a:normAutofit fontScale="90000"/>
          </a:bodyPr>
          <a:lstStyle/>
          <a:p>
            <a:r>
              <a:rPr lang="en-US" dirty="0"/>
              <a:t>Attenuation: </a:t>
            </a:r>
            <a:r>
              <a:rPr lang="en-US" dirty="0" err="1"/>
              <a:t>nonuniform</a:t>
            </a:r>
            <a:r>
              <a:rPr lang="en-US" dirty="0"/>
              <a:t> material</a:t>
            </a:r>
            <a:endParaRPr dirty="0"/>
          </a:p>
        </p:txBody>
      </p:sp>
    </p:spTree>
    <p:extLst>
      <p:ext uri="{BB962C8B-B14F-4D97-AF65-F5344CB8AC3E}">
        <p14:creationId xmlns:p14="http://schemas.microsoft.com/office/powerpoint/2010/main" val="1834810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P_tmp.png"/>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bwMode="auto">
          <a:xfrm>
            <a:off x="1520988" y="2750728"/>
            <a:ext cx="6594970" cy="1402081"/>
          </a:xfrm>
          <a:prstGeom prst="rect">
            <a:avLst/>
          </a:prstGeom>
          <a:noFill/>
          <a:ln/>
          <a:effectLst/>
          <a:extLst>
            <a:ext uri="{909E8E84-426E-40dd-AFC4-6F175D3DCCD1}">
              <a14:hiddenFill xmlns="" xmlns:a14="http://schemas.microsoft.com/office/drawing/2010/main">
                <a:pattFill prst="pct5">
                  <a:fgClr>
                    <a:srgbClr val="FFFFFF">
                      <a:alpha val="0"/>
                    </a:srgbClr>
                  </a:fgClr>
                  <a:bgClr>
                    <a:srgbClr val="FFFFFF">
                      <a:alpha val="0"/>
                    </a:srgbClr>
                  </a:bgClr>
                </a:pattFill>
              </a14:hiddenFill>
            </a:ext>
            <a:ext uri="{AF507438-7753-43e0-B8FC-AC1667EBCBE1}">
              <a14:hiddenEffects xmlns="" xmlns:a14="http://schemas.microsoft.com/office/drawing/2010/main">
                <a:effectLst>
                  <a:outerShdw blurRad="63500" dist="37357" dir="2700000" rotWithShape="0">
                    <a:scrgbClr r="0" g="0" b="0"/>
                  </a:outerShdw>
                </a:effectLst>
              </a14:hiddenEffects>
            </a:ext>
            <a:ext uri="{31F19639-BCED-4a60-ADC4-E9642A236FB7}">
              <a14:hiddenScene3d xmlns="" xmlns:a14="http://schemas.microsoft.com/office/drawing/2010/main">
                <a:camera prst="orthographicFront">
                  <a:rot lat="0" lon="0" rev="0"/>
                </a:camera>
                <a:lightRig rig="threePt" dir="t">
                  <a:rot lat="0" lon="0" rev="0"/>
                </a:lightRig>
              </a14:hiddenScene3d>
            </a:ext>
            <a:ext uri="{E45631CC-5BF2-4c18-A39C-3461C7D3F71A}">
              <a14:hiddenSp3d xmlns="" xmlns:a14="http://schemas.microsoft.com/office/drawing/2010/main" extrusionH="457200">
                <a:contourClr>
                  <a:srgbClr val="000000"/>
                </a:contourClr>
              </a14:hiddenSp3d>
            </a:ext>
            <a:ext uri="{53640926-AAD7-44d8-BBD7-CCE9431645EC}">
              <a14:shadowObscured xmlns="" xmlns:a14="http://schemas.microsoft.com/office/drawing/2010/main"/>
            </a:ext>
          </a:extLst>
        </p:spPr>
      </p:pic>
      <p:sp>
        <p:nvSpPr>
          <p:cNvPr id="10" name="Rectangle 9"/>
          <p:cNvSpPr/>
          <p:nvPr/>
        </p:nvSpPr>
        <p:spPr>
          <a:xfrm>
            <a:off x="3901441" y="3569551"/>
            <a:ext cx="529825" cy="559177"/>
          </a:xfrm>
          <a:prstGeom prst="rect">
            <a:avLst/>
          </a:prstGeom>
          <a:solidFill>
            <a:srgbClr val="3366FF">
              <a:alpha val="3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1" name="Rectangle 10"/>
          <p:cNvSpPr/>
          <p:nvPr/>
        </p:nvSpPr>
        <p:spPr>
          <a:xfrm>
            <a:off x="3901441" y="2865879"/>
            <a:ext cx="529825" cy="559177"/>
          </a:xfrm>
          <a:prstGeom prst="rect">
            <a:avLst/>
          </a:prstGeom>
          <a:solidFill>
            <a:srgbClr val="3366FF">
              <a:alpha val="3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2" name="TextBox 11"/>
          <p:cNvSpPr txBox="1"/>
          <p:nvPr/>
        </p:nvSpPr>
        <p:spPr>
          <a:xfrm>
            <a:off x="3724978" y="4768957"/>
            <a:ext cx="5856090" cy="565026"/>
          </a:xfrm>
          <a:prstGeom prst="rect">
            <a:avLst/>
          </a:prstGeom>
          <a:noFill/>
        </p:spPr>
        <p:txBody>
          <a:bodyPr wrap="none" rtlCol="0">
            <a:spAutoFit/>
          </a:bodyPr>
          <a:lstStyle/>
          <a:p>
            <a:r>
              <a:rPr lang="en-US" sz="3413">
                <a:solidFill>
                  <a:srgbClr val="0000FF"/>
                </a:solidFill>
              </a:rPr>
              <a:t>known input x-ray intensity</a:t>
            </a:r>
            <a:endParaRPr lang="en-US" sz="3413" dirty="0">
              <a:solidFill>
                <a:srgbClr val="0000FF"/>
              </a:solidFill>
            </a:endParaRPr>
          </a:p>
        </p:txBody>
      </p:sp>
      <p:cxnSp>
        <p:nvCxnSpPr>
          <p:cNvPr id="14" name="Straight Arrow Connector 13"/>
          <p:cNvCxnSpPr/>
          <p:nvPr/>
        </p:nvCxnSpPr>
        <p:spPr>
          <a:xfrm flipV="1">
            <a:off x="3973058" y="4209071"/>
            <a:ext cx="193295" cy="559886"/>
          </a:xfrm>
          <a:prstGeom prst="straightConnector1">
            <a:avLst/>
          </a:prstGeom>
          <a:ln>
            <a:solidFill>
              <a:srgbClr val="0000FF"/>
            </a:solidFill>
            <a:tailEnd type="arrow"/>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96029" y="2016196"/>
            <a:ext cx="7439857" cy="565026"/>
          </a:xfrm>
          <a:prstGeom prst="rect">
            <a:avLst/>
          </a:prstGeom>
          <a:noFill/>
        </p:spPr>
        <p:txBody>
          <a:bodyPr wrap="none" rtlCol="0">
            <a:spAutoFit/>
          </a:bodyPr>
          <a:lstStyle/>
          <a:p>
            <a:r>
              <a:rPr lang="en-US" sz="3413" dirty="0">
                <a:solidFill>
                  <a:srgbClr val="0000FF"/>
                </a:solidFill>
              </a:rPr>
              <a:t>measureable output x-ray intensity</a:t>
            </a:r>
          </a:p>
        </p:txBody>
      </p:sp>
      <p:cxnSp>
        <p:nvCxnSpPr>
          <p:cNvPr id="16" name="Straight Arrow Connector 15"/>
          <p:cNvCxnSpPr>
            <a:stCxn id="15" idx="1"/>
          </p:cNvCxnSpPr>
          <p:nvPr/>
        </p:nvCxnSpPr>
        <p:spPr>
          <a:xfrm flipH="1">
            <a:off x="4166354" y="2298709"/>
            <a:ext cx="229675" cy="452020"/>
          </a:xfrm>
          <a:prstGeom prst="straightConnector1">
            <a:avLst/>
          </a:prstGeom>
          <a:ln>
            <a:solidFill>
              <a:srgbClr val="0000FF"/>
            </a:solidFill>
            <a:tailEnd type="arrow"/>
          </a:ln>
          <a:effectLst/>
        </p:spPr>
        <p:style>
          <a:lnRef idx="2">
            <a:schemeClr val="accent1"/>
          </a:lnRef>
          <a:fillRef idx="0">
            <a:schemeClr val="accent1"/>
          </a:fillRef>
          <a:effectRef idx="1">
            <a:schemeClr val="accent1"/>
          </a:effectRef>
          <a:fontRef idx="minor">
            <a:schemeClr val="tx1"/>
          </a:fontRef>
        </p:style>
      </p:cxnSp>
      <p:sp>
        <p:nvSpPr>
          <p:cNvPr id="17" name="Shape 73"/>
          <p:cNvSpPr>
            <a:spLocks noGrp="1"/>
          </p:cNvSpPr>
          <p:nvPr>
            <p:ph type="title"/>
          </p:nvPr>
        </p:nvSpPr>
        <p:spPr>
          <a:xfrm>
            <a:off x="212643" y="380331"/>
            <a:ext cx="12567568" cy="1673058"/>
          </a:xfrm>
          <a:prstGeom prst="rect">
            <a:avLst/>
          </a:prstGeom>
        </p:spPr>
        <p:txBody>
          <a:bodyPr>
            <a:normAutofit/>
          </a:bodyPr>
          <a:lstStyle/>
          <a:p>
            <a:r>
              <a:rPr lang="en-US" dirty="0"/>
              <a:t>What is known?</a:t>
            </a:r>
            <a:endParaRPr dirty="0"/>
          </a:p>
        </p:txBody>
      </p:sp>
      <p:cxnSp>
        <p:nvCxnSpPr>
          <p:cNvPr id="19" name="Straight Arrow Connector 18"/>
          <p:cNvCxnSpPr/>
          <p:nvPr/>
        </p:nvCxnSpPr>
        <p:spPr>
          <a:xfrm flipH="1" flipV="1">
            <a:off x="1767520" y="3849140"/>
            <a:ext cx="1489027" cy="2696039"/>
          </a:xfrm>
          <a:prstGeom prst="straightConnector1">
            <a:avLst/>
          </a:prstGeom>
          <a:ln>
            <a:solidFill>
              <a:srgbClr val="0000FF"/>
            </a:solidFill>
            <a:tailEnd type="arrow"/>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03079" y="6400586"/>
            <a:ext cx="3592650" cy="565026"/>
          </a:xfrm>
          <a:prstGeom prst="rect">
            <a:avLst/>
          </a:prstGeom>
          <a:noFill/>
        </p:spPr>
        <p:txBody>
          <a:bodyPr wrap="none" rtlCol="0">
            <a:spAutoFit/>
          </a:bodyPr>
          <a:lstStyle/>
          <a:p>
            <a:r>
              <a:rPr lang="en-US" sz="3413" dirty="0">
                <a:solidFill>
                  <a:srgbClr val="0000FF"/>
                </a:solidFill>
              </a:rPr>
              <a:t>x-ray </a:t>
            </a:r>
            <a:r>
              <a:rPr lang="en-US" sz="3413">
                <a:solidFill>
                  <a:srgbClr val="0000FF"/>
                </a:solidFill>
              </a:rPr>
              <a:t>projection </a:t>
            </a:r>
            <a:endParaRPr lang="en-US" sz="3413" dirty="0">
              <a:solidFill>
                <a:srgbClr val="0000FF"/>
              </a:solidFill>
            </a:endParaRPr>
          </a:p>
        </p:txBody>
      </p:sp>
    </p:spTree>
    <p:extLst>
      <p:ext uri="{BB962C8B-B14F-4D97-AF65-F5344CB8AC3E}">
        <p14:creationId xmlns:p14="http://schemas.microsoft.com/office/powerpoint/2010/main" val="1873328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TP_tmp.png"/>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bwMode="auto">
          <a:xfrm>
            <a:off x="3746387" y="2094968"/>
            <a:ext cx="4362062" cy="1642414"/>
          </a:xfrm>
          <a:prstGeom prst="rect">
            <a:avLst/>
          </a:prstGeom>
          <a:noFill/>
          <a:ln/>
          <a:effectLst/>
          <a:extLst>
            <a:ext uri="{909E8E84-426E-40dd-AFC4-6F175D3DCCD1}">
              <a14:hiddenFill xmlns="" xmlns:a14="http://schemas.microsoft.com/office/drawing/2010/main">
                <a:pattFill prst="pct5">
                  <a:fgClr>
                    <a:srgbClr val="FFFFFF">
                      <a:alpha val="0"/>
                    </a:srgbClr>
                  </a:fgClr>
                  <a:bgClr>
                    <a:srgbClr val="FFFFFF">
                      <a:alpha val="0"/>
                    </a:srgbClr>
                  </a:bgClr>
                </a:pattFill>
              </a14:hiddenFill>
            </a:ext>
            <a:ext uri="{AF507438-7753-43e0-B8FC-AC1667EBCBE1}">
              <a14:hiddenEffects xmlns="" xmlns:a14="http://schemas.microsoft.com/office/drawing/2010/main">
                <a:effectLst>
                  <a:outerShdw blurRad="63500" dist="37357" dir="2700000" rotWithShape="0">
                    <a:scrgbClr r="0" g="0" b="0"/>
                  </a:outerShdw>
                </a:effectLst>
              </a14:hiddenEffects>
            </a:ext>
            <a:ext uri="{31F19639-BCED-4a60-ADC4-E9642A236FB7}">
              <a14:hiddenScene3d xmlns="" xmlns:a14="http://schemas.microsoft.com/office/drawing/2010/main">
                <a:camera prst="orthographicFront">
                  <a:rot lat="0" lon="0" rev="0"/>
                </a:camera>
                <a:lightRig rig="threePt" dir="t">
                  <a:rot lat="0" lon="0" rev="0"/>
                </a:lightRig>
              </a14:hiddenScene3d>
            </a:ext>
            <a:ext uri="{E45631CC-5BF2-4c18-A39C-3461C7D3F71A}">
              <a14:hiddenSp3d xmlns="" xmlns:a14="http://schemas.microsoft.com/office/drawing/2010/main" extrusionH="457200">
                <a:contourClr>
                  <a:srgbClr val="000000"/>
                </a:contourClr>
              </a14:hiddenSp3d>
            </a:ext>
            <a:ext uri="{53640926-AAD7-44d8-BBD7-CCE9431645EC}">
              <a14:shadowObscured xmlns="" xmlns:a14="http://schemas.microsoft.com/office/drawing/2010/main"/>
            </a:ext>
          </a:extLst>
        </p:spPr>
      </p:pic>
      <p:cxnSp>
        <p:nvCxnSpPr>
          <p:cNvPr id="23" name="Straight Arrow Connector 22"/>
          <p:cNvCxnSpPr>
            <a:stCxn id="24" idx="0"/>
          </p:cNvCxnSpPr>
          <p:nvPr/>
        </p:nvCxnSpPr>
        <p:spPr>
          <a:xfrm flipH="1" flipV="1">
            <a:off x="4021931" y="3434548"/>
            <a:ext cx="182034" cy="1015286"/>
          </a:xfrm>
          <a:prstGeom prst="straightConnector1">
            <a:avLst/>
          </a:prstGeom>
          <a:ln>
            <a:solidFill>
              <a:srgbClr val="0000FF"/>
            </a:solidFill>
            <a:tailEnd type="arrow"/>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188302" y="4449834"/>
            <a:ext cx="2031325" cy="565026"/>
          </a:xfrm>
          <a:prstGeom prst="rect">
            <a:avLst/>
          </a:prstGeom>
          <a:noFill/>
        </p:spPr>
        <p:txBody>
          <a:bodyPr wrap="none" rtlCol="0">
            <a:spAutoFit/>
          </a:bodyPr>
          <a:lstStyle/>
          <a:p>
            <a:r>
              <a:rPr lang="en-US" sz="3413" dirty="0">
                <a:solidFill>
                  <a:srgbClr val="0000FF"/>
                </a:solidFill>
              </a:rPr>
              <a:t>KNOWN!</a:t>
            </a:r>
          </a:p>
        </p:txBody>
      </p:sp>
      <p:sp>
        <p:nvSpPr>
          <p:cNvPr id="25" name="Rectangle 24"/>
          <p:cNvSpPr/>
          <p:nvPr/>
        </p:nvSpPr>
        <p:spPr>
          <a:xfrm>
            <a:off x="5827033" y="2571364"/>
            <a:ext cx="1552390" cy="808546"/>
          </a:xfrm>
          <a:prstGeom prst="rect">
            <a:avLst/>
          </a:prstGeom>
          <a:solidFill>
            <a:srgbClr val="FF0000">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cxnSp>
        <p:nvCxnSpPr>
          <p:cNvPr id="26" name="Straight Arrow Connector 25"/>
          <p:cNvCxnSpPr>
            <a:stCxn id="27" idx="0"/>
          </p:cNvCxnSpPr>
          <p:nvPr/>
        </p:nvCxnSpPr>
        <p:spPr>
          <a:xfrm flipH="1" flipV="1">
            <a:off x="6570022" y="3411895"/>
            <a:ext cx="2057810" cy="1037939"/>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296378" y="4449834"/>
            <a:ext cx="2662908" cy="565026"/>
          </a:xfrm>
          <a:prstGeom prst="rect">
            <a:avLst/>
          </a:prstGeom>
          <a:noFill/>
        </p:spPr>
        <p:txBody>
          <a:bodyPr wrap="none" rtlCol="0">
            <a:spAutoFit/>
          </a:bodyPr>
          <a:lstStyle/>
          <a:p>
            <a:r>
              <a:rPr lang="en-US" sz="3413" dirty="0">
                <a:solidFill>
                  <a:srgbClr val="FF0000"/>
                </a:solidFill>
              </a:rPr>
              <a:t>UNKNOWN!</a:t>
            </a:r>
          </a:p>
        </p:txBody>
      </p:sp>
      <p:sp>
        <p:nvSpPr>
          <p:cNvPr id="29" name="Rectangle 28"/>
          <p:cNvSpPr/>
          <p:nvPr/>
        </p:nvSpPr>
        <p:spPr>
          <a:xfrm>
            <a:off x="974146" y="6340755"/>
            <a:ext cx="10948831" cy="2141099"/>
          </a:xfrm>
          <a:prstGeom prst="rect">
            <a:avLst/>
          </a:prstGeom>
        </p:spPr>
        <p:txBody>
          <a:bodyPr wrap="none">
            <a:spAutoFit/>
          </a:bodyPr>
          <a:lstStyle/>
          <a:p>
            <a:pPr algn="l"/>
            <a:r>
              <a:rPr lang="en-US" sz="3698" i="1" dirty="0"/>
              <a:t>Inverse problem, image reconstruction problem</a:t>
            </a:r>
          </a:p>
          <a:p>
            <a:pPr algn="l"/>
            <a:endParaRPr lang="en-US" sz="3698" i="1" dirty="0"/>
          </a:p>
          <a:p>
            <a:pPr algn="l"/>
            <a:r>
              <a:rPr lang="en-US" sz="3698" dirty="0"/>
              <a:t>Given:  </a:t>
            </a:r>
          </a:p>
          <a:p>
            <a:pPr algn="l"/>
            <a:r>
              <a:rPr lang="en-US" sz="3698" dirty="0"/>
              <a:t>Find: </a:t>
            </a:r>
          </a:p>
        </p:txBody>
      </p:sp>
      <p:pic>
        <p:nvPicPr>
          <p:cNvPr id="31" name="Picture 30" descr="TP_tmp.png"/>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bwMode="auto">
          <a:xfrm>
            <a:off x="2579999" y="7535156"/>
            <a:ext cx="311573" cy="363503"/>
          </a:xfrm>
          <a:prstGeom prst="rect">
            <a:avLst/>
          </a:prstGeom>
          <a:noFill/>
          <a:ln/>
          <a:effectLst/>
          <a:extLst>
            <a:ext uri="{909E8E84-426E-40dd-AFC4-6F175D3DCCD1}">
              <a14:hiddenFill xmlns="" xmlns:a14="http://schemas.microsoft.com/office/drawing/2010/main">
                <a:pattFill prst="pct5">
                  <a:fgClr>
                    <a:srgbClr val="FFFFFF">
                      <a:alpha val="0"/>
                    </a:srgbClr>
                  </a:fgClr>
                  <a:bgClr>
                    <a:srgbClr val="FFFFFF">
                      <a:alpha val="0"/>
                    </a:srgbClr>
                  </a:bgClr>
                </a:pattFill>
              </a14:hiddenFill>
            </a:ext>
            <a:ext uri="{AF507438-7753-43e0-B8FC-AC1667EBCBE1}">
              <a14:hiddenEffects xmlns="" xmlns:a14="http://schemas.microsoft.com/office/drawing/2010/main">
                <a:effectLst>
                  <a:outerShdw blurRad="63500" dist="37357" dir="2700000" rotWithShape="0">
                    <a:scrgbClr r="0" g="0" b="0"/>
                  </a:outerShdw>
                </a:effectLst>
              </a14:hiddenEffects>
            </a:ext>
            <a:ext uri="{31F19639-BCED-4a60-ADC4-E9642A236FB7}">
              <a14:hiddenScene3d xmlns="" xmlns:a14="http://schemas.microsoft.com/office/drawing/2010/main">
                <a:camera prst="orthographicFront">
                  <a:rot lat="0" lon="0" rev="0"/>
                </a:camera>
                <a:lightRig rig="threePt" dir="t">
                  <a:rot lat="0" lon="0" rev="0"/>
                </a:lightRig>
              </a14:hiddenScene3d>
            </a:ext>
            <a:ext uri="{E45631CC-5BF2-4c18-A39C-3461C7D3F71A}">
              <a14:hiddenSp3d xmlns="" xmlns:a14="http://schemas.microsoft.com/office/drawing/2010/main" extrusionH="457200">
                <a:contourClr>
                  <a:srgbClr val="000000"/>
                </a:contourClr>
              </a14:hiddenSp3d>
            </a:ext>
            <a:ext uri="{53640926-AAD7-44d8-BBD7-CCE9431645EC}">
              <a14:shadowObscured xmlns="" xmlns:a14="http://schemas.microsoft.com/office/drawing/2010/main"/>
            </a:ext>
          </a:extLst>
        </p:spPr>
      </p:pic>
      <p:pic>
        <p:nvPicPr>
          <p:cNvPr id="33" name="Picture 32" descr="TP_tmp.png"/>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bwMode="auto">
          <a:xfrm>
            <a:off x="2430332" y="7907520"/>
            <a:ext cx="986650" cy="571218"/>
          </a:xfrm>
          <a:prstGeom prst="rect">
            <a:avLst/>
          </a:prstGeom>
          <a:noFill/>
          <a:ln/>
          <a:effectLst/>
          <a:extLst>
            <a:ext uri="{909E8E84-426E-40dd-AFC4-6F175D3DCCD1}">
              <a14:hiddenFill xmlns="" xmlns:a14="http://schemas.microsoft.com/office/drawing/2010/main">
                <a:pattFill prst="pct5">
                  <a:fgClr>
                    <a:srgbClr val="FFFFFF">
                      <a:alpha val="0"/>
                    </a:srgbClr>
                  </a:fgClr>
                  <a:bgClr>
                    <a:srgbClr val="FFFFFF">
                      <a:alpha val="0"/>
                    </a:srgbClr>
                  </a:bgClr>
                </a:pattFill>
              </a14:hiddenFill>
            </a:ext>
            <a:ext uri="{AF507438-7753-43e0-B8FC-AC1667EBCBE1}">
              <a14:hiddenEffects xmlns="" xmlns:a14="http://schemas.microsoft.com/office/drawing/2010/main">
                <a:effectLst>
                  <a:outerShdw blurRad="63500" dist="37357" dir="2700000" rotWithShape="0">
                    <a:scrgbClr r="0" g="0" b="0"/>
                  </a:outerShdw>
                </a:effectLst>
              </a14:hiddenEffects>
            </a:ext>
            <a:ext uri="{31F19639-BCED-4a60-ADC4-E9642A236FB7}">
              <a14:hiddenScene3d xmlns="" xmlns:a14="http://schemas.microsoft.com/office/drawing/2010/main">
                <a:camera prst="orthographicFront">
                  <a:rot lat="0" lon="0" rev="0"/>
                </a:camera>
                <a:lightRig rig="threePt" dir="t">
                  <a:rot lat="0" lon="0" rev="0"/>
                </a:lightRig>
              </a14:hiddenScene3d>
            </a:ext>
            <a:ext uri="{E45631CC-5BF2-4c18-A39C-3461C7D3F71A}">
              <a14:hiddenSp3d xmlns="" xmlns:a14="http://schemas.microsoft.com/office/drawing/2010/main" extrusionH="457200">
                <a:contourClr>
                  <a:srgbClr val="000000"/>
                </a:contourClr>
              </a14:hiddenSp3d>
            </a:ext>
            <a:ext uri="{53640926-AAD7-44d8-BBD7-CCE9431645EC}">
              <a14:shadowObscured xmlns="" xmlns:a14="http://schemas.microsoft.com/office/drawing/2010/main"/>
            </a:ext>
          </a:extLst>
        </p:spPr>
      </p:pic>
      <p:sp>
        <p:nvSpPr>
          <p:cNvPr id="30" name="Rectangle 29"/>
          <p:cNvSpPr/>
          <p:nvPr/>
        </p:nvSpPr>
        <p:spPr>
          <a:xfrm>
            <a:off x="3674139" y="2627805"/>
            <a:ext cx="529825" cy="762642"/>
          </a:xfrm>
          <a:prstGeom prst="rect">
            <a:avLst/>
          </a:prstGeom>
          <a:solidFill>
            <a:srgbClr val="3366FF">
              <a:alpha val="3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3" name="Shape 73"/>
          <p:cNvSpPr>
            <a:spLocks noGrp="1"/>
          </p:cNvSpPr>
          <p:nvPr>
            <p:ph type="title"/>
          </p:nvPr>
        </p:nvSpPr>
        <p:spPr>
          <a:xfrm>
            <a:off x="212643" y="380331"/>
            <a:ext cx="12567568" cy="1673058"/>
          </a:xfrm>
          <a:prstGeom prst="rect">
            <a:avLst/>
          </a:prstGeom>
        </p:spPr>
        <p:txBody>
          <a:bodyPr>
            <a:normAutofit fontScale="90000"/>
          </a:bodyPr>
          <a:lstStyle/>
          <a:p>
            <a:r>
              <a:rPr lang="en-US" dirty="0"/>
              <a:t>What is known? What is unknown?</a:t>
            </a:r>
            <a:endParaRPr dirty="0"/>
          </a:p>
        </p:txBody>
      </p:sp>
    </p:spTree>
    <p:extLst>
      <p:ext uri="{BB962C8B-B14F-4D97-AF65-F5344CB8AC3E}">
        <p14:creationId xmlns:p14="http://schemas.microsoft.com/office/powerpoint/2010/main" val="1304249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estXray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0355" y="1390042"/>
            <a:ext cx="5664890" cy="7366837"/>
          </a:xfrm>
          <a:prstGeom prst="rect">
            <a:avLst/>
          </a:prstGeom>
        </p:spPr>
      </p:pic>
      <p:pic>
        <p:nvPicPr>
          <p:cNvPr id="4" name="Picture 3" descr="skull.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5742" y="1362120"/>
            <a:ext cx="4690158" cy="4453912"/>
          </a:xfrm>
          <a:prstGeom prst="rect">
            <a:avLst/>
          </a:prstGeom>
        </p:spPr>
      </p:pic>
      <p:pic>
        <p:nvPicPr>
          <p:cNvPr id="2" name="Picture 1" descr="dentist.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04583" y="5888279"/>
            <a:ext cx="4681728" cy="3543808"/>
          </a:xfrm>
          <a:prstGeom prst="rect">
            <a:avLst/>
          </a:prstGeom>
        </p:spPr>
      </p:pic>
      <p:pic>
        <p:nvPicPr>
          <p:cNvPr id="7" name="Picture 6" descr="TP_tmp.png"/>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bwMode="auto">
          <a:xfrm>
            <a:off x="6698835" y="8853209"/>
            <a:ext cx="4242850" cy="488660"/>
          </a:xfrm>
          <a:prstGeom prst="rect">
            <a:avLst/>
          </a:prstGeom>
          <a:noFill/>
          <a:ln/>
          <a:effectLst/>
          <a:extLst>
            <a:ext uri="{909E8E84-426E-40dd-AFC4-6F175D3DCCD1}">
              <a14:hiddenFill xmlns="" xmlns:a14="http://schemas.microsoft.com/office/drawing/2010/main">
                <a:pattFill prst="pct5">
                  <a:fgClr>
                    <a:srgbClr val="FFFFFF">
                      <a:alpha val="0"/>
                    </a:srgbClr>
                  </a:fgClr>
                  <a:bgClr>
                    <a:srgbClr val="FFFFFF">
                      <a:alpha val="0"/>
                    </a:srgbClr>
                  </a:bgClr>
                </a:pattFill>
              </a14:hiddenFill>
            </a:ext>
            <a:ext uri="{AF507438-7753-43e0-B8FC-AC1667EBCBE1}">
              <a14:hiddenEffects xmlns="" xmlns:a14="http://schemas.microsoft.com/office/drawing/2010/main">
                <a:effectLst>
                  <a:outerShdw blurRad="63500" dist="37357" dir="2700000" rotWithShape="0">
                    <a:scrgbClr r="0" g="0" b="0"/>
                  </a:outerShdw>
                </a:effectLst>
              </a14:hiddenEffects>
            </a:ext>
            <a:ext uri="{31F19639-BCED-4a60-ADC4-E9642A236FB7}">
              <a14:hiddenScene3d xmlns="" xmlns:a14="http://schemas.microsoft.com/office/drawing/2010/main">
                <a:camera prst="orthographicFront">
                  <a:rot lat="0" lon="0" rev="0"/>
                </a:camera>
                <a:lightRig rig="threePt" dir="t">
                  <a:rot lat="0" lon="0" rev="0"/>
                </a:lightRig>
              </a14:hiddenScene3d>
            </a:ext>
            <a:ext uri="{E45631CC-5BF2-4c18-A39C-3461C7D3F71A}">
              <a14:hiddenSp3d xmlns="" xmlns:a14="http://schemas.microsoft.com/office/drawing/2010/main" extrusionH="457200">
                <a:contourClr>
                  <a:srgbClr val="000000"/>
                </a:contourClr>
              </a14:hiddenSp3d>
            </a:ext>
            <a:ext uri="{53640926-AAD7-44d8-BBD7-CCE9431645EC}">
              <a14:shadowObscured xmlns="" xmlns:a14="http://schemas.microsoft.com/office/drawing/2010/main"/>
            </a:ext>
          </a:extLst>
        </p:spPr>
      </p:pic>
      <p:sp>
        <p:nvSpPr>
          <p:cNvPr id="9" name="Shape 73"/>
          <p:cNvSpPr>
            <a:spLocks noGrp="1"/>
          </p:cNvSpPr>
          <p:nvPr>
            <p:ph type="title"/>
          </p:nvPr>
        </p:nvSpPr>
        <p:spPr>
          <a:xfrm>
            <a:off x="260769" y="0"/>
            <a:ext cx="12567568" cy="1673058"/>
          </a:xfrm>
          <a:prstGeom prst="rect">
            <a:avLst/>
          </a:prstGeom>
        </p:spPr>
        <p:txBody>
          <a:bodyPr>
            <a:normAutofit/>
          </a:bodyPr>
          <a:lstStyle/>
          <a:p>
            <a:r>
              <a:rPr lang="en-US" dirty="0"/>
              <a:t>X-rays</a:t>
            </a:r>
            <a:r>
              <a:rPr lang="en-US"/>
              <a:t>: Shadows</a:t>
            </a:r>
            <a:endParaRPr dirty="0"/>
          </a:p>
        </p:txBody>
      </p:sp>
    </p:spTree>
    <p:extLst>
      <p:ext uri="{BB962C8B-B14F-4D97-AF65-F5344CB8AC3E}">
        <p14:creationId xmlns:p14="http://schemas.microsoft.com/office/powerpoint/2010/main" val="768249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p:cNvSpPr txBox="1">
            <a:spLocks noChangeArrowheads="1"/>
          </p:cNvSpPr>
          <p:nvPr/>
        </p:nvSpPr>
        <p:spPr bwMode="auto">
          <a:xfrm>
            <a:off x="238000" y="1625601"/>
            <a:ext cx="12300162" cy="127400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844" dirty="0">
                <a:solidFill>
                  <a:srgbClr val="009900"/>
                </a:solidFill>
              </a:rPr>
              <a:t>Tomography:</a:t>
            </a:r>
            <a:r>
              <a:rPr lang="en-US" sz="2844" dirty="0"/>
              <a:t>  </a:t>
            </a:r>
            <a:r>
              <a:rPr lang="ja-JP" altLang="en-US" sz="2844" b="0" dirty="0">
                <a:latin typeface="Arial"/>
              </a:rPr>
              <a:t>“</a:t>
            </a:r>
            <a:r>
              <a:rPr lang="en-US" sz="2844" b="0" dirty="0"/>
              <a:t>Any of several techniques for making detailed x-rays of a </a:t>
            </a:r>
          </a:p>
          <a:p>
            <a:pPr algn="l"/>
            <a:r>
              <a:rPr lang="en-US" sz="2844" b="0" dirty="0"/>
              <a:t>predetermined plane section of a solid object while blurring out the images </a:t>
            </a:r>
          </a:p>
          <a:p>
            <a:pPr algn="l"/>
            <a:r>
              <a:rPr lang="en-US" sz="2844" b="0" dirty="0"/>
              <a:t>of other planes.</a:t>
            </a:r>
            <a:r>
              <a:rPr lang="ja-JP" altLang="en-US" sz="2844" b="0" dirty="0">
                <a:latin typeface="Arial"/>
              </a:rPr>
              <a:t>”</a:t>
            </a:r>
            <a:r>
              <a:rPr lang="en-US" sz="2844" b="0" dirty="0"/>
              <a:t>  </a:t>
            </a:r>
          </a:p>
        </p:txBody>
      </p:sp>
      <p:pic>
        <p:nvPicPr>
          <p:cNvPr id="7" name="Picture 10" descr="chestct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613" y="4246871"/>
            <a:ext cx="5219260" cy="41702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Text Box 11"/>
          <p:cNvSpPr txBox="1">
            <a:spLocks noChangeArrowheads="1"/>
          </p:cNvSpPr>
          <p:nvPr/>
        </p:nvSpPr>
        <p:spPr bwMode="auto">
          <a:xfrm>
            <a:off x="1578556" y="8328933"/>
            <a:ext cx="3534942" cy="6045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3698" b="0"/>
              <a:t>1 cm carcinoma</a:t>
            </a:r>
          </a:p>
        </p:txBody>
      </p:sp>
      <p:pic>
        <p:nvPicPr>
          <p:cNvPr id="9" name="Picture 13" descr="chestctfront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565" y="4246871"/>
            <a:ext cx="5396992" cy="41826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Text Box 14"/>
          <p:cNvSpPr txBox="1">
            <a:spLocks noChangeArrowheads="1"/>
          </p:cNvSpPr>
          <p:nvPr/>
        </p:nvSpPr>
        <p:spPr bwMode="auto">
          <a:xfrm>
            <a:off x="6936927" y="8304851"/>
            <a:ext cx="4697120" cy="6045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3698" b="0"/>
              <a:t>pulmonary embolism </a:t>
            </a:r>
          </a:p>
        </p:txBody>
      </p:sp>
      <p:sp>
        <p:nvSpPr>
          <p:cNvPr id="11" name="Text Box 15"/>
          <p:cNvSpPr txBox="1">
            <a:spLocks noChangeArrowheads="1"/>
          </p:cNvSpPr>
          <p:nvPr/>
        </p:nvSpPr>
        <p:spPr bwMode="auto">
          <a:xfrm>
            <a:off x="1387127" y="3642347"/>
            <a:ext cx="9842759" cy="6045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3698"/>
              <a:t>Chest Computed Tomography (CT) Images</a:t>
            </a:r>
          </a:p>
        </p:txBody>
      </p:sp>
      <p:graphicFrame>
        <p:nvGraphicFramePr>
          <p:cNvPr id="2" name="Object 1"/>
          <p:cNvGraphicFramePr>
            <a:graphicFrameLocks noChangeAspect="1"/>
          </p:cNvGraphicFramePr>
          <p:nvPr>
            <p:extLst>
              <p:ext uri="{D42A27DB-BD31-4B8C-83A1-F6EECF244321}">
                <p14:modId xmlns:p14="http://schemas.microsoft.com/office/powerpoint/2010/main" val="1168044044"/>
              </p:ext>
            </p:extLst>
          </p:nvPr>
        </p:nvGraphicFramePr>
        <p:xfrm>
          <a:off x="9833326" y="465962"/>
          <a:ext cx="1396560" cy="859422"/>
        </p:xfrm>
        <a:graphic>
          <a:graphicData uri="http://schemas.openxmlformats.org/presentationml/2006/ole">
            <mc:AlternateContent xmlns:mc="http://schemas.openxmlformats.org/markup-compatibility/2006">
              <mc:Choice xmlns:v="urn:schemas-microsoft-com:vml" Requires="v">
                <p:oleObj spid="_x0000_s12324" name="Equation" r:id="rId5" imgW="330200" imgH="203200" progId="Equation.3">
                  <p:embed/>
                </p:oleObj>
              </mc:Choice>
              <mc:Fallback>
                <p:oleObj name="Equation" r:id="rId5" imgW="330200" imgH="203200" progId="Equation.3">
                  <p:embed/>
                  <p:pic>
                    <p:nvPicPr>
                      <p:cNvPr id="0" name=""/>
                      <p:cNvPicPr/>
                      <p:nvPr/>
                    </p:nvPicPr>
                    <p:blipFill>
                      <a:blip r:embed="rId6"/>
                      <a:stretch>
                        <a:fillRect/>
                      </a:stretch>
                    </p:blipFill>
                    <p:spPr>
                      <a:xfrm>
                        <a:off x="9833326" y="465962"/>
                        <a:ext cx="1396560" cy="859422"/>
                      </a:xfrm>
                      <a:prstGeom prst="rect">
                        <a:avLst/>
                      </a:prstGeom>
                      <a:noFill/>
                    </p:spPr>
                  </p:pic>
                </p:oleObj>
              </mc:Fallback>
            </mc:AlternateContent>
          </a:graphicData>
        </a:graphic>
      </p:graphicFrame>
      <p:sp>
        <p:nvSpPr>
          <p:cNvPr id="12" name="Shape 73"/>
          <p:cNvSpPr>
            <a:spLocks noGrp="1"/>
          </p:cNvSpPr>
          <p:nvPr>
            <p:ph type="title"/>
          </p:nvPr>
        </p:nvSpPr>
        <p:spPr>
          <a:xfrm>
            <a:off x="-933521" y="6777"/>
            <a:ext cx="12567568" cy="1673058"/>
          </a:xfrm>
          <a:prstGeom prst="rect">
            <a:avLst/>
          </a:prstGeom>
        </p:spPr>
        <p:txBody>
          <a:bodyPr>
            <a:normAutofit/>
          </a:bodyPr>
          <a:lstStyle/>
          <a:p>
            <a:r>
              <a:rPr lang="en-US"/>
              <a:t>Tomography: solve for </a:t>
            </a:r>
            <a:endParaRPr dirty="0"/>
          </a:p>
        </p:txBody>
      </p:sp>
    </p:spTree>
    <p:extLst>
      <p:ext uri="{BB962C8B-B14F-4D97-AF65-F5344CB8AC3E}">
        <p14:creationId xmlns:p14="http://schemas.microsoft.com/office/powerpoint/2010/main" val="1148702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120" dirty="0"/>
              <a:t>Patient’s CT Scan</a:t>
            </a:r>
          </a:p>
        </p:txBody>
      </p:sp>
      <p:pic>
        <p:nvPicPr>
          <p:cNvPr id="4" name="Content Placeholder 3" descr="Right Upper Lobe Mass CT[8].jpeg"/>
          <p:cNvPicPr>
            <a:picLocks noGrp="1" noChangeAspect="1"/>
          </p:cNvPicPr>
          <p:nvPr>
            <p:ph idx="1"/>
          </p:nvPr>
        </p:nvPicPr>
        <p:blipFill rotWithShape="1">
          <a:blip r:embed="rId3">
            <a:extLst>
              <a:ext uri="{28A0092B-C50C-407E-A947-70E740481C1C}">
                <a14:useLocalDpi xmlns:a14="http://schemas.microsoft.com/office/drawing/2010/main" val="0"/>
              </a:ext>
            </a:extLst>
          </a:blip>
          <a:srcRect l="-923" r="-2004"/>
          <a:stretch/>
        </p:blipFill>
        <p:spPr>
          <a:xfrm>
            <a:off x="2871536" y="2127836"/>
            <a:ext cx="7122696" cy="6920085"/>
          </a:xfrm>
        </p:spPr>
      </p:pic>
      <p:cxnSp>
        <p:nvCxnSpPr>
          <p:cNvPr id="6" name="Straight Arrow Connector 5"/>
          <p:cNvCxnSpPr/>
          <p:nvPr/>
        </p:nvCxnSpPr>
        <p:spPr>
          <a:xfrm>
            <a:off x="3368842" y="5037220"/>
            <a:ext cx="1528201" cy="148426"/>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55074" y="8621657"/>
            <a:ext cx="6502400" cy="1006429"/>
          </a:xfrm>
          <a:prstGeom prst="rect">
            <a:avLst/>
          </a:prstGeom>
        </p:spPr>
        <p:txBody>
          <a:bodyPr>
            <a:spAutoFit/>
          </a:bodyPr>
          <a:lstStyle/>
          <a:p>
            <a:endParaRPr lang="en-US" dirty="0"/>
          </a:p>
          <a:p>
            <a:endParaRPr lang="en-US" dirty="0"/>
          </a:p>
          <a:p>
            <a:pPr algn="l"/>
            <a:r>
              <a:rPr lang="en-US" sz="1400" dirty="0">
                <a:solidFill>
                  <a:srgbClr val="0070C0"/>
                </a:solidFill>
              </a:rPr>
              <a:t>Photo credit: Dr. Joseph Levine</a:t>
            </a:r>
          </a:p>
        </p:txBody>
      </p:sp>
    </p:spTree>
    <p:extLst>
      <p:ext uri="{BB962C8B-B14F-4D97-AF65-F5344CB8AC3E}">
        <p14:creationId xmlns:p14="http://schemas.microsoft.com/office/powerpoint/2010/main" val="367132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36283" y="1823267"/>
            <a:ext cx="12114214" cy="565026"/>
          </a:xfrm>
          <a:prstGeom prst="rect">
            <a:avLst/>
          </a:prstGeom>
          <a:noFill/>
        </p:spPr>
        <p:txBody>
          <a:bodyPr wrap="none" rtlCol="0">
            <a:spAutoFit/>
          </a:bodyPr>
          <a:lstStyle/>
          <a:p>
            <a:r>
              <a:rPr lang="en-US" sz="3413" dirty="0"/>
              <a:t>Semi-opaque cylinder with 5 smaller cylinders embedded</a:t>
            </a:r>
          </a:p>
        </p:txBody>
      </p:sp>
      <p:sp>
        <p:nvSpPr>
          <p:cNvPr id="6" name="TextBox 5"/>
          <p:cNvSpPr txBox="1"/>
          <p:nvPr/>
        </p:nvSpPr>
        <p:spPr>
          <a:xfrm>
            <a:off x="5459461" y="7929526"/>
            <a:ext cx="2058577" cy="565026"/>
          </a:xfrm>
          <a:prstGeom prst="rect">
            <a:avLst/>
          </a:prstGeom>
          <a:noFill/>
        </p:spPr>
        <p:txBody>
          <a:bodyPr wrap="none" rtlCol="0">
            <a:spAutoFit/>
          </a:bodyPr>
          <a:lstStyle/>
          <a:p>
            <a:r>
              <a:rPr lang="en-US" sz="3413" dirty="0"/>
              <a:t>Top view</a:t>
            </a:r>
          </a:p>
        </p:txBody>
      </p:sp>
      <p:grpSp>
        <p:nvGrpSpPr>
          <p:cNvPr id="51" name="Group 50"/>
          <p:cNvGrpSpPr/>
          <p:nvPr/>
        </p:nvGrpSpPr>
        <p:grpSpPr>
          <a:xfrm>
            <a:off x="4964119" y="4145471"/>
            <a:ext cx="3160166" cy="3160660"/>
            <a:chOff x="654915" y="3266972"/>
            <a:chExt cx="2221992" cy="2222339"/>
          </a:xfrm>
        </p:grpSpPr>
        <p:sp>
          <p:nvSpPr>
            <p:cNvPr id="7" name="Oval 6"/>
            <p:cNvSpPr/>
            <p:nvPr/>
          </p:nvSpPr>
          <p:spPr>
            <a:xfrm>
              <a:off x="654915" y="3266972"/>
              <a:ext cx="2221992" cy="2222339"/>
            </a:xfrm>
            <a:prstGeom prst="ellipse">
              <a:avLst/>
            </a:prstGeom>
            <a:solidFill>
              <a:schemeClr val="accent1">
                <a:alpha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nvGrpSpPr>
            <p:cNvPr id="47" name="Group 46"/>
            <p:cNvGrpSpPr/>
            <p:nvPr/>
          </p:nvGrpSpPr>
          <p:grpSpPr>
            <a:xfrm>
              <a:off x="770404" y="3370681"/>
              <a:ext cx="1956172" cy="1985152"/>
              <a:chOff x="770404" y="3370681"/>
              <a:chExt cx="1956172" cy="1985152"/>
            </a:xfrm>
          </p:grpSpPr>
          <p:sp>
            <p:nvSpPr>
              <p:cNvPr id="8" name="Oval 7"/>
              <p:cNvSpPr>
                <a:spLocks noChangeAspect="1"/>
              </p:cNvSpPr>
              <p:nvPr/>
            </p:nvSpPr>
            <p:spPr>
              <a:xfrm>
                <a:off x="1603299" y="3370681"/>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4" name="Oval 13"/>
              <p:cNvSpPr>
                <a:spLocks noChangeAspect="1"/>
              </p:cNvSpPr>
              <p:nvPr/>
            </p:nvSpPr>
            <p:spPr>
              <a:xfrm>
                <a:off x="1603299" y="4208904"/>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5" name="Oval 14"/>
              <p:cNvSpPr>
                <a:spLocks noChangeAspect="1"/>
              </p:cNvSpPr>
              <p:nvPr/>
            </p:nvSpPr>
            <p:spPr>
              <a:xfrm>
                <a:off x="2426650" y="4208904"/>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6" name="Oval 15"/>
              <p:cNvSpPr>
                <a:spLocks noChangeAspect="1"/>
              </p:cNvSpPr>
              <p:nvPr/>
            </p:nvSpPr>
            <p:spPr>
              <a:xfrm>
                <a:off x="1603299" y="5055817"/>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7" name="Oval 16"/>
              <p:cNvSpPr>
                <a:spLocks noChangeAspect="1"/>
              </p:cNvSpPr>
              <p:nvPr/>
            </p:nvSpPr>
            <p:spPr>
              <a:xfrm>
                <a:off x="770404" y="4208904"/>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grpSp>
      <p:grpSp>
        <p:nvGrpSpPr>
          <p:cNvPr id="69" name="Group 68"/>
          <p:cNvGrpSpPr/>
          <p:nvPr/>
        </p:nvGrpSpPr>
        <p:grpSpPr>
          <a:xfrm>
            <a:off x="2215633" y="3992546"/>
            <a:ext cx="1035568" cy="3413117"/>
            <a:chOff x="829733" y="2929606"/>
            <a:chExt cx="728134" cy="2399848"/>
          </a:xfrm>
        </p:grpSpPr>
        <p:cxnSp>
          <p:nvCxnSpPr>
            <p:cNvPr id="61" name="Straight Arrow Connector 60"/>
            <p:cNvCxnSpPr/>
            <p:nvPr/>
          </p:nvCxnSpPr>
          <p:spPr>
            <a:xfrm>
              <a:off x="829733" y="3266972"/>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829733" y="2929606"/>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a:off x="829733" y="5329454"/>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4" name="Straight Arrow Connector 63"/>
            <p:cNvCxnSpPr/>
            <p:nvPr/>
          </p:nvCxnSpPr>
          <p:spPr>
            <a:xfrm>
              <a:off x="829733" y="3588699"/>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a:off x="829733" y="3927359"/>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p:nvPr/>
          </p:nvCxnSpPr>
          <p:spPr>
            <a:xfrm>
              <a:off x="829733" y="4992766"/>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a:off x="829733" y="4282967"/>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a:off x="829733" y="4637387"/>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26" name="TextBox 25"/>
          <p:cNvSpPr txBox="1"/>
          <p:nvPr/>
        </p:nvSpPr>
        <p:spPr>
          <a:xfrm>
            <a:off x="2196375" y="3088851"/>
            <a:ext cx="954107" cy="486223"/>
          </a:xfrm>
          <a:prstGeom prst="rect">
            <a:avLst/>
          </a:prstGeom>
          <a:noFill/>
        </p:spPr>
        <p:txBody>
          <a:bodyPr wrap="none" rtlCol="0">
            <a:spAutoFit/>
          </a:bodyPr>
          <a:lstStyle/>
          <a:p>
            <a:r>
              <a:rPr lang="en-US" sz="2844" dirty="0"/>
              <a:t>light</a:t>
            </a:r>
          </a:p>
        </p:txBody>
      </p:sp>
      <p:grpSp>
        <p:nvGrpSpPr>
          <p:cNvPr id="20" name="Group 19"/>
          <p:cNvGrpSpPr/>
          <p:nvPr/>
        </p:nvGrpSpPr>
        <p:grpSpPr>
          <a:xfrm>
            <a:off x="10011671" y="5050047"/>
            <a:ext cx="1336289" cy="1496266"/>
            <a:chOff x="6838950" y="3648706"/>
            <a:chExt cx="939578" cy="1052062"/>
          </a:xfrm>
        </p:grpSpPr>
        <p:cxnSp>
          <p:nvCxnSpPr>
            <p:cNvPr id="4" name="Straight Connector 3"/>
            <p:cNvCxnSpPr/>
            <p:nvPr/>
          </p:nvCxnSpPr>
          <p:spPr>
            <a:xfrm>
              <a:off x="6917716" y="3721319"/>
              <a:ext cx="437454" cy="39036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rot="5400000">
              <a:off x="6941261" y="4124676"/>
              <a:ext cx="437454" cy="39036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10" name="Arc 9"/>
            <p:cNvSpPr>
              <a:spLocks noChangeAspect="1"/>
            </p:cNvSpPr>
            <p:nvPr/>
          </p:nvSpPr>
          <p:spPr>
            <a:xfrm rot="13665822">
              <a:off x="6796941" y="3719180"/>
              <a:ext cx="1052062" cy="911113"/>
            </a:xfrm>
            <a:prstGeom prst="arc">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698"/>
            </a:p>
          </p:txBody>
        </p:sp>
        <p:sp>
          <p:nvSpPr>
            <p:cNvPr id="18" name="Oval 17"/>
            <p:cNvSpPr/>
            <p:nvPr/>
          </p:nvSpPr>
          <p:spPr>
            <a:xfrm>
              <a:off x="6838950" y="3856716"/>
              <a:ext cx="200506" cy="505734"/>
            </a:xfrm>
            <a:prstGeom prst="ellipse">
              <a:avLst/>
            </a:prstGeom>
            <a:solidFill>
              <a:srgbClr val="008000"/>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19" name="Oval 18"/>
            <p:cNvSpPr/>
            <p:nvPr/>
          </p:nvSpPr>
          <p:spPr>
            <a:xfrm>
              <a:off x="6866916" y="4014189"/>
              <a:ext cx="50800" cy="173884"/>
            </a:xfrm>
            <a:prstGeom prst="ellipse">
              <a:avLst/>
            </a:prstGeom>
            <a:solidFill>
              <a:schemeClr val="tx1"/>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sp>
        <p:nvSpPr>
          <p:cNvPr id="32" name="Title 1"/>
          <p:cNvSpPr>
            <a:spLocks noGrp="1"/>
          </p:cNvSpPr>
          <p:nvPr>
            <p:ph type="title"/>
          </p:nvPr>
        </p:nvSpPr>
        <p:spPr>
          <a:xfrm>
            <a:off x="650240" y="390596"/>
            <a:ext cx="11704320" cy="1625600"/>
          </a:xfrm>
        </p:spPr>
        <p:txBody>
          <a:bodyPr>
            <a:normAutofit/>
          </a:bodyPr>
          <a:lstStyle/>
          <a:p>
            <a:r>
              <a:rPr lang="en-US" sz="5120" dirty="0"/>
              <a:t>Basic idea: view 1</a:t>
            </a:r>
          </a:p>
        </p:txBody>
      </p:sp>
    </p:spTree>
    <p:extLst>
      <p:ext uri="{BB962C8B-B14F-4D97-AF65-F5344CB8AC3E}">
        <p14:creationId xmlns:p14="http://schemas.microsoft.com/office/powerpoint/2010/main" val="213670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636283" y="1823267"/>
            <a:ext cx="12114214" cy="565026"/>
          </a:xfrm>
          <a:prstGeom prst="rect">
            <a:avLst/>
          </a:prstGeom>
          <a:noFill/>
        </p:spPr>
        <p:txBody>
          <a:bodyPr wrap="none" rtlCol="0">
            <a:spAutoFit/>
          </a:bodyPr>
          <a:lstStyle/>
          <a:p>
            <a:r>
              <a:rPr lang="en-US" sz="3413" dirty="0"/>
              <a:t>Semi-opaque cylinder with 5 smaller cylinders embedded</a:t>
            </a:r>
          </a:p>
        </p:txBody>
      </p:sp>
      <p:grpSp>
        <p:nvGrpSpPr>
          <p:cNvPr id="39" name="Group 38"/>
          <p:cNvGrpSpPr/>
          <p:nvPr/>
        </p:nvGrpSpPr>
        <p:grpSpPr>
          <a:xfrm rot="1644712">
            <a:off x="4964119" y="4145471"/>
            <a:ext cx="3160166" cy="3160660"/>
            <a:chOff x="654915" y="3266972"/>
            <a:chExt cx="2221992" cy="2222339"/>
          </a:xfrm>
        </p:grpSpPr>
        <p:sp>
          <p:nvSpPr>
            <p:cNvPr id="40" name="Oval 39"/>
            <p:cNvSpPr/>
            <p:nvPr/>
          </p:nvSpPr>
          <p:spPr>
            <a:xfrm>
              <a:off x="654915" y="3266972"/>
              <a:ext cx="2221992" cy="2222339"/>
            </a:xfrm>
            <a:prstGeom prst="ellipse">
              <a:avLst/>
            </a:prstGeom>
            <a:solidFill>
              <a:schemeClr val="accent1">
                <a:alpha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nvGrpSpPr>
            <p:cNvPr id="41" name="Group 40"/>
            <p:cNvGrpSpPr/>
            <p:nvPr/>
          </p:nvGrpSpPr>
          <p:grpSpPr>
            <a:xfrm>
              <a:off x="770404" y="3370681"/>
              <a:ext cx="1956172" cy="1985152"/>
              <a:chOff x="770404" y="3370681"/>
              <a:chExt cx="1956172" cy="1985152"/>
            </a:xfrm>
          </p:grpSpPr>
          <p:sp>
            <p:nvSpPr>
              <p:cNvPr id="42" name="Oval 41"/>
              <p:cNvSpPr>
                <a:spLocks noChangeAspect="1"/>
              </p:cNvSpPr>
              <p:nvPr/>
            </p:nvSpPr>
            <p:spPr>
              <a:xfrm>
                <a:off x="1603299" y="3370681"/>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43" name="Oval 42"/>
              <p:cNvSpPr>
                <a:spLocks noChangeAspect="1"/>
              </p:cNvSpPr>
              <p:nvPr/>
            </p:nvSpPr>
            <p:spPr>
              <a:xfrm>
                <a:off x="1603299" y="4208904"/>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44" name="Oval 43"/>
              <p:cNvSpPr>
                <a:spLocks noChangeAspect="1"/>
              </p:cNvSpPr>
              <p:nvPr/>
            </p:nvSpPr>
            <p:spPr>
              <a:xfrm>
                <a:off x="2426650" y="4208904"/>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45" name="Oval 44"/>
              <p:cNvSpPr>
                <a:spLocks noChangeAspect="1"/>
              </p:cNvSpPr>
              <p:nvPr/>
            </p:nvSpPr>
            <p:spPr>
              <a:xfrm>
                <a:off x="1603299" y="5055817"/>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46" name="Oval 45"/>
              <p:cNvSpPr>
                <a:spLocks noChangeAspect="1"/>
              </p:cNvSpPr>
              <p:nvPr/>
            </p:nvSpPr>
            <p:spPr>
              <a:xfrm>
                <a:off x="770404" y="4208904"/>
                <a:ext cx="299926" cy="30001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grpSp>
      <p:grpSp>
        <p:nvGrpSpPr>
          <p:cNvPr id="48" name="Group 47"/>
          <p:cNvGrpSpPr/>
          <p:nvPr/>
        </p:nvGrpSpPr>
        <p:grpSpPr>
          <a:xfrm>
            <a:off x="2215633" y="3992546"/>
            <a:ext cx="1035568" cy="3413117"/>
            <a:chOff x="829733" y="2929606"/>
            <a:chExt cx="728134" cy="2399848"/>
          </a:xfrm>
        </p:grpSpPr>
        <p:cxnSp>
          <p:nvCxnSpPr>
            <p:cNvPr id="49" name="Straight Arrow Connector 48"/>
            <p:cNvCxnSpPr/>
            <p:nvPr/>
          </p:nvCxnSpPr>
          <p:spPr>
            <a:xfrm>
              <a:off x="829733" y="3266972"/>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a:off x="829733" y="2929606"/>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829733" y="5329454"/>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829733" y="3588699"/>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829733" y="3927359"/>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a:off x="829733" y="4992766"/>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829733" y="4282967"/>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a:off x="829733" y="4637387"/>
              <a:ext cx="728134"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58" name="TextBox 57"/>
          <p:cNvSpPr txBox="1"/>
          <p:nvPr/>
        </p:nvSpPr>
        <p:spPr>
          <a:xfrm>
            <a:off x="2196375" y="3088851"/>
            <a:ext cx="954107" cy="486223"/>
          </a:xfrm>
          <a:prstGeom prst="rect">
            <a:avLst/>
          </a:prstGeom>
          <a:noFill/>
        </p:spPr>
        <p:txBody>
          <a:bodyPr wrap="none" rtlCol="0">
            <a:spAutoFit/>
          </a:bodyPr>
          <a:lstStyle/>
          <a:p>
            <a:r>
              <a:rPr lang="en-US" sz="2844" dirty="0"/>
              <a:t>light</a:t>
            </a:r>
          </a:p>
        </p:txBody>
      </p:sp>
      <p:sp>
        <p:nvSpPr>
          <p:cNvPr id="59" name="TextBox 58"/>
          <p:cNvSpPr txBox="1"/>
          <p:nvPr/>
        </p:nvSpPr>
        <p:spPr>
          <a:xfrm>
            <a:off x="5459461" y="7929526"/>
            <a:ext cx="2058577" cy="565026"/>
          </a:xfrm>
          <a:prstGeom prst="rect">
            <a:avLst/>
          </a:prstGeom>
          <a:noFill/>
        </p:spPr>
        <p:txBody>
          <a:bodyPr wrap="none" rtlCol="0">
            <a:spAutoFit/>
          </a:bodyPr>
          <a:lstStyle/>
          <a:p>
            <a:r>
              <a:rPr lang="en-US" sz="3413" dirty="0"/>
              <a:t>Top view</a:t>
            </a:r>
          </a:p>
        </p:txBody>
      </p:sp>
      <p:grpSp>
        <p:nvGrpSpPr>
          <p:cNvPr id="25" name="Group 24"/>
          <p:cNvGrpSpPr/>
          <p:nvPr/>
        </p:nvGrpSpPr>
        <p:grpSpPr>
          <a:xfrm>
            <a:off x="10011671" y="5050047"/>
            <a:ext cx="1336289" cy="1496266"/>
            <a:chOff x="6838950" y="3648706"/>
            <a:chExt cx="939578" cy="1052062"/>
          </a:xfrm>
        </p:grpSpPr>
        <p:cxnSp>
          <p:nvCxnSpPr>
            <p:cNvPr id="28" name="Straight Connector 27"/>
            <p:cNvCxnSpPr/>
            <p:nvPr/>
          </p:nvCxnSpPr>
          <p:spPr>
            <a:xfrm>
              <a:off x="6917716" y="3721319"/>
              <a:ext cx="437454" cy="39036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rot="5400000">
              <a:off x="6941261" y="4124676"/>
              <a:ext cx="437454" cy="390364"/>
            </a:xfrm>
            <a:prstGeom prst="line">
              <a:avLst/>
            </a:prstGeom>
            <a:ln w="38100">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30" name="Arc 29"/>
            <p:cNvSpPr>
              <a:spLocks noChangeAspect="1"/>
            </p:cNvSpPr>
            <p:nvPr/>
          </p:nvSpPr>
          <p:spPr>
            <a:xfrm rot="13665822">
              <a:off x="6796941" y="3719180"/>
              <a:ext cx="1052062" cy="911113"/>
            </a:xfrm>
            <a:prstGeom prst="arc">
              <a:avLst/>
            </a:prstGeom>
            <a:ln w="12700">
              <a:solidFill>
                <a:schemeClr val="tx1"/>
              </a:solidFill>
              <a:tailEnd type="none"/>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698"/>
            </a:p>
          </p:txBody>
        </p:sp>
        <p:sp>
          <p:nvSpPr>
            <p:cNvPr id="31" name="Oval 30"/>
            <p:cNvSpPr/>
            <p:nvPr/>
          </p:nvSpPr>
          <p:spPr>
            <a:xfrm>
              <a:off x="6838950" y="3856716"/>
              <a:ext cx="200506" cy="505734"/>
            </a:xfrm>
            <a:prstGeom prst="ellipse">
              <a:avLst/>
            </a:prstGeom>
            <a:solidFill>
              <a:srgbClr val="008000"/>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2" name="Oval 31"/>
            <p:cNvSpPr/>
            <p:nvPr/>
          </p:nvSpPr>
          <p:spPr>
            <a:xfrm>
              <a:off x="6866916" y="4014189"/>
              <a:ext cx="50800" cy="173884"/>
            </a:xfrm>
            <a:prstGeom prst="ellipse">
              <a:avLst/>
            </a:prstGeom>
            <a:solidFill>
              <a:schemeClr val="tx1"/>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sp>
        <p:nvSpPr>
          <p:cNvPr id="35" name="Title 1"/>
          <p:cNvSpPr>
            <a:spLocks noGrp="1"/>
          </p:cNvSpPr>
          <p:nvPr>
            <p:ph type="title"/>
          </p:nvPr>
        </p:nvSpPr>
        <p:spPr>
          <a:xfrm>
            <a:off x="650240" y="390596"/>
            <a:ext cx="11704320" cy="1625600"/>
          </a:xfrm>
        </p:spPr>
        <p:txBody>
          <a:bodyPr>
            <a:normAutofit/>
          </a:bodyPr>
          <a:lstStyle/>
          <a:p>
            <a:r>
              <a:rPr lang="en-US" sz="5120" dirty="0"/>
              <a:t>Basic idea: view 2</a:t>
            </a:r>
          </a:p>
        </p:txBody>
      </p:sp>
    </p:spTree>
    <p:extLst>
      <p:ext uri="{BB962C8B-B14F-4D97-AF65-F5344CB8AC3E}">
        <p14:creationId xmlns:p14="http://schemas.microsoft.com/office/powerpoint/2010/main" val="569687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8"/>
          <p:cNvGrpSpPr>
            <a:grpSpLocks noChangeAspect="1"/>
          </p:cNvGrpSpPr>
          <p:nvPr/>
        </p:nvGrpSpPr>
        <p:grpSpPr bwMode="auto">
          <a:xfrm>
            <a:off x="7576650" y="1474990"/>
            <a:ext cx="3569508" cy="6501909"/>
            <a:chOff x="4320" y="1162"/>
            <a:chExt cx="1054" cy="2021"/>
          </a:xfrm>
        </p:grpSpPr>
        <p:grpSp>
          <p:nvGrpSpPr>
            <p:cNvPr id="20560" name="Group 10"/>
            <p:cNvGrpSpPr>
              <a:grpSpLocks noChangeAspect="1"/>
            </p:cNvGrpSpPr>
            <p:nvPr/>
          </p:nvGrpSpPr>
          <p:grpSpPr bwMode="auto">
            <a:xfrm>
              <a:off x="4320" y="1200"/>
              <a:ext cx="1054" cy="1855"/>
              <a:chOff x="594" y="912"/>
              <a:chExt cx="1313" cy="2310"/>
            </a:xfrm>
          </p:grpSpPr>
          <p:grpSp>
            <p:nvGrpSpPr>
              <p:cNvPr id="20563" name="Group 11"/>
              <p:cNvGrpSpPr>
                <a:grpSpLocks noChangeAspect="1"/>
              </p:cNvGrpSpPr>
              <p:nvPr/>
            </p:nvGrpSpPr>
            <p:grpSpPr bwMode="auto">
              <a:xfrm>
                <a:off x="594" y="2780"/>
                <a:ext cx="1313" cy="442"/>
                <a:chOff x="192" y="3024"/>
                <a:chExt cx="1248" cy="442"/>
              </a:xfrm>
            </p:grpSpPr>
            <p:grpSp>
              <p:nvGrpSpPr>
                <p:cNvPr id="20578" name="Group 12"/>
                <p:cNvGrpSpPr>
                  <a:grpSpLocks noChangeAspect="1"/>
                </p:cNvGrpSpPr>
                <p:nvPr/>
              </p:nvGrpSpPr>
              <p:grpSpPr bwMode="auto">
                <a:xfrm>
                  <a:off x="240" y="3072"/>
                  <a:ext cx="1148" cy="394"/>
                  <a:chOff x="664" y="2853"/>
                  <a:chExt cx="1148" cy="460"/>
                </a:xfrm>
              </p:grpSpPr>
              <p:sp>
                <p:nvSpPr>
                  <p:cNvPr id="231437" name="Oval 13"/>
                  <p:cNvSpPr>
                    <a:spLocks noChangeAspect="1" noChangeArrowheads="1"/>
                  </p:cNvSpPr>
                  <p:nvPr/>
                </p:nvSpPr>
                <p:spPr bwMode="auto">
                  <a:xfrm>
                    <a:off x="668" y="2950"/>
                    <a:ext cx="1143" cy="363"/>
                  </a:xfrm>
                  <a:prstGeom prst="ellipse">
                    <a:avLst/>
                  </a:prstGeom>
                  <a:noFill/>
                  <a:ln w="22225">
                    <a:solidFill>
                      <a:schemeClr val="tx1"/>
                    </a:solidFill>
                    <a:round/>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38" name="Oval 14"/>
                  <p:cNvSpPr>
                    <a:spLocks noChangeAspect="1" noChangeArrowheads="1"/>
                  </p:cNvSpPr>
                  <p:nvPr/>
                </p:nvSpPr>
                <p:spPr bwMode="auto">
                  <a:xfrm>
                    <a:off x="668" y="2862"/>
                    <a:ext cx="1144" cy="355"/>
                  </a:xfrm>
                  <a:prstGeom prst="ellipse">
                    <a:avLst/>
                  </a:prstGeom>
                  <a:noFill/>
                  <a:ln w="222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sp>
              <p:nvSpPr>
                <p:cNvPr id="231439" name="Rectangle 15"/>
                <p:cNvSpPr>
                  <a:spLocks noChangeAspect="1" noChangeArrowheads="1"/>
                </p:cNvSpPr>
                <p:nvPr/>
              </p:nvSpPr>
              <p:spPr bwMode="auto">
                <a:xfrm>
                  <a:off x="192" y="3024"/>
                  <a:ext cx="1248" cy="254"/>
                </a:xfrm>
                <a:prstGeom prst="rect">
                  <a:avLst/>
                </a:prstGeom>
                <a:solidFill>
                  <a:schemeClr val="bg1"/>
                </a:solidFill>
                <a:ln>
                  <a:noFill/>
                </a:ln>
                <a:effectLst/>
                <a:extLst>
                  <a:ext uri="{91240B29-F687-4f45-9708-019B960494DF}">
                    <a14:hiddenLine xmlns="" xmlns:a14="http://schemas.microsoft.com/office/drawing/2010/main" w="222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40" name="Line 16"/>
                <p:cNvSpPr>
                  <a:spLocks noChangeAspect="1" noChangeShapeType="1"/>
                </p:cNvSpPr>
                <p:nvPr/>
              </p:nvSpPr>
              <p:spPr bwMode="auto">
                <a:xfrm flipH="1">
                  <a:off x="258" y="3281"/>
                  <a:ext cx="20" cy="69"/>
                </a:xfrm>
                <a:prstGeom prst="line">
                  <a:avLst/>
                </a:prstGeom>
                <a:noFill/>
                <a:ln w="222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41" name="Line 17"/>
                <p:cNvSpPr>
                  <a:spLocks noChangeAspect="1" noChangeShapeType="1"/>
                </p:cNvSpPr>
                <p:nvPr/>
              </p:nvSpPr>
              <p:spPr bwMode="auto">
                <a:xfrm>
                  <a:off x="1341" y="3288"/>
                  <a:ext cx="21" cy="71"/>
                </a:xfrm>
                <a:prstGeom prst="line">
                  <a:avLst/>
                </a:prstGeom>
                <a:noFill/>
                <a:ln w="222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42" name="Rectangle 18"/>
                <p:cNvSpPr>
                  <a:spLocks noChangeAspect="1" noChangeArrowheads="1"/>
                </p:cNvSpPr>
                <p:nvPr/>
              </p:nvSpPr>
              <p:spPr bwMode="auto">
                <a:xfrm rot="1023131">
                  <a:off x="224" y="3233"/>
                  <a:ext cx="49" cy="122"/>
                </a:xfrm>
                <a:prstGeom prst="rect">
                  <a:avLst/>
                </a:prstGeom>
                <a:solidFill>
                  <a:schemeClr val="bg1"/>
                </a:solidFill>
                <a:ln>
                  <a:noFill/>
                </a:ln>
                <a:effectLst/>
                <a:extLst>
                  <a:ext uri="{91240B29-F687-4f45-9708-019B960494DF}">
                    <a14:hiddenLine xmlns="" xmlns:a14="http://schemas.microsoft.com/office/drawing/2010/main" w="22225">
                      <a:solidFill>
                        <a:schemeClr val="bg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43" name="Rectangle 19"/>
                <p:cNvSpPr>
                  <a:spLocks noChangeAspect="1" noChangeArrowheads="1"/>
                </p:cNvSpPr>
                <p:nvPr/>
              </p:nvSpPr>
              <p:spPr bwMode="auto">
                <a:xfrm rot="20481630" flipH="1">
                  <a:off x="1352" y="3243"/>
                  <a:ext cx="46" cy="123"/>
                </a:xfrm>
                <a:prstGeom prst="rect">
                  <a:avLst/>
                </a:prstGeom>
                <a:solidFill>
                  <a:schemeClr val="bg1"/>
                </a:solidFill>
                <a:ln>
                  <a:noFill/>
                </a:ln>
                <a:effectLst/>
                <a:extLst>
                  <a:ext uri="{91240B29-F687-4f45-9708-019B960494DF}">
                    <a14:hiddenLine xmlns="" xmlns:a14="http://schemas.microsoft.com/office/drawing/2010/main" w="22225">
                      <a:solidFill>
                        <a:schemeClr val="bg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64" name="Group 20"/>
              <p:cNvGrpSpPr>
                <a:grpSpLocks noChangeAspect="1"/>
              </p:cNvGrpSpPr>
              <p:nvPr/>
            </p:nvGrpSpPr>
            <p:grpSpPr bwMode="auto">
              <a:xfrm>
                <a:off x="978" y="912"/>
                <a:ext cx="523" cy="2271"/>
                <a:chOff x="978" y="912"/>
                <a:chExt cx="523" cy="2271"/>
              </a:xfrm>
            </p:grpSpPr>
            <p:grpSp>
              <p:nvGrpSpPr>
                <p:cNvPr id="20565" name="Group 21"/>
                <p:cNvGrpSpPr>
                  <a:grpSpLocks noChangeAspect="1"/>
                </p:cNvGrpSpPr>
                <p:nvPr/>
              </p:nvGrpSpPr>
              <p:grpSpPr bwMode="auto">
                <a:xfrm rot="3716323">
                  <a:off x="111" y="1809"/>
                  <a:ext cx="2271" cy="477"/>
                  <a:chOff x="582" y="2319"/>
                  <a:chExt cx="2271" cy="477"/>
                </a:xfrm>
              </p:grpSpPr>
              <p:sp>
                <p:nvSpPr>
                  <p:cNvPr id="231446" name="Line 22"/>
                  <p:cNvSpPr>
                    <a:spLocks noChangeAspect="1" noChangeShapeType="1"/>
                  </p:cNvSpPr>
                  <p:nvPr/>
                </p:nvSpPr>
                <p:spPr bwMode="auto">
                  <a:xfrm rot="1680000">
                    <a:off x="740" y="2568"/>
                    <a:ext cx="2004"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47" name="Line 23"/>
                  <p:cNvSpPr>
                    <a:spLocks noChangeAspect="1" noChangeShapeType="1"/>
                  </p:cNvSpPr>
                  <p:nvPr/>
                </p:nvSpPr>
                <p:spPr bwMode="auto">
                  <a:xfrm rot="1488307">
                    <a:off x="770" y="2524"/>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48" name="Line 24"/>
                  <p:cNvSpPr>
                    <a:spLocks noChangeAspect="1" noChangeShapeType="1"/>
                  </p:cNvSpPr>
                  <p:nvPr/>
                </p:nvSpPr>
                <p:spPr bwMode="auto">
                  <a:xfrm rot="1860000">
                    <a:off x="714" y="2620"/>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49" name="Line 25"/>
                  <p:cNvSpPr>
                    <a:spLocks noChangeAspect="1" noChangeShapeType="1"/>
                  </p:cNvSpPr>
                  <p:nvPr/>
                </p:nvSpPr>
                <p:spPr bwMode="auto">
                  <a:xfrm rot="2040000">
                    <a:off x="680" y="2661"/>
                    <a:ext cx="2006"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50" name="Line 26"/>
                  <p:cNvSpPr>
                    <a:spLocks noChangeAspect="1" noChangeShapeType="1"/>
                  </p:cNvSpPr>
                  <p:nvPr/>
                </p:nvSpPr>
                <p:spPr bwMode="auto">
                  <a:xfrm rot="2220000">
                    <a:off x="658" y="2712"/>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51" name="Line 27"/>
                  <p:cNvSpPr>
                    <a:spLocks noChangeAspect="1" noChangeShapeType="1"/>
                  </p:cNvSpPr>
                  <p:nvPr/>
                </p:nvSpPr>
                <p:spPr bwMode="auto">
                  <a:xfrm rot="2400000">
                    <a:off x="616" y="2747"/>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52" name="Line 28"/>
                  <p:cNvSpPr>
                    <a:spLocks noChangeAspect="1" noChangeShapeType="1"/>
                  </p:cNvSpPr>
                  <p:nvPr/>
                </p:nvSpPr>
                <p:spPr bwMode="auto">
                  <a:xfrm rot="1320000">
                    <a:off x="786" y="2473"/>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53" name="Line 29"/>
                  <p:cNvSpPr>
                    <a:spLocks noChangeAspect="1" noChangeShapeType="1"/>
                  </p:cNvSpPr>
                  <p:nvPr/>
                </p:nvSpPr>
                <p:spPr bwMode="auto">
                  <a:xfrm rot="1140000">
                    <a:off x="807" y="2416"/>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54" name="Line 30"/>
                  <p:cNvSpPr>
                    <a:spLocks noChangeAspect="1" noChangeShapeType="1"/>
                  </p:cNvSpPr>
                  <p:nvPr/>
                </p:nvSpPr>
                <p:spPr bwMode="auto">
                  <a:xfrm rot="960000">
                    <a:off x="819" y="2370"/>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55" name="Line 31"/>
                  <p:cNvSpPr>
                    <a:spLocks noChangeAspect="1" noChangeShapeType="1"/>
                  </p:cNvSpPr>
                  <p:nvPr/>
                </p:nvSpPr>
                <p:spPr bwMode="auto">
                  <a:xfrm rot="2580000">
                    <a:off x="579" y="2793"/>
                    <a:ext cx="201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56" name="Line 32"/>
                  <p:cNvSpPr>
                    <a:spLocks noChangeAspect="1" noChangeShapeType="1"/>
                  </p:cNvSpPr>
                  <p:nvPr/>
                </p:nvSpPr>
                <p:spPr bwMode="auto">
                  <a:xfrm rot="780000">
                    <a:off x="842" y="2316"/>
                    <a:ext cx="2008"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sp>
              <p:nvSpPr>
                <p:cNvPr id="231457" name="Oval 33"/>
                <p:cNvSpPr>
                  <a:spLocks noChangeAspect="1" noChangeArrowheads="1"/>
                </p:cNvSpPr>
                <p:nvPr/>
              </p:nvSpPr>
              <p:spPr bwMode="auto">
                <a:xfrm>
                  <a:off x="978" y="1902"/>
                  <a:ext cx="523" cy="566"/>
                </a:xfrm>
                <a:prstGeom prst="ellipse">
                  <a:avLst/>
                </a:prstGeom>
                <a:solidFill>
                  <a:srgbClr val="4773FF">
                    <a:alpha val="84000"/>
                  </a:srgbClr>
                </a:solidFill>
                <a:ln w="9525">
                  <a:solidFill>
                    <a:srgbClr val="4773FF"/>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sp>
          <p:nvSpPr>
            <p:cNvPr id="231459" name="Text Box 35"/>
            <p:cNvSpPr txBox="1">
              <a:spLocks noChangeArrowheads="1"/>
            </p:cNvSpPr>
            <p:nvPr/>
          </p:nvSpPr>
          <p:spPr bwMode="auto">
            <a:xfrm>
              <a:off x="4595" y="1162"/>
              <a:ext cx="766" cy="11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sz="1991" b="0" dirty="0">
                  <a:cs typeface="+mn-cs"/>
                </a:rPr>
                <a:t>x-ray source        </a:t>
              </a:r>
            </a:p>
          </p:txBody>
        </p:sp>
        <p:sp>
          <p:nvSpPr>
            <p:cNvPr id="231460" name="Text Box 36"/>
            <p:cNvSpPr txBox="1">
              <a:spLocks noChangeArrowheads="1"/>
            </p:cNvSpPr>
            <p:nvPr/>
          </p:nvSpPr>
          <p:spPr bwMode="auto">
            <a:xfrm>
              <a:off x="4698" y="3069"/>
              <a:ext cx="328" cy="11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991" b="0">
                  <a:cs typeface="+mn-cs"/>
                </a:rPr>
                <a:t>detector</a:t>
              </a:r>
            </a:p>
          </p:txBody>
        </p:sp>
      </p:grpSp>
      <p:sp>
        <p:nvSpPr>
          <p:cNvPr id="231528" name="Text Box 104"/>
          <p:cNvSpPr txBox="1">
            <a:spLocks noChangeAspect="1" noChangeArrowheads="1"/>
          </p:cNvSpPr>
          <p:nvPr/>
        </p:nvSpPr>
        <p:spPr bwMode="auto">
          <a:xfrm>
            <a:off x="2601448" y="8382015"/>
            <a:ext cx="1933542" cy="4075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2276" b="0" dirty="0">
                <a:cs typeface="+mn-cs"/>
              </a:rPr>
              <a:t>parallel beam</a:t>
            </a:r>
          </a:p>
        </p:txBody>
      </p:sp>
      <p:sp>
        <p:nvSpPr>
          <p:cNvPr id="231529" name="Text Box 105"/>
          <p:cNvSpPr txBox="1">
            <a:spLocks noChangeArrowheads="1"/>
          </p:cNvSpPr>
          <p:nvPr/>
        </p:nvSpPr>
        <p:spPr bwMode="auto">
          <a:xfrm>
            <a:off x="8634853" y="8382015"/>
            <a:ext cx="1401346" cy="4075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2276" b="0">
                <a:cs typeface="+mn-cs"/>
              </a:rPr>
              <a:t>fan beam</a:t>
            </a:r>
          </a:p>
        </p:txBody>
      </p:sp>
      <p:grpSp>
        <p:nvGrpSpPr>
          <p:cNvPr id="20500" name="Group 112"/>
          <p:cNvGrpSpPr>
            <a:grpSpLocks noChangeAspect="1"/>
          </p:cNvGrpSpPr>
          <p:nvPr/>
        </p:nvGrpSpPr>
        <p:grpSpPr bwMode="auto">
          <a:xfrm>
            <a:off x="438413" y="1418276"/>
            <a:ext cx="6007947" cy="6346614"/>
            <a:chOff x="2882" y="1070"/>
            <a:chExt cx="1774" cy="1874"/>
          </a:xfrm>
        </p:grpSpPr>
        <p:sp>
          <p:nvSpPr>
            <p:cNvPr id="231472" name="Line 48"/>
            <p:cNvSpPr>
              <a:spLocks noChangeAspect="1" noChangeShapeType="1"/>
            </p:cNvSpPr>
            <p:nvPr/>
          </p:nvSpPr>
          <p:spPr bwMode="auto">
            <a:xfrm rot="1488307">
              <a:off x="3050" y="1373"/>
              <a:ext cx="0" cy="612"/>
            </a:xfrm>
            <a:prstGeom prst="line">
              <a:avLst/>
            </a:prstGeom>
            <a:noFill/>
            <a:ln w="317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nvGrpSpPr>
            <p:cNvPr id="20518" name="Group 49"/>
            <p:cNvGrpSpPr>
              <a:grpSpLocks noChangeAspect="1"/>
            </p:cNvGrpSpPr>
            <p:nvPr/>
          </p:nvGrpSpPr>
          <p:grpSpPr bwMode="auto">
            <a:xfrm rot="1488307">
              <a:off x="2882" y="2214"/>
              <a:ext cx="1542" cy="65"/>
              <a:chOff x="1152" y="3102"/>
              <a:chExt cx="1692" cy="186"/>
            </a:xfrm>
          </p:grpSpPr>
          <p:sp>
            <p:nvSpPr>
              <p:cNvPr id="231474" name="Line 50"/>
              <p:cNvSpPr>
                <a:spLocks noChangeAspect="1" noChangeShapeType="1"/>
              </p:cNvSpPr>
              <p:nvPr/>
            </p:nvSpPr>
            <p:spPr bwMode="auto">
              <a:xfrm>
                <a:off x="1164" y="3287"/>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75" name="Line 51"/>
              <p:cNvSpPr>
                <a:spLocks noChangeAspect="1" noChangeShapeType="1"/>
              </p:cNvSpPr>
              <p:nvPr/>
            </p:nvSpPr>
            <p:spPr bwMode="auto">
              <a:xfrm>
                <a:off x="1152" y="3100"/>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19" name="Group 52"/>
            <p:cNvGrpSpPr>
              <a:grpSpLocks noChangeAspect="1"/>
            </p:cNvGrpSpPr>
            <p:nvPr/>
          </p:nvGrpSpPr>
          <p:grpSpPr bwMode="auto">
            <a:xfrm rot="1488307">
              <a:off x="2940" y="2094"/>
              <a:ext cx="1541" cy="65"/>
              <a:chOff x="1152" y="3102"/>
              <a:chExt cx="1692" cy="186"/>
            </a:xfrm>
          </p:grpSpPr>
          <p:sp>
            <p:nvSpPr>
              <p:cNvPr id="231477" name="Line 53"/>
              <p:cNvSpPr>
                <a:spLocks noChangeAspect="1" noChangeShapeType="1"/>
              </p:cNvSpPr>
              <p:nvPr/>
            </p:nvSpPr>
            <p:spPr bwMode="auto">
              <a:xfrm>
                <a:off x="1164" y="3287"/>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78" name="Line 54"/>
              <p:cNvSpPr>
                <a:spLocks noChangeAspect="1" noChangeShapeType="1"/>
              </p:cNvSpPr>
              <p:nvPr/>
            </p:nvSpPr>
            <p:spPr bwMode="auto">
              <a:xfrm>
                <a:off x="1148" y="3092"/>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20" name="Group 55"/>
            <p:cNvGrpSpPr>
              <a:grpSpLocks noChangeAspect="1"/>
            </p:cNvGrpSpPr>
            <p:nvPr/>
          </p:nvGrpSpPr>
          <p:grpSpPr bwMode="auto">
            <a:xfrm rot="1488307">
              <a:off x="2990" y="1965"/>
              <a:ext cx="1541" cy="64"/>
              <a:chOff x="1152" y="3102"/>
              <a:chExt cx="1692" cy="186"/>
            </a:xfrm>
          </p:grpSpPr>
          <p:sp>
            <p:nvSpPr>
              <p:cNvPr id="231480" name="Line 56"/>
              <p:cNvSpPr>
                <a:spLocks noChangeAspect="1" noChangeShapeType="1"/>
              </p:cNvSpPr>
              <p:nvPr/>
            </p:nvSpPr>
            <p:spPr bwMode="auto">
              <a:xfrm>
                <a:off x="1164" y="3287"/>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81" name="Line 57"/>
              <p:cNvSpPr>
                <a:spLocks noChangeAspect="1" noChangeShapeType="1"/>
              </p:cNvSpPr>
              <p:nvPr/>
            </p:nvSpPr>
            <p:spPr bwMode="auto">
              <a:xfrm>
                <a:off x="1151" y="3101"/>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21" name="Group 58"/>
            <p:cNvGrpSpPr>
              <a:grpSpLocks noChangeAspect="1"/>
            </p:cNvGrpSpPr>
            <p:nvPr/>
          </p:nvGrpSpPr>
          <p:grpSpPr bwMode="auto">
            <a:xfrm rot="1488307">
              <a:off x="3047" y="1847"/>
              <a:ext cx="1542" cy="64"/>
              <a:chOff x="1152" y="3102"/>
              <a:chExt cx="1692" cy="186"/>
            </a:xfrm>
          </p:grpSpPr>
          <p:sp>
            <p:nvSpPr>
              <p:cNvPr id="231483" name="Line 59"/>
              <p:cNvSpPr>
                <a:spLocks noChangeAspect="1" noChangeShapeType="1"/>
              </p:cNvSpPr>
              <p:nvPr/>
            </p:nvSpPr>
            <p:spPr bwMode="auto">
              <a:xfrm>
                <a:off x="1164" y="3287"/>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84" name="Line 60"/>
              <p:cNvSpPr>
                <a:spLocks noChangeAspect="1" noChangeShapeType="1"/>
              </p:cNvSpPr>
              <p:nvPr/>
            </p:nvSpPr>
            <p:spPr bwMode="auto">
              <a:xfrm>
                <a:off x="1150" y="3103"/>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22" name="Group 61"/>
            <p:cNvGrpSpPr>
              <a:grpSpLocks noChangeAspect="1"/>
            </p:cNvGrpSpPr>
            <p:nvPr/>
          </p:nvGrpSpPr>
          <p:grpSpPr bwMode="auto">
            <a:xfrm rot="1488307">
              <a:off x="3114" y="1730"/>
              <a:ext cx="1542" cy="65"/>
              <a:chOff x="1152" y="3102"/>
              <a:chExt cx="1692" cy="186"/>
            </a:xfrm>
          </p:grpSpPr>
          <p:sp>
            <p:nvSpPr>
              <p:cNvPr id="231486" name="Line 62"/>
              <p:cNvSpPr>
                <a:spLocks noChangeAspect="1" noChangeShapeType="1"/>
              </p:cNvSpPr>
              <p:nvPr/>
            </p:nvSpPr>
            <p:spPr bwMode="auto">
              <a:xfrm>
                <a:off x="1164" y="3287"/>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87" name="Line 63"/>
              <p:cNvSpPr>
                <a:spLocks noChangeAspect="1" noChangeShapeType="1"/>
              </p:cNvSpPr>
              <p:nvPr/>
            </p:nvSpPr>
            <p:spPr bwMode="auto">
              <a:xfrm>
                <a:off x="1152" y="3100"/>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sp>
          <p:nvSpPr>
            <p:cNvPr id="231488" name="Line 64"/>
            <p:cNvSpPr>
              <a:spLocks noChangeAspect="1" noChangeShapeType="1"/>
            </p:cNvSpPr>
            <p:nvPr/>
          </p:nvSpPr>
          <p:spPr bwMode="auto">
            <a:xfrm rot="5400000">
              <a:off x="3769" y="927"/>
              <a:ext cx="1" cy="612"/>
            </a:xfrm>
            <a:prstGeom prst="line">
              <a:avLst/>
            </a:prstGeom>
            <a:noFill/>
            <a:ln w="317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nvGrpSpPr>
            <p:cNvPr id="20524" name="Group 65"/>
            <p:cNvGrpSpPr>
              <a:grpSpLocks noChangeAspect="1"/>
            </p:cNvGrpSpPr>
            <p:nvPr/>
          </p:nvGrpSpPr>
          <p:grpSpPr bwMode="auto">
            <a:xfrm rot="5400000">
              <a:off x="2732" y="1983"/>
              <a:ext cx="1541" cy="65"/>
              <a:chOff x="1152" y="3102"/>
              <a:chExt cx="1692" cy="186"/>
            </a:xfrm>
          </p:grpSpPr>
          <p:sp>
            <p:nvSpPr>
              <p:cNvPr id="231490" name="Line 66"/>
              <p:cNvSpPr>
                <a:spLocks noChangeAspect="1" noChangeShapeType="1"/>
              </p:cNvSpPr>
              <p:nvPr/>
            </p:nvSpPr>
            <p:spPr bwMode="auto">
              <a:xfrm>
                <a:off x="1157" y="3288"/>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91" name="Line 67"/>
              <p:cNvSpPr>
                <a:spLocks noChangeAspect="1" noChangeShapeType="1"/>
              </p:cNvSpPr>
              <p:nvPr/>
            </p:nvSpPr>
            <p:spPr bwMode="auto">
              <a:xfrm>
                <a:off x="1145" y="3102"/>
                <a:ext cx="1681"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25" name="Group 68"/>
            <p:cNvGrpSpPr>
              <a:grpSpLocks noChangeAspect="1"/>
            </p:cNvGrpSpPr>
            <p:nvPr/>
          </p:nvGrpSpPr>
          <p:grpSpPr bwMode="auto">
            <a:xfrm rot="5400000">
              <a:off x="2866" y="1986"/>
              <a:ext cx="1541" cy="64"/>
              <a:chOff x="1152" y="3102"/>
              <a:chExt cx="1692" cy="186"/>
            </a:xfrm>
          </p:grpSpPr>
          <p:sp>
            <p:nvSpPr>
              <p:cNvPr id="231493" name="Line 69"/>
              <p:cNvSpPr>
                <a:spLocks noChangeAspect="1" noChangeShapeType="1"/>
              </p:cNvSpPr>
              <p:nvPr/>
            </p:nvSpPr>
            <p:spPr bwMode="auto">
              <a:xfrm>
                <a:off x="1154" y="3289"/>
                <a:ext cx="1681"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94" name="Line 70"/>
              <p:cNvSpPr>
                <a:spLocks noChangeAspect="1" noChangeShapeType="1"/>
              </p:cNvSpPr>
              <p:nvPr/>
            </p:nvSpPr>
            <p:spPr bwMode="auto">
              <a:xfrm>
                <a:off x="1143" y="3103"/>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26" name="Group 71"/>
            <p:cNvGrpSpPr>
              <a:grpSpLocks noChangeAspect="1"/>
            </p:cNvGrpSpPr>
            <p:nvPr/>
          </p:nvGrpSpPr>
          <p:grpSpPr bwMode="auto">
            <a:xfrm rot="5400000">
              <a:off x="3004" y="1978"/>
              <a:ext cx="1541" cy="64"/>
              <a:chOff x="1152" y="3102"/>
              <a:chExt cx="1692" cy="186"/>
            </a:xfrm>
          </p:grpSpPr>
          <p:sp>
            <p:nvSpPr>
              <p:cNvPr id="231496" name="Line 72"/>
              <p:cNvSpPr>
                <a:spLocks noChangeAspect="1" noChangeShapeType="1"/>
              </p:cNvSpPr>
              <p:nvPr/>
            </p:nvSpPr>
            <p:spPr bwMode="auto">
              <a:xfrm>
                <a:off x="1154" y="3289"/>
                <a:ext cx="1681"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497" name="Line 73"/>
              <p:cNvSpPr>
                <a:spLocks noChangeAspect="1" noChangeShapeType="1"/>
              </p:cNvSpPr>
              <p:nvPr/>
            </p:nvSpPr>
            <p:spPr bwMode="auto">
              <a:xfrm>
                <a:off x="1143" y="3103"/>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27" name="Group 74"/>
            <p:cNvGrpSpPr>
              <a:grpSpLocks noChangeAspect="1"/>
            </p:cNvGrpSpPr>
            <p:nvPr/>
          </p:nvGrpSpPr>
          <p:grpSpPr bwMode="auto">
            <a:xfrm rot="5400000">
              <a:off x="3136" y="1980"/>
              <a:ext cx="1542" cy="63"/>
              <a:chOff x="1152" y="3102"/>
              <a:chExt cx="1692" cy="186"/>
            </a:xfrm>
          </p:grpSpPr>
          <p:sp>
            <p:nvSpPr>
              <p:cNvPr id="231499" name="Line 75"/>
              <p:cNvSpPr>
                <a:spLocks noChangeAspect="1" noChangeShapeType="1"/>
              </p:cNvSpPr>
              <p:nvPr/>
            </p:nvSpPr>
            <p:spPr bwMode="auto">
              <a:xfrm>
                <a:off x="1164" y="3289"/>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500" name="Line 76"/>
              <p:cNvSpPr>
                <a:spLocks noChangeAspect="1" noChangeShapeType="1"/>
              </p:cNvSpPr>
              <p:nvPr/>
            </p:nvSpPr>
            <p:spPr bwMode="auto">
              <a:xfrm>
                <a:off x="1146" y="3103"/>
                <a:ext cx="1681"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grpSp>
          <p:nvGrpSpPr>
            <p:cNvPr id="20528" name="Group 77"/>
            <p:cNvGrpSpPr>
              <a:grpSpLocks noChangeAspect="1"/>
            </p:cNvGrpSpPr>
            <p:nvPr/>
          </p:nvGrpSpPr>
          <p:grpSpPr bwMode="auto">
            <a:xfrm rot="5400000">
              <a:off x="3270" y="1992"/>
              <a:ext cx="1541" cy="63"/>
              <a:chOff x="1152" y="3102"/>
              <a:chExt cx="1692" cy="186"/>
            </a:xfrm>
          </p:grpSpPr>
          <p:sp>
            <p:nvSpPr>
              <p:cNvPr id="231502" name="Line 78"/>
              <p:cNvSpPr>
                <a:spLocks noChangeAspect="1" noChangeShapeType="1"/>
              </p:cNvSpPr>
              <p:nvPr/>
            </p:nvSpPr>
            <p:spPr bwMode="auto">
              <a:xfrm>
                <a:off x="1157" y="3288"/>
                <a:ext cx="1680"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503" name="Line 79"/>
              <p:cNvSpPr>
                <a:spLocks noChangeAspect="1" noChangeShapeType="1"/>
              </p:cNvSpPr>
              <p:nvPr/>
            </p:nvSpPr>
            <p:spPr bwMode="auto">
              <a:xfrm>
                <a:off x="1145" y="3102"/>
                <a:ext cx="1681" cy="0"/>
              </a:xfrm>
              <a:prstGeom prst="line">
                <a:avLst/>
              </a:prstGeom>
              <a:noFill/>
              <a:ln w="9525">
                <a:solidFill>
                  <a:schemeClr val="tx1"/>
                </a:solidFill>
                <a:round/>
                <a:headEnd/>
                <a:tailEnd type="arrow"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sp>
          <p:nvSpPr>
            <p:cNvPr id="231504" name="Arc 80"/>
            <p:cNvSpPr>
              <a:spLocks noChangeAspect="1"/>
            </p:cNvSpPr>
            <p:nvPr/>
          </p:nvSpPr>
          <p:spPr bwMode="auto">
            <a:xfrm flipH="1">
              <a:off x="3209" y="1230"/>
              <a:ext cx="201" cy="137"/>
            </a:xfrm>
            <a:custGeom>
              <a:avLst/>
              <a:gdLst>
                <a:gd name="G0" fmla="+- 0 0 0"/>
                <a:gd name="G1" fmla="+- 21600 0 0"/>
                <a:gd name="G2" fmla="+- 21600 0 0"/>
                <a:gd name="T0" fmla="*/ 0 w 21435"/>
                <a:gd name="T1" fmla="*/ 0 h 21600"/>
                <a:gd name="T2" fmla="*/ 21435 w 21435"/>
                <a:gd name="T3" fmla="*/ 18939 h 21600"/>
                <a:gd name="T4" fmla="*/ 0 w 21435"/>
                <a:gd name="T5" fmla="*/ 21600 h 21600"/>
              </a:gdLst>
              <a:ahLst/>
              <a:cxnLst>
                <a:cxn ang="0">
                  <a:pos x="T0" y="T1"/>
                </a:cxn>
                <a:cxn ang="0">
                  <a:pos x="T2" y="T3"/>
                </a:cxn>
                <a:cxn ang="0">
                  <a:pos x="T4" y="T5"/>
                </a:cxn>
              </a:cxnLst>
              <a:rect l="0" t="0" r="r" b="b"/>
              <a:pathLst>
                <a:path w="21435" h="21600" fill="none" extrusionOk="0">
                  <a:moveTo>
                    <a:pt x="0" y="-1"/>
                  </a:moveTo>
                  <a:cubicBezTo>
                    <a:pt x="10900" y="-1"/>
                    <a:pt x="20092" y="8121"/>
                    <a:pt x="21435" y="18938"/>
                  </a:cubicBezTo>
                </a:path>
                <a:path w="21435" h="21600" stroke="0" extrusionOk="0">
                  <a:moveTo>
                    <a:pt x="0" y="-1"/>
                  </a:moveTo>
                  <a:cubicBezTo>
                    <a:pt x="10900" y="-1"/>
                    <a:pt x="20092" y="8121"/>
                    <a:pt x="21435" y="18938"/>
                  </a:cubicBezTo>
                  <a:lnTo>
                    <a:pt x="0" y="21600"/>
                  </a:lnTo>
                  <a:close/>
                </a:path>
              </a:pathLst>
            </a:custGeom>
            <a:noFill/>
            <a:ln w="12700">
              <a:solidFill>
                <a:schemeClr val="tx1"/>
              </a:solidFill>
              <a:round/>
              <a:headEnd/>
              <a:tailEnd type="arrow" w="lg"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505" name="Rectangle 81"/>
            <p:cNvSpPr>
              <a:spLocks noChangeAspect="1" noChangeArrowheads="1"/>
            </p:cNvSpPr>
            <p:nvPr/>
          </p:nvSpPr>
          <p:spPr bwMode="auto">
            <a:xfrm>
              <a:off x="3440" y="2805"/>
              <a:ext cx="637" cy="64"/>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506" name="Rectangle 82"/>
            <p:cNvSpPr>
              <a:spLocks noChangeAspect="1" noChangeArrowheads="1"/>
            </p:cNvSpPr>
            <p:nvPr/>
          </p:nvSpPr>
          <p:spPr bwMode="auto">
            <a:xfrm rot="-3913491">
              <a:off x="4181" y="2315"/>
              <a:ext cx="636" cy="64"/>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507" name="Text Box 83"/>
            <p:cNvSpPr txBox="1">
              <a:spLocks noChangeAspect="1" noChangeArrowheads="1"/>
            </p:cNvSpPr>
            <p:nvPr/>
          </p:nvSpPr>
          <p:spPr bwMode="auto">
            <a:xfrm>
              <a:off x="3623" y="2835"/>
              <a:ext cx="328" cy="1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991" b="0">
                  <a:cs typeface="+mn-cs"/>
                </a:rPr>
                <a:t>detector</a:t>
              </a:r>
            </a:p>
          </p:txBody>
        </p:sp>
        <p:sp>
          <p:nvSpPr>
            <p:cNvPr id="231508" name="Text Box 84"/>
            <p:cNvSpPr txBox="1">
              <a:spLocks noChangeAspect="1" noChangeArrowheads="1"/>
            </p:cNvSpPr>
            <p:nvPr/>
          </p:nvSpPr>
          <p:spPr bwMode="auto">
            <a:xfrm>
              <a:off x="3514" y="1070"/>
              <a:ext cx="997" cy="1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r>
                <a:rPr lang="en-US" sz="1991" b="0" dirty="0">
                  <a:cs typeface="+mn-cs"/>
                </a:rPr>
                <a:t>x-ray source        </a:t>
              </a:r>
            </a:p>
          </p:txBody>
        </p:sp>
        <p:sp>
          <p:nvSpPr>
            <p:cNvPr id="231509" name="Oval 85"/>
            <p:cNvSpPr>
              <a:spLocks noChangeAspect="1" noChangeArrowheads="1"/>
            </p:cNvSpPr>
            <p:nvPr/>
          </p:nvSpPr>
          <p:spPr bwMode="auto">
            <a:xfrm>
              <a:off x="3578" y="1785"/>
              <a:ext cx="398" cy="432"/>
            </a:xfrm>
            <a:prstGeom prst="ellipse">
              <a:avLst/>
            </a:prstGeom>
            <a:solidFill>
              <a:srgbClr val="4773FF">
                <a:alpha val="84000"/>
              </a:srgbClr>
            </a:solidFill>
            <a:ln w="9525">
              <a:solidFill>
                <a:srgbClr val="4773FF"/>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grpSp>
      <p:sp>
        <p:nvSpPr>
          <p:cNvPr id="231534" name="Arc 110"/>
          <p:cNvSpPr>
            <a:spLocks noChangeAspect="1"/>
          </p:cNvSpPr>
          <p:nvPr/>
        </p:nvSpPr>
        <p:spPr bwMode="auto">
          <a:xfrm rot="10800000" flipH="1">
            <a:off x="4906893" y="6908627"/>
            <a:ext cx="453814" cy="309316"/>
          </a:xfrm>
          <a:custGeom>
            <a:avLst/>
            <a:gdLst>
              <a:gd name="G0" fmla="+- 0 0 0"/>
              <a:gd name="G1" fmla="+- 21600 0 0"/>
              <a:gd name="G2" fmla="+- 21600 0 0"/>
              <a:gd name="T0" fmla="*/ 0 w 21435"/>
              <a:gd name="T1" fmla="*/ 0 h 21600"/>
              <a:gd name="T2" fmla="*/ 21435 w 21435"/>
              <a:gd name="T3" fmla="*/ 18939 h 21600"/>
              <a:gd name="T4" fmla="*/ 0 w 21435"/>
              <a:gd name="T5" fmla="*/ 21600 h 21600"/>
            </a:gdLst>
            <a:ahLst/>
            <a:cxnLst>
              <a:cxn ang="0">
                <a:pos x="T0" y="T1"/>
              </a:cxn>
              <a:cxn ang="0">
                <a:pos x="T2" y="T3"/>
              </a:cxn>
              <a:cxn ang="0">
                <a:pos x="T4" y="T5"/>
              </a:cxn>
            </a:cxnLst>
            <a:rect l="0" t="0" r="r" b="b"/>
            <a:pathLst>
              <a:path w="21435" h="21600" fill="none" extrusionOk="0">
                <a:moveTo>
                  <a:pt x="0" y="-1"/>
                </a:moveTo>
                <a:cubicBezTo>
                  <a:pt x="10900" y="-1"/>
                  <a:pt x="20092" y="8121"/>
                  <a:pt x="21435" y="18938"/>
                </a:cubicBezTo>
              </a:path>
              <a:path w="21435" h="21600" stroke="0" extrusionOk="0">
                <a:moveTo>
                  <a:pt x="0" y="-1"/>
                </a:moveTo>
                <a:cubicBezTo>
                  <a:pt x="10900" y="-1"/>
                  <a:pt x="20092" y="8121"/>
                  <a:pt x="21435" y="18938"/>
                </a:cubicBezTo>
                <a:lnTo>
                  <a:pt x="0" y="21600"/>
                </a:lnTo>
                <a:close/>
              </a:path>
            </a:pathLst>
          </a:custGeom>
          <a:noFill/>
          <a:ln w="9525">
            <a:solidFill>
              <a:schemeClr val="tx1"/>
            </a:solidFill>
            <a:round/>
            <a:headEnd/>
            <a:tailEnd type="arrow" w="lg"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231535" name="Arc 111"/>
          <p:cNvSpPr>
            <a:spLocks noChangeAspect="1"/>
          </p:cNvSpPr>
          <p:nvPr/>
        </p:nvSpPr>
        <p:spPr bwMode="auto">
          <a:xfrm rot="10800000" flipH="1">
            <a:off x="11146158" y="6879422"/>
            <a:ext cx="453814" cy="309315"/>
          </a:xfrm>
          <a:custGeom>
            <a:avLst/>
            <a:gdLst>
              <a:gd name="G0" fmla="+- 0 0 0"/>
              <a:gd name="G1" fmla="+- 21600 0 0"/>
              <a:gd name="G2" fmla="+- 21600 0 0"/>
              <a:gd name="T0" fmla="*/ 0 w 21435"/>
              <a:gd name="T1" fmla="*/ 0 h 21600"/>
              <a:gd name="T2" fmla="*/ 21435 w 21435"/>
              <a:gd name="T3" fmla="*/ 18939 h 21600"/>
              <a:gd name="T4" fmla="*/ 0 w 21435"/>
              <a:gd name="T5" fmla="*/ 21600 h 21600"/>
            </a:gdLst>
            <a:ahLst/>
            <a:cxnLst>
              <a:cxn ang="0">
                <a:pos x="T0" y="T1"/>
              </a:cxn>
              <a:cxn ang="0">
                <a:pos x="T2" y="T3"/>
              </a:cxn>
              <a:cxn ang="0">
                <a:pos x="T4" y="T5"/>
              </a:cxn>
            </a:cxnLst>
            <a:rect l="0" t="0" r="r" b="b"/>
            <a:pathLst>
              <a:path w="21435" h="21600" fill="none" extrusionOk="0">
                <a:moveTo>
                  <a:pt x="0" y="-1"/>
                </a:moveTo>
                <a:cubicBezTo>
                  <a:pt x="10900" y="-1"/>
                  <a:pt x="20092" y="8121"/>
                  <a:pt x="21435" y="18938"/>
                </a:cubicBezTo>
              </a:path>
              <a:path w="21435" h="21600" stroke="0" extrusionOk="0">
                <a:moveTo>
                  <a:pt x="0" y="-1"/>
                </a:moveTo>
                <a:cubicBezTo>
                  <a:pt x="10900" y="-1"/>
                  <a:pt x="20092" y="8121"/>
                  <a:pt x="21435" y="18938"/>
                </a:cubicBezTo>
                <a:lnTo>
                  <a:pt x="0" y="21600"/>
                </a:lnTo>
                <a:close/>
              </a:path>
            </a:pathLst>
          </a:custGeom>
          <a:noFill/>
          <a:ln w="9525">
            <a:solidFill>
              <a:schemeClr val="tx1"/>
            </a:solidFill>
            <a:round/>
            <a:headEnd/>
            <a:tailEnd type="arrow"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121" name="Arc 80"/>
          <p:cNvSpPr>
            <a:spLocks noChangeAspect="1"/>
          </p:cNvSpPr>
          <p:nvPr/>
        </p:nvSpPr>
        <p:spPr bwMode="auto">
          <a:xfrm flipH="1">
            <a:off x="8547785" y="2066634"/>
            <a:ext cx="453814" cy="309316"/>
          </a:xfrm>
          <a:custGeom>
            <a:avLst/>
            <a:gdLst>
              <a:gd name="G0" fmla="+- 0 0 0"/>
              <a:gd name="G1" fmla="+- 21600 0 0"/>
              <a:gd name="G2" fmla="+- 21600 0 0"/>
              <a:gd name="T0" fmla="*/ 0 w 21435"/>
              <a:gd name="T1" fmla="*/ 0 h 21600"/>
              <a:gd name="T2" fmla="*/ 21435 w 21435"/>
              <a:gd name="T3" fmla="*/ 18939 h 21600"/>
              <a:gd name="T4" fmla="*/ 0 w 21435"/>
              <a:gd name="T5" fmla="*/ 21600 h 21600"/>
            </a:gdLst>
            <a:ahLst/>
            <a:cxnLst>
              <a:cxn ang="0">
                <a:pos x="T0" y="T1"/>
              </a:cxn>
              <a:cxn ang="0">
                <a:pos x="T2" y="T3"/>
              </a:cxn>
              <a:cxn ang="0">
                <a:pos x="T4" y="T5"/>
              </a:cxn>
            </a:cxnLst>
            <a:rect l="0" t="0" r="r" b="b"/>
            <a:pathLst>
              <a:path w="21435" h="21600" fill="none" extrusionOk="0">
                <a:moveTo>
                  <a:pt x="0" y="-1"/>
                </a:moveTo>
                <a:cubicBezTo>
                  <a:pt x="10900" y="-1"/>
                  <a:pt x="20092" y="8121"/>
                  <a:pt x="21435" y="18938"/>
                </a:cubicBezTo>
              </a:path>
              <a:path w="21435" h="21600" stroke="0" extrusionOk="0">
                <a:moveTo>
                  <a:pt x="0" y="-1"/>
                </a:moveTo>
                <a:cubicBezTo>
                  <a:pt x="10900" y="-1"/>
                  <a:pt x="20092" y="8121"/>
                  <a:pt x="21435" y="18938"/>
                </a:cubicBezTo>
                <a:lnTo>
                  <a:pt x="0" y="21600"/>
                </a:lnTo>
                <a:close/>
              </a:path>
            </a:pathLst>
          </a:custGeom>
          <a:noFill/>
          <a:ln w="12700">
            <a:solidFill>
              <a:schemeClr val="tx1"/>
            </a:solidFill>
            <a:round/>
            <a:headEnd/>
            <a:tailEnd type="arrow" w="lg"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3698">
              <a:cs typeface="+mn-cs"/>
            </a:endParaRPr>
          </a:p>
        </p:txBody>
      </p:sp>
      <p:sp>
        <p:nvSpPr>
          <p:cNvPr id="108" name="Title 1"/>
          <p:cNvSpPr>
            <a:spLocks noGrp="1"/>
          </p:cNvSpPr>
          <p:nvPr>
            <p:ph type="title"/>
          </p:nvPr>
        </p:nvSpPr>
        <p:spPr>
          <a:xfrm>
            <a:off x="650240" y="173854"/>
            <a:ext cx="11704320" cy="1625600"/>
          </a:xfrm>
        </p:spPr>
        <p:txBody>
          <a:bodyPr>
            <a:normAutofit/>
          </a:bodyPr>
          <a:lstStyle/>
          <a:p>
            <a:r>
              <a:rPr lang="en-US" sz="5120" dirty="0"/>
              <a:t>CT systems</a:t>
            </a:r>
          </a:p>
        </p:txBody>
      </p:sp>
    </p:spTree>
    <p:extLst>
      <p:ext uri="{BB962C8B-B14F-4D97-AF65-F5344CB8AC3E}">
        <p14:creationId xmlns:p14="http://schemas.microsoft.com/office/powerpoint/2010/main" val="530830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noChangeAspect="1"/>
          </p:cNvGrpSpPr>
          <p:nvPr/>
        </p:nvGrpSpPr>
        <p:grpSpPr>
          <a:xfrm>
            <a:off x="7517290" y="952687"/>
            <a:ext cx="5350916" cy="6460068"/>
            <a:chOff x="5638800" y="685800"/>
            <a:chExt cx="3009900" cy="3633788"/>
          </a:xfrm>
        </p:grpSpPr>
        <p:pic>
          <p:nvPicPr>
            <p:cNvPr id="100" name="Picture 13" descr="te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5875" y="1598613"/>
              <a:ext cx="2282825" cy="2720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pic>
        <p:sp>
          <p:nvSpPr>
            <p:cNvPr id="101" name="Freeform 14"/>
            <p:cNvSpPr>
              <a:spLocks noChangeAspect="1"/>
            </p:cNvSpPr>
            <p:nvPr/>
          </p:nvSpPr>
          <p:spPr bwMode="auto">
            <a:xfrm>
              <a:off x="5638800" y="685800"/>
              <a:ext cx="2268538" cy="3211513"/>
            </a:xfrm>
            <a:custGeom>
              <a:avLst/>
              <a:gdLst>
                <a:gd name="T0" fmla="*/ 0 w 1430"/>
                <a:gd name="T1" fmla="*/ 743 h 2026"/>
                <a:gd name="T2" fmla="*/ 1430 w 1430"/>
                <a:gd name="T3" fmla="*/ 0 h 2026"/>
                <a:gd name="T4" fmla="*/ 1424 w 1430"/>
                <a:gd name="T5" fmla="*/ 1206 h 2026"/>
                <a:gd name="T6" fmla="*/ 15 w 1430"/>
                <a:gd name="T7" fmla="*/ 2026 h 2026"/>
                <a:gd name="T8" fmla="*/ 0 w 1430"/>
                <a:gd name="T9" fmla="*/ 743 h 2026"/>
              </a:gdLst>
              <a:ahLst/>
              <a:cxnLst>
                <a:cxn ang="0">
                  <a:pos x="T0" y="T1"/>
                </a:cxn>
                <a:cxn ang="0">
                  <a:pos x="T2" y="T3"/>
                </a:cxn>
                <a:cxn ang="0">
                  <a:pos x="T4" y="T5"/>
                </a:cxn>
                <a:cxn ang="0">
                  <a:pos x="T6" y="T7"/>
                </a:cxn>
                <a:cxn ang="0">
                  <a:pos x="T8" y="T9"/>
                </a:cxn>
              </a:cxnLst>
              <a:rect l="0" t="0" r="r" b="b"/>
              <a:pathLst>
                <a:path w="1430" h="2026">
                  <a:moveTo>
                    <a:pt x="0" y="743"/>
                  </a:moveTo>
                  <a:lnTo>
                    <a:pt x="1430" y="0"/>
                  </a:lnTo>
                  <a:lnTo>
                    <a:pt x="1424" y="1206"/>
                  </a:lnTo>
                  <a:lnTo>
                    <a:pt x="15" y="2026"/>
                  </a:lnTo>
                  <a:lnTo>
                    <a:pt x="0" y="743"/>
                  </a:lnTo>
                  <a:close/>
                </a:path>
              </a:pathLst>
            </a:custGeom>
            <a:noFill/>
            <a:ln w="12700" cap="flat" cmpd="sng">
              <a:solidFill>
                <a:schemeClr val="tx1"/>
              </a:solidFill>
              <a:prstDash val="solid"/>
              <a:round/>
              <a:headEnd/>
              <a:tailEnd/>
            </a:ln>
            <a:effectLst/>
            <a:extLst>
              <a:ext uri="{909E8E84-426E-40dd-AFC4-6F175D3DCCD1}">
                <a14:hiddenFill xmlns="" xmlns:a14="http://schemas.microsoft.com/office/drawing/2010/main">
                  <a:solidFill>
                    <a:srgbClr val="DDDDDD"/>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wrap="none" anchor="ctr"/>
            <a:lstStyle/>
            <a:p>
              <a:endParaRPr lang="en-US" sz="3698"/>
            </a:p>
          </p:txBody>
        </p:sp>
        <p:sp>
          <p:nvSpPr>
            <p:cNvPr id="102" name="Oval 18"/>
            <p:cNvSpPr>
              <a:spLocks noChangeAspect="1" noChangeArrowheads="1"/>
            </p:cNvSpPr>
            <p:nvPr/>
          </p:nvSpPr>
          <p:spPr bwMode="auto">
            <a:xfrm>
              <a:off x="8255000" y="2632075"/>
              <a:ext cx="82550" cy="82550"/>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3698"/>
            </a:p>
          </p:txBody>
        </p:sp>
        <p:sp>
          <p:nvSpPr>
            <p:cNvPr id="103" name="AutoShape 24"/>
            <p:cNvSpPr>
              <a:spLocks noChangeAspect="1" noChangeArrowheads="1"/>
            </p:cNvSpPr>
            <p:nvPr/>
          </p:nvSpPr>
          <p:spPr bwMode="auto">
            <a:xfrm>
              <a:off x="7313613" y="2055813"/>
              <a:ext cx="457200" cy="1978025"/>
            </a:xfrm>
            <a:prstGeom prst="can">
              <a:avLst>
                <a:gd name="adj" fmla="val 34611"/>
              </a:avLst>
            </a:prstGeom>
            <a:solidFill>
              <a:srgbClr val="0066FF"/>
            </a:solidFill>
            <a:ln w="19050">
              <a:solidFill>
                <a:srgbClr val="0000FF"/>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3698"/>
            </a:p>
          </p:txBody>
        </p:sp>
        <p:sp>
          <p:nvSpPr>
            <p:cNvPr id="104" name="Freeform 25"/>
            <p:cNvSpPr>
              <a:spLocks noChangeAspect="1"/>
            </p:cNvSpPr>
            <p:nvPr/>
          </p:nvSpPr>
          <p:spPr bwMode="auto">
            <a:xfrm>
              <a:off x="7281863" y="2857500"/>
              <a:ext cx="511175" cy="92075"/>
            </a:xfrm>
            <a:custGeom>
              <a:avLst/>
              <a:gdLst>
                <a:gd name="T0" fmla="*/ 0 w 322"/>
                <a:gd name="T1" fmla="*/ 0 h 58"/>
                <a:gd name="T2" fmla="*/ 130 w 322"/>
                <a:gd name="T3" fmla="*/ 36 h 58"/>
                <a:gd name="T4" fmla="*/ 208 w 322"/>
                <a:gd name="T5" fmla="*/ 48 h 58"/>
                <a:gd name="T6" fmla="*/ 263 w 322"/>
                <a:gd name="T7" fmla="*/ 55 h 58"/>
                <a:gd name="T8" fmla="*/ 322 w 322"/>
                <a:gd name="T9" fmla="*/ 58 h 58"/>
              </a:gdLst>
              <a:ahLst/>
              <a:cxnLst>
                <a:cxn ang="0">
                  <a:pos x="T0" y="T1"/>
                </a:cxn>
                <a:cxn ang="0">
                  <a:pos x="T2" y="T3"/>
                </a:cxn>
                <a:cxn ang="0">
                  <a:pos x="T4" y="T5"/>
                </a:cxn>
                <a:cxn ang="0">
                  <a:pos x="T6" y="T7"/>
                </a:cxn>
                <a:cxn ang="0">
                  <a:pos x="T8" y="T9"/>
                </a:cxn>
              </a:cxnLst>
              <a:rect l="0" t="0" r="r" b="b"/>
              <a:pathLst>
                <a:path w="322" h="58">
                  <a:moveTo>
                    <a:pt x="0" y="0"/>
                  </a:moveTo>
                  <a:cubicBezTo>
                    <a:pt x="22" y="6"/>
                    <a:pt x="95" y="28"/>
                    <a:pt x="130" y="36"/>
                  </a:cubicBezTo>
                  <a:cubicBezTo>
                    <a:pt x="165" y="44"/>
                    <a:pt x="186" y="45"/>
                    <a:pt x="208" y="48"/>
                  </a:cubicBezTo>
                  <a:cubicBezTo>
                    <a:pt x="230" y="51"/>
                    <a:pt x="244" y="53"/>
                    <a:pt x="263" y="55"/>
                  </a:cubicBezTo>
                  <a:cubicBezTo>
                    <a:pt x="282" y="57"/>
                    <a:pt x="310" y="58"/>
                    <a:pt x="322" y="58"/>
                  </a:cubicBezTo>
                </a:path>
              </a:pathLst>
            </a:custGeom>
            <a:noFill/>
            <a:ln w="25400"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wrap="none" anchor="ctr"/>
            <a:lstStyle/>
            <a:p>
              <a:endParaRPr lang="en-US" sz="3698"/>
            </a:p>
          </p:txBody>
        </p:sp>
        <p:sp>
          <p:nvSpPr>
            <p:cNvPr id="105" name="Freeform 26"/>
            <p:cNvSpPr>
              <a:spLocks noChangeAspect="1"/>
            </p:cNvSpPr>
            <p:nvPr/>
          </p:nvSpPr>
          <p:spPr bwMode="auto">
            <a:xfrm>
              <a:off x="7299325" y="3681413"/>
              <a:ext cx="484188" cy="79375"/>
            </a:xfrm>
            <a:custGeom>
              <a:avLst/>
              <a:gdLst>
                <a:gd name="T0" fmla="*/ 0 w 305"/>
                <a:gd name="T1" fmla="*/ 0 h 51"/>
                <a:gd name="T2" fmla="*/ 90 w 305"/>
                <a:gd name="T3" fmla="*/ 28 h 51"/>
                <a:gd name="T4" fmla="*/ 165 w 305"/>
                <a:gd name="T5" fmla="*/ 42 h 51"/>
                <a:gd name="T6" fmla="*/ 250 w 305"/>
                <a:gd name="T7" fmla="*/ 50 h 51"/>
                <a:gd name="T8" fmla="*/ 305 w 305"/>
                <a:gd name="T9" fmla="*/ 51 h 51"/>
              </a:gdLst>
              <a:ahLst/>
              <a:cxnLst>
                <a:cxn ang="0">
                  <a:pos x="T0" y="T1"/>
                </a:cxn>
                <a:cxn ang="0">
                  <a:pos x="T2" y="T3"/>
                </a:cxn>
                <a:cxn ang="0">
                  <a:pos x="T4" y="T5"/>
                </a:cxn>
                <a:cxn ang="0">
                  <a:pos x="T6" y="T7"/>
                </a:cxn>
                <a:cxn ang="0">
                  <a:pos x="T8" y="T9"/>
                </a:cxn>
              </a:cxnLst>
              <a:rect l="0" t="0" r="r" b="b"/>
              <a:pathLst>
                <a:path w="305" h="51">
                  <a:moveTo>
                    <a:pt x="0" y="0"/>
                  </a:moveTo>
                  <a:cubicBezTo>
                    <a:pt x="15" y="5"/>
                    <a:pt x="63" y="21"/>
                    <a:pt x="90" y="28"/>
                  </a:cubicBezTo>
                  <a:cubicBezTo>
                    <a:pt x="117" y="35"/>
                    <a:pt x="138" y="38"/>
                    <a:pt x="165" y="42"/>
                  </a:cubicBezTo>
                  <a:cubicBezTo>
                    <a:pt x="192" y="46"/>
                    <a:pt x="227" y="49"/>
                    <a:pt x="250" y="50"/>
                  </a:cubicBezTo>
                  <a:cubicBezTo>
                    <a:pt x="273" y="51"/>
                    <a:pt x="294" y="51"/>
                    <a:pt x="305" y="51"/>
                  </a:cubicBezTo>
                </a:path>
              </a:pathLst>
            </a:custGeom>
            <a:noFill/>
            <a:ln w="25400"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wrap="none" anchor="ctr"/>
            <a:lstStyle/>
            <a:p>
              <a:endParaRPr lang="en-US" sz="3698"/>
            </a:p>
          </p:txBody>
        </p:sp>
        <p:sp>
          <p:nvSpPr>
            <p:cNvPr id="106" name="Oval 30"/>
            <p:cNvSpPr>
              <a:spLocks noChangeArrowheads="1"/>
            </p:cNvSpPr>
            <p:nvPr/>
          </p:nvSpPr>
          <p:spPr bwMode="auto">
            <a:xfrm>
              <a:off x="6019800" y="3155950"/>
              <a:ext cx="76200" cy="76200"/>
            </a:xfrm>
            <a:prstGeom prst="ellipse">
              <a:avLst/>
            </a:prstGeom>
            <a:solidFill>
              <a:srgbClr val="00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3698"/>
            </a:p>
          </p:txBody>
        </p:sp>
        <p:sp>
          <p:nvSpPr>
            <p:cNvPr id="107" name="Line 31"/>
            <p:cNvSpPr>
              <a:spLocks noChangeShapeType="1"/>
            </p:cNvSpPr>
            <p:nvPr/>
          </p:nvSpPr>
          <p:spPr bwMode="auto">
            <a:xfrm flipV="1">
              <a:off x="8001000" y="2667000"/>
              <a:ext cx="304800" cy="76200"/>
            </a:xfrm>
            <a:prstGeom prst="line">
              <a:avLst/>
            </a:prstGeom>
            <a:noFill/>
            <a:ln w="19050">
              <a:solidFill>
                <a:schemeClr val="tx1"/>
              </a:solidFill>
              <a:round/>
              <a:headEnd type="arrow"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3698"/>
            </a:p>
          </p:txBody>
        </p:sp>
      </p:grpSp>
      <p:sp>
        <p:nvSpPr>
          <p:cNvPr id="111" name="Text Box 12"/>
          <p:cNvSpPr txBox="1">
            <a:spLocks noChangeArrowheads="1"/>
          </p:cNvSpPr>
          <p:nvPr/>
        </p:nvSpPr>
        <p:spPr bwMode="auto">
          <a:xfrm>
            <a:off x="4897662" y="6921781"/>
            <a:ext cx="3794629" cy="4862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844" dirty="0">
                <a:solidFill>
                  <a:srgbClr val="008000"/>
                </a:solidFill>
              </a:rPr>
              <a:t>Helical configuration</a:t>
            </a:r>
          </a:p>
        </p:txBody>
      </p:sp>
      <p:pic>
        <p:nvPicPr>
          <p:cNvPr id="114" name="Picture 35" descr="Phillips-Brillian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240" y="3484038"/>
            <a:ext cx="4226560" cy="42265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extLst/>
          </p:nvPr>
        </p:nvGraphicFramePr>
        <p:xfrm>
          <a:off x="473381" y="1724191"/>
          <a:ext cx="7405511" cy="1625600"/>
        </p:xfrm>
        <a:graphic>
          <a:graphicData uri="http://schemas.openxmlformats.org/presentationml/2006/ole">
            <mc:AlternateContent xmlns:mc="http://schemas.openxmlformats.org/markup-compatibility/2006">
              <mc:Choice xmlns:v="urn:schemas-microsoft-com:vml" Requires="v">
                <p:oleObj spid="_x0000_s13495" name="Equation" r:id="rId5" imgW="2082800" imgH="457200" progId="Equation.3">
                  <p:embed/>
                </p:oleObj>
              </mc:Choice>
              <mc:Fallback>
                <p:oleObj name="Equation" r:id="rId5" imgW="2082800" imgH="457200" progId="Equation.3">
                  <p:embed/>
                  <p:pic>
                    <p:nvPicPr>
                      <p:cNvPr id="0" name=""/>
                      <p:cNvPicPr/>
                      <p:nvPr/>
                    </p:nvPicPr>
                    <p:blipFill>
                      <a:blip r:embed="rId6"/>
                      <a:stretch>
                        <a:fillRect/>
                      </a:stretch>
                    </p:blipFill>
                    <p:spPr>
                      <a:xfrm>
                        <a:off x="473381" y="1724191"/>
                        <a:ext cx="7405511" cy="1625600"/>
                      </a:xfrm>
                      <a:prstGeom prst="rect">
                        <a:avLst/>
                      </a:prstGeom>
                    </p:spPr>
                  </p:pic>
                </p:oleObj>
              </mc:Fallback>
            </mc:AlternateContent>
          </a:graphicData>
        </a:graphic>
      </p:graphicFrame>
      <p:graphicFrame>
        <p:nvGraphicFramePr>
          <p:cNvPr id="6" name="Object 5"/>
          <p:cNvGraphicFramePr>
            <a:graphicFrameLocks noChangeAspect="1"/>
          </p:cNvGraphicFramePr>
          <p:nvPr>
            <p:extLst/>
          </p:nvPr>
        </p:nvGraphicFramePr>
        <p:xfrm>
          <a:off x="11393693" y="4290813"/>
          <a:ext cx="361244" cy="614116"/>
        </p:xfrm>
        <a:graphic>
          <a:graphicData uri="http://schemas.openxmlformats.org/presentationml/2006/ole">
            <mc:AlternateContent xmlns:mc="http://schemas.openxmlformats.org/markup-compatibility/2006">
              <mc:Choice xmlns:v="urn:schemas-microsoft-com:vml" Requires="v">
                <p:oleObj spid="_x0000_s13496" name="Equation" r:id="rId7" imgW="127000" imgH="215900" progId="Equation.3">
                  <p:embed/>
                </p:oleObj>
              </mc:Choice>
              <mc:Fallback>
                <p:oleObj name="Equation" r:id="rId7" imgW="127000" imgH="215900" progId="Equation.3">
                  <p:embed/>
                  <p:pic>
                    <p:nvPicPr>
                      <p:cNvPr id="0" name=""/>
                      <p:cNvPicPr/>
                      <p:nvPr/>
                    </p:nvPicPr>
                    <p:blipFill>
                      <a:blip r:embed="rId8"/>
                      <a:stretch>
                        <a:fillRect/>
                      </a:stretch>
                    </p:blipFill>
                    <p:spPr>
                      <a:xfrm>
                        <a:off x="11393693" y="4290813"/>
                        <a:ext cx="361244" cy="614116"/>
                      </a:xfrm>
                      <a:prstGeom prst="rect">
                        <a:avLst/>
                      </a:prstGeom>
                    </p:spPr>
                  </p:pic>
                </p:oleObj>
              </mc:Fallback>
            </mc:AlternateContent>
          </a:graphicData>
        </a:graphic>
      </p:graphicFrame>
      <p:graphicFrame>
        <p:nvGraphicFramePr>
          <p:cNvPr id="115" name="Object 114"/>
          <p:cNvGraphicFramePr>
            <a:graphicFrameLocks noChangeAspect="1"/>
          </p:cNvGraphicFramePr>
          <p:nvPr>
            <p:extLst/>
          </p:nvPr>
        </p:nvGraphicFramePr>
        <p:xfrm>
          <a:off x="12101689" y="3724862"/>
          <a:ext cx="903111" cy="614116"/>
        </p:xfrm>
        <a:graphic>
          <a:graphicData uri="http://schemas.openxmlformats.org/presentationml/2006/ole">
            <mc:AlternateContent xmlns:mc="http://schemas.openxmlformats.org/markup-compatibility/2006">
              <mc:Choice xmlns:v="urn:schemas-microsoft-com:vml" Requires="v">
                <p:oleObj spid="_x0000_s13497" name="Equation" r:id="rId9" imgW="317500" imgH="215900" progId="Equation.3">
                  <p:embed/>
                </p:oleObj>
              </mc:Choice>
              <mc:Fallback>
                <p:oleObj name="Equation" r:id="rId9" imgW="317500" imgH="215900" progId="Equation.3">
                  <p:embed/>
                  <p:pic>
                    <p:nvPicPr>
                      <p:cNvPr id="0" name=""/>
                      <p:cNvPicPr/>
                      <p:nvPr/>
                    </p:nvPicPr>
                    <p:blipFill>
                      <a:blip r:embed="rId10"/>
                      <a:stretch>
                        <a:fillRect/>
                      </a:stretch>
                    </p:blipFill>
                    <p:spPr>
                      <a:xfrm>
                        <a:off x="12101689" y="3724862"/>
                        <a:ext cx="903111" cy="614116"/>
                      </a:xfrm>
                      <a:prstGeom prst="rect">
                        <a:avLst/>
                      </a:prstGeom>
                    </p:spPr>
                  </p:pic>
                </p:oleObj>
              </mc:Fallback>
            </mc:AlternateContent>
          </a:graphicData>
        </a:graphic>
      </p:graphicFrame>
      <p:graphicFrame>
        <p:nvGraphicFramePr>
          <p:cNvPr id="116" name="Object 115"/>
          <p:cNvGraphicFramePr>
            <a:graphicFrameLocks noChangeAspect="1"/>
          </p:cNvGraphicFramePr>
          <p:nvPr>
            <p:extLst/>
          </p:nvPr>
        </p:nvGraphicFramePr>
        <p:xfrm>
          <a:off x="7715971" y="4676140"/>
          <a:ext cx="1228231" cy="686364"/>
        </p:xfrm>
        <a:graphic>
          <a:graphicData uri="http://schemas.openxmlformats.org/presentationml/2006/ole">
            <mc:AlternateContent xmlns:mc="http://schemas.openxmlformats.org/markup-compatibility/2006">
              <mc:Choice xmlns:v="urn:schemas-microsoft-com:vml" Requires="v">
                <p:oleObj spid="_x0000_s13498" name="Equation" r:id="rId11" imgW="431800" imgH="241300" progId="Equation.3">
                  <p:embed/>
                </p:oleObj>
              </mc:Choice>
              <mc:Fallback>
                <p:oleObj name="Equation" r:id="rId11" imgW="431800" imgH="241300" progId="Equation.3">
                  <p:embed/>
                  <p:pic>
                    <p:nvPicPr>
                      <p:cNvPr id="0" name=""/>
                      <p:cNvPicPr/>
                      <p:nvPr/>
                    </p:nvPicPr>
                    <p:blipFill>
                      <a:blip r:embed="rId12"/>
                      <a:stretch>
                        <a:fillRect/>
                      </a:stretch>
                    </p:blipFill>
                    <p:spPr>
                      <a:xfrm>
                        <a:off x="7715971" y="4676140"/>
                        <a:ext cx="1228231" cy="686364"/>
                      </a:xfrm>
                      <a:prstGeom prst="rect">
                        <a:avLst/>
                      </a:prstGeom>
                    </p:spPr>
                  </p:pic>
                </p:oleObj>
              </mc:Fallback>
            </mc:AlternateContent>
          </a:graphicData>
        </a:graphic>
      </p:graphicFrame>
      <p:graphicFrame>
        <p:nvGraphicFramePr>
          <p:cNvPr id="117" name="Object 116"/>
          <p:cNvGraphicFramePr>
            <a:graphicFrameLocks noChangeAspect="1"/>
          </p:cNvGraphicFramePr>
          <p:nvPr>
            <p:extLst/>
          </p:nvPr>
        </p:nvGraphicFramePr>
        <p:xfrm>
          <a:off x="10946279" y="692668"/>
          <a:ext cx="361244" cy="397369"/>
        </p:xfrm>
        <a:graphic>
          <a:graphicData uri="http://schemas.openxmlformats.org/presentationml/2006/ole">
            <mc:AlternateContent xmlns:mc="http://schemas.openxmlformats.org/markup-compatibility/2006">
              <mc:Choice xmlns:v="urn:schemas-microsoft-com:vml" Requires="v">
                <p:oleObj spid="_x0000_s13499" name="Equation" r:id="rId13" imgW="127000" imgH="139700" progId="Equation.3">
                  <p:embed/>
                </p:oleObj>
              </mc:Choice>
              <mc:Fallback>
                <p:oleObj name="Equation" r:id="rId13" imgW="127000" imgH="139700" progId="Equation.3">
                  <p:embed/>
                  <p:pic>
                    <p:nvPicPr>
                      <p:cNvPr id="0" name=""/>
                      <p:cNvPicPr/>
                      <p:nvPr/>
                    </p:nvPicPr>
                    <p:blipFill>
                      <a:blip r:embed="rId14"/>
                      <a:stretch>
                        <a:fillRect/>
                      </a:stretch>
                    </p:blipFill>
                    <p:spPr>
                      <a:xfrm>
                        <a:off x="10946279" y="692668"/>
                        <a:ext cx="361244" cy="397369"/>
                      </a:xfrm>
                      <a:prstGeom prst="rect">
                        <a:avLst/>
                      </a:prstGeom>
                    </p:spPr>
                  </p:pic>
                </p:oleObj>
              </mc:Fallback>
            </mc:AlternateContent>
          </a:graphicData>
        </a:graphic>
      </p:graphicFrame>
      <p:graphicFrame>
        <p:nvGraphicFramePr>
          <p:cNvPr id="119" name="Object 118"/>
          <p:cNvGraphicFramePr>
            <a:graphicFrameLocks noChangeAspect="1"/>
          </p:cNvGraphicFramePr>
          <p:nvPr>
            <p:extLst/>
          </p:nvPr>
        </p:nvGraphicFramePr>
        <p:xfrm>
          <a:off x="11665185" y="1213933"/>
          <a:ext cx="325120" cy="397369"/>
        </p:xfrm>
        <a:graphic>
          <a:graphicData uri="http://schemas.openxmlformats.org/presentationml/2006/ole">
            <mc:AlternateContent xmlns:mc="http://schemas.openxmlformats.org/markup-compatibility/2006">
              <mc:Choice xmlns:v="urn:schemas-microsoft-com:vml" Requires="v">
                <p:oleObj spid="_x0000_s13500" name="Equation" r:id="rId15" imgW="114300" imgH="139700" progId="Equation.3">
                  <p:embed/>
                </p:oleObj>
              </mc:Choice>
              <mc:Fallback>
                <p:oleObj name="Equation" r:id="rId15" imgW="114300" imgH="139700" progId="Equation.3">
                  <p:embed/>
                  <p:pic>
                    <p:nvPicPr>
                      <p:cNvPr id="0" name=""/>
                      <p:cNvPicPr/>
                      <p:nvPr/>
                    </p:nvPicPr>
                    <p:blipFill>
                      <a:blip r:embed="rId16"/>
                      <a:stretch>
                        <a:fillRect/>
                      </a:stretch>
                    </p:blipFill>
                    <p:spPr>
                      <a:xfrm>
                        <a:off x="11665185" y="1213933"/>
                        <a:ext cx="325120" cy="397369"/>
                      </a:xfrm>
                      <a:prstGeom prst="rect">
                        <a:avLst/>
                      </a:prstGeom>
                    </p:spPr>
                  </p:pic>
                </p:oleObj>
              </mc:Fallback>
            </mc:AlternateContent>
          </a:graphicData>
        </a:graphic>
      </p:graphicFrame>
      <p:cxnSp>
        <p:nvCxnSpPr>
          <p:cNvPr id="9" name="Straight Arrow Connector 8"/>
          <p:cNvCxnSpPr>
            <a:stCxn id="101" idx="1"/>
          </p:cNvCxnSpPr>
          <p:nvPr/>
        </p:nvCxnSpPr>
        <p:spPr>
          <a:xfrm flipH="1">
            <a:off x="10741002" y="952687"/>
            <a:ext cx="809230" cy="404238"/>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20" name="Straight Arrow Connector 119"/>
          <p:cNvCxnSpPr>
            <a:stCxn id="101" idx="1"/>
          </p:cNvCxnSpPr>
          <p:nvPr/>
        </p:nvCxnSpPr>
        <p:spPr>
          <a:xfrm>
            <a:off x="11550232" y="952687"/>
            <a:ext cx="0" cy="949867"/>
          </a:xfrm>
          <a:prstGeom prst="straightConnector1">
            <a:avLst/>
          </a:prstGeom>
          <a:ln w="381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0" name="Title 1"/>
          <p:cNvSpPr>
            <a:spLocks noGrp="1"/>
          </p:cNvSpPr>
          <p:nvPr>
            <p:ph type="title"/>
          </p:nvPr>
        </p:nvSpPr>
        <p:spPr>
          <a:xfrm>
            <a:off x="650240" y="390596"/>
            <a:ext cx="11704320" cy="1625600"/>
          </a:xfrm>
        </p:spPr>
        <p:txBody>
          <a:bodyPr>
            <a:normAutofit/>
          </a:bodyPr>
          <a:lstStyle/>
          <a:p>
            <a:r>
              <a:rPr lang="en-US" sz="5120" dirty="0"/>
              <a:t>Modern CT system</a:t>
            </a:r>
          </a:p>
        </p:txBody>
      </p:sp>
    </p:spTree>
    <p:extLst>
      <p:ext uri="{BB962C8B-B14F-4D97-AF65-F5344CB8AC3E}">
        <p14:creationId xmlns:p14="http://schemas.microsoft.com/office/powerpoint/2010/main" val="842429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Shape 341"/>
          <p:cNvSpPr>
            <a:spLocks noGrp="1"/>
          </p:cNvSpPr>
          <p:nvPr>
            <p:ph type="title"/>
          </p:nvPr>
        </p:nvSpPr>
        <p:spPr>
          <a:prstGeom prst="rect">
            <a:avLst/>
          </a:prstGeom>
        </p:spPr>
        <p:txBody>
          <a:bodyPr/>
          <a:lstStyle/>
          <a:p>
            <a:r>
              <a:t>Break</a:t>
            </a:r>
          </a:p>
        </p:txBody>
      </p:sp>
    </p:spTree>
    <p:extLst>
      <p:ext uri="{BB962C8B-B14F-4D97-AF65-F5344CB8AC3E}">
        <p14:creationId xmlns:p14="http://schemas.microsoft.com/office/powerpoint/2010/main" val="159627965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title"/>
          </p:nvPr>
        </p:nvSpPr>
        <p:spPr>
          <a:prstGeom prst="rect">
            <a:avLst/>
          </a:prstGeom>
        </p:spPr>
        <p:txBody>
          <a:bodyPr/>
          <a:lstStyle/>
          <a:p>
            <a:r>
              <a:rPr dirty="0"/>
              <a:t>What is an image?</a:t>
            </a:r>
          </a:p>
        </p:txBody>
      </p:sp>
      <p:sp>
        <p:nvSpPr>
          <p:cNvPr id="77" name="Shape 77"/>
          <p:cNvSpPr>
            <a:spLocks noGrp="1"/>
          </p:cNvSpPr>
          <p:nvPr>
            <p:ph type="body" sz="half" idx="1"/>
          </p:nvPr>
        </p:nvSpPr>
        <p:spPr>
          <a:xfrm>
            <a:off x="914400" y="3156694"/>
            <a:ext cx="6216650" cy="4989612"/>
          </a:xfrm>
          <a:prstGeom prst="rect">
            <a:avLst/>
          </a:prstGeom>
        </p:spPr>
        <p:txBody>
          <a:bodyPr anchor="t"/>
          <a:lstStyle/>
          <a:p>
            <a:r>
              <a:rPr dirty="0"/>
              <a:t>An image is a matrix</a:t>
            </a:r>
          </a:p>
          <a:p>
            <a:r>
              <a:rPr dirty="0"/>
              <a:t>A pixel </a:t>
            </a:r>
            <a:r>
              <a:rPr b="0" i="1" dirty="0"/>
              <a:t>v</a:t>
            </a:r>
            <a:r>
              <a:rPr b="0" i="1" baseline="-5999" dirty="0"/>
              <a:t>i</a:t>
            </a:r>
            <a:r>
              <a:rPr b="0" baseline="-5999" dirty="0"/>
              <a:t>,</a:t>
            </a:r>
            <a:r>
              <a:rPr b="0" i="1" baseline="-5999" dirty="0"/>
              <a:t>j</a:t>
            </a:r>
            <a:r>
              <a:rPr dirty="0"/>
              <a:t> is a value in a matrix</a:t>
            </a:r>
          </a:p>
          <a:p>
            <a:r>
              <a:rPr dirty="0"/>
              <a:t>For a simple greyscale image, black=0, white=1, and numbers in-between represent greys</a:t>
            </a:r>
          </a:p>
        </p:txBody>
      </p:sp>
      <p:sp>
        <p:nvSpPr>
          <p:cNvPr id="78" name="Shape 78"/>
          <p:cNvSpPr/>
          <p:nvPr/>
        </p:nvSpPr>
        <p:spPr>
          <a:xfrm>
            <a:off x="8280400" y="36195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79" name="Shape 79"/>
          <p:cNvSpPr/>
          <p:nvPr/>
        </p:nvSpPr>
        <p:spPr>
          <a:xfrm>
            <a:off x="90932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0" name="Shape 80"/>
          <p:cNvSpPr/>
          <p:nvPr/>
        </p:nvSpPr>
        <p:spPr>
          <a:xfrm>
            <a:off x="99060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1" name="Shape 81"/>
          <p:cNvSpPr/>
          <p:nvPr/>
        </p:nvSpPr>
        <p:spPr>
          <a:xfrm>
            <a:off x="107188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2" name="Shape 82"/>
          <p:cNvSpPr/>
          <p:nvPr/>
        </p:nvSpPr>
        <p:spPr>
          <a:xfrm>
            <a:off x="11531600" y="36195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3" name="Shape 83"/>
          <p:cNvSpPr/>
          <p:nvPr/>
        </p:nvSpPr>
        <p:spPr>
          <a:xfrm>
            <a:off x="8280400" y="44323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4" name="Shape 84"/>
          <p:cNvSpPr/>
          <p:nvPr/>
        </p:nvSpPr>
        <p:spPr>
          <a:xfrm>
            <a:off x="9093200" y="44323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5" name="Shape 85"/>
          <p:cNvSpPr/>
          <p:nvPr/>
        </p:nvSpPr>
        <p:spPr>
          <a:xfrm>
            <a:off x="9906000" y="44323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6" name="Shape 86"/>
          <p:cNvSpPr/>
          <p:nvPr/>
        </p:nvSpPr>
        <p:spPr>
          <a:xfrm>
            <a:off x="10718800" y="44323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7" name="Shape 87"/>
          <p:cNvSpPr/>
          <p:nvPr/>
        </p:nvSpPr>
        <p:spPr>
          <a:xfrm>
            <a:off x="11531600" y="4432300"/>
            <a:ext cx="814785" cy="812800"/>
          </a:xfrm>
          <a:prstGeom prst="rect">
            <a:avLst/>
          </a:prstGeom>
          <a:solidFill>
            <a:srgbClr val="A6AAA9"/>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8" name="Shape 88"/>
          <p:cNvSpPr/>
          <p:nvPr/>
        </p:nvSpPr>
        <p:spPr>
          <a:xfrm>
            <a:off x="82804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89" name="Shape 89"/>
          <p:cNvSpPr/>
          <p:nvPr/>
        </p:nvSpPr>
        <p:spPr>
          <a:xfrm>
            <a:off x="90932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0" name="Shape 90"/>
          <p:cNvSpPr/>
          <p:nvPr/>
        </p:nvSpPr>
        <p:spPr>
          <a:xfrm>
            <a:off x="9906000" y="52451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1" name="Shape 91"/>
          <p:cNvSpPr/>
          <p:nvPr/>
        </p:nvSpPr>
        <p:spPr>
          <a:xfrm>
            <a:off x="107188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2" name="Shape 92"/>
          <p:cNvSpPr/>
          <p:nvPr/>
        </p:nvSpPr>
        <p:spPr>
          <a:xfrm>
            <a:off x="11531600" y="52451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3" name="Shape 93"/>
          <p:cNvSpPr/>
          <p:nvPr/>
        </p:nvSpPr>
        <p:spPr>
          <a:xfrm>
            <a:off x="82804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4" name="Shape 94"/>
          <p:cNvSpPr/>
          <p:nvPr/>
        </p:nvSpPr>
        <p:spPr>
          <a:xfrm>
            <a:off x="90932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5" name="Shape 95"/>
          <p:cNvSpPr/>
          <p:nvPr/>
        </p:nvSpPr>
        <p:spPr>
          <a:xfrm>
            <a:off x="99060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6" name="Shape 96"/>
          <p:cNvSpPr/>
          <p:nvPr/>
        </p:nvSpPr>
        <p:spPr>
          <a:xfrm>
            <a:off x="10718800" y="60579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7" name="Shape 97"/>
          <p:cNvSpPr/>
          <p:nvPr/>
        </p:nvSpPr>
        <p:spPr>
          <a:xfrm>
            <a:off x="11531600" y="60579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8" name="Shape 98"/>
          <p:cNvSpPr/>
          <p:nvPr/>
        </p:nvSpPr>
        <p:spPr>
          <a:xfrm>
            <a:off x="82804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99" name="Shape 99"/>
          <p:cNvSpPr/>
          <p:nvPr/>
        </p:nvSpPr>
        <p:spPr>
          <a:xfrm>
            <a:off x="90932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100" name="Shape 100"/>
          <p:cNvSpPr/>
          <p:nvPr/>
        </p:nvSpPr>
        <p:spPr>
          <a:xfrm>
            <a:off x="99060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101" name="Shape 101"/>
          <p:cNvSpPr/>
          <p:nvPr/>
        </p:nvSpPr>
        <p:spPr>
          <a:xfrm>
            <a:off x="10718800" y="6870700"/>
            <a:ext cx="814785" cy="812800"/>
          </a:xfrm>
          <a:prstGeom prst="rect">
            <a:avLst/>
          </a:prstGeom>
          <a:solidFill>
            <a:srgbClr val="FFFFFF"/>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102" name="Shape 102"/>
          <p:cNvSpPr/>
          <p:nvPr/>
        </p:nvSpPr>
        <p:spPr>
          <a:xfrm>
            <a:off x="11531600" y="6870700"/>
            <a:ext cx="814785" cy="812800"/>
          </a:xfrm>
          <a:prstGeom prst="rect">
            <a:avLst/>
          </a:prstGeom>
          <a:solidFill>
            <a:srgbClr val="000000"/>
          </a:solidFill>
          <a:ln w="12700">
            <a:solidFill>
              <a:srgbClr val="A6AAA9"/>
            </a:solidFill>
            <a:miter lim="400000"/>
          </a:ln>
        </p:spPr>
        <p:txBody>
          <a:bodyPr lIns="50800" tIns="50800" rIns="50800" bIns="50800" anchor="ctr"/>
          <a:lstStyle/>
          <a:p>
            <a:pPr>
              <a:lnSpc>
                <a:spcPct val="100000"/>
              </a:lnSpc>
              <a:defRPr sz="2400" b="0">
                <a:solidFill>
                  <a:srgbClr val="FFFFFF"/>
                </a:solidFill>
                <a:latin typeface="+mn-lt"/>
                <a:ea typeface="+mn-ea"/>
                <a:cs typeface="+mn-cs"/>
                <a:sym typeface="Helvetica Light"/>
              </a:defRPr>
            </a:pPr>
            <a:endParaRPr/>
          </a:p>
        </p:txBody>
      </p:sp>
      <p:sp>
        <p:nvSpPr>
          <p:cNvPr id="103" name="Shape 103"/>
          <p:cNvSpPr/>
          <p:nvPr/>
        </p:nvSpPr>
        <p:spPr>
          <a:xfrm>
            <a:off x="11794721" y="3145641"/>
            <a:ext cx="288541" cy="46269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rPr lang="en-US" dirty="0"/>
              <a:t>5</a:t>
            </a:r>
            <a:endParaRPr dirty="0"/>
          </a:p>
        </p:txBody>
      </p:sp>
      <p:sp>
        <p:nvSpPr>
          <p:cNvPr id="104" name="Shape 104"/>
          <p:cNvSpPr/>
          <p:nvPr/>
        </p:nvSpPr>
        <p:spPr>
          <a:xfrm>
            <a:off x="8495588" y="3117850"/>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1</a:t>
            </a:r>
          </a:p>
        </p:txBody>
      </p:sp>
      <p:sp>
        <p:nvSpPr>
          <p:cNvPr id="105" name="Shape 105"/>
          <p:cNvSpPr/>
          <p:nvPr/>
        </p:nvSpPr>
        <p:spPr>
          <a:xfrm>
            <a:off x="9308388" y="3117850"/>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2</a:t>
            </a:r>
          </a:p>
        </p:txBody>
      </p:sp>
      <p:sp>
        <p:nvSpPr>
          <p:cNvPr id="106" name="Shape 106"/>
          <p:cNvSpPr/>
          <p:nvPr/>
        </p:nvSpPr>
        <p:spPr>
          <a:xfrm>
            <a:off x="10121188" y="3117850"/>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3</a:t>
            </a:r>
          </a:p>
        </p:txBody>
      </p:sp>
      <p:sp>
        <p:nvSpPr>
          <p:cNvPr id="107" name="Shape 107"/>
          <p:cNvSpPr/>
          <p:nvPr/>
        </p:nvSpPr>
        <p:spPr>
          <a:xfrm>
            <a:off x="10933988" y="3117850"/>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4</a:t>
            </a:r>
          </a:p>
        </p:txBody>
      </p:sp>
      <p:sp>
        <p:nvSpPr>
          <p:cNvPr id="109" name="Shape 109"/>
          <p:cNvSpPr/>
          <p:nvPr/>
        </p:nvSpPr>
        <p:spPr>
          <a:xfrm>
            <a:off x="7901480" y="3848098"/>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1</a:t>
            </a:r>
          </a:p>
        </p:txBody>
      </p:sp>
      <p:sp>
        <p:nvSpPr>
          <p:cNvPr id="110" name="Shape 110"/>
          <p:cNvSpPr/>
          <p:nvPr/>
        </p:nvSpPr>
        <p:spPr>
          <a:xfrm>
            <a:off x="7901480" y="4660898"/>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2</a:t>
            </a:r>
          </a:p>
        </p:txBody>
      </p:sp>
      <p:sp>
        <p:nvSpPr>
          <p:cNvPr id="111" name="Shape 111"/>
          <p:cNvSpPr/>
          <p:nvPr/>
        </p:nvSpPr>
        <p:spPr>
          <a:xfrm>
            <a:off x="7901480" y="5473698"/>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3</a:t>
            </a:r>
          </a:p>
        </p:txBody>
      </p:sp>
      <p:sp>
        <p:nvSpPr>
          <p:cNvPr id="112" name="Shape 112"/>
          <p:cNvSpPr/>
          <p:nvPr/>
        </p:nvSpPr>
        <p:spPr>
          <a:xfrm>
            <a:off x="7901480" y="6286498"/>
            <a:ext cx="297942"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t>4</a:t>
            </a:r>
          </a:p>
        </p:txBody>
      </p:sp>
      <p:sp>
        <p:nvSpPr>
          <p:cNvPr id="113" name="Shape 113"/>
          <p:cNvSpPr/>
          <p:nvPr/>
        </p:nvSpPr>
        <p:spPr>
          <a:xfrm flipH="1" flipV="1">
            <a:off x="11010515" y="6997003"/>
            <a:ext cx="131750" cy="1753496"/>
          </a:xfrm>
          <a:prstGeom prst="line">
            <a:avLst/>
          </a:prstGeom>
          <a:ln w="25400">
            <a:solidFill>
              <a:srgbClr val="000000"/>
            </a:solidFill>
            <a:miter lim="400000"/>
            <a:tailEnd type="triangle"/>
          </a:ln>
        </p:spPr>
        <p:txBody>
          <a:bodyPr lIns="50800" tIns="50800" rIns="50800" bIns="50800" anchor="ctr"/>
          <a:lstStyle/>
          <a:p>
            <a:pPr>
              <a:lnSpc>
                <a:spcPct val="100000"/>
              </a:lnSpc>
              <a:defRPr sz="2400" b="0">
                <a:latin typeface="+mn-lt"/>
                <a:ea typeface="+mn-ea"/>
                <a:cs typeface="+mn-cs"/>
                <a:sym typeface="Helvetica Light"/>
              </a:defRPr>
            </a:pPr>
            <a:endParaRPr/>
          </a:p>
        </p:txBody>
      </p:sp>
      <p:sp>
        <p:nvSpPr>
          <p:cNvPr id="114" name="Shape 114"/>
          <p:cNvSpPr/>
          <p:nvPr/>
        </p:nvSpPr>
        <p:spPr>
          <a:xfrm>
            <a:off x="10553507" y="8629649"/>
            <a:ext cx="1145370" cy="4953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defRPr b="0"/>
            </a:pPr>
            <a:r>
              <a:rPr i="1"/>
              <a:t>v</a:t>
            </a:r>
            <a:r>
              <a:rPr baseline="-5999"/>
              <a:t>4,4</a:t>
            </a:r>
            <a:r>
              <a:t> = 0</a:t>
            </a:r>
          </a:p>
        </p:txBody>
      </p:sp>
      <p:sp>
        <p:nvSpPr>
          <p:cNvPr id="115" name="Shape 115"/>
          <p:cNvSpPr/>
          <p:nvPr/>
        </p:nvSpPr>
        <p:spPr>
          <a:xfrm flipV="1">
            <a:off x="8132365" y="7797799"/>
            <a:ext cx="541736" cy="952700"/>
          </a:xfrm>
          <a:prstGeom prst="line">
            <a:avLst/>
          </a:prstGeom>
          <a:ln w="25400">
            <a:solidFill>
              <a:srgbClr val="000000"/>
            </a:solidFill>
            <a:miter lim="400000"/>
            <a:tailEnd type="triangle"/>
          </a:ln>
        </p:spPr>
        <p:txBody>
          <a:bodyPr lIns="50800" tIns="50800" rIns="50800" bIns="50800" anchor="ctr"/>
          <a:lstStyle/>
          <a:p>
            <a:pPr>
              <a:lnSpc>
                <a:spcPct val="100000"/>
              </a:lnSpc>
              <a:defRPr sz="2400" b="0">
                <a:latin typeface="+mn-lt"/>
                <a:ea typeface="+mn-ea"/>
                <a:cs typeface="+mn-cs"/>
                <a:sym typeface="Helvetica Light"/>
              </a:defRPr>
            </a:pPr>
            <a:endParaRPr/>
          </a:p>
        </p:txBody>
      </p:sp>
      <p:sp>
        <p:nvSpPr>
          <p:cNvPr id="116" name="Shape 116"/>
          <p:cNvSpPr/>
          <p:nvPr/>
        </p:nvSpPr>
        <p:spPr>
          <a:xfrm>
            <a:off x="7493219" y="8645954"/>
            <a:ext cx="1144545" cy="46269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defRPr b="0"/>
            </a:pPr>
            <a:r>
              <a:rPr i="1" dirty="0"/>
              <a:t>v</a:t>
            </a:r>
            <a:r>
              <a:rPr lang="en-US" baseline="-5999" dirty="0"/>
              <a:t>5</a:t>
            </a:r>
            <a:r>
              <a:rPr baseline="-5999" dirty="0"/>
              <a:t>,</a:t>
            </a:r>
            <a:r>
              <a:rPr lang="en-US" baseline="-5999" dirty="0"/>
              <a:t>1</a:t>
            </a:r>
            <a:r>
              <a:rPr dirty="0"/>
              <a:t> = 1</a:t>
            </a:r>
          </a:p>
        </p:txBody>
      </p:sp>
      <p:sp>
        <p:nvSpPr>
          <p:cNvPr id="117" name="Shape 117"/>
          <p:cNvSpPr/>
          <p:nvPr/>
        </p:nvSpPr>
        <p:spPr>
          <a:xfrm>
            <a:off x="10718800" y="2073704"/>
            <a:ext cx="1423468" cy="46269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pPr>
              <a:defRPr b="0"/>
            </a:pPr>
            <a:r>
              <a:rPr i="1" dirty="0"/>
              <a:t>v</a:t>
            </a:r>
            <a:r>
              <a:rPr lang="en-US" baseline="-5999" dirty="0"/>
              <a:t>2</a:t>
            </a:r>
            <a:r>
              <a:rPr baseline="-5999" dirty="0"/>
              <a:t>,</a:t>
            </a:r>
            <a:r>
              <a:rPr lang="en-US" baseline="-5999" dirty="0"/>
              <a:t>5</a:t>
            </a:r>
            <a:r>
              <a:rPr dirty="0"/>
              <a:t> = 0.5</a:t>
            </a:r>
          </a:p>
        </p:txBody>
      </p:sp>
      <p:sp>
        <p:nvSpPr>
          <p:cNvPr id="118" name="Shape 118"/>
          <p:cNvSpPr/>
          <p:nvPr/>
        </p:nvSpPr>
        <p:spPr>
          <a:xfrm>
            <a:off x="12168790" y="2396484"/>
            <a:ext cx="680982" cy="2526966"/>
          </a:xfrm>
          <a:custGeom>
            <a:avLst/>
            <a:gdLst/>
            <a:ahLst/>
            <a:cxnLst>
              <a:cxn ang="0">
                <a:pos x="wd2" y="hd2"/>
              </a:cxn>
              <a:cxn ang="5400000">
                <a:pos x="wd2" y="hd2"/>
              </a:cxn>
              <a:cxn ang="10800000">
                <a:pos x="wd2" y="hd2"/>
              </a:cxn>
              <a:cxn ang="16200000">
                <a:pos x="wd2" y="hd2"/>
              </a:cxn>
            </a:cxnLst>
            <a:rect l="0" t="0" r="r" b="b"/>
            <a:pathLst>
              <a:path w="17128" h="21600" extrusionOk="0">
                <a:moveTo>
                  <a:pt x="1278" y="0"/>
                </a:moveTo>
                <a:cubicBezTo>
                  <a:pt x="17491" y="4781"/>
                  <a:pt x="21600" y="11227"/>
                  <a:pt x="12058" y="16911"/>
                </a:cubicBezTo>
                <a:cubicBezTo>
                  <a:pt x="9187" y="18621"/>
                  <a:pt x="5111" y="20206"/>
                  <a:pt x="0" y="21600"/>
                </a:cubicBezTo>
              </a:path>
            </a:pathLst>
          </a:custGeom>
          <a:ln w="25400">
            <a:solidFill>
              <a:srgbClr val="000000"/>
            </a:solidFill>
            <a:miter lim="400000"/>
            <a:tailEnd type="triangle"/>
          </a:ln>
        </p:spPr>
        <p:txBody>
          <a:bodyPr lIns="50800" tIns="50800" rIns="50800" bIns="50800" anchor="ctr"/>
          <a:lstStyle/>
          <a:p>
            <a:pPr>
              <a:lnSpc>
                <a:spcPct val="100000"/>
              </a:lnSpc>
              <a:defRPr sz="2400" b="0">
                <a:latin typeface="+mn-lt"/>
                <a:ea typeface="+mn-ea"/>
                <a:cs typeface="+mn-cs"/>
                <a:sym typeface="Helvetica Light"/>
              </a:defRPr>
            </a:pPr>
            <a:endParaRPr/>
          </a:p>
        </p:txBody>
      </p:sp>
      <p:sp>
        <p:nvSpPr>
          <p:cNvPr id="45" name="Shape 103"/>
          <p:cNvSpPr/>
          <p:nvPr/>
        </p:nvSpPr>
        <p:spPr>
          <a:xfrm>
            <a:off x="7925316" y="6997003"/>
            <a:ext cx="288541" cy="46269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p>
            <a:r>
              <a:rPr lang="en-US" dirty="0"/>
              <a:t>5</a:t>
            </a:r>
            <a:endParaRPr dirty="0"/>
          </a:p>
        </p:txBody>
      </p:sp>
      <p:sp>
        <p:nvSpPr>
          <p:cNvPr id="50" name="TextBox 49"/>
          <p:cNvSpPr txBox="1"/>
          <p:nvPr/>
        </p:nvSpPr>
        <p:spPr>
          <a:xfrm>
            <a:off x="6981053" y="3850929"/>
            <a:ext cx="994679" cy="452432"/>
          </a:xfrm>
          <a:prstGeom prst="rect">
            <a:avLst/>
          </a:prstGeom>
          <a:noFill/>
        </p:spPr>
        <p:txBody>
          <a:bodyPr wrap="square" rtlCol="0">
            <a:spAutoFit/>
          </a:bodyPr>
          <a:lstStyle/>
          <a:p>
            <a:r>
              <a:rPr lang="en-US" b="1" dirty="0"/>
              <a:t>row</a:t>
            </a:r>
          </a:p>
        </p:txBody>
      </p:sp>
      <p:sp>
        <p:nvSpPr>
          <p:cNvPr id="51" name="TextBox 50"/>
          <p:cNvSpPr txBox="1"/>
          <p:nvPr/>
        </p:nvSpPr>
        <p:spPr>
          <a:xfrm>
            <a:off x="7448341" y="2548821"/>
            <a:ext cx="1948693" cy="452432"/>
          </a:xfrm>
          <a:prstGeom prst="rect">
            <a:avLst/>
          </a:prstGeom>
          <a:noFill/>
        </p:spPr>
        <p:txBody>
          <a:bodyPr wrap="square" rtlCol="0">
            <a:spAutoFit/>
          </a:bodyPr>
          <a:lstStyle/>
          <a:p>
            <a:r>
              <a:rPr lang="en-US" b="1" dirty="0"/>
              <a:t>column</a:t>
            </a:r>
          </a:p>
        </p:txBody>
      </p:sp>
      <p:cxnSp>
        <p:nvCxnSpPr>
          <p:cNvPr id="52" name="Straight Arrow Connector 51"/>
          <p:cNvCxnSpPr/>
          <p:nvPr/>
        </p:nvCxnSpPr>
        <p:spPr>
          <a:xfrm>
            <a:off x="7509858" y="4529577"/>
            <a:ext cx="18798" cy="3153923"/>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9230567" y="2748254"/>
            <a:ext cx="3059952" cy="1842"/>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title"/>
          </p:nvPr>
        </p:nvSpPr>
        <p:spPr>
          <a:prstGeom prst="rect">
            <a:avLst/>
          </a:prstGeom>
        </p:spPr>
        <p:txBody>
          <a:bodyPr/>
          <a:lstStyle/>
          <a:p>
            <a:r>
              <a:rPr lang="en-US" dirty="0" err="1"/>
              <a:t>Matlab</a:t>
            </a:r>
            <a:r>
              <a:rPr lang="en-US" dirty="0"/>
              <a:t>: simple image</a:t>
            </a:r>
            <a:endParaRPr dirty="0"/>
          </a:p>
        </p:txBody>
      </p:sp>
      <p:sp>
        <p:nvSpPr>
          <p:cNvPr id="4" name="Rectangle 3"/>
          <p:cNvSpPr/>
          <p:nvPr/>
        </p:nvSpPr>
        <p:spPr>
          <a:xfrm>
            <a:off x="437232" y="2603500"/>
            <a:ext cx="6488862" cy="4906251"/>
          </a:xfrm>
          <a:prstGeom prst="rect">
            <a:avLst/>
          </a:prstGeom>
        </p:spPr>
        <p:txBody>
          <a:bodyPr wrap="square">
            <a:spAutoFit/>
          </a:bodyPr>
          <a:lstStyle/>
          <a:p>
            <a:pPr algn="l"/>
            <a:r>
              <a:rPr lang="en-US" sz="2000" b="0" dirty="0">
                <a:latin typeface="courier" charset="0"/>
              </a:rPr>
              <a:t>clear </a:t>
            </a:r>
            <a:r>
              <a:rPr lang="en-US" sz="2000" b="0" dirty="0">
                <a:solidFill>
                  <a:srgbClr val="A020F0"/>
                </a:solidFill>
                <a:latin typeface="courier" charset="0"/>
              </a:rPr>
              <a:t>all</a:t>
            </a:r>
            <a:r>
              <a:rPr lang="en-US" sz="2000" b="0" dirty="0">
                <a:latin typeface="courier" charset="0"/>
              </a:rPr>
              <a:t>;</a:t>
            </a:r>
          </a:p>
          <a:p>
            <a:pPr algn="l"/>
            <a:r>
              <a:rPr lang="en-US" sz="2000" b="0" dirty="0">
                <a:latin typeface="courier" charset="0"/>
              </a:rPr>
              <a:t>close </a:t>
            </a:r>
            <a:r>
              <a:rPr lang="en-US" sz="2000" b="0" dirty="0">
                <a:solidFill>
                  <a:srgbClr val="A020F0"/>
                </a:solidFill>
                <a:latin typeface="courier" charset="0"/>
              </a:rPr>
              <a:t>all</a:t>
            </a:r>
            <a:r>
              <a:rPr lang="en-US" sz="2000" b="0" dirty="0">
                <a:latin typeface="courier" charset="0"/>
              </a:rPr>
              <a:t>;</a:t>
            </a:r>
          </a:p>
          <a:p>
            <a:pPr algn="l"/>
            <a:r>
              <a:rPr lang="en-US" sz="2000" b="0" dirty="0">
                <a:latin typeface="courier" charset="0"/>
              </a:rPr>
              <a:t> </a:t>
            </a:r>
          </a:p>
          <a:p>
            <a:pPr algn="l"/>
            <a:r>
              <a:rPr lang="mr-IN" sz="2000" b="0" dirty="0" err="1">
                <a:latin typeface="courier" charset="0"/>
              </a:rPr>
              <a:t>N</a:t>
            </a:r>
            <a:r>
              <a:rPr lang="mr-IN" sz="2000" b="0" dirty="0">
                <a:latin typeface="courier" charset="0"/>
              </a:rPr>
              <a:t> = 5; </a:t>
            </a:r>
          </a:p>
          <a:p>
            <a:pPr algn="l"/>
            <a:r>
              <a:rPr lang="mr-IN" sz="2000" b="0" dirty="0">
                <a:latin typeface="courier" charset="0"/>
              </a:rPr>
              <a:t> </a:t>
            </a:r>
          </a:p>
          <a:p>
            <a:pPr algn="l"/>
            <a:r>
              <a:rPr lang="mr-IN" sz="2000" b="0" dirty="0">
                <a:latin typeface="courier" charset="0"/>
              </a:rPr>
              <a:t>V = </a:t>
            </a:r>
            <a:r>
              <a:rPr lang="mr-IN" sz="2000" b="0" dirty="0" err="1">
                <a:latin typeface="courier" charset="0"/>
              </a:rPr>
              <a:t>eye</a:t>
            </a:r>
            <a:r>
              <a:rPr lang="mr-IN" sz="2000" b="0" dirty="0">
                <a:latin typeface="courier" charset="0"/>
              </a:rPr>
              <a:t>(</a:t>
            </a:r>
            <a:r>
              <a:rPr lang="mr-IN" sz="2000" b="0" dirty="0" err="1">
                <a:latin typeface="courier" charset="0"/>
              </a:rPr>
              <a:t>N</a:t>
            </a:r>
            <a:r>
              <a:rPr lang="mr-IN" sz="2000" b="0" dirty="0">
                <a:latin typeface="courier" charset="0"/>
              </a:rPr>
              <a:t>);</a:t>
            </a:r>
          </a:p>
          <a:p>
            <a:pPr algn="l"/>
            <a:r>
              <a:rPr lang="mr-IN" sz="2000" b="0" dirty="0">
                <a:latin typeface="courier" charset="0"/>
              </a:rPr>
              <a:t> </a:t>
            </a:r>
          </a:p>
          <a:p>
            <a:pPr algn="l"/>
            <a:r>
              <a:rPr lang="en-US" sz="2000" b="0" dirty="0">
                <a:solidFill>
                  <a:srgbClr val="228B22"/>
                </a:solidFill>
                <a:latin typeface="courier" charset="0"/>
              </a:rPr>
              <a:t>%identity matrix: </a:t>
            </a:r>
          </a:p>
          <a:p>
            <a:pPr algn="l"/>
            <a:r>
              <a:rPr lang="en-US" sz="2000" b="0" dirty="0">
                <a:solidFill>
                  <a:srgbClr val="228B22"/>
                </a:solidFill>
                <a:latin typeface="courier" charset="0"/>
              </a:rPr>
              <a:t>%1 = white, 0 = black</a:t>
            </a:r>
          </a:p>
          <a:p>
            <a:pPr algn="l"/>
            <a:r>
              <a:rPr lang="en-US" sz="2000" b="0" dirty="0" err="1">
                <a:latin typeface="courier" charset="0"/>
              </a:rPr>
              <a:t>imshow</a:t>
            </a:r>
            <a:r>
              <a:rPr lang="en-US" sz="2000" b="0" dirty="0">
                <a:latin typeface="courier" charset="0"/>
              </a:rPr>
              <a:t>(V, </a:t>
            </a:r>
            <a:r>
              <a:rPr lang="en-US" sz="2000" b="0" dirty="0">
                <a:solidFill>
                  <a:srgbClr val="A020F0"/>
                </a:solidFill>
                <a:latin typeface="courier" charset="0"/>
              </a:rPr>
              <a:t>'</a:t>
            </a:r>
            <a:r>
              <a:rPr lang="en-US" sz="2000" b="0" dirty="0" err="1">
                <a:solidFill>
                  <a:srgbClr val="A020F0"/>
                </a:solidFill>
                <a:latin typeface="courier" charset="0"/>
              </a:rPr>
              <a:t>InitialMagnification</a:t>
            </a:r>
            <a:r>
              <a:rPr lang="en-US" sz="2000" b="0" dirty="0">
                <a:solidFill>
                  <a:srgbClr val="A020F0"/>
                </a:solidFill>
                <a:latin typeface="courier" charset="0"/>
              </a:rPr>
              <a:t>'</a:t>
            </a:r>
            <a:r>
              <a:rPr lang="en-US" sz="2000" b="0" dirty="0">
                <a:latin typeface="courier" charset="0"/>
              </a:rPr>
              <a:t>, </a:t>
            </a:r>
            <a:r>
              <a:rPr lang="en-US" sz="2000" b="0" dirty="0">
                <a:solidFill>
                  <a:srgbClr val="A020F0"/>
                </a:solidFill>
                <a:latin typeface="courier" charset="0"/>
              </a:rPr>
              <a:t>'fit'</a:t>
            </a:r>
            <a:r>
              <a:rPr lang="en-US" sz="2000" b="0" dirty="0">
                <a:latin typeface="courier" charset="0"/>
              </a:rPr>
              <a:t>);</a:t>
            </a:r>
          </a:p>
          <a:p>
            <a:pPr algn="l"/>
            <a:r>
              <a:rPr lang="en-US" sz="2000" b="0" dirty="0" err="1">
                <a:latin typeface="courier" charset="0"/>
              </a:rPr>
              <a:t>colorbar</a:t>
            </a:r>
            <a:endParaRPr lang="en-US" sz="2000" b="0" dirty="0">
              <a:latin typeface="courier" charset="0"/>
            </a:endParaRPr>
          </a:p>
          <a:p>
            <a:pPr algn="l"/>
            <a:r>
              <a:rPr lang="en-US" sz="2000" b="0" dirty="0">
                <a:latin typeface="courier" charset="0"/>
              </a:rPr>
              <a:t> </a:t>
            </a:r>
          </a:p>
          <a:p>
            <a:pPr algn="l"/>
            <a:r>
              <a:rPr lang="en-US" sz="2000" b="0" dirty="0">
                <a:solidFill>
                  <a:srgbClr val="228B22"/>
                </a:solidFill>
                <a:latin typeface="courier" charset="0"/>
              </a:rPr>
              <a:t>%change element (2,5) to gray</a:t>
            </a:r>
          </a:p>
          <a:p>
            <a:pPr algn="l"/>
            <a:r>
              <a:rPr lang="mr-IN" sz="2000" b="0" dirty="0">
                <a:latin typeface="courier" charset="0"/>
              </a:rPr>
              <a:t>V(2,5) = .5;</a:t>
            </a:r>
          </a:p>
          <a:p>
            <a:pPr algn="l"/>
            <a:r>
              <a:rPr lang="mr-IN" sz="2000" b="0" dirty="0">
                <a:latin typeface="courier" charset="0"/>
              </a:rPr>
              <a:t> </a:t>
            </a:r>
          </a:p>
          <a:p>
            <a:pPr algn="l"/>
            <a:r>
              <a:rPr lang="en-US" sz="2000" b="0" dirty="0" err="1">
                <a:latin typeface="courier" charset="0"/>
              </a:rPr>
              <a:t>imshow</a:t>
            </a:r>
            <a:r>
              <a:rPr lang="en-US" sz="2000" b="0" dirty="0">
                <a:latin typeface="courier" charset="0"/>
              </a:rPr>
              <a:t>(V, </a:t>
            </a:r>
            <a:r>
              <a:rPr lang="en-US" sz="2000" b="0" dirty="0">
                <a:solidFill>
                  <a:srgbClr val="A020F0"/>
                </a:solidFill>
                <a:latin typeface="courier" charset="0"/>
              </a:rPr>
              <a:t>'</a:t>
            </a:r>
            <a:r>
              <a:rPr lang="en-US" sz="2000" b="0" dirty="0" err="1">
                <a:solidFill>
                  <a:srgbClr val="A020F0"/>
                </a:solidFill>
                <a:latin typeface="courier" charset="0"/>
              </a:rPr>
              <a:t>InitialMagnification</a:t>
            </a:r>
            <a:r>
              <a:rPr lang="en-US" sz="2000" b="0" dirty="0">
                <a:solidFill>
                  <a:srgbClr val="A020F0"/>
                </a:solidFill>
                <a:latin typeface="courier" charset="0"/>
              </a:rPr>
              <a:t>'</a:t>
            </a:r>
            <a:r>
              <a:rPr lang="en-US" sz="2000" b="0" dirty="0">
                <a:latin typeface="courier" charset="0"/>
              </a:rPr>
              <a:t>, </a:t>
            </a:r>
            <a:r>
              <a:rPr lang="en-US" sz="2000" b="0" dirty="0">
                <a:solidFill>
                  <a:srgbClr val="A020F0"/>
                </a:solidFill>
                <a:latin typeface="courier" charset="0"/>
              </a:rPr>
              <a:t>'fit'</a:t>
            </a:r>
            <a:r>
              <a:rPr lang="en-US" sz="2000" b="0" dirty="0">
                <a:latin typeface="courier" charset="0"/>
              </a:rPr>
              <a:t>);</a:t>
            </a:r>
          </a:p>
          <a:p>
            <a:pPr algn="l"/>
            <a:r>
              <a:rPr lang="en-US" sz="2000" b="0" dirty="0" err="1">
                <a:latin typeface="courier" charset="0"/>
              </a:rPr>
              <a:t>colorbar</a:t>
            </a:r>
            <a:r>
              <a:rPr lang="en-US" sz="2000" b="0" dirty="0">
                <a:latin typeface="courier" charset="0"/>
              </a:rPr>
              <a:t>(</a:t>
            </a:r>
            <a:r>
              <a:rPr lang="en-US" sz="2000" b="0" dirty="0">
                <a:solidFill>
                  <a:srgbClr val="A020F0"/>
                </a:solidFill>
                <a:latin typeface="courier" charset="0"/>
              </a:rPr>
              <a:t>'</a:t>
            </a:r>
            <a:r>
              <a:rPr lang="en-US" sz="2000" b="0" dirty="0" err="1">
                <a:solidFill>
                  <a:srgbClr val="A020F0"/>
                </a:solidFill>
                <a:latin typeface="courier" charset="0"/>
              </a:rPr>
              <a:t>southoutside</a:t>
            </a:r>
            <a:r>
              <a:rPr lang="en-US" sz="2000" b="0" dirty="0">
                <a:solidFill>
                  <a:srgbClr val="A020F0"/>
                </a:solidFill>
                <a:latin typeface="courier" charset="0"/>
              </a:rPr>
              <a:t>'</a:t>
            </a:r>
            <a:r>
              <a:rPr lang="en-US" sz="2000" b="0" dirty="0">
                <a:latin typeface="courier" charset="0"/>
              </a:rPr>
              <a:t>, </a:t>
            </a:r>
            <a:r>
              <a:rPr lang="en-US" sz="2000" b="0" dirty="0">
                <a:solidFill>
                  <a:srgbClr val="A020F0"/>
                </a:solidFill>
                <a:latin typeface="courier" charset="0"/>
              </a:rPr>
              <a:t>'</a:t>
            </a:r>
            <a:r>
              <a:rPr lang="en-US" sz="2000" b="0" dirty="0" err="1">
                <a:solidFill>
                  <a:srgbClr val="A020F0"/>
                </a:solidFill>
                <a:latin typeface="courier" charset="0"/>
              </a:rPr>
              <a:t>Fontsize</a:t>
            </a:r>
            <a:r>
              <a:rPr lang="en-US" sz="2000" b="0" dirty="0">
                <a:solidFill>
                  <a:srgbClr val="A020F0"/>
                </a:solidFill>
                <a:latin typeface="courier" charset="0"/>
              </a:rPr>
              <a:t>'</a:t>
            </a:r>
            <a:r>
              <a:rPr lang="en-US" sz="2000" b="0" dirty="0">
                <a:latin typeface="courier" charset="0"/>
              </a:rPr>
              <a:t>, 15);</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24873" r="20812"/>
          <a:stretch/>
        </p:blipFill>
        <p:spPr>
          <a:xfrm>
            <a:off x="7498871" y="2179664"/>
            <a:ext cx="5068697" cy="6999063"/>
          </a:xfrm>
          <a:prstGeom prst="rect">
            <a:avLst/>
          </a:prstGeom>
        </p:spPr>
      </p:pic>
    </p:spTree>
    <p:extLst>
      <p:ext uri="{BB962C8B-B14F-4D97-AF65-F5344CB8AC3E}">
        <p14:creationId xmlns:p14="http://schemas.microsoft.com/office/powerpoint/2010/main" val="145316843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title"/>
          </p:nvPr>
        </p:nvSpPr>
        <p:spPr>
          <a:prstGeom prst="rect">
            <a:avLst/>
          </a:prstGeom>
        </p:spPr>
        <p:txBody>
          <a:bodyPr/>
          <a:lstStyle/>
          <a:p>
            <a:r>
              <a:rPr lang="en-US" dirty="0" err="1"/>
              <a:t>Matlab</a:t>
            </a:r>
            <a:r>
              <a:rPr lang="en-US" dirty="0"/>
              <a:t>: simple image </a:t>
            </a:r>
            <a:endParaRPr dirty="0"/>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24873" r="20812"/>
          <a:stretch/>
        </p:blipFill>
        <p:spPr>
          <a:xfrm>
            <a:off x="7343231" y="2743867"/>
            <a:ext cx="5068697" cy="6999063"/>
          </a:xfrm>
          <a:prstGeom prst="rect">
            <a:avLst/>
          </a:prstGeom>
        </p:spPr>
      </p:pic>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2727" t="2732" b="5466"/>
          <a:stretch/>
        </p:blipFill>
        <p:spPr>
          <a:xfrm>
            <a:off x="1254358" y="3186822"/>
            <a:ext cx="4289447" cy="3268494"/>
          </a:xfrm>
          <a:prstGeom prst="rect">
            <a:avLst/>
          </a:prstGeom>
          <a:ln w="38100">
            <a:solidFill>
              <a:schemeClr val="tx1"/>
            </a:solidFill>
          </a:ln>
        </p:spPr>
      </p:pic>
      <p:sp>
        <p:nvSpPr>
          <p:cNvPr id="11" name="Rectangle 10"/>
          <p:cNvSpPr/>
          <p:nvPr/>
        </p:nvSpPr>
        <p:spPr>
          <a:xfrm>
            <a:off x="8404701" y="3186822"/>
            <a:ext cx="2859932" cy="2805415"/>
          </a:xfrm>
          <a:prstGeom prst="rect">
            <a:avLst/>
          </a:prstGeom>
          <a:noFill/>
          <a:ln w="73025" cmpd="sng">
            <a:solidFill>
              <a:srgbClr val="FF000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p:cNvSpPr txBox="1"/>
          <p:nvPr/>
        </p:nvSpPr>
        <p:spPr>
          <a:xfrm>
            <a:off x="6445165" y="3253217"/>
            <a:ext cx="994679" cy="452432"/>
          </a:xfrm>
          <a:prstGeom prst="rect">
            <a:avLst/>
          </a:prstGeom>
          <a:noFill/>
        </p:spPr>
        <p:txBody>
          <a:bodyPr wrap="square" rtlCol="0">
            <a:spAutoFit/>
          </a:bodyPr>
          <a:lstStyle/>
          <a:p>
            <a:r>
              <a:rPr lang="en-US" b="1" dirty="0"/>
              <a:t>row</a:t>
            </a:r>
          </a:p>
        </p:txBody>
      </p:sp>
      <p:sp>
        <p:nvSpPr>
          <p:cNvPr id="13" name="TextBox 12"/>
          <p:cNvSpPr txBox="1"/>
          <p:nvPr/>
        </p:nvSpPr>
        <p:spPr>
          <a:xfrm>
            <a:off x="6942505" y="2715271"/>
            <a:ext cx="1948693" cy="452432"/>
          </a:xfrm>
          <a:prstGeom prst="rect">
            <a:avLst/>
          </a:prstGeom>
          <a:noFill/>
        </p:spPr>
        <p:txBody>
          <a:bodyPr wrap="square" rtlCol="0">
            <a:spAutoFit/>
          </a:bodyPr>
          <a:lstStyle/>
          <a:p>
            <a:r>
              <a:rPr lang="en-US" b="1" dirty="0"/>
              <a:t>column</a:t>
            </a:r>
          </a:p>
        </p:txBody>
      </p:sp>
      <p:cxnSp>
        <p:nvCxnSpPr>
          <p:cNvPr id="14" name="Straight Arrow Connector 13"/>
          <p:cNvCxnSpPr/>
          <p:nvPr/>
        </p:nvCxnSpPr>
        <p:spPr>
          <a:xfrm>
            <a:off x="6945656" y="3859448"/>
            <a:ext cx="18798" cy="3153923"/>
          </a:xfrm>
          <a:prstGeom prst="straightConnector1">
            <a:avLst/>
          </a:prstGeom>
          <a:ln w="38100">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8724731" y="2914704"/>
            <a:ext cx="3059952" cy="1842"/>
          </a:xfrm>
          <a:prstGeom prst="straightConnector1">
            <a:avLst/>
          </a:prstGeom>
          <a:ln w="38100">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193105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title"/>
          </p:nvPr>
        </p:nvSpPr>
        <p:spPr>
          <a:prstGeom prst="rect">
            <a:avLst/>
          </a:prstGeom>
        </p:spPr>
        <p:txBody>
          <a:bodyPr/>
          <a:lstStyle/>
          <a:p>
            <a:r>
              <a:rPr lang="en-US" dirty="0"/>
              <a:t>Real images</a:t>
            </a:r>
            <a:endParaRPr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2387600"/>
            <a:ext cx="7971428" cy="4975714"/>
          </a:xfrm>
          <a:prstGeom prst="rect">
            <a:avLst/>
          </a:prstGeom>
        </p:spPr>
      </p:pic>
      <p:sp>
        <p:nvSpPr>
          <p:cNvPr id="8" name="Rectangle 7"/>
          <p:cNvSpPr/>
          <p:nvPr/>
        </p:nvSpPr>
        <p:spPr>
          <a:xfrm>
            <a:off x="437232" y="7591574"/>
            <a:ext cx="12261518" cy="480131"/>
          </a:xfrm>
          <a:prstGeom prst="rect">
            <a:avLst/>
          </a:prstGeom>
        </p:spPr>
        <p:txBody>
          <a:bodyPr wrap="square">
            <a:spAutoFit/>
          </a:bodyPr>
          <a:lstStyle/>
          <a:p>
            <a:r>
              <a:rPr lang="en-US" sz="1400" dirty="0">
                <a:hlinkClick r:id="rId3"/>
              </a:rPr>
              <a:t>http://www.telegraph.co.uk/news/newstopics/howaboutthat/11963318/Uber-delivers-cute-kittens-to-stressed-workers-on-National-Cat-Day.html</a:t>
            </a:r>
            <a:endParaRPr lang="en-US" sz="1400" dirty="0"/>
          </a:p>
          <a:p>
            <a:endParaRPr lang="en-US" sz="1400" dirty="0"/>
          </a:p>
        </p:txBody>
      </p:sp>
    </p:spTree>
    <p:extLst>
      <p:ext uri="{BB962C8B-B14F-4D97-AF65-F5344CB8AC3E}">
        <p14:creationId xmlns:p14="http://schemas.microsoft.com/office/powerpoint/2010/main" val="1627099184"/>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66473" y="7951977"/>
            <a:ext cx="11626902" cy="486223"/>
          </a:xfrm>
          <a:prstGeom prst="rect">
            <a:avLst/>
          </a:prstGeom>
          <a:noFill/>
        </p:spPr>
        <p:txBody>
          <a:bodyPr wrap="none" rtlCol="0">
            <a:spAutoFit/>
          </a:bodyPr>
          <a:lstStyle/>
          <a:p>
            <a:r>
              <a:rPr lang="en-US" sz="2844" dirty="0"/>
              <a:t>Kitten is a 387 by 620 by 3 matrix (the third dimension is for color)</a:t>
            </a:r>
          </a:p>
        </p:txBody>
      </p:sp>
      <p:sp>
        <p:nvSpPr>
          <p:cNvPr id="12" name="Shape 76"/>
          <p:cNvSpPr>
            <a:spLocks noGrp="1"/>
          </p:cNvSpPr>
          <p:nvPr>
            <p:ph type="title"/>
          </p:nvPr>
        </p:nvSpPr>
        <p:spPr>
          <a:xfrm>
            <a:off x="437232" y="-69665"/>
            <a:ext cx="12130336" cy="2159000"/>
          </a:xfrm>
          <a:prstGeom prst="rect">
            <a:avLst/>
          </a:prstGeom>
        </p:spPr>
        <p:txBody>
          <a:bodyPr/>
          <a:lstStyle/>
          <a:p>
            <a:r>
              <a:rPr lang="en-US" dirty="0"/>
              <a:t>Kitten in </a:t>
            </a:r>
            <a:r>
              <a:rPr lang="en-US" dirty="0" err="1"/>
              <a:t>Matlab</a:t>
            </a:r>
            <a:endParaRPr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710" y="6226483"/>
            <a:ext cx="7016753" cy="1553938"/>
          </a:xfrm>
          <a:prstGeom prst="rect">
            <a:avLst/>
          </a:prstGeom>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1455" r="11323" b="15155"/>
          <a:stretch/>
        </p:blipFill>
        <p:spPr>
          <a:xfrm>
            <a:off x="939799" y="1675291"/>
            <a:ext cx="5470358" cy="3709737"/>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1699" y="2039945"/>
            <a:ext cx="4234447" cy="3005091"/>
          </a:xfrm>
          <a:prstGeom prst="rect">
            <a:avLst/>
          </a:prstGeom>
        </p:spPr>
      </p:pic>
      <p:sp>
        <p:nvSpPr>
          <p:cNvPr id="5" name="Rectangle 4"/>
          <p:cNvSpPr/>
          <p:nvPr/>
        </p:nvSpPr>
        <p:spPr>
          <a:xfrm>
            <a:off x="651710" y="5574796"/>
            <a:ext cx="12101095" cy="480131"/>
          </a:xfrm>
          <a:prstGeom prst="rect">
            <a:avLst/>
          </a:prstGeom>
        </p:spPr>
        <p:txBody>
          <a:bodyPr wrap="square">
            <a:spAutoFit/>
          </a:bodyPr>
          <a:lstStyle/>
          <a:p>
            <a:pPr algn="l"/>
            <a:r>
              <a:rPr lang="en-US" sz="2800" dirty="0"/>
              <a:t>How big is the image?  Type </a:t>
            </a:r>
            <a:r>
              <a:rPr lang="en-US" sz="2800" dirty="0" err="1"/>
              <a:t>whos</a:t>
            </a:r>
            <a:r>
              <a:rPr lang="en-US" sz="2800" dirty="0"/>
              <a:t>.</a:t>
            </a:r>
          </a:p>
        </p:txBody>
      </p:sp>
    </p:spTree>
    <p:extLst>
      <p:ext uri="{BB962C8B-B14F-4D97-AF65-F5344CB8AC3E}">
        <p14:creationId xmlns:p14="http://schemas.microsoft.com/office/powerpoint/2010/main" val="1369762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782689" y="8006370"/>
            <a:ext cx="6375463" cy="486223"/>
          </a:xfrm>
          <a:prstGeom prst="rect">
            <a:avLst/>
          </a:prstGeom>
          <a:noFill/>
        </p:spPr>
        <p:txBody>
          <a:bodyPr wrap="none" rtlCol="0">
            <a:spAutoFit/>
          </a:bodyPr>
          <a:lstStyle/>
          <a:p>
            <a:r>
              <a:rPr lang="en-US" sz="2844" dirty="0"/>
              <a:t>Black </a:t>
            </a:r>
            <a:r>
              <a:rPr lang="en-US" sz="2844"/>
              <a:t>and white kitten is 387 x 620 </a:t>
            </a:r>
            <a:endParaRPr lang="en-US" sz="2844" dirty="0"/>
          </a:p>
        </p:txBody>
      </p:sp>
      <p:sp>
        <p:nvSpPr>
          <p:cNvPr id="12" name="Shape 76"/>
          <p:cNvSpPr>
            <a:spLocks noGrp="1"/>
          </p:cNvSpPr>
          <p:nvPr>
            <p:ph type="title"/>
          </p:nvPr>
        </p:nvSpPr>
        <p:spPr>
          <a:xfrm>
            <a:off x="437232" y="-69665"/>
            <a:ext cx="12130336" cy="2159000"/>
          </a:xfrm>
          <a:prstGeom prst="rect">
            <a:avLst/>
          </a:prstGeom>
        </p:spPr>
        <p:txBody>
          <a:bodyPr/>
          <a:lstStyle/>
          <a:p>
            <a:r>
              <a:rPr lang="en-US" dirty="0"/>
              <a:t>Kitten in </a:t>
            </a:r>
            <a:r>
              <a:rPr lang="en-US" dirty="0" err="1"/>
              <a:t>Matlab</a:t>
            </a:r>
            <a:endParaRPr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2781" t="1041" r="12730" b="17197"/>
          <a:stretch/>
        </p:blipFill>
        <p:spPr>
          <a:xfrm>
            <a:off x="994610" y="1781897"/>
            <a:ext cx="5983706" cy="405387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5694" y="2089335"/>
            <a:ext cx="4302094" cy="1463783"/>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0231" y="6211350"/>
            <a:ext cx="6545180" cy="1419437"/>
          </a:xfrm>
          <a:prstGeom prst="rect">
            <a:avLst/>
          </a:prstGeom>
        </p:spPr>
      </p:pic>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l="20168" t="8574" r="20087" b="23514"/>
          <a:stretch/>
        </p:blipFill>
        <p:spPr>
          <a:xfrm>
            <a:off x="8337799" y="3783966"/>
            <a:ext cx="3148348" cy="2570081"/>
          </a:xfrm>
          <a:prstGeom prst="rect">
            <a:avLst/>
          </a:prstGeom>
        </p:spPr>
      </p:pic>
      <p:sp>
        <p:nvSpPr>
          <p:cNvPr id="10" name="Rectangle 9"/>
          <p:cNvSpPr/>
          <p:nvPr/>
        </p:nvSpPr>
        <p:spPr>
          <a:xfrm>
            <a:off x="3240505" y="2534654"/>
            <a:ext cx="2630906" cy="2212914"/>
          </a:xfrm>
          <a:prstGeom prst="rect">
            <a:avLst/>
          </a:prstGeom>
          <a:noFill/>
          <a:ln w="50800" cap="flat">
            <a:solidFill>
              <a:srgbClr val="FF0000"/>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FFFFFF"/>
              </a:solidFill>
              <a:effectLst/>
              <a:uFillTx/>
              <a:latin typeface="+mn-lt"/>
              <a:ea typeface="+mn-ea"/>
              <a:cs typeface="+mn-cs"/>
              <a:sym typeface="Helvetica Light"/>
            </a:endParaRPr>
          </a:p>
        </p:txBody>
      </p:sp>
      <p:cxnSp>
        <p:nvCxnSpPr>
          <p:cNvPr id="14" name="Straight Arrow Connector 13"/>
          <p:cNvCxnSpPr>
            <a:endCxn id="9" idx="1"/>
          </p:cNvCxnSpPr>
          <p:nvPr/>
        </p:nvCxnSpPr>
        <p:spPr>
          <a:xfrm>
            <a:off x="5871411" y="4159465"/>
            <a:ext cx="2466388" cy="909542"/>
          </a:xfrm>
          <a:prstGeom prst="straightConnector1">
            <a:avLst/>
          </a:prstGeom>
          <a:noFill/>
          <a:ln w="254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45294" y="6584895"/>
            <a:ext cx="4300380" cy="746347"/>
          </a:xfrm>
          <a:prstGeom prst="rect">
            <a:avLst/>
          </a:prstGeom>
        </p:spPr>
      </p:pic>
    </p:spTree>
    <p:extLst>
      <p:ext uri="{BB962C8B-B14F-4D97-AF65-F5344CB8AC3E}">
        <p14:creationId xmlns:p14="http://schemas.microsoft.com/office/powerpoint/2010/main" val="198864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1-03-01 at 10.20.40 PM.png"/>
          <p:cNvPicPr>
            <a:picLocks noChangeAspect="1"/>
          </p:cNvPicPr>
          <p:nvPr/>
        </p:nvPicPr>
        <p:blipFill rotWithShape="1">
          <a:blip r:embed="rId2">
            <a:extLst>
              <a:ext uri="{28A0092B-C50C-407E-A947-70E740481C1C}">
                <a14:useLocalDpi xmlns:a14="http://schemas.microsoft.com/office/drawing/2010/main" val="0"/>
              </a:ext>
            </a:extLst>
          </a:blip>
          <a:srcRect l="43969" t="38453" r="30031" b="25547"/>
          <a:stretch/>
        </p:blipFill>
        <p:spPr>
          <a:xfrm>
            <a:off x="1878473" y="5684543"/>
            <a:ext cx="3381248" cy="2926080"/>
          </a:xfrm>
          <a:prstGeom prst="rect">
            <a:avLst/>
          </a:prstGeom>
        </p:spPr>
      </p:pic>
      <p:pic>
        <p:nvPicPr>
          <p:cNvPr id="3" name="Picture 2" descr="fist.jpg"/>
          <p:cNvPicPr>
            <a:picLocks noChangeAspect="1"/>
          </p:cNvPicPr>
          <p:nvPr/>
        </p:nvPicPr>
        <p:blipFill rotWithShape="1">
          <a:blip r:embed="rId3">
            <a:extLst>
              <a:ext uri="{28A0092B-C50C-407E-A947-70E740481C1C}">
                <a14:useLocalDpi xmlns:a14="http://schemas.microsoft.com/office/drawing/2010/main" val="0"/>
              </a:ext>
            </a:extLst>
          </a:blip>
          <a:srcRect l="27068" t="12516" r="51548" b="66603"/>
          <a:stretch/>
        </p:blipFill>
        <p:spPr>
          <a:xfrm>
            <a:off x="1878472" y="1939641"/>
            <a:ext cx="2054810" cy="3017259"/>
          </a:xfrm>
          <a:prstGeom prst="rect">
            <a:avLst/>
          </a:prstGeom>
        </p:spPr>
      </p:pic>
      <p:pic>
        <p:nvPicPr>
          <p:cNvPr id="5" name="Picture 4" descr="obama1.jpg"/>
          <p:cNvPicPr>
            <a:picLocks noChangeAspect="1"/>
          </p:cNvPicPr>
          <p:nvPr/>
        </p:nvPicPr>
        <p:blipFill rotWithShape="1">
          <a:blip r:embed="rId4">
            <a:extLst>
              <a:ext uri="{28A0092B-C50C-407E-A947-70E740481C1C}">
                <a14:useLocalDpi xmlns:a14="http://schemas.microsoft.com/office/drawing/2010/main" val="0"/>
              </a:ext>
            </a:extLst>
          </a:blip>
          <a:srcRect l="15558" t="25164" r="32479" b="5350"/>
          <a:stretch/>
        </p:blipFill>
        <p:spPr>
          <a:xfrm>
            <a:off x="6540692" y="1939641"/>
            <a:ext cx="5631078" cy="5019853"/>
          </a:xfrm>
          <a:prstGeom prst="rect">
            <a:avLst/>
          </a:prstGeom>
        </p:spPr>
      </p:pic>
      <p:sp>
        <p:nvSpPr>
          <p:cNvPr id="6" name="Title 1"/>
          <p:cNvSpPr>
            <a:spLocks noGrp="1"/>
          </p:cNvSpPr>
          <p:nvPr>
            <p:ph type="title"/>
          </p:nvPr>
        </p:nvSpPr>
        <p:spPr>
          <a:xfrm>
            <a:off x="650240" y="390596"/>
            <a:ext cx="11704320" cy="1625600"/>
          </a:xfrm>
        </p:spPr>
        <p:txBody>
          <a:bodyPr>
            <a:normAutofit/>
          </a:bodyPr>
          <a:lstStyle/>
          <a:p>
            <a:r>
              <a:rPr lang="en-US" sz="5120" dirty="0"/>
              <a:t>Partial information: shadows</a:t>
            </a:r>
          </a:p>
        </p:txBody>
      </p:sp>
    </p:spTree>
    <p:extLst>
      <p:ext uri="{BB962C8B-B14F-4D97-AF65-F5344CB8AC3E}">
        <p14:creationId xmlns:p14="http://schemas.microsoft.com/office/powerpoint/2010/main" val="2132155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5406367" y="5214494"/>
            <a:ext cx="449161" cy="604524"/>
          </a:xfrm>
          <a:prstGeom prst="rect">
            <a:avLst/>
          </a:prstGeom>
          <a:noFill/>
        </p:spPr>
        <p:txBody>
          <a:bodyPr wrap="none" rtlCol="0">
            <a:spAutoFit/>
          </a:bodyPr>
          <a:lstStyle/>
          <a:p>
            <a:r>
              <a:rPr lang="en-US" sz="3698" dirty="0"/>
              <a:t>1</a:t>
            </a:r>
          </a:p>
        </p:txBody>
      </p:sp>
      <p:sp>
        <p:nvSpPr>
          <p:cNvPr id="31" name="TextBox 30"/>
          <p:cNvSpPr txBox="1"/>
          <p:nvPr/>
        </p:nvSpPr>
        <p:spPr>
          <a:xfrm>
            <a:off x="4751661" y="5193492"/>
            <a:ext cx="449161" cy="604524"/>
          </a:xfrm>
          <a:prstGeom prst="rect">
            <a:avLst/>
          </a:prstGeom>
          <a:noFill/>
        </p:spPr>
        <p:txBody>
          <a:bodyPr wrap="none" rtlCol="0">
            <a:spAutoFit/>
          </a:bodyPr>
          <a:lstStyle/>
          <a:p>
            <a:r>
              <a:rPr lang="en-US" sz="3698" dirty="0"/>
              <a:t>1</a:t>
            </a:r>
          </a:p>
        </p:txBody>
      </p:sp>
      <p:grpSp>
        <p:nvGrpSpPr>
          <p:cNvPr id="56" name="Group 55"/>
          <p:cNvGrpSpPr/>
          <p:nvPr/>
        </p:nvGrpSpPr>
        <p:grpSpPr>
          <a:xfrm>
            <a:off x="2197990" y="3078677"/>
            <a:ext cx="4982780" cy="2731311"/>
            <a:chOff x="1545461" y="2164694"/>
            <a:chExt cx="3503517" cy="1920453"/>
          </a:xfrm>
        </p:grpSpPr>
        <p:sp>
          <p:nvSpPr>
            <p:cNvPr id="29" name="TextBox 28"/>
            <p:cNvSpPr txBox="1"/>
            <p:nvPr/>
          </p:nvSpPr>
          <p:spPr>
            <a:xfrm>
              <a:off x="4272821" y="3657722"/>
              <a:ext cx="315816" cy="425056"/>
            </a:xfrm>
            <a:prstGeom prst="rect">
              <a:avLst/>
            </a:prstGeom>
            <a:noFill/>
          </p:spPr>
          <p:txBody>
            <a:bodyPr wrap="none" rtlCol="0">
              <a:spAutoFit/>
            </a:bodyPr>
            <a:lstStyle/>
            <a:p>
              <a:r>
                <a:rPr lang="en-US" sz="3698" dirty="0"/>
                <a:t>0</a:t>
              </a:r>
            </a:p>
          </p:txBody>
        </p:sp>
        <p:sp>
          <p:nvSpPr>
            <p:cNvPr id="32" name="TextBox 31"/>
            <p:cNvSpPr txBox="1"/>
            <p:nvPr/>
          </p:nvSpPr>
          <p:spPr>
            <a:xfrm>
              <a:off x="2002661" y="3647391"/>
              <a:ext cx="315816" cy="425056"/>
            </a:xfrm>
            <a:prstGeom prst="rect">
              <a:avLst/>
            </a:prstGeom>
            <a:noFill/>
          </p:spPr>
          <p:txBody>
            <a:bodyPr wrap="none" rtlCol="0">
              <a:spAutoFit/>
            </a:bodyPr>
            <a:lstStyle/>
            <a:p>
              <a:r>
                <a:rPr lang="en-US" sz="3698" dirty="0"/>
                <a:t>0</a:t>
              </a:r>
            </a:p>
          </p:txBody>
        </p:sp>
        <p:sp>
          <p:nvSpPr>
            <p:cNvPr id="34" name="Rectangle 33"/>
            <p:cNvSpPr/>
            <p:nvPr/>
          </p:nvSpPr>
          <p:spPr>
            <a:xfrm>
              <a:off x="2362200" y="2164694"/>
              <a:ext cx="1828800" cy="1841499"/>
            </a:xfrm>
            <a:prstGeom prst="rect">
              <a:avLst/>
            </a:prstGeom>
            <a:solidFill>
              <a:srgbClr val="0000FF">
                <a:alpha val="36000"/>
              </a:srgbClr>
            </a:solidFill>
            <a:ln>
              <a:solidFill>
                <a:srgbClr val="0000FF">
                  <a:alpha val="5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6" name="TextBox 35"/>
            <p:cNvSpPr txBox="1"/>
            <p:nvPr/>
          </p:nvSpPr>
          <p:spPr>
            <a:xfrm>
              <a:off x="1545461" y="3645324"/>
              <a:ext cx="315816" cy="425056"/>
            </a:xfrm>
            <a:prstGeom prst="rect">
              <a:avLst/>
            </a:prstGeom>
            <a:noFill/>
          </p:spPr>
          <p:txBody>
            <a:bodyPr wrap="none" rtlCol="0">
              <a:spAutoFit/>
            </a:bodyPr>
            <a:lstStyle/>
            <a:p>
              <a:r>
                <a:rPr lang="en-US" sz="3698" dirty="0"/>
                <a:t>0</a:t>
              </a:r>
            </a:p>
          </p:txBody>
        </p:sp>
        <p:sp>
          <p:nvSpPr>
            <p:cNvPr id="37" name="TextBox 36"/>
            <p:cNvSpPr txBox="1"/>
            <p:nvPr/>
          </p:nvSpPr>
          <p:spPr>
            <a:xfrm>
              <a:off x="4733162" y="3657722"/>
              <a:ext cx="315816" cy="425056"/>
            </a:xfrm>
            <a:prstGeom prst="rect">
              <a:avLst/>
            </a:prstGeom>
            <a:noFill/>
          </p:spPr>
          <p:txBody>
            <a:bodyPr wrap="none" rtlCol="0">
              <a:spAutoFit/>
            </a:bodyPr>
            <a:lstStyle/>
            <a:p>
              <a:r>
                <a:rPr lang="en-US" sz="3698" dirty="0"/>
                <a:t>0</a:t>
              </a:r>
            </a:p>
          </p:txBody>
        </p:sp>
        <p:sp>
          <p:nvSpPr>
            <p:cNvPr id="38" name="TextBox 37"/>
            <p:cNvSpPr txBox="1"/>
            <p:nvPr/>
          </p:nvSpPr>
          <p:spPr>
            <a:xfrm>
              <a:off x="2888521" y="3657600"/>
              <a:ext cx="315816" cy="425056"/>
            </a:xfrm>
            <a:prstGeom prst="rect">
              <a:avLst/>
            </a:prstGeom>
            <a:noFill/>
          </p:spPr>
          <p:txBody>
            <a:bodyPr wrap="none" rtlCol="0">
              <a:spAutoFit/>
            </a:bodyPr>
            <a:lstStyle/>
            <a:p>
              <a:r>
                <a:rPr lang="en-US" sz="3698" dirty="0"/>
                <a:t>1</a:t>
              </a:r>
            </a:p>
          </p:txBody>
        </p:sp>
        <p:sp>
          <p:nvSpPr>
            <p:cNvPr id="39" name="TextBox 38"/>
            <p:cNvSpPr txBox="1"/>
            <p:nvPr/>
          </p:nvSpPr>
          <p:spPr>
            <a:xfrm>
              <a:off x="2455151" y="3660091"/>
              <a:ext cx="315816" cy="425056"/>
            </a:xfrm>
            <a:prstGeom prst="rect">
              <a:avLst/>
            </a:prstGeom>
            <a:noFill/>
          </p:spPr>
          <p:txBody>
            <a:bodyPr wrap="none" rtlCol="0">
              <a:spAutoFit/>
            </a:bodyPr>
            <a:lstStyle/>
            <a:p>
              <a:r>
                <a:rPr lang="en-US" sz="3698" dirty="0"/>
                <a:t>1</a:t>
              </a:r>
            </a:p>
          </p:txBody>
        </p:sp>
      </p:grpSp>
      <p:grpSp>
        <p:nvGrpSpPr>
          <p:cNvPr id="55" name="Group 54"/>
          <p:cNvGrpSpPr/>
          <p:nvPr/>
        </p:nvGrpSpPr>
        <p:grpSpPr>
          <a:xfrm>
            <a:off x="1119858" y="1735011"/>
            <a:ext cx="6177280" cy="6067870"/>
            <a:chOff x="787400" y="1232629"/>
            <a:chExt cx="4343400" cy="4266471"/>
          </a:xfrm>
        </p:grpSpPr>
        <p:cxnSp>
          <p:nvCxnSpPr>
            <p:cNvPr id="28" name="Straight Arrow Connector 27"/>
            <p:cNvCxnSpPr/>
            <p:nvPr/>
          </p:nvCxnSpPr>
          <p:spPr>
            <a:xfrm>
              <a:off x="1447800" y="5096933"/>
              <a:ext cx="469900" cy="0"/>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33" name="Group 32"/>
            <p:cNvGrpSpPr/>
            <p:nvPr/>
          </p:nvGrpSpPr>
          <p:grpSpPr>
            <a:xfrm>
              <a:off x="1473200" y="1232629"/>
              <a:ext cx="3657600" cy="3657600"/>
              <a:chOff x="1574800" y="1409700"/>
              <a:chExt cx="3657600" cy="3657600"/>
            </a:xfrm>
          </p:grpSpPr>
          <p:sp>
            <p:nvSpPr>
              <p:cNvPr id="40" name="Rectangle 39"/>
              <p:cNvSpPr/>
              <p:nvPr/>
            </p:nvSpPr>
            <p:spPr>
              <a:xfrm>
                <a:off x="38354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grpSp>
            <p:nvGrpSpPr>
              <p:cNvPr id="41" name="Group 40"/>
              <p:cNvGrpSpPr/>
              <p:nvPr/>
            </p:nvGrpSpPr>
            <p:grpSpPr>
              <a:xfrm>
                <a:off x="1574800" y="1409700"/>
                <a:ext cx="3657600" cy="3657600"/>
                <a:chOff x="1574800" y="1409700"/>
                <a:chExt cx="3657600" cy="3657600"/>
              </a:xfrm>
            </p:grpSpPr>
            <p:sp>
              <p:nvSpPr>
                <p:cNvPr id="42" name="Rectangle 41"/>
                <p:cNvSpPr/>
                <p:nvPr/>
              </p:nvSpPr>
              <p:spPr>
                <a:xfrm>
                  <a:off x="20193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grpSp>
              <p:nvGrpSpPr>
                <p:cNvPr id="43" name="Group 42"/>
                <p:cNvGrpSpPr/>
                <p:nvPr/>
              </p:nvGrpSpPr>
              <p:grpSpPr>
                <a:xfrm>
                  <a:off x="1574800" y="1409700"/>
                  <a:ext cx="3657600" cy="3657600"/>
                  <a:chOff x="1574800" y="1409700"/>
                  <a:chExt cx="3657600" cy="3657600"/>
                </a:xfrm>
              </p:grpSpPr>
              <p:sp>
                <p:nvSpPr>
                  <p:cNvPr id="44" name="Rectangle 43"/>
                  <p:cNvSpPr/>
                  <p:nvPr/>
                </p:nvSpPr>
                <p:spPr>
                  <a:xfrm>
                    <a:off x="1574800" y="1409700"/>
                    <a:ext cx="36576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5" name="Rectangle 44"/>
                  <p:cNvSpPr/>
                  <p:nvPr/>
                </p:nvSpPr>
                <p:spPr>
                  <a:xfrm>
                    <a:off x="15748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6" name="Rectangle 45"/>
                  <p:cNvSpPr/>
                  <p:nvPr/>
                </p:nvSpPr>
                <p:spPr>
                  <a:xfrm>
                    <a:off x="24765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7" name="Rectangle 46"/>
                  <p:cNvSpPr/>
                  <p:nvPr/>
                </p:nvSpPr>
                <p:spPr>
                  <a:xfrm>
                    <a:off x="33782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8" name="Rectangle 47"/>
                  <p:cNvSpPr/>
                  <p:nvPr/>
                </p:nvSpPr>
                <p:spPr>
                  <a:xfrm>
                    <a:off x="43053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9" name="Rectangle 48"/>
                  <p:cNvSpPr/>
                  <p:nvPr/>
                </p:nvSpPr>
                <p:spPr>
                  <a:xfrm rot="5400000">
                    <a:off x="3175000" y="-1905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p:txBody>
              </p:sp>
              <p:sp>
                <p:nvSpPr>
                  <p:cNvPr id="50" name="Rectangle 49"/>
                  <p:cNvSpPr/>
                  <p:nvPr/>
                </p:nvSpPr>
                <p:spPr>
                  <a:xfrm rot="5400000">
                    <a:off x="3175000" y="7620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p:txBody>
              </p:sp>
              <p:sp>
                <p:nvSpPr>
                  <p:cNvPr id="51" name="Rectangle 50"/>
                  <p:cNvSpPr/>
                  <p:nvPr/>
                </p:nvSpPr>
                <p:spPr>
                  <a:xfrm rot="5400000">
                    <a:off x="3175000" y="17018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52" name="Rectangle 51"/>
                  <p:cNvSpPr/>
                  <p:nvPr/>
                </p:nvSpPr>
                <p:spPr>
                  <a:xfrm rot="5400000">
                    <a:off x="3175000" y="26035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grpSp>
          </p:grpSp>
        </p:grpSp>
        <p:graphicFrame>
          <p:nvGraphicFramePr>
            <p:cNvPr id="35" name="Object 34"/>
            <p:cNvGraphicFramePr>
              <a:graphicFrameLocks noChangeAspect="1"/>
            </p:cNvGraphicFramePr>
            <p:nvPr>
              <p:extLst/>
            </p:nvPr>
          </p:nvGraphicFramePr>
          <p:xfrm>
            <a:off x="1489040" y="5143500"/>
            <a:ext cx="406400" cy="355600"/>
          </p:xfrm>
          <a:graphic>
            <a:graphicData uri="http://schemas.openxmlformats.org/presentationml/2006/ole">
              <mc:AlternateContent xmlns:mc="http://schemas.openxmlformats.org/markup-compatibility/2006">
                <mc:Choice xmlns:v="urn:schemas-microsoft-com:vml" Requires="v">
                  <p:oleObj spid="_x0000_s14418" name="Equation" r:id="rId3" imgW="203200" imgH="177800" progId="Equation.3">
                    <p:embed/>
                  </p:oleObj>
                </mc:Choice>
                <mc:Fallback>
                  <p:oleObj name="Equation" r:id="rId3" imgW="203200" imgH="177800" progId="Equation.3">
                    <p:embed/>
                    <p:pic>
                      <p:nvPicPr>
                        <p:cNvPr id="0" name=""/>
                        <p:cNvPicPr/>
                        <p:nvPr/>
                      </p:nvPicPr>
                      <p:blipFill>
                        <a:blip r:embed="rId4"/>
                        <a:stretch>
                          <a:fillRect/>
                        </a:stretch>
                      </p:blipFill>
                      <p:spPr>
                        <a:xfrm>
                          <a:off x="1489040" y="5143500"/>
                          <a:ext cx="406400" cy="355600"/>
                        </a:xfrm>
                        <a:prstGeom prst="rect">
                          <a:avLst/>
                        </a:prstGeom>
                      </p:spPr>
                    </p:pic>
                  </p:oleObj>
                </mc:Fallback>
              </mc:AlternateContent>
            </a:graphicData>
          </a:graphic>
        </p:graphicFrame>
        <p:graphicFrame>
          <p:nvGraphicFramePr>
            <p:cNvPr id="53" name="Object 52"/>
            <p:cNvGraphicFramePr>
              <a:graphicFrameLocks noChangeAspect="1"/>
            </p:cNvGraphicFramePr>
            <p:nvPr>
              <p:extLst/>
            </p:nvPr>
          </p:nvGraphicFramePr>
          <p:xfrm>
            <a:off x="787400" y="4470400"/>
            <a:ext cx="381000" cy="406400"/>
          </p:xfrm>
          <a:graphic>
            <a:graphicData uri="http://schemas.openxmlformats.org/presentationml/2006/ole">
              <mc:AlternateContent xmlns:mc="http://schemas.openxmlformats.org/markup-compatibility/2006">
                <mc:Choice xmlns:v="urn:schemas-microsoft-com:vml" Requires="v">
                  <p:oleObj spid="_x0000_s14419" name="Equation" r:id="rId5" imgW="190500" imgH="203200" progId="Equation.3">
                    <p:embed/>
                  </p:oleObj>
                </mc:Choice>
                <mc:Fallback>
                  <p:oleObj name="Equation" r:id="rId5" imgW="190500" imgH="203200" progId="Equation.3">
                    <p:embed/>
                    <p:pic>
                      <p:nvPicPr>
                        <p:cNvPr id="0" name=""/>
                        <p:cNvPicPr/>
                        <p:nvPr/>
                      </p:nvPicPr>
                      <p:blipFill>
                        <a:blip r:embed="rId6"/>
                        <a:stretch>
                          <a:fillRect/>
                        </a:stretch>
                      </p:blipFill>
                      <p:spPr>
                        <a:xfrm>
                          <a:off x="787400" y="4470400"/>
                          <a:ext cx="381000" cy="406400"/>
                        </a:xfrm>
                        <a:prstGeom prst="rect">
                          <a:avLst/>
                        </a:prstGeom>
                      </p:spPr>
                    </p:pic>
                  </p:oleObj>
                </mc:Fallback>
              </mc:AlternateContent>
            </a:graphicData>
          </a:graphic>
        </p:graphicFrame>
        <p:cxnSp>
          <p:nvCxnSpPr>
            <p:cNvPr id="54" name="Straight Arrow Connector 53"/>
            <p:cNvCxnSpPr/>
            <p:nvPr/>
          </p:nvCxnSpPr>
          <p:spPr>
            <a:xfrm>
              <a:off x="1292260" y="4484558"/>
              <a:ext cx="0" cy="40567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grpSp>
      <p:graphicFrame>
        <p:nvGraphicFramePr>
          <p:cNvPr id="57" name="Object 56"/>
          <p:cNvGraphicFramePr>
            <a:graphicFrameLocks noChangeAspect="1"/>
          </p:cNvGraphicFramePr>
          <p:nvPr>
            <p:extLst/>
          </p:nvPr>
        </p:nvGraphicFramePr>
        <p:xfrm>
          <a:off x="8272498" y="2356187"/>
          <a:ext cx="1733973" cy="577991"/>
        </p:xfrm>
        <a:graphic>
          <a:graphicData uri="http://schemas.openxmlformats.org/presentationml/2006/ole">
            <mc:AlternateContent xmlns:mc="http://schemas.openxmlformats.org/markup-compatibility/2006">
              <mc:Choice xmlns:v="urn:schemas-microsoft-com:vml" Requires="v">
                <p:oleObj spid="_x0000_s14420" name="Equation" r:id="rId7" imgW="609600" imgH="203200" progId="Equation.3">
                  <p:embed/>
                </p:oleObj>
              </mc:Choice>
              <mc:Fallback>
                <p:oleObj name="Equation" r:id="rId7" imgW="609600" imgH="203200" progId="Equation.3">
                  <p:embed/>
                  <p:pic>
                    <p:nvPicPr>
                      <p:cNvPr id="0" name=""/>
                      <p:cNvPicPr/>
                      <p:nvPr/>
                    </p:nvPicPr>
                    <p:blipFill>
                      <a:blip r:embed="rId8"/>
                      <a:stretch>
                        <a:fillRect/>
                      </a:stretch>
                    </p:blipFill>
                    <p:spPr>
                      <a:xfrm>
                        <a:off x="8272498" y="2356187"/>
                        <a:ext cx="1733973" cy="577991"/>
                      </a:xfrm>
                      <a:prstGeom prst="rect">
                        <a:avLst/>
                      </a:prstGeom>
                    </p:spPr>
                  </p:pic>
                </p:oleObj>
              </mc:Fallback>
            </mc:AlternateContent>
          </a:graphicData>
        </a:graphic>
      </p:graphicFrame>
      <p:cxnSp>
        <p:nvCxnSpPr>
          <p:cNvPr id="59" name="Straight Arrow Connector 58"/>
          <p:cNvCxnSpPr/>
          <p:nvPr/>
        </p:nvCxnSpPr>
        <p:spPr>
          <a:xfrm flipH="1">
            <a:off x="4316871" y="2647152"/>
            <a:ext cx="3955627" cy="88504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63" name="Object 62"/>
          <p:cNvGraphicFramePr>
            <a:graphicFrameLocks noChangeAspect="1"/>
          </p:cNvGraphicFramePr>
          <p:nvPr>
            <p:extLst/>
          </p:nvPr>
        </p:nvGraphicFramePr>
        <p:xfrm>
          <a:off x="8480213" y="4316871"/>
          <a:ext cx="1047609" cy="1119858"/>
        </p:xfrm>
        <a:graphic>
          <a:graphicData uri="http://schemas.openxmlformats.org/presentationml/2006/ole">
            <mc:AlternateContent xmlns:mc="http://schemas.openxmlformats.org/markup-compatibility/2006">
              <mc:Choice xmlns:v="urn:schemas-microsoft-com:vml" Requires="v">
                <p:oleObj spid="_x0000_s14421" name="Equation" r:id="rId9" imgW="368300" imgH="393700" progId="Equation.3">
                  <p:embed/>
                </p:oleObj>
              </mc:Choice>
              <mc:Fallback>
                <p:oleObj name="Equation" r:id="rId9" imgW="368300" imgH="393700" progId="Equation.3">
                  <p:embed/>
                  <p:pic>
                    <p:nvPicPr>
                      <p:cNvPr id="0" name=""/>
                      <p:cNvPicPr/>
                      <p:nvPr/>
                    </p:nvPicPr>
                    <p:blipFill>
                      <a:blip r:embed="rId10"/>
                      <a:stretch>
                        <a:fillRect/>
                      </a:stretch>
                    </p:blipFill>
                    <p:spPr>
                      <a:xfrm>
                        <a:off x="8480213" y="4316871"/>
                        <a:ext cx="1047609" cy="1119858"/>
                      </a:xfrm>
                      <a:prstGeom prst="rect">
                        <a:avLst/>
                      </a:prstGeom>
                    </p:spPr>
                  </p:pic>
                </p:oleObj>
              </mc:Fallback>
            </mc:AlternateContent>
          </a:graphicData>
        </a:graphic>
      </p:graphicFrame>
      <p:sp>
        <p:nvSpPr>
          <p:cNvPr id="64" name="TextBox 63"/>
          <p:cNvSpPr txBox="1"/>
          <p:nvPr/>
        </p:nvSpPr>
        <p:spPr>
          <a:xfrm>
            <a:off x="9439054" y="4248663"/>
            <a:ext cx="1423787" cy="604524"/>
          </a:xfrm>
          <a:prstGeom prst="rect">
            <a:avLst/>
          </a:prstGeom>
          <a:noFill/>
        </p:spPr>
        <p:txBody>
          <a:bodyPr wrap="none" rtlCol="0">
            <a:spAutoFit/>
          </a:bodyPr>
          <a:lstStyle/>
          <a:p>
            <a:r>
              <a:rPr lang="en-US" sz="3698" dirty="0"/>
              <a:t>rows </a:t>
            </a:r>
          </a:p>
        </p:txBody>
      </p:sp>
      <p:sp>
        <p:nvSpPr>
          <p:cNvPr id="65" name="TextBox 64"/>
          <p:cNvSpPr txBox="1"/>
          <p:nvPr/>
        </p:nvSpPr>
        <p:spPr>
          <a:xfrm>
            <a:off x="9419779" y="4894862"/>
            <a:ext cx="2137124" cy="604524"/>
          </a:xfrm>
          <a:prstGeom prst="rect">
            <a:avLst/>
          </a:prstGeom>
          <a:noFill/>
        </p:spPr>
        <p:txBody>
          <a:bodyPr wrap="none" rtlCol="0">
            <a:spAutoFit/>
          </a:bodyPr>
          <a:lstStyle/>
          <a:p>
            <a:r>
              <a:rPr lang="en-US" sz="3698" dirty="0"/>
              <a:t>columns</a:t>
            </a:r>
          </a:p>
        </p:txBody>
      </p:sp>
      <p:sp>
        <p:nvSpPr>
          <p:cNvPr id="58" name="Shape 76"/>
          <p:cNvSpPr>
            <a:spLocks noGrp="1"/>
          </p:cNvSpPr>
          <p:nvPr>
            <p:ph type="title"/>
          </p:nvPr>
        </p:nvSpPr>
        <p:spPr>
          <a:xfrm>
            <a:off x="252076" y="-135222"/>
            <a:ext cx="12130336" cy="2159000"/>
          </a:xfrm>
          <a:prstGeom prst="rect">
            <a:avLst/>
          </a:prstGeom>
        </p:spPr>
        <p:txBody>
          <a:bodyPr/>
          <a:lstStyle/>
          <a:p>
            <a:r>
              <a:rPr lang="en-US" dirty="0"/>
              <a:t>Radon transform</a:t>
            </a:r>
            <a:endParaRPr dirty="0"/>
          </a:p>
        </p:txBody>
      </p:sp>
    </p:spTree>
    <p:extLst>
      <p:ext uri="{BB962C8B-B14F-4D97-AF65-F5344CB8AC3E}">
        <p14:creationId xmlns:p14="http://schemas.microsoft.com/office/powerpoint/2010/main" val="79518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Straight Arrow Connector 30"/>
          <p:cNvCxnSpPr/>
          <p:nvPr/>
        </p:nvCxnSpPr>
        <p:spPr>
          <a:xfrm>
            <a:off x="1366030" y="4793549"/>
            <a:ext cx="6791396" cy="0"/>
          </a:xfrm>
          <a:prstGeom prst="straightConnector1">
            <a:avLst/>
          </a:prstGeom>
          <a:ln w="3175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1366030" y="2746496"/>
            <a:ext cx="6791396" cy="0"/>
          </a:xfrm>
          <a:prstGeom prst="straightConnector1">
            <a:avLst/>
          </a:prstGeom>
          <a:ln w="31750">
            <a:solidFill>
              <a:srgbClr val="FF6600"/>
            </a:solidFill>
            <a:tailEnd type="arrow"/>
          </a:ln>
        </p:spPr>
        <p:style>
          <a:lnRef idx="2">
            <a:schemeClr val="accent1"/>
          </a:lnRef>
          <a:fillRef idx="0">
            <a:schemeClr val="accent1"/>
          </a:fillRef>
          <a:effectRef idx="1">
            <a:schemeClr val="accent1"/>
          </a:effectRef>
          <a:fontRef idx="minor">
            <a:schemeClr val="tx1"/>
          </a:fontRef>
        </p:style>
      </p:cxnSp>
      <p:grpSp>
        <p:nvGrpSpPr>
          <p:cNvPr id="7" name="Group 6"/>
          <p:cNvGrpSpPr/>
          <p:nvPr/>
        </p:nvGrpSpPr>
        <p:grpSpPr>
          <a:xfrm>
            <a:off x="2059094" y="1753073"/>
            <a:ext cx="5238044" cy="6122057"/>
            <a:chOff x="1447800" y="1232629"/>
            <a:chExt cx="3683000" cy="4304571"/>
          </a:xfrm>
        </p:grpSpPr>
        <p:cxnSp>
          <p:nvCxnSpPr>
            <p:cNvPr id="21" name="Straight Arrow Connector 20"/>
            <p:cNvCxnSpPr/>
            <p:nvPr/>
          </p:nvCxnSpPr>
          <p:spPr>
            <a:xfrm>
              <a:off x="1447800" y="5096933"/>
              <a:ext cx="469900" cy="0"/>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72821" y="3657722"/>
              <a:ext cx="315816" cy="425056"/>
            </a:xfrm>
            <a:prstGeom prst="rect">
              <a:avLst/>
            </a:prstGeom>
            <a:noFill/>
          </p:spPr>
          <p:txBody>
            <a:bodyPr wrap="none" rtlCol="0">
              <a:spAutoFit/>
            </a:bodyPr>
            <a:lstStyle/>
            <a:p>
              <a:r>
                <a:rPr lang="en-US" sz="3698" dirty="0"/>
                <a:t>0</a:t>
              </a:r>
            </a:p>
          </p:txBody>
        </p:sp>
        <p:sp>
          <p:nvSpPr>
            <p:cNvPr id="24" name="TextBox 23"/>
            <p:cNvSpPr txBox="1"/>
            <p:nvPr/>
          </p:nvSpPr>
          <p:spPr>
            <a:xfrm>
              <a:off x="3801352" y="3666441"/>
              <a:ext cx="315816" cy="425056"/>
            </a:xfrm>
            <a:prstGeom prst="rect">
              <a:avLst/>
            </a:prstGeom>
            <a:noFill/>
          </p:spPr>
          <p:txBody>
            <a:bodyPr wrap="none" rtlCol="0">
              <a:spAutoFit/>
            </a:bodyPr>
            <a:lstStyle/>
            <a:p>
              <a:r>
                <a:rPr lang="en-US" sz="3698" dirty="0"/>
                <a:t>1</a:t>
              </a:r>
            </a:p>
          </p:txBody>
        </p:sp>
        <p:sp>
          <p:nvSpPr>
            <p:cNvPr id="25" name="TextBox 24"/>
            <p:cNvSpPr txBox="1"/>
            <p:nvPr/>
          </p:nvSpPr>
          <p:spPr>
            <a:xfrm>
              <a:off x="3341011" y="3651674"/>
              <a:ext cx="315816" cy="425056"/>
            </a:xfrm>
            <a:prstGeom prst="rect">
              <a:avLst/>
            </a:prstGeom>
            <a:noFill/>
          </p:spPr>
          <p:txBody>
            <a:bodyPr wrap="none" rtlCol="0">
              <a:spAutoFit/>
            </a:bodyPr>
            <a:lstStyle/>
            <a:p>
              <a:r>
                <a:rPr lang="en-US" sz="3698" dirty="0"/>
                <a:t>1</a:t>
              </a:r>
            </a:p>
          </p:txBody>
        </p:sp>
        <p:sp>
          <p:nvSpPr>
            <p:cNvPr id="26" name="TextBox 25"/>
            <p:cNvSpPr txBox="1"/>
            <p:nvPr/>
          </p:nvSpPr>
          <p:spPr>
            <a:xfrm>
              <a:off x="2002661" y="3647391"/>
              <a:ext cx="315816" cy="425056"/>
            </a:xfrm>
            <a:prstGeom prst="rect">
              <a:avLst/>
            </a:prstGeom>
            <a:noFill/>
          </p:spPr>
          <p:txBody>
            <a:bodyPr wrap="none" rtlCol="0">
              <a:spAutoFit/>
            </a:bodyPr>
            <a:lstStyle/>
            <a:p>
              <a:r>
                <a:rPr lang="en-US" sz="3698" dirty="0"/>
                <a:t>0</a:t>
              </a:r>
            </a:p>
          </p:txBody>
        </p:sp>
        <p:grpSp>
          <p:nvGrpSpPr>
            <p:cNvPr id="37" name="Group 36"/>
            <p:cNvGrpSpPr/>
            <p:nvPr/>
          </p:nvGrpSpPr>
          <p:grpSpPr>
            <a:xfrm>
              <a:off x="1473200" y="1232629"/>
              <a:ext cx="3657600" cy="3657600"/>
              <a:chOff x="1574800" y="1409700"/>
              <a:chExt cx="3657600" cy="3657600"/>
            </a:xfrm>
          </p:grpSpPr>
          <p:sp>
            <p:nvSpPr>
              <p:cNvPr id="39" name="Rectangle 38"/>
              <p:cNvSpPr/>
              <p:nvPr/>
            </p:nvSpPr>
            <p:spPr>
              <a:xfrm>
                <a:off x="38354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grpSp>
            <p:nvGrpSpPr>
              <p:cNvPr id="40" name="Group 39"/>
              <p:cNvGrpSpPr/>
              <p:nvPr/>
            </p:nvGrpSpPr>
            <p:grpSpPr>
              <a:xfrm>
                <a:off x="1574800" y="1409700"/>
                <a:ext cx="3657600" cy="3657600"/>
                <a:chOff x="1574800" y="1409700"/>
                <a:chExt cx="3657600" cy="3657600"/>
              </a:xfrm>
            </p:grpSpPr>
            <p:sp>
              <p:nvSpPr>
                <p:cNvPr id="41" name="Rectangle 40"/>
                <p:cNvSpPr/>
                <p:nvPr/>
              </p:nvSpPr>
              <p:spPr>
                <a:xfrm>
                  <a:off x="20193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grpSp>
              <p:nvGrpSpPr>
                <p:cNvPr id="42" name="Group 41"/>
                <p:cNvGrpSpPr/>
                <p:nvPr/>
              </p:nvGrpSpPr>
              <p:grpSpPr>
                <a:xfrm>
                  <a:off x="1574800" y="1409700"/>
                  <a:ext cx="3657600" cy="3657600"/>
                  <a:chOff x="1574800" y="1409700"/>
                  <a:chExt cx="3657600" cy="3657600"/>
                </a:xfrm>
              </p:grpSpPr>
              <p:sp>
                <p:nvSpPr>
                  <p:cNvPr id="43" name="Rectangle 42"/>
                  <p:cNvSpPr/>
                  <p:nvPr/>
                </p:nvSpPr>
                <p:spPr>
                  <a:xfrm>
                    <a:off x="1574800" y="1409700"/>
                    <a:ext cx="36576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4" name="Rectangle 43"/>
                  <p:cNvSpPr/>
                  <p:nvPr/>
                </p:nvSpPr>
                <p:spPr>
                  <a:xfrm>
                    <a:off x="15748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5" name="Rectangle 44"/>
                  <p:cNvSpPr/>
                  <p:nvPr/>
                </p:nvSpPr>
                <p:spPr>
                  <a:xfrm>
                    <a:off x="24765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6" name="Rectangle 45"/>
                  <p:cNvSpPr/>
                  <p:nvPr/>
                </p:nvSpPr>
                <p:spPr>
                  <a:xfrm>
                    <a:off x="33782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7" name="Rectangle 46"/>
                  <p:cNvSpPr/>
                  <p:nvPr/>
                </p:nvSpPr>
                <p:spPr>
                  <a:xfrm>
                    <a:off x="4305300" y="14097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48" name="Rectangle 47"/>
                  <p:cNvSpPr/>
                  <p:nvPr/>
                </p:nvSpPr>
                <p:spPr>
                  <a:xfrm rot="5400000">
                    <a:off x="3175000" y="-1905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p:txBody>
              </p:sp>
              <p:sp>
                <p:nvSpPr>
                  <p:cNvPr id="49" name="Rectangle 48"/>
                  <p:cNvSpPr/>
                  <p:nvPr/>
                </p:nvSpPr>
                <p:spPr>
                  <a:xfrm rot="5400000">
                    <a:off x="3175000" y="7620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p:txBody>
              </p:sp>
              <p:sp>
                <p:nvSpPr>
                  <p:cNvPr id="50" name="Rectangle 49"/>
                  <p:cNvSpPr/>
                  <p:nvPr/>
                </p:nvSpPr>
                <p:spPr>
                  <a:xfrm rot="5400000">
                    <a:off x="3175000" y="17018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sp>
                <p:nvSpPr>
                  <p:cNvPr id="51" name="Rectangle 50"/>
                  <p:cNvSpPr/>
                  <p:nvPr/>
                </p:nvSpPr>
                <p:spPr>
                  <a:xfrm rot="5400000">
                    <a:off x="3175000" y="2603500"/>
                    <a:ext cx="457200" cy="3657600"/>
                  </a:xfrm>
                  <a:prstGeom prst="rect">
                    <a:avLst/>
                  </a:prstGeom>
                  <a:noFill/>
                  <a:ln w="317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dirty="0"/>
                  </a:p>
                  <a:p>
                    <a:pPr algn="ctr"/>
                    <a:endParaRPr lang="en-US" sz="3698" dirty="0"/>
                  </a:p>
                </p:txBody>
              </p:sp>
            </p:grpSp>
          </p:grpSp>
        </p:grpSp>
        <p:sp>
          <p:nvSpPr>
            <p:cNvPr id="52" name="Rectangle 51"/>
            <p:cNvSpPr/>
            <p:nvPr/>
          </p:nvSpPr>
          <p:spPr>
            <a:xfrm>
              <a:off x="2362200" y="2164694"/>
              <a:ext cx="1828800" cy="1841499"/>
            </a:xfrm>
            <a:prstGeom prst="rect">
              <a:avLst/>
            </a:prstGeom>
            <a:solidFill>
              <a:srgbClr val="0000FF">
                <a:alpha val="36000"/>
              </a:srgbClr>
            </a:solidFill>
            <a:ln>
              <a:solidFill>
                <a:srgbClr val="0000FF">
                  <a:alpha val="55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aphicFrame>
          <p:nvGraphicFramePr>
            <p:cNvPr id="2" name="Object 1"/>
            <p:cNvGraphicFramePr>
              <a:graphicFrameLocks noChangeAspect="1"/>
            </p:cNvGraphicFramePr>
            <p:nvPr>
              <p:extLst/>
            </p:nvPr>
          </p:nvGraphicFramePr>
          <p:xfrm>
            <a:off x="1447800" y="5181600"/>
            <a:ext cx="787400" cy="355600"/>
          </p:xfrm>
          <a:graphic>
            <a:graphicData uri="http://schemas.openxmlformats.org/presentationml/2006/ole">
              <mc:AlternateContent xmlns:mc="http://schemas.openxmlformats.org/markup-compatibility/2006">
                <mc:Choice xmlns:v="urn:schemas-microsoft-com:vml" Requires="v">
                  <p:oleObj spid="_x0000_s15419" name="Equation" r:id="rId3" imgW="393700" imgH="177800" progId="Equation.3">
                    <p:embed/>
                  </p:oleObj>
                </mc:Choice>
                <mc:Fallback>
                  <p:oleObj name="Equation" r:id="rId3" imgW="393700" imgH="177800" progId="Equation.3">
                    <p:embed/>
                    <p:pic>
                      <p:nvPicPr>
                        <p:cNvPr id="0" name=""/>
                        <p:cNvPicPr/>
                        <p:nvPr/>
                      </p:nvPicPr>
                      <p:blipFill>
                        <a:blip r:embed="rId4"/>
                        <a:stretch>
                          <a:fillRect/>
                        </a:stretch>
                      </p:blipFill>
                      <p:spPr>
                        <a:xfrm>
                          <a:off x="1447800" y="5181600"/>
                          <a:ext cx="787400" cy="355600"/>
                        </a:xfrm>
                        <a:prstGeom prst="rect">
                          <a:avLst/>
                        </a:prstGeom>
                      </p:spPr>
                    </p:pic>
                  </p:oleObj>
                </mc:Fallback>
              </mc:AlternateContent>
            </a:graphicData>
          </a:graphic>
        </p:graphicFrame>
        <p:sp>
          <p:nvSpPr>
            <p:cNvPr id="28" name="TextBox 27"/>
            <p:cNvSpPr txBox="1"/>
            <p:nvPr/>
          </p:nvSpPr>
          <p:spPr>
            <a:xfrm>
              <a:off x="1545461" y="3645324"/>
              <a:ext cx="315816" cy="425056"/>
            </a:xfrm>
            <a:prstGeom prst="rect">
              <a:avLst/>
            </a:prstGeom>
            <a:noFill/>
          </p:spPr>
          <p:txBody>
            <a:bodyPr wrap="none" rtlCol="0">
              <a:spAutoFit/>
            </a:bodyPr>
            <a:lstStyle/>
            <a:p>
              <a:r>
                <a:rPr lang="en-US" sz="3698" dirty="0"/>
                <a:t>0</a:t>
              </a:r>
            </a:p>
          </p:txBody>
        </p:sp>
        <p:sp>
          <p:nvSpPr>
            <p:cNvPr id="30" name="TextBox 29"/>
            <p:cNvSpPr txBox="1"/>
            <p:nvPr/>
          </p:nvSpPr>
          <p:spPr>
            <a:xfrm>
              <a:off x="4733162" y="3657722"/>
              <a:ext cx="315816" cy="425056"/>
            </a:xfrm>
            <a:prstGeom prst="rect">
              <a:avLst/>
            </a:prstGeom>
            <a:noFill/>
          </p:spPr>
          <p:txBody>
            <a:bodyPr wrap="none" rtlCol="0">
              <a:spAutoFit/>
            </a:bodyPr>
            <a:lstStyle/>
            <a:p>
              <a:r>
                <a:rPr lang="en-US" sz="3698" dirty="0"/>
                <a:t>0</a:t>
              </a:r>
            </a:p>
          </p:txBody>
        </p:sp>
        <p:sp>
          <p:nvSpPr>
            <p:cNvPr id="32" name="TextBox 31"/>
            <p:cNvSpPr txBox="1"/>
            <p:nvPr/>
          </p:nvSpPr>
          <p:spPr>
            <a:xfrm>
              <a:off x="2888522" y="3657600"/>
              <a:ext cx="315816" cy="425056"/>
            </a:xfrm>
            <a:prstGeom prst="rect">
              <a:avLst/>
            </a:prstGeom>
            <a:noFill/>
          </p:spPr>
          <p:txBody>
            <a:bodyPr wrap="none" rtlCol="0">
              <a:spAutoFit/>
            </a:bodyPr>
            <a:lstStyle/>
            <a:p>
              <a:r>
                <a:rPr lang="en-US" sz="3698" dirty="0"/>
                <a:t>1</a:t>
              </a:r>
            </a:p>
          </p:txBody>
        </p:sp>
        <p:sp>
          <p:nvSpPr>
            <p:cNvPr id="33" name="TextBox 32"/>
            <p:cNvSpPr txBox="1"/>
            <p:nvPr/>
          </p:nvSpPr>
          <p:spPr>
            <a:xfrm>
              <a:off x="2455151" y="3660091"/>
              <a:ext cx="315816" cy="425056"/>
            </a:xfrm>
            <a:prstGeom prst="rect">
              <a:avLst/>
            </a:prstGeom>
            <a:noFill/>
          </p:spPr>
          <p:txBody>
            <a:bodyPr wrap="none" rtlCol="0">
              <a:spAutoFit/>
            </a:bodyPr>
            <a:lstStyle/>
            <a:p>
              <a:r>
                <a:rPr lang="en-US" sz="3698" dirty="0"/>
                <a:t>1</a:t>
              </a:r>
            </a:p>
          </p:txBody>
        </p:sp>
      </p:grpSp>
      <p:graphicFrame>
        <p:nvGraphicFramePr>
          <p:cNvPr id="3" name="Object 2"/>
          <p:cNvGraphicFramePr>
            <a:graphicFrameLocks noChangeAspect="1"/>
          </p:cNvGraphicFramePr>
          <p:nvPr>
            <p:extLst/>
          </p:nvPr>
        </p:nvGraphicFramePr>
        <p:xfrm>
          <a:off x="8301924" y="4161371"/>
          <a:ext cx="1986844" cy="1372729"/>
        </p:xfrm>
        <a:graphic>
          <a:graphicData uri="http://schemas.openxmlformats.org/presentationml/2006/ole">
            <mc:AlternateContent xmlns:mc="http://schemas.openxmlformats.org/markup-compatibility/2006">
              <mc:Choice xmlns:v="urn:schemas-microsoft-com:vml" Requires="v">
                <p:oleObj spid="_x0000_s15420" name="Equation" r:id="rId5" imgW="698500" imgH="482600" progId="Equation.3">
                  <p:embed/>
                </p:oleObj>
              </mc:Choice>
              <mc:Fallback>
                <p:oleObj name="Equation" r:id="rId5" imgW="698500" imgH="482600" progId="Equation.3">
                  <p:embed/>
                  <p:pic>
                    <p:nvPicPr>
                      <p:cNvPr id="0" name=""/>
                      <p:cNvPicPr/>
                      <p:nvPr/>
                    </p:nvPicPr>
                    <p:blipFill>
                      <a:blip r:embed="rId6"/>
                      <a:stretch>
                        <a:fillRect/>
                      </a:stretch>
                    </p:blipFill>
                    <p:spPr>
                      <a:xfrm>
                        <a:off x="8301924" y="4161371"/>
                        <a:ext cx="1986844" cy="1372729"/>
                      </a:xfrm>
                      <a:prstGeom prst="rect">
                        <a:avLst/>
                      </a:prstGeom>
                    </p:spPr>
                  </p:pic>
                </p:oleObj>
              </mc:Fallback>
            </mc:AlternateContent>
          </a:graphicData>
        </a:graphic>
      </p:graphicFrame>
      <p:sp>
        <p:nvSpPr>
          <p:cNvPr id="5" name="TextBox 4"/>
          <p:cNvSpPr txBox="1"/>
          <p:nvPr/>
        </p:nvSpPr>
        <p:spPr>
          <a:xfrm>
            <a:off x="364490" y="4514996"/>
            <a:ext cx="1035861" cy="486223"/>
          </a:xfrm>
          <a:prstGeom prst="rect">
            <a:avLst/>
          </a:prstGeom>
          <a:noFill/>
        </p:spPr>
        <p:txBody>
          <a:bodyPr wrap="none" rtlCol="0">
            <a:spAutoFit/>
          </a:bodyPr>
          <a:lstStyle/>
          <a:p>
            <a:r>
              <a:rPr lang="en-US" sz="2844" dirty="0"/>
              <a:t>row </a:t>
            </a:r>
            <a:r>
              <a:rPr lang="en-US" sz="2844" i="1" dirty="0" err="1"/>
              <a:t>i</a:t>
            </a:r>
            <a:endParaRPr lang="en-US" sz="2844" i="1" dirty="0"/>
          </a:p>
        </p:txBody>
      </p:sp>
      <p:graphicFrame>
        <p:nvGraphicFramePr>
          <p:cNvPr id="6" name="Object 5"/>
          <p:cNvGraphicFramePr>
            <a:graphicFrameLocks noChangeAspect="1"/>
          </p:cNvGraphicFramePr>
          <p:nvPr>
            <p:extLst/>
          </p:nvPr>
        </p:nvGraphicFramePr>
        <p:xfrm>
          <a:off x="8301850" y="5400604"/>
          <a:ext cx="4154311" cy="2420338"/>
        </p:xfrm>
        <a:graphic>
          <a:graphicData uri="http://schemas.openxmlformats.org/presentationml/2006/ole">
            <mc:AlternateContent xmlns:mc="http://schemas.openxmlformats.org/markup-compatibility/2006">
              <mc:Choice xmlns:v="urn:schemas-microsoft-com:vml" Requires="v">
                <p:oleObj spid="_x0000_s15421" name="Equation" r:id="rId7" imgW="1460500" imgH="850900" progId="Equation.3">
                  <p:embed/>
                </p:oleObj>
              </mc:Choice>
              <mc:Fallback>
                <p:oleObj name="Equation" r:id="rId7" imgW="1460500" imgH="850900" progId="Equation.3">
                  <p:embed/>
                  <p:pic>
                    <p:nvPicPr>
                      <p:cNvPr id="0" name=""/>
                      <p:cNvPicPr/>
                      <p:nvPr/>
                    </p:nvPicPr>
                    <p:blipFill>
                      <a:blip r:embed="rId8"/>
                      <a:stretch>
                        <a:fillRect/>
                      </a:stretch>
                    </p:blipFill>
                    <p:spPr>
                      <a:xfrm>
                        <a:off x="8301850" y="5400604"/>
                        <a:ext cx="4154311" cy="2420338"/>
                      </a:xfrm>
                      <a:prstGeom prst="rect">
                        <a:avLst/>
                      </a:prstGeom>
                    </p:spPr>
                  </p:pic>
                </p:oleObj>
              </mc:Fallback>
            </mc:AlternateContent>
          </a:graphicData>
        </a:graphic>
      </p:graphicFrame>
      <p:sp>
        <p:nvSpPr>
          <p:cNvPr id="34" name="Shape 76"/>
          <p:cNvSpPr>
            <a:spLocks noGrp="1"/>
          </p:cNvSpPr>
          <p:nvPr>
            <p:ph type="title"/>
          </p:nvPr>
        </p:nvSpPr>
        <p:spPr>
          <a:xfrm>
            <a:off x="252076" y="-135222"/>
            <a:ext cx="12130336" cy="2159000"/>
          </a:xfrm>
          <a:prstGeom prst="rect">
            <a:avLst/>
          </a:prstGeom>
        </p:spPr>
        <p:txBody>
          <a:bodyPr/>
          <a:lstStyle/>
          <a:p>
            <a:r>
              <a:rPr lang="en-US" dirty="0"/>
              <a:t>Radon transform</a:t>
            </a:r>
            <a:endParaRPr dirty="0"/>
          </a:p>
        </p:txBody>
      </p:sp>
    </p:spTree>
    <p:extLst>
      <p:ext uri="{BB962C8B-B14F-4D97-AF65-F5344CB8AC3E}">
        <p14:creationId xmlns:p14="http://schemas.microsoft.com/office/powerpoint/2010/main" val="725827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a:grpSpLocks noChangeAspect="1"/>
          </p:cNvGrpSpPr>
          <p:nvPr/>
        </p:nvGrpSpPr>
        <p:grpSpPr>
          <a:xfrm>
            <a:off x="1797271" y="2753833"/>
            <a:ext cx="9582370" cy="4603699"/>
            <a:chOff x="2166990" y="1476248"/>
            <a:chExt cx="5614667" cy="2697480"/>
          </a:xfrm>
        </p:grpSpPr>
        <p:grpSp>
          <p:nvGrpSpPr>
            <p:cNvPr id="38" name="Group 37"/>
            <p:cNvGrpSpPr/>
            <p:nvPr/>
          </p:nvGrpSpPr>
          <p:grpSpPr>
            <a:xfrm>
              <a:off x="2166990" y="1476248"/>
              <a:ext cx="3903610" cy="2697480"/>
              <a:chOff x="2166990" y="1476248"/>
              <a:chExt cx="3903610" cy="2697480"/>
            </a:xfrm>
          </p:grpSpPr>
          <p:pic>
            <p:nvPicPr>
              <p:cNvPr id="3" name="Picture 2" descr="Screen shot 2011-03-01 at 10.50.01 PM.png"/>
              <p:cNvPicPr>
                <a:picLocks noChangeAspect="1"/>
              </p:cNvPicPr>
              <p:nvPr/>
            </p:nvPicPr>
            <p:blipFill rotWithShape="1">
              <a:blip r:embed="rId2">
                <a:extLst>
                  <a:ext uri="{28A0092B-C50C-407E-A947-70E740481C1C}">
                    <a14:useLocalDpi xmlns:a14="http://schemas.microsoft.com/office/drawing/2010/main" val="0"/>
                  </a:ext>
                </a:extLst>
              </a:blip>
              <a:srcRect l="34999" t="22413" r="34000" b="30387"/>
              <a:stretch/>
            </p:blipFill>
            <p:spPr>
              <a:xfrm>
                <a:off x="2752345" y="1476248"/>
                <a:ext cx="2834640" cy="2697480"/>
              </a:xfrm>
              <a:prstGeom prst="rect">
                <a:avLst/>
              </a:prstGeom>
            </p:spPr>
          </p:pic>
          <p:cxnSp>
            <p:nvCxnSpPr>
              <p:cNvPr id="10" name="Straight Arrow Connector 9"/>
              <p:cNvCxnSpPr/>
              <p:nvPr/>
            </p:nvCxnSpPr>
            <p:spPr>
              <a:xfrm>
                <a:off x="2166990" y="1626330"/>
                <a:ext cx="3903610"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2166990" y="1981930"/>
                <a:ext cx="3903610"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2166990" y="2667730"/>
                <a:ext cx="3903610"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2166990" y="2997930"/>
                <a:ext cx="3903610"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2166990" y="3371852"/>
                <a:ext cx="3903610"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2166990" y="3721830"/>
                <a:ext cx="3903610"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V="1">
                <a:off x="2166990" y="4064730"/>
                <a:ext cx="3903610" cy="20828"/>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2166990" y="2337530"/>
                <a:ext cx="3903610"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grpSp>
        <p:grpSp>
          <p:nvGrpSpPr>
            <p:cNvPr id="39" name="Group 38"/>
            <p:cNvGrpSpPr/>
            <p:nvPr/>
          </p:nvGrpSpPr>
          <p:grpSpPr>
            <a:xfrm>
              <a:off x="6421023" y="1586642"/>
              <a:ext cx="1360634" cy="2569369"/>
              <a:chOff x="7221123" y="1586642"/>
              <a:chExt cx="1360634" cy="2569369"/>
            </a:xfrm>
          </p:grpSpPr>
          <p:grpSp>
            <p:nvGrpSpPr>
              <p:cNvPr id="18" name="Group 17"/>
              <p:cNvGrpSpPr/>
              <p:nvPr/>
            </p:nvGrpSpPr>
            <p:grpSpPr>
              <a:xfrm>
                <a:off x="7268633" y="1626330"/>
                <a:ext cx="1267885" cy="2438400"/>
                <a:chOff x="3098800" y="1511300"/>
                <a:chExt cx="1267885" cy="2438400"/>
              </a:xfrm>
            </p:grpSpPr>
            <p:cxnSp>
              <p:nvCxnSpPr>
                <p:cNvPr id="9" name="Straight Connector 8"/>
                <p:cNvCxnSpPr/>
                <p:nvPr/>
              </p:nvCxnSpPr>
              <p:spPr>
                <a:xfrm flipH="1">
                  <a:off x="4334933" y="3352800"/>
                  <a:ext cx="16934" cy="596900"/>
                </a:xfrm>
                <a:prstGeom prst="line">
                  <a:avLst/>
                </a:prstGeom>
                <a:ln w="41275">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H="1">
                  <a:off x="3098800" y="3365500"/>
                  <a:ext cx="1236133" cy="0"/>
                </a:xfrm>
                <a:prstGeom prst="line">
                  <a:avLst/>
                </a:prstGeom>
                <a:ln w="41275">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5" name="Elbow Connector 14"/>
                <p:cNvCxnSpPr/>
                <p:nvPr/>
              </p:nvCxnSpPr>
              <p:spPr>
                <a:xfrm rot="5400000" flipH="1" flipV="1">
                  <a:off x="2802467" y="1807634"/>
                  <a:ext cx="1860551" cy="1267884"/>
                </a:xfrm>
                <a:prstGeom prst="bentConnector3">
                  <a:avLst>
                    <a:gd name="adj1" fmla="val 69113"/>
                  </a:avLst>
                </a:prstGeom>
                <a:ln w="44450">
                  <a:solidFill>
                    <a:srgbClr val="0000FF"/>
                  </a:solidFill>
                </a:ln>
              </p:spPr>
              <p:style>
                <a:lnRef idx="2">
                  <a:schemeClr val="accent1"/>
                </a:lnRef>
                <a:fillRef idx="0">
                  <a:schemeClr val="accent1"/>
                </a:fillRef>
                <a:effectRef idx="1">
                  <a:schemeClr val="accent1"/>
                </a:effectRef>
                <a:fontRef idx="minor">
                  <a:schemeClr val="tx1"/>
                </a:fontRef>
              </p:style>
            </p:cxnSp>
          </p:grpSp>
          <p:sp>
            <p:nvSpPr>
              <p:cNvPr id="2" name="Oval 1"/>
              <p:cNvSpPr>
                <a:spLocks noChangeAspect="1"/>
              </p:cNvSpPr>
              <p:nvPr/>
            </p:nvSpPr>
            <p:spPr>
              <a:xfrm>
                <a:off x="8486738" y="1586642"/>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4" name="Oval 23"/>
              <p:cNvSpPr>
                <a:spLocks noChangeAspect="1"/>
              </p:cNvSpPr>
              <p:nvPr/>
            </p:nvSpPr>
            <p:spPr>
              <a:xfrm>
                <a:off x="8484065" y="1936289"/>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5" name="Oval 24"/>
              <p:cNvSpPr>
                <a:spLocks noChangeAspect="1"/>
              </p:cNvSpPr>
              <p:nvPr/>
            </p:nvSpPr>
            <p:spPr>
              <a:xfrm>
                <a:off x="7221123" y="2291889"/>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6" name="Oval 25"/>
              <p:cNvSpPr>
                <a:spLocks noChangeAspect="1"/>
              </p:cNvSpPr>
              <p:nvPr/>
            </p:nvSpPr>
            <p:spPr>
              <a:xfrm>
                <a:off x="7221123" y="2622089"/>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7" name="Oval 26"/>
              <p:cNvSpPr>
                <a:spLocks noChangeAspect="1"/>
              </p:cNvSpPr>
              <p:nvPr/>
            </p:nvSpPr>
            <p:spPr>
              <a:xfrm>
                <a:off x="7221123" y="2953019"/>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8" name="Oval 27"/>
              <p:cNvSpPr>
                <a:spLocks noChangeAspect="1"/>
              </p:cNvSpPr>
              <p:nvPr/>
            </p:nvSpPr>
            <p:spPr>
              <a:xfrm>
                <a:off x="7221123" y="3326211"/>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29" name="Oval 28"/>
              <p:cNvSpPr>
                <a:spLocks noChangeAspect="1"/>
              </p:cNvSpPr>
              <p:nvPr/>
            </p:nvSpPr>
            <p:spPr>
              <a:xfrm>
                <a:off x="8471365" y="3676189"/>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sp>
            <p:nvSpPr>
              <p:cNvPr id="30" name="Oval 29"/>
              <p:cNvSpPr>
                <a:spLocks noChangeAspect="1"/>
              </p:cNvSpPr>
              <p:nvPr/>
            </p:nvSpPr>
            <p:spPr>
              <a:xfrm>
                <a:off x="8457256" y="4064730"/>
                <a:ext cx="95019" cy="91281"/>
              </a:xfrm>
              <a:prstGeom prst="ellipse">
                <a:avLst/>
              </a:prstGeom>
              <a:solidFill>
                <a:srgbClr val="0000FF"/>
              </a:solidFill>
              <a:ln>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98"/>
              </a:p>
            </p:txBody>
          </p:sp>
        </p:grpSp>
      </p:grpSp>
      <p:sp>
        <p:nvSpPr>
          <p:cNvPr id="41" name="TextBox 40"/>
          <p:cNvSpPr txBox="1"/>
          <p:nvPr/>
        </p:nvSpPr>
        <p:spPr>
          <a:xfrm>
            <a:off x="8762844" y="2228561"/>
            <a:ext cx="4273926" cy="604524"/>
          </a:xfrm>
          <a:prstGeom prst="rect">
            <a:avLst/>
          </a:prstGeom>
          <a:noFill/>
        </p:spPr>
        <p:txBody>
          <a:bodyPr wrap="none" rtlCol="0">
            <a:spAutoFit/>
          </a:bodyPr>
          <a:lstStyle/>
          <a:p>
            <a:r>
              <a:rPr lang="en-US" sz="3698" dirty="0"/>
              <a:t>Radon Transform</a:t>
            </a:r>
          </a:p>
        </p:txBody>
      </p:sp>
      <p:sp>
        <p:nvSpPr>
          <p:cNvPr id="31" name="Shape 76"/>
          <p:cNvSpPr>
            <a:spLocks noGrp="1"/>
          </p:cNvSpPr>
          <p:nvPr>
            <p:ph type="title"/>
          </p:nvPr>
        </p:nvSpPr>
        <p:spPr>
          <a:xfrm>
            <a:off x="252076" y="-135222"/>
            <a:ext cx="12130336" cy="2159000"/>
          </a:xfrm>
          <a:prstGeom prst="rect">
            <a:avLst/>
          </a:prstGeom>
        </p:spPr>
        <p:txBody>
          <a:bodyPr/>
          <a:lstStyle/>
          <a:p>
            <a:r>
              <a:rPr lang="en-US" dirty="0"/>
              <a:t>Shadows: Radon transform</a:t>
            </a:r>
            <a:endParaRPr dirty="0"/>
          </a:p>
        </p:txBody>
      </p:sp>
    </p:spTree>
    <p:extLst>
      <p:ext uri="{BB962C8B-B14F-4D97-AF65-F5344CB8AC3E}">
        <p14:creationId xmlns:p14="http://schemas.microsoft.com/office/powerpoint/2010/main" val="12814759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shot 2011-03-01 at 10.50.01 PM.png"/>
          <p:cNvPicPr>
            <a:picLocks noChangeAspect="1"/>
          </p:cNvPicPr>
          <p:nvPr/>
        </p:nvPicPr>
        <p:blipFill rotWithShape="1">
          <a:blip r:embed="rId2">
            <a:extLst>
              <a:ext uri="{28A0092B-C50C-407E-A947-70E740481C1C}">
                <a14:useLocalDpi xmlns:a14="http://schemas.microsoft.com/office/drawing/2010/main" val="0"/>
              </a:ext>
            </a:extLst>
          </a:blip>
          <a:srcRect l="34999" t="22413" r="34000" b="30387"/>
          <a:stretch/>
        </p:blipFill>
        <p:spPr>
          <a:xfrm>
            <a:off x="578957" y="2452341"/>
            <a:ext cx="4031488" cy="3836416"/>
          </a:xfrm>
          <a:prstGeom prst="rect">
            <a:avLst/>
          </a:prstGeom>
        </p:spPr>
      </p:pic>
      <p:pic>
        <p:nvPicPr>
          <p:cNvPr id="5" name="Picture 4" descr="Screen shot 2011-03-01 at 10.59.01 PM.png"/>
          <p:cNvPicPr>
            <a:picLocks noChangeAspect="1"/>
          </p:cNvPicPr>
          <p:nvPr/>
        </p:nvPicPr>
        <p:blipFill rotWithShape="1">
          <a:blip r:embed="rId3">
            <a:extLst>
              <a:ext uri="{28A0092B-C50C-407E-A947-70E740481C1C}">
                <a14:useLocalDpi xmlns:a14="http://schemas.microsoft.com/office/drawing/2010/main" val="0"/>
              </a:ext>
            </a:extLst>
          </a:blip>
          <a:srcRect l="14003" t="24075" r="53995" b="30323"/>
          <a:stretch/>
        </p:blipFill>
        <p:spPr>
          <a:xfrm>
            <a:off x="8342901" y="2452341"/>
            <a:ext cx="4328269" cy="3854793"/>
          </a:xfrm>
          <a:prstGeom prst="rect">
            <a:avLst/>
          </a:prstGeom>
        </p:spPr>
      </p:pic>
      <p:pic>
        <p:nvPicPr>
          <p:cNvPr id="2" name="Picture 1" descr="Screen shot 2011-03-02 at 9.33.13 AM.png"/>
          <p:cNvPicPr>
            <a:picLocks noChangeAspect="1"/>
          </p:cNvPicPr>
          <p:nvPr/>
        </p:nvPicPr>
        <p:blipFill rotWithShape="1">
          <a:blip r:embed="rId4">
            <a:extLst>
              <a:ext uri="{28A0092B-C50C-407E-A947-70E740481C1C}">
                <a14:useLocalDpi xmlns:a14="http://schemas.microsoft.com/office/drawing/2010/main" val="0"/>
              </a:ext>
            </a:extLst>
          </a:blip>
          <a:srcRect l="5003" t="22488" r="78997" b="55913"/>
          <a:stretch/>
        </p:blipFill>
        <p:spPr>
          <a:xfrm>
            <a:off x="5004201" y="3378359"/>
            <a:ext cx="2829844" cy="2387571"/>
          </a:xfrm>
          <a:prstGeom prst="rect">
            <a:avLst/>
          </a:prstGeom>
          <a:ln w="25400">
            <a:solidFill>
              <a:schemeClr val="tx1"/>
            </a:solidFill>
          </a:ln>
        </p:spPr>
      </p:pic>
      <p:sp>
        <p:nvSpPr>
          <p:cNvPr id="7" name="TextBox 6"/>
          <p:cNvSpPr txBox="1"/>
          <p:nvPr/>
        </p:nvSpPr>
        <p:spPr>
          <a:xfrm>
            <a:off x="8139766" y="2003493"/>
            <a:ext cx="4616970" cy="604524"/>
          </a:xfrm>
          <a:prstGeom prst="rect">
            <a:avLst/>
          </a:prstGeom>
          <a:noFill/>
        </p:spPr>
        <p:txBody>
          <a:bodyPr wrap="none" rtlCol="0">
            <a:spAutoFit/>
          </a:bodyPr>
          <a:lstStyle/>
          <a:p>
            <a:r>
              <a:rPr lang="en-US" sz="3698" dirty="0"/>
              <a:t>Radon Transform R</a:t>
            </a:r>
          </a:p>
        </p:txBody>
      </p:sp>
      <p:sp>
        <p:nvSpPr>
          <p:cNvPr id="8" name="TextBox 7"/>
          <p:cNvSpPr txBox="1"/>
          <p:nvPr/>
        </p:nvSpPr>
        <p:spPr>
          <a:xfrm>
            <a:off x="1551108" y="2025731"/>
            <a:ext cx="1556836" cy="604524"/>
          </a:xfrm>
          <a:prstGeom prst="rect">
            <a:avLst/>
          </a:prstGeom>
          <a:noFill/>
        </p:spPr>
        <p:txBody>
          <a:bodyPr wrap="none" rtlCol="0">
            <a:spAutoFit/>
          </a:bodyPr>
          <a:lstStyle/>
          <a:p>
            <a:r>
              <a:rPr lang="en-US" sz="3698" dirty="0"/>
              <a:t>Image</a:t>
            </a:r>
          </a:p>
        </p:txBody>
      </p:sp>
      <p:sp>
        <p:nvSpPr>
          <p:cNvPr id="9" name="Shape 76"/>
          <p:cNvSpPr>
            <a:spLocks noGrp="1"/>
          </p:cNvSpPr>
          <p:nvPr>
            <p:ph type="title"/>
          </p:nvPr>
        </p:nvSpPr>
        <p:spPr>
          <a:xfrm>
            <a:off x="252076" y="-135222"/>
            <a:ext cx="12130336" cy="2159000"/>
          </a:xfrm>
          <a:prstGeom prst="rect">
            <a:avLst/>
          </a:prstGeom>
        </p:spPr>
        <p:txBody>
          <a:bodyPr/>
          <a:lstStyle/>
          <a:p>
            <a:r>
              <a:rPr lang="en-US" dirty="0"/>
              <a:t>Radon transform</a:t>
            </a:r>
            <a:endParaRPr dirty="0"/>
          </a:p>
        </p:txBody>
      </p:sp>
    </p:spTree>
    <p:extLst>
      <p:ext uri="{BB962C8B-B14F-4D97-AF65-F5344CB8AC3E}">
        <p14:creationId xmlns:p14="http://schemas.microsoft.com/office/powerpoint/2010/main" val="652879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p:cNvGrpSpPr/>
          <p:nvPr/>
        </p:nvGrpSpPr>
        <p:grpSpPr>
          <a:xfrm>
            <a:off x="901643" y="1477895"/>
            <a:ext cx="10217916" cy="7001988"/>
            <a:chOff x="240805" y="1067723"/>
            <a:chExt cx="7184472" cy="4923273"/>
          </a:xfrm>
        </p:grpSpPr>
        <p:grpSp>
          <p:nvGrpSpPr>
            <p:cNvPr id="46" name="Group 45"/>
            <p:cNvGrpSpPr/>
            <p:nvPr/>
          </p:nvGrpSpPr>
          <p:grpSpPr>
            <a:xfrm rot="200958">
              <a:off x="4332434" y="1067723"/>
              <a:ext cx="3092843" cy="2997272"/>
              <a:chOff x="4025530" y="1003473"/>
              <a:chExt cx="3092843" cy="2997272"/>
            </a:xfrm>
          </p:grpSpPr>
          <p:cxnSp>
            <p:nvCxnSpPr>
              <p:cNvPr id="32" name="Straight Connector 31"/>
              <p:cNvCxnSpPr/>
              <p:nvPr/>
            </p:nvCxnSpPr>
            <p:spPr>
              <a:xfrm>
                <a:off x="4025530" y="1003473"/>
                <a:ext cx="819110" cy="787227"/>
              </a:xfrm>
              <a:prstGeom prst="line">
                <a:avLst/>
              </a:prstGeom>
              <a:ln w="38100">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4844640" y="1790700"/>
                <a:ext cx="1467666" cy="0"/>
              </a:xfrm>
              <a:prstGeom prst="line">
                <a:avLst/>
              </a:prstGeom>
              <a:ln w="38100">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6312306" y="1790700"/>
                <a:ext cx="0" cy="1460500"/>
              </a:xfrm>
              <a:prstGeom prst="line">
                <a:avLst/>
              </a:prstGeom>
              <a:ln w="38100">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6312306" y="3251200"/>
                <a:ext cx="806067" cy="749545"/>
              </a:xfrm>
              <a:prstGeom prst="line">
                <a:avLst/>
              </a:prstGeom>
              <a:ln w="38100">
                <a:solidFill>
                  <a:srgbClr val="0000FF"/>
                </a:solidFill>
              </a:ln>
            </p:spPr>
            <p:style>
              <a:lnRef idx="2">
                <a:schemeClr val="accent1"/>
              </a:lnRef>
              <a:fillRef idx="0">
                <a:schemeClr val="accent1"/>
              </a:fillRef>
              <a:effectRef idx="1">
                <a:schemeClr val="accent1"/>
              </a:effectRef>
              <a:fontRef idx="minor">
                <a:schemeClr val="tx1"/>
              </a:fontRef>
            </p:style>
          </p:cxnSp>
        </p:grpSp>
        <p:grpSp>
          <p:nvGrpSpPr>
            <p:cNvPr id="45" name="Group 44"/>
            <p:cNvGrpSpPr/>
            <p:nvPr/>
          </p:nvGrpSpPr>
          <p:grpSpPr>
            <a:xfrm>
              <a:off x="240805" y="2741523"/>
              <a:ext cx="7048778" cy="3249473"/>
              <a:chOff x="-681081" y="2791827"/>
              <a:chExt cx="7048778" cy="3249473"/>
            </a:xfrm>
          </p:grpSpPr>
          <p:pic>
            <p:nvPicPr>
              <p:cNvPr id="3" name="Picture 2" descr="Screen shot 2011-03-01 at 10.50.01 PM.png"/>
              <p:cNvPicPr>
                <a:picLocks noChangeAspect="1"/>
              </p:cNvPicPr>
              <p:nvPr/>
            </p:nvPicPr>
            <p:blipFill rotWithShape="1">
              <a:blip r:embed="rId2">
                <a:extLst>
                  <a:ext uri="{28A0092B-C50C-407E-A947-70E740481C1C}">
                    <a14:useLocalDpi xmlns:a14="http://schemas.microsoft.com/office/drawing/2010/main" val="0"/>
                  </a:ext>
                </a:extLst>
              </a:blip>
              <a:srcRect l="34999" t="22413" r="34000" b="30387"/>
              <a:stretch/>
            </p:blipFill>
            <p:spPr>
              <a:xfrm>
                <a:off x="1124299" y="2804324"/>
                <a:ext cx="3401570" cy="3236976"/>
              </a:xfrm>
              <a:prstGeom prst="rect">
                <a:avLst/>
              </a:prstGeom>
            </p:spPr>
          </p:pic>
          <p:cxnSp>
            <p:nvCxnSpPr>
              <p:cNvPr id="19" name="Straight Arrow Connector 18"/>
              <p:cNvCxnSpPr/>
              <p:nvPr/>
            </p:nvCxnSpPr>
            <p:spPr>
              <a:xfrm rot="19213162" flipV="1">
                <a:off x="1490619" y="5400719"/>
                <a:ext cx="4684335" cy="24994"/>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grpSp>
            <p:nvGrpSpPr>
              <p:cNvPr id="5" name="Group 4"/>
              <p:cNvGrpSpPr/>
              <p:nvPr/>
            </p:nvGrpSpPr>
            <p:grpSpPr>
              <a:xfrm rot="19213162">
                <a:off x="414854" y="2863855"/>
                <a:ext cx="4684335" cy="2514600"/>
                <a:chOff x="1263706" y="2116387"/>
                <a:chExt cx="4684335" cy="2514600"/>
              </a:xfrm>
            </p:grpSpPr>
            <p:cxnSp>
              <p:nvCxnSpPr>
                <p:cNvPr id="10" name="Straight Arrow Connector 9"/>
                <p:cNvCxnSpPr/>
                <p:nvPr/>
              </p:nvCxnSpPr>
              <p:spPr>
                <a:xfrm>
                  <a:off x="1263706" y="2116387"/>
                  <a:ext cx="4684335"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1263706" y="2543107"/>
                  <a:ext cx="4684335"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1263706" y="3366067"/>
                  <a:ext cx="4684335"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1263706" y="3762307"/>
                  <a:ext cx="4684335"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1263706" y="4211014"/>
                  <a:ext cx="4684335"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1263706" y="4630987"/>
                  <a:ext cx="4684335"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1263706" y="2969827"/>
                  <a:ext cx="4684335" cy="0"/>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grpSp>
          <p:cxnSp>
            <p:nvCxnSpPr>
              <p:cNvPr id="43" name="Straight Arrow Connector 42"/>
              <p:cNvCxnSpPr/>
              <p:nvPr/>
            </p:nvCxnSpPr>
            <p:spPr>
              <a:xfrm rot="19213162" flipV="1">
                <a:off x="1683362" y="5756319"/>
                <a:ext cx="4684335" cy="24994"/>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rot="19213162" flipV="1">
                <a:off x="-681081" y="2791827"/>
                <a:ext cx="4684335" cy="24994"/>
              </a:xfrm>
              <a:prstGeom prst="straightConnector1">
                <a:avLst/>
              </a:prstGeom>
              <a:ln w="12700">
                <a:solidFill>
                  <a:srgbClr val="FF6600"/>
                </a:solidFill>
                <a:tailEnd type="arrow"/>
              </a:ln>
            </p:spPr>
            <p:style>
              <a:lnRef idx="2">
                <a:schemeClr val="accent1"/>
              </a:lnRef>
              <a:fillRef idx="0">
                <a:schemeClr val="accent1"/>
              </a:fillRef>
              <a:effectRef idx="1">
                <a:schemeClr val="accent1"/>
              </a:effectRef>
              <a:fontRef idx="minor">
                <a:schemeClr val="tx1"/>
              </a:fontRef>
            </p:style>
          </p:cxnSp>
        </p:grpSp>
      </p:grpSp>
      <p:sp>
        <p:nvSpPr>
          <p:cNvPr id="24" name="Shape 76"/>
          <p:cNvSpPr>
            <a:spLocks noGrp="1"/>
          </p:cNvSpPr>
          <p:nvPr>
            <p:ph type="title"/>
          </p:nvPr>
        </p:nvSpPr>
        <p:spPr>
          <a:xfrm>
            <a:off x="252075" y="-135222"/>
            <a:ext cx="12629735" cy="2159000"/>
          </a:xfrm>
          <a:prstGeom prst="rect">
            <a:avLst/>
          </a:prstGeom>
        </p:spPr>
        <p:txBody>
          <a:bodyPr/>
          <a:lstStyle/>
          <a:p>
            <a:r>
              <a:rPr lang="en-US" dirty="0"/>
              <a:t>Second view: Radon transform</a:t>
            </a:r>
            <a:endParaRPr dirty="0"/>
          </a:p>
        </p:txBody>
      </p:sp>
    </p:spTree>
    <p:extLst>
      <p:ext uri="{BB962C8B-B14F-4D97-AF65-F5344CB8AC3E}">
        <p14:creationId xmlns:p14="http://schemas.microsoft.com/office/powerpoint/2010/main" val="1458896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shot 2011-03-01 at 10.50.01 PM.png"/>
          <p:cNvPicPr>
            <a:picLocks noChangeAspect="1"/>
          </p:cNvPicPr>
          <p:nvPr/>
        </p:nvPicPr>
        <p:blipFill rotWithShape="1">
          <a:blip r:embed="rId2">
            <a:extLst>
              <a:ext uri="{28A0092B-C50C-407E-A947-70E740481C1C}">
                <a14:useLocalDpi xmlns:a14="http://schemas.microsoft.com/office/drawing/2010/main" val="0"/>
              </a:ext>
            </a:extLst>
          </a:blip>
          <a:srcRect l="34999" t="22413" r="34000" b="30387"/>
          <a:stretch/>
        </p:blipFill>
        <p:spPr>
          <a:xfrm>
            <a:off x="699372" y="2967472"/>
            <a:ext cx="5160471" cy="4910612"/>
          </a:xfrm>
          <a:prstGeom prst="rect">
            <a:avLst/>
          </a:prstGeom>
        </p:spPr>
      </p:pic>
      <p:pic>
        <p:nvPicPr>
          <p:cNvPr id="6" name="Picture 5" descr="Screen shot 2011-03-01 at 10.59.01 PM.png"/>
          <p:cNvPicPr>
            <a:picLocks noChangeAspect="1"/>
          </p:cNvPicPr>
          <p:nvPr/>
        </p:nvPicPr>
        <p:blipFill rotWithShape="1">
          <a:blip r:embed="rId3">
            <a:extLst>
              <a:ext uri="{28A0092B-C50C-407E-A947-70E740481C1C}">
                <a14:useLocalDpi xmlns:a14="http://schemas.microsoft.com/office/drawing/2010/main" val="0"/>
              </a:ext>
            </a:extLst>
          </a:blip>
          <a:srcRect l="44139" t="24075" r="23858" b="30323"/>
          <a:stretch/>
        </p:blipFill>
        <p:spPr>
          <a:xfrm>
            <a:off x="6651392" y="2967473"/>
            <a:ext cx="5658533" cy="5039632"/>
          </a:xfrm>
          <a:prstGeom prst="rect">
            <a:avLst/>
          </a:prstGeom>
        </p:spPr>
      </p:pic>
      <p:pic>
        <p:nvPicPr>
          <p:cNvPr id="2" name="Picture 1" descr="Screen shot 2011-03-02 at 9.48.44 AM.png"/>
          <p:cNvPicPr>
            <a:picLocks noChangeAspect="1"/>
          </p:cNvPicPr>
          <p:nvPr/>
        </p:nvPicPr>
        <p:blipFill rotWithShape="1">
          <a:blip r:embed="rId4">
            <a:extLst>
              <a:ext uri="{28A0092B-C50C-407E-A947-70E740481C1C}">
                <a14:useLocalDpi xmlns:a14="http://schemas.microsoft.com/office/drawing/2010/main" val="0"/>
              </a:ext>
            </a:extLst>
          </a:blip>
          <a:srcRect l="5003" t="43280" r="83997" b="51920"/>
          <a:stretch/>
        </p:blipFill>
        <p:spPr>
          <a:xfrm>
            <a:off x="8164127" y="8304287"/>
            <a:ext cx="2746614" cy="749076"/>
          </a:xfrm>
          <a:prstGeom prst="rect">
            <a:avLst/>
          </a:prstGeom>
          <a:ln w="19050">
            <a:solidFill>
              <a:schemeClr val="tx1"/>
            </a:solidFill>
          </a:ln>
        </p:spPr>
      </p:pic>
      <p:sp>
        <p:nvSpPr>
          <p:cNvPr id="7" name="TextBox 6"/>
          <p:cNvSpPr txBox="1"/>
          <p:nvPr/>
        </p:nvSpPr>
        <p:spPr>
          <a:xfrm>
            <a:off x="2255534" y="2442200"/>
            <a:ext cx="1556836" cy="604524"/>
          </a:xfrm>
          <a:prstGeom prst="rect">
            <a:avLst/>
          </a:prstGeom>
          <a:noFill/>
        </p:spPr>
        <p:txBody>
          <a:bodyPr wrap="none" rtlCol="0">
            <a:spAutoFit/>
          </a:bodyPr>
          <a:lstStyle/>
          <a:p>
            <a:r>
              <a:rPr lang="en-US" sz="3698" dirty="0"/>
              <a:t>Image</a:t>
            </a:r>
          </a:p>
        </p:txBody>
      </p:sp>
      <p:sp>
        <p:nvSpPr>
          <p:cNvPr id="8" name="TextBox 7"/>
          <p:cNvSpPr txBox="1"/>
          <p:nvPr/>
        </p:nvSpPr>
        <p:spPr>
          <a:xfrm>
            <a:off x="7185115" y="2442200"/>
            <a:ext cx="4616970" cy="604524"/>
          </a:xfrm>
          <a:prstGeom prst="rect">
            <a:avLst/>
          </a:prstGeom>
          <a:noFill/>
        </p:spPr>
        <p:txBody>
          <a:bodyPr wrap="none" rtlCol="0">
            <a:spAutoFit/>
          </a:bodyPr>
          <a:lstStyle/>
          <a:p>
            <a:r>
              <a:rPr lang="en-US" sz="3698" dirty="0"/>
              <a:t>Radon Transform R</a:t>
            </a:r>
          </a:p>
        </p:txBody>
      </p:sp>
      <p:sp>
        <p:nvSpPr>
          <p:cNvPr id="9" name="Shape 76"/>
          <p:cNvSpPr>
            <a:spLocks noGrp="1"/>
          </p:cNvSpPr>
          <p:nvPr>
            <p:ph type="title"/>
          </p:nvPr>
        </p:nvSpPr>
        <p:spPr>
          <a:xfrm>
            <a:off x="252076" y="-135222"/>
            <a:ext cx="12130336" cy="2159000"/>
          </a:xfrm>
          <a:prstGeom prst="rect">
            <a:avLst/>
          </a:prstGeom>
        </p:spPr>
        <p:txBody>
          <a:bodyPr/>
          <a:lstStyle/>
          <a:p>
            <a:r>
              <a:rPr lang="en-US" dirty="0"/>
              <a:t>Second view</a:t>
            </a:r>
            <a:endParaRPr dirty="0"/>
          </a:p>
        </p:txBody>
      </p:sp>
    </p:spTree>
    <p:extLst>
      <p:ext uri="{BB962C8B-B14F-4D97-AF65-F5344CB8AC3E}">
        <p14:creationId xmlns:p14="http://schemas.microsoft.com/office/powerpoint/2010/main" val="18531987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title"/>
          </p:nvPr>
        </p:nvSpPr>
        <p:spPr>
          <a:prstGeom prst="rect">
            <a:avLst/>
          </a:prstGeom>
        </p:spPr>
        <p:txBody>
          <a:bodyPr/>
          <a:lstStyle/>
          <a:p>
            <a:r>
              <a:rPr lang="en-US" dirty="0"/>
              <a:t>Lab next Tuesday</a:t>
            </a:r>
            <a:endParaRPr dirty="0"/>
          </a:p>
        </p:txBody>
      </p:sp>
      <p:sp>
        <p:nvSpPr>
          <p:cNvPr id="2" name="Rectangle 1"/>
          <p:cNvSpPr/>
          <p:nvPr/>
        </p:nvSpPr>
        <p:spPr>
          <a:xfrm>
            <a:off x="1711157" y="3430787"/>
            <a:ext cx="10528969" cy="2031325"/>
          </a:xfrm>
          <a:prstGeom prst="rect">
            <a:avLst/>
          </a:prstGeom>
        </p:spPr>
        <p:txBody>
          <a:bodyPr wrap="square">
            <a:spAutoFit/>
          </a:bodyPr>
          <a:lstStyle/>
          <a:p>
            <a:pPr marL="406394" indent="-406394" algn="l">
              <a:buFont typeface="Arial"/>
              <a:buChar char="•"/>
            </a:pPr>
            <a:r>
              <a:rPr lang="en-US" sz="3500" dirty="0"/>
              <a:t>Images and Radon transform in </a:t>
            </a:r>
            <a:r>
              <a:rPr lang="en-US" sz="3500" dirty="0" err="1"/>
              <a:t>Matlab</a:t>
            </a:r>
            <a:endParaRPr lang="en-US" sz="3500" dirty="0"/>
          </a:p>
          <a:p>
            <a:pPr marL="406394" indent="-406394" algn="l">
              <a:buFont typeface="Arial"/>
              <a:buChar char="•"/>
            </a:pPr>
            <a:endParaRPr lang="en-US" sz="3500" dirty="0"/>
          </a:p>
          <a:p>
            <a:pPr algn="l"/>
            <a:endParaRPr lang="en-US" sz="3500" dirty="0"/>
          </a:p>
          <a:p>
            <a:pPr marL="406394" indent="-406394" algn="l">
              <a:buFont typeface="Arial"/>
              <a:buChar char="•"/>
            </a:pPr>
            <a:r>
              <a:rPr lang="en-US" sz="3500" dirty="0"/>
              <a:t>Bring your computer!</a:t>
            </a:r>
          </a:p>
        </p:txBody>
      </p:sp>
    </p:spTree>
    <p:extLst>
      <p:ext uri="{BB962C8B-B14F-4D97-AF65-F5344CB8AC3E}">
        <p14:creationId xmlns:p14="http://schemas.microsoft.com/office/powerpoint/2010/main" val="488815051"/>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10;I \approx I_0 e^{-(\mu_1 + \mu_2 + \ldots + \mu_n)\Delta x}&#10;\]&#10;&#10;\end{document}"/>
  <p:tag name="FILENAME" val="TP_tmp"/>
  <p:tag name="FORMAT" val="png16m"/>
  <p:tag name="RES" val="1200"/>
  <p:tag name="BLEND" val="0"/>
  <p:tag name="TRANSPARENT" val="0"/>
  <p:tag name="TBUG" val="0"/>
  <p:tag name="ALLOWFS" val="0"/>
  <p:tag name="ORIGWIDTH" val="108"/>
  <p:tag name="PICTUREFILESIZE" val="6234"/>
</p:tagLst>
</file>

<file path=ppt/tags/tag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10;I = I_0 e^{-\int_0^L \mu(x) \, dx}&#10;\]&#10;&#10;\end{document}"/>
  <p:tag name="FILENAME" val="TP_tmp"/>
  <p:tag name="FORMAT" val="png16m"/>
  <p:tag name="RES" val="1200"/>
  <p:tag name="BLEND" val="0"/>
  <p:tag name="TRANSPARENT" val="0"/>
  <p:tag name="TBUG" val="0"/>
  <p:tag name="ALLOWFS" val="0"/>
  <p:tag name="ORIGWIDTH" val="79"/>
  <p:tag name="PICTUREFILESIZE" val="5366"/>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10;p = -\ln \left( \frac{I}{I_0} \right) = \int_0^L \mu(x) \, dx&#10;\]&#10;&#10;\end{document}"/>
  <p:tag name="FILENAME" val="TP_tmp"/>
  <p:tag name="FORMAT" val="png16m"/>
  <p:tag name="RES" val="1200"/>
  <p:tag name="BLEND" val="0"/>
  <p:tag name="TRANSPARENT" val="0"/>
  <p:tag name="TBUG" val="0"/>
  <p:tag name="ALLOWFS" val="0"/>
  <p:tag name="ORIGWIDTH" val="127"/>
  <p:tag name="PICTUREFILESIZE" val="10509"/>
</p:tagLst>
</file>

<file path=ppt/tags/tag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10;p = \int_0^L \mu(x) \, dx&#10;\]&#10;&#10;\end{document}"/>
  <p:tag name="FILENAME" val="TP_tmp"/>
  <p:tag name="FORMAT" val="png16m"/>
  <p:tag name="RES" val="1200"/>
  <p:tag name="BLEND" val="0"/>
  <p:tag name="TRANSPARENT" val="0"/>
  <p:tag name="TBUG" val="0"/>
  <p:tag name="ALLOWFS" val="0"/>
  <p:tag name="ORIGWIDTH" val="69"/>
  <p:tag name="PICTUREFILESIZE" val="6700"/>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10;p&#10;\]&#10;&#10;\end{document}"/>
  <p:tag name="FILENAME" val="TP_tmp"/>
  <p:tag name="FORMAT" val="png16m"/>
  <p:tag name="RES" val="1200"/>
  <p:tag name="BLEND" val="0"/>
  <p:tag name="TRANSPARENT" val="0"/>
  <p:tag name="TBUG" val="0"/>
  <p:tag name="ALLOWFS" val="0"/>
  <p:tag name="ORIGWIDTH" val="6"/>
  <p:tag name="PICTUREFILESIZE" val="921"/>
</p:tagLst>
</file>

<file path=ppt/tags/tag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10;&#10;\pagestyle{empty}&#10;&#10;\begin{document}&#10;\[&#10;\mu(x)&#10;\]&#10;&#10;\end{document}"/>
  <p:tag name="FILENAME" val="TP_tmp"/>
  <p:tag name="FORMAT" val="png16m"/>
  <p:tag name="RES" val="1200"/>
  <p:tag name="BLEND" val="0"/>
  <p:tag name="TRANSPARENT" val="0"/>
  <p:tag name="TBUG" val="0"/>
  <p:tag name="ALLOWFS" val="0"/>
  <p:tag name="ORIGWIDTH" val="19"/>
  <p:tag name="PICTUREFILESIZE" val="2191"/>
</p:tagLst>
</file>

<file path=ppt/tags/tag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usepackage{amsmath}&#10;\usepackage{xcolor,graphicx}&#10;\usepackage{helvet}&#10;\renewcommand{\familydefault}{\sfdefault}&#10;\DeclareMathOperator{\Nul}{Nul}&#10;&#10;\begin{document}&#10;&#10;$p \quad$  \textit{x-ray projection}\\&#10;&#10;&#10;\end{document}"/>
  <p:tag name="FILENAME" val="TP_tmp"/>
  <p:tag name="FORMAT" val="png16m"/>
  <p:tag name="RES" val="1200"/>
  <p:tag name="BLEND" val="0"/>
  <p:tag name="TRANSPARENT" val="0"/>
  <p:tag name="TBUG" val="0"/>
  <p:tag name="ALLOWFS" val="0"/>
  <p:tag name="ORIGWIDTH" val="87"/>
  <p:tag name="PICTUREFILESIZE" val="6075"/>
</p:tagLst>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_rels/theme2.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90000"/>
          </a:lnSpc>
          <a:spcBef>
            <a:spcPts val="0"/>
          </a:spcBef>
          <a:spcAft>
            <a:spcPts val="0"/>
          </a:spcAft>
          <a:buClrTx/>
          <a:buSzTx/>
          <a:buFontTx/>
          <a:buNone/>
          <a:tabLst/>
          <a:defRPr kumimoji="0" sz="26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2907</TotalTime>
  <Words>984</Words>
  <Application>Microsoft Macintosh PowerPoint</Application>
  <PresentationFormat>Custom</PresentationFormat>
  <Paragraphs>188</Paragraphs>
  <Slides>40</Slides>
  <Notes>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8" baseType="lpstr">
      <vt:lpstr>Arial</vt:lpstr>
      <vt:lpstr>Avenir Roman</vt:lpstr>
      <vt:lpstr>courier</vt:lpstr>
      <vt:lpstr>Gill Sans</vt:lpstr>
      <vt:lpstr>Helvetica</vt:lpstr>
      <vt:lpstr>Helvetica Light</vt:lpstr>
      <vt:lpstr>White</vt:lpstr>
      <vt:lpstr>Equation</vt:lpstr>
      <vt:lpstr>Inverse problems and imaging</vt:lpstr>
      <vt:lpstr>Photograph 51, FT, double helix</vt:lpstr>
      <vt:lpstr>Medical imaging “Reconstruction” problems </vt:lpstr>
      <vt:lpstr>Medical imaging</vt:lpstr>
      <vt:lpstr>Enter patient: 65 year old man</vt:lpstr>
      <vt:lpstr>Patient’s chest x-ray</vt:lpstr>
      <vt:lpstr>Conventional x-rays </vt:lpstr>
      <vt:lpstr>First radiographs</vt:lpstr>
      <vt:lpstr>Electromagnetic spectrum</vt:lpstr>
      <vt:lpstr>Activity: model for attenuation?</vt:lpstr>
      <vt:lpstr>Attenuation: uniform material</vt:lpstr>
      <vt:lpstr>Attenuation: nonuniform material</vt:lpstr>
      <vt:lpstr>Attenuation: nonuniform material</vt:lpstr>
      <vt:lpstr>Attenuation: nonuniform material</vt:lpstr>
      <vt:lpstr>Attenuation: nonuniform material</vt:lpstr>
      <vt:lpstr>Attenuation: nonuniform material</vt:lpstr>
      <vt:lpstr>What is known?</vt:lpstr>
      <vt:lpstr>What is known? What is unknown?</vt:lpstr>
      <vt:lpstr>X-rays: Shadows</vt:lpstr>
      <vt:lpstr>Tomography: solve for </vt:lpstr>
      <vt:lpstr>Patient’s CT Scan</vt:lpstr>
      <vt:lpstr>Basic idea: view 1</vt:lpstr>
      <vt:lpstr>Basic idea: view 2</vt:lpstr>
      <vt:lpstr>CT systems</vt:lpstr>
      <vt:lpstr>Modern CT system</vt:lpstr>
      <vt:lpstr>Break</vt:lpstr>
      <vt:lpstr>What is an image?</vt:lpstr>
      <vt:lpstr>Matlab: simple image</vt:lpstr>
      <vt:lpstr>Matlab: simple image </vt:lpstr>
      <vt:lpstr>Real images</vt:lpstr>
      <vt:lpstr>Kitten in Matlab</vt:lpstr>
      <vt:lpstr>Kitten in Matlab</vt:lpstr>
      <vt:lpstr>Partial information: shadows</vt:lpstr>
      <vt:lpstr>Radon transform</vt:lpstr>
      <vt:lpstr>Radon transform</vt:lpstr>
      <vt:lpstr>Shadows: Radon transform</vt:lpstr>
      <vt:lpstr>Radon transform</vt:lpstr>
      <vt:lpstr>Second view: Radon transform</vt:lpstr>
      <vt:lpstr>Second view</vt:lpstr>
      <vt:lpstr>Lab next Tuesday</vt:lpstr>
    </vt:vector>
  </TitlesOfParts>
  <LinksUpToDate>false</LinksUpToDate>
  <SharedDoc>false</SharedDoc>
  <HyperlinksChanged>false</HyperlinksChanged>
  <AppVersion>16.0012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Conventional x-rays </dc:title>
  <cp:lastModifiedBy>Margo Levine</cp:lastModifiedBy>
  <cp:revision>38</cp:revision>
  <dcterms:modified xsi:type="dcterms:W3CDTF">2019-01-28T15:03:09Z</dcterms:modified>
</cp:coreProperties>
</file>