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lvl1pPr>
    <a:lvl2pPr marL="0" marR="0" indent="22860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lvl2pPr>
    <a:lvl3pPr marL="0" marR="0" indent="45720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lvl3pPr>
    <a:lvl4pPr marL="0" marR="0" indent="68580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lvl4pPr>
    <a:lvl5pPr marL="0" marR="0" indent="91440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lvl5pPr>
    <a:lvl6pPr marL="0" marR="0" indent="114300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lvl6pPr>
    <a:lvl7pPr marL="0" marR="0" indent="137160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lvl7pPr>
    <a:lvl8pPr marL="0" marR="0" indent="160020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lvl8pPr>
    <a:lvl9pPr marL="0" marR="0" indent="182880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b="def" i="def"/>
      <a:tcStyle>
        <a:tcBdr/>
        <a:fill>
          <a:solidFill>
            <a:srgbClr val="C3C2C2"/>
          </a:solidFill>
        </a:fill>
      </a:tcStyle>
    </a:band2H>
    <a:firstCol>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b="def" i="def"/>
      <a:tcStyle>
        <a:tcBdr/>
        <a:fill>
          <a:solidFill>
            <a:srgbClr val="DCE5E6"/>
          </a:solidFill>
        </a:fill>
      </a:tcStyle>
    </a:band2H>
    <a:firstCol>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b="def" i="def"/>
      <a:tcStyle>
        <a:tcBdr/>
        <a:fill>
          <a:solidFill>
            <a:srgbClr val="DEDEDF"/>
          </a:solidFill>
        </a:fill>
      </a:tcStyle>
    </a:band2H>
    <a:firstCol>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Ref idx="maj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hape 70"/>
          <p:cNvSpPr/>
          <p:nvPr>
            <p:ph type="sldImg"/>
          </p:nvPr>
        </p:nvSpPr>
        <p:spPr>
          <a:xfrm>
            <a:off x="1143000" y="685800"/>
            <a:ext cx="4572000" cy="3429000"/>
          </a:xfrm>
          <a:prstGeom prst="rect">
            <a:avLst/>
          </a:prstGeom>
        </p:spPr>
        <p:txBody>
          <a:bodyPr/>
          <a:lstStyle/>
          <a:p>
            <a:pPr/>
          </a:p>
        </p:txBody>
      </p:sp>
      <p:sp>
        <p:nvSpPr>
          <p:cNvPr id="71" name="Shape 7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Avenir Roman"/>
        <a:ea typeface="Avenir Roman"/>
        <a:cs typeface="Avenir Roman"/>
        <a:sym typeface="Avenir Roman"/>
      </a:defRPr>
    </a:lvl1pPr>
    <a:lvl2pPr indent="228600" defTabSz="457200" latinLnBrk="0">
      <a:lnSpc>
        <a:spcPct val="125000"/>
      </a:lnSpc>
      <a:defRPr sz="2400">
        <a:latin typeface="Avenir Roman"/>
        <a:ea typeface="Avenir Roman"/>
        <a:cs typeface="Avenir Roman"/>
        <a:sym typeface="Avenir Roman"/>
      </a:defRPr>
    </a:lvl2pPr>
    <a:lvl3pPr indent="457200" defTabSz="457200" latinLnBrk="0">
      <a:lnSpc>
        <a:spcPct val="125000"/>
      </a:lnSpc>
      <a:defRPr sz="2400">
        <a:latin typeface="Avenir Roman"/>
        <a:ea typeface="Avenir Roman"/>
        <a:cs typeface="Avenir Roman"/>
        <a:sym typeface="Avenir Roman"/>
      </a:defRPr>
    </a:lvl3pPr>
    <a:lvl4pPr indent="685800" defTabSz="457200" latinLnBrk="0">
      <a:lnSpc>
        <a:spcPct val="125000"/>
      </a:lnSpc>
      <a:defRPr sz="2400">
        <a:latin typeface="Avenir Roman"/>
        <a:ea typeface="Avenir Roman"/>
        <a:cs typeface="Avenir Roman"/>
        <a:sym typeface="Avenir Roman"/>
      </a:defRPr>
    </a:lvl4pPr>
    <a:lvl5pPr indent="914400" defTabSz="457200" latinLnBrk="0">
      <a:lnSpc>
        <a:spcPct val="125000"/>
      </a:lnSpc>
      <a:defRPr sz="2400">
        <a:latin typeface="Avenir Roman"/>
        <a:ea typeface="Avenir Roman"/>
        <a:cs typeface="Avenir Roman"/>
        <a:sym typeface="Avenir Roman"/>
      </a:defRPr>
    </a:lvl5pPr>
    <a:lvl6pPr indent="1143000" defTabSz="457200" latinLnBrk="0">
      <a:lnSpc>
        <a:spcPct val="125000"/>
      </a:lnSpc>
      <a:defRPr sz="2400">
        <a:latin typeface="Avenir Roman"/>
        <a:ea typeface="Avenir Roman"/>
        <a:cs typeface="Avenir Roman"/>
        <a:sym typeface="Avenir Roman"/>
      </a:defRPr>
    </a:lvl6pPr>
    <a:lvl7pPr indent="1371600" defTabSz="457200" latinLnBrk="0">
      <a:lnSpc>
        <a:spcPct val="125000"/>
      </a:lnSpc>
      <a:defRPr sz="2400">
        <a:latin typeface="Avenir Roman"/>
        <a:ea typeface="Avenir Roman"/>
        <a:cs typeface="Avenir Roman"/>
        <a:sym typeface="Avenir Roman"/>
      </a:defRPr>
    </a:lvl7pPr>
    <a:lvl8pPr indent="1600200" defTabSz="457200" latinLnBrk="0">
      <a:lnSpc>
        <a:spcPct val="125000"/>
      </a:lnSpc>
      <a:defRPr sz="2400">
        <a:latin typeface="Avenir Roman"/>
        <a:ea typeface="Avenir Roman"/>
        <a:cs typeface="Avenir Roman"/>
        <a:sym typeface="Avenir Roman"/>
      </a:defRPr>
    </a:lvl8pPr>
    <a:lvl9pPr indent="1828800" defTabSz="457200" latinLnBrk="0">
      <a:lnSpc>
        <a:spcPct val="125000"/>
      </a:lnSpc>
      <a:defRPr sz="2400">
        <a:latin typeface="Avenir Roman"/>
        <a:ea typeface="Avenir Roman"/>
        <a:cs typeface="Avenir Roman"/>
        <a:sym typeface="Avenir Roman"/>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48" name="Shape 148"/>
          <p:cNvSpPr/>
          <p:nvPr>
            <p:ph type="sldImg"/>
          </p:nvPr>
        </p:nvSpPr>
        <p:spPr>
          <a:prstGeom prst="rect">
            <a:avLst/>
          </a:prstGeom>
        </p:spPr>
        <p:txBody>
          <a:bodyPr/>
          <a:lstStyle/>
          <a:p>
            <a:pPr/>
          </a:p>
        </p:txBody>
      </p:sp>
      <p:sp>
        <p:nvSpPr>
          <p:cNvPr id="149" name="Shape 149"/>
          <p:cNvSpPr/>
          <p:nvPr>
            <p:ph type="body" sz="quarter" idx="1"/>
          </p:nvPr>
        </p:nvSpPr>
        <p:spPr>
          <a:prstGeom prst="rect">
            <a:avLst/>
          </a:prstGeom>
        </p:spPr>
        <p:txBody>
          <a:bodyPr/>
          <a:lstStyle/>
          <a:p>
            <a:pPr/>
            <a:r>
              <a:t>Can ask for one line method to make white square using indices.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4" name="Shape 174"/>
          <p:cNvSpPr/>
          <p:nvPr>
            <p:ph type="sldImg"/>
          </p:nvPr>
        </p:nvSpPr>
        <p:spPr>
          <a:prstGeom prst="rect">
            <a:avLst/>
          </a:prstGeom>
        </p:spPr>
        <p:txBody>
          <a:bodyPr/>
          <a:lstStyle/>
          <a:p>
            <a:pPr/>
          </a:p>
        </p:txBody>
      </p:sp>
      <p:sp>
        <p:nvSpPr>
          <p:cNvPr id="175" name="Shape 175"/>
          <p:cNvSpPr/>
          <p:nvPr>
            <p:ph type="body" sz="quarter" idx="1"/>
          </p:nvPr>
        </p:nvSpPr>
        <p:spPr>
          <a:prstGeom prst="rect">
            <a:avLst/>
          </a:prstGeom>
        </p:spPr>
        <p:txBody>
          <a:bodyPr/>
          <a:lstStyle/>
          <a:p>
            <a:pPr/>
            <a:r>
              <a:t>When your read in png files, color is 0-255 not 0-1.</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45" name="Shape 345"/>
          <p:cNvSpPr/>
          <p:nvPr>
            <p:ph type="sldImg"/>
          </p:nvPr>
        </p:nvSpPr>
        <p:spPr>
          <a:prstGeom prst="rect">
            <a:avLst/>
          </a:prstGeom>
        </p:spPr>
        <p:txBody>
          <a:bodyPr/>
          <a:lstStyle/>
          <a:p>
            <a:pPr/>
          </a:p>
        </p:txBody>
      </p:sp>
      <p:sp>
        <p:nvSpPr>
          <p:cNvPr id="346" name="Shape 346"/>
          <p:cNvSpPr/>
          <p:nvPr>
            <p:ph type="body" sz="quarter" idx="1"/>
          </p:nvPr>
        </p:nvSpPr>
        <p:spPr>
          <a:prstGeom prst="rect">
            <a:avLst/>
          </a:prstGeom>
        </p:spPr>
        <p:txBody>
          <a:bodyPr/>
          <a:lstStyle>
            <a:lvl1pPr defTabSz="584200">
              <a:lnSpc>
                <a:spcPct val="100000"/>
              </a:lnSpc>
              <a:defRPr sz="2200">
                <a:latin typeface="Lucida Grande"/>
                <a:ea typeface="Lucida Grande"/>
                <a:cs typeface="Lucida Grande"/>
                <a:sym typeface="Lucida Grande"/>
              </a:defRPr>
            </a:lvl1pPr>
          </a:lstStyle>
          <a:p>
            <a:pPr/>
            <a:r>
              <a:t>To reconstruct a 3D object, we need shadows from different angles.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1" showMasterPhAnim="1">
  <p:cSld name="Title &amp; Subtitle">
    <p:spTree>
      <p:nvGrpSpPr>
        <p:cNvPr id="1" name=""/>
        <p:cNvGrpSpPr/>
        <p:nvPr/>
      </p:nvGrpSpPr>
      <p:grpSpPr>
        <a:xfrm>
          <a:off x="0" y="0"/>
          <a:ext cx="0" cy="0"/>
          <a:chOff x="0" y="0"/>
          <a:chExt cx="0" cy="0"/>
        </a:xfrm>
      </p:grpSpPr>
      <p:sp>
        <p:nvSpPr>
          <p:cNvPr id="11" name="Shape 11"/>
          <p:cNvSpPr/>
          <p:nvPr>
            <p:ph type="title"/>
          </p:nvPr>
        </p:nvSpPr>
        <p:spPr>
          <a:xfrm>
            <a:off x="1270000" y="1638300"/>
            <a:ext cx="10464800" cy="3302000"/>
          </a:xfrm>
          <a:prstGeom prst="rect">
            <a:avLst/>
          </a:prstGeom>
        </p:spPr>
        <p:txBody>
          <a:bodyPr anchor="b"/>
          <a:lstStyle/>
          <a:p>
            <a:pPr/>
            <a:r>
              <a:t>Title Text</a:t>
            </a:r>
          </a:p>
        </p:txBody>
      </p:sp>
      <p:sp>
        <p:nvSpPr>
          <p:cNvPr id="12" name="Shape 12"/>
          <p:cNvSpPr/>
          <p:nvPr>
            <p:ph type="body" sz="quarter" idx="1"/>
          </p:nvPr>
        </p:nvSpPr>
        <p:spPr>
          <a:xfrm>
            <a:off x="1270000" y="5029200"/>
            <a:ext cx="10464800" cy="1130300"/>
          </a:xfrm>
          <a:prstGeom prst="rect">
            <a:avLst/>
          </a:prstGeom>
        </p:spPr>
        <p:txBody>
          <a:bodyPr anchor="t"/>
          <a:lstStyle>
            <a:lvl1pPr marL="0" indent="0" algn="ctr">
              <a:lnSpc>
                <a:spcPct val="100000"/>
              </a:lnSpc>
              <a:spcBef>
                <a:spcPts val="0"/>
              </a:spcBef>
              <a:buSzTx/>
              <a:buNone/>
              <a:defRPr sz="3200"/>
            </a:lvl1pPr>
            <a:lvl2pPr marL="0" indent="228600" algn="ctr">
              <a:lnSpc>
                <a:spcPct val="100000"/>
              </a:lnSpc>
              <a:spcBef>
                <a:spcPts val="0"/>
              </a:spcBef>
              <a:buSzTx/>
              <a:buNone/>
              <a:defRPr sz="3200"/>
            </a:lvl2pPr>
            <a:lvl3pPr marL="0" indent="457200" algn="ctr">
              <a:lnSpc>
                <a:spcPct val="100000"/>
              </a:lnSpc>
              <a:spcBef>
                <a:spcPts val="0"/>
              </a:spcBef>
              <a:buSzTx/>
              <a:buNone/>
              <a:defRPr sz="3200"/>
            </a:lvl3pPr>
            <a:lvl4pPr marL="0" indent="685800" algn="ctr">
              <a:lnSpc>
                <a:spcPct val="100000"/>
              </a:lnSpc>
              <a:spcBef>
                <a:spcPts val="0"/>
              </a:spcBef>
              <a:buSzTx/>
              <a:buNone/>
              <a:defRPr sz="3200"/>
            </a:lvl4pPr>
            <a:lvl5pPr marL="0" indent="914400" algn="ctr">
              <a:lnSpc>
                <a:spcPct val="100000"/>
              </a:lnSpc>
              <a:spcBef>
                <a:spcPts val="0"/>
              </a:spcBef>
              <a:buSzTx/>
              <a:buNone/>
              <a:defRPr sz="3200"/>
            </a:lvl5pPr>
          </a:lstStyle>
          <a:p>
            <a:pPr/>
            <a:r>
              <a:t>Body Level One</a:t>
            </a:r>
          </a:p>
          <a:p>
            <a:pPr lvl="1"/>
            <a:r>
              <a:t>Body Level Two</a:t>
            </a:r>
          </a:p>
          <a:p>
            <a:pPr lvl="2"/>
            <a:r>
              <a:t>Body Level Three</a:t>
            </a:r>
          </a:p>
          <a:p>
            <a:pPr lvl="3"/>
            <a:r>
              <a:t>Body Level Four</a:t>
            </a:r>
          </a:p>
          <a:p>
            <a:pPr lvl="4"/>
            <a:r>
              <a:t>Body Level Five</a:t>
            </a:r>
          </a:p>
        </p:txBody>
      </p:sp>
      <p:sp>
        <p:nvSpPr>
          <p:cNvPr id="13" name="Shape 13"/>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1" showMasterPhAnim="1">
  <p:cSld name="Photo - Horizontal">
    <p:spTree>
      <p:nvGrpSpPr>
        <p:cNvPr id="1" name=""/>
        <p:cNvGrpSpPr/>
        <p:nvPr/>
      </p:nvGrpSpPr>
      <p:grpSpPr>
        <a:xfrm>
          <a:off x="0" y="0"/>
          <a:ext cx="0" cy="0"/>
          <a:chOff x="0" y="0"/>
          <a:chExt cx="0" cy="0"/>
        </a:xfrm>
      </p:grpSpPr>
      <p:sp>
        <p:nvSpPr>
          <p:cNvPr id="20" name="Shape 20"/>
          <p:cNvSpPr/>
          <p:nvPr>
            <p:ph type="pic" idx="13"/>
          </p:nvPr>
        </p:nvSpPr>
        <p:spPr>
          <a:xfrm>
            <a:off x="1606550" y="635000"/>
            <a:ext cx="9779000" cy="5918200"/>
          </a:xfrm>
          <a:prstGeom prst="rect">
            <a:avLst/>
          </a:prstGeom>
        </p:spPr>
        <p:txBody>
          <a:bodyPr lIns="91439" tIns="45719" rIns="91439" bIns="45719" anchor="t">
            <a:noAutofit/>
          </a:bodyPr>
          <a:lstStyle/>
          <a:p>
            <a:pPr/>
          </a:p>
        </p:txBody>
      </p:sp>
      <p:sp>
        <p:nvSpPr>
          <p:cNvPr id="21" name="Shape 21"/>
          <p:cNvSpPr/>
          <p:nvPr>
            <p:ph type="title"/>
          </p:nvPr>
        </p:nvSpPr>
        <p:spPr>
          <a:xfrm>
            <a:off x="1270000" y="6718300"/>
            <a:ext cx="10464800" cy="1422400"/>
          </a:xfrm>
          <a:prstGeom prst="rect">
            <a:avLst/>
          </a:prstGeom>
        </p:spPr>
        <p:txBody>
          <a:bodyPr anchor="b"/>
          <a:lstStyle/>
          <a:p>
            <a:pPr/>
            <a:r>
              <a:t>Title Text</a:t>
            </a:r>
          </a:p>
        </p:txBody>
      </p:sp>
      <p:sp>
        <p:nvSpPr>
          <p:cNvPr id="22" name="Shape 22"/>
          <p:cNvSpPr/>
          <p:nvPr>
            <p:ph type="body" sz="quarter" idx="1"/>
          </p:nvPr>
        </p:nvSpPr>
        <p:spPr>
          <a:xfrm>
            <a:off x="1270000" y="8191500"/>
            <a:ext cx="10464800" cy="1130300"/>
          </a:xfrm>
          <a:prstGeom prst="rect">
            <a:avLst/>
          </a:prstGeom>
        </p:spPr>
        <p:txBody>
          <a:bodyPr anchor="t"/>
          <a:lstStyle>
            <a:lvl1pPr marL="0" indent="0" algn="ctr">
              <a:lnSpc>
                <a:spcPct val="100000"/>
              </a:lnSpc>
              <a:spcBef>
                <a:spcPts val="0"/>
              </a:spcBef>
              <a:buSzTx/>
              <a:buNone/>
              <a:defRPr b="0" sz="3200">
                <a:latin typeface="+mn-lt"/>
                <a:ea typeface="+mn-ea"/>
                <a:cs typeface="+mn-cs"/>
                <a:sym typeface="Helvetica Light"/>
              </a:defRPr>
            </a:lvl1pPr>
            <a:lvl2pPr marL="0" indent="228600" algn="ctr">
              <a:lnSpc>
                <a:spcPct val="100000"/>
              </a:lnSpc>
              <a:spcBef>
                <a:spcPts val="0"/>
              </a:spcBef>
              <a:buSzTx/>
              <a:buNone/>
              <a:defRPr b="0" sz="3200">
                <a:latin typeface="+mn-lt"/>
                <a:ea typeface="+mn-ea"/>
                <a:cs typeface="+mn-cs"/>
                <a:sym typeface="Helvetica Light"/>
              </a:defRPr>
            </a:lvl2pPr>
            <a:lvl3pPr marL="0" indent="457200" algn="ctr">
              <a:lnSpc>
                <a:spcPct val="100000"/>
              </a:lnSpc>
              <a:spcBef>
                <a:spcPts val="0"/>
              </a:spcBef>
              <a:buSzTx/>
              <a:buNone/>
              <a:defRPr b="0" sz="3200">
                <a:latin typeface="+mn-lt"/>
                <a:ea typeface="+mn-ea"/>
                <a:cs typeface="+mn-cs"/>
                <a:sym typeface="Helvetica Light"/>
              </a:defRPr>
            </a:lvl3pPr>
            <a:lvl4pPr marL="0" indent="685800" algn="ctr">
              <a:lnSpc>
                <a:spcPct val="100000"/>
              </a:lnSpc>
              <a:spcBef>
                <a:spcPts val="0"/>
              </a:spcBef>
              <a:buSzTx/>
              <a:buNone/>
              <a:defRPr b="0" sz="3200">
                <a:latin typeface="+mn-lt"/>
                <a:ea typeface="+mn-ea"/>
                <a:cs typeface="+mn-cs"/>
                <a:sym typeface="Helvetica Light"/>
              </a:defRPr>
            </a:lvl4pPr>
            <a:lvl5pPr marL="0" indent="914400" algn="ctr">
              <a:lnSpc>
                <a:spcPct val="100000"/>
              </a:lnSpc>
              <a:spcBef>
                <a:spcPts val="0"/>
              </a:spcBef>
              <a:buSzTx/>
              <a:buNone/>
              <a:defRPr b="0" sz="3200">
                <a:latin typeface="+mn-lt"/>
                <a:ea typeface="+mn-ea"/>
                <a:cs typeface="+mn-cs"/>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3" name="Shape 23"/>
          <p:cNvSpPr/>
          <p:nvPr>
            <p:ph type="sldNum" sz="quarter" idx="2"/>
          </p:nvPr>
        </p:nvSpPr>
        <p:spPr>
          <a:xfrm>
            <a:off x="6311798" y="9245600"/>
            <a:ext cx="368504" cy="3810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1" showMasterPhAnim="1">
  <p:cSld name="Title - Center">
    <p:spTree>
      <p:nvGrpSpPr>
        <p:cNvPr id="1" name=""/>
        <p:cNvGrpSpPr/>
        <p:nvPr/>
      </p:nvGrpSpPr>
      <p:grpSpPr>
        <a:xfrm>
          <a:off x="0" y="0"/>
          <a:ext cx="0" cy="0"/>
          <a:chOff x="0" y="0"/>
          <a:chExt cx="0" cy="0"/>
        </a:xfrm>
      </p:grpSpPr>
      <p:sp>
        <p:nvSpPr>
          <p:cNvPr id="30" name="Shape 30"/>
          <p:cNvSpPr/>
          <p:nvPr>
            <p:ph type="title"/>
          </p:nvPr>
        </p:nvSpPr>
        <p:spPr>
          <a:xfrm>
            <a:off x="1270000" y="3225800"/>
            <a:ext cx="10464800" cy="3302000"/>
          </a:xfrm>
          <a:prstGeom prst="rect">
            <a:avLst/>
          </a:prstGeom>
        </p:spPr>
        <p:txBody>
          <a:bodyPr/>
          <a:lstStyle/>
          <a:p>
            <a:pPr/>
            <a:r>
              <a:t>Title Text</a:t>
            </a:r>
          </a:p>
        </p:txBody>
      </p:sp>
      <p:sp>
        <p:nvSpPr>
          <p:cNvPr id="31" name="Shape 31"/>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1" showMasterPhAnim="1">
  <p:cSld name="Title - Top">
    <p:spTree>
      <p:nvGrpSpPr>
        <p:cNvPr id="1" name=""/>
        <p:cNvGrpSpPr/>
        <p:nvPr/>
      </p:nvGrpSpPr>
      <p:grpSpPr>
        <a:xfrm>
          <a:off x="0" y="0"/>
          <a:ext cx="0" cy="0"/>
          <a:chOff x="0" y="0"/>
          <a:chExt cx="0" cy="0"/>
        </a:xfrm>
      </p:grpSpPr>
      <p:sp>
        <p:nvSpPr>
          <p:cNvPr id="38" name="Shape 38"/>
          <p:cNvSpPr/>
          <p:nvPr>
            <p:ph type="body" sz="half" idx="13"/>
          </p:nvPr>
        </p:nvSpPr>
        <p:spPr>
          <a:xfrm>
            <a:off x="437232" y="444500"/>
            <a:ext cx="12130336" cy="2159000"/>
          </a:xfrm>
          <a:prstGeom prst="rect">
            <a:avLst/>
          </a:prstGeom>
        </p:spPr>
        <p:txBody>
          <a:bodyPr/>
          <a:lstStyle>
            <a:lvl1pPr marL="0" indent="0" algn="ctr">
              <a:lnSpc>
                <a:spcPct val="100000"/>
              </a:lnSpc>
              <a:spcBef>
                <a:spcPts val="0"/>
              </a:spcBef>
              <a:buSzTx/>
              <a:buNone/>
              <a:defRPr sz="6400">
                <a:solidFill>
                  <a:schemeClr val="accent1">
                    <a:hueOff val="47394"/>
                    <a:satOff val="-25753"/>
                    <a:lumOff val="-7544"/>
                  </a:schemeClr>
                </a:solidFill>
                <a:effectLst>
                  <a:outerShdw sx="100000" sy="100000" kx="0" ky="0" algn="b" rotWithShape="0" blurRad="88900" dist="38100" dir="2700000">
                    <a:srgbClr val="000000">
                      <a:alpha val="30000"/>
                    </a:srgbClr>
                  </a:outerShdw>
                </a:effectLst>
              </a:defRPr>
            </a:lvl1pPr>
          </a:lstStyle>
          <a:p>
            <a:pPr/>
            <a:r>
              <a:t>Title Text</a:t>
            </a:r>
          </a:p>
        </p:txBody>
      </p:sp>
      <p:sp>
        <p:nvSpPr>
          <p:cNvPr id="39" name="Shape 39"/>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1" showMasterPhAnim="1">
  <p:cSld name="Title &amp; Bullets">
    <p:spTree>
      <p:nvGrpSpPr>
        <p:cNvPr id="1" name=""/>
        <p:cNvGrpSpPr/>
        <p:nvPr/>
      </p:nvGrpSpPr>
      <p:grpSpPr>
        <a:xfrm>
          <a:off x="0" y="0"/>
          <a:ext cx="0" cy="0"/>
          <a:chOff x="0" y="0"/>
          <a:chExt cx="0" cy="0"/>
        </a:xfrm>
      </p:grpSpPr>
      <p:sp>
        <p:nvSpPr>
          <p:cNvPr id="46" name="Shape 46"/>
          <p:cNvSpPr/>
          <p:nvPr>
            <p:ph type="title"/>
          </p:nvPr>
        </p:nvSpPr>
        <p:spPr>
          <a:xfrm>
            <a:off x="437232" y="444500"/>
            <a:ext cx="12130336" cy="2159000"/>
          </a:xfrm>
          <a:prstGeom prst="rect">
            <a:avLst/>
          </a:prstGeom>
        </p:spPr>
        <p:txBody>
          <a:bodyPr/>
          <a:lstStyle/>
          <a:p>
            <a:pPr/>
            <a:r>
              <a:t>Title Text</a:t>
            </a:r>
          </a:p>
        </p:txBody>
      </p:sp>
      <p:sp>
        <p:nvSpPr>
          <p:cNvPr id="47" name="Shape 47"/>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8" name="Shape 48"/>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1" showMasterPhAnim="1">
  <p:cSld name="Blank">
    <p:spTree>
      <p:nvGrpSpPr>
        <p:cNvPr id="1" name=""/>
        <p:cNvGrpSpPr/>
        <p:nvPr/>
      </p:nvGrpSpPr>
      <p:grpSpPr>
        <a:xfrm>
          <a:off x="0" y="0"/>
          <a:ext cx="0" cy="0"/>
          <a:chOff x="0" y="0"/>
          <a:chExt cx="0" cy="0"/>
        </a:xfrm>
      </p:grpSpPr>
      <p:sp>
        <p:nvSpPr>
          <p:cNvPr id="55" name="Shape 55"/>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type="tx" showMasterSp="1" showMasterPhAnim="1">
  <p:cSld name="Title &amp; Bullets">
    <p:spTree>
      <p:nvGrpSpPr>
        <p:cNvPr id="1" name=""/>
        <p:cNvGrpSpPr/>
        <p:nvPr/>
      </p:nvGrpSpPr>
      <p:grpSpPr>
        <a:xfrm>
          <a:off x="0" y="0"/>
          <a:ext cx="0" cy="0"/>
          <a:chOff x="0" y="0"/>
          <a:chExt cx="0" cy="0"/>
        </a:xfrm>
      </p:grpSpPr>
      <p:sp>
        <p:nvSpPr>
          <p:cNvPr id="62" name="Shape 62"/>
          <p:cNvSpPr/>
          <p:nvPr>
            <p:ph type="title"/>
          </p:nvPr>
        </p:nvSpPr>
        <p:spPr>
          <a:xfrm>
            <a:off x="1270000" y="254000"/>
            <a:ext cx="10464800" cy="2438400"/>
          </a:xfrm>
          <a:prstGeom prst="rect">
            <a:avLst/>
          </a:prstGeom>
        </p:spPr>
        <p:txBody>
          <a:bodyPr>
            <a:noAutofit/>
          </a:bodyPr>
          <a:lstStyle>
            <a:lvl1pPr>
              <a:defRPr b="0" sz="8400">
                <a:solidFill>
                  <a:srgbClr val="000000"/>
                </a:solidFill>
                <a:latin typeface="Gill Sans"/>
                <a:ea typeface="Gill Sans"/>
                <a:cs typeface="Gill Sans"/>
                <a:sym typeface="Gill Sans"/>
              </a:defRPr>
            </a:lvl1pPr>
          </a:lstStyle>
          <a:p>
            <a:pPr>
              <a:defRPr>
                <a:effectLst/>
              </a:defRPr>
            </a:pPr>
            <a:r>
              <a:t>Title Text</a:t>
            </a:r>
          </a:p>
        </p:txBody>
      </p:sp>
      <p:sp>
        <p:nvSpPr>
          <p:cNvPr id="63" name="Shape 63"/>
          <p:cNvSpPr/>
          <p:nvPr>
            <p:ph type="body" idx="1"/>
          </p:nvPr>
        </p:nvSpPr>
        <p:spPr>
          <a:xfrm>
            <a:off x="1270000" y="2768600"/>
            <a:ext cx="10464800" cy="5715000"/>
          </a:xfrm>
          <a:prstGeom prst="rect">
            <a:avLst/>
          </a:prstGeom>
        </p:spPr>
        <p:txBody>
          <a:bodyPr>
            <a:noAutofit/>
          </a:bodyPr>
          <a:lstStyle>
            <a:lvl1pPr marL="889000" indent="-571500">
              <a:lnSpc>
                <a:spcPct val="100000"/>
              </a:lnSpc>
              <a:spcBef>
                <a:spcPts val="2400"/>
              </a:spcBef>
              <a:buSzPct val="171000"/>
              <a:defRPr b="0" sz="4200">
                <a:latin typeface="Gill Sans"/>
                <a:ea typeface="Gill Sans"/>
                <a:cs typeface="Gill Sans"/>
                <a:sym typeface="Gill Sans"/>
              </a:defRPr>
            </a:lvl1pPr>
            <a:lvl2pPr marL="1333500" indent="-571500">
              <a:lnSpc>
                <a:spcPct val="100000"/>
              </a:lnSpc>
              <a:spcBef>
                <a:spcPts val="2400"/>
              </a:spcBef>
              <a:buSzPct val="171000"/>
              <a:defRPr b="0" sz="4200">
                <a:latin typeface="Gill Sans"/>
                <a:ea typeface="Gill Sans"/>
                <a:cs typeface="Gill Sans"/>
                <a:sym typeface="Gill Sans"/>
              </a:defRPr>
            </a:lvl2pPr>
            <a:lvl3pPr marL="1778000" indent="-571500">
              <a:lnSpc>
                <a:spcPct val="100000"/>
              </a:lnSpc>
              <a:spcBef>
                <a:spcPts val="2400"/>
              </a:spcBef>
              <a:buSzPct val="171000"/>
              <a:defRPr b="0" sz="4200">
                <a:latin typeface="Gill Sans"/>
                <a:ea typeface="Gill Sans"/>
                <a:cs typeface="Gill Sans"/>
                <a:sym typeface="Gill Sans"/>
              </a:defRPr>
            </a:lvl3pPr>
            <a:lvl4pPr marL="2222500" indent="-571500">
              <a:lnSpc>
                <a:spcPct val="100000"/>
              </a:lnSpc>
              <a:spcBef>
                <a:spcPts val="2400"/>
              </a:spcBef>
              <a:buSzPct val="171000"/>
              <a:defRPr b="0" sz="4200">
                <a:latin typeface="Gill Sans"/>
                <a:ea typeface="Gill Sans"/>
                <a:cs typeface="Gill Sans"/>
                <a:sym typeface="Gill Sans"/>
              </a:defRPr>
            </a:lvl4pPr>
            <a:lvl5pPr marL="2667000" indent="-571500">
              <a:lnSpc>
                <a:spcPct val="100000"/>
              </a:lnSpc>
              <a:spcBef>
                <a:spcPts val="2400"/>
              </a:spcBef>
              <a:buSzPct val="171000"/>
              <a:defRPr b="0" sz="4200">
                <a:latin typeface="Gill Sans"/>
                <a:ea typeface="Gill Sans"/>
                <a:cs typeface="Gill Sans"/>
                <a:sym typeface="Gill Sans"/>
              </a:defRPr>
            </a:lvl5pPr>
          </a:lstStyle>
          <a:p>
            <a:pPr/>
            <a:r>
              <a:t>Body Level One</a:t>
            </a:r>
          </a:p>
          <a:p>
            <a:pPr lvl="1"/>
            <a:r>
              <a:t>Body Level Two</a:t>
            </a:r>
          </a:p>
          <a:p>
            <a:pPr lvl="2"/>
            <a:r>
              <a:t>Body Level Three</a:t>
            </a:r>
          </a:p>
          <a:p>
            <a:pPr lvl="3"/>
            <a:r>
              <a:t>Body Level Four</a:t>
            </a:r>
          </a:p>
          <a:p>
            <a:pPr lvl="4"/>
            <a:r>
              <a:t>Body Level Five</a:t>
            </a:r>
          </a:p>
        </p:txBody>
      </p:sp>
      <p:sp>
        <p:nvSpPr>
          <p:cNvPr id="64" name="Shape 64"/>
          <p:cNvSpPr/>
          <p:nvPr>
            <p:ph type="sldNum" sz="quarter" idx="2"/>
          </p:nvPr>
        </p:nvSpPr>
        <p:spPr>
          <a:xfrm>
            <a:off x="6324600" y="9258300"/>
            <a:ext cx="342900" cy="368300"/>
          </a:xfrm>
          <a:prstGeom prst="rect">
            <a:avLst/>
          </a:prstGeom>
        </p:spPr>
        <p:txBody>
          <a:bodyPr>
            <a:spAutoFit/>
          </a:bodyPr>
          <a:lstStyle>
            <a:lvl1pPr>
              <a:defRPr>
                <a:latin typeface="Gill Sans"/>
                <a:ea typeface="Gill Sans"/>
                <a:cs typeface="Gill Sans"/>
                <a:sym typeface="Gill Sans"/>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2"/>
          <p:cNvSpPr/>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Shape 3"/>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hape 4"/>
          <p:cNvSpPr/>
          <p:nvPr>
            <p:ph type="sldNum" sz="quarter" idx="2"/>
          </p:nvPr>
        </p:nvSpPr>
        <p:spPr>
          <a:xfrm>
            <a:off x="6311798" y="9251950"/>
            <a:ext cx="368504" cy="381000"/>
          </a:xfrm>
          <a:prstGeom prst="rect">
            <a:avLst/>
          </a:prstGeom>
          <a:ln w="12700">
            <a:miter lim="400000"/>
          </a:ln>
        </p:spPr>
        <p:txBody>
          <a:bodyPr wrap="none" lIns="50800" tIns="50800" rIns="50800" bIns="50800">
            <a:normAutofit fontScale="100000" lnSpcReduction="0"/>
          </a:bodyPr>
          <a:lstStyle>
            <a:lvl1pPr>
              <a:lnSpc>
                <a:spcPct val="100000"/>
              </a:lnSpc>
              <a:defRPr b="0" sz="1800">
                <a:latin typeface="+mn-lt"/>
                <a:ea typeface="+mn-ea"/>
                <a:cs typeface="+mn-cs"/>
                <a:sym typeface="Helvetica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1pPr>
      <a:lvl2pPr marL="0" marR="0" indent="2286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2pPr>
      <a:lvl3pPr marL="0" marR="0" indent="4572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3pPr>
      <a:lvl4pPr marL="0" marR="0" indent="6858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4pPr>
      <a:lvl5pPr marL="0" marR="0" indent="9144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5pPr>
      <a:lvl6pPr marL="0" marR="0" indent="11430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6pPr>
      <a:lvl7pPr marL="0" marR="0" indent="13716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7pPr>
      <a:lvl8pPr marL="0" marR="0" indent="16002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8pPr>
      <a:lvl9pPr marL="0" marR="0" indent="18288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9pPr>
    </p:titleStyle>
    <p:bodyStyle>
      <a:lvl1pPr marL="444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1pPr>
      <a:lvl2pPr marL="889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2pPr>
      <a:lvl3pPr marL="1333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3pPr>
      <a:lvl4pPr marL="1778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4pPr>
      <a:lvl5pPr marL="2222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5pPr>
      <a:lvl6pPr marL="2667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6pPr>
      <a:lvl7pPr marL="3111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7pPr>
      <a:lvl8pPr marL="3556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8pPr>
      <a:lvl9pPr marL="4000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tif"/><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image" Target="../media/image2.tif"/></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13.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5.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7.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3.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4.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5.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6.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7.png"/><Relationship Id="rId3" Type="http://schemas.openxmlformats.org/officeDocument/2006/relationships/image" Target="../media/image38.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9.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40.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47.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9.png"/><Relationship Id="rId3" Type="http://schemas.openxmlformats.org/officeDocument/2006/relationships/image" Target="../media/image50.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1.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2.png"/><Relationship Id="rId3" Type="http://schemas.openxmlformats.org/officeDocument/2006/relationships/image" Target="../media/image53.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4.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5.png"/><Relationship Id="rId3" Type="http://schemas.openxmlformats.org/officeDocument/2006/relationships/image" Target="../media/image56.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7.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3" name="Shape 73"/>
          <p:cNvSpPr/>
          <p:nvPr>
            <p:ph type="title"/>
          </p:nvPr>
        </p:nvSpPr>
        <p:spPr>
          <a:prstGeom prst="rect">
            <a:avLst/>
          </a:prstGeom>
        </p:spPr>
        <p:txBody>
          <a:bodyPr/>
          <a:lstStyle/>
          <a:p>
            <a:pPr/>
            <a:r>
              <a:t>Topic 2: Imaging and Inverse Problems</a:t>
            </a:r>
          </a:p>
        </p:txBody>
      </p:sp>
      <p:sp>
        <p:nvSpPr>
          <p:cNvPr id="74" name="Shape 74"/>
          <p:cNvSpPr/>
          <p:nvPr>
            <p:ph type="body" idx="1"/>
          </p:nvPr>
        </p:nvSpPr>
        <p:spPr>
          <a:prstGeom prst="rect">
            <a:avLst/>
          </a:prstGeom>
        </p:spPr>
        <p:txBody>
          <a:bodyPr anchor="t"/>
          <a:lstStyle/>
          <a:p>
            <a:pPr/>
            <a:r>
              <a:t>Today:</a:t>
            </a:r>
          </a:p>
          <a:p>
            <a:pPr lvl="1"/>
            <a:r>
              <a:t>Basics of image analysis</a:t>
            </a:r>
          </a:p>
          <a:p>
            <a:pPr lvl="1"/>
            <a:r>
              <a:t>Python image analysis</a:t>
            </a:r>
          </a:p>
          <a:p>
            <a:pPr lvl="1"/>
            <a:r>
              <a:t>Inverse problems in medical imaging</a:t>
            </a:r>
          </a:p>
          <a:p>
            <a:pPr lvl="2"/>
            <a:r>
              <a:t>Radon Transform</a:t>
            </a:r>
          </a:p>
          <a:p>
            <a:pPr lvl="2"/>
            <a:r>
              <a:t>Tomography</a:t>
            </a:r>
          </a:p>
          <a:p>
            <a:pPr/>
            <a:r>
              <a:t>Monday: Rosalind Franklin and the discovery of DNA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6" name="Shape 76"/>
          <p:cNvSpPr/>
          <p:nvPr>
            <p:ph type="title"/>
          </p:nvPr>
        </p:nvSpPr>
        <p:spPr>
          <a:prstGeom prst="rect">
            <a:avLst/>
          </a:prstGeom>
        </p:spPr>
        <p:txBody>
          <a:bodyPr/>
          <a:lstStyle/>
          <a:p>
            <a:pPr/>
            <a:r>
              <a:t>What is an image?</a:t>
            </a:r>
          </a:p>
        </p:txBody>
      </p:sp>
      <p:sp>
        <p:nvSpPr>
          <p:cNvPr id="77" name="Shape 77"/>
          <p:cNvSpPr/>
          <p:nvPr>
            <p:ph type="body" sz="half" idx="1"/>
          </p:nvPr>
        </p:nvSpPr>
        <p:spPr>
          <a:xfrm>
            <a:off x="914400" y="3156694"/>
            <a:ext cx="6216650" cy="4989612"/>
          </a:xfrm>
          <a:prstGeom prst="rect">
            <a:avLst/>
          </a:prstGeom>
        </p:spPr>
        <p:txBody>
          <a:bodyPr anchor="t"/>
          <a:lstStyle/>
          <a:p>
            <a:pPr/>
            <a:r>
              <a:t>An image is a matrix</a:t>
            </a:r>
          </a:p>
          <a:p>
            <a:pPr/>
            <a:r>
              <a:t>A pixel </a:t>
            </a:r>
            <a:r>
              <a:rPr b="0" i="1"/>
              <a:t>v</a:t>
            </a:r>
            <a:r>
              <a:rPr b="0" baseline="-5999" i="1"/>
              <a:t>i</a:t>
            </a:r>
            <a:r>
              <a:rPr b="0" baseline="-5999"/>
              <a:t>,</a:t>
            </a:r>
            <a:r>
              <a:rPr b="0" baseline="-5999" i="1"/>
              <a:t>j</a:t>
            </a:r>
            <a:r>
              <a:t> is a value in a matrix</a:t>
            </a:r>
          </a:p>
          <a:p>
            <a:pPr/>
            <a:r>
              <a:t>For a simple greyscale image, black=0, white=1, and numbers in-between represent greys</a:t>
            </a:r>
          </a:p>
        </p:txBody>
      </p:sp>
      <p:sp>
        <p:nvSpPr>
          <p:cNvPr id="78" name="Shape 78"/>
          <p:cNvSpPr/>
          <p:nvPr/>
        </p:nvSpPr>
        <p:spPr>
          <a:xfrm>
            <a:off x="8280400" y="36195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79" name="Shape 79"/>
          <p:cNvSpPr/>
          <p:nvPr/>
        </p:nvSpPr>
        <p:spPr>
          <a:xfrm>
            <a:off x="9093200" y="36195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0" name="Shape 80"/>
          <p:cNvSpPr/>
          <p:nvPr/>
        </p:nvSpPr>
        <p:spPr>
          <a:xfrm>
            <a:off x="9906000" y="36195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1" name="Shape 81"/>
          <p:cNvSpPr/>
          <p:nvPr/>
        </p:nvSpPr>
        <p:spPr>
          <a:xfrm>
            <a:off x="10718800" y="36195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2" name="Shape 82"/>
          <p:cNvSpPr/>
          <p:nvPr/>
        </p:nvSpPr>
        <p:spPr>
          <a:xfrm>
            <a:off x="11531600" y="36195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3" name="Shape 83"/>
          <p:cNvSpPr/>
          <p:nvPr/>
        </p:nvSpPr>
        <p:spPr>
          <a:xfrm>
            <a:off x="8280400" y="44323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4" name="Shape 84"/>
          <p:cNvSpPr/>
          <p:nvPr/>
        </p:nvSpPr>
        <p:spPr>
          <a:xfrm>
            <a:off x="9093200" y="44323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5" name="Shape 85"/>
          <p:cNvSpPr/>
          <p:nvPr/>
        </p:nvSpPr>
        <p:spPr>
          <a:xfrm>
            <a:off x="9906000" y="44323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6" name="Shape 86"/>
          <p:cNvSpPr/>
          <p:nvPr/>
        </p:nvSpPr>
        <p:spPr>
          <a:xfrm>
            <a:off x="10718800" y="44323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7" name="Shape 87"/>
          <p:cNvSpPr/>
          <p:nvPr/>
        </p:nvSpPr>
        <p:spPr>
          <a:xfrm>
            <a:off x="11531600" y="4432300"/>
            <a:ext cx="814785" cy="812800"/>
          </a:xfrm>
          <a:prstGeom prst="rect">
            <a:avLst/>
          </a:prstGeom>
          <a:solidFill>
            <a:srgbClr val="A6AAA9"/>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8" name="Shape 88"/>
          <p:cNvSpPr/>
          <p:nvPr/>
        </p:nvSpPr>
        <p:spPr>
          <a:xfrm>
            <a:off x="8280400" y="52451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89" name="Shape 89"/>
          <p:cNvSpPr/>
          <p:nvPr/>
        </p:nvSpPr>
        <p:spPr>
          <a:xfrm>
            <a:off x="9093200" y="52451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0" name="Shape 90"/>
          <p:cNvSpPr/>
          <p:nvPr/>
        </p:nvSpPr>
        <p:spPr>
          <a:xfrm>
            <a:off x="9906000" y="52451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1" name="Shape 91"/>
          <p:cNvSpPr/>
          <p:nvPr/>
        </p:nvSpPr>
        <p:spPr>
          <a:xfrm>
            <a:off x="10718800" y="52451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2" name="Shape 92"/>
          <p:cNvSpPr/>
          <p:nvPr/>
        </p:nvSpPr>
        <p:spPr>
          <a:xfrm>
            <a:off x="11531600" y="52451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3" name="Shape 93"/>
          <p:cNvSpPr/>
          <p:nvPr/>
        </p:nvSpPr>
        <p:spPr>
          <a:xfrm>
            <a:off x="8280400" y="60579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4" name="Shape 94"/>
          <p:cNvSpPr/>
          <p:nvPr/>
        </p:nvSpPr>
        <p:spPr>
          <a:xfrm>
            <a:off x="9093200" y="60579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5" name="Shape 95"/>
          <p:cNvSpPr/>
          <p:nvPr/>
        </p:nvSpPr>
        <p:spPr>
          <a:xfrm>
            <a:off x="9906000" y="60579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6" name="Shape 96"/>
          <p:cNvSpPr/>
          <p:nvPr/>
        </p:nvSpPr>
        <p:spPr>
          <a:xfrm>
            <a:off x="10718800" y="60579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7" name="Shape 97"/>
          <p:cNvSpPr/>
          <p:nvPr/>
        </p:nvSpPr>
        <p:spPr>
          <a:xfrm>
            <a:off x="11531600" y="60579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8" name="Shape 98"/>
          <p:cNvSpPr/>
          <p:nvPr/>
        </p:nvSpPr>
        <p:spPr>
          <a:xfrm>
            <a:off x="8280400" y="68707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99" name="Shape 99"/>
          <p:cNvSpPr/>
          <p:nvPr/>
        </p:nvSpPr>
        <p:spPr>
          <a:xfrm>
            <a:off x="9093200" y="68707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100" name="Shape 100"/>
          <p:cNvSpPr/>
          <p:nvPr/>
        </p:nvSpPr>
        <p:spPr>
          <a:xfrm>
            <a:off x="9906000" y="68707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101" name="Shape 101"/>
          <p:cNvSpPr/>
          <p:nvPr/>
        </p:nvSpPr>
        <p:spPr>
          <a:xfrm>
            <a:off x="10718800" y="68707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102" name="Shape 102"/>
          <p:cNvSpPr/>
          <p:nvPr/>
        </p:nvSpPr>
        <p:spPr>
          <a:xfrm>
            <a:off x="11531600" y="68707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103" name="Shape 103"/>
          <p:cNvSpPr/>
          <p:nvPr/>
        </p:nvSpPr>
        <p:spPr>
          <a:xfrm>
            <a:off x="8538821" y="31178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104" name="Shape 104"/>
          <p:cNvSpPr/>
          <p:nvPr/>
        </p:nvSpPr>
        <p:spPr>
          <a:xfrm>
            <a:off x="9351621" y="31178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105" name="Shape 105"/>
          <p:cNvSpPr/>
          <p:nvPr/>
        </p:nvSpPr>
        <p:spPr>
          <a:xfrm>
            <a:off x="10164421" y="31178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106" name="Shape 106"/>
          <p:cNvSpPr/>
          <p:nvPr/>
        </p:nvSpPr>
        <p:spPr>
          <a:xfrm>
            <a:off x="10977221" y="31178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a:t>
            </a:r>
          </a:p>
        </p:txBody>
      </p:sp>
      <p:sp>
        <p:nvSpPr>
          <p:cNvPr id="107" name="Shape 107"/>
          <p:cNvSpPr/>
          <p:nvPr/>
        </p:nvSpPr>
        <p:spPr>
          <a:xfrm>
            <a:off x="11790021" y="31178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4</a:t>
            </a:r>
          </a:p>
        </p:txBody>
      </p:sp>
      <p:sp>
        <p:nvSpPr>
          <p:cNvPr id="108" name="Shape 108"/>
          <p:cNvSpPr/>
          <p:nvPr/>
        </p:nvSpPr>
        <p:spPr>
          <a:xfrm>
            <a:off x="7916521" y="37782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109" name="Shape 109"/>
          <p:cNvSpPr/>
          <p:nvPr/>
        </p:nvSpPr>
        <p:spPr>
          <a:xfrm>
            <a:off x="7916521" y="45910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a:t>
            </a:r>
          </a:p>
        </p:txBody>
      </p:sp>
      <p:sp>
        <p:nvSpPr>
          <p:cNvPr id="110" name="Shape 110"/>
          <p:cNvSpPr/>
          <p:nvPr/>
        </p:nvSpPr>
        <p:spPr>
          <a:xfrm>
            <a:off x="7916521" y="54038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111" name="Shape 111"/>
          <p:cNvSpPr/>
          <p:nvPr/>
        </p:nvSpPr>
        <p:spPr>
          <a:xfrm>
            <a:off x="7916521" y="62166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a:t>
            </a:r>
          </a:p>
        </p:txBody>
      </p:sp>
      <p:sp>
        <p:nvSpPr>
          <p:cNvPr id="112" name="Shape 112"/>
          <p:cNvSpPr/>
          <p:nvPr/>
        </p:nvSpPr>
        <p:spPr>
          <a:xfrm>
            <a:off x="7916521" y="70294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4</a:t>
            </a:r>
          </a:p>
        </p:txBody>
      </p:sp>
      <p:sp>
        <p:nvSpPr>
          <p:cNvPr id="113" name="Shape 113"/>
          <p:cNvSpPr/>
          <p:nvPr/>
        </p:nvSpPr>
        <p:spPr>
          <a:xfrm flipV="1">
            <a:off x="11142265" y="7797799"/>
            <a:ext cx="541736" cy="952700"/>
          </a:xfrm>
          <a:prstGeom prst="line">
            <a:avLst/>
          </a:prstGeom>
          <a:ln w="25400">
            <a:solidFill>
              <a:srgbClr val="000000"/>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sp>
        <p:nvSpPr>
          <p:cNvPr id="114" name="Shape 114"/>
          <p:cNvSpPr/>
          <p:nvPr/>
        </p:nvSpPr>
        <p:spPr>
          <a:xfrm>
            <a:off x="10553507" y="8629649"/>
            <a:ext cx="1145370"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0"/>
            </a:pPr>
            <a:r>
              <a:rPr i="1"/>
              <a:t>v</a:t>
            </a:r>
            <a:r>
              <a:rPr baseline="-5999"/>
              <a:t>4,4</a:t>
            </a:r>
            <a:r>
              <a:t> = 0</a:t>
            </a:r>
          </a:p>
        </p:txBody>
      </p:sp>
      <p:sp>
        <p:nvSpPr>
          <p:cNvPr id="115" name="Shape 115"/>
          <p:cNvSpPr/>
          <p:nvPr/>
        </p:nvSpPr>
        <p:spPr>
          <a:xfrm flipV="1">
            <a:off x="8132365" y="7797799"/>
            <a:ext cx="541736" cy="952700"/>
          </a:xfrm>
          <a:prstGeom prst="line">
            <a:avLst/>
          </a:prstGeom>
          <a:ln w="25400">
            <a:solidFill>
              <a:srgbClr val="000000"/>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sp>
        <p:nvSpPr>
          <p:cNvPr id="116" name="Shape 116"/>
          <p:cNvSpPr/>
          <p:nvPr/>
        </p:nvSpPr>
        <p:spPr>
          <a:xfrm>
            <a:off x="7492807" y="8629649"/>
            <a:ext cx="1145370"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0"/>
            </a:pPr>
            <a:r>
              <a:rPr i="1"/>
              <a:t>v</a:t>
            </a:r>
            <a:r>
              <a:rPr baseline="-5999"/>
              <a:t>4,0</a:t>
            </a:r>
            <a:r>
              <a:t> = 1</a:t>
            </a:r>
          </a:p>
        </p:txBody>
      </p:sp>
      <p:sp>
        <p:nvSpPr>
          <p:cNvPr id="117" name="Shape 117"/>
          <p:cNvSpPr/>
          <p:nvPr/>
        </p:nvSpPr>
        <p:spPr>
          <a:xfrm>
            <a:off x="11431816" y="2533649"/>
            <a:ext cx="142075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0"/>
            </a:pPr>
            <a:r>
              <a:rPr i="1"/>
              <a:t>v</a:t>
            </a:r>
            <a:r>
              <a:rPr baseline="-5999"/>
              <a:t>1,4</a:t>
            </a:r>
            <a:r>
              <a:t> = 0.5</a:t>
            </a:r>
          </a:p>
        </p:txBody>
      </p:sp>
      <p:sp>
        <p:nvSpPr>
          <p:cNvPr id="118" name="Shape 118"/>
          <p:cNvSpPr/>
          <p:nvPr/>
        </p:nvSpPr>
        <p:spPr>
          <a:xfrm>
            <a:off x="12420085" y="2991544"/>
            <a:ext cx="330610" cy="1777809"/>
          </a:xfrm>
          <a:custGeom>
            <a:avLst/>
            <a:gdLst/>
            <a:ahLst/>
            <a:cxnLst>
              <a:cxn ang="0">
                <a:pos x="wd2" y="hd2"/>
              </a:cxn>
              <a:cxn ang="5400000">
                <a:pos x="wd2" y="hd2"/>
              </a:cxn>
              <a:cxn ang="10800000">
                <a:pos x="wd2" y="hd2"/>
              </a:cxn>
              <a:cxn ang="16200000">
                <a:pos x="wd2" y="hd2"/>
              </a:cxn>
            </a:cxnLst>
            <a:rect l="0" t="0" r="r" b="b"/>
            <a:pathLst>
              <a:path w="17128" h="21600" fill="norm" stroke="1" extrusionOk="0">
                <a:moveTo>
                  <a:pt x="1278" y="0"/>
                </a:moveTo>
                <a:cubicBezTo>
                  <a:pt x="17491" y="4781"/>
                  <a:pt x="21600" y="11227"/>
                  <a:pt x="12058" y="16911"/>
                </a:cubicBezTo>
                <a:cubicBezTo>
                  <a:pt x="9187" y="18621"/>
                  <a:pt x="5111" y="20206"/>
                  <a:pt x="0" y="21600"/>
                </a:cubicBezTo>
              </a:path>
            </a:pathLst>
          </a:custGeom>
          <a:ln w="25400">
            <a:solidFill>
              <a:srgbClr val="000000"/>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0" name="Shape 120"/>
          <p:cNvSpPr/>
          <p:nvPr/>
        </p:nvSpPr>
        <p:spPr>
          <a:xfrm>
            <a:off x="8337473" y="6311900"/>
            <a:ext cx="4201315" cy="3143445"/>
          </a:xfrm>
          <a:prstGeom prst="rect">
            <a:avLst/>
          </a:prstGeom>
          <a:solidFill>
            <a:srgbClr val="000000"/>
          </a:solidFill>
          <a:ln w="12700">
            <a:miter lim="400000"/>
          </a:ln>
          <a:effectLst>
            <a:outerShdw sx="100000" sy="100000" kx="0" ky="0" algn="b" rotWithShape="0" blurRad="38100" dist="25400" dir="5400000">
              <a:srgbClr val="000000">
                <a:alpha val="50000"/>
              </a:srgbClr>
            </a:outerShdw>
          </a:effectLst>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121" name="Shape 121"/>
          <p:cNvSpPr/>
          <p:nvPr>
            <p:ph type="title"/>
          </p:nvPr>
        </p:nvSpPr>
        <p:spPr>
          <a:prstGeom prst="rect">
            <a:avLst/>
          </a:prstGeom>
        </p:spPr>
        <p:txBody>
          <a:bodyPr/>
          <a:lstStyle/>
          <a:p>
            <a:pPr/>
            <a:r>
              <a:t>Image analysis: what do we want to do?</a:t>
            </a:r>
          </a:p>
        </p:txBody>
      </p:sp>
      <p:sp>
        <p:nvSpPr>
          <p:cNvPr id="122" name="Shape 122"/>
          <p:cNvSpPr/>
          <p:nvPr>
            <p:ph type="body" sz="half" idx="1"/>
          </p:nvPr>
        </p:nvSpPr>
        <p:spPr>
          <a:xfrm>
            <a:off x="863600" y="2609850"/>
            <a:ext cx="6128197" cy="6286500"/>
          </a:xfrm>
          <a:prstGeom prst="rect">
            <a:avLst/>
          </a:prstGeom>
        </p:spPr>
        <p:txBody>
          <a:bodyPr/>
          <a:lstStyle/>
          <a:p>
            <a:pPr/>
            <a:r>
              <a:t>Reconstruct information about something based on noisy and incomplete data (ultrasound scans, seismic imaging, </a:t>
            </a:r>
            <a:r>
              <a:rPr b="0" i="1"/>
              <a:t>etc.</a:t>
            </a:r>
            <a:r>
              <a:t>)</a:t>
            </a:r>
          </a:p>
          <a:p>
            <a:pPr/>
            <a:r>
              <a:t>Detect specific objects in an image (traffic cones, road signs)</a:t>
            </a:r>
          </a:p>
          <a:p>
            <a:pPr/>
            <a:r>
              <a:t>Convert image data into a machine-readable format (text recognition)</a:t>
            </a:r>
          </a:p>
        </p:txBody>
      </p:sp>
      <p:pic>
        <p:nvPicPr>
          <p:cNvPr id="123" name="pasted-image.tif"/>
          <p:cNvPicPr>
            <a:picLocks noChangeAspect="1"/>
          </p:cNvPicPr>
          <p:nvPr/>
        </p:nvPicPr>
        <p:blipFill>
          <a:blip r:embed="rId2">
            <a:extLst/>
          </a:blip>
          <a:stretch>
            <a:fillRect/>
          </a:stretch>
        </p:blipFill>
        <p:spPr>
          <a:xfrm>
            <a:off x="8348464" y="2531772"/>
            <a:ext cx="4179332" cy="3134500"/>
          </a:xfrm>
          <a:prstGeom prst="rect">
            <a:avLst/>
          </a:prstGeom>
          <a:ln w="12700">
            <a:miter lim="400000"/>
          </a:ln>
        </p:spPr>
      </p:pic>
      <p:sp>
        <p:nvSpPr>
          <p:cNvPr id="124" name="Shape 124"/>
          <p:cNvSpPr/>
          <p:nvPr/>
        </p:nvSpPr>
        <p:spPr>
          <a:xfrm>
            <a:off x="8498427" y="7718735"/>
            <a:ext cx="544929" cy="9230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2" y="0"/>
                </a:moveTo>
                <a:lnTo>
                  <a:pt x="3915" y="19721"/>
                </a:lnTo>
                <a:lnTo>
                  <a:pt x="237" y="20003"/>
                </a:lnTo>
                <a:lnTo>
                  <a:pt x="0" y="21289"/>
                </a:lnTo>
                <a:lnTo>
                  <a:pt x="21600" y="21600"/>
                </a:lnTo>
                <a:lnTo>
                  <a:pt x="21538" y="20421"/>
                </a:lnTo>
                <a:lnTo>
                  <a:pt x="17647" y="19942"/>
                </a:lnTo>
                <a:lnTo>
                  <a:pt x="13915" y="1"/>
                </a:lnTo>
                <a:lnTo>
                  <a:pt x="10912" y="0"/>
                </a:lnTo>
                <a:close/>
              </a:path>
            </a:pathLst>
          </a:custGeom>
          <a:solidFill>
            <a:srgbClr val="F54F46"/>
          </a:solidFill>
          <a:ln w="12700">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25" name="Shape 125"/>
          <p:cNvSpPr/>
          <p:nvPr/>
        </p:nvSpPr>
        <p:spPr>
          <a:xfrm>
            <a:off x="9308052" y="7593310"/>
            <a:ext cx="443713" cy="7667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2" y="0"/>
                </a:moveTo>
                <a:lnTo>
                  <a:pt x="3915" y="19721"/>
                </a:lnTo>
                <a:lnTo>
                  <a:pt x="237" y="20003"/>
                </a:lnTo>
                <a:lnTo>
                  <a:pt x="0" y="21289"/>
                </a:lnTo>
                <a:lnTo>
                  <a:pt x="21600" y="21600"/>
                </a:lnTo>
                <a:lnTo>
                  <a:pt x="21538" y="20421"/>
                </a:lnTo>
                <a:lnTo>
                  <a:pt x="17647" y="19942"/>
                </a:lnTo>
                <a:lnTo>
                  <a:pt x="13915" y="1"/>
                </a:lnTo>
                <a:lnTo>
                  <a:pt x="10912" y="0"/>
                </a:lnTo>
                <a:close/>
              </a:path>
            </a:pathLst>
          </a:custGeom>
          <a:solidFill>
            <a:srgbClr val="F54F46"/>
          </a:solidFill>
          <a:ln w="12700">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26" name="Shape 126"/>
          <p:cNvSpPr/>
          <p:nvPr/>
        </p:nvSpPr>
        <p:spPr>
          <a:xfrm>
            <a:off x="8812752" y="7625060"/>
            <a:ext cx="471842" cy="854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2" y="0"/>
                </a:moveTo>
                <a:lnTo>
                  <a:pt x="3915" y="19721"/>
                </a:lnTo>
                <a:lnTo>
                  <a:pt x="237" y="20003"/>
                </a:lnTo>
                <a:lnTo>
                  <a:pt x="0" y="21289"/>
                </a:lnTo>
                <a:lnTo>
                  <a:pt x="21600" y="21600"/>
                </a:lnTo>
                <a:lnTo>
                  <a:pt x="21538" y="20421"/>
                </a:lnTo>
                <a:lnTo>
                  <a:pt x="17647" y="19942"/>
                </a:lnTo>
                <a:lnTo>
                  <a:pt x="13915" y="1"/>
                </a:lnTo>
                <a:lnTo>
                  <a:pt x="10912" y="0"/>
                </a:lnTo>
                <a:close/>
              </a:path>
            </a:pathLst>
          </a:custGeom>
          <a:solidFill>
            <a:srgbClr val="F54F46"/>
          </a:solidFill>
          <a:ln w="12700">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27" name="Shape 127"/>
          <p:cNvSpPr/>
          <p:nvPr/>
        </p:nvSpPr>
        <p:spPr>
          <a:xfrm>
            <a:off x="9517602" y="7500241"/>
            <a:ext cx="420173" cy="6702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2" y="0"/>
                </a:moveTo>
                <a:lnTo>
                  <a:pt x="3915" y="19721"/>
                </a:lnTo>
                <a:lnTo>
                  <a:pt x="237" y="20003"/>
                </a:lnTo>
                <a:lnTo>
                  <a:pt x="0" y="21289"/>
                </a:lnTo>
                <a:lnTo>
                  <a:pt x="21600" y="21600"/>
                </a:lnTo>
                <a:lnTo>
                  <a:pt x="21538" y="20421"/>
                </a:lnTo>
                <a:lnTo>
                  <a:pt x="17647" y="19942"/>
                </a:lnTo>
                <a:lnTo>
                  <a:pt x="13915" y="1"/>
                </a:lnTo>
                <a:lnTo>
                  <a:pt x="10912" y="0"/>
                </a:lnTo>
                <a:close/>
              </a:path>
            </a:pathLst>
          </a:custGeom>
          <a:solidFill>
            <a:srgbClr val="F54F46"/>
          </a:solidFill>
          <a:ln w="12700">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28" name="Shape 128"/>
          <p:cNvSpPr/>
          <p:nvPr/>
        </p:nvSpPr>
        <p:spPr>
          <a:xfrm>
            <a:off x="10130377" y="7427216"/>
            <a:ext cx="420173" cy="6702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2" y="0"/>
                </a:moveTo>
                <a:lnTo>
                  <a:pt x="3915" y="19721"/>
                </a:lnTo>
                <a:lnTo>
                  <a:pt x="237" y="20003"/>
                </a:lnTo>
                <a:lnTo>
                  <a:pt x="0" y="21289"/>
                </a:lnTo>
                <a:lnTo>
                  <a:pt x="21600" y="21600"/>
                </a:lnTo>
                <a:lnTo>
                  <a:pt x="21538" y="20421"/>
                </a:lnTo>
                <a:lnTo>
                  <a:pt x="17647" y="19942"/>
                </a:lnTo>
                <a:lnTo>
                  <a:pt x="13915" y="1"/>
                </a:lnTo>
                <a:lnTo>
                  <a:pt x="10912" y="0"/>
                </a:lnTo>
                <a:close/>
              </a:path>
            </a:pathLst>
          </a:custGeom>
          <a:solidFill>
            <a:srgbClr val="F54F46"/>
          </a:solidFill>
          <a:ln w="12700">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29" name="Shape 129"/>
          <p:cNvSpPr/>
          <p:nvPr/>
        </p:nvSpPr>
        <p:spPr>
          <a:xfrm>
            <a:off x="11679777" y="7478016"/>
            <a:ext cx="396534" cy="5686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2" y="0"/>
                </a:moveTo>
                <a:lnTo>
                  <a:pt x="3915" y="19721"/>
                </a:lnTo>
                <a:lnTo>
                  <a:pt x="237" y="20003"/>
                </a:lnTo>
                <a:lnTo>
                  <a:pt x="0" y="21289"/>
                </a:lnTo>
                <a:lnTo>
                  <a:pt x="21600" y="21600"/>
                </a:lnTo>
                <a:lnTo>
                  <a:pt x="21538" y="20421"/>
                </a:lnTo>
                <a:lnTo>
                  <a:pt x="17647" y="19942"/>
                </a:lnTo>
                <a:lnTo>
                  <a:pt x="13915" y="1"/>
                </a:lnTo>
                <a:lnTo>
                  <a:pt x="10912" y="0"/>
                </a:lnTo>
                <a:close/>
              </a:path>
            </a:pathLst>
          </a:custGeom>
          <a:solidFill>
            <a:srgbClr val="F54F46"/>
          </a:solidFill>
          <a:ln w="12700">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30" name="Shape 130"/>
          <p:cNvSpPr/>
          <p:nvPr/>
        </p:nvSpPr>
        <p:spPr>
          <a:xfrm rot="5400000">
            <a:off x="9803130" y="5575399"/>
            <a:ext cx="1270001" cy="914202"/>
          </a:xfrm>
          <a:prstGeom prst="rightArrow">
            <a:avLst>
              <a:gd name="adj1" fmla="val 44758"/>
              <a:gd name="adj2" fmla="val 52719"/>
            </a:avLst>
          </a:prstGeom>
          <a:blipFill>
            <a:blip r:embed="rId3"/>
          </a:blipFill>
          <a:ln w="12700">
            <a:miter lim="400000"/>
          </a:ln>
          <a:effectLst>
            <a:outerShdw sx="100000" sy="100000" kx="0" ky="0" algn="b" rotWithShape="0" blurRad="38100" dist="25400" dir="5400000">
              <a:srgbClr val="000000">
                <a:alpha val="50000"/>
              </a:srgbClr>
            </a:outerShdw>
          </a:effectLst>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131" name="Shape 131"/>
          <p:cNvSpPr/>
          <p:nvPr/>
        </p:nvSpPr>
        <p:spPr>
          <a:xfrm>
            <a:off x="8621920" y="86169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FFFF"/>
                </a:solidFill>
              </a:defRPr>
            </a:lvl1pPr>
          </a:lstStyle>
          <a:p>
            <a:pPr/>
            <a:r>
              <a:t>1</a:t>
            </a:r>
          </a:p>
        </p:txBody>
      </p:sp>
      <p:sp>
        <p:nvSpPr>
          <p:cNvPr id="132" name="Shape 132"/>
          <p:cNvSpPr/>
          <p:nvPr/>
        </p:nvSpPr>
        <p:spPr>
          <a:xfrm>
            <a:off x="9053720" y="84518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FFFF"/>
                </a:solidFill>
              </a:defRPr>
            </a:lvl1pPr>
          </a:lstStyle>
          <a:p>
            <a:pPr/>
            <a:r>
              <a:t>2</a:t>
            </a:r>
          </a:p>
        </p:txBody>
      </p:sp>
      <p:sp>
        <p:nvSpPr>
          <p:cNvPr id="133" name="Shape 133"/>
          <p:cNvSpPr/>
          <p:nvPr/>
        </p:nvSpPr>
        <p:spPr>
          <a:xfrm>
            <a:off x="9380938" y="82740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FFFF"/>
                </a:solidFill>
              </a:defRPr>
            </a:lvl1pPr>
          </a:lstStyle>
          <a:p>
            <a:pPr/>
            <a:r>
              <a:t>3</a:t>
            </a:r>
          </a:p>
        </p:txBody>
      </p:sp>
      <p:sp>
        <p:nvSpPr>
          <p:cNvPr id="134" name="Shape 134"/>
          <p:cNvSpPr/>
          <p:nvPr/>
        </p:nvSpPr>
        <p:spPr>
          <a:xfrm>
            <a:off x="9761938" y="8083550"/>
            <a:ext cx="29794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FFFF"/>
                </a:solidFill>
              </a:defRPr>
            </a:lvl1pPr>
          </a:lstStyle>
          <a:p>
            <a:pPr/>
            <a:r>
              <a:t>4</a:t>
            </a:r>
          </a:p>
        </p:txBody>
      </p:sp>
      <p:sp>
        <p:nvSpPr>
          <p:cNvPr id="135" name="Shape 135"/>
          <p:cNvSpPr/>
          <p:nvPr/>
        </p:nvSpPr>
        <p:spPr>
          <a:xfrm>
            <a:off x="10289159" y="8007350"/>
            <a:ext cx="297943"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FFFF"/>
                </a:solidFill>
              </a:defRPr>
            </a:lvl1pPr>
          </a:lstStyle>
          <a:p>
            <a:pPr/>
            <a:r>
              <a:t>5</a:t>
            </a:r>
          </a:p>
        </p:txBody>
      </p:sp>
      <p:sp>
        <p:nvSpPr>
          <p:cNvPr id="136" name="Shape 136"/>
          <p:cNvSpPr/>
          <p:nvPr/>
        </p:nvSpPr>
        <p:spPr>
          <a:xfrm>
            <a:off x="11729073" y="7981950"/>
            <a:ext cx="297943"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FFFF"/>
                </a:solidFill>
              </a:defRPr>
            </a:lvl1pPr>
          </a:lstStyle>
          <a:p>
            <a:pPr/>
            <a:r>
              <a:t>6</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38" name="Shape 138"/>
          <p:cNvSpPr/>
          <p:nvPr>
            <p:ph type="title"/>
          </p:nvPr>
        </p:nvSpPr>
        <p:spPr>
          <a:prstGeom prst="rect">
            <a:avLst/>
          </a:prstGeom>
        </p:spPr>
        <p:txBody>
          <a:bodyPr/>
          <a:lstStyle/>
          <a:p>
            <a:pPr/>
            <a:r>
              <a:t>Image analysis in Python</a:t>
            </a:r>
          </a:p>
        </p:txBody>
      </p:sp>
      <p:sp>
        <p:nvSpPr>
          <p:cNvPr id="139" name="Shape 139"/>
          <p:cNvSpPr/>
          <p:nvPr>
            <p:ph type="body" idx="1"/>
          </p:nvPr>
        </p:nvSpPr>
        <p:spPr>
          <a:prstGeom prst="rect">
            <a:avLst/>
          </a:prstGeom>
        </p:spPr>
        <p:txBody>
          <a:bodyPr/>
          <a:lstStyle/>
          <a:p>
            <a:pPr/>
            <a:r>
              <a:t>Images are represented by arrays in NumPy</a:t>
            </a:r>
          </a:p>
          <a:p>
            <a:pPr/>
            <a:r>
              <a:t>Basic image manipulation using ndimage module in SciPy</a:t>
            </a:r>
          </a:p>
          <a:p>
            <a:pPr/>
            <a:r>
              <a:t>More advanced image routines in the scikit-image module</a:t>
            </a:r>
          </a:p>
          <a:p>
            <a:pPr/>
            <a:r>
              <a:t>All of these modules are incorporated into Anaconda Python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41" name="Shape 141"/>
          <p:cNvSpPr/>
          <p:nvPr>
            <p:ph type="title"/>
          </p:nvPr>
        </p:nvSpPr>
        <p:spPr>
          <a:xfrm>
            <a:off x="437232" y="63500"/>
            <a:ext cx="12130336" cy="2159000"/>
          </a:xfrm>
          <a:prstGeom prst="rect">
            <a:avLst/>
          </a:prstGeom>
        </p:spPr>
        <p:txBody>
          <a:bodyPr/>
          <a:lstStyle/>
          <a:p>
            <a:pPr/>
            <a:r>
              <a:t>A simple image</a:t>
            </a:r>
          </a:p>
        </p:txBody>
      </p:sp>
      <p:sp>
        <p:nvSpPr>
          <p:cNvPr id="142" name="Shape 142"/>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43" name="Shape 143"/>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144" name="Shape 144"/>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145" name="Shape 145"/>
          <p:cNvSpPr/>
          <p:nvPr/>
        </p:nvSpPr>
        <p:spPr>
          <a:xfrm>
            <a:off x="97383" y="9213849"/>
            <a:ext cx="4010621"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simple_image.py</a:t>
            </a:r>
          </a:p>
        </p:txBody>
      </p:sp>
      <p:sp>
        <p:nvSpPr>
          <p:cNvPr id="146" name="Shape 146"/>
          <p:cNvSpPr/>
          <p:nvPr/>
        </p:nvSpPr>
        <p:spPr>
          <a:xfrm>
            <a:off x="633927" y="3064915"/>
            <a:ext cx="5344195" cy="5168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Initialize a 400 x 400 matrix to be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all zeros (corresponding to black)</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a=np.zeros((</a:t>
            </a:r>
            <a:r>
              <a:rPr>
                <a:solidFill>
                  <a:srgbClr val="0433FF"/>
                </a:solidFill>
              </a:rPr>
              <a:t>400</a:t>
            </a:r>
            <a:r>
              <a:t>,</a:t>
            </a:r>
            <a:r>
              <a:rPr>
                <a:solidFill>
                  <a:srgbClr val="0433FF"/>
                </a:solidFill>
              </a:rPr>
              <a:t>400</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Create a big white square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a:t>
            </a:r>
            <a:r>
              <a:rPr>
                <a:solidFill>
                  <a:srgbClr val="0433FF"/>
                </a:solidFill>
              </a:rPr>
              <a:t>100</a:t>
            </a:r>
            <a:r>
              <a:rPr>
                <a:solidFill>
                  <a:srgbClr val="000000"/>
                </a:solidFill>
              </a:rPr>
              <a:t>,</a:t>
            </a:r>
            <a:r>
              <a:rPr>
                <a:solidFill>
                  <a:srgbClr val="0433FF"/>
                </a:solidFill>
              </a:rPr>
              <a:t>300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a:t>
            </a:r>
            <a:r>
              <a:rPr>
                <a:solidFill>
                  <a:srgbClr val="0433FF"/>
                </a:solidFill>
              </a:rPr>
              <a:t>100</a:t>
            </a:r>
            <a:r>
              <a:rPr>
                <a:solidFill>
                  <a:srgbClr val="000000"/>
                </a:solidFill>
              </a:rPr>
              <a:t>,</a:t>
            </a:r>
            <a:r>
              <a:rPr>
                <a:solidFill>
                  <a:srgbClr val="0433FF"/>
                </a:solidFill>
              </a:rPr>
              <a:t>300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FFF678"/>
                </a:solidFill>
              </a:rPr>
              <a:t>       </a:t>
            </a:r>
            <a:r>
              <a:t> a[j,i]=</a:t>
            </a:r>
            <a:r>
              <a:rPr>
                <a:solidFill>
                  <a:srgbClr val="0433FF"/>
                </a:solidFill>
              </a:rPr>
              <a:t>1.0</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Create a small grey line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a:t>
            </a:r>
            <a:r>
              <a:rPr>
                <a:solidFill>
                  <a:srgbClr val="0433FF"/>
                </a:solidFill>
              </a:rPr>
              <a:t>150</a:t>
            </a:r>
            <a:r>
              <a:rPr>
                <a:solidFill>
                  <a:srgbClr val="000000"/>
                </a:solidFill>
              </a:rPr>
              <a:t>,</a:t>
            </a:r>
            <a:r>
              <a:rPr>
                <a:solidFill>
                  <a:srgbClr val="0433FF"/>
                </a:solidFill>
              </a:rPr>
              <a:t>250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a:t>
            </a:r>
            <a:r>
              <a:rPr>
                <a:solidFill>
                  <a:srgbClr val="0433FF"/>
                </a:solidFill>
              </a:rPr>
              <a:t>20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FFF678"/>
                </a:solidFill>
              </a:rPr>
              <a:t>       </a:t>
            </a:r>
            <a:r>
              <a:t> a[j,j+i]=</a:t>
            </a:r>
            <a:r>
              <a:rPr>
                <a:solidFill>
                  <a:srgbClr val="0433FF"/>
                </a:solidFill>
              </a:rPr>
              <a:t>0.5</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Save the image in PNG format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io.imsave(</a:t>
            </a:r>
            <a:r>
              <a:rPr>
                <a:solidFill>
                  <a:srgbClr val="0220B3"/>
                </a:solidFill>
              </a:rPr>
              <a:t>"test.png"</a:t>
            </a:r>
            <a:r>
              <a:t>,a)</a:t>
            </a:r>
          </a:p>
        </p:txBody>
      </p:sp>
      <p:pic>
        <p:nvPicPr>
          <p:cNvPr id="147" name="test.png"/>
          <p:cNvPicPr>
            <a:picLocks noChangeAspect="1"/>
          </p:cNvPicPr>
          <p:nvPr/>
        </p:nvPicPr>
        <p:blipFill>
          <a:blip r:embed="rId3">
            <a:extLst/>
          </a:blip>
          <a:stretch>
            <a:fillRect/>
          </a:stretch>
        </p:blipFill>
        <p:spPr>
          <a:xfrm>
            <a:off x="7367736" y="3109365"/>
            <a:ext cx="5080001" cy="5080001"/>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1" name="Shape 151"/>
          <p:cNvSpPr/>
          <p:nvPr>
            <p:ph type="title"/>
          </p:nvPr>
        </p:nvSpPr>
        <p:spPr>
          <a:xfrm>
            <a:off x="437232" y="190500"/>
            <a:ext cx="12130336" cy="2159000"/>
          </a:xfrm>
          <a:prstGeom prst="rect">
            <a:avLst/>
          </a:prstGeom>
        </p:spPr>
        <p:txBody>
          <a:bodyPr/>
          <a:lstStyle/>
          <a:p>
            <a:pPr/>
            <a:r>
              <a:t>A simple image (2)</a:t>
            </a:r>
          </a:p>
        </p:txBody>
      </p:sp>
      <p:sp>
        <p:nvSpPr>
          <p:cNvPr id="152" name="Shape 152"/>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53" name="Shape 153"/>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154" name="Shape 154"/>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155" name="Shape 155"/>
          <p:cNvSpPr/>
          <p:nvPr/>
        </p:nvSpPr>
        <p:spPr>
          <a:xfrm>
            <a:off x="97383" y="9213849"/>
            <a:ext cx="4180137"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simple_image2.py</a:t>
            </a:r>
          </a:p>
        </p:txBody>
      </p:sp>
      <p:pic>
        <p:nvPicPr>
          <p:cNvPr id="156" name="Screen Shot 2014-04-21 at 10.00.55 AM.png"/>
          <p:cNvPicPr>
            <a:picLocks noChangeAspect="1"/>
          </p:cNvPicPr>
          <p:nvPr/>
        </p:nvPicPr>
        <p:blipFill>
          <a:blip r:embed="rId2">
            <a:extLst/>
          </a:blip>
          <a:stretch>
            <a:fillRect/>
          </a:stretch>
        </p:blipFill>
        <p:spPr>
          <a:xfrm>
            <a:off x="6995417" y="3009900"/>
            <a:ext cx="5664201" cy="5486400"/>
          </a:xfrm>
          <a:prstGeom prst="rect">
            <a:avLst/>
          </a:prstGeom>
          <a:ln w="12700">
            <a:miter lim="400000"/>
          </a:ln>
        </p:spPr>
      </p:pic>
      <p:sp>
        <p:nvSpPr>
          <p:cNvPr id="157" name="Shape 157"/>
          <p:cNvSpPr/>
          <p:nvPr/>
        </p:nvSpPr>
        <p:spPr>
          <a:xfrm>
            <a:off x="672027" y="2798215"/>
            <a:ext cx="5344195" cy="570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import</a:t>
            </a:r>
            <a:r>
              <a:t> matplotlib.pyplot </a:t>
            </a:r>
            <a:r>
              <a:rPr>
                <a:solidFill>
                  <a:srgbClr val="E52100"/>
                </a:solidFill>
              </a:rPr>
              <a:t>as</a:t>
            </a:r>
            <a:r>
              <a:t> plt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Initialize a 400 x 400 matrix to be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all zeros (corresponding to black)</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a=np.zeros((</a:t>
            </a:r>
            <a:r>
              <a:rPr>
                <a:solidFill>
                  <a:srgbClr val="0433FF"/>
                </a:solidFill>
              </a:rPr>
              <a:t>400</a:t>
            </a:r>
            <a:r>
              <a:t>,</a:t>
            </a:r>
            <a:r>
              <a:rPr>
                <a:solidFill>
                  <a:srgbClr val="0433FF"/>
                </a:solidFill>
              </a:rPr>
              <a:t>400</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Create a big white square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a:t>
            </a:r>
            <a:r>
              <a:rPr>
                <a:solidFill>
                  <a:srgbClr val="0433FF"/>
                </a:solidFill>
              </a:rPr>
              <a:t>100</a:t>
            </a:r>
            <a:r>
              <a:rPr>
                <a:solidFill>
                  <a:srgbClr val="000000"/>
                </a:solidFill>
              </a:rPr>
              <a:t>,</a:t>
            </a:r>
            <a:r>
              <a:rPr>
                <a:solidFill>
                  <a:srgbClr val="0433FF"/>
                </a:solidFill>
              </a:rPr>
              <a:t>300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a:t>
            </a:r>
            <a:r>
              <a:rPr>
                <a:solidFill>
                  <a:srgbClr val="0433FF"/>
                </a:solidFill>
              </a:rPr>
              <a:t>100</a:t>
            </a:r>
            <a:r>
              <a:rPr>
                <a:solidFill>
                  <a:srgbClr val="000000"/>
                </a:solidFill>
              </a:rPr>
              <a:t>,</a:t>
            </a:r>
            <a:r>
              <a:rPr>
                <a:solidFill>
                  <a:srgbClr val="0433FF"/>
                </a:solidFill>
              </a:rPr>
              <a:t>300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FFF678"/>
                </a:solidFill>
              </a:rPr>
              <a:t>       </a:t>
            </a:r>
            <a:r>
              <a:t> a[j,i]=</a:t>
            </a:r>
            <a:r>
              <a:rPr>
                <a:solidFill>
                  <a:srgbClr val="0433FF"/>
                </a:solidFill>
              </a:rPr>
              <a:t>1.0</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Create a small grey line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a:t>
            </a:r>
            <a:r>
              <a:rPr>
                <a:solidFill>
                  <a:srgbClr val="0433FF"/>
                </a:solidFill>
              </a:rPr>
              <a:t>150</a:t>
            </a:r>
            <a:r>
              <a:rPr>
                <a:solidFill>
                  <a:srgbClr val="000000"/>
                </a:solidFill>
              </a:rPr>
              <a:t>,</a:t>
            </a:r>
            <a:r>
              <a:rPr>
                <a:solidFill>
                  <a:srgbClr val="0433FF"/>
                </a:solidFill>
              </a:rPr>
              <a:t>250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a:t>
            </a:r>
            <a:r>
              <a:rPr>
                <a:solidFill>
                  <a:srgbClr val="0433FF"/>
                </a:solidFill>
              </a:rPr>
              <a:t>20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FFF678"/>
                </a:solidFill>
              </a:rPr>
              <a:t>       </a:t>
            </a:r>
            <a:r>
              <a:t> a[j,j+i]=</a:t>
            </a:r>
            <a:r>
              <a:rPr>
                <a:solidFill>
                  <a:srgbClr val="0433FF"/>
                </a:solidFill>
              </a:rPr>
              <a:t>0.5</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Plot the image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plt.imshow(a,cmap=plt.cm.gray)</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plt.show()</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9" name="Shape 159"/>
          <p:cNvSpPr/>
          <p:nvPr>
            <p:ph type="title"/>
          </p:nvPr>
        </p:nvSpPr>
        <p:spPr>
          <a:xfrm>
            <a:off x="437232" y="190500"/>
            <a:ext cx="12130336" cy="2159000"/>
          </a:xfrm>
          <a:prstGeom prst="rect">
            <a:avLst/>
          </a:prstGeom>
        </p:spPr>
        <p:txBody>
          <a:bodyPr/>
          <a:lstStyle/>
          <a:p>
            <a:pPr/>
            <a:r>
              <a:t>Loading an image</a:t>
            </a:r>
          </a:p>
        </p:txBody>
      </p:sp>
      <p:sp>
        <p:nvSpPr>
          <p:cNvPr id="160" name="Shape 160"/>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61" name="Shape 161"/>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162" name="Shape 162"/>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163" name="Shape 163"/>
          <p:cNvSpPr/>
          <p:nvPr/>
        </p:nvSpPr>
        <p:spPr>
          <a:xfrm>
            <a:off x="97383" y="9213849"/>
            <a:ext cx="3671591"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load_image.py</a:t>
            </a:r>
          </a:p>
        </p:txBody>
      </p:sp>
      <p:sp>
        <p:nvSpPr>
          <p:cNvPr id="164" name="Shape 164"/>
          <p:cNvSpPr/>
          <p:nvPr/>
        </p:nvSpPr>
        <p:spPr>
          <a:xfrm>
            <a:off x="480745" y="2959100"/>
            <a:ext cx="5894711" cy="3835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import</a:t>
            </a:r>
            <a:r>
              <a:t> matplotlib.pyplot </a:t>
            </a:r>
            <a:r>
              <a:rPr>
                <a:solidFill>
                  <a:srgbClr val="E52100"/>
                </a:solidFill>
              </a:rPr>
              <a:t>as</a:t>
            </a:r>
            <a:r>
              <a:t> plt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D57A"/>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Load in the test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0220B3"/>
                </a:solidFill>
                <a:latin typeface="Menlo"/>
                <a:ea typeface="Menlo"/>
                <a:cs typeface="Menlo"/>
                <a:sym typeface="Menlo"/>
              </a:defRPr>
            </a:pPr>
            <a:r>
              <a:rPr>
                <a:solidFill>
                  <a:srgbClr val="000000"/>
                </a:solidFill>
              </a:rPr>
              <a:t>a=io.imread(</a:t>
            </a:r>
            <a:r>
              <a:t>"thirlmere.png"</a:t>
            </a:r>
            <a:r>
              <a:rPr>
                <a:solidFill>
                  <a:srgbClr val="000000"/>
                </a:solidFill>
              </a:rPr>
              <a:t>,as_grey=</a:t>
            </a:r>
            <a:r>
              <a:rPr>
                <a:solidFill>
                  <a:srgbClr val="AF5F00"/>
                </a:solidFill>
              </a:rPr>
              <a:t>True</a:t>
            </a:r>
            <a:r>
              <a:rPr>
                <a:solidFill>
                  <a:srgbClr val="000000"/>
                </a:solidFill>
              </a:rPr>
              <a: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D57A"/>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Check size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(y,x)=a.shape</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0220B3"/>
                </a:solidFill>
                <a:latin typeface="Menlo"/>
                <a:ea typeface="Menlo"/>
                <a:cs typeface="Menlo"/>
                <a:sym typeface="Menlo"/>
              </a:defRPr>
            </a:pPr>
            <a:r>
              <a:rPr>
                <a:solidFill>
                  <a:srgbClr val="AF5F00"/>
                </a:solidFill>
              </a:rPr>
              <a:t>print</a:t>
            </a:r>
            <a:r>
              <a:rPr>
                <a:solidFill>
                  <a:srgbClr val="000000"/>
                </a:solidFill>
              </a:rPr>
              <a:t> x,</a:t>
            </a:r>
            <a:r>
              <a:t>"by"</a:t>
            </a:r>
            <a:r>
              <a:rPr>
                <a:solidFill>
                  <a:srgbClr val="000000"/>
                </a:solidFill>
              </a:rPr>
              <a:t>,y,</a:t>
            </a:r>
            <a:r>
              <a:t>"pixels"</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D57A"/>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Plot the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plt.imshow(a,cmap=plt.cm.gray)</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plt.show()</a:t>
            </a:r>
          </a:p>
        </p:txBody>
      </p:sp>
      <p:pic>
        <p:nvPicPr>
          <p:cNvPr id="165" name="Screen Shot 2014-04-22 at 11.55.55 AM.png"/>
          <p:cNvPicPr>
            <a:picLocks noChangeAspect="1"/>
          </p:cNvPicPr>
          <p:nvPr/>
        </p:nvPicPr>
        <p:blipFill>
          <a:blip r:embed="rId2">
            <a:extLst/>
          </a:blip>
          <a:stretch>
            <a:fillRect/>
          </a:stretch>
        </p:blipFill>
        <p:spPr>
          <a:xfrm>
            <a:off x="7028606" y="2780704"/>
            <a:ext cx="5651501" cy="387350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67" name="Shape 167"/>
          <p:cNvSpPr/>
          <p:nvPr>
            <p:ph type="title"/>
          </p:nvPr>
        </p:nvSpPr>
        <p:spPr>
          <a:xfrm>
            <a:off x="437232" y="-342900"/>
            <a:ext cx="12130336" cy="2159000"/>
          </a:xfrm>
          <a:prstGeom prst="rect">
            <a:avLst/>
          </a:prstGeom>
        </p:spPr>
        <p:txBody>
          <a:bodyPr/>
          <a:lstStyle>
            <a:lvl1pPr>
              <a:defRPr sz="5000"/>
            </a:lvl1pPr>
          </a:lstStyle>
          <a:p>
            <a:pPr/>
            <a:r>
              <a:t>Color images: three separate channels</a:t>
            </a:r>
          </a:p>
        </p:txBody>
      </p:sp>
      <p:pic>
        <p:nvPicPr>
          <p:cNvPr id="168" name="rubik.png"/>
          <p:cNvPicPr>
            <a:picLocks noChangeAspect="1"/>
          </p:cNvPicPr>
          <p:nvPr/>
        </p:nvPicPr>
        <p:blipFill>
          <a:blip r:embed="rId3">
            <a:extLst/>
          </a:blip>
          <a:stretch>
            <a:fillRect/>
          </a:stretch>
        </p:blipFill>
        <p:spPr>
          <a:xfrm>
            <a:off x="1327886" y="1318138"/>
            <a:ext cx="6535928" cy="4901946"/>
          </a:xfrm>
          <a:prstGeom prst="rect">
            <a:avLst/>
          </a:prstGeom>
          <a:ln w="12700">
            <a:miter lim="400000"/>
          </a:ln>
        </p:spPr>
      </p:pic>
      <p:pic>
        <p:nvPicPr>
          <p:cNvPr id="169" name="channel0.png"/>
          <p:cNvPicPr>
            <a:picLocks noChangeAspect="1"/>
          </p:cNvPicPr>
          <p:nvPr/>
        </p:nvPicPr>
        <p:blipFill>
          <a:blip r:embed="rId4">
            <a:extLst/>
          </a:blip>
          <a:stretch>
            <a:fillRect/>
          </a:stretch>
        </p:blipFill>
        <p:spPr>
          <a:xfrm>
            <a:off x="8939262" y="1325165"/>
            <a:ext cx="3175001" cy="2381251"/>
          </a:xfrm>
          <a:prstGeom prst="rect">
            <a:avLst/>
          </a:prstGeom>
          <a:ln w="12700">
            <a:miter lim="400000"/>
          </a:ln>
        </p:spPr>
      </p:pic>
      <p:pic>
        <p:nvPicPr>
          <p:cNvPr id="170" name="channel1.png"/>
          <p:cNvPicPr>
            <a:picLocks noChangeAspect="1"/>
          </p:cNvPicPr>
          <p:nvPr/>
        </p:nvPicPr>
        <p:blipFill>
          <a:blip r:embed="rId5">
            <a:extLst/>
          </a:blip>
          <a:stretch>
            <a:fillRect/>
          </a:stretch>
        </p:blipFill>
        <p:spPr>
          <a:xfrm>
            <a:off x="8939262" y="3838575"/>
            <a:ext cx="3175001" cy="2381250"/>
          </a:xfrm>
          <a:prstGeom prst="rect">
            <a:avLst/>
          </a:prstGeom>
          <a:ln w="12700">
            <a:miter lim="400000"/>
          </a:ln>
        </p:spPr>
      </p:pic>
      <p:pic>
        <p:nvPicPr>
          <p:cNvPr id="171" name="channel2.png"/>
          <p:cNvPicPr>
            <a:picLocks noChangeAspect="1"/>
          </p:cNvPicPr>
          <p:nvPr/>
        </p:nvPicPr>
        <p:blipFill>
          <a:blip r:embed="rId6">
            <a:extLst/>
          </a:blip>
          <a:stretch>
            <a:fillRect/>
          </a:stretch>
        </p:blipFill>
        <p:spPr>
          <a:xfrm>
            <a:off x="8939262" y="6414889"/>
            <a:ext cx="3175001" cy="2381251"/>
          </a:xfrm>
          <a:prstGeom prst="rect">
            <a:avLst/>
          </a:prstGeom>
          <a:ln w="12700">
            <a:miter lim="400000"/>
          </a:ln>
        </p:spPr>
      </p:pic>
      <p:sp>
        <p:nvSpPr>
          <p:cNvPr id="172" name="Shape 172"/>
          <p:cNvSpPr/>
          <p:nvPr/>
        </p:nvSpPr>
        <p:spPr>
          <a:xfrm>
            <a:off x="2954926" y="6235222"/>
            <a:ext cx="4763097" cy="2997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r>
              <a:t>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Read Rubik's cube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a=io.imread(</a:t>
            </a:r>
            <a:r>
              <a:rPr>
                <a:solidFill>
                  <a:srgbClr val="0220B3"/>
                </a:solidFill>
              </a:rPr>
              <a:t>"rubik.png"</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(y,x,z)=a.shape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r>
              <a:t>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Output each channel</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AF5F00"/>
                </a:solidFill>
                <a:latin typeface="Menlo"/>
                <a:ea typeface="Menlo"/>
                <a:cs typeface="Menlo"/>
                <a:sym typeface="Menlo"/>
              </a:defRPr>
            </a:pPr>
            <a:r>
              <a:rPr>
                <a:solidFill>
                  <a:srgbClr val="E539E5"/>
                </a:solidFill>
              </a:rPr>
              <a:t>for</a:t>
            </a:r>
            <a:r>
              <a:rPr>
                <a:solidFill>
                  <a:srgbClr val="000000"/>
                </a:solidFill>
              </a:rPr>
              <a:t> k </a:t>
            </a:r>
            <a:r>
              <a:rPr>
                <a:solidFill>
                  <a:schemeClr val="accent2"/>
                </a:solidFill>
              </a:rPr>
              <a:t>in</a:t>
            </a:r>
            <a:r>
              <a:rPr>
                <a:solidFill>
                  <a:srgbClr val="000000"/>
                </a:solidFill>
              </a:rPr>
              <a:t> </a:t>
            </a:r>
            <a:r>
              <a:t>range</a:t>
            </a:r>
            <a:r>
              <a:rPr>
                <a:solidFill>
                  <a:srgbClr val="000000"/>
                </a:solidFill>
              </a:rPr>
              <a:t>(</a:t>
            </a:r>
            <a:r>
              <a:rPr>
                <a:solidFill>
                  <a:srgbClr val="0433FF"/>
                </a:solidFill>
              </a:rPr>
              <a:t>3</a:t>
            </a:r>
            <a:r>
              <a:rPr>
                <a:solidFill>
                  <a:srgbClr val="000000"/>
                </a:solidFill>
              </a:rPr>
              <a:t>): </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FFF678"/>
                </a:solidFill>
              </a:rPr>
              <a:t>   </a:t>
            </a:r>
            <a:r>
              <a:t> b=np.zeros((y,x,z)) </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FFF678"/>
                </a:solidFill>
              </a:rPr>
              <a:t>   </a:t>
            </a:r>
            <a:r>
              <a:t> b[:,:,k]=a[:,:,k]/</a:t>
            </a:r>
            <a:r>
              <a:rPr>
                <a:solidFill>
                  <a:srgbClr val="0433FF"/>
                </a:solidFill>
              </a:rPr>
              <a:t>255.0</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0220B3"/>
                </a:solidFill>
                <a:latin typeface="Menlo"/>
                <a:ea typeface="Menlo"/>
                <a:cs typeface="Menlo"/>
                <a:sym typeface="Menlo"/>
              </a:defRPr>
            </a:pPr>
            <a:r>
              <a:rPr>
                <a:solidFill>
                  <a:srgbClr val="000000"/>
                </a:solidFill>
              </a:rPr>
              <a:t>    io.imsave(</a:t>
            </a:r>
            <a:r>
              <a:t>"channel%d.png"</a:t>
            </a:r>
            <a:r>
              <a:rPr>
                <a:solidFill>
                  <a:srgbClr val="000000"/>
                </a:solidFill>
              </a:rPr>
              <a:t> % (k),b)</a:t>
            </a:r>
          </a:p>
        </p:txBody>
      </p:sp>
      <p:sp>
        <p:nvSpPr>
          <p:cNvPr id="173" name="Shape 173"/>
          <p:cNvSpPr/>
          <p:nvPr/>
        </p:nvSpPr>
        <p:spPr>
          <a:xfrm>
            <a:off x="97383" y="9213849"/>
            <a:ext cx="3942458"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split_channel.py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7" name="Shape 177"/>
          <p:cNvSpPr/>
          <p:nvPr>
            <p:ph type="title"/>
          </p:nvPr>
        </p:nvSpPr>
        <p:spPr>
          <a:xfrm>
            <a:off x="437232" y="63500"/>
            <a:ext cx="12130336" cy="2159000"/>
          </a:xfrm>
          <a:prstGeom prst="rect">
            <a:avLst/>
          </a:prstGeom>
        </p:spPr>
        <p:txBody>
          <a:bodyPr/>
          <a:lstStyle/>
          <a:p>
            <a:pPr/>
            <a:r>
              <a:t>Color mixing</a:t>
            </a:r>
          </a:p>
        </p:txBody>
      </p:sp>
      <p:sp>
        <p:nvSpPr>
          <p:cNvPr id="178" name="Shape 178"/>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79" name="Shape 179"/>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180" name="Shape 180"/>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181" name="Shape 181"/>
          <p:cNvSpPr/>
          <p:nvPr/>
        </p:nvSpPr>
        <p:spPr>
          <a:xfrm>
            <a:off x="97383" y="9213849"/>
            <a:ext cx="3247877"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combine.py</a:t>
            </a:r>
          </a:p>
        </p:txBody>
      </p:sp>
      <p:pic>
        <p:nvPicPr>
          <p:cNvPr id="182" name="combine.png"/>
          <p:cNvPicPr>
            <a:picLocks noChangeAspect="1"/>
          </p:cNvPicPr>
          <p:nvPr/>
        </p:nvPicPr>
        <p:blipFill>
          <a:blip r:embed="rId2">
            <a:extLst/>
          </a:blip>
          <a:stretch>
            <a:fillRect/>
          </a:stretch>
        </p:blipFill>
        <p:spPr>
          <a:xfrm>
            <a:off x="7391102" y="3109365"/>
            <a:ext cx="5080001" cy="5080001"/>
          </a:xfrm>
          <a:prstGeom prst="rect">
            <a:avLst/>
          </a:prstGeom>
          <a:ln w="12700">
            <a:miter lim="400000"/>
          </a:ln>
        </p:spPr>
      </p:pic>
      <p:sp>
        <p:nvSpPr>
          <p:cNvPr id="183" name="Shape 183"/>
          <p:cNvSpPr/>
          <p:nvPr/>
        </p:nvSpPr>
        <p:spPr>
          <a:xfrm>
            <a:off x="1072663" y="2487065"/>
            <a:ext cx="4128474" cy="6731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AF5F00"/>
                </a:solidFill>
                <a:latin typeface="Menlo"/>
                <a:ea typeface="Menlo"/>
                <a:cs typeface="Menlo"/>
                <a:sym typeface="Menlo"/>
              </a:defRPr>
            </a:pPr>
            <a:r>
              <a:rPr>
                <a:solidFill>
                  <a:srgbClr val="E52100"/>
                </a:solidFill>
              </a:rPr>
              <a:t>def</a:t>
            </a:r>
            <a:r>
              <a:rPr>
                <a:solidFill>
                  <a:srgbClr val="000000"/>
                </a:solidFill>
              </a:rPr>
              <a:t> </a:t>
            </a:r>
            <a:r>
              <a:t>normsq</a:t>
            </a:r>
            <a:r>
              <a:rPr>
                <a:solidFill>
                  <a:srgbClr val="000000"/>
                </a:solidFill>
              </a:rPr>
              <a:t>(x,y):</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t>    </a:t>
            </a:r>
            <a:r>
              <a:rPr>
                <a:solidFill>
                  <a:srgbClr val="E52100"/>
                </a:solidFill>
              </a:rPr>
              <a:t>return</a:t>
            </a:r>
            <a:r>
              <a:t> x*x+y*y</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t>a=np.zeros((</a:t>
            </a:r>
            <a:r>
              <a:rPr>
                <a:solidFill>
                  <a:srgbClr val="0433FF"/>
                </a:solidFill>
              </a:rPr>
              <a:t>400</a:t>
            </a:r>
            <a:r>
              <a:t>,</a:t>
            </a:r>
            <a:r>
              <a:rPr>
                <a:solidFill>
                  <a:srgbClr val="0433FF"/>
                </a:solidFill>
              </a:rPr>
              <a:t>400</a:t>
            </a:r>
            <a:r>
              <a:t>,</a:t>
            </a:r>
            <a:r>
              <a:rPr>
                <a:solidFill>
                  <a:srgbClr val="0433FF"/>
                </a:solidFill>
              </a:rPr>
              <a:t>3</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Squared radius circles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0433FF"/>
                </a:solidFill>
                <a:latin typeface="Menlo"/>
                <a:ea typeface="Menlo"/>
                <a:cs typeface="Menlo"/>
                <a:sym typeface="Menlo"/>
              </a:defRPr>
            </a:pPr>
            <a:r>
              <a:rPr>
                <a:solidFill>
                  <a:srgbClr val="000000"/>
                </a:solidFill>
              </a:rPr>
              <a:t>r=</a:t>
            </a:r>
            <a:r>
              <a:t>10000</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Output each channel</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a:t>
            </a:r>
            <a:r>
              <a:rPr>
                <a:solidFill>
                  <a:srgbClr val="0433FF"/>
                </a:solidFill>
              </a:rPr>
              <a:t>400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a:t>
            </a:r>
            <a:r>
              <a:rPr>
                <a:solidFill>
                  <a:srgbClr val="0433FF"/>
                </a:solidFill>
              </a:rPr>
              <a:t>400</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 Add red circle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t>        </a:t>
            </a:r>
            <a:r>
              <a:rPr>
                <a:solidFill>
                  <a:srgbClr val="E539E5"/>
                </a:solidFill>
              </a:rPr>
              <a:t>if</a:t>
            </a:r>
            <a:r>
              <a:t>(normsq(i-</a:t>
            </a:r>
            <a:r>
              <a:rPr>
                <a:solidFill>
                  <a:srgbClr val="0433FF"/>
                </a:solidFill>
              </a:rPr>
              <a:t>130</a:t>
            </a:r>
            <a:r>
              <a:t>,j-</a:t>
            </a:r>
            <a:r>
              <a:rPr>
                <a:solidFill>
                  <a:srgbClr val="0433FF"/>
                </a:solidFill>
              </a:rPr>
              <a:t>130</a:t>
            </a:r>
            <a:r>
              <a:t>)&lt;r):</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F678"/>
                </a:solidFill>
                <a:latin typeface="Menlo"/>
                <a:ea typeface="Menlo"/>
                <a:cs typeface="Menlo"/>
                <a:sym typeface="Menlo"/>
              </a:defRPr>
            </a:pPr>
            <a:r>
              <a:t>         </a:t>
            </a:r>
            <a:r>
              <a:rPr>
                <a:solidFill>
                  <a:srgbClr val="000000"/>
                </a:solidFill>
              </a:rPr>
              <a:t>   a[j,i,</a:t>
            </a:r>
            <a:r>
              <a:rPr>
                <a:solidFill>
                  <a:srgbClr val="0433FF"/>
                </a:solidFill>
              </a:rPr>
              <a:t>0</a:t>
            </a:r>
            <a:r>
              <a:rPr>
                <a:solidFill>
                  <a:srgbClr val="000000"/>
                </a:solidFill>
              </a:rPr>
              <a:t>]=</a:t>
            </a:r>
            <a:r>
              <a:rPr>
                <a:solidFill>
                  <a:srgbClr val="0433FF"/>
                </a:solidFill>
              </a:rPr>
              <a:t>1</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F678"/>
                </a:solidFill>
                <a:latin typeface="Menlo"/>
                <a:ea typeface="Menlo"/>
                <a:cs typeface="Menlo"/>
                <a:sym typeface="Menlo"/>
              </a:defRPr>
            </a:pPr>
            <a:r>
              <a:t>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 Add green circle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rPr>
                <a:solidFill>
                  <a:srgbClr val="FFF678"/>
                </a:solidFill>
              </a:rPr>
              <a:t>       </a:t>
            </a:r>
            <a:r>
              <a:t> </a:t>
            </a:r>
            <a:r>
              <a:rPr>
                <a:solidFill>
                  <a:srgbClr val="E539E5"/>
                </a:solidFill>
              </a:rPr>
              <a:t>if</a:t>
            </a:r>
            <a:r>
              <a:t>(normsq(i-</a:t>
            </a:r>
            <a:r>
              <a:rPr>
                <a:solidFill>
                  <a:srgbClr val="0433FF"/>
                </a:solidFill>
              </a:rPr>
              <a:t>270</a:t>
            </a:r>
            <a:r>
              <a:t>,j-</a:t>
            </a:r>
            <a:r>
              <a:rPr>
                <a:solidFill>
                  <a:srgbClr val="0433FF"/>
                </a:solidFill>
              </a:rPr>
              <a:t>130</a:t>
            </a:r>
            <a:r>
              <a:t>)&lt;r):</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rPr>
                <a:solidFill>
                  <a:srgbClr val="FFF678"/>
                </a:solidFill>
              </a:rPr>
              <a:t>       </a:t>
            </a:r>
            <a:r>
              <a:t>     a[j,i,</a:t>
            </a:r>
            <a:r>
              <a:rPr>
                <a:solidFill>
                  <a:srgbClr val="0433FF"/>
                </a:solidFill>
              </a:rPr>
              <a:t>1</a:t>
            </a:r>
            <a:r>
              <a:t>]=</a:t>
            </a:r>
            <a:r>
              <a:rPr>
                <a:solidFill>
                  <a:srgbClr val="0433FF"/>
                </a:solidFill>
              </a:rPr>
              <a:t>1</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 Add blue circle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rPr>
                <a:solidFill>
                  <a:srgbClr val="FFF678"/>
                </a:solidFill>
              </a:rPr>
              <a:t>       </a:t>
            </a:r>
            <a:r>
              <a:t> </a:t>
            </a:r>
            <a:r>
              <a:rPr>
                <a:solidFill>
                  <a:srgbClr val="E539E5"/>
                </a:solidFill>
              </a:rPr>
              <a:t>if</a:t>
            </a:r>
            <a:r>
              <a:t>(normsq(i-</a:t>
            </a:r>
            <a:r>
              <a:rPr>
                <a:solidFill>
                  <a:srgbClr val="0433FF"/>
                </a:solidFill>
              </a:rPr>
              <a:t>200</a:t>
            </a:r>
            <a:r>
              <a:t>,j-</a:t>
            </a:r>
            <a:r>
              <a:rPr>
                <a:solidFill>
                  <a:srgbClr val="0433FF"/>
                </a:solidFill>
              </a:rPr>
              <a:t>240</a:t>
            </a:r>
            <a:r>
              <a:t>)&lt;r):</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t>            a[j,i,</a:t>
            </a:r>
            <a:r>
              <a:rPr>
                <a:solidFill>
                  <a:srgbClr val="0433FF"/>
                </a:solidFill>
              </a:rPr>
              <a:t>2</a:t>
            </a:r>
            <a:r>
              <a:t>]=</a:t>
            </a:r>
            <a:r>
              <a:rPr>
                <a:solidFill>
                  <a:srgbClr val="0433FF"/>
                </a:solidFill>
              </a:rPr>
              <a:t>1</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t>    </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Output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0220B3"/>
                </a:solidFill>
                <a:latin typeface="Menlo"/>
                <a:ea typeface="Menlo"/>
                <a:cs typeface="Menlo"/>
                <a:sym typeface="Menlo"/>
              </a:defRPr>
            </a:pPr>
            <a:r>
              <a:rPr>
                <a:solidFill>
                  <a:srgbClr val="000000"/>
                </a:solidFill>
              </a:rPr>
              <a:t>io.imsave(</a:t>
            </a:r>
            <a:r>
              <a:t>"combine.png"</a:t>
            </a:r>
            <a:r>
              <a:rPr>
                <a:solidFill>
                  <a:srgbClr val="000000"/>
                </a:solidFill>
              </a:rPr>
              <a:t>,a)</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5" name="Shape 185"/>
          <p:cNvSpPr/>
          <p:nvPr>
            <p:ph type="title"/>
          </p:nvPr>
        </p:nvSpPr>
        <p:spPr>
          <a:xfrm>
            <a:off x="437232" y="63500"/>
            <a:ext cx="12130336" cy="2159000"/>
          </a:xfrm>
          <a:prstGeom prst="rect">
            <a:avLst/>
          </a:prstGeom>
        </p:spPr>
        <p:txBody>
          <a:bodyPr/>
          <a:lstStyle/>
          <a:p>
            <a:pPr/>
            <a:r>
              <a:t>Cropping an image</a:t>
            </a:r>
          </a:p>
        </p:txBody>
      </p:sp>
      <p:sp>
        <p:nvSpPr>
          <p:cNvPr id="186" name="Shape 186"/>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187" name="Shape 187"/>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188" name="Shape 188"/>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189" name="Shape 189"/>
          <p:cNvSpPr/>
          <p:nvPr/>
        </p:nvSpPr>
        <p:spPr>
          <a:xfrm>
            <a:off x="97383" y="9213849"/>
            <a:ext cx="3705524"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crop_image.py</a:t>
            </a:r>
          </a:p>
        </p:txBody>
      </p:sp>
      <p:pic>
        <p:nvPicPr>
          <p:cNvPr id="190" name="Screen Shot 2014-04-22 at 11.59.25 AM.png"/>
          <p:cNvPicPr>
            <a:picLocks noChangeAspect="1"/>
          </p:cNvPicPr>
          <p:nvPr/>
        </p:nvPicPr>
        <p:blipFill>
          <a:blip r:embed="rId2">
            <a:extLst/>
          </a:blip>
          <a:stretch>
            <a:fillRect/>
          </a:stretch>
        </p:blipFill>
        <p:spPr>
          <a:xfrm>
            <a:off x="7006282" y="3016250"/>
            <a:ext cx="5638801" cy="5473700"/>
          </a:xfrm>
          <a:prstGeom prst="rect">
            <a:avLst/>
          </a:prstGeom>
          <a:ln w="12700">
            <a:miter lim="400000"/>
          </a:ln>
        </p:spPr>
      </p:pic>
      <p:sp>
        <p:nvSpPr>
          <p:cNvPr id="191" name="Shape 191"/>
          <p:cNvSpPr/>
          <p:nvPr/>
        </p:nvSpPr>
        <p:spPr>
          <a:xfrm>
            <a:off x="352183" y="3035299"/>
            <a:ext cx="5848834" cy="3987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rPr>
                <a:solidFill>
                  <a:srgbClr val="E539E5"/>
                </a:solidFill>
              </a:rPr>
              <a:t>import</a:t>
            </a:r>
            <a:r>
              <a:t> matplotlib.pyplot </a:t>
            </a:r>
            <a:r>
              <a:rPr>
                <a:solidFill>
                  <a:srgbClr val="E52100"/>
                </a:solidFill>
              </a:rPr>
              <a:t>as</a:t>
            </a:r>
            <a:r>
              <a:t> plt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D57A"/>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Load in the test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0220B3"/>
                </a:solidFill>
                <a:latin typeface="Menlo"/>
                <a:ea typeface="Menlo"/>
                <a:cs typeface="Menlo"/>
                <a:sym typeface="Menlo"/>
              </a:defRPr>
            </a:pPr>
            <a:r>
              <a:rPr>
                <a:solidFill>
                  <a:srgbClr val="000000"/>
                </a:solidFill>
              </a:rPr>
              <a:t>a=io.imread(</a:t>
            </a:r>
            <a:r>
              <a:t>"thirlmere.png"</a:t>
            </a:r>
            <a:r>
              <a:rPr>
                <a:solidFill>
                  <a:srgbClr val="000000"/>
                </a:solidFill>
              </a:rPr>
              <a:t>,as_grey=</a:t>
            </a:r>
            <a:r>
              <a:rPr>
                <a:solidFill>
                  <a:srgbClr val="AF5F00"/>
                </a:solidFill>
              </a:rPr>
              <a:t>True</a:t>
            </a:r>
            <a:r>
              <a:rPr>
                <a:solidFill>
                  <a:srgbClr val="000000"/>
                </a:solidFill>
              </a:rPr>
              <a: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D57A"/>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Check size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t>(y,x)=a.shape</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0220B3"/>
                </a:solidFill>
                <a:latin typeface="Menlo"/>
                <a:ea typeface="Menlo"/>
                <a:cs typeface="Menlo"/>
                <a:sym typeface="Menlo"/>
              </a:defRPr>
            </a:pPr>
            <a:r>
              <a:rPr>
                <a:solidFill>
                  <a:srgbClr val="AF5F00"/>
                </a:solidFill>
              </a:rPr>
              <a:t>print</a:t>
            </a:r>
            <a:r>
              <a:rPr>
                <a:solidFill>
                  <a:srgbClr val="000000"/>
                </a:solidFill>
              </a:rPr>
              <a:t> x,</a:t>
            </a:r>
            <a:r>
              <a:t>"by"</a:t>
            </a:r>
            <a:r>
              <a:rPr>
                <a:solidFill>
                  <a:srgbClr val="000000"/>
                </a:solidFill>
              </a:rPr>
              <a:t>,y,</a:t>
            </a:r>
            <a:r>
              <a:t>"pixels"</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rgbClr val="FFD57A"/>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Plot a small part of the image, and add the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interpolation='nearest' option to show</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solidFill>
                  <a:schemeClr val="accent6">
                    <a:satOff val="24555"/>
                    <a:lumOff val="22232"/>
                  </a:schemeClr>
                </a:solidFill>
                <a:latin typeface="Menlo"/>
                <a:ea typeface="Menlo"/>
                <a:cs typeface="Menlo"/>
                <a:sym typeface="Menlo"/>
              </a:defRPr>
            </a:pPr>
            <a:r>
              <a:t># individual pixels </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t>plt.imshow(a[</a:t>
            </a:r>
            <a:r>
              <a:rPr>
                <a:solidFill>
                  <a:srgbClr val="0433FF"/>
                </a:solidFill>
              </a:rPr>
              <a:t>100</a:t>
            </a:r>
            <a:r>
              <a:t>:</a:t>
            </a:r>
            <a:r>
              <a:rPr>
                <a:solidFill>
                  <a:srgbClr val="0433FF"/>
                </a:solidFill>
              </a:rPr>
              <a:t>200</a:t>
            </a:r>
            <a:r>
              <a:t>,</a:t>
            </a:r>
            <a:r>
              <a:rPr>
                <a:solidFill>
                  <a:srgbClr val="0433FF"/>
                </a:solidFill>
              </a:rPr>
              <a:t>100</a:t>
            </a:r>
            <a:r>
              <a:t>:</a:t>
            </a:r>
            <a:r>
              <a:rPr>
                <a:solidFill>
                  <a:srgbClr val="0433FF"/>
                </a:solidFill>
              </a:rPr>
              <a:t>200</a:t>
            </a:r>
            <a:r>
              <a:t>],cmap=plt.cm.gray, </a:t>
            </a:r>
            <a:r>
              <a:rPr>
                <a:solidFill>
                  <a:srgbClr val="B32AB2"/>
                </a:solidFill>
              </a:rPr>
              <a: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rPr>
                <a:solidFill>
                  <a:srgbClr val="FFD57A"/>
                </a:solidFill>
              </a:rPr>
              <a:t>       </a:t>
            </a:r>
            <a:r>
              <a:t> interpolation=</a:t>
            </a:r>
            <a:r>
              <a:rPr>
                <a:solidFill>
                  <a:srgbClr val="0220B3"/>
                </a:solidFill>
              </a:rPr>
              <a:t>'nearest'</a:t>
            </a:r>
            <a:r>
              <a: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500">
                <a:latin typeface="Menlo"/>
                <a:ea typeface="Menlo"/>
                <a:cs typeface="Menlo"/>
                <a:sym typeface="Menlo"/>
              </a:defRPr>
            </a:pPr>
            <a:r>
              <a:t>plt.show()</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3" name="Shape 193"/>
          <p:cNvSpPr/>
          <p:nvPr>
            <p:ph type="title"/>
          </p:nvPr>
        </p:nvSpPr>
        <p:spPr>
          <a:xfrm>
            <a:off x="246732" y="12700"/>
            <a:ext cx="3914181" cy="2159000"/>
          </a:xfrm>
          <a:prstGeom prst="rect">
            <a:avLst/>
          </a:prstGeom>
        </p:spPr>
        <p:txBody>
          <a:bodyPr/>
          <a:lstStyle>
            <a:lvl1pPr>
              <a:defRPr sz="5100"/>
            </a:lvl1pPr>
          </a:lstStyle>
          <a:p>
            <a:pPr/>
            <a:r>
              <a:t>The Lake District</a:t>
            </a:r>
          </a:p>
        </p:txBody>
      </p:sp>
      <p:pic>
        <p:nvPicPr>
          <p:cNvPr id="194" name="Screen Shot 2014-04-21 at 12.42.06 PM.png"/>
          <p:cNvPicPr>
            <a:picLocks noChangeAspect="1"/>
          </p:cNvPicPr>
          <p:nvPr/>
        </p:nvPicPr>
        <p:blipFill>
          <a:blip r:embed="rId2">
            <a:extLst/>
          </a:blip>
          <a:stretch>
            <a:fillRect/>
          </a:stretch>
        </p:blipFill>
        <p:spPr>
          <a:xfrm>
            <a:off x="4571603" y="768052"/>
            <a:ext cx="8293101" cy="8623301"/>
          </a:xfrm>
          <a:prstGeom prst="rect">
            <a:avLst/>
          </a:prstGeom>
          <a:ln w="12700">
            <a:miter lim="400000"/>
          </a:ln>
        </p:spPr>
      </p:pic>
      <p:pic>
        <p:nvPicPr>
          <p:cNvPr id="195" name="pasted-image.tif"/>
          <p:cNvPicPr>
            <a:picLocks noChangeAspect="1"/>
          </p:cNvPicPr>
          <p:nvPr/>
        </p:nvPicPr>
        <p:blipFill>
          <a:blip r:embed="rId3">
            <a:extLst/>
          </a:blip>
          <a:stretch>
            <a:fillRect/>
          </a:stretch>
        </p:blipFill>
        <p:spPr>
          <a:xfrm>
            <a:off x="368051" y="5769889"/>
            <a:ext cx="6536025" cy="3689280"/>
          </a:xfrm>
          <a:prstGeom prst="rect">
            <a:avLst/>
          </a:prstGeom>
          <a:ln w="12700">
            <a:miter lim="400000"/>
          </a:ln>
        </p:spPr>
      </p:pic>
      <p:sp>
        <p:nvSpPr>
          <p:cNvPr id="196" name="Shape 196"/>
          <p:cNvSpPr/>
          <p:nvPr/>
        </p:nvSpPr>
        <p:spPr>
          <a:xfrm>
            <a:off x="446496" y="2025650"/>
            <a:ext cx="3514652"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(Chris’s home region)</a:t>
            </a:r>
          </a:p>
        </p:txBody>
      </p:sp>
      <p:sp>
        <p:nvSpPr>
          <p:cNvPr id="197" name="Shape 197"/>
          <p:cNvSpPr/>
          <p:nvPr/>
        </p:nvSpPr>
        <p:spPr>
          <a:xfrm>
            <a:off x="540408" y="3069590"/>
            <a:ext cx="3680134" cy="19126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lstStyle>
          <a:p>
            <a:pPr/>
            <a:r>
              <a:t>National Park in the northwest England. Known for beautiful scenery, lakes, and mountains.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9" name="Shape 199"/>
          <p:cNvSpPr/>
          <p:nvPr>
            <p:ph type="title"/>
          </p:nvPr>
        </p:nvSpPr>
        <p:spPr>
          <a:xfrm>
            <a:off x="437232" y="317500"/>
            <a:ext cx="12130336" cy="2159000"/>
          </a:xfrm>
          <a:prstGeom prst="rect">
            <a:avLst/>
          </a:prstGeom>
        </p:spPr>
        <p:txBody>
          <a:bodyPr/>
          <a:lstStyle/>
          <a:p>
            <a:pPr/>
            <a:r>
              <a:t>Some Lake District photos</a:t>
            </a:r>
          </a:p>
        </p:txBody>
      </p:sp>
      <p:pic>
        <p:nvPicPr>
          <p:cNvPr id="200" name="ld1s.png"/>
          <p:cNvPicPr>
            <a:picLocks noChangeAspect="1"/>
          </p:cNvPicPr>
          <p:nvPr/>
        </p:nvPicPr>
        <p:blipFill>
          <a:blip r:embed="rId2">
            <a:extLst/>
          </a:blip>
          <a:stretch>
            <a:fillRect/>
          </a:stretch>
        </p:blipFill>
        <p:spPr>
          <a:xfrm>
            <a:off x="634553" y="3888233"/>
            <a:ext cx="5715001" cy="4292601"/>
          </a:xfrm>
          <a:prstGeom prst="rect">
            <a:avLst/>
          </a:prstGeom>
          <a:ln w="12700">
            <a:miter lim="400000"/>
          </a:ln>
        </p:spPr>
      </p:pic>
      <p:pic>
        <p:nvPicPr>
          <p:cNvPr id="201" name="ld2s.png"/>
          <p:cNvPicPr>
            <a:picLocks noChangeAspect="1"/>
          </p:cNvPicPr>
          <p:nvPr/>
        </p:nvPicPr>
        <p:blipFill>
          <a:blip r:embed="rId3">
            <a:extLst/>
          </a:blip>
          <a:stretch>
            <a:fillRect/>
          </a:stretch>
        </p:blipFill>
        <p:spPr>
          <a:xfrm>
            <a:off x="6834336" y="3888233"/>
            <a:ext cx="5715001" cy="4292601"/>
          </a:xfrm>
          <a:prstGeom prst="rect">
            <a:avLst/>
          </a:prstGeom>
          <a:ln w="12700">
            <a:miter lim="400000"/>
          </a:ln>
        </p:spPr>
      </p:pic>
      <p:sp>
        <p:nvSpPr>
          <p:cNvPr id="202" name="Shape 202"/>
          <p:cNvSpPr/>
          <p:nvPr/>
        </p:nvSpPr>
        <p:spPr>
          <a:xfrm>
            <a:off x="3012882" y="8312150"/>
            <a:ext cx="958343"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Misty</a:t>
            </a:r>
          </a:p>
        </p:txBody>
      </p:sp>
      <p:sp>
        <p:nvSpPr>
          <p:cNvPr id="203" name="Shape 203"/>
          <p:cNvSpPr/>
          <p:nvPr/>
        </p:nvSpPr>
        <p:spPr>
          <a:xfrm>
            <a:off x="9267564" y="8312150"/>
            <a:ext cx="848545"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Dark</a:t>
            </a:r>
          </a:p>
        </p:txBody>
      </p:sp>
      <p:sp>
        <p:nvSpPr>
          <p:cNvPr id="204" name="Shape 204"/>
          <p:cNvSpPr/>
          <p:nvPr/>
        </p:nvSpPr>
        <p:spPr>
          <a:xfrm>
            <a:off x="1046358" y="2115819"/>
            <a:ext cx="10912084" cy="12039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lstStyle>
          <a:p>
            <a:pPr/>
            <a:r>
              <a:t>The Lake District is also known for awful weather! It is the wettest region in England. Chris has many photos like the ones below. How can they be processed to bring out more detail?</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6" name="Shape 206"/>
          <p:cNvSpPr/>
          <p:nvPr>
            <p:ph type="title"/>
          </p:nvPr>
        </p:nvSpPr>
        <p:spPr>
          <a:xfrm>
            <a:off x="437232" y="-482600"/>
            <a:ext cx="12130336" cy="2159000"/>
          </a:xfrm>
          <a:prstGeom prst="rect">
            <a:avLst/>
          </a:prstGeom>
        </p:spPr>
        <p:txBody>
          <a:bodyPr/>
          <a:lstStyle>
            <a:lvl1pPr>
              <a:defRPr sz="4700"/>
            </a:lvl1pPr>
          </a:lstStyle>
          <a:p>
            <a:pPr/>
            <a:r>
              <a:t>Histograms of pixel intensity</a:t>
            </a:r>
          </a:p>
        </p:txBody>
      </p:sp>
      <p:pic>
        <p:nvPicPr>
          <p:cNvPr id="207" name="ld1s.png"/>
          <p:cNvPicPr>
            <a:picLocks noChangeAspect="1"/>
          </p:cNvPicPr>
          <p:nvPr/>
        </p:nvPicPr>
        <p:blipFill>
          <a:blip r:embed="rId2">
            <a:extLst/>
          </a:blip>
          <a:stretch>
            <a:fillRect/>
          </a:stretch>
        </p:blipFill>
        <p:spPr>
          <a:xfrm>
            <a:off x="571053" y="1145033"/>
            <a:ext cx="5715001" cy="4292601"/>
          </a:xfrm>
          <a:prstGeom prst="rect">
            <a:avLst/>
          </a:prstGeom>
          <a:ln w="12700">
            <a:miter lim="400000"/>
          </a:ln>
        </p:spPr>
      </p:pic>
      <p:pic>
        <p:nvPicPr>
          <p:cNvPr id="208" name="ld2s.png"/>
          <p:cNvPicPr>
            <a:picLocks noChangeAspect="1"/>
          </p:cNvPicPr>
          <p:nvPr/>
        </p:nvPicPr>
        <p:blipFill>
          <a:blip r:embed="rId3">
            <a:extLst/>
          </a:blip>
          <a:stretch>
            <a:fillRect/>
          </a:stretch>
        </p:blipFill>
        <p:spPr>
          <a:xfrm>
            <a:off x="6935936" y="1145033"/>
            <a:ext cx="5715001" cy="4292601"/>
          </a:xfrm>
          <a:prstGeom prst="rect">
            <a:avLst/>
          </a:prstGeom>
          <a:ln w="12700">
            <a:miter lim="400000"/>
          </a:ln>
        </p:spPr>
      </p:pic>
      <p:pic>
        <p:nvPicPr>
          <p:cNvPr id="209" name="figure_1.png"/>
          <p:cNvPicPr>
            <a:picLocks noChangeAspect="1"/>
          </p:cNvPicPr>
          <p:nvPr/>
        </p:nvPicPr>
        <p:blipFill>
          <a:blip r:embed="rId4">
            <a:extLst/>
          </a:blip>
          <a:stretch>
            <a:fillRect/>
          </a:stretch>
        </p:blipFill>
        <p:spPr>
          <a:xfrm>
            <a:off x="6559962" y="5523086"/>
            <a:ext cx="6466948" cy="3703229"/>
          </a:xfrm>
          <a:prstGeom prst="rect">
            <a:avLst/>
          </a:prstGeom>
          <a:ln w="12700">
            <a:miter lim="400000"/>
          </a:ln>
        </p:spPr>
      </p:pic>
      <p:pic>
        <p:nvPicPr>
          <p:cNvPr id="210" name="figure_2.png"/>
          <p:cNvPicPr>
            <a:picLocks noChangeAspect="1"/>
          </p:cNvPicPr>
          <p:nvPr/>
        </p:nvPicPr>
        <p:blipFill>
          <a:blip r:embed="rId5">
            <a:extLst/>
          </a:blip>
          <a:stretch>
            <a:fillRect/>
          </a:stretch>
        </p:blipFill>
        <p:spPr>
          <a:xfrm>
            <a:off x="195079" y="5488835"/>
            <a:ext cx="6466949" cy="3771732"/>
          </a:xfrm>
          <a:prstGeom prst="rect">
            <a:avLst/>
          </a:prstGeom>
          <a:ln w="12700">
            <a:miter lim="400000"/>
          </a:ln>
        </p:spPr>
      </p:pic>
      <p:sp>
        <p:nvSpPr>
          <p:cNvPr id="211" name="Shape 211"/>
          <p:cNvSpPr/>
          <p:nvPr/>
        </p:nvSpPr>
        <p:spPr>
          <a:xfrm>
            <a:off x="97383" y="9213849"/>
            <a:ext cx="3773092"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image_histo.py</a:t>
            </a:r>
          </a:p>
        </p:txBody>
      </p:sp>
      <p:sp>
        <p:nvSpPr>
          <p:cNvPr id="212" name="Shape 212"/>
          <p:cNvSpPr/>
          <p:nvPr/>
        </p:nvSpPr>
        <p:spPr>
          <a:xfrm>
            <a:off x="4202366" y="6225540"/>
            <a:ext cx="1804034" cy="8839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Pixel intensities over narrow range</a:t>
            </a:r>
          </a:p>
        </p:txBody>
      </p:sp>
      <p:sp>
        <p:nvSpPr>
          <p:cNvPr id="213" name="Shape 213"/>
          <p:cNvSpPr/>
          <p:nvPr/>
        </p:nvSpPr>
        <p:spPr>
          <a:xfrm>
            <a:off x="8101266" y="6111240"/>
            <a:ext cx="1804034" cy="8839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vl1pPr>
          </a:lstStyle>
          <a:p>
            <a:pPr/>
            <a:r>
              <a:t>Most pixel intensities are dark/black</a:t>
            </a:r>
          </a:p>
        </p:txBody>
      </p:sp>
      <p:sp>
        <p:nvSpPr>
          <p:cNvPr id="214" name="Shape 214"/>
          <p:cNvSpPr/>
          <p:nvPr/>
        </p:nvSpPr>
        <p:spPr>
          <a:xfrm flipH="1" flipV="1">
            <a:off x="7491016" y="6392167"/>
            <a:ext cx="761703" cy="156172"/>
          </a:xfrm>
          <a:prstGeom prst="line">
            <a:avLst/>
          </a:prstGeom>
          <a:ln w="25400">
            <a:solidFill>
              <a:srgbClr val="000000"/>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6" name="Shape 216"/>
          <p:cNvSpPr/>
          <p:nvPr>
            <p:ph type="title"/>
          </p:nvPr>
        </p:nvSpPr>
        <p:spPr>
          <a:xfrm>
            <a:off x="618207" y="444500"/>
            <a:ext cx="6028036" cy="1185962"/>
          </a:xfrm>
          <a:prstGeom prst="rect">
            <a:avLst/>
          </a:prstGeom>
        </p:spPr>
        <p:txBody>
          <a:bodyPr/>
          <a:lstStyle>
            <a:lvl1pPr defTabSz="578358">
              <a:defRPr sz="5445">
                <a:effectLst>
                  <a:outerShdw sx="100000" sy="100000" kx="0" ky="0" algn="b" rotWithShape="0" blurRad="88011" dist="37719" dir="2700000">
                    <a:srgbClr val="000000">
                      <a:alpha val="30000"/>
                    </a:srgbClr>
                  </a:outerShdw>
                </a:effectLst>
              </a:defRPr>
            </a:lvl1pPr>
          </a:lstStyle>
          <a:p>
            <a:pPr/>
            <a:r>
              <a:t>Histogram stretch</a:t>
            </a:r>
          </a:p>
        </p:txBody>
      </p:sp>
      <p:sp>
        <p:nvSpPr>
          <p:cNvPr id="217" name="Shape 217"/>
          <p:cNvSpPr/>
          <p:nvPr>
            <p:ph type="body" sz="half" idx="1"/>
          </p:nvPr>
        </p:nvSpPr>
        <p:spPr>
          <a:xfrm>
            <a:off x="781397" y="1733550"/>
            <a:ext cx="5701656" cy="6286500"/>
          </a:xfrm>
          <a:prstGeom prst="rect">
            <a:avLst/>
          </a:prstGeom>
        </p:spPr>
        <p:txBody>
          <a:bodyPr anchor="t"/>
          <a:lstStyle/>
          <a:p>
            <a:pPr/>
            <a:r>
              <a:t>Find minimum and maximum pixel intensities </a:t>
            </a:r>
            <a:r>
              <a:rPr b="0" i="1"/>
              <a:t>v</a:t>
            </a:r>
            <a:r>
              <a:rPr b="0" baseline="-5999"/>
              <a:t>min</a:t>
            </a:r>
            <a:r>
              <a:t> and </a:t>
            </a:r>
            <a:r>
              <a:rPr b="0" i="1"/>
              <a:t>v</a:t>
            </a:r>
            <a:r>
              <a:rPr b="0" baseline="-5999"/>
              <a:t>max</a:t>
            </a:r>
            <a:r>
              <a:t> and then apply the function</a:t>
            </a:r>
          </a:p>
          <a:p>
            <a:pPr/>
          </a:p>
          <a:p>
            <a:pPr/>
            <a:r>
              <a:t>Stretches pixel intensities to cover the whole range</a:t>
            </a:r>
          </a:p>
        </p:txBody>
      </p:sp>
      <p:pic>
        <p:nvPicPr>
          <p:cNvPr id="218" name="ld1s_proc.png"/>
          <p:cNvPicPr>
            <a:picLocks noChangeAspect="1"/>
          </p:cNvPicPr>
          <p:nvPr/>
        </p:nvPicPr>
        <p:blipFill>
          <a:blip r:embed="rId2">
            <a:extLst/>
          </a:blip>
          <a:stretch>
            <a:fillRect/>
          </a:stretch>
        </p:blipFill>
        <p:spPr>
          <a:xfrm>
            <a:off x="7117754" y="469701"/>
            <a:ext cx="5715001" cy="4292601"/>
          </a:xfrm>
          <a:prstGeom prst="rect">
            <a:avLst/>
          </a:prstGeom>
          <a:ln w="12700">
            <a:miter lim="400000"/>
          </a:ln>
        </p:spPr>
      </p:pic>
      <p:pic>
        <p:nvPicPr>
          <p:cNvPr id="219" name="ld1s_proc.png"/>
          <p:cNvPicPr>
            <a:picLocks noChangeAspect="1"/>
          </p:cNvPicPr>
          <p:nvPr/>
        </p:nvPicPr>
        <p:blipFill>
          <a:blip r:embed="rId3">
            <a:extLst/>
          </a:blip>
          <a:stretch>
            <a:fillRect/>
          </a:stretch>
        </p:blipFill>
        <p:spPr>
          <a:xfrm>
            <a:off x="7117754" y="5127922"/>
            <a:ext cx="5715001" cy="4292601"/>
          </a:xfrm>
          <a:prstGeom prst="rect">
            <a:avLst/>
          </a:prstGeom>
          <a:ln w="12700">
            <a:miter lim="400000"/>
          </a:ln>
        </p:spPr>
      </p:pic>
      <p:sp>
        <p:nvSpPr>
          <p:cNvPr id="220" name="Shape 220"/>
          <p:cNvSpPr/>
          <p:nvPr/>
        </p:nvSpPr>
        <p:spPr>
          <a:xfrm>
            <a:off x="9170785" y="4362449"/>
            <a:ext cx="3641807"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algn="r">
              <a:defRPr sz="1900">
                <a:solidFill>
                  <a:srgbClr val="FFFFFF"/>
                </a:solidFill>
              </a:defRPr>
            </a:pPr>
            <a:r>
              <a:t>Original image (in greyscale)</a:t>
            </a:r>
          </a:p>
        </p:txBody>
      </p:sp>
      <p:sp>
        <p:nvSpPr>
          <p:cNvPr id="221" name="Shape 221"/>
          <p:cNvSpPr/>
          <p:nvPr/>
        </p:nvSpPr>
        <p:spPr>
          <a:xfrm>
            <a:off x="9358712" y="9023349"/>
            <a:ext cx="3453880"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algn="r">
              <a:defRPr sz="1900">
                <a:solidFill>
                  <a:srgbClr val="FFFFFF"/>
                </a:solidFill>
              </a:defRPr>
            </a:pPr>
            <a:r>
              <a:t>Histogram stretched image</a:t>
            </a:r>
          </a:p>
        </p:txBody>
      </p:sp>
      <p:sp>
        <p:nvSpPr>
          <p:cNvPr id="222" name="Shape 222"/>
          <p:cNvSpPr/>
          <p:nvPr/>
        </p:nvSpPr>
        <p:spPr>
          <a:xfrm>
            <a:off x="97383" y="9213849"/>
            <a:ext cx="3908525"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histo_stretch.py</a:t>
            </a:r>
          </a:p>
        </p:txBody>
      </p:sp>
      <p:pic>
        <p:nvPicPr>
          <p:cNvPr id="223" name="figure_3.png"/>
          <p:cNvPicPr>
            <a:picLocks noChangeAspect="1"/>
          </p:cNvPicPr>
          <p:nvPr/>
        </p:nvPicPr>
        <p:blipFill>
          <a:blip r:embed="rId4">
            <a:extLst/>
          </a:blip>
          <a:stretch>
            <a:fillRect/>
          </a:stretch>
        </p:blipFill>
        <p:spPr>
          <a:xfrm>
            <a:off x="177079" y="6663683"/>
            <a:ext cx="3191377" cy="2393533"/>
          </a:xfrm>
          <a:prstGeom prst="rect">
            <a:avLst/>
          </a:prstGeom>
          <a:ln w="12700">
            <a:miter lim="400000"/>
          </a:ln>
        </p:spPr>
      </p:pic>
      <p:pic>
        <p:nvPicPr>
          <p:cNvPr id="224" name="figure_4.png"/>
          <p:cNvPicPr>
            <a:picLocks noChangeAspect="1"/>
          </p:cNvPicPr>
          <p:nvPr/>
        </p:nvPicPr>
        <p:blipFill>
          <a:blip r:embed="rId5">
            <a:extLst/>
          </a:blip>
          <a:stretch>
            <a:fillRect/>
          </a:stretch>
        </p:blipFill>
        <p:spPr>
          <a:xfrm>
            <a:off x="3868191" y="6663683"/>
            <a:ext cx="3191377" cy="2393533"/>
          </a:xfrm>
          <a:prstGeom prst="rect">
            <a:avLst/>
          </a:prstGeom>
          <a:ln w="12700">
            <a:miter lim="400000"/>
          </a:ln>
        </p:spPr>
      </p:pic>
      <p:sp>
        <p:nvSpPr>
          <p:cNvPr id="225" name="Shape 225"/>
          <p:cNvSpPr/>
          <p:nvPr/>
        </p:nvSpPr>
        <p:spPr>
          <a:xfrm>
            <a:off x="3149600" y="7860449"/>
            <a:ext cx="643665" cy="1"/>
          </a:xfrm>
          <a:prstGeom prst="line">
            <a:avLst/>
          </a:prstGeom>
          <a:ln w="50800">
            <a:solidFill>
              <a:schemeClr val="accent4"/>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pic>
        <p:nvPicPr>
          <p:cNvPr id="226" name="ga2.pdf"/>
          <p:cNvPicPr>
            <a:picLocks noChangeAspect="1"/>
          </p:cNvPicPr>
          <p:nvPr/>
        </p:nvPicPr>
        <p:blipFill>
          <a:blip r:embed="rId6">
            <a:extLst/>
          </a:blip>
          <a:stretch>
            <a:fillRect/>
          </a:stretch>
        </p:blipFill>
        <p:spPr>
          <a:xfrm>
            <a:off x="2056611" y="4259171"/>
            <a:ext cx="3151228" cy="838094"/>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28" name="Shape 228"/>
          <p:cNvSpPr/>
          <p:nvPr>
            <p:ph type="title"/>
          </p:nvPr>
        </p:nvSpPr>
        <p:spPr>
          <a:xfrm>
            <a:off x="437232" y="444500"/>
            <a:ext cx="5934721" cy="1562547"/>
          </a:xfrm>
          <a:prstGeom prst="rect">
            <a:avLst/>
          </a:prstGeom>
        </p:spPr>
        <p:txBody>
          <a:bodyPr/>
          <a:lstStyle>
            <a:lvl1pPr defTabSz="578358">
              <a:lnSpc>
                <a:spcPct val="90000"/>
              </a:lnSpc>
              <a:defRPr sz="5148">
                <a:effectLst>
                  <a:outerShdw sx="100000" sy="100000" kx="0" ky="0" algn="b" rotWithShape="0" blurRad="88011" dist="37719" dir="2700000">
                    <a:srgbClr val="000000">
                      <a:alpha val="30000"/>
                    </a:srgbClr>
                  </a:outerShdw>
                </a:effectLst>
              </a:defRPr>
            </a:lvl1pPr>
          </a:lstStyle>
          <a:p>
            <a:pPr/>
            <a:r>
              <a:t>Gamma correction</a:t>
            </a:r>
          </a:p>
        </p:txBody>
      </p:sp>
      <p:sp>
        <p:nvSpPr>
          <p:cNvPr id="229" name="Shape 229"/>
          <p:cNvSpPr/>
          <p:nvPr>
            <p:ph type="body" sz="quarter" idx="1"/>
          </p:nvPr>
        </p:nvSpPr>
        <p:spPr>
          <a:xfrm>
            <a:off x="506487" y="1727200"/>
            <a:ext cx="5796211" cy="3450729"/>
          </a:xfrm>
          <a:prstGeom prst="rect">
            <a:avLst/>
          </a:prstGeom>
        </p:spPr>
        <p:txBody>
          <a:bodyPr/>
          <a:lstStyle/>
          <a:p>
            <a:pPr marL="343746" indent="-343746" defTabSz="508254">
              <a:spcBef>
                <a:spcPts val="2200"/>
              </a:spcBef>
              <a:defRPr sz="2784"/>
            </a:pPr>
            <a:r>
              <a:t>Some images cover a large range of intensities, but have too many dark (or bright) regions</a:t>
            </a:r>
          </a:p>
          <a:p>
            <a:pPr marL="343746" indent="-343746" defTabSz="508254">
              <a:spcBef>
                <a:spcPts val="2200"/>
              </a:spcBef>
              <a:defRPr sz="2784"/>
            </a:pPr>
            <a:r>
              <a:t>Want to map 0.0 (black) and 1.0 (white) to themselves, but stretch the intensities in-between; use the function</a:t>
            </a:r>
          </a:p>
        </p:txBody>
      </p:sp>
      <p:pic>
        <p:nvPicPr>
          <p:cNvPr id="230" name="ld2s_proc.png"/>
          <p:cNvPicPr>
            <a:picLocks noChangeAspect="1"/>
          </p:cNvPicPr>
          <p:nvPr/>
        </p:nvPicPr>
        <p:blipFill>
          <a:blip r:embed="rId2">
            <a:extLst/>
          </a:blip>
          <a:stretch>
            <a:fillRect/>
          </a:stretch>
        </p:blipFill>
        <p:spPr>
          <a:xfrm>
            <a:off x="7107932" y="467766"/>
            <a:ext cx="5715001" cy="4292601"/>
          </a:xfrm>
          <a:prstGeom prst="rect">
            <a:avLst/>
          </a:prstGeom>
          <a:ln w="12700">
            <a:miter lim="400000"/>
          </a:ln>
        </p:spPr>
      </p:pic>
      <p:pic>
        <p:nvPicPr>
          <p:cNvPr id="231" name="ld2s_proc.png"/>
          <p:cNvPicPr>
            <a:picLocks noChangeAspect="1"/>
          </p:cNvPicPr>
          <p:nvPr/>
        </p:nvPicPr>
        <p:blipFill>
          <a:blip r:embed="rId3">
            <a:extLst/>
          </a:blip>
          <a:stretch>
            <a:fillRect/>
          </a:stretch>
        </p:blipFill>
        <p:spPr>
          <a:xfrm>
            <a:off x="7107932" y="5127327"/>
            <a:ext cx="5715001" cy="4292601"/>
          </a:xfrm>
          <a:prstGeom prst="rect">
            <a:avLst/>
          </a:prstGeom>
          <a:ln w="12700">
            <a:miter lim="400000"/>
          </a:ln>
        </p:spPr>
      </p:pic>
      <p:sp>
        <p:nvSpPr>
          <p:cNvPr id="232" name="Shape 232"/>
          <p:cNvSpPr/>
          <p:nvPr/>
        </p:nvSpPr>
        <p:spPr>
          <a:xfrm>
            <a:off x="9170785" y="4362449"/>
            <a:ext cx="3641807"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algn="r">
              <a:defRPr sz="1900">
                <a:solidFill>
                  <a:srgbClr val="FFFFFF"/>
                </a:solidFill>
              </a:defRPr>
            </a:pPr>
            <a:r>
              <a:t>Original image (in greyscale)</a:t>
            </a:r>
          </a:p>
        </p:txBody>
      </p:sp>
      <p:sp>
        <p:nvSpPr>
          <p:cNvPr id="233" name="Shape 233"/>
          <p:cNvSpPr/>
          <p:nvPr/>
        </p:nvSpPr>
        <p:spPr>
          <a:xfrm>
            <a:off x="7970177" y="9023349"/>
            <a:ext cx="4842415"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algn="r">
              <a:defRPr sz="1900">
                <a:solidFill>
                  <a:srgbClr val="FFFFFF"/>
                </a:solidFill>
              </a:defRPr>
            </a:pPr>
            <a:r>
              <a:t>Gamma corrected image (gamma = 0.4)</a:t>
            </a:r>
          </a:p>
        </p:txBody>
      </p:sp>
      <p:sp>
        <p:nvSpPr>
          <p:cNvPr id="234" name="Shape 234"/>
          <p:cNvSpPr/>
          <p:nvPr/>
        </p:nvSpPr>
        <p:spPr>
          <a:xfrm>
            <a:off x="97383" y="9213849"/>
            <a:ext cx="4264820"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gamma_correct.py</a:t>
            </a:r>
          </a:p>
        </p:txBody>
      </p:sp>
      <p:pic>
        <p:nvPicPr>
          <p:cNvPr id="235" name="ga.pdf"/>
          <p:cNvPicPr>
            <a:picLocks noChangeAspect="1"/>
          </p:cNvPicPr>
          <p:nvPr/>
        </p:nvPicPr>
        <p:blipFill>
          <a:blip r:embed="rId4">
            <a:extLst/>
          </a:blip>
          <a:stretch>
            <a:fillRect/>
          </a:stretch>
        </p:blipFill>
        <p:spPr>
          <a:xfrm>
            <a:off x="2296179" y="4737204"/>
            <a:ext cx="1531027" cy="406192"/>
          </a:xfrm>
          <a:prstGeom prst="rect">
            <a:avLst/>
          </a:prstGeom>
          <a:ln w="12700">
            <a:miter lim="400000"/>
          </a:ln>
        </p:spPr>
      </p:pic>
      <p:pic>
        <p:nvPicPr>
          <p:cNvPr id="236" name="lec17_2.pdf"/>
          <p:cNvPicPr>
            <a:picLocks noChangeAspect="1"/>
          </p:cNvPicPr>
          <p:nvPr/>
        </p:nvPicPr>
        <p:blipFill>
          <a:blip r:embed="rId5">
            <a:extLst/>
          </a:blip>
          <a:stretch>
            <a:fillRect/>
          </a:stretch>
        </p:blipFill>
        <p:spPr>
          <a:xfrm>
            <a:off x="1278279" y="5359945"/>
            <a:ext cx="4252627" cy="3827364"/>
          </a:xfrm>
          <a:prstGeom prst="rect">
            <a:avLst/>
          </a:prstGeom>
          <a:ln w="12700">
            <a:miter lim="400000"/>
          </a:ln>
        </p:spPr>
      </p:pic>
      <p:sp>
        <p:nvSpPr>
          <p:cNvPr id="237" name="Shape 237"/>
          <p:cNvSpPr/>
          <p:nvPr/>
        </p:nvSpPr>
        <p:spPr>
          <a:xfrm rot="18972693">
            <a:off x="2746992" y="6879927"/>
            <a:ext cx="756401" cy="304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300"/>
            </a:lvl1pPr>
          </a:lstStyle>
          <a:p>
            <a:pPr/>
            <a:r>
              <a:t>Brighter</a:t>
            </a:r>
          </a:p>
        </p:txBody>
      </p:sp>
      <p:sp>
        <p:nvSpPr>
          <p:cNvPr id="238" name="Shape 238"/>
          <p:cNvSpPr/>
          <p:nvPr/>
        </p:nvSpPr>
        <p:spPr>
          <a:xfrm rot="18437983">
            <a:off x="3949446" y="7121227"/>
            <a:ext cx="637494" cy="304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300"/>
            </a:lvl1pPr>
          </a:lstStyle>
          <a:p>
            <a:pPr/>
            <a:r>
              <a:t>Darker</a:t>
            </a:r>
          </a:p>
        </p:txBody>
      </p:sp>
      <p:sp>
        <p:nvSpPr>
          <p:cNvPr id="239" name="Shape 239"/>
          <p:cNvSpPr/>
          <p:nvPr/>
        </p:nvSpPr>
        <p:spPr>
          <a:xfrm rot="18900000">
            <a:off x="3264142" y="7121227"/>
            <a:ext cx="738101" cy="304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300"/>
            </a:lvl1pPr>
          </a:lstStyle>
          <a:p>
            <a:pPr/>
            <a:r>
              <a:t>Original</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241" name="audrey.png"/>
          <p:cNvPicPr>
            <a:picLocks noChangeAspect="1"/>
          </p:cNvPicPr>
          <p:nvPr/>
        </p:nvPicPr>
        <p:blipFill>
          <a:blip r:embed="rId2">
            <a:extLst/>
          </a:blip>
          <a:stretch>
            <a:fillRect/>
          </a:stretch>
        </p:blipFill>
        <p:spPr>
          <a:xfrm>
            <a:off x="6982122" y="1737765"/>
            <a:ext cx="5715001" cy="7823201"/>
          </a:xfrm>
          <a:prstGeom prst="rect">
            <a:avLst/>
          </a:prstGeom>
          <a:ln w="12700">
            <a:miter lim="400000"/>
          </a:ln>
        </p:spPr>
      </p:pic>
      <p:sp>
        <p:nvSpPr>
          <p:cNvPr id="242" name="Shape 242"/>
          <p:cNvSpPr/>
          <p:nvPr>
            <p:ph type="title"/>
          </p:nvPr>
        </p:nvSpPr>
        <p:spPr>
          <a:xfrm>
            <a:off x="437232" y="-63500"/>
            <a:ext cx="12130336" cy="2159000"/>
          </a:xfrm>
          <a:prstGeom prst="rect">
            <a:avLst/>
          </a:prstGeom>
        </p:spPr>
        <p:txBody>
          <a:bodyPr/>
          <a:lstStyle/>
          <a:p>
            <a:pPr/>
            <a:r>
              <a:t>Image manipulation</a:t>
            </a:r>
          </a:p>
        </p:txBody>
      </p:sp>
      <p:sp>
        <p:nvSpPr>
          <p:cNvPr id="243" name="Shape 243"/>
          <p:cNvSpPr/>
          <p:nvPr>
            <p:ph type="body" sz="half" idx="1"/>
          </p:nvPr>
        </p:nvSpPr>
        <p:spPr>
          <a:xfrm>
            <a:off x="647700" y="2082800"/>
            <a:ext cx="5331619" cy="7133132"/>
          </a:xfrm>
          <a:prstGeom prst="rect">
            <a:avLst/>
          </a:prstGeom>
        </p:spPr>
        <p:txBody>
          <a:bodyPr anchor="t"/>
          <a:lstStyle/>
          <a:p>
            <a:pPr marL="342264" indent="-342264" defTabSz="449833">
              <a:spcBef>
                <a:spcPts val="2000"/>
              </a:spcBef>
              <a:defRPr sz="2772"/>
            </a:pPr>
            <a:r>
              <a:t>There are many techniques based on directly modifying pixels that can be used to manipulate images</a:t>
            </a:r>
          </a:p>
          <a:p>
            <a:pPr marL="342264" indent="-342264" defTabSz="449833">
              <a:spcBef>
                <a:spcPts val="2000"/>
              </a:spcBef>
              <a:defRPr sz="2772"/>
            </a:pPr>
            <a:r>
              <a:t>Many practical purposes (</a:t>
            </a:r>
            <a:r>
              <a:rPr i="1"/>
              <a:t>e.g.</a:t>
            </a:r>
            <a:r>
              <a:t> removing noise, simplification for further analysis, separation of the image into simple components)</a:t>
            </a:r>
          </a:p>
          <a:p>
            <a:pPr marL="342264" indent="-342264" defTabSz="449833">
              <a:spcBef>
                <a:spcPts val="2000"/>
              </a:spcBef>
              <a:defRPr sz="2772"/>
            </a:pPr>
            <a:r>
              <a:t>Demonstration image: pencil sketch of Audrey Hepburn by Stephen H. Rycroft</a:t>
            </a:r>
          </a:p>
          <a:p>
            <a:pPr marL="342264" indent="-342264" defTabSz="449833">
              <a:spcBef>
                <a:spcPts val="2000"/>
              </a:spcBef>
              <a:defRPr sz="2772"/>
            </a:pPr>
            <a:r>
              <a:t>A good test image since it has many different textures and a wide range of pixel intensities</a:t>
            </a:r>
          </a:p>
        </p:txBody>
      </p:sp>
      <p:sp>
        <p:nvSpPr>
          <p:cNvPr id="244" name="Shape 244"/>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245" name="Shape 245"/>
          <p:cNvSpPr/>
          <p:nvPr/>
        </p:nvSpPr>
        <p:spPr>
          <a:xfrm>
            <a:off x="7333665" y="1936750"/>
            <a:ext cx="2469060"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Test Image</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247" name="binary.png"/>
          <p:cNvPicPr>
            <a:picLocks noChangeAspect="1"/>
          </p:cNvPicPr>
          <p:nvPr/>
        </p:nvPicPr>
        <p:blipFill>
          <a:blip r:embed="rId2">
            <a:extLst/>
          </a:blip>
          <a:stretch>
            <a:fillRect/>
          </a:stretch>
        </p:blipFill>
        <p:spPr>
          <a:xfrm>
            <a:off x="6982122" y="1737765"/>
            <a:ext cx="5715001" cy="7823201"/>
          </a:xfrm>
          <a:prstGeom prst="rect">
            <a:avLst/>
          </a:prstGeom>
          <a:ln w="12700">
            <a:miter lim="400000"/>
          </a:ln>
        </p:spPr>
      </p:pic>
      <p:sp>
        <p:nvSpPr>
          <p:cNvPr id="248" name="Shape 248"/>
          <p:cNvSpPr/>
          <p:nvPr>
            <p:ph type="title"/>
          </p:nvPr>
        </p:nvSpPr>
        <p:spPr>
          <a:xfrm>
            <a:off x="437232" y="63500"/>
            <a:ext cx="12130336" cy="2159000"/>
          </a:xfrm>
          <a:prstGeom prst="rect">
            <a:avLst/>
          </a:prstGeom>
        </p:spPr>
        <p:txBody>
          <a:bodyPr/>
          <a:lstStyle/>
          <a:p>
            <a:pPr/>
            <a:r>
              <a:t>Binary thresholding</a:t>
            </a:r>
          </a:p>
        </p:txBody>
      </p:sp>
      <p:sp>
        <p:nvSpPr>
          <p:cNvPr id="249" name="Shape 249"/>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250" name="Shape 250"/>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251" name="Shape 251"/>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252" name="Shape 252"/>
          <p:cNvSpPr/>
          <p:nvPr/>
        </p:nvSpPr>
        <p:spPr>
          <a:xfrm>
            <a:off x="97383" y="9213849"/>
            <a:ext cx="4010324"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binary_thresh.py</a:t>
            </a:r>
          </a:p>
        </p:txBody>
      </p:sp>
      <p:sp>
        <p:nvSpPr>
          <p:cNvPr id="253" name="Shape 253"/>
          <p:cNvSpPr/>
          <p:nvPr/>
        </p:nvSpPr>
        <p:spPr>
          <a:xfrm>
            <a:off x="513081" y="3035299"/>
            <a:ext cx="5481825" cy="5435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Load in the test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a=io.imread(</a:t>
            </a:r>
            <a:r>
              <a:rPr>
                <a:solidFill>
                  <a:srgbClr val="0220B3"/>
                </a:solidFill>
              </a:rPr>
              <a:t>"audrey.png"</a:t>
            </a:r>
            <a:r>
              <a:t>,as_grey=</a:t>
            </a:r>
            <a:r>
              <a:rPr>
                <a:solidFill>
                  <a:srgbClr val="AF5F00"/>
                </a:solidFill>
              </a:rPr>
              <a:t>True</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Initialize blank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(y,x)=a.shape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t>b=np.zeros((y,x))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Do binary thresholding</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(y):</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latin typeface="Menlo"/>
                <a:ea typeface="Menlo"/>
                <a:cs typeface="Menlo"/>
                <a:sym typeface="Menlo"/>
              </a:defRPr>
            </a:pPr>
            <a:r>
              <a:rPr>
                <a:solidFill>
                  <a:srgbClr val="FFF678"/>
                </a:solidFill>
              </a:rPr>
              <a:t>       </a:t>
            </a:r>
            <a:r>
              <a:t> </a:t>
            </a:r>
            <a:r>
              <a:rPr>
                <a:solidFill>
                  <a:srgbClr val="E539E5"/>
                </a:solidFill>
              </a:rPr>
              <a:t>if</a:t>
            </a:r>
            <a:r>
              <a:t>(a[j,i]&lt;</a:t>
            </a:r>
            <a:r>
              <a:rPr>
                <a:solidFill>
                  <a:srgbClr val="0433FF"/>
                </a:solidFill>
              </a:rPr>
              <a:t>128.0</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r>
              <a:t>           </a:t>
            </a:r>
            <a:r>
              <a:rPr>
                <a:solidFill>
                  <a:srgbClr val="000000"/>
                </a:solidFill>
              </a:rPr>
              <a:t> b[j,i]=</a:t>
            </a:r>
            <a:r>
              <a:rPr>
                <a:solidFill>
                  <a:srgbClr val="0433FF"/>
                </a:solidFill>
              </a:rPr>
              <a:t>0.0</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r>
              <a:t>       </a:t>
            </a:r>
            <a:r>
              <a:rPr>
                <a:solidFill>
                  <a:srgbClr val="000000"/>
                </a:solidFill>
              </a:rPr>
              <a:t> </a:t>
            </a:r>
            <a:r>
              <a:rPr>
                <a:solidFill>
                  <a:srgbClr val="E539E5"/>
                </a:solidFill>
              </a:rPr>
              <a:t>else</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r>
              <a:t>           </a:t>
            </a:r>
            <a:r>
              <a:rPr>
                <a:solidFill>
                  <a:srgbClr val="000000"/>
                </a:solidFill>
              </a:rPr>
              <a:t> b[j,i]=</a:t>
            </a:r>
            <a:r>
              <a:rPr>
                <a:solidFill>
                  <a:srgbClr val="0433FF"/>
                </a:solidFill>
              </a:rPr>
              <a:t>1.0</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chemeClr val="accent6">
                    <a:satOff val="24555"/>
                    <a:lumOff val="22232"/>
                  </a:schemeClr>
                </a:solidFill>
                <a:latin typeface="Menlo"/>
                <a:ea typeface="Menlo"/>
                <a:cs typeface="Menlo"/>
                <a:sym typeface="Menlo"/>
              </a:defRPr>
            </a:pPr>
            <a:r>
              <a:t># Plot the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800">
                <a:solidFill>
                  <a:srgbClr val="0220B3"/>
                </a:solidFill>
                <a:latin typeface="Menlo"/>
                <a:ea typeface="Menlo"/>
                <a:cs typeface="Menlo"/>
                <a:sym typeface="Menlo"/>
              </a:defRPr>
            </a:pPr>
            <a:r>
              <a:rPr>
                <a:solidFill>
                  <a:srgbClr val="000000"/>
                </a:solidFill>
              </a:rPr>
              <a:t>io.imsave(</a:t>
            </a:r>
            <a:r>
              <a:t>"binary.png"</a:t>
            </a:r>
            <a:r>
              <a:rPr>
                <a:solidFill>
                  <a:srgbClr val="000000"/>
                </a:solidFill>
              </a:rPr>
              <a:t>,b)</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255" name="binary2.png"/>
          <p:cNvPicPr>
            <a:picLocks noChangeAspect="1"/>
          </p:cNvPicPr>
          <p:nvPr/>
        </p:nvPicPr>
        <p:blipFill>
          <a:blip r:embed="rId2">
            <a:extLst/>
          </a:blip>
          <a:stretch>
            <a:fillRect/>
          </a:stretch>
        </p:blipFill>
        <p:spPr>
          <a:xfrm>
            <a:off x="6984305" y="1737765"/>
            <a:ext cx="5715001" cy="7823201"/>
          </a:xfrm>
          <a:prstGeom prst="rect">
            <a:avLst/>
          </a:prstGeom>
          <a:ln w="12700">
            <a:miter lim="400000"/>
          </a:ln>
        </p:spPr>
      </p:pic>
      <p:sp>
        <p:nvSpPr>
          <p:cNvPr id="256" name="Shape 256"/>
          <p:cNvSpPr/>
          <p:nvPr>
            <p:ph type="title"/>
          </p:nvPr>
        </p:nvSpPr>
        <p:spPr>
          <a:xfrm>
            <a:off x="437232" y="-317500"/>
            <a:ext cx="12130336" cy="2159000"/>
          </a:xfrm>
          <a:prstGeom prst="rect">
            <a:avLst/>
          </a:prstGeom>
        </p:spPr>
        <p:txBody>
          <a:bodyPr/>
          <a:lstStyle/>
          <a:p>
            <a:pPr/>
            <a:r>
              <a:t>Randomized quantization</a:t>
            </a:r>
          </a:p>
        </p:txBody>
      </p:sp>
      <p:sp>
        <p:nvSpPr>
          <p:cNvPr id="257" name="Shape 257"/>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258" name="Shape 258"/>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259" name="Shape 259"/>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260" name="Shape 260"/>
          <p:cNvSpPr/>
          <p:nvPr/>
        </p:nvSpPr>
        <p:spPr>
          <a:xfrm>
            <a:off x="97383" y="9213849"/>
            <a:ext cx="4179839"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binary_thresh2.py</a:t>
            </a:r>
          </a:p>
        </p:txBody>
      </p:sp>
      <p:sp>
        <p:nvSpPr>
          <p:cNvPr id="261" name="Shape 261"/>
          <p:cNvSpPr/>
          <p:nvPr/>
        </p:nvSpPr>
        <p:spPr>
          <a:xfrm>
            <a:off x="538481" y="2768600"/>
            <a:ext cx="5780021" cy="596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latin typeface="Menlo"/>
                <a:ea typeface="Menlo"/>
                <a:cs typeface="Menlo"/>
                <a:sym typeface="Menlo"/>
              </a:defRPr>
            </a:pPr>
            <a:r>
              <a:rPr>
                <a:solidFill>
                  <a:srgbClr val="E539E5"/>
                </a:solidFill>
              </a:rPr>
              <a:t>from</a:t>
            </a:r>
            <a:r>
              <a:t> random </a:t>
            </a:r>
            <a:r>
              <a:rPr>
                <a:solidFill>
                  <a:srgbClr val="E539E5"/>
                </a:solidFill>
              </a:rPr>
              <a:t>import</a:t>
            </a:r>
            <a:r>
              <a:t> random</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chemeClr val="accent6">
                    <a:satOff val="24555"/>
                    <a:lumOff val="22232"/>
                  </a:schemeClr>
                </a:solidFill>
                <a:latin typeface="Menlo"/>
                <a:ea typeface="Menlo"/>
                <a:cs typeface="Menlo"/>
                <a:sym typeface="Menlo"/>
              </a:defRPr>
            </a:pPr>
            <a:r>
              <a:t># Load in the test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latin typeface="Menlo"/>
                <a:ea typeface="Menlo"/>
                <a:cs typeface="Menlo"/>
                <a:sym typeface="Menlo"/>
              </a:defRPr>
            </a:pPr>
            <a:r>
              <a:t>a=io.imread(</a:t>
            </a:r>
            <a:r>
              <a:rPr>
                <a:solidFill>
                  <a:srgbClr val="0220B3"/>
                </a:solidFill>
              </a:rPr>
              <a:t>"audrey.png"</a:t>
            </a:r>
            <a:r>
              <a:t>,as_grey=</a:t>
            </a:r>
            <a:r>
              <a:rPr>
                <a:solidFill>
                  <a:srgbClr val="AF5F00"/>
                </a:solidFill>
              </a:rPr>
              <a:t>True</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chemeClr val="accent6">
                    <a:satOff val="24555"/>
                    <a:lumOff val="22232"/>
                  </a:schemeClr>
                </a:solidFill>
                <a:latin typeface="Menlo"/>
                <a:ea typeface="Menlo"/>
                <a:cs typeface="Menlo"/>
                <a:sym typeface="Menlo"/>
              </a:defRPr>
            </a:pPr>
            <a:r>
              <a:t># Initialize blank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latin typeface="Menlo"/>
                <a:ea typeface="Menlo"/>
                <a:cs typeface="Menlo"/>
                <a:sym typeface="Menlo"/>
              </a:defRPr>
            </a:pPr>
            <a:r>
              <a:t>(y,x)=a.shape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latin typeface="Menlo"/>
                <a:ea typeface="Menlo"/>
                <a:cs typeface="Menlo"/>
                <a:sym typeface="Menlo"/>
              </a:defRPr>
            </a:pPr>
            <a:r>
              <a:t>b=np.zeros((y,x))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chemeClr val="accent6">
                    <a:satOff val="24555"/>
                    <a:lumOff val="22232"/>
                  </a:schemeClr>
                </a:solidFill>
                <a:latin typeface="Menlo"/>
                <a:ea typeface="Menlo"/>
                <a:cs typeface="Menlo"/>
                <a:sym typeface="Menlo"/>
              </a:defRPr>
            </a:pPr>
            <a:r>
              <a:t># Do binary thresholding</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(y):</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latin typeface="Menlo"/>
                <a:ea typeface="Menlo"/>
                <a:cs typeface="Menlo"/>
                <a:sym typeface="Menlo"/>
              </a:defRPr>
            </a:pPr>
            <a:r>
              <a:rPr>
                <a:solidFill>
                  <a:srgbClr val="FFF678"/>
                </a:solidFill>
              </a:rPr>
              <a:t>       </a:t>
            </a:r>
            <a:r>
              <a:t> </a:t>
            </a:r>
            <a:r>
              <a:rPr>
                <a:solidFill>
                  <a:srgbClr val="E539E5"/>
                </a:solidFill>
              </a:rPr>
              <a:t>if</a:t>
            </a:r>
            <a:r>
              <a:t>(random()*</a:t>
            </a:r>
            <a:r>
              <a:rPr>
                <a:solidFill>
                  <a:srgbClr val="0433FF"/>
                </a:solidFill>
              </a:rPr>
              <a:t>255.0</a:t>
            </a:r>
            <a:r>
              <a:t>&gt;a[j,i]):</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FFF678"/>
                </a:solidFill>
                <a:latin typeface="Menlo"/>
                <a:ea typeface="Menlo"/>
                <a:cs typeface="Menlo"/>
                <a:sym typeface="Menlo"/>
              </a:defRPr>
            </a:pPr>
            <a:r>
              <a:t>           </a:t>
            </a:r>
            <a:r>
              <a:rPr>
                <a:solidFill>
                  <a:srgbClr val="000000"/>
                </a:solidFill>
              </a:rPr>
              <a:t> b[j,i]=</a:t>
            </a:r>
            <a:r>
              <a:rPr>
                <a:solidFill>
                  <a:srgbClr val="0433FF"/>
                </a:solidFill>
              </a:rPr>
              <a:t>0.0</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FFF678"/>
                </a:solidFill>
                <a:latin typeface="Menlo"/>
                <a:ea typeface="Menlo"/>
                <a:cs typeface="Menlo"/>
                <a:sym typeface="Menlo"/>
              </a:defRPr>
            </a:pPr>
            <a:r>
              <a:t>       </a:t>
            </a:r>
            <a:r>
              <a:rPr>
                <a:solidFill>
                  <a:srgbClr val="000000"/>
                </a:solidFill>
              </a:rPr>
              <a:t> </a:t>
            </a:r>
            <a:r>
              <a:rPr>
                <a:solidFill>
                  <a:srgbClr val="E539E5"/>
                </a:solidFill>
              </a:rPr>
              <a:t>else</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FFF678"/>
                </a:solidFill>
                <a:latin typeface="Menlo"/>
                <a:ea typeface="Menlo"/>
                <a:cs typeface="Menlo"/>
                <a:sym typeface="Menlo"/>
              </a:defRPr>
            </a:pPr>
            <a:r>
              <a:t>           </a:t>
            </a:r>
            <a:r>
              <a:rPr>
                <a:solidFill>
                  <a:srgbClr val="000000"/>
                </a:solidFill>
              </a:rPr>
              <a:t> b[j,i]=</a:t>
            </a:r>
            <a:r>
              <a:rPr>
                <a:solidFill>
                  <a:srgbClr val="0433FF"/>
                </a:solidFill>
              </a:rPr>
              <a:t>1.0</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chemeClr val="accent6">
                    <a:satOff val="24555"/>
                    <a:lumOff val="22232"/>
                  </a:schemeClr>
                </a:solidFill>
                <a:latin typeface="Menlo"/>
                <a:ea typeface="Menlo"/>
                <a:cs typeface="Menlo"/>
                <a:sym typeface="Menlo"/>
              </a:defRPr>
            </a:pPr>
            <a:r>
              <a:t># Plot the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900">
                <a:solidFill>
                  <a:srgbClr val="0220B3"/>
                </a:solidFill>
                <a:latin typeface="Menlo"/>
                <a:ea typeface="Menlo"/>
                <a:cs typeface="Menlo"/>
                <a:sym typeface="Menlo"/>
              </a:defRPr>
            </a:pPr>
            <a:r>
              <a:rPr>
                <a:solidFill>
                  <a:srgbClr val="000000"/>
                </a:solidFill>
              </a:rPr>
              <a:t>io.imsave(</a:t>
            </a:r>
            <a:r>
              <a:t>"binary2.png"</a:t>
            </a:r>
            <a:r>
              <a:rPr>
                <a:solidFill>
                  <a:srgbClr val="000000"/>
                </a:solidFill>
              </a:rPr>
              <a:t>,b)</a:t>
            </a:r>
          </a:p>
        </p:txBody>
      </p:sp>
      <p:sp>
        <p:nvSpPr>
          <p:cNvPr id="262" name="Shape 262"/>
          <p:cNvSpPr/>
          <p:nvPr/>
        </p:nvSpPr>
        <p:spPr>
          <a:xfrm>
            <a:off x="3458691" y="1174749"/>
            <a:ext cx="6087418"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a:lvl1pPr>
          </a:lstStyle>
          <a:p>
            <a:pPr/>
            <a:r>
              <a:t>(Probability of a pixel being white) = (Pixel intensity)</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show="0" showMasterSp="1" showMasterPhAnim="1">
  <p:cSld>
    <p:spTree>
      <p:nvGrpSpPr>
        <p:cNvPr id="1" name=""/>
        <p:cNvGrpSpPr/>
        <p:nvPr/>
      </p:nvGrpSpPr>
      <p:grpSpPr>
        <a:xfrm>
          <a:off x="0" y="0"/>
          <a:ext cx="0" cy="0"/>
          <a:chOff x="0" y="0"/>
          <a:chExt cx="0" cy="0"/>
        </a:xfrm>
      </p:grpSpPr>
      <p:sp>
        <p:nvSpPr>
          <p:cNvPr id="264" name="Shape 264"/>
          <p:cNvSpPr/>
          <p:nvPr>
            <p:ph type="title"/>
          </p:nvPr>
        </p:nvSpPr>
        <p:spPr>
          <a:xfrm>
            <a:off x="437232" y="63500"/>
            <a:ext cx="12130336" cy="2159000"/>
          </a:xfrm>
          <a:prstGeom prst="rect">
            <a:avLst/>
          </a:prstGeom>
        </p:spPr>
        <p:txBody>
          <a:bodyPr/>
          <a:lstStyle/>
          <a:p>
            <a:pPr/>
            <a:r>
              <a:t>Floyd–Steinberg dithering</a:t>
            </a:r>
          </a:p>
        </p:txBody>
      </p:sp>
      <p:sp>
        <p:nvSpPr>
          <p:cNvPr id="265" name="Shape 265"/>
          <p:cNvSpPr/>
          <p:nvPr>
            <p:ph type="body" sz="half" idx="1"/>
          </p:nvPr>
        </p:nvSpPr>
        <p:spPr>
          <a:xfrm>
            <a:off x="952500" y="1905000"/>
            <a:ext cx="11099800" cy="3477122"/>
          </a:xfrm>
          <a:prstGeom prst="rect">
            <a:avLst/>
          </a:prstGeom>
        </p:spPr>
        <p:txBody>
          <a:bodyPr/>
          <a:lstStyle/>
          <a:p>
            <a:pPr marL="355600" indent="-355600" defTabSz="467359">
              <a:spcBef>
                <a:spcPts val="2000"/>
              </a:spcBef>
              <a:defRPr sz="2880"/>
            </a:pPr>
            <a:r>
              <a:t>Suppose we want to approximate the image as well as possible with just a fixed range of colors (</a:t>
            </a:r>
            <a:r>
              <a:rPr i="1"/>
              <a:t>e.g.</a:t>
            </a:r>
            <a:r>
              <a:t> white and black)</a:t>
            </a:r>
          </a:p>
          <a:p>
            <a:pPr marL="355600" indent="-355600" defTabSz="467359">
              <a:spcBef>
                <a:spcPts val="2000"/>
              </a:spcBef>
              <a:defRPr sz="2880"/>
            </a:pPr>
            <a:r>
              <a:t>Suppose we want to approximate grey (</a:t>
            </a:r>
            <a:r>
              <a:rPr b="0" i="1"/>
              <a:t>v </a:t>
            </a:r>
            <a:r>
              <a:rPr b="0"/>
              <a:t>= 0.5</a:t>
            </a:r>
            <a:r>
              <a:t>). Basic principle: if one pixel is black (0), then the adjacent one should be white (1) so the that local average is roughly 0.5</a:t>
            </a:r>
          </a:p>
          <a:p>
            <a:pPr marL="355600" indent="-355600" defTabSz="467359">
              <a:spcBef>
                <a:spcPts val="2000"/>
              </a:spcBef>
              <a:defRPr sz="2880"/>
            </a:pPr>
            <a:r>
              <a:t>Scan over all the pixels and do the following:</a:t>
            </a:r>
          </a:p>
        </p:txBody>
      </p:sp>
      <p:sp>
        <p:nvSpPr>
          <p:cNvPr id="266" name="Shape 266"/>
          <p:cNvSpPr/>
          <p:nvPr/>
        </p:nvSpPr>
        <p:spPr>
          <a:xfrm>
            <a:off x="4787900" y="5815744"/>
            <a:ext cx="1143000" cy="1143001"/>
          </a:xfrm>
          <a:prstGeom prst="rect">
            <a:avLst/>
          </a:prstGeom>
          <a:solidFill>
            <a:schemeClr val="accent4"/>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67" name="Shape 267"/>
          <p:cNvSpPr/>
          <p:nvPr/>
        </p:nvSpPr>
        <p:spPr>
          <a:xfrm>
            <a:off x="5930043" y="5815744"/>
            <a:ext cx="1143001" cy="1143001"/>
          </a:xfrm>
          <a:prstGeom prst="rect">
            <a:avLst/>
          </a:prstGeom>
          <a:solidFill>
            <a:schemeClr val="accent4"/>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68" name="Shape 268"/>
          <p:cNvSpPr/>
          <p:nvPr/>
        </p:nvSpPr>
        <p:spPr>
          <a:xfrm>
            <a:off x="7061200" y="5815744"/>
            <a:ext cx="1143000" cy="1143001"/>
          </a:xfrm>
          <a:prstGeom prst="rect">
            <a:avLst/>
          </a:prstGeom>
          <a:solidFill>
            <a:schemeClr val="accent4"/>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69" name="Shape 269"/>
          <p:cNvSpPr/>
          <p:nvPr/>
        </p:nvSpPr>
        <p:spPr>
          <a:xfrm>
            <a:off x="4787900" y="6958744"/>
            <a:ext cx="1143000" cy="1143001"/>
          </a:xfrm>
          <a:prstGeom prst="rect">
            <a:avLst/>
          </a:prstGeom>
          <a:solidFill>
            <a:schemeClr val="accent4"/>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70" name="Shape 270"/>
          <p:cNvSpPr/>
          <p:nvPr/>
        </p:nvSpPr>
        <p:spPr>
          <a:xfrm>
            <a:off x="5930043" y="6958744"/>
            <a:ext cx="1143001" cy="1143001"/>
          </a:xfrm>
          <a:prstGeom prst="rect">
            <a:avLst/>
          </a:prstGeom>
          <a:solidFill>
            <a:schemeClr val="accent1">
              <a:satOff val="-3355"/>
              <a:lumOff val="26614"/>
            </a:schemeClr>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71" name="Shape 271"/>
          <p:cNvSpPr/>
          <p:nvPr/>
        </p:nvSpPr>
        <p:spPr>
          <a:xfrm>
            <a:off x="7061200" y="6958744"/>
            <a:ext cx="1143000" cy="1143001"/>
          </a:xfrm>
          <a:prstGeom prst="rect">
            <a:avLst/>
          </a:prstGeom>
          <a:solidFill>
            <a:srgbClr val="DCDEE0"/>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72" name="Shape 272"/>
          <p:cNvSpPr/>
          <p:nvPr/>
        </p:nvSpPr>
        <p:spPr>
          <a:xfrm>
            <a:off x="5930043" y="8101744"/>
            <a:ext cx="1143001" cy="1143001"/>
          </a:xfrm>
          <a:prstGeom prst="rect">
            <a:avLst/>
          </a:prstGeom>
          <a:solidFill>
            <a:srgbClr val="DCDEE0"/>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73" name="Shape 273"/>
          <p:cNvSpPr/>
          <p:nvPr/>
        </p:nvSpPr>
        <p:spPr>
          <a:xfrm>
            <a:off x="7061200" y="8101744"/>
            <a:ext cx="1143000" cy="1143001"/>
          </a:xfrm>
          <a:prstGeom prst="rect">
            <a:avLst/>
          </a:prstGeom>
          <a:solidFill>
            <a:srgbClr val="DCDEE0"/>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74" name="Shape 274"/>
          <p:cNvSpPr/>
          <p:nvPr/>
        </p:nvSpPr>
        <p:spPr>
          <a:xfrm>
            <a:off x="4787900" y="8101744"/>
            <a:ext cx="1143000" cy="1143001"/>
          </a:xfrm>
          <a:prstGeom prst="rect">
            <a:avLst/>
          </a:prstGeom>
          <a:solidFill>
            <a:srgbClr val="DCDEE0"/>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75" name="Shape 275"/>
          <p:cNvSpPr/>
          <p:nvPr/>
        </p:nvSpPr>
        <p:spPr>
          <a:xfrm>
            <a:off x="6730143" y="7748300"/>
            <a:ext cx="512830" cy="512829"/>
          </a:xfrm>
          <a:prstGeom prst="line">
            <a:avLst/>
          </a:prstGeom>
          <a:ln w="25400">
            <a:solidFill>
              <a:srgbClr val="000000"/>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sp>
        <p:nvSpPr>
          <p:cNvPr id="276" name="Shape 276"/>
          <p:cNvSpPr/>
          <p:nvPr/>
        </p:nvSpPr>
        <p:spPr>
          <a:xfrm>
            <a:off x="6727766" y="7530244"/>
            <a:ext cx="508606" cy="1"/>
          </a:xfrm>
          <a:prstGeom prst="line">
            <a:avLst/>
          </a:prstGeom>
          <a:ln w="25400">
            <a:solidFill>
              <a:srgbClr val="000000"/>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sp>
        <p:nvSpPr>
          <p:cNvPr id="277" name="Shape 277"/>
          <p:cNvSpPr/>
          <p:nvPr/>
        </p:nvSpPr>
        <p:spPr>
          <a:xfrm flipH="1">
            <a:off x="5782472" y="7750455"/>
            <a:ext cx="508519" cy="508519"/>
          </a:xfrm>
          <a:prstGeom prst="line">
            <a:avLst/>
          </a:prstGeom>
          <a:ln w="25400">
            <a:solidFill>
              <a:srgbClr val="000000"/>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sp>
        <p:nvSpPr>
          <p:cNvPr id="278" name="Shape 278"/>
          <p:cNvSpPr/>
          <p:nvPr/>
        </p:nvSpPr>
        <p:spPr>
          <a:xfrm>
            <a:off x="6502399" y="7719790"/>
            <a:ext cx="1" cy="560868"/>
          </a:xfrm>
          <a:prstGeom prst="line">
            <a:avLst/>
          </a:prstGeom>
          <a:ln w="25400">
            <a:solidFill>
              <a:srgbClr val="000000"/>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sp>
        <p:nvSpPr>
          <p:cNvPr id="279" name="Shape 279"/>
          <p:cNvSpPr/>
          <p:nvPr/>
        </p:nvSpPr>
        <p:spPr>
          <a:xfrm>
            <a:off x="444500" y="6298344"/>
            <a:ext cx="555948" cy="555948"/>
          </a:xfrm>
          <a:prstGeom prst="rect">
            <a:avLst/>
          </a:prstGeom>
          <a:solidFill>
            <a:schemeClr val="accent4"/>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pic>
        <p:nvPicPr>
          <p:cNvPr id="280" name="ga5.pdf"/>
          <p:cNvPicPr>
            <a:picLocks noChangeAspect="1"/>
          </p:cNvPicPr>
          <p:nvPr/>
        </p:nvPicPr>
        <p:blipFill>
          <a:blip r:embed="rId2">
            <a:extLst/>
          </a:blip>
          <a:stretch>
            <a:fillRect/>
          </a:stretch>
        </p:blipFill>
        <p:spPr>
          <a:xfrm>
            <a:off x="7346950" y="8444644"/>
            <a:ext cx="571500" cy="457201"/>
          </a:xfrm>
          <a:prstGeom prst="rect">
            <a:avLst/>
          </a:prstGeom>
          <a:ln w="12700">
            <a:miter lim="400000"/>
          </a:ln>
        </p:spPr>
      </p:pic>
      <p:sp>
        <p:nvSpPr>
          <p:cNvPr id="281" name="Shape 281"/>
          <p:cNvSpPr/>
          <p:nvPr/>
        </p:nvSpPr>
        <p:spPr>
          <a:xfrm>
            <a:off x="444500" y="7214170"/>
            <a:ext cx="555948" cy="555948"/>
          </a:xfrm>
          <a:prstGeom prst="rect">
            <a:avLst/>
          </a:prstGeom>
          <a:solidFill>
            <a:schemeClr val="accent1">
              <a:satOff val="-3355"/>
              <a:lumOff val="26614"/>
            </a:schemeClr>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82" name="Shape 282"/>
          <p:cNvSpPr/>
          <p:nvPr/>
        </p:nvSpPr>
        <p:spPr>
          <a:xfrm>
            <a:off x="444500" y="8092318"/>
            <a:ext cx="555948" cy="555948"/>
          </a:xfrm>
          <a:prstGeom prst="rect">
            <a:avLst/>
          </a:prstGeom>
          <a:solidFill>
            <a:srgbClr val="DCDEE0"/>
          </a:solidFill>
          <a:ln w="12700">
            <a:solidFill>
              <a:srgbClr val="000000"/>
            </a:solidFill>
            <a:miter lim="400000"/>
          </a:ln>
        </p:spPr>
        <p:txBody>
          <a:bodyPr lIns="50800" tIns="50800" rIns="50800" bIns="50800" anchor="ctr"/>
          <a:lstStyle/>
          <a:p>
            <a:pPr>
              <a:lnSpc>
                <a:spcPct val="100000"/>
              </a:lnSpc>
              <a:defRPr b="0" sz="2400">
                <a:solidFill>
                  <a:srgbClr val="FFFFFF"/>
                </a:solidFill>
                <a:latin typeface="+mn-lt"/>
                <a:ea typeface="+mn-ea"/>
                <a:cs typeface="+mn-cs"/>
                <a:sym typeface="Helvetica Light"/>
              </a:defRPr>
            </a:pPr>
          </a:p>
        </p:txBody>
      </p:sp>
      <p:sp>
        <p:nvSpPr>
          <p:cNvPr id="283" name="Shape 283"/>
          <p:cNvSpPr/>
          <p:nvPr/>
        </p:nvSpPr>
        <p:spPr>
          <a:xfrm>
            <a:off x="1092200" y="6379467"/>
            <a:ext cx="2461202"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1900"/>
            </a:lvl1pPr>
          </a:lstStyle>
          <a:p>
            <a:pPr/>
            <a:r>
              <a:t>: already considered</a:t>
            </a:r>
          </a:p>
        </p:txBody>
      </p:sp>
      <p:sp>
        <p:nvSpPr>
          <p:cNvPr id="284" name="Shape 284"/>
          <p:cNvSpPr/>
          <p:nvPr/>
        </p:nvSpPr>
        <p:spPr>
          <a:xfrm>
            <a:off x="1092200" y="7333394"/>
            <a:ext cx="3117590"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1900"/>
            </a:pPr>
            <a:r>
              <a:t>: current pixel (intensity </a:t>
            </a:r>
            <a:r>
              <a:rPr b="0" i="1"/>
              <a:t>v</a:t>
            </a:r>
            <a:r>
              <a:t>)</a:t>
            </a:r>
          </a:p>
        </p:txBody>
      </p:sp>
      <p:sp>
        <p:nvSpPr>
          <p:cNvPr id="285" name="Shape 285"/>
          <p:cNvSpPr/>
          <p:nvPr/>
        </p:nvSpPr>
        <p:spPr>
          <a:xfrm>
            <a:off x="1092200" y="8173442"/>
            <a:ext cx="2044936"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1900"/>
            </a:lvl1pPr>
          </a:lstStyle>
          <a:p>
            <a:pPr/>
            <a:r>
              <a:t>: still to consider</a:t>
            </a:r>
          </a:p>
        </p:txBody>
      </p:sp>
      <p:pic>
        <p:nvPicPr>
          <p:cNvPr id="286" name="pasted-image.pdf"/>
          <p:cNvPicPr>
            <a:picLocks noChangeAspect="1"/>
          </p:cNvPicPr>
          <p:nvPr/>
        </p:nvPicPr>
        <p:blipFill>
          <a:blip r:embed="rId3">
            <a:extLst/>
          </a:blip>
          <a:stretch>
            <a:fillRect/>
          </a:stretch>
        </p:blipFill>
        <p:spPr>
          <a:xfrm>
            <a:off x="5045075" y="8444644"/>
            <a:ext cx="628650" cy="457201"/>
          </a:xfrm>
          <a:prstGeom prst="rect">
            <a:avLst/>
          </a:prstGeom>
          <a:ln w="12700">
            <a:miter lim="400000"/>
          </a:ln>
        </p:spPr>
      </p:pic>
      <p:pic>
        <p:nvPicPr>
          <p:cNvPr id="287" name="pasted-image.pdf"/>
          <p:cNvPicPr>
            <a:picLocks noChangeAspect="1"/>
          </p:cNvPicPr>
          <p:nvPr/>
        </p:nvPicPr>
        <p:blipFill>
          <a:blip r:embed="rId4">
            <a:extLst/>
          </a:blip>
          <a:stretch>
            <a:fillRect/>
          </a:stretch>
        </p:blipFill>
        <p:spPr>
          <a:xfrm>
            <a:off x="6188075" y="8444644"/>
            <a:ext cx="628650" cy="457201"/>
          </a:xfrm>
          <a:prstGeom prst="rect">
            <a:avLst/>
          </a:prstGeom>
          <a:ln w="12700">
            <a:miter lim="400000"/>
          </a:ln>
        </p:spPr>
      </p:pic>
      <p:pic>
        <p:nvPicPr>
          <p:cNvPr id="288" name="pasted-image.pdf"/>
          <p:cNvPicPr>
            <a:picLocks noChangeAspect="1"/>
          </p:cNvPicPr>
          <p:nvPr/>
        </p:nvPicPr>
        <p:blipFill>
          <a:blip r:embed="rId5">
            <a:extLst/>
          </a:blip>
          <a:stretch>
            <a:fillRect/>
          </a:stretch>
        </p:blipFill>
        <p:spPr>
          <a:xfrm>
            <a:off x="7318375" y="7301644"/>
            <a:ext cx="628650" cy="457201"/>
          </a:xfrm>
          <a:prstGeom prst="rect">
            <a:avLst/>
          </a:prstGeom>
          <a:ln w="12700">
            <a:miter lim="400000"/>
          </a:ln>
        </p:spPr>
      </p:pic>
      <p:sp>
        <p:nvSpPr>
          <p:cNvPr id="289" name="Shape 289"/>
          <p:cNvSpPr/>
          <p:nvPr/>
        </p:nvSpPr>
        <p:spPr>
          <a:xfrm>
            <a:off x="8875648" y="5724921"/>
            <a:ext cx="3778775" cy="30175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lgn="l">
              <a:defRPr sz="2300"/>
            </a:pPr>
            <a:r>
              <a:t>Set pixel to intensity </a:t>
            </a:r>
            <a:r>
              <a:rPr b="0" i="1"/>
              <a:t>u</a:t>
            </a:r>
            <a:r>
              <a:t> chosen from fixed set. Quantization error is</a:t>
            </a:r>
          </a:p>
          <a:p>
            <a:pPr algn="l">
              <a:defRPr sz="2300"/>
            </a:pPr>
          </a:p>
          <a:p>
            <a:pPr algn="l">
              <a:defRPr sz="2300"/>
            </a:pPr>
          </a:p>
          <a:p>
            <a:pPr algn="l">
              <a:defRPr sz="2300"/>
            </a:pPr>
            <a:r>
              <a:t>Add a portion of the error to the intensities of the neighboring points as shown.</a:t>
            </a:r>
          </a:p>
        </p:txBody>
      </p:sp>
      <p:pic>
        <p:nvPicPr>
          <p:cNvPr id="290" name="ga9.pdf"/>
          <p:cNvPicPr>
            <a:picLocks noChangeAspect="1"/>
          </p:cNvPicPr>
          <p:nvPr/>
        </p:nvPicPr>
        <p:blipFill>
          <a:blip r:embed="rId6">
            <a:extLst/>
          </a:blip>
          <a:stretch>
            <a:fillRect/>
          </a:stretch>
        </p:blipFill>
        <p:spPr>
          <a:xfrm>
            <a:off x="10139114" y="7123179"/>
            <a:ext cx="1251844" cy="229931"/>
          </a:xfrm>
          <a:prstGeom prst="rect">
            <a:avLst/>
          </a:prstGeom>
          <a:ln w="12700">
            <a:miter lim="400000"/>
          </a:ln>
        </p:spPr>
      </p:pic>
      <p:sp>
        <p:nvSpPr>
          <p:cNvPr id="291" name="Shape 291"/>
          <p:cNvSpPr/>
          <p:nvPr/>
        </p:nvSpPr>
        <p:spPr>
          <a:xfrm>
            <a:off x="32702" y="9398000"/>
            <a:ext cx="12943657" cy="330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1500"/>
            </a:pPr>
            <a:r>
              <a:t>(Note: specific constants (7/16, </a:t>
            </a:r>
            <a:r>
              <a:rPr i="1"/>
              <a:t>etc.</a:t>
            </a:r>
            <a:r>
              <a:t>) are chosen on aesthetic grounds, but the method works with any assignment of the error that sums to 1.)</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show="0" showMasterSp="1" showMasterPhAnim="1">
  <p:cSld>
    <p:spTree>
      <p:nvGrpSpPr>
        <p:cNvPr id="1" name=""/>
        <p:cNvGrpSpPr/>
        <p:nvPr/>
      </p:nvGrpSpPr>
      <p:grpSpPr>
        <a:xfrm>
          <a:off x="0" y="0"/>
          <a:ext cx="0" cy="0"/>
          <a:chOff x="0" y="0"/>
          <a:chExt cx="0" cy="0"/>
        </a:xfrm>
      </p:grpSpPr>
      <p:pic>
        <p:nvPicPr>
          <p:cNvPr id="293" name="f-s.png"/>
          <p:cNvPicPr>
            <a:picLocks noChangeAspect="1"/>
          </p:cNvPicPr>
          <p:nvPr/>
        </p:nvPicPr>
        <p:blipFill>
          <a:blip r:embed="rId2">
            <a:extLst/>
          </a:blip>
          <a:stretch>
            <a:fillRect/>
          </a:stretch>
        </p:blipFill>
        <p:spPr>
          <a:xfrm>
            <a:off x="6989018" y="1737765"/>
            <a:ext cx="5715001" cy="7823201"/>
          </a:xfrm>
          <a:prstGeom prst="rect">
            <a:avLst/>
          </a:prstGeom>
          <a:ln w="12700">
            <a:miter lim="400000"/>
          </a:ln>
        </p:spPr>
      </p:pic>
      <p:sp>
        <p:nvSpPr>
          <p:cNvPr id="294" name="Shape 294"/>
          <p:cNvSpPr/>
          <p:nvPr>
            <p:ph type="title"/>
          </p:nvPr>
        </p:nvSpPr>
        <p:spPr>
          <a:xfrm>
            <a:off x="437232" y="63500"/>
            <a:ext cx="12130336" cy="2159000"/>
          </a:xfrm>
          <a:prstGeom prst="rect">
            <a:avLst/>
          </a:prstGeom>
        </p:spPr>
        <p:txBody>
          <a:bodyPr/>
          <a:lstStyle/>
          <a:p>
            <a:pPr/>
            <a:r>
              <a:t>Floyd–Steinberg dithering</a:t>
            </a:r>
          </a:p>
        </p:txBody>
      </p:sp>
      <p:sp>
        <p:nvSpPr>
          <p:cNvPr id="295" name="Shape 295"/>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296" name="Shape 296"/>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297" name="Shape 297"/>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298" name="Shape 298"/>
          <p:cNvSpPr/>
          <p:nvPr/>
        </p:nvSpPr>
        <p:spPr>
          <a:xfrm>
            <a:off x="97383" y="9213849"/>
            <a:ext cx="4264076"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floyd_steinberg.py</a:t>
            </a:r>
          </a:p>
        </p:txBody>
      </p:sp>
      <p:sp>
        <p:nvSpPr>
          <p:cNvPr id="299" name="Shape 299"/>
          <p:cNvSpPr/>
          <p:nvPr/>
        </p:nvSpPr>
        <p:spPr>
          <a:xfrm>
            <a:off x="579611" y="2813049"/>
            <a:ext cx="4740158" cy="5880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Load in the test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a=io.imread(</a:t>
            </a:r>
            <a:r>
              <a:rPr>
                <a:solidFill>
                  <a:srgbClr val="0220B3"/>
                </a:solidFill>
              </a:rPr>
              <a:t>"audrey.png"</a:t>
            </a:r>
            <a:r>
              <a:t>,as_grey=</a:t>
            </a:r>
            <a:r>
              <a:rPr>
                <a:solidFill>
                  <a:srgbClr val="AF5F00"/>
                </a:solidFill>
              </a:rPr>
              <a:t>True</a:t>
            </a:r>
            <a:r>
              <a:t>,dtype=</a:t>
            </a:r>
            <a:r>
              <a:rPr>
                <a:solidFill>
                  <a:srgbClr val="0220B3"/>
                </a:solidFill>
              </a:rPr>
              <a:t>'float64'</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0433FF"/>
                </a:solidFill>
                <a:latin typeface="Menlo"/>
                <a:ea typeface="Menlo"/>
                <a:cs typeface="Menlo"/>
                <a:sym typeface="Menlo"/>
              </a:defRPr>
            </a:pPr>
            <a:r>
              <a:rPr>
                <a:solidFill>
                  <a:srgbClr val="000000"/>
                </a:solidFill>
              </a:rPr>
              <a:t>a*=</a:t>
            </a:r>
            <a:r>
              <a:t>1</a:t>
            </a:r>
            <a:r>
              <a:rPr>
                <a:solidFill>
                  <a:srgbClr val="000000"/>
                </a:solidFill>
              </a:rPr>
              <a:t>/</a:t>
            </a:r>
            <a:r>
              <a:t>255.0</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Initialize blank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(y,x)=a.shape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b=np.zeros((y,x))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Floyd-Steinberg constants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c1=</a:t>
            </a:r>
            <a:r>
              <a:rPr>
                <a:solidFill>
                  <a:srgbClr val="0433FF"/>
                </a:solidFill>
              </a:rPr>
              <a:t>0.0625</a:t>
            </a:r>
            <a:r>
              <a:t>;c3=</a:t>
            </a:r>
            <a:r>
              <a:rPr>
                <a:solidFill>
                  <a:srgbClr val="0433FF"/>
                </a:solidFill>
              </a:rPr>
              <a:t>3</a:t>
            </a:r>
            <a:r>
              <a:t>*c1;c5=</a:t>
            </a:r>
            <a:r>
              <a:rPr>
                <a:solidFill>
                  <a:srgbClr val="0433FF"/>
                </a:solidFill>
              </a:rPr>
              <a:t>5</a:t>
            </a:r>
            <a:r>
              <a:t>*c1;c7=</a:t>
            </a:r>
            <a:r>
              <a:rPr>
                <a:solidFill>
                  <a:srgbClr val="0433FF"/>
                </a:solidFill>
              </a:rPr>
              <a:t>7</a:t>
            </a:r>
            <a:r>
              <a:t>*c1</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Do binary thresholding</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(y):</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rPr>
                <a:solidFill>
                  <a:srgbClr val="FFF678"/>
                </a:solidFill>
              </a:rPr>
              <a:t>       </a:t>
            </a:r>
            <a:r>
              <a:t> </a:t>
            </a:r>
            <a:r>
              <a:rPr>
                <a:solidFill>
                  <a:srgbClr val="E539E5"/>
                </a:solidFill>
              </a:rPr>
              <a:t>if</a:t>
            </a:r>
            <a:r>
              <a:t>(a[j,i]&lt;</a:t>
            </a:r>
            <a:r>
              <a:rPr>
                <a:solidFill>
                  <a:srgbClr val="0433FF"/>
                </a:solidFill>
              </a:rPr>
              <a:t>0.5</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b[j,i]=</a:t>
            </a:r>
            <a:r>
              <a:rPr>
                <a:solidFill>
                  <a:srgbClr val="0433FF"/>
                </a:solidFill>
              </a:rPr>
              <a:t>0.0</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t>
            </a:r>
            <a:r>
              <a:rPr>
                <a:solidFill>
                  <a:srgbClr val="E539E5"/>
                </a:solidFill>
              </a:rPr>
              <a:t>else</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b[j,i]=</a:t>
            </a:r>
            <a:r>
              <a:rPr>
                <a:solidFill>
                  <a:srgbClr val="0433FF"/>
                </a:solidFill>
              </a:rPr>
              <a:t>1.0</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 Add quantization errors to neighbors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rPr>
                <a:solidFill>
                  <a:srgbClr val="FFF678"/>
                </a:solidFill>
              </a:rPr>
              <a:t>       </a:t>
            </a:r>
            <a:r>
              <a:t> d=a[j,i]-b[j,i]</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t>
            </a:r>
            <a:r>
              <a:rPr>
                <a:solidFill>
                  <a:srgbClr val="E539E5"/>
                </a:solidFill>
              </a:rPr>
              <a:t>if</a:t>
            </a:r>
            <a:r>
              <a:rPr>
                <a:solidFill>
                  <a:srgbClr val="000000"/>
                </a:solidFill>
              </a:rPr>
              <a:t>(j&lt;y-</a:t>
            </a:r>
            <a:r>
              <a:rPr>
                <a:solidFill>
                  <a:srgbClr val="0433FF"/>
                </a:solidFill>
              </a:rPr>
              <a:t>1</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t>
            </a:r>
            <a:r>
              <a:rPr>
                <a:solidFill>
                  <a:srgbClr val="E539E5"/>
                </a:solidFill>
              </a:rPr>
              <a:t>if</a:t>
            </a:r>
            <a:r>
              <a:rPr>
                <a:solidFill>
                  <a:srgbClr val="000000"/>
                </a:solidFill>
              </a:rPr>
              <a:t>(i&gt;</a:t>
            </a:r>
            <a:r>
              <a:rPr>
                <a:solidFill>
                  <a:srgbClr val="0433FF"/>
                </a:solidFill>
              </a:rPr>
              <a:t>0</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a[j+</a:t>
            </a:r>
            <a:r>
              <a:rPr>
                <a:solidFill>
                  <a:srgbClr val="0433FF"/>
                </a:solidFill>
              </a:rPr>
              <a:t>1</a:t>
            </a:r>
            <a:r>
              <a:rPr>
                <a:solidFill>
                  <a:srgbClr val="000000"/>
                </a:solidFill>
              </a:rPr>
              <a:t>,i-</a:t>
            </a:r>
            <a:r>
              <a:rPr>
                <a:solidFill>
                  <a:srgbClr val="0433FF"/>
                </a:solidFill>
              </a:rPr>
              <a:t>1</a:t>
            </a:r>
            <a:r>
              <a:rPr>
                <a:solidFill>
                  <a:srgbClr val="000000"/>
                </a:solidFill>
              </a:rPr>
              <a:t>]+=c3*d</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a[j+</a:t>
            </a:r>
            <a:r>
              <a:rPr>
                <a:solidFill>
                  <a:srgbClr val="0433FF"/>
                </a:solidFill>
              </a:rPr>
              <a:t>1</a:t>
            </a:r>
            <a:r>
              <a:rPr>
                <a:solidFill>
                  <a:srgbClr val="000000"/>
                </a:solidFill>
              </a:rPr>
              <a:t>,i]+=c5*d</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t>
            </a:r>
            <a:r>
              <a:rPr>
                <a:solidFill>
                  <a:srgbClr val="E539E5"/>
                </a:solidFill>
              </a:rPr>
              <a:t>if</a:t>
            </a:r>
            <a:r>
              <a:rPr>
                <a:solidFill>
                  <a:srgbClr val="000000"/>
                </a:solidFill>
              </a:rPr>
              <a:t>(i&lt;x-</a:t>
            </a:r>
            <a:r>
              <a:rPr>
                <a:solidFill>
                  <a:srgbClr val="0433FF"/>
                </a:solidFill>
              </a:rPr>
              <a:t>1</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a[j+</a:t>
            </a:r>
            <a:r>
              <a:rPr>
                <a:solidFill>
                  <a:srgbClr val="0433FF"/>
                </a:solidFill>
              </a:rPr>
              <a:t>1</a:t>
            </a:r>
            <a:r>
              <a:rPr>
                <a:solidFill>
                  <a:srgbClr val="000000"/>
                </a:solidFill>
              </a:rPr>
              <a:t>,i+</a:t>
            </a:r>
            <a:r>
              <a:rPr>
                <a:solidFill>
                  <a:srgbClr val="0433FF"/>
                </a:solidFill>
              </a:rPr>
              <a:t>1</a:t>
            </a:r>
            <a:r>
              <a:rPr>
                <a:solidFill>
                  <a:srgbClr val="000000"/>
                </a:solidFill>
              </a:rPr>
              <a:t>]+=c1*d</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t>
            </a:r>
            <a:r>
              <a:rPr>
                <a:solidFill>
                  <a:srgbClr val="E539E5"/>
                </a:solidFill>
              </a:rPr>
              <a:t>if</a:t>
            </a:r>
            <a:r>
              <a:rPr>
                <a:solidFill>
                  <a:srgbClr val="000000"/>
                </a:solidFill>
              </a:rPr>
              <a:t>(i&lt;x-</a:t>
            </a:r>
            <a:r>
              <a:rPr>
                <a:solidFill>
                  <a:srgbClr val="0433FF"/>
                </a:solidFill>
              </a:rPr>
              <a:t>1</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a[j,i+</a:t>
            </a:r>
            <a:r>
              <a:rPr>
                <a:solidFill>
                  <a:srgbClr val="0433FF"/>
                </a:solidFill>
              </a:rPr>
              <a:t>1</a:t>
            </a:r>
            <a:r>
              <a:rPr>
                <a:solidFill>
                  <a:srgbClr val="000000"/>
                </a:solidFill>
              </a:rPr>
              <a:t>]+=c7*d</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Plot the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io.imsave(</a:t>
            </a:r>
            <a:r>
              <a:rPr>
                <a:solidFill>
                  <a:srgbClr val="0220B3"/>
                </a:solidFill>
              </a:rPr>
              <a:t>"f-s.png"</a:t>
            </a:r>
            <a:r>
              <a:t>,b)</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show="0" showMasterSp="1" showMasterPhAnim="1">
  <p:cSld>
    <p:spTree>
      <p:nvGrpSpPr>
        <p:cNvPr id="1" name=""/>
        <p:cNvGrpSpPr/>
        <p:nvPr/>
      </p:nvGrpSpPr>
      <p:grpSpPr>
        <a:xfrm>
          <a:off x="0" y="0"/>
          <a:ext cx="0" cy="0"/>
          <a:chOff x="0" y="0"/>
          <a:chExt cx="0" cy="0"/>
        </a:xfrm>
      </p:grpSpPr>
      <p:pic>
        <p:nvPicPr>
          <p:cNvPr id="301" name="f-s2.png"/>
          <p:cNvPicPr>
            <a:picLocks noChangeAspect="1"/>
          </p:cNvPicPr>
          <p:nvPr/>
        </p:nvPicPr>
        <p:blipFill>
          <a:blip r:embed="rId2">
            <a:extLst/>
          </a:blip>
          <a:stretch>
            <a:fillRect/>
          </a:stretch>
        </p:blipFill>
        <p:spPr>
          <a:xfrm>
            <a:off x="6989018" y="1737765"/>
            <a:ext cx="5715001" cy="7823201"/>
          </a:xfrm>
          <a:prstGeom prst="rect">
            <a:avLst/>
          </a:prstGeom>
          <a:ln w="12700">
            <a:miter lim="400000"/>
          </a:ln>
        </p:spPr>
      </p:pic>
      <p:sp>
        <p:nvSpPr>
          <p:cNvPr id="302" name="Shape 302"/>
          <p:cNvSpPr/>
          <p:nvPr>
            <p:ph type="title"/>
          </p:nvPr>
        </p:nvSpPr>
        <p:spPr>
          <a:xfrm>
            <a:off x="437232" y="-241300"/>
            <a:ext cx="12130336" cy="2159000"/>
          </a:xfrm>
          <a:prstGeom prst="rect">
            <a:avLst/>
          </a:prstGeom>
        </p:spPr>
        <p:txBody>
          <a:bodyPr/>
          <a:lstStyle/>
          <a:p>
            <a:pPr/>
            <a:r>
              <a:t>Floyd–Steinberg dithering (2)</a:t>
            </a:r>
          </a:p>
        </p:txBody>
      </p:sp>
      <p:sp>
        <p:nvSpPr>
          <p:cNvPr id="303" name="Shape 303"/>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304" name="Shape 304"/>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305" name="Shape 305"/>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306" name="Shape 306"/>
          <p:cNvSpPr/>
          <p:nvPr/>
        </p:nvSpPr>
        <p:spPr>
          <a:xfrm>
            <a:off x="97383" y="9213849"/>
            <a:ext cx="4433591"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floyd_steinberg2.py</a:t>
            </a:r>
          </a:p>
        </p:txBody>
      </p:sp>
      <p:sp>
        <p:nvSpPr>
          <p:cNvPr id="307" name="Shape 307"/>
          <p:cNvSpPr/>
          <p:nvPr/>
        </p:nvSpPr>
        <p:spPr>
          <a:xfrm>
            <a:off x="808211" y="2565400"/>
            <a:ext cx="4740158" cy="6375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rPr>
                <a:solidFill>
                  <a:srgbClr val="E539E5"/>
                </a:solidFill>
              </a:rPr>
              <a:t>from</a:t>
            </a:r>
            <a:r>
              <a:t> math </a:t>
            </a:r>
            <a:r>
              <a:rPr>
                <a:solidFill>
                  <a:srgbClr val="E539E5"/>
                </a:solidFill>
              </a:rPr>
              <a:t>import</a:t>
            </a:r>
            <a:r>
              <a:t> floor</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Load in the test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a=io.imread(</a:t>
            </a:r>
            <a:r>
              <a:rPr>
                <a:solidFill>
                  <a:srgbClr val="0220B3"/>
                </a:solidFill>
              </a:rPr>
              <a:t>"audrey.png"</a:t>
            </a:r>
            <a:r>
              <a:t>,as_grey=</a:t>
            </a:r>
            <a:r>
              <a:rPr>
                <a:solidFill>
                  <a:srgbClr val="AF5F00"/>
                </a:solidFill>
              </a:rPr>
              <a:t>True</a:t>
            </a:r>
            <a:r>
              <a:t>,dtype=</a:t>
            </a:r>
            <a:r>
              <a:rPr>
                <a:solidFill>
                  <a:srgbClr val="0220B3"/>
                </a:solidFill>
              </a:rPr>
              <a:t>'float64'</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0433FF"/>
                </a:solidFill>
                <a:latin typeface="Menlo"/>
                <a:ea typeface="Menlo"/>
                <a:cs typeface="Menlo"/>
                <a:sym typeface="Menlo"/>
              </a:defRPr>
            </a:pPr>
            <a:r>
              <a:rPr>
                <a:solidFill>
                  <a:srgbClr val="000000"/>
                </a:solidFill>
              </a:rPr>
              <a:t>a*=</a:t>
            </a:r>
            <a:r>
              <a:t>1</a:t>
            </a:r>
            <a:r>
              <a:rPr>
                <a:solidFill>
                  <a:srgbClr val="000000"/>
                </a:solidFill>
              </a:rPr>
              <a:t>/</a:t>
            </a:r>
            <a:r>
              <a:t>255.0</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Initialize blank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(y,x)=a.shape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b=np.zeros((y,x))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Quantization levels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n=</a:t>
            </a:r>
            <a:r>
              <a:rPr>
                <a:solidFill>
                  <a:srgbClr val="0433FF"/>
                </a:solidFill>
              </a:rPr>
              <a:t>6</a:t>
            </a:r>
            <a:r>
              <a:t>;nf=</a:t>
            </a:r>
            <a:r>
              <a:rPr>
                <a:solidFill>
                  <a:srgbClr val="0433FF"/>
                </a:solidFill>
              </a:rPr>
              <a:t>1.0</a:t>
            </a:r>
            <a:r>
              <a:t>/(n-</a:t>
            </a:r>
            <a:r>
              <a:rPr>
                <a:solidFill>
                  <a:srgbClr val="0433FF"/>
                </a:solidFill>
              </a:rPr>
              <a:t>1</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Floyd-Steinberg constants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c1=</a:t>
            </a:r>
            <a:r>
              <a:rPr>
                <a:solidFill>
                  <a:srgbClr val="0433FF"/>
                </a:solidFill>
              </a:rPr>
              <a:t>0.0625</a:t>
            </a:r>
            <a:r>
              <a:t>;c3=</a:t>
            </a:r>
            <a:r>
              <a:rPr>
                <a:solidFill>
                  <a:srgbClr val="0433FF"/>
                </a:solidFill>
              </a:rPr>
              <a:t>3</a:t>
            </a:r>
            <a:r>
              <a:t>*c1;c5=</a:t>
            </a:r>
            <a:r>
              <a:rPr>
                <a:solidFill>
                  <a:srgbClr val="0433FF"/>
                </a:solidFill>
              </a:rPr>
              <a:t>5</a:t>
            </a:r>
            <a:r>
              <a:t>*c1;c7=</a:t>
            </a:r>
            <a:r>
              <a:rPr>
                <a:solidFill>
                  <a:srgbClr val="0433FF"/>
                </a:solidFill>
              </a:rPr>
              <a:t>7</a:t>
            </a:r>
            <a:r>
              <a:t>*c1</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Do thresholding</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(y):</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 Quantize into n levels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rPr>
                <a:solidFill>
                  <a:srgbClr val="FFF678"/>
                </a:solidFill>
              </a:rPr>
              <a:t>       </a:t>
            </a:r>
            <a:r>
              <a:t> b[j,i]=floor(a[j,i]*(n-</a:t>
            </a:r>
            <a:r>
              <a:rPr>
                <a:solidFill>
                  <a:srgbClr val="0433FF"/>
                </a:solidFill>
              </a:rPr>
              <a:t>1</a:t>
            </a:r>
            <a:r>
              <a:t>)+</a:t>
            </a:r>
            <a:r>
              <a:rPr>
                <a:solidFill>
                  <a:srgbClr val="0433FF"/>
                </a:solidFill>
              </a:rPr>
              <a:t>0.5</a:t>
            </a:r>
            <a:r>
              <a:t>)*nf</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 Add quantization errors to neighbors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rPr>
                <a:solidFill>
                  <a:srgbClr val="FFF678"/>
                </a:solidFill>
              </a:rPr>
              <a:t>       </a:t>
            </a:r>
            <a:r>
              <a:t> d=a[j,i]-b[j,i]</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t>
            </a:r>
            <a:r>
              <a:rPr>
                <a:solidFill>
                  <a:srgbClr val="E539E5"/>
                </a:solidFill>
              </a:rPr>
              <a:t>if</a:t>
            </a:r>
            <a:r>
              <a:rPr>
                <a:solidFill>
                  <a:srgbClr val="000000"/>
                </a:solidFill>
              </a:rPr>
              <a:t>(j&lt;y-</a:t>
            </a:r>
            <a:r>
              <a:rPr>
                <a:solidFill>
                  <a:srgbClr val="0433FF"/>
                </a:solidFill>
              </a:rPr>
              <a:t>1</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t>
            </a:r>
            <a:r>
              <a:rPr>
                <a:solidFill>
                  <a:srgbClr val="E539E5"/>
                </a:solidFill>
              </a:rPr>
              <a:t>if</a:t>
            </a:r>
            <a:r>
              <a:rPr>
                <a:solidFill>
                  <a:srgbClr val="000000"/>
                </a:solidFill>
              </a:rPr>
              <a:t>(i&gt;</a:t>
            </a:r>
            <a:r>
              <a:rPr>
                <a:solidFill>
                  <a:srgbClr val="0433FF"/>
                </a:solidFill>
              </a:rPr>
              <a:t>0</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a[j+</a:t>
            </a:r>
            <a:r>
              <a:rPr>
                <a:solidFill>
                  <a:srgbClr val="0433FF"/>
                </a:solidFill>
              </a:rPr>
              <a:t>1</a:t>
            </a:r>
            <a:r>
              <a:rPr>
                <a:solidFill>
                  <a:srgbClr val="000000"/>
                </a:solidFill>
              </a:rPr>
              <a:t>,i-</a:t>
            </a:r>
            <a:r>
              <a:rPr>
                <a:solidFill>
                  <a:srgbClr val="0433FF"/>
                </a:solidFill>
              </a:rPr>
              <a:t>1</a:t>
            </a:r>
            <a:r>
              <a:rPr>
                <a:solidFill>
                  <a:srgbClr val="000000"/>
                </a:solidFill>
              </a:rPr>
              <a:t>]+=c3*d</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a[j+</a:t>
            </a:r>
            <a:r>
              <a:rPr>
                <a:solidFill>
                  <a:srgbClr val="0433FF"/>
                </a:solidFill>
              </a:rPr>
              <a:t>1</a:t>
            </a:r>
            <a:r>
              <a:rPr>
                <a:solidFill>
                  <a:srgbClr val="000000"/>
                </a:solidFill>
              </a:rPr>
              <a:t>,i]+=c5*d</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t>
            </a:r>
            <a:r>
              <a:rPr>
                <a:solidFill>
                  <a:srgbClr val="E539E5"/>
                </a:solidFill>
              </a:rPr>
              <a:t>if</a:t>
            </a:r>
            <a:r>
              <a:rPr>
                <a:solidFill>
                  <a:srgbClr val="000000"/>
                </a:solidFill>
              </a:rPr>
              <a:t>(i&lt;x-</a:t>
            </a:r>
            <a:r>
              <a:rPr>
                <a:solidFill>
                  <a:srgbClr val="0433FF"/>
                </a:solidFill>
              </a:rPr>
              <a:t>1</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a[j+</a:t>
            </a:r>
            <a:r>
              <a:rPr>
                <a:solidFill>
                  <a:srgbClr val="0433FF"/>
                </a:solidFill>
              </a:rPr>
              <a:t>1</a:t>
            </a:r>
            <a:r>
              <a:rPr>
                <a:solidFill>
                  <a:srgbClr val="000000"/>
                </a:solidFill>
              </a:rPr>
              <a:t>,i+</a:t>
            </a:r>
            <a:r>
              <a:rPr>
                <a:solidFill>
                  <a:srgbClr val="0433FF"/>
                </a:solidFill>
              </a:rPr>
              <a:t>1</a:t>
            </a:r>
            <a:r>
              <a:rPr>
                <a:solidFill>
                  <a:srgbClr val="000000"/>
                </a:solidFill>
              </a:rPr>
              <a:t>]+=c1*d</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t>
            </a:r>
            <a:r>
              <a:rPr>
                <a:solidFill>
                  <a:srgbClr val="E539E5"/>
                </a:solidFill>
              </a:rPr>
              <a:t>if</a:t>
            </a:r>
            <a:r>
              <a:rPr>
                <a:solidFill>
                  <a:srgbClr val="000000"/>
                </a:solidFill>
              </a:rPr>
              <a:t>(i&lt;x-</a:t>
            </a:r>
            <a:r>
              <a:rPr>
                <a:solidFill>
                  <a:srgbClr val="0433FF"/>
                </a:solidFill>
              </a:rPr>
              <a:t>1</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r>
              <a:t>           </a:t>
            </a:r>
            <a:r>
              <a:rPr>
                <a:solidFill>
                  <a:srgbClr val="000000"/>
                </a:solidFill>
              </a:rPr>
              <a:t> a[j,i+</a:t>
            </a:r>
            <a:r>
              <a:rPr>
                <a:solidFill>
                  <a:srgbClr val="0433FF"/>
                </a:solidFill>
              </a:rPr>
              <a:t>1</a:t>
            </a:r>
            <a:r>
              <a:rPr>
                <a:solidFill>
                  <a:srgbClr val="000000"/>
                </a:solidFill>
              </a:rPr>
              <a:t>]+=c7*d</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solidFill>
                  <a:schemeClr val="accent6">
                    <a:satOff val="24555"/>
                    <a:lumOff val="22232"/>
                  </a:schemeClr>
                </a:solidFill>
                <a:latin typeface="Menlo"/>
                <a:ea typeface="Menlo"/>
                <a:cs typeface="Menlo"/>
                <a:sym typeface="Menlo"/>
              </a:defRPr>
            </a:pPr>
            <a:r>
              <a:t># Plot the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100">
                <a:latin typeface="Menlo"/>
                <a:ea typeface="Menlo"/>
                <a:cs typeface="Menlo"/>
                <a:sym typeface="Menlo"/>
              </a:defRPr>
            </a:pPr>
            <a:r>
              <a:t>io.imsave(</a:t>
            </a:r>
            <a:r>
              <a:rPr>
                <a:solidFill>
                  <a:srgbClr val="0220B3"/>
                </a:solidFill>
              </a:rPr>
              <a:t>"f-s2.png"</a:t>
            </a:r>
            <a:r>
              <a:t>,b)</a:t>
            </a:r>
          </a:p>
        </p:txBody>
      </p:sp>
      <p:sp>
        <p:nvSpPr>
          <p:cNvPr id="308" name="Shape 308"/>
          <p:cNvSpPr/>
          <p:nvPr/>
        </p:nvSpPr>
        <p:spPr>
          <a:xfrm>
            <a:off x="3556130" y="1250949"/>
            <a:ext cx="5892540"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a:lvl1pPr>
          </a:lstStyle>
          <a:p>
            <a:pPr/>
            <a:r>
              <a:t>(Quantizing into six shades of grey instead of two)</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310" name="smooth.png"/>
          <p:cNvPicPr>
            <a:picLocks noChangeAspect="1"/>
          </p:cNvPicPr>
          <p:nvPr/>
        </p:nvPicPr>
        <p:blipFill>
          <a:blip r:embed="rId2">
            <a:extLst/>
          </a:blip>
          <a:stretch>
            <a:fillRect/>
          </a:stretch>
        </p:blipFill>
        <p:spPr>
          <a:xfrm>
            <a:off x="6990506" y="1737765"/>
            <a:ext cx="5715001" cy="7823201"/>
          </a:xfrm>
          <a:prstGeom prst="rect">
            <a:avLst/>
          </a:prstGeom>
          <a:ln w="12700">
            <a:miter lim="400000"/>
          </a:ln>
        </p:spPr>
      </p:pic>
      <p:sp>
        <p:nvSpPr>
          <p:cNvPr id="311" name="Shape 311"/>
          <p:cNvSpPr/>
          <p:nvPr>
            <p:ph type="title"/>
          </p:nvPr>
        </p:nvSpPr>
        <p:spPr>
          <a:xfrm>
            <a:off x="437232" y="-63500"/>
            <a:ext cx="12130336" cy="2159000"/>
          </a:xfrm>
          <a:prstGeom prst="rect">
            <a:avLst/>
          </a:prstGeom>
        </p:spPr>
        <p:txBody>
          <a:bodyPr/>
          <a:lstStyle>
            <a:lvl1pPr>
              <a:defRPr sz="5100"/>
            </a:lvl1pPr>
          </a:lstStyle>
          <a:p>
            <a:pPr/>
            <a:r>
              <a:t>Smoothing (by averaging nearby pixels)</a:t>
            </a:r>
          </a:p>
        </p:txBody>
      </p:sp>
      <p:sp>
        <p:nvSpPr>
          <p:cNvPr id="312" name="Shape 312"/>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313" name="Shape 313"/>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314" name="Shape 314"/>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315" name="Shape 315"/>
          <p:cNvSpPr/>
          <p:nvPr/>
        </p:nvSpPr>
        <p:spPr>
          <a:xfrm>
            <a:off x="97383" y="9213849"/>
            <a:ext cx="3095180"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smooth.py</a:t>
            </a:r>
          </a:p>
        </p:txBody>
      </p:sp>
      <p:sp>
        <p:nvSpPr>
          <p:cNvPr id="316" name="Shape 316"/>
          <p:cNvSpPr/>
          <p:nvPr/>
        </p:nvSpPr>
        <p:spPr>
          <a:xfrm>
            <a:off x="504973" y="2565400"/>
            <a:ext cx="5986464" cy="6375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Load in the test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o=io.imread(</a:t>
            </a:r>
            <a:r>
              <a:rPr>
                <a:solidFill>
                  <a:srgbClr val="0220B3"/>
                </a:solidFill>
              </a:rPr>
              <a:t>"audrey.png"</a:t>
            </a:r>
            <a:r>
              <a:t>,as_grey=</a:t>
            </a:r>
            <a:r>
              <a:rPr>
                <a:solidFill>
                  <a:srgbClr val="AF5F00"/>
                </a:solidFill>
              </a:rPr>
              <a:t>True</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Initialize blank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(y,x)=o.shape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a=np.zeros((y,x))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b=np.zeros((y,x))</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a=o*(</a:t>
            </a:r>
            <a:r>
              <a:rPr>
                <a:solidFill>
                  <a:srgbClr val="0433FF"/>
                </a:solidFill>
              </a:rPr>
              <a:t>1</a:t>
            </a:r>
            <a:r>
              <a:t>/</a:t>
            </a:r>
            <a:r>
              <a:rPr>
                <a:solidFill>
                  <a:srgbClr val="0433FF"/>
                </a:solidFill>
              </a:rPr>
              <a:t>255.0</a:t>
            </a:r>
            <a: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Smoothing</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AF5F00"/>
                </a:solidFill>
                <a:latin typeface="Menlo"/>
                <a:ea typeface="Menlo"/>
                <a:cs typeface="Menlo"/>
                <a:sym typeface="Menlo"/>
              </a:defRPr>
            </a:pPr>
            <a:r>
              <a:rPr>
                <a:solidFill>
                  <a:srgbClr val="E52100"/>
                </a:solidFill>
              </a:rPr>
              <a:t>def</a:t>
            </a:r>
            <a:r>
              <a:rPr>
                <a:solidFill>
                  <a:srgbClr val="000000"/>
                </a:solidFill>
              </a:rPr>
              <a:t> </a:t>
            </a:r>
            <a:r>
              <a:t>smooth</a:t>
            </a:r>
            <a:r>
              <a:rPr>
                <a:solidFill>
                  <a:srgbClr val="000000"/>
                </a:solidFill>
              </a:rPr>
              <a:t>(s,t):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a:t>
            </a:r>
            <a:r>
              <a:rPr>
                <a:solidFill>
                  <a:srgbClr val="0433FF"/>
                </a:solidFill>
              </a:rPr>
              <a:t>1</a:t>
            </a:r>
            <a:r>
              <a:rPr>
                <a:solidFill>
                  <a:srgbClr val="000000"/>
                </a:solidFill>
              </a:rPr>
              <a:t>,y-</a:t>
            </a:r>
            <a:r>
              <a:rPr>
                <a:solidFill>
                  <a:srgbClr val="0433FF"/>
                </a:solidFill>
              </a:rPr>
              <a:t>1</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r>
              <a:t>       </a:t>
            </a: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rPr>
                <a:solidFill>
                  <a:srgbClr val="AF5F00"/>
                </a:solidFill>
              </a:rPr>
              <a:t>range</a:t>
            </a:r>
            <a:r>
              <a:rPr>
                <a:solidFill>
                  <a:srgbClr val="000000"/>
                </a:solidFill>
              </a:rPr>
              <a:t>(</a:t>
            </a:r>
            <a:r>
              <a:rPr>
                <a:solidFill>
                  <a:srgbClr val="0433FF"/>
                </a:solidFill>
              </a:rPr>
              <a:t>1</a:t>
            </a:r>
            <a:r>
              <a:rPr>
                <a:solidFill>
                  <a:srgbClr val="000000"/>
                </a:solidFill>
              </a:rPr>
              <a:t>,x-</a:t>
            </a:r>
            <a:r>
              <a:rPr>
                <a:solidFill>
                  <a:srgbClr val="0433FF"/>
                </a:solidFill>
              </a:rPr>
              <a:t>1</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r>
              <a:t>           </a:t>
            </a:r>
            <a:r>
              <a:rPr>
                <a:solidFill>
                  <a:srgbClr val="000000"/>
                </a:solidFill>
              </a:rPr>
              <a:t> t[j,i]=</a:t>
            </a:r>
            <a:r>
              <a:rPr>
                <a:solidFill>
                  <a:srgbClr val="0433FF"/>
                </a:solidFill>
              </a:rPr>
              <a:t>0.5</a:t>
            </a:r>
            <a:r>
              <a:rPr>
                <a:solidFill>
                  <a:srgbClr val="000000"/>
                </a:solidFill>
              </a:rPr>
              <a:t>*s[j,i]+</a:t>
            </a:r>
            <a:r>
              <a:rPr>
                <a:solidFill>
                  <a:srgbClr val="0433FF"/>
                </a:solidFill>
              </a:rPr>
              <a:t>0.125</a:t>
            </a:r>
            <a:r>
              <a:rPr>
                <a:solidFill>
                  <a:srgbClr val="000000"/>
                </a:solidFill>
              </a:rPr>
              <a:t>*(s[j,i+</a:t>
            </a:r>
            <a:r>
              <a:rPr>
                <a:solidFill>
                  <a:srgbClr val="0433FF"/>
                </a:solidFill>
              </a:rPr>
              <a:t>1</a:t>
            </a:r>
            <a:r>
              <a:rPr>
                <a:solidFill>
                  <a:srgbClr val="000000"/>
                </a:solidFill>
              </a:rPr>
              <a:t>] </a:t>
            </a:r>
            <a:r>
              <a:rPr>
                <a:solidFill>
                  <a:srgbClr val="B32AB2"/>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r>
              <a:t>                 </a:t>
            </a:r>
            <a:r>
              <a:rPr>
                <a:solidFill>
                  <a:srgbClr val="000000"/>
                </a:solidFill>
              </a:rPr>
              <a:t> +s[j,i-</a:t>
            </a:r>
            <a:r>
              <a:rPr>
                <a:solidFill>
                  <a:srgbClr val="0433FF"/>
                </a:solidFill>
              </a:rPr>
              <a:t>1</a:t>
            </a:r>
            <a:r>
              <a:rPr>
                <a:solidFill>
                  <a:srgbClr val="000000"/>
                </a:solidFill>
              </a:rPr>
              <a:t>]+s[j-</a:t>
            </a:r>
            <a:r>
              <a:rPr>
                <a:solidFill>
                  <a:srgbClr val="0433FF"/>
                </a:solidFill>
              </a:rPr>
              <a:t>1</a:t>
            </a:r>
            <a:r>
              <a:rPr>
                <a:solidFill>
                  <a:srgbClr val="000000"/>
                </a:solidFill>
              </a:rPr>
              <a:t>,i]+s[j+</a:t>
            </a:r>
            <a:r>
              <a:rPr>
                <a:solidFill>
                  <a:srgbClr val="0433FF"/>
                </a:solidFill>
              </a:rPr>
              <a:t>1</a:t>
            </a:r>
            <a:r>
              <a:rPr>
                <a:solidFill>
                  <a:srgbClr val="000000"/>
                </a:solidFill>
              </a:rPr>
              <a:t>,i])</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Apply three times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smooth(a,b)</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smooth(b,a)</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smooth(a,b)</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Plot the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0220B3"/>
                </a:solidFill>
                <a:latin typeface="Menlo"/>
                <a:ea typeface="Menlo"/>
                <a:cs typeface="Menlo"/>
                <a:sym typeface="Menlo"/>
              </a:defRPr>
            </a:pPr>
            <a:r>
              <a:rPr>
                <a:solidFill>
                  <a:srgbClr val="000000"/>
                </a:solidFill>
              </a:rPr>
              <a:t>io.imsave(</a:t>
            </a:r>
            <a:r>
              <a:t>"smooth.png"</a:t>
            </a:r>
            <a:r>
              <a:rPr>
                <a:solidFill>
                  <a:srgbClr val="000000"/>
                </a:solidFill>
              </a:rPr>
              <a:t>,b)</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318" name="audrey_noise.png"/>
          <p:cNvPicPr>
            <a:picLocks noChangeAspect="1"/>
          </p:cNvPicPr>
          <p:nvPr/>
        </p:nvPicPr>
        <p:blipFill>
          <a:blip r:embed="rId2">
            <a:extLst/>
          </a:blip>
          <a:stretch>
            <a:fillRect/>
          </a:stretch>
        </p:blipFill>
        <p:spPr>
          <a:xfrm>
            <a:off x="6980088" y="1737765"/>
            <a:ext cx="5715001" cy="7823201"/>
          </a:xfrm>
          <a:prstGeom prst="rect">
            <a:avLst/>
          </a:prstGeom>
          <a:ln w="12700">
            <a:miter lim="400000"/>
          </a:ln>
        </p:spPr>
      </p:pic>
      <p:sp>
        <p:nvSpPr>
          <p:cNvPr id="319" name="Shape 319"/>
          <p:cNvSpPr/>
          <p:nvPr>
            <p:ph type="title"/>
          </p:nvPr>
        </p:nvSpPr>
        <p:spPr>
          <a:xfrm>
            <a:off x="437232" y="63500"/>
            <a:ext cx="12130336" cy="2159000"/>
          </a:xfrm>
          <a:prstGeom prst="rect">
            <a:avLst/>
          </a:prstGeom>
        </p:spPr>
        <p:txBody>
          <a:bodyPr/>
          <a:lstStyle/>
          <a:p>
            <a:pPr/>
            <a:r>
              <a:t>Adding noise</a:t>
            </a:r>
          </a:p>
        </p:txBody>
      </p:sp>
      <p:sp>
        <p:nvSpPr>
          <p:cNvPr id="320" name="Shape 320"/>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321" name="Shape 321"/>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322" name="Shape 322"/>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323" name="Shape 323"/>
          <p:cNvSpPr/>
          <p:nvPr/>
        </p:nvSpPr>
        <p:spPr>
          <a:xfrm>
            <a:off x="97383" y="9213849"/>
            <a:ext cx="3502076"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add_noise.py</a:t>
            </a:r>
          </a:p>
        </p:txBody>
      </p:sp>
      <p:sp>
        <p:nvSpPr>
          <p:cNvPr id="324" name="Shape 324"/>
          <p:cNvSpPr/>
          <p:nvPr/>
        </p:nvSpPr>
        <p:spPr>
          <a:xfrm>
            <a:off x="543464" y="2654300"/>
            <a:ext cx="5741790" cy="3962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from</a:t>
            </a:r>
            <a:r>
              <a:t> skimage </a:t>
            </a:r>
            <a:r>
              <a:rPr>
                <a:solidFill>
                  <a:srgbClr val="E539E5"/>
                </a:solidFill>
              </a:rPr>
              <a:t>import</a:t>
            </a:r>
            <a:r>
              <a:t> io</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from</a:t>
            </a:r>
            <a:r>
              <a:t> random </a:t>
            </a:r>
            <a:r>
              <a:rPr>
                <a:solidFill>
                  <a:srgbClr val="E539E5"/>
                </a:solidFill>
              </a:rPr>
              <a:t>import</a:t>
            </a:r>
            <a:r>
              <a:t> random,randint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D57A"/>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Load in the test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o=io.imread(</a:t>
            </a:r>
            <a:r>
              <a:rPr>
                <a:solidFill>
                  <a:srgbClr val="0220B3"/>
                </a:solidFill>
              </a:rPr>
              <a:t>"audrey.png"</a:t>
            </a:r>
            <a:r>
              <a:t>,as_grey=</a:t>
            </a:r>
            <a:r>
              <a:rPr>
                <a:solidFill>
                  <a:srgbClr val="AF5F00"/>
                </a:solidFill>
              </a:rPr>
              <a:t>True</a:t>
            </a:r>
            <a:r>
              <a: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(y,x)=o.shape</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a=o*(</a:t>
            </a:r>
            <a:r>
              <a:rPr>
                <a:solidFill>
                  <a:srgbClr val="0433FF"/>
                </a:solidFill>
              </a:rPr>
              <a:t>1</a:t>
            </a:r>
            <a:r>
              <a:t>/</a:t>
            </a:r>
            <a:r>
              <a:rPr>
                <a:solidFill>
                  <a:srgbClr val="0433FF"/>
                </a:solidFill>
              </a:rPr>
              <a:t>255.0</a:t>
            </a:r>
            <a:r>
              <a: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D57A"/>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Introduce noise at 2% of points,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avoiding the borders for simplicity</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AF5F00"/>
                </a:solidFill>
                <a:latin typeface="Menlo"/>
                <a:ea typeface="Menlo"/>
                <a:cs typeface="Menlo"/>
                <a:sym typeface="Menlo"/>
              </a:defRPr>
            </a:pP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(x*y/</a:t>
            </a:r>
            <a:r>
              <a:rPr>
                <a:solidFill>
                  <a:srgbClr val="0433FF"/>
                </a:solidFill>
              </a:rPr>
              <a:t>50</a:t>
            </a:r>
            <a:r>
              <a:rPr>
                <a:solidFill>
                  <a:srgbClr val="000000"/>
                </a:solidFill>
              </a:rPr>
              <a:t>):</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    a[randint(</a:t>
            </a:r>
            <a:r>
              <a:rPr>
                <a:solidFill>
                  <a:srgbClr val="0433FF"/>
                </a:solidFill>
              </a:rPr>
              <a:t>1</a:t>
            </a:r>
            <a:r>
              <a:t>,y-</a:t>
            </a:r>
            <a:r>
              <a:rPr>
                <a:solidFill>
                  <a:srgbClr val="0433FF"/>
                </a:solidFill>
              </a:rPr>
              <a:t>2</a:t>
            </a:r>
            <a:r>
              <a:t>),randint(</a:t>
            </a:r>
            <a:r>
              <a:rPr>
                <a:solidFill>
                  <a:srgbClr val="0433FF"/>
                </a:solidFill>
              </a:rPr>
              <a:t>1</a:t>
            </a:r>
            <a:r>
              <a:t>,x-</a:t>
            </a:r>
            <a:r>
              <a:rPr>
                <a:solidFill>
                  <a:srgbClr val="0433FF"/>
                </a:solidFill>
              </a:rPr>
              <a:t>2</a:t>
            </a:r>
            <a:r>
              <a:t>)]=random()</a:t>
            </a:r>
            <a:endParaRPr>
              <a:solidFill>
                <a:srgbClr val="FFD57A"/>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D57A"/>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Plot the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0220B3"/>
                </a:solidFill>
                <a:latin typeface="Menlo"/>
                <a:ea typeface="Menlo"/>
                <a:cs typeface="Menlo"/>
                <a:sym typeface="Menlo"/>
              </a:defRPr>
            </a:pPr>
            <a:r>
              <a:rPr>
                <a:solidFill>
                  <a:srgbClr val="000000"/>
                </a:solidFill>
              </a:rPr>
              <a:t>io.imsave(</a:t>
            </a:r>
            <a:r>
              <a:t>"audrey_noise.png"</a:t>
            </a:r>
            <a:r>
              <a:rPr>
                <a:solidFill>
                  <a:srgbClr val="000000"/>
                </a:solidFill>
              </a:rPr>
              <a:t>,a)</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26" name="Shape 326"/>
          <p:cNvSpPr/>
          <p:nvPr>
            <p:ph type="title"/>
          </p:nvPr>
        </p:nvSpPr>
        <p:spPr>
          <a:prstGeom prst="rect">
            <a:avLst/>
          </a:prstGeom>
        </p:spPr>
        <p:txBody>
          <a:bodyPr/>
          <a:lstStyle/>
          <a:p>
            <a:pPr/>
            <a:r>
              <a:t>Removing noise</a:t>
            </a:r>
          </a:p>
        </p:txBody>
      </p:sp>
      <p:sp>
        <p:nvSpPr>
          <p:cNvPr id="327" name="Shape 327"/>
          <p:cNvSpPr/>
          <p:nvPr>
            <p:ph type="body" idx="1"/>
          </p:nvPr>
        </p:nvSpPr>
        <p:spPr>
          <a:xfrm>
            <a:off x="952500" y="2368550"/>
            <a:ext cx="11099800" cy="5397798"/>
          </a:xfrm>
          <a:prstGeom prst="rect">
            <a:avLst/>
          </a:prstGeom>
        </p:spPr>
        <p:txBody>
          <a:bodyPr/>
          <a:lstStyle/>
          <a:p>
            <a:pPr marL="440055" indent="-440055" defTabSz="578358">
              <a:spcBef>
                <a:spcPts val="2500"/>
              </a:spcBef>
              <a:defRPr sz="3564"/>
            </a:pPr>
            <a:r>
              <a:t>What characterizes a noisy pixel? It is very different from the surrounding pixels. We want to devise a technique that can recognize this</a:t>
            </a:r>
          </a:p>
          <a:p>
            <a:pPr marL="440055" indent="-440055" defTabSz="578358">
              <a:spcBef>
                <a:spcPts val="2500"/>
              </a:spcBef>
              <a:defRPr sz="3564"/>
            </a:pPr>
            <a:r>
              <a:t>For each pixel consider the set of it and its orthogonal neighbors</a:t>
            </a:r>
          </a:p>
          <a:p>
            <a:pPr marL="440055" indent="-440055" defTabSz="578358">
              <a:spcBef>
                <a:spcPts val="2500"/>
              </a:spcBef>
              <a:defRPr sz="3564"/>
            </a:pPr>
          </a:p>
          <a:p>
            <a:pPr marL="440055" indent="-440055" defTabSz="578358">
              <a:spcBef>
                <a:spcPts val="2500"/>
              </a:spcBef>
              <a:defRPr sz="3564"/>
            </a:pPr>
            <a:r>
              <a:t>Set pixel intensity to be the median of </a:t>
            </a:r>
            <a:r>
              <a:rPr b="0" i="1"/>
              <a:t>S</a:t>
            </a:r>
          </a:p>
          <a:p>
            <a:pPr marL="440055" indent="-440055" defTabSz="578358">
              <a:spcBef>
                <a:spcPts val="2500"/>
              </a:spcBef>
              <a:defRPr sz="3564"/>
            </a:pPr>
            <a:r>
              <a:t>Example:</a:t>
            </a:r>
          </a:p>
        </p:txBody>
      </p:sp>
      <p:pic>
        <p:nvPicPr>
          <p:cNvPr id="328" name="ga3.pdf"/>
          <p:cNvPicPr>
            <a:picLocks noChangeAspect="1"/>
          </p:cNvPicPr>
          <p:nvPr/>
        </p:nvPicPr>
        <p:blipFill>
          <a:blip r:embed="rId2">
            <a:extLst/>
          </a:blip>
          <a:stretch>
            <a:fillRect/>
          </a:stretch>
        </p:blipFill>
        <p:spPr>
          <a:xfrm>
            <a:off x="3371348" y="5557093"/>
            <a:ext cx="6262104" cy="498123"/>
          </a:xfrm>
          <a:prstGeom prst="rect">
            <a:avLst/>
          </a:prstGeom>
          <a:ln w="12700">
            <a:miter lim="400000"/>
          </a:ln>
        </p:spPr>
      </p:pic>
      <p:pic>
        <p:nvPicPr>
          <p:cNvPr id="329" name="ga4.pdf"/>
          <p:cNvPicPr>
            <a:picLocks noChangeAspect="1"/>
          </p:cNvPicPr>
          <p:nvPr/>
        </p:nvPicPr>
        <p:blipFill>
          <a:blip r:embed="rId3">
            <a:extLst/>
          </a:blip>
          <a:stretch>
            <a:fillRect/>
          </a:stretch>
        </p:blipFill>
        <p:spPr>
          <a:xfrm>
            <a:off x="1987102" y="8022290"/>
            <a:ext cx="9030596" cy="397959"/>
          </a:xfrm>
          <a:prstGeom prst="rect">
            <a:avLst/>
          </a:prstGeom>
          <a:ln w="12700">
            <a:miter lim="400000"/>
          </a:ln>
        </p:spPr>
      </p:pic>
      <p:sp>
        <p:nvSpPr>
          <p:cNvPr id="330" name="Shape 330"/>
          <p:cNvSpPr/>
          <p:nvPr/>
        </p:nvSpPr>
        <p:spPr>
          <a:xfrm flipV="1">
            <a:off x="6287210" y="8438136"/>
            <a:ext cx="217423" cy="434861"/>
          </a:xfrm>
          <a:prstGeom prst="line">
            <a:avLst/>
          </a:prstGeom>
          <a:ln w="38100">
            <a:solidFill>
              <a:schemeClr val="accent5"/>
            </a:solidFill>
            <a:miter lim="400000"/>
            <a:tailEnd type="triangle"/>
          </a:ln>
        </p:spPr>
        <p:txBody>
          <a:bodyPr lIns="50800" tIns="50800" rIns="50800" bIns="50800" anchor="ctr"/>
          <a:lstStyle/>
          <a:p>
            <a:pPr>
              <a:lnSpc>
                <a:spcPct val="100000"/>
              </a:lnSpc>
              <a:defRPr b="0" sz="2400">
                <a:latin typeface="+mn-lt"/>
                <a:ea typeface="+mn-ea"/>
                <a:cs typeface="+mn-cs"/>
                <a:sym typeface="Helvetica Light"/>
              </a:defRPr>
            </a:pPr>
          </a:p>
        </p:txBody>
      </p:sp>
      <p:sp>
        <p:nvSpPr>
          <p:cNvPr id="331" name="Shape 331"/>
          <p:cNvSpPr/>
          <p:nvPr/>
        </p:nvSpPr>
        <p:spPr>
          <a:xfrm>
            <a:off x="5400935" y="8839199"/>
            <a:ext cx="1715518" cy="584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700">
                <a:solidFill>
                  <a:schemeClr val="accent5"/>
                </a:solidFill>
              </a:defRPr>
            </a:lvl1pPr>
          </a:lstStyle>
          <a:p>
            <a:pPr/>
            <a:r>
              <a:t>An outlier, probably noise</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333" name="denoise.png"/>
          <p:cNvPicPr>
            <a:picLocks noChangeAspect="1"/>
          </p:cNvPicPr>
          <p:nvPr/>
        </p:nvPicPr>
        <p:blipFill>
          <a:blip r:embed="rId2">
            <a:extLst/>
          </a:blip>
          <a:stretch>
            <a:fillRect/>
          </a:stretch>
        </p:blipFill>
        <p:spPr>
          <a:xfrm>
            <a:off x="6988224" y="1737765"/>
            <a:ext cx="5715001" cy="7823201"/>
          </a:xfrm>
          <a:prstGeom prst="rect">
            <a:avLst/>
          </a:prstGeom>
          <a:ln w="12700">
            <a:miter lim="400000"/>
          </a:ln>
        </p:spPr>
      </p:pic>
      <p:sp>
        <p:nvSpPr>
          <p:cNvPr id="334" name="Shape 334"/>
          <p:cNvSpPr/>
          <p:nvPr>
            <p:ph type="title"/>
          </p:nvPr>
        </p:nvSpPr>
        <p:spPr>
          <a:xfrm>
            <a:off x="437232" y="63500"/>
            <a:ext cx="12130336" cy="2159000"/>
          </a:xfrm>
          <a:prstGeom prst="rect">
            <a:avLst/>
          </a:prstGeom>
        </p:spPr>
        <p:txBody>
          <a:bodyPr/>
          <a:lstStyle/>
          <a:p>
            <a:pPr/>
            <a:r>
              <a:t>Removing noise</a:t>
            </a:r>
          </a:p>
        </p:txBody>
      </p:sp>
      <p:sp>
        <p:nvSpPr>
          <p:cNvPr id="335" name="Shape 335"/>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lnSpc>
                <a:spcPct val="100000"/>
              </a:lnSpc>
              <a:defRPr b="0" sz="2400">
                <a:latin typeface="+mn-lt"/>
                <a:ea typeface="+mn-ea"/>
                <a:cs typeface="+mn-cs"/>
                <a:sym typeface="Helvetica Light"/>
              </a:defRPr>
            </a:pPr>
          </a:p>
        </p:txBody>
      </p:sp>
      <p:sp>
        <p:nvSpPr>
          <p:cNvPr id="336" name="Shape 336"/>
          <p:cNvSpPr/>
          <p:nvPr/>
        </p:nvSpPr>
        <p:spPr>
          <a:xfrm>
            <a:off x="870762" y="1936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Input program</a:t>
            </a:r>
          </a:p>
        </p:txBody>
      </p:sp>
      <p:sp>
        <p:nvSpPr>
          <p:cNvPr id="337" name="Shape 337"/>
          <p:cNvSpPr/>
          <p:nvPr/>
        </p:nvSpPr>
        <p:spPr>
          <a:xfrm>
            <a:off x="7333665" y="1936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3600">
                <a:solidFill>
                  <a:srgbClr val="53585F"/>
                </a:solidFill>
              </a:defRPr>
            </a:lvl1pPr>
          </a:lstStyle>
          <a:p>
            <a:pPr/>
            <a:r>
              <a:t>Output</a:t>
            </a:r>
          </a:p>
        </p:txBody>
      </p:sp>
      <p:sp>
        <p:nvSpPr>
          <p:cNvPr id="338" name="Shape 338"/>
          <p:cNvSpPr/>
          <p:nvPr/>
        </p:nvSpPr>
        <p:spPr>
          <a:xfrm>
            <a:off x="97383" y="9213849"/>
            <a:ext cx="3146376"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defRPr sz="2400"/>
            </a:lvl1pPr>
          </a:lstStyle>
          <a:p>
            <a:pPr/>
            <a:r>
              <a:t>Example: denoise.py</a:t>
            </a:r>
          </a:p>
        </p:txBody>
      </p:sp>
      <p:sp>
        <p:nvSpPr>
          <p:cNvPr id="339" name="Shape 339"/>
          <p:cNvSpPr/>
          <p:nvPr/>
        </p:nvSpPr>
        <p:spPr>
          <a:xfrm>
            <a:off x="760145" y="2565400"/>
            <a:ext cx="5252443" cy="6375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from</a:t>
            </a:r>
            <a:r>
              <a:t> skimage </a:t>
            </a:r>
            <a:r>
              <a:rPr>
                <a:solidFill>
                  <a:srgbClr val="E539E5"/>
                </a:solidFill>
              </a:rPr>
              <a:t>import</a:t>
            </a:r>
            <a:r>
              <a:t> data,io</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from</a:t>
            </a:r>
            <a:r>
              <a:t> scipy </a:t>
            </a:r>
            <a:r>
              <a:rPr>
                <a:solidFill>
                  <a:srgbClr val="E539E5"/>
                </a:solidFill>
              </a:rPr>
              <a:t>import</a:t>
            </a:r>
            <a:r>
              <a:t> ndimage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E539E5"/>
                </a:solidFill>
              </a:rPr>
              <a:t>import</a:t>
            </a:r>
            <a:r>
              <a:t> numpy </a:t>
            </a:r>
            <a:r>
              <a:rPr>
                <a:solidFill>
                  <a:srgbClr val="E52100"/>
                </a:solidFill>
              </a:rPr>
              <a:t>as</a:t>
            </a:r>
            <a:r>
              <a:t> np</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Load in the test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0220B3"/>
                </a:solidFill>
                <a:latin typeface="Menlo"/>
                <a:ea typeface="Menlo"/>
                <a:cs typeface="Menlo"/>
                <a:sym typeface="Menlo"/>
              </a:defRPr>
            </a:pPr>
            <a:r>
              <a:rPr>
                <a:solidFill>
                  <a:srgbClr val="000000"/>
                </a:solidFill>
              </a:rPr>
              <a:t>a=io.imread(</a:t>
            </a:r>
            <a:r>
              <a:t>"audrey_noise.png"</a:t>
            </a:r>
            <a:r>
              <a:rPr>
                <a:solidFill>
                  <a:srgbClr val="000000"/>
                </a:solidFill>
              </a:rPr>
              <a:t>, </a:t>
            </a:r>
            <a:r>
              <a:rPr>
                <a:solidFill>
                  <a:srgbClr val="B32AB2"/>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r>
              <a:t>           </a:t>
            </a:r>
            <a:r>
              <a:rPr>
                <a:solidFill>
                  <a:srgbClr val="000000"/>
                </a:solidFill>
              </a:rPr>
              <a:t> as_grey=</a:t>
            </a:r>
            <a:r>
              <a:rPr>
                <a:solidFill>
                  <a:srgbClr val="AF5F00"/>
                </a:solidFill>
              </a:rPr>
              <a:t>True</a:t>
            </a:r>
            <a:r>
              <a:rPr>
                <a:solidFill>
                  <a:srgbClr val="000000"/>
                </a:solidFill>
              </a:rPr>
              <a:t>,dtype=</a:t>
            </a:r>
            <a:r>
              <a:rPr>
                <a:solidFill>
                  <a:srgbClr val="0220B3"/>
                </a:solidFill>
              </a:rPr>
              <a:t>'float64'</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0433FF"/>
                </a:solidFill>
                <a:latin typeface="Menlo"/>
                <a:ea typeface="Menlo"/>
                <a:cs typeface="Menlo"/>
                <a:sym typeface="Menlo"/>
              </a:defRPr>
            </a:pPr>
            <a:r>
              <a:rPr>
                <a:solidFill>
                  <a:srgbClr val="000000"/>
                </a:solidFill>
              </a:rPr>
              <a:t>a*=</a:t>
            </a:r>
            <a:r>
              <a:t>1</a:t>
            </a:r>
            <a:r>
              <a:rPr>
                <a:solidFill>
                  <a:srgbClr val="000000"/>
                </a:solidFill>
              </a:rPr>
              <a:t>/</a:t>
            </a:r>
            <a:r>
              <a:t>255.0</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Initialize a copy of the image </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(y,x)=a.shape</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t>b=np.copy(a)</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AF5F00"/>
                </a:solidFill>
                <a:latin typeface="Menlo"/>
                <a:ea typeface="Menlo"/>
                <a:cs typeface="Menlo"/>
                <a:sym typeface="Menlo"/>
              </a:defRPr>
            </a:pPr>
            <a:r>
              <a:rPr>
                <a:solidFill>
                  <a:srgbClr val="E539E5"/>
                </a:solidFill>
              </a:rPr>
              <a:t>for</a:t>
            </a:r>
            <a:r>
              <a:rPr>
                <a:solidFill>
                  <a:srgbClr val="000000"/>
                </a:solidFill>
              </a:rPr>
              <a:t> j </a:t>
            </a:r>
            <a:r>
              <a:rPr>
                <a:solidFill>
                  <a:schemeClr val="accent2"/>
                </a:solidFill>
              </a:rPr>
              <a:t>in</a:t>
            </a:r>
            <a:r>
              <a:rPr>
                <a:solidFill>
                  <a:srgbClr val="000000"/>
                </a:solidFill>
              </a:rPr>
              <a:t> </a:t>
            </a:r>
            <a:r>
              <a:t>range</a:t>
            </a:r>
            <a:r>
              <a:rPr>
                <a:solidFill>
                  <a:srgbClr val="000000"/>
                </a:solidFill>
              </a:rPr>
              <a:t>(</a:t>
            </a:r>
            <a:r>
              <a:rPr>
                <a:solidFill>
                  <a:srgbClr val="0433FF"/>
                </a:solidFill>
              </a:rPr>
              <a:t>1</a:t>
            </a:r>
            <a:r>
              <a:rPr>
                <a:solidFill>
                  <a:srgbClr val="000000"/>
                </a:solidFill>
              </a:rPr>
              <a:t>,y-</a:t>
            </a:r>
            <a:r>
              <a:rPr>
                <a:solidFill>
                  <a:srgbClr val="0433FF"/>
                </a:solidFill>
              </a:rPr>
              <a:t>1</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a:t>
            </a:r>
            <a:r>
              <a:rPr>
                <a:solidFill>
                  <a:srgbClr val="0433FF"/>
                </a:solidFill>
              </a:rPr>
              <a:t>1</a:t>
            </a:r>
            <a:r>
              <a:rPr>
                <a:solidFill>
                  <a:srgbClr val="000000"/>
                </a:solidFill>
              </a:rPr>
              <a:t>,x-</a:t>
            </a:r>
            <a:r>
              <a:rPr>
                <a:solidFill>
                  <a:srgbClr val="0433FF"/>
                </a:solidFill>
              </a:rPr>
              <a:t>1</a:t>
            </a:r>
            <a:r>
              <a:rPr>
                <a:solidFill>
                  <a:srgbClr val="000000"/>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 Create list of nearby points</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FFF678"/>
                </a:solidFill>
              </a:rPr>
              <a:t>       </a:t>
            </a:r>
            <a:r>
              <a:t> l=[a[j-</a:t>
            </a:r>
            <a:r>
              <a:rPr>
                <a:solidFill>
                  <a:srgbClr val="0433FF"/>
                </a:solidFill>
              </a:rPr>
              <a:t>1</a:t>
            </a:r>
            <a:r>
              <a:t>,i],a[j,i], </a:t>
            </a:r>
            <a:r>
              <a:rPr>
                <a:solidFill>
                  <a:srgbClr val="B32AB2"/>
                </a:solidFill>
              </a:rPr>
              <a: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r>
              <a:t>          </a:t>
            </a:r>
            <a:r>
              <a:rPr>
                <a:solidFill>
                  <a:srgbClr val="000000"/>
                </a:solidFill>
              </a:rPr>
              <a:t> a[j+</a:t>
            </a:r>
            <a:r>
              <a:rPr>
                <a:solidFill>
                  <a:srgbClr val="0433FF"/>
                </a:solidFill>
              </a:rPr>
              <a:t>1</a:t>
            </a:r>
            <a:r>
              <a:rPr>
                <a:solidFill>
                  <a:srgbClr val="000000"/>
                </a:solidFill>
              </a:rPr>
              <a:t>,i],a[j,i+</a:t>
            </a:r>
            <a:r>
              <a:rPr>
                <a:solidFill>
                  <a:srgbClr val="0433FF"/>
                </a:solidFill>
              </a:rPr>
              <a:t>1</a:t>
            </a:r>
            <a:r>
              <a:rPr>
                <a:solidFill>
                  <a:srgbClr val="000000"/>
                </a:solidFill>
              </a:rPr>
              <a:t>],a[j,i-</a:t>
            </a:r>
            <a:r>
              <a:rPr>
                <a:solidFill>
                  <a:srgbClr val="0433FF"/>
                </a:solidFill>
              </a:rPr>
              <a:t>1</a:t>
            </a:r>
            <a:r>
              <a:rPr>
                <a:solidFill>
                  <a:srgbClr val="000000"/>
                </a:solidFill>
              </a:rPr>
              <a:t>]]</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 Set output pixel to be median</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 of the list</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latin typeface="Menlo"/>
                <a:ea typeface="Menlo"/>
                <a:cs typeface="Menlo"/>
                <a:sym typeface="Menlo"/>
              </a:defRPr>
            </a:pPr>
            <a:r>
              <a:rPr>
                <a:solidFill>
                  <a:srgbClr val="FFF678"/>
                </a:solidFill>
              </a:rPr>
              <a:t>       </a:t>
            </a:r>
            <a:r>
              <a:t> b[j,i]=np.median(l)</a:t>
            </a:r>
            <a:endParaRPr>
              <a:solidFill>
                <a:srgbClr val="FFF678"/>
              </a:solidFill>
            </a:endParaR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FFF678"/>
                </a:solidFill>
                <a:latin typeface="Menlo"/>
                <a:ea typeface="Menlo"/>
                <a:cs typeface="Menlo"/>
                <a:sym typeface="Menlo"/>
              </a:defRPr>
            </a:pP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chemeClr val="accent6">
                    <a:satOff val="24555"/>
                    <a:lumOff val="22232"/>
                  </a:schemeClr>
                </a:solidFill>
                <a:latin typeface="Menlo"/>
                <a:ea typeface="Menlo"/>
                <a:cs typeface="Menlo"/>
                <a:sym typeface="Menlo"/>
              </a:defRPr>
            </a:pPr>
            <a:r>
              <a:t># Plot the image</a:t>
            </a:r>
          </a:p>
          <a:p>
            <a:pPr algn="l" defTabSz="4572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0" sz="1600">
                <a:solidFill>
                  <a:srgbClr val="0220B3"/>
                </a:solidFill>
                <a:latin typeface="Menlo"/>
                <a:ea typeface="Menlo"/>
                <a:cs typeface="Menlo"/>
                <a:sym typeface="Menlo"/>
              </a:defRPr>
            </a:pPr>
            <a:r>
              <a:rPr>
                <a:solidFill>
                  <a:srgbClr val="000000"/>
                </a:solidFill>
              </a:rPr>
              <a:t>io.imsave(</a:t>
            </a:r>
            <a:r>
              <a:t>"denoise.png"</a:t>
            </a:r>
            <a:r>
              <a:rPr>
                <a:solidFill>
                  <a:srgbClr val="000000"/>
                </a:solidFill>
              </a:rPr>
              <a:t>,b)</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41" name="Shape 341"/>
          <p:cNvSpPr/>
          <p:nvPr>
            <p:ph type="title"/>
          </p:nvPr>
        </p:nvSpPr>
        <p:spPr>
          <a:prstGeom prst="rect">
            <a:avLst/>
          </a:prstGeom>
        </p:spPr>
        <p:txBody>
          <a:bodyPr/>
          <a:lstStyle/>
          <a:p>
            <a:pPr/>
            <a:r>
              <a:t>Break</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43" name="Shape 343"/>
          <p:cNvSpPr/>
          <p:nvPr>
            <p:ph type="title"/>
          </p:nvPr>
        </p:nvSpPr>
        <p:spPr>
          <a:prstGeom prst="rect">
            <a:avLst/>
          </a:prstGeom>
        </p:spPr>
        <p:txBody>
          <a:bodyPr/>
          <a:lstStyle/>
          <a:p>
            <a:pPr/>
            <a:r>
              <a:t>Partial Information: Shadows</a:t>
            </a:r>
          </a:p>
        </p:txBody>
      </p:sp>
      <p:pic>
        <p:nvPicPr>
          <p:cNvPr id="344" name="droppedImage.pdf"/>
          <p:cNvPicPr>
            <a:picLocks noChangeAspect="1"/>
          </p:cNvPicPr>
          <p:nvPr/>
        </p:nvPicPr>
        <p:blipFill>
          <a:blip r:embed="rId3">
            <a:extLst/>
          </a:blip>
          <a:stretch>
            <a:fillRect/>
          </a:stretch>
        </p:blipFill>
        <p:spPr>
          <a:xfrm>
            <a:off x="1778000" y="2692400"/>
            <a:ext cx="9449830" cy="6134100"/>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48" name="Shape 348"/>
          <p:cNvSpPr/>
          <p:nvPr>
            <p:ph type="title"/>
          </p:nvPr>
        </p:nvSpPr>
        <p:spPr>
          <a:prstGeom prst="rect">
            <a:avLst/>
          </a:prstGeom>
        </p:spPr>
        <p:txBody>
          <a:bodyPr/>
          <a:lstStyle/>
          <a:p>
            <a:pPr/>
            <a:r>
              <a:t>Partial Information: Shadows</a:t>
            </a:r>
          </a:p>
        </p:txBody>
      </p:sp>
      <p:pic>
        <p:nvPicPr>
          <p:cNvPr id="349" name="droppedImage.pdf"/>
          <p:cNvPicPr>
            <a:picLocks noChangeAspect="1"/>
          </p:cNvPicPr>
          <p:nvPr/>
        </p:nvPicPr>
        <p:blipFill>
          <a:blip r:embed="rId2">
            <a:extLst/>
          </a:blip>
          <a:stretch>
            <a:fillRect/>
          </a:stretch>
        </p:blipFill>
        <p:spPr>
          <a:xfrm>
            <a:off x="732127" y="2819400"/>
            <a:ext cx="6370292" cy="6223000"/>
          </a:xfrm>
          <a:prstGeom prst="rect">
            <a:avLst/>
          </a:prstGeom>
          <a:ln w="12700">
            <a:miter lim="400000"/>
          </a:ln>
        </p:spPr>
      </p:pic>
      <p:pic>
        <p:nvPicPr>
          <p:cNvPr id="350" name="droppedImage.pdf"/>
          <p:cNvPicPr>
            <a:picLocks noChangeAspect="1"/>
          </p:cNvPicPr>
          <p:nvPr/>
        </p:nvPicPr>
        <p:blipFill>
          <a:blip r:embed="rId3">
            <a:extLst/>
          </a:blip>
          <a:stretch>
            <a:fillRect/>
          </a:stretch>
        </p:blipFill>
        <p:spPr>
          <a:xfrm>
            <a:off x="3924300" y="3695700"/>
            <a:ext cx="3856893" cy="1066800"/>
          </a:xfrm>
          <a:prstGeom prst="rect">
            <a:avLst/>
          </a:prstGeom>
          <a:ln w="12700">
            <a:miter lim="400000"/>
          </a:ln>
        </p:spPr>
      </p:pic>
      <p:sp>
        <p:nvSpPr>
          <p:cNvPr id="351" name="Shape 351"/>
          <p:cNvSpPr/>
          <p:nvPr/>
        </p:nvSpPr>
        <p:spPr>
          <a:xfrm>
            <a:off x="10245731" y="5111750"/>
            <a:ext cx="1240483" cy="736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rows</a:t>
            </a:r>
          </a:p>
        </p:txBody>
      </p:sp>
      <p:sp>
        <p:nvSpPr>
          <p:cNvPr id="352" name="Shape 352"/>
          <p:cNvSpPr/>
          <p:nvPr/>
        </p:nvSpPr>
        <p:spPr>
          <a:xfrm>
            <a:off x="10250698" y="6083300"/>
            <a:ext cx="2100487" cy="736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stStyle>
          <a:p>
            <a:pPr/>
            <a:r>
              <a:t>columns</a:t>
            </a:r>
          </a:p>
        </p:txBody>
      </p:sp>
      <p:sp>
        <p:nvSpPr>
          <p:cNvPr id="353" name="Shape 353"/>
          <p:cNvSpPr/>
          <p:nvPr/>
        </p:nvSpPr>
        <p:spPr>
          <a:xfrm>
            <a:off x="7923299" y="2635250"/>
            <a:ext cx="2100747" cy="736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3200"/>
            </a:lvl1pPr>
          </a:lstStyle>
          <a:p>
            <a:pPr/>
            <a:r>
              <a:t>Intensity</a:t>
            </a:r>
          </a:p>
        </p:txBody>
      </p:sp>
      <p:pic>
        <p:nvPicPr>
          <p:cNvPr id="354" name="pasted-image.pdf"/>
          <p:cNvPicPr>
            <a:picLocks noChangeAspect="1"/>
          </p:cNvPicPr>
          <p:nvPr/>
        </p:nvPicPr>
        <p:blipFill>
          <a:blip r:embed="rId4">
            <a:extLst/>
          </a:blip>
          <a:stretch>
            <a:fillRect/>
          </a:stretch>
        </p:blipFill>
        <p:spPr>
          <a:xfrm>
            <a:off x="8021172" y="3403600"/>
            <a:ext cx="1905001" cy="436119"/>
          </a:xfrm>
          <a:prstGeom prst="rect">
            <a:avLst/>
          </a:prstGeom>
          <a:ln w="12700">
            <a:miter lim="400000"/>
          </a:ln>
        </p:spPr>
      </p:pic>
      <p:pic>
        <p:nvPicPr>
          <p:cNvPr id="355" name="pasted-image.pdf"/>
          <p:cNvPicPr>
            <a:picLocks noChangeAspect="1"/>
          </p:cNvPicPr>
          <p:nvPr/>
        </p:nvPicPr>
        <p:blipFill>
          <a:blip r:embed="rId5">
            <a:extLst/>
          </a:blip>
          <a:stretch>
            <a:fillRect/>
          </a:stretch>
        </p:blipFill>
        <p:spPr>
          <a:xfrm>
            <a:off x="8229425" y="5325490"/>
            <a:ext cx="1130301" cy="309119"/>
          </a:xfrm>
          <a:prstGeom prst="rect">
            <a:avLst/>
          </a:prstGeom>
          <a:ln w="12700">
            <a:miter lim="400000"/>
          </a:ln>
        </p:spPr>
      </p:pic>
      <p:pic>
        <p:nvPicPr>
          <p:cNvPr id="356" name="pasted-image.pdf"/>
          <p:cNvPicPr>
            <a:picLocks noChangeAspect="1"/>
          </p:cNvPicPr>
          <p:nvPr/>
        </p:nvPicPr>
        <p:blipFill>
          <a:blip r:embed="rId6">
            <a:extLst/>
          </a:blip>
          <a:stretch>
            <a:fillRect/>
          </a:stretch>
        </p:blipFill>
        <p:spPr>
          <a:xfrm>
            <a:off x="8292925" y="6297040"/>
            <a:ext cx="1003301" cy="309119"/>
          </a:xfrm>
          <a:prstGeom prst="rect">
            <a:avLst/>
          </a:prstGeom>
          <a:ln w="12700">
            <a:miter lim="400000"/>
          </a:ln>
        </p:spPr>
      </p:pic>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58" name="Shape 358"/>
          <p:cNvSpPr/>
          <p:nvPr>
            <p:ph type="title"/>
          </p:nvPr>
        </p:nvSpPr>
        <p:spPr>
          <a:prstGeom prst="rect">
            <a:avLst/>
          </a:prstGeom>
        </p:spPr>
        <p:txBody>
          <a:bodyPr/>
          <a:lstStyle/>
          <a:p>
            <a:pPr/>
            <a:r>
              <a:t>Radon Transform</a:t>
            </a:r>
          </a:p>
        </p:txBody>
      </p:sp>
      <p:pic>
        <p:nvPicPr>
          <p:cNvPr id="359" name="droppedImage.pdf"/>
          <p:cNvPicPr>
            <a:picLocks noChangeAspect="1"/>
          </p:cNvPicPr>
          <p:nvPr/>
        </p:nvPicPr>
        <p:blipFill>
          <a:blip r:embed="rId2">
            <a:extLst/>
          </a:blip>
          <a:stretch>
            <a:fillRect/>
          </a:stretch>
        </p:blipFill>
        <p:spPr>
          <a:xfrm>
            <a:off x="427327" y="2819400"/>
            <a:ext cx="6370292" cy="6223000"/>
          </a:xfrm>
          <a:prstGeom prst="rect">
            <a:avLst/>
          </a:prstGeom>
          <a:ln w="12700">
            <a:miter lim="400000"/>
          </a:ln>
        </p:spPr>
      </p:pic>
      <p:pic>
        <p:nvPicPr>
          <p:cNvPr id="360" name="droppedImage.pdf"/>
          <p:cNvPicPr>
            <a:picLocks noChangeAspect="1"/>
          </p:cNvPicPr>
          <p:nvPr/>
        </p:nvPicPr>
        <p:blipFill>
          <a:blip r:embed="rId3">
            <a:extLst/>
          </a:blip>
          <a:stretch>
            <a:fillRect/>
          </a:stretch>
        </p:blipFill>
        <p:spPr>
          <a:xfrm>
            <a:off x="965200" y="3636622"/>
            <a:ext cx="6710902" cy="461055"/>
          </a:xfrm>
          <a:prstGeom prst="rect">
            <a:avLst/>
          </a:prstGeom>
          <a:ln w="12700">
            <a:miter lim="400000"/>
          </a:ln>
        </p:spPr>
      </p:pic>
      <p:pic>
        <p:nvPicPr>
          <p:cNvPr id="361" name="droppedImage.pdf"/>
          <p:cNvPicPr>
            <a:picLocks noChangeAspect="1"/>
          </p:cNvPicPr>
          <p:nvPr/>
        </p:nvPicPr>
        <p:blipFill>
          <a:blip r:embed="rId3">
            <a:extLst/>
          </a:blip>
          <a:stretch>
            <a:fillRect/>
          </a:stretch>
        </p:blipFill>
        <p:spPr>
          <a:xfrm>
            <a:off x="965200" y="5639441"/>
            <a:ext cx="6710902" cy="461056"/>
          </a:xfrm>
          <a:prstGeom prst="rect">
            <a:avLst/>
          </a:prstGeom>
          <a:ln w="12700">
            <a:miter lim="400000"/>
          </a:ln>
        </p:spPr>
      </p:pic>
      <p:sp>
        <p:nvSpPr>
          <p:cNvPr id="362" name="Shape 362"/>
          <p:cNvSpPr/>
          <p:nvPr/>
        </p:nvSpPr>
        <p:spPr>
          <a:xfrm>
            <a:off x="-79369" y="5492750"/>
            <a:ext cx="1240483" cy="736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row i</a:t>
            </a:r>
          </a:p>
        </p:txBody>
      </p:sp>
      <p:pic>
        <p:nvPicPr>
          <p:cNvPr id="363" name="pasted-image.pdf"/>
          <p:cNvPicPr>
            <a:picLocks noChangeAspect="1"/>
          </p:cNvPicPr>
          <p:nvPr/>
        </p:nvPicPr>
        <p:blipFill>
          <a:blip r:embed="rId4">
            <a:extLst/>
          </a:blip>
          <a:stretch>
            <a:fillRect/>
          </a:stretch>
        </p:blipFill>
        <p:spPr>
          <a:xfrm>
            <a:off x="7593085" y="5235195"/>
            <a:ext cx="5245101" cy="3911601"/>
          </a:xfrm>
          <a:prstGeom prst="rect">
            <a:avLst/>
          </a:prstGeom>
          <a:ln w="12700">
            <a:miter lim="400000"/>
          </a:ln>
        </p:spPr>
      </p:pic>
      <p:sp>
        <p:nvSpPr>
          <p:cNvPr id="364" name="Shape 364"/>
          <p:cNvSpPr/>
          <p:nvPr/>
        </p:nvSpPr>
        <p:spPr>
          <a:xfrm>
            <a:off x="7367398" y="4208362"/>
            <a:ext cx="5043488"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spcBef>
                <a:spcPts val="2600"/>
              </a:spcBef>
              <a:defRPr sz="3600"/>
            </a:lvl1pPr>
          </a:lstStyle>
          <a:p>
            <a:pPr/>
            <a:r>
              <a:t>What we can measure:</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66" name="Shape 366"/>
          <p:cNvSpPr/>
          <p:nvPr>
            <p:ph type="title"/>
          </p:nvPr>
        </p:nvSpPr>
        <p:spPr>
          <a:prstGeom prst="rect">
            <a:avLst/>
          </a:prstGeom>
        </p:spPr>
        <p:txBody>
          <a:bodyPr/>
          <a:lstStyle/>
          <a:p>
            <a:pPr/>
            <a:r>
              <a:t>Shadows: Radon Transform</a:t>
            </a:r>
          </a:p>
        </p:txBody>
      </p:sp>
      <p:pic>
        <p:nvPicPr>
          <p:cNvPr id="367" name="droppedImage.pdf"/>
          <p:cNvPicPr>
            <a:picLocks noChangeAspect="1"/>
          </p:cNvPicPr>
          <p:nvPr/>
        </p:nvPicPr>
        <p:blipFill>
          <a:blip r:embed="rId2">
            <a:extLst/>
          </a:blip>
          <a:stretch>
            <a:fillRect/>
          </a:stretch>
        </p:blipFill>
        <p:spPr>
          <a:xfrm>
            <a:off x="1727200" y="3321050"/>
            <a:ext cx="9539362" cy="4610100"/>
          </a:xfrm>
          <a:prstGeom prst="rect">
            <a:avLst/>
          </a:prstGeom>
          <a:ln w="12700">
            <a:miter lim="400000"/>
          </a:ln>
        </p:spPr>
      </p:pic>
      <p:sp>
        <p:nvSpPr>
          <p:cNvPr id="368" name="Shape 368"/>
          <p:cNvSpPr/>
          <p:nvPr/>
        </p:nvSpPr>
        <p:spPr>
          <a:xfrm>
            <a:off x="8781510" y="2749550"/>
            <a:ext cx="3178325" cy="5080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Radon Transform </a:t>
            </a:r>
            <a:r>
              <a:rPr i="1"/>
              <a:t>R</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370" name="Screen Shot 2014-04-23 at 11.30.02 AM.pdf"/>
          <p:cNvPicPr>
            <a:picLocks noChangeAspect="1"/>
          </p:cNvPicPr>
          <p:nvPr/>
        </p:nvPicPr>
        <p:blipFill>
          <a:blip r:embed="rId2">
            <a:extLst/>
          </a:blip>
          <a:stretch>
            <a:fillRect/>
          </a:stretch>
        </p:blipFill>
        <p:spPr>
          <a:xfrm>
            <a:off x="263036" y="2110015"/>
            <a:ext cx="8071828" cy="7476670"/>
          </a:xfrm>
          <a:prstGeom prst="rect">
            <a:avLst/>
          </a:prstGeom>
          <a:ln w="12700">
            <a:miter lim="400000"/>
          </a:ln>
        </p:spPr>
      </p:pic>
      <p:sp>
        <p:nvSpPr>
          <p:cNvPr id="371" name="Shape 371"/>
          <p:cNvSpPr/>
          <p:nvPr>
            <p:ph type="title"/>
          </p:nvPr>
        </p:nvSpPr>
        <p:spPr>
          <a:prstGeom prst="rect">
            <a:avLst/>
          </a:prstGeom>
        </p:spPr>
        <p:txBody>
          <a:bodyPr/>
          <a:lstStyle/>
          <a:p>
            <a:pPr/>
            <a:r>
              <a:t>Radon Transform in Python</a:t>
            </a:r>
          </a:p>
        </p:txBody>
      </p:sp>
      <p:pic>
        <p:nvPicPr>
          <p:cNvPr id="372" name="rtrans1.pdf"/>
          <p:cNvPicPr>
            <a:picLocks noChangeAspect="1"/>
          </p:cNvPicPr>
          <p:nvPr/>
        </p:nvPicPr>
        <p:blipFill>
          <a:blip r:embed="rId3">
            <a:extLst/>
          </a:blip>
          <a:stretch>
            <a:fillRect/>
          </a:stretch>
        </p:blipFill>
        <p:spPr>
          <a:xfrm>
            <a:off x="8432800" y="2105958"/>
            <a:ext cx="4013200" cy="7495242"/>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74" name="Shape 374"/>
          <p:cNvSpPr/>
          <p:nvPr>
            <p:ph type="title"/>
          </p:nvPr>
        </p:nvSpPr>
        <p:spPr>
          <a:prstGeom prst="rect">
            <a:avLst/>
          </a:prstGeom>
        </p:spPr>
        <p:txBody>
          <a:bodyPr/>
          <a:lstStyle/>
          <a:p>
            <a:pPr/>
            <a:r>
              <a:t>A Second View: Radon Transform</a:t>
            </a:r>
          </a:p>
        </p:txBody>
      </p:sp>
      <p:sp>
        <p:nvSpPr>
          <p:cNvPr id="375" name="Shape 375"/>
          <p:cNvSpPr/>
          <p:nvPr/>
        </p:nvSpPr>
        <p:spPr>
          <a:xfrm>
            <a:off x="9772110" y="3943350"/>
            <a:ext cx="3178325" cy="5080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Radon Transform </a:t>
            </a:r>
            <a:r>
              <a:rPr i="1"/>
              <a:t>R</a:t>
            </a:r>
          </a:p>
        </p:txBody>
      </p:sp>
      <p:pic>
        <p:nvPicPr>
          <p:cNvPr id="376" name="droppedImage.pdf"/>
          <p:cNvPicPr>
            <a:picLocks noChangeAspect="1"/>
          </p:cNvPicPr>
          <p:nvPr/>
        </p:nvPicPr>
        <p:blipFill>
          <a:blip r:embed="rId2">
            <a:extLst/>
          </a:blip>
          <a:stretch>
            <a:fillRect/>
          </a:stretch>
        </p:blipFill>
        <p:spPr>
          <a:xfrm>
            <a:off x="1952091" y="1996905"/>
            <a:ext cx="8661401" cy="8264695"/>
          </a:xfrm>
          <a:prstGeom prst="rect">
            <a:avLst/>
          </a:prstGeom>
          <a:ln w="12700">
            <a:miter lim="400000"/>
          </a:ln>
        </p:spPr>
      </p:pic>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78" name="Shape 378"/>
          <p:cNvSpPr/>
          <p:nvPr>
            <p:ph type="title"/>
          </p:nvPr>
        </p:nvSpPr>
        <p:spPr>
          <a:prstGeom prst="rect">
            <a:avLst/>
          </a:prstGeom>
        </p:spPr>
        <p:txBody>
          <a:bodyPr/>
          <a:lstStyle/>
          <a:p>
            <a:pPr/>
            <a:r>
              <a:t>A Second View in Python</a:t>
            </a:r>
          </a:p>
        </p:txBody>
      </p:sp>
      <p:sp>
        <p:nvSpPr>
          <p:cNvPr id="379" name="Shape 379"/>
          <p:cNvSpPr/>
          <p:nvPr/>
        </p:nvSpPr>
        <p:spPr>
          <a:xfrm>
            <a:off x="7587710" y="2432050"/>
            <a:ext cx="3178325" cy="5080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Radon Transform </a:t>
            </a:r>
            <a:r>
              <a:rPr i="1"/>
              <a:t>R</a:t>
            </a:r>
          </a:p>
        </p:txBody>
      </p:sp>
      <p:sp>
        <p:nvSpPr>
          <p:cNvPr id="380" name="Shape 380"/>
          <p:cNvSpPr/>
          <p:nvPr/>
        </p:nvSpPr>
        <p:spPr>
          <a:xfrm>
            <a:off x="3482807" y="2438400"/>
            <a:ext cx="1068624" cy="5080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image</a:t>
            </a:r>
          </a:p>
        </p:txBody>
      </p:sp>
      <p:sp>
        <p:nvSpPr>
          <p:cNvPr id="381" name="Shape 381"/>
          <p:cNvSpPr/>
          <p:nvPr/>
        </p:nvSpPr>
        <p:spPr>
          <a:xfrm>
            <a:off x="1250950" y="8535035"/>
            <a:ext cx="10502900" cy="8496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Computing the Radon transform from an image is a “forward problem”.</a:t>
            </a:r>
          </a:p>
        </p:txBody>
      </p:sp>
      <p:pic>
        <p:nvPicPr>
          <p:cNvPr id="382" name="rtrans2.pdf"/>
          <p:cNvPicPr>
            <a:picLocks noChangeAspect="1"/>
          </p:cNvPicPr>
          <p:nvPr/>
        </p:nvPicPr>
        <p:blipFill>
          <a:blip r:embed="rId2">
            <a:extLst/>
          </a:blip>
          <a:stretch>
            <a:fillRect/>
          </a:stretch>
        </p:blipFill>
        <p:spPr>
          <a:xfrm>
            <a:off x="1460500" y="2913672"/>
            <a:ext cx="10096500" cy="4954956"/>
          </a:xfrm>
          <a:prstGeom prst="rect">
            <a:avLst/>
          </a:prstGeom>
          <a:ln w="12700">
            <a:miter lim="400000"/>
          </a:ln>
        </p:spPr>
      </p:pic>
      <p:pic>
        <p:nvPicPr>
          <p:cNvPr id="383" name="Screen Shot 2014-04-23 at 11.34.11 AM.pdf"/>
          <p:cNvPicPr>
            <a:picLocks noChangeAspect="1"/>
          </p:cNvPicPr>
          <p:nvPr/>
        </p:nvPicPr>
        <p:blipFill>
          <a:blip r:embed="rId3">
            <a:extLst/>
          </a:blip>
          <a:stretch>
            <a:fillRect/>
          </a:stretch>
        </p:blipFill>
        <p:spPr>
          <a:xfrm>
            <a:off x="6781800" y="7899400"/>
            <a:ext cx="4800600" cy="330200"/>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85" name="Shape 385"/>
          <p:cNvSpPr/>
          <p:nvPr>
            <p:ph type="title"/>
          </p:nvPr>
        </p:nvSpPr>
        <p:spPr>
          <a:prstGeom prst="rect">
            <a:avLst/>
          </a:prstGeom>
        </p:spPr>
        <p:txBody>
          <a:bodyPr/>
          <a:lstStyle/>
          <a:p>
            <a:pPr/>
            <a:r>
              <a:t>CAT or CT scans!</a:t>
            </a:r>
          </a:p>
        </p:txBody>
      </p:sp>
      <p:pic>
        <p:nvPicPr>
          <p:cNvPr id="386" name="droppedImage.pdf"/>
          <p:cNvPicPr>
            <a:picLocks noChangeAspect="1"/>
          </p:cNvPicPr>
          <p:nvPr/>
        </p:nvPicPr>
        <p:blipFill>
          <a:blip r:embed="rId2">
            <a:extLst/>
          </a:blip>
          <a:stretch>
            <a:fillRect/>
          </a:stretch>
        </p:blipFill>
        <p:spPr>
          <a:xfrm>
            <a:off x="4135899" y="2209800"/>
            <a:ext cx="4720302" cy="4737100"/>
          </a:xfrm>
          <a:prstGeom prst="rect">
            <a:avLst/>
          </a:prstGeom>
          <a:ln w="12700">
            <a:miter lim="400000"/>
          </a:ln>
        </p:spPr>
      </p:pic>
      <p:sp>
        <p:nvSpPr>
          <p:cNvPr id="387" name="Shape 387"/>
          <p:cNvSpPr/>
          <p:nvPr/>
        </p:nvSpPr>
        <p:spPr>
          <a:xfrm>
            <a:off x="1245722" y="7296150"/>
            <a:ext cx="10502901" cy="1371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spcBef>
                <a:spcPts val="2600"/>
              </a:spcBef>
              <a:defRPr sz="3600"/>
            </a:pPr>
            <a:r>
              <a:t>Given </a:t>
            </a:r>
            <a:r>
              <a:rPr i="1"/>
              <a:t>only</a:t>
            </a:r>
            <a:r>
              <a:t> this guy’s Radon transform, can we reconstruct this image?</a:t>
            </a:r>
          </a:p>
        </p:txBody>
      </p:sp>
      <p:sp>
        <p:nvSpPr>
          <p:cNvPr id="388" name="Shape 388"/>
          <p:cNvSpPr/>
          <p:nvPr/>
        </p:nvSpPr>
        <p:spPr>
          <a:xfrm>
            <a:off x="1245722" y="8667749"/>
            <a:ext cx="10502901" cy="73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spcBef>
                <a:spcPts val="2600"/>
              </a:spcBef>
              <a:defRPr sz="3600"/>
            </a:lvl1pPr>
          </a:lstStyle>
          <a:p>
            <a:pPr/>
            <a:r>
              <a:t>This is an “inverse problem”</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90" name="Shape 390"/>
          <p:cNvSpPr/>
          <p:nvPr>
            <p:ph type="title"/>
          </p:nvPr>
        </p:nvSpPr>
        <p:spPr>
          <a:prstGeom prst="rect">
            <a:avLst/>
          </a:prstGeom>
        </p:spPr>
        <p:txBody>
          <a:bodyPr/>
          <a:lstStyle/>
          <a:p>
            <a:pPr/>
            <a:r>
              <a:t>The Inverse Radon Transform</a:t>
            </a:r>
          </a:p>
        </p:txBody>
      </p:sp>
      <p:sp>
        <p:nvSpPr>
          <p:cNvPr id="391" name="Shape 391"/>
          <p:cNvSpPr/>
          <p:nvPr/>
        </p:nvSpPr>
        <p:spPr>
          <a:xfrm>
            <a:off x="521822" y="2438400"/>
            <a:ext cx="7137401" cy="1968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spcBef>
                <a:spcPts val="2600"/>
              </a:spcBef>
              <a:defRPr sz="3600"/>
            </a:lvl1pPr>
          </a:lstStyle>
          <a:p>
            <a:pPr/>
            <a:r>
              <a:t>By inverting the transforms from different angles we try to reconstruct the original.</a:t>
            </a:r>
          </a:p>
        </p:txBody>
      </p:sp>
      <p:pic>
        <p:nvPicPr>
          <p:cNvPr id="392" name="Screen Shot 2014-04-23 at 11.35.07 AM.pdf"/>
          <p:cNvPicPr>
            <a:picLocks noChangeAspect="1"/>
          </p:cNvPicPr>
          <p:nvPr/>
        </p:nvPicPr>
        <p:blipFill>
          <a:blip r:embed="rId2">
            <a:extLst/>
          </a:blip>
          <a:stretch>
            <a:fillRect/>
          </a:stretch>
        </p:blipFill>
        <p:spPr>
          <a:xfrm>
            <a:off x="520700" y="5080000"/>
            <a:ext cx="6642100" cy="3924300"/>
          </a:xfrm>
          <a:prstGeom prst="rect">
            <a:avLst/>
          </a:prstGeom>
          <a:ln w="12700">
            <a:miter lim="400000"/>
          </a:ln>
        </p:spPr>
      </p:pic>
      <p:pic>
        <p:nvPicPr>
          <p:cNvPr id="393" name="rtrans3.pdf"/>
          <p:cNvPicPr>
            <a:picLocks noChangeAspect="1"/>
          </p:cNvPicPr>
          <p:nvPr/>
        </p:nvPicPr>
        <p:blipFill>
          <a:blip r:embed="rId3">
            <a:extLst/>
          </a:blip>
          <a:stretch>
            <a:fillRect/>
          </a:stretch>
        </p:blipFill>
        <p:spPr>
          <a:xfrm>
            <a:off x="8249267" y="2044700"/>
            <a:ext cx="3787334" cy="7594600"/>
          </a:xfrm>
          <a:prstGeom prst="rect">
            <a:avLst/>
          </a:prstGeom>
          <a:ln w="12700">
            <a:miter lim="400000"/>
          </a:ln>
        </p:spPr>
      </p:pic>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95" name="Shape 395"/>
          <p:cNvSpPr/>
          <p:nvPr>
            <p:ph type="title"/>
          </p:nvPr>
        </p:nvSpPr>
        <p:spPr>
          <a:prstGeom prst="rect">
            <a:avLst/>
          </a:prstGeom>
        </p:spPr>
        <p:txBody>
          <a:bodyPr/>
          <a:lstStyle/>
          <a:p>
            <a:pPr/>
            <a:r>
              <a:t>CAT or CT scans!</a:t>
            </a:r>
          </a:p>
        </p:txBody>
      </p:sp>
      <p:sp>
        <p:nvSpPr>
          <p:cNvPr id="396" name="Shape 396"/>
          <p:cNvSpPr/>
          <p:nvPr/>
        </p:nvSpPr>
        <p:spPr>
          <a:xfrm>
            <a:off x="3924622" y="8123555"/>
            <a:ext cx="5145101" cy="11391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spcBef>
                <a:spcPts val="2600"/>
              </a:spcBef>
              <a:defRPr sz="3600"/>
            </a:lvl1pPr>
          </a:lstStyle>
          <a:p>
            <a:pPr/>
            <a:r>
              <a:t>we can diagnose a stroke</a:t>
            </a:r>
          </a:p>
        </p:txBody>
      </p:sp>
      <p:pic>
        <p:nvPicPr>
          <p:cNvPr id="397" name="droppedImage.pdf"/>
          <p:cNvPicPr>
            <a:picLocks noChangeAspect="1"/>
          </p:cNvPicPr>
          <p:nvPr/>
        </p:nvPicPr>
        <p:blipFill>
          <a:blip r:embed="rId2">
            <a:extLst/>
          </a:blip>
          <a:stretch>
            <a:fillRect/>
          </a:stretch>
        </p:blipFill>
        <p:spPr>
          <a:xfrm>
            <a:off x="3600450" y="3339422"/>
            <a:ext cx="5778500" cy="4699848"/>
          </a:xfrm>
          <a:prstGeom prst="rect">
            <a:avLst/>
          </a:prstGeom>
          <a:ln w="12700">
            <a:miter lim="400000"/>
          </a:ln>
        </p:spPr>
      </p:pic>
      <p:sp>
        <p:nvSpPr>
          <p:cNvPr id="398" name="Shape 398"/>
          <p:cNvSpPr/>
          <p:nvPr/>
        </p:nvSpPr>
        <p:spPr>
          <a:xfrm>
            <a:off x="2862882" y="2368549"/>
            <a:ext cx="727903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spcBef>
                <a:spcPts val="2600"/>
              </a:spcBef>
              <a:defRPr sz="3600"/>
            </a:lvl1pPr>
          </a:lstStyle>
          <a:p>
            <a:pPr/>
            <a:r>
              <a:t>By solving the inverse problem...</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00" name="Shape 400"/>
          <p:cNvSpPr/>
          <p:nvPr>
            <p:ph type="title"/>
          </p:nvPr>
        </p:nvSpPr>
        <p:spPr>
          <a:prstGeom prst="rect">
            <a:avLst/>
          </a:prstGeom>
        </p:spPr>
        <p:txBody>
          <a:bodyPr/>
          <a:lstStyle/>
          <a:p>
            <a:pPr/>
            <a:r>
              <a:t>CAT or CT scans!</a:t>
            </a:r>
          </a:p>
        </p:txBody>
      </p:sp>
      <p:sp>
        <p:nvSpPr>
          <p:cNvPr id="401" name="Shape 401"/>
          <p:cNvSpPr/>
          <p:nvPr/>
        </p:nvSpPr>
        <p:spPr>
          <a:xfrm>
            <a:off x="3915009" y="8123555"/>
            <a:ext cx="5164326" cy="11391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spcBef>
                <a:spcPts val="2600"/>
              </a:spcBef>
              <a:defRPr sz="3600"/>
            </a:lvl1pPr>
          </a:lstStyle>
          <a:p>
            <a:pPr/>
            <a:r>
              <a:t>we can diagnose a cancer</a:t>
            </a:r>
          </a:p>
        </p:txBody>
      </p:sp>
      <p:pic>
        <p:nvPicPr>
          <p:cNvPr id="402" name="droppedImage.pdf"/>
          <p:cNvPicPr>
            <a:picLocks noChangeAspect="1"/>
          </p:cNvPicPr>
          <p:nvPr/>
        </p:nvPicPr>
        <p:blipFill>
          <a:blip r:embed="rId2">
            <a:extLst/>
          </a:blip>
          <a:stretch>
            <a:fillRect/>
          </a:stretch>
        </p:blipFill>
        <p:spPr>
          <a:xfrm>
            <a:off x="3048000" y="3517900"/>
            <a:ext cx="6908800" cy="4433147"/>
          </a:xfrm>
          <a:prstGeom prst="rect">
            <a:avLst/>
          </a:prstGeom>
          <a:ln w="12700">
            <a:miter lim="400000"/>
          </a:ln>
        </p:spPr>
      </p:pic>
      <p:sp>
        <p:nvSpPr>
          <p:cNvPr id="403" name="Shape 403"/>
          <p:cNvSpPr/>
          <p:nvPr/>
        </p:nvSpPr>
        <p:spPr>
          <a:xfrm>
            <a:off x="2862882" y="2368549"/>
            <a:ext cx="727903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spcBef>
                <a:spcPts val="2600"/>
              </a:spcBef>
              <a:defRPr sz="3600"/>
            </a:lvl1pPr>
          </a:lstStyle>
          <a:p>
            <a:pPr/>
            <a:r>
              <a:t>By solving the inverse problem...</a:t>
            </a:r>
          </a:p>
        </p:txBody>
      </p:sp>
    </p:spTree>
  </p:cSld>
  <p:clrMapOvr>
    <a:masterClrMapping/>
  </p:clrMapOvr>
  <p:transition xmlns:p14="http://schemas.microsoft.com/office/powerpoint/2010/main" spd="med" advClick="1"/>
</p:sld>
</file>

<file path=ppt/theme/_rels/theme1.xml.rels><?xml version="1.0" encoding="UTF-8" standalone="yes"?><Relationships xmlns="http://schemas.openxmlformats.org/package/2006/relationships"><Relationship Id="rId1" Type="http://schemas.openxmlformats.org/officeDocument/2006/relationships/image" Target="../media/image1.png"/></Relationships>

</file>

<file path=ppt/theme/_rels/theme2.xml.rels><?xml version="1.0" encoding="UTF-8" standalone="yes"?><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90000"/>
          </a:lnSpc>
          <a:spcBef>
            <a:spcPts val="0"/>
          </a:spcBef>
          <a:spcAft>
            <a:spcPts val="0"/>
          </a:spcAft>
          <a:buClrTx/>
          <a:buSzTx/>
          <a:buFontTx/>
          <a:buNone/>
          <a:tabLst/>
          <a:defRPr b="1" baseline="0" cap="none" i="0" spc="0" strike="noStrike" sz="26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