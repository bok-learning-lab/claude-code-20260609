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tif" ContentType="image/tif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98" r:id="rId6"/>
    <p:sldId id="260" r:id="rId7"/>
    <p:sldId id="268" r:id="rId8"/>
    <p:sldId id="269" r:id="rId9"/>
    <p:sldId id="270" r:id="rId10"/>
    <p:sldId id="271" r:id="rId11"/>
    <p:sldId id="272" r:id="rId12"/>
    <p:sldId id="292" r:id="rId13"/>
    <p:sldId id="274" r:id="rId14"/>
    <p:sldId id="273" r:id="rId15"/>
    <p:sldId id="276" r:id="rId16"/>
    <p:sldId id="278" r:id="rId17"/>
    <p:sldId id="279" r:id="rId18"/>
    <p:sldId id="280" r:id="rId19"/>
    <p:sldId id="275" r:id="rId20"/>
    <p:sldId id="294" r:id="rId21"/>
    <p:sldId id="288" r:id="rId22"/>
    <p:sldId id="289" r:id="rId23"/>
    <p:sldId id="296" r:id="rId24"/>
    <p:sldId id="299" r:id="rId25"/>
    <p:sldId id="295" r:id="rId26"/>
    <p:sldId id="290" r:id="rId27"/>
    <p:sldId id="297" r:id="rId28"/>
    <p:sldId id="281" r:id="rId29"/>
    <p:sldId id="282" r:id="rId30"/>
    <p:sldId id="283" r:id="rId31"/>
    <p:sldId id="284" r:id="rId32"/>
    <p:sldId id="300" r:id="rId33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228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457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685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9144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11430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13716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16002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1828800" algn="ctr" defTabSz="5842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kumimoji="0" sz="26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/>
    <p:restoredTop sz="92408"/>
  </p:normalViewPr>
  <p:slideViewPr>
    <p:cSldViewPr snapToGrid="0" snapToObjects="1">
      <p:cViewPr varScale="1">
        <p:scale>
          <a:sx n="36" d="100"/>
          <a:sy n="36" d="100"/>
        </p:scale>
        <p:origin x="240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1407297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1pPr>
    <a:lvl2pPr indent="228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2pPr>
    <a:lvl3pPr indent="457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3pPr>
    <a:lvl4pPr indent="685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4pPr>
    <a:lvl5pPr indent="9144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5pPr>
    <a:lvl6pPr indent="11430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6pPr>
    <a:lvl7pPr indent="13716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7pPr>
    <a:lvl8pPr indent="16002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8pPr>
    <a:lvl9pPr indent="1828800" defTabSz="457200" latinLnBrk="0">
      <a:lnSpc>
        <a:spcPct val="125000"/>
      </a:lnSpc>
      <a:defRPr sz="2400">
        <a:latin typeface="Avenir Roman"/>
        <a:ea typeface="Avenir Roman"/>
        <a:cs typeface="Avenir Roman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(or some aspect of the equation)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71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462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Data informed</a:t>
            </a:r>
            <a:r>
              <a:rPr lang="en-US" baseline="0" dirty="0" smtClean="0"/>
              <a:t> this </a:t>
            </a:r>
            <a:r>
              <a:rPr lang="mr-IN" baseline="0" dirty="0" smtClean="0"/>
              <a:t>…</a:t>
            </a:r>
            <a:r>
              <a:rPr lang="en-US" dirty="0" smtClean="0"/>
              <a:t> by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00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9" name="Shape 2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defRPr sz="1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St Paul’s (1932-1938), Cambridge (1938-1847), Paris (1947-1951), King’s (1951-1953), Birkbeck (1953-1958)</a:t>
            </a:r>
          </a:p>
        </p:txBody>
      </p:sp>
    </p:spTree>
    <p:extLst>
      <p:ext uri="{BB962C8B-B14F-4D97-AF65-F5344CB8AC3E}">
        <p14:creationId xmlns:p14="http://schemas.microsoft.com/office/powerpoint/2010/main" val="783288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</a:t>
            </a:r>
            <a:r>
              <a:rPr lang="en-US" baseline="0" dirty="0" smtClean="0"/>
              <a:t> ray diffraction pattern of b-</a:t>
            </a:r>
            <a:r>
              <a:rPr lang="en-US" baseline="0" dirty="0" err="1" smtClean="0"/>
              <a:t>dna</a:t>
            </a:r>
            <a:r>
              <a:rPr lang="en-US" baseline="0" dirty="0" smtClean="0"/>
              <a:t> labelled by franklin as photo 51.  diameter of largest circle is 94mm.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381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X</a:t>
            </a:r>
            <a:r>
              <a:rPr lang="en-US" baseline="0" dirty="0" smtClean="0"/>
              <a:t> ray diffraction pattern of b-</a:t>
            </a:r>
            <a:r>
              <a:rPr lang="en-US" baseline="0" dirty="0" err="1" smtClean="0"/>
              <a:t>dna</a:t>
            </a:r>
            <a:r>
              <a:rPr lang="en-US" baseline="0" dirty="0" smtClean="0"/>
              <a:t> labelled by franklin as photo 51.  diameter of largest circle is 94mm.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11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defTabSz="4572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To construct second helix, add a displacement of </a:t>
            </a:r>
            <a:r>
              <a:rPr lang="en-US" b="0" dirty="0" smtClean="0"/>
              <a:t>3</a:t>
            </a:r>
            <a:r>
              <a:rPr lang="en-US" b="0" i="1" dirty="0" smtClean="0"/>
              <a:t>P</a:t>
            </a:r>
            <a:r>
              <a:rPr lang="en-US" b="0" dirty="0" smtClean="0"/>
              <a:t>/8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505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Shape 21"/>
          <p:cNvSpPr>
            <a:spLocks noGrp="1"/>
          </p:cNvSpPr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Shape 22"/>
          <p:cNvSpPr>
            <a:spLocks noGrp="1"/>
          </p:cNvSpPr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1pPr>
            <a:lvl2pPr marL="0" indent="2286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2pPr>
            <a:lvl3pPr marL="0" indent="4572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3pPr>
            <a:lvl4pPr marL="0" indent="6858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4pPr>
            <a:lvl5pPr marL="0" indent="914400" algn="ctr">
              <a:lnSpc>
                <a:spcPct val="100000"/>
              </a:lnSpc>
              <a:spcBef>
                <a:spcPts val="0"/>
              </a:spcBef>
              <a:buSzTx/>
              <a:buNone/>
              <a:defRPr sz="3200" b="0"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>
            <a:spLocks noGrp="1"/>
          </p:cNvSpPr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body" sz="half" idx="13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SzTx/>
              <a:buNone/>
              <a:defRPr sz="6400">
                <a:solidFill>
                  <a:schemeClr val="accent1">
                    <a:hueOff val="47394"/>
                    <a:satOff val="-25753"/>
                    <a:lumOff val="-7544"/>
                  </a:schemeClr>
                </a:solidFill>
                <a:effectLst>
                  <a:outerShdw blurRad="88900" dist="38100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Title Text</a:t>
            </a:r>
          </a:p>
        </p:txBody>
      </p:sp>
      <p:sp>
        <p:nvSpPr>
          <p:cNvPr id="39" name="Shape 3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/>
          </p:cNvSpPr>
          <p:nvPr>
            <p:ph type="title"/>
          </p:nvPr>
        </p:nvSpPr>
        <p:spPr>
          <a:xfrm>
            <a:off x="437232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Shape 4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hape 4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/>
          <a:lstStyle>
            <a:lvl1pPr defTabSz="914400">
              <a:defRPr sz="62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71487" indent="-471487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1pPr>
            <a:lvl2pPr marL="906235" indent="-449035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2pPr>
            <a:lvl3pPr indent="-41910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3pPr>
            <a:lvl4pPr marL="18745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4pPr>
            <a:lvl5pPr marL="23317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»"/>
              <a:defRPr sz="4400" b="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9144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4572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87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4572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>
            <a:spLocks noGrp="1"/>
          </p:cNvSpPr>
          <p:nvPr>
            <p:ph type="title"/>
          </p:nvPr>
        </p:nvSpPr>
        <p:spPr>
          <a:xfrm>
            <a:off x="650239" y="130952"/>
            <a:ext cx="11704322" cy="2144888"/>
          </a:xfrm>
          <a:prstGeom prst="rect">
            <a:avLst/>
          </a:prstGeom>
        </p:spPr>
        <p:txBody>
          <a:bodyPr lIns="65023" tIns="65023" rIns="65023" bIns="65023"/>
          <a:lstStyle>
            <a:lvl1pPr defTabSz="914400">
              <a:defRPr sz="62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>
              <a:defRPr>
                <a:effectLst/>
              </a:defRPr>
            </a:pPr>
            <a:r>
              <a:t>Title Text</a:t>
            </a:r>
          </a:p>
        </p:txBody>
      </p:sp>
      <p:sp>
        <p:nvSpPr>
          <p:cNvPr id="95" name="Shape 95"/>
          <p:cNvSpPr>
            <a:spLocks noGrp="1"/>
          </p:cNvSpPr>
          <p:nvPr>
            <p:ph type="body" idx="1"/>
          </p:nvPr>
        </p:nvSpPr>
        <p:spPr>
          <a:xfrm>
            <a:off x="650239" y="2275839"/>
            <a:ext cx="11704322" cy="7477761"/>
          </a:xfrm>
          <a:prstGeom prst="rect">
            <a:avLst/>
          </a:prstGeom>
        </p:spPr>
        <p:txBody>
          <a:bodyPr lIns="65023" tIns="65023" rIns="65023" bIns="65023" anchor="t"/>
          <a:lstStyle>
            <a:lvl1pPr marL="471487" indent="-471487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1pPr>
            <a:lvl2pPr marL="906235" indent="-449035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2pPr>
            <a:lvl3pPr indent="-41910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defRPr sz="4400" b="0">
                <a:latin typeface="Calibri"/>
                <a:ea typeface="Calibri"/>
                <a:cs typeface="Calibri"/>
                <a:sym typeface="Calibri"/>
              </a:defRPr>
            </a:lvl3pPr>
            <a:lvl4pPr marL="18745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–"/>
              <a:defRPr sz="4400" b="0">
                <a:latin typeface="Calibri"/>
                <a:ea typeface="Calibri"/>
                <a:cs typeface="Calibri"/>
                <a:sym typeface="Calibri"/>
              </a:defRPr>
            </a:lvl4pPr>
            <a:lvl5pPr marL="2331720" indent="-502920" defTabSz="914400">
              <a:lnSpc>
                <a:spcPct val="100000"/>
              </a:lnSpc>
              <a:spcBef>
                <a:spcPts val="700"/>
              </a:spcBef>
              <a:buSzPct val="100000"/>
              <a:buFont typeface="Arial"/>
              <a:buChar char="»"/>
              <a:defRPr sz="4400" b="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" name="Shape 96"/>
          <p:cNvSpPr>
            <a:spLocks noGrp="1"/>
          </p:cNvSpPr>
          <p:nvPr>
            <p:ph type="sldNum" sz="quarter" idx="2"/>
          </p:nvPr>
        </p:nvSpPr>
        <p:spPr>
          <a:xfrm>
            <a:off x="9320107" y="9114112"/>
            <a:ext cx="3034454" cy="371349"/>
          </a:xfrm>
          <a:prstGeom prst="rect">
            <a:avLst/>
          </a:prstGeom>
        </p:spPr>
        <p:txBody>
          <a:bodyPr wrap="square" lIns="65023" tIns="65023" rIns="65023" bIns="65023" anchor="ctr">
            <a:spAutoFit/>
          </a:bodyPr>
          <a:lstStyle>
            <a:lvl1pPr algn="r" defTabSz="914400">
              <a:defRPr sz="16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normAutofit/>
          </a:bodyPr>
          <a:lstStyle>
            <a:lvl1pPr>
              <a:lnSpc>
                <a:spcPct val="100000"/>
              </a:lnSpc>
              <a:defRPr sz="1800" b="0">
                <a:latin typeface="+mn-lt"/>
                <a:ea typeface="+mn-ea"/>
                <a:cs typeface="+mn-cs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1" i="0" u="none" strike="noStrike" cap="none" spc="0" baseline="0">
          <a:ln>
            <a:noFill/>
          </a:ln>
          <a:solidFill>
            <a:schemeClr val="accent1">
              <a:hueOff val="47394"/>
              <a:satOff val="-25753"/>
              <a:lumOff val="-7544"/>
            </a:schemeClr>
          </a:solidFill>
          <a:effectLst>
            <a:outerShdw blurRad="88900" dist="38100" dir="2700000" rotWithShape="0">
              <a:srgbClr val="000000">
                <a:alpha val="30000"/>
              </a:srgbClr>
            </a:outerShdw>
          </a:effectLst>
          <a:uFillTx/>
          <a:latin typeface="+mj-lt"/>
          <a:ea typeface="+mj-ea"/>
          <a:cs typeface="+mj-cs"/>
          <a:sym typeface="Helvetica"/>
        </a:defRPr>
      </a:lvl9pPr>
    </p:titleStyle>
    <p:bodyStyle>
      <a:lvl1pPr marL="444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1pPr>
      <a:lvl2pPr marL="889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2pPr>
      <a:lvl3pPr marL="1333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3pPr>
      <a:lvl4pPr marL="1778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4pPr>
      <a:lvl5pPr marL="2222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5pPr>
      <a:lvl6pPr marL="2667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6pPr>
      <a:lvl7pPr marL="3111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7pPr>
      <a:lvl8pPr marL="35560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8pPr>
      <a:lvl9pPr marL="4000500" marR="0" indent="-444500" algn="l" defTabSz="584200" rtl="0" latinLnBrk="0">
        <a:lnSpc>
          <a:spcPct val="90000"/>
        </a:lnSpc>
        <a:spcBef>
          <a:spcPts val="2600"/>
        </a:spcBef>
        <a:spcAft>
          <a:spcPts val="0"/>
        </a:spcAft>
        <a:buClrTx/>
        <a:buSzPct val="75000"/>
        <a:buFontTx/>
        <a:buChar char="•"/>
        <a:tabLst/>
        <a:defRPr sz="3600" b="1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emf"/><Relationship Id="rId3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4" Type="http://schemas.openxmlformats.org/officeDocument/2006/relationships/image" Target="../media/image13.jpeg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jpe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jpeg"/><Relationship Id="rId6" Type="http://schemas.openxmlformats.org/officeDocument/2006/relationships/image" Target="../media/image22.gif"/><Relationship Id="rId7" Type="http://schemas.openxmlformats.org/officeDocument/2006/relationships/image" Target="../media/image23.jpe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6.ti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ti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.emf"/><Relationship Id="rId3" Type="http://schemas.openxmlformats.org/officeDocument/2006/relationships/image" Target="../media/image38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ti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tif"/><Relationship Id="rId3" Type="http://schemas.openxmlformats.org/officeDocument/2006/relationships/image" Target="../media/image15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36.ti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.png"/><Relationship Id="rId3" Type="http://schemas.openxmlformats.org/officeDocument/2006/relationships/image" Target="../media/image36.ti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46.emf"/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Lecture 7: Inverse problems and the story of DNA</a:t>
            </a:r>
          </a:p>
        </p:txBody>
      </p:sp>
      <p:sp>
        <p:nvSpPr>
          <p:cNvPr id="106" name="Shape 106"/>
          <p:cNvSpPr>
            <a:spLocks noGrp="1"/>
          </p:cNvSpPr>
          <p:nvPr>
            <p:ph type="body" idx="1"/>
          </p:nvPr>
        </p:nvSpPr>
        <p:spPr>
          <a:xfrm>
            <a:off x="952500" y="3000829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0" indent="0">
              <a:buNone/>
              <a:defRPr sz="3900"/>
            </a:pPr>
            <a:r>
              <a:rPr dirty="0"/>
              <a:t>Today’s </a:t>
            </a:r>
            <a:r>
              <a:rPr dirty="0" smtClean="0"/>
              <a:t>plan</a:t>
            </a:r>
            <a:endParaRPr lang="en-US" dirty="0" smtClean="0"/>
          </a:p>
          <a:p>
            <a:pPr marL="444499" indent="-444499"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dirty="0" smtClean="0"/>
              <a:t>An </a:t>
            </a:r>
            <a:r>
              <a:rPr dirty="0"/>
              <a:t>overview of inverse </a:t>
            </a:r>
            <a:r>
              <a:rPr dirty="0" smtClean="0"/>
              <a:t>problem</a:t>
            </a:r>
            <a:endParaRPr lang="en-US" dirty="0" smtClean="0"/>
          </a:p>
          <a:p>
            <a:pPr marL="0" indent="0">
              <a:buNone/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dirty="0" smtClean="0"/>
              <a:t>The </a:t>
            </a:r>
            <a:r>
              <a:rPr dirty="0"/>
              <a:t>story of the discovery of </a:t>
            </a:r>
            <a:r>
              <a:rPr dirty="0" smtClean="0"/>
              <a:t>DNA</a:t>
            </a:r>
            <a:endParaRPr lang="en-US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an inverse problem?</a:t>
            </a:r>
          </a:p>
        </p:txBody>
      </p:sp>
      <p:sp>
        <p:nvSpPr>
          <p:cNvPr id="109" name="Shape 109"/>
          <p:cNvSpPr/>
          <p:nvPr/>
        </p:nvSpPr>
        <p:spPr>
          <a:xfrm>
            <a:off x="324348" y="2375535"/>
            <a:ext cx="12356105" cy="10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3400"/>
            </a:lvl1pPr>
          </a:lstStyle>
          <a:p>
            <a:r>
              <a:t>Usually in mathematics classes we ask you to find a solution to an equation</a:t>
            </a:r>
          </a:p>
        </p:txBody>
      </p:sp>
      <p:sp>
        <p:nvSpPr>
          <p:cNvPr id="114" name="Shape 114"/>
          <p:cNvSpPr/>
          <p:nvPr/>
        </p:nvSpPr>
        <p:spPr>
          <a:xfrm>
            <a:off x="324348" y="7140327"/>
            <a:ext cx="12356105" cy="21785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1500"/>
              </a:spcBef>
              <a:defRPr sz="3400"/>
            </a:pPr>
            <a:r>
              <a:rPr dirty="0"/>
              <a:t>For an inverse problem, we give you the solution to an equation and ask you to find the equation </a:t>
            </a:r>
            <a:endParaRPr lang="en-US" dirty="0" smtClean="0"/>
          </a:p>
          <a:p>
            <a:pPr algn="l">
              <a:spcBef>
                <a:spcPts val="1500"/>
              </a:spcBef>
              <a:defRPr sz="3400"/>
            </a:pPr>
            <a:r>
              <a:rPr dirty="0" smtClean="0"/>
              <a:t>Not </a:t>
            </a:r>
            <a:r>
              <a:rPr dirty="0"/>
              <a:t>a well-defined question, but understanding limitations often leads to new </a:t>
            </a:r>
            <a:r>
              <a:rPr dirty="0" smtClean="0"/>
              <a:t>mathematics</a:t>
            </a:r>
            <a:r>
              <a:rPr lang="en-US" dirty="0" smtClean="0"/>
              <a:t>!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27" y="3672885"/>
            <a:ext cx="2400300" cy="1016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976" y="3989805"/>
            <a:ext cx="3276600" cy="444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27" y="5846645"/>
            <a:ext cx="2501900" cy="381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976" y="5419165"/>
            <a:ext cx="2286000" cy="9779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Example: multiplication</a:t>
            </a:r>
          </a:p>
        </p:txBody>
      </p:sp>
      <p:sp>
        <p:nvSpPr>
          <p:cNvPr id="117" name="Shape 1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smtClean="0"/>
              <a:t>Forward </a:t>
            </a:r>
            <a:r>
              <a:rPr dirty="0"/>
              <a:t>problem: multiply two integers </a:t>
            </a:r>
            <a:r>
              <a:rPr b="0" i="1" dirty="0"/>
              <a:t>a</a:t>
            </a:r>
            <a:r>
              <a:rPr dirty="0"/>
              <a:t> and </a:t>
            </a:r>
            <a:r>
              <a:rPr b="0" i="1" dirty="0"/>
              <a:t>b</a:t>
            </a:r>
            <a:r>
              <a:rPr dirty="0"/>
              <a:t> to get </a:t>
            </a:r>
            <a:r>
              <a:rPr b="0" i="1" dirty="0" smtClean="0"/>
              <a:t>n</a:t>
            </a:r>
            <a:endParaRPr lang="en-US" b="0" i="1" dirty="0" smtClean="0"/>
          </a:p>
          <a:p>
            <a:r>
              <a:rPr dirty="0" smtClean="0"/>
              <a:t>Inverse problem: given an integer </a:t>
            </a:r>
            <a:r>
              <a:rPr b="0" i="1" dirty="0" smtClean="0"/>
              <a:t>n</a:t>
            </a:r>
            <a:r>
              <a:rPr dirty="0" smtClean="0"/>
              <a:t>, factorize it into </a:t>
            </a:r>
            <a:r>
              <a:rPr b="0" i="1" dirty="0" smtClean="0"/>
              <a:t>a</a:t>
            </a:r>
            <a:r>
              <a:rPr dirty="0" smtClean="0"/>
              <a:t> and </a:t>
            </a:r>
            <a:r>
              <a:rPr b="0" i="1" dirty="0" smtClean="0"/>
              <a:t>b</a:t>
            </a:r>
          </a:p>
          <a:p>
            <a:r>
              <a:rPr lang="en-US" dirty="0" smtClean="0"/>
              <a:t>Inverse problem does </a:t>
            </a:r>
            <a:r>
              <a:rPr dirty="0" smtClean="0"/>
              <a:t>not </a:t>
            </a:r>
            <a:r>
              <a:rPr dirty="0"/>
              <a:t>have a unique solution (</a:t>
            </a:r>
            <a:r>
              <a:rPr i="1" dirty="0"/>
              <a:t>e.g.</a:t>
            </a:r>
            <a:r>
              <a:rPr dirty="0"/>
              <a:t> 24 = 8*3 = 4*6 = 12*2 = 1*24)</a:t>
            </a:r>
          </a:p>
          <a:p>
            <a:r>
              <a:rPr dirty="0"/>
              <a:t>However, this also leads to interesting mathematics by itself (</a:t>
            </a:r>
            <a:r>
              <a:rPr i="1" dirty="0"/>
              <a:t>e.g.</a:t>
            </a:r>
            <a:r>
              <a:rPr dirty="0"/>
              <a:t> prime numbers)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Examples</a:t>
            </a:r>
          </a:p>
        </p:txBody>
      </p:sp>
      <p:sp>
        <p:nvSpPr>
          <p:cNvPr id="120" name="Shape 12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80319" indent="-580319">
              <a:defRPr sz="4700"/>
            </a:pPr>
            <a:r>
              <a:rPr dirty="0"/>
              <a:t>Find a polynomial of degree </a:t>
            </a:r>
            <a:r>
              <a:rPr b="0" i="1" dirty="0"/>
              <a:t>n</a:t>
            </a:r>
            <a:r>
              <a:rPr dirty="0"/>
              <a:t> which has a root at </a:t>
            </a:r>
            <a:r>
              <a:rPr b="0" i="1" dirty="0"/>
              <a:t>x</a:t>
            </a:r>
            <a:r>
              <a:rPr b="0" dirty="0"/>
              <a:t> = 2</a:t>
            </a:r>
          </a:p>
          <a:p>
            <a:pPr marL="580319" indent="-580319">
              <a:defRPr sz="4700"/>
            </a:pPr>
            <a:r>
              <a:rPr dirty="0"/>
              <a:t>Find a differential equation whose solution is </a:t>
            </a:r>
            <a:r>
              <a:rPr b="0" i="1" dirty="0"/>
              <a:t>x</a:t>
            </a:r>
            <a:r>
              <a:rPr b="0" dirty="0"/>
              <a:t>(</a:t>
            </a:r>
            <a:r>
              <a:rPr b="0" i="1" dirty="0"/>
              <a:t>t</a:t>
            </a:r>
            <a:r>
              <a:rPr b="0" dirty="0"/>
              <a:t>) = </a:t>
            </a:r>
            <a:r>
              <a:rPr b="0" i="1" dirty="0"/>
              <a:t>e</a:t>
            </a:r>
            <a:r>
              <a:rPr b="0" i="1" baseline="31999" dirty="0"/>
              <a:t>t</a:t>
            </a:r>
          </a:p>
          <a:p>
            <a:pPr marL="580319" indent="-580319">
              <a:defRPr sz="4700"/>
            </a:pPr>
            <a:r>
              <a:rPr dirty="0"/>
              <a:t>Given two points in a plane, find a circle that passes through the two points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617" y="4073075"/>
            <a:ext cx="3264239" cy="125547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2394855"/>
            <a:ext cx="11099800" cy="1553029"/>
          </a:xfrm>
        </p:spPr>
        <p:txBody>
          <a:bodyPr>
            <a:normAutofit/>
          </a:bodyPr>
          <a:lstStyle/>
          <a:p>
            <a:r>
              <a:rPr lang="en-US" sz="4000" dirty="0" smtClean="0"/>
              <a:t>Can you solve for the integrand?</a:t>
            </a:r>
            <a:endParaRPr lang="en-US" sz="4000" dirty="0"/>
          </a:p>
        </p:txBody>
      </p:sp>
      <p:sp>
        <p:nvSpPr>
          <p:cNvPr id="6" name="Text Placeholder 2"/>
          <p:cNvSpPr txBox="1">
            <a:spLocks/>
          </p:cNvSpPr>
          <p:nvPr/>
        </p:nvSpPr>
        <p:spPr>
          <a:xfrm>
            <a:off x="952500" y="5849247"/>
            <a:ext cx="11099800" cy="1621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444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889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2pPr>
            <a:lvl3pPr marL="1333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3pPr>
            <a:lvl4pPr marL="1778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4pPr>
            <a:lvl5pPr marL="2222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5pPr>
            <a:lvl6pPr marL="2667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6pPr>
            <a:lvl7pPr marL="3111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7pPr>
            <a:lvl8pPr marL="35560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8pPr>
            <a:lvl9pPr marL="4000500" marR="0" indent="-444500" algn="l" defTabSz="584200" rtl="0" latinLnBrk="0">
              <a:lnSpc>
                <a:spcPct val="90000"/>
              </a:lnSpc>
              <a:spcBef>
                <a:spcPts val="2600"/>
              </a:spcBef>
              <a:spcAft>
                <a:spcPts val="0"/>
              </a:spcAft>
              <a:buClrTx/>
              <a:buSzPct val="75000"/>
              <a:buFontTx/>
              <a:buChar char="•"/>
              <a:tabLst/>
              <a:defRPr sz="36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9pPr>
          </a:lstStyle>
          <a:p>
            <a:pPr hangingPunct="1"/>
            <a:r>
              <a:rPr lang="en-US" sz="4000" dirty="0" smtClean="0"/>
              <a:t>What if the integrand attains its </a:t>
            </a:r>
            <a:r>
              <a:rPr lang="en-US" sz="4000" smtClean="0"/>
              <a:t>maximum  at </a:t>
            </a:r>
            <a:r>
              <a:rPr lang="en-US" sz="4000" dirty="0" smtClean="0"/>
              <a:t>x = ½?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478319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60831">
              <a:defRPr sz="6144">
                <a:effectLst>
                  <a:outerShdw blurRad="85344" dist="36576" dir="2700000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t>Sequences: what rule generates the following sequences?</a:t>
            </a:r>
          </a:p>
        </p:txBody>
      </p:sp>
      <p:sp>
        <p:nvSpPr>
          <p:cNvPr id="123" name="Shape 123"/>
          <p:cNvSpPr/>
          <p:nvPr/>
        </p:nvSpPr>
        <p:spPr>
          <a:xfrm>
            <a:off x="2566187" y="3206750"/>
            <a:ext cx="7872426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/>
                </a:solidFill>
              </a:defRPr>
            </a:lvl1pPr>
          </a:lstStyle>
          <a:p>
            <a:r>
              <a:rPr dirty="0"/>
              <a:t>1, 2, 4, 8, 16, 32, 64, 128, 256, …</a:t>
            </a:r>
          </a:p>
        </p:txBody>
      </p:sp>
      <p:sp>
        <p:nvSpPr>
          <p:cNvPr id="124" name="Shape 124"/>
          <p:cNvSpPr/>
          <p:nvPr/>
        </p:nvSpPr>
        <p:spPr>
          <a:xfrm>
            <a:off x="2276726" y="6318250"/>
            <a:ext cx="8451348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100">
                <a:solidFill>
                  <a:schemeClr val="accent6"/>
                </a:solidFill>
              </a:defRPr>
            </a:lvl1pPr>
          </a:lstStyle>
          <a:p>
            <a:r>
              <a:rPr dirty="0"/>
              <a:t>1, 3, 6, 10, 15, 21, 28, 36, 45, 55, …</a:t>
            </a:r>
          </a:p>
        </p:txBody>
      </p:sp>
      <p:sp>
        <p:nvSpPr>
          <p:cNvPr id="125" name="Shape 125"/>
          <p:cNvSpPr/>
          <p:nvPr/>
        </p:nvSpPr>
        <p:spPr>
          <a:xfrm>
            <a:off x="3078406" y="4571999"/>
            <a:ext cx="2606187" cy="609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sz="3300"/>
            </a:lvl1pPr>
          </a:lstStyle>
          <a:p>
            <a:r>
              <a:t>Powers of 2:</a:t>
            </a:r>
          </a:p>
        </p:txBody>
      </p:sp>
      <p:sp>
        <p:nvSpPr>
          <p:cNvPr id="128" name="Shape 128"/>
          <p:cNvSpPr/>
          <p:nvPr/>
        </p:nvSpPr>
        <p:spPr>
          <a:xfrm>
            <a:off x="2217603" y="7797799"/>
            <a:ext cx="4282997" cy="6096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sz="3300"/>
            </a:lvl1pPr>
          </a:lstStyle>
          <a:p>
            <a:r>
              <a:t>Triangular numbers: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5211" y="4648200"/>
            <a:ext cx="1536700" cy="4191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4142" y="7576458"/>
            <a:ext cx="2857500" cy="9652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  <p:bldP spid="124" grpId="0" animBg="1"/>
      <p:bldP spid="125" grpId="0"/>
      <p:bldP spid="1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2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Practical </a:t>
            </a:r>
            <a:r>
              <a:rPr dirty="0" smtClean="0"/>
              <a:t>example: </a:t>
            </a:r>
            <a:r>
              <a:rPr dirty="0"/>
              <a:t>GPS</a:t>
            </a:r>
          </a:p>
        </p:txBody>
      </p:sp>
      <p:sp>
        <p:nvSpPr>
          <p:cNvPr id="221" name="Shape 221"/>
          <p:cNvSpPr>
            <a:spLocks noGrp="1"/>
          </p:cNvSpPr>
          <p:nvPr>
            <p:ph type="body" sz="half" idx="1"/>
          </p:nvPr>
        </p:nvSpPr>
        <p:spPr>
          <a:xfrm>
            <a:off x="952500" y="2603500"/>
            <a:ext cx="7798793" cy="6286500"/>
          </a:xfrm>
          <a:prstGeom prst="rect">
            <a:avLst/>
          </a:prstGeom>
        </p:spPr>
        <p:txBody>
          <a:bodyPr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Measure the distance to each satellite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Given the distance, know that the receiver lies on a sphere centered at the satellite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Each satellite corresponds to a different sphere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Receiver is located at the intersection of a point of the spheres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How many are needed?</a:t>
            </a:r>
          </a:p>
        </p:txBody>
      </p:sp>
      <p:pic>
        <p:nvPicPr>
          <p:cNvPr id="222" name="gps_const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886428" y="2492077"/>
            <a:ext cx="3683001" cy="3505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More </a:t>
            </a:r>
            <a:r>
              <a:rPr dirty="0" smtClean="0"/>
              <a:t>practical </a:t>
            </a:r>
            <a:r>
              <a:rPr dirty="0"/>
              <a:t>examples</a:t>
            </a:r>
          </a:p>
        </p:txBody>
      </p:sp>
      <p:pic>
        <p:nvPicPr>
          <p:cNvPr id="225" name="Screen Shot 2014-04-28 at 1.04.5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191038" y="2282080"/>
            <a:ext cx="4361573" cy="30867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8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382000" y="6337300"/>
            <a:ext cx="3670300" cy="220980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Shape 227"/>
          <p:cNvSpPr/>
          <p:nvPr/>
        </p:nvSpPr>
        <p:spPr>
          <a:xfrm>
            <a:off x="569518" y="2441176"/>
            <a:ext cx="7209408" cy="276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2800"/>
              </a:spcBef>
              <a:defRPr sz="3500">
                <a:solidFill>
                  <a:schemeClr val="accent6"/>
                </a:solidFill>
              </a:defRPr>
            </a:pPr>
            <a:r>
              <a:t>Atmospheric pollution monitoring</a:t>
            </a:r>
          </a:p>
          <a:p>
            <a:pPr algn="l">
              <a:defRPr sz="3200"/>
            </a:pPr>
            <a:r>
              <a:t>Where is the pollution originating, given satellite measurements of chemical composition?</a:t>
            </a:r>
          </a:p>
        </p:txBody>
      </p:sp>
      <p:sp>
        <p:nvSpPr>
          <p:cNvPr id="228" name="Shape 228"/>
          <p:cNvSpPr/>
          <p:nvPr/>
        </p:nvSpPr>
        <p:spPr>
          <a:xfrm>
            <a:off x="569518" y="6226810"/>
            <a:ext cx="7209408" cy="243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spcBef>
                <a:spcPts val="2800"/>
              </a:spcBef>
              <a:defRPr sz="3500">
                <a:solidFill>
                  <a:schemeClr val="accent6"/>
                </a:solidFill>
              </a:defRPr>
            </a:pPr>
            <a:r>
              <a:rPr dirty="0"/>
              <a:t>The flying insect</a:t>
            </a:r>
          </a:p>
          <a:p>
            <a:pPr algn="l">
              <a:defRPr sz="3500"/>
            </a:pPr>
            <a:r>
              <a:rPr dirty="0"/>
              <a:t>Can smell food but cannot see it. How should it move to find the source of food?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>
            <a:spLocks noGrp="1"/>
          </p:cNvSpPr>
          <p:nvPr>
            <p:ph type="body" idx="13"/>
          </p:nvPr>
        </p:nvSpPr>
        <p:spPr>
          <a:xfrm>
            <a:off x="437232" y="37973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Break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image17.png" descr="watson crick paper header.png"/>
          <p:cNvPicPr>
            <a:picLocks noChangeAspect="1"/>
          </p:cNvPicPr>
          <p:nvPr/>
        </p:nvPicPr>
        <p:blipFill>
          <a:blip r:embed="rId3">
            <a:extLst/>
          </a:blip>
          <a:srcRect t="3478" r="40074" b="56528"/>
          <a:stretch>
            <a:fillRect/>
          </a:stretch>
        </p:blipFill>
        <p:spPr>
          <a:xfrm>
            <a:off x="159961" y="177799"/>
            <a:ext cx="10964393" cy="5482197"/>
          </a:xfrm>
          <a:prstGeom prst="rect">
            <a:avLst/>
          </a:prstGeom>
          <a:ln w="12700">
            <a:solidFill>
              <a:srgbClr val="000000"/>
            </a:solidFill>
            <a:bevel/>
          </a:ln>
        </p:spPr>
      </p:pic>
      <p:pic>
        <p:nvPicPr>
          <p:cNvPr id="233" name="image20.jpg" descr="watson-crick dna model 2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033173" y="4334933"/>
            <a:ext cx="4890348" cy="5418668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Shape 234"/>
          <p:cNvSpPr/>
          <p:nvPr/>
        </p:nvSpPr>
        <p:spPr>
          <a:xfrm>
            <a:off x="-22033" y="8528685"/>
            <a:ext cx="8045066" cy="849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dirty="0"/>
              <a:t>1952 Nobel Prize for Physiology and Medicine</a:t>
            </a:r>
          </a:p>
          <a:p>
            <a:r>
              <a:rPr dirty="0"/>
              <a:t>James Watson, Francis Crick, and Maurice Wilkins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xfrm>
            <a:off x="-2486488" y="4445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Motivation</a:t>
            </a:r>
          </a:p>
        </p:txBody>
      </p:sp>
      <p:sp>
        <p:nvSpPr>
          <p:cNvPr id="237" name="Shape 237"/>
          <p:cNvSpPr>
            <a:spLocks noGrp="1"/>
          </p:cNvSpPr>
          <p:nvPr>
            <p:ph type="body" sz="half" idx="1"/>
          </p:nvPr>
        </p:nvSpPr>
        <p:spPr>
          <a:xfrm>
            <a:off x="396092" y="2603500"/>
            <a:ext cx="6495802" cy="6286500"/>
          </a:xfrm>
          <a:prstGeom prst="rect">
            <a:avLst/>
          </a:prstGeom>
        </p:spPr>
        <p:txBody>
          <a:bodyPr/>
          <a:lstStyle/>
          <a:p>
            <a:r>
              <a:rPr dirty="0"/>
              <a:t>1944 paper by Avery, MacLeod and McCarty shows that DNA is the material of inheritance</a:t>
            </a:r>
          </a:p>
          <a:p>
            <a:r>
              <a:rPr dirty="0"/>
              <a:t>Watson and Crick realized from model building that A–T and C–G have the same area and shape</a:t>
            </a:r>
          </a:p>
          <a:p>
            <a:r>
              <a:rPr dirty="0"/>
              <a:t>Early 1950’s: what structure could support these units?</a:t>
            </a:r>
          </a:p>
        </p:txBody>
      </p:sp>
      <p:pic>
        <p:nvPicPr>
          <p:cNvPr id="238" name="Screen Shot 2014-04-28 at 11.16.11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05593" y="364153"/>
            <a:ext cx="6078709" cy="90689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858" y="1748972"/>
            <a:ext cx="6567713" cy="6567713"/>
          </a:xfrm>
          <a:prstGeom prst="rect">
            <a:avLst/>
          </a:prstGeom>
        </p:spPr>
      </p:pic>
      <p:sp>
        <p:nvSpPr>
          <p:cNvPr id="6" name="Shape 236"/>
          <p:cNvSpPr>
            <a:spLocks noGrp="1"/>
          </p:cNvSpPr>
          <p:nvPr>
            <p:ph type="title"/>
          </p:nvPr>
        </p:nvSpPr>
        <p:spPr>
          <a:xfrm>
            <a:off x="275748" y="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What structure? </a:t>
            </a:r>
            <a:endParaRPr dirty="0"/>
          </a:p>
        </p:txBody>
      </p:sp>
      <p:pic>
        <p:nvPicPr>
          <p:cNvPr id="7" name="image20.jpg" descr="watson-crick dna model 2.jp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2319" y="2159000"/>
            <a:ext cx="5498366" cy="609237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506231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2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X-ray diffraction</a:t>
            </a:r>
          </a:p>
        </p:txBody>
      </p:sp>
      <p:sp>
        <p:nvSpPr>
          <p:cNvPr id="243" name="Shape 24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18583" indent="-518583">
              <a:defRPr sz="4200"/>
            </a:pPr>
            <a:r>
              <a:rPr dirty="0"/>
              <a:t>It is not possible to see DNA directly; it is too small. </a:t>
            </a:r>
          </a:p>
          <a:p>
            <a:pPr marL="518583" indent="-518583">
              <a:defRPr sz="4200"/>
            </a:pPr>
            <a:r>
              <a:rPr dirty="0"/>
              <a:t>To see something, the wavelength of light must be much smaller than the size of the object. This is not true with DNA.</a:t>
            </a:r>
          </a:p>
          <a:p>
            <a:pPr marL="518583" indent="-518583">
              <a:defRPr sz="4200"/>
            </a:pPr>
            <a:r>
              <a:rPr dirty="0"/>
              <a:t>But it is possible to see the diffraction pattern made by DNA using light rays with very small wavelength—X-rays.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Screen Shot 2014-04-28 at 11.44.45 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61684" y="0"/>
            <a:ext cx="13211626" cy="100169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/>
          <p:cNvSpPr/>
          <p:nvPr/>
        </p:nvSpPr>
        <p:spPr>
          <a:xfrm>
            <a:off x="332959" y="4853795"/>
            <a:ext cx="6266623" cy="1129561"/>
          </a:xfrm>
          <a:prstGeom prst="rect">
            <a:avLst/>
          </a:prstGeom>
          <a:solidFill>
            <a:srgbClr val="FFFF00">
              <a:alpha val="1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FF00">
                <a:alpha val="6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8178" y="7391587"/>
            <a:ext cx="6123058" cy="997040"/>
          </a:xfrm>
          <a:prstGeom prst="rect">
            <a:avLst/>
          </a:prstGeom>
          <a:solidFill>
            <a:srgbClr val="FFFF00">
              <a:alpha val="1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FF00">
                <a:alpha val="6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/>
        </p:nvSpPr>
        <p:spPr>
          <a:xfrm>
            <a:off x="8479070" y="3684693"/>
            <a:ext cx="1757485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/>
          <a:p>
            <a:pPr algn="r" defTabSz="914400">
              <a:lnSpc>
                <a:spcPct val="100000"/>
              </a:lnSpc>
              <a:defRPr sz="2400" b="0"/>
            </a:pPr>
            <a:r>
              <a:rPr sz="2200">
                <a:solidFill>
                  <a:srgbClr val="FFFFFF"/>
                </a:solidFill>
              </a:rPr>
              <a:t>University of</a:t>
            </a:r>
          </a:p>
          <a:p>
            <a:pPr algn="r" defTabSz="914400">
              <a:lnSpc>
                <a:spcPct val="100000"/>
              </a:lnSpc>
              <a:defRPr sz="2400" b="0"/>
            </a:pPr>
            <a:r>
              <a:rPr sz="2200">
                <a:solidFill>
                  <a:srgbClr val="FFFFFF"/>
                </a:solidFill>
              </a:rPr>
              <a:t>Cambridge</a:t>
            </a:r>
          </a:p>
        </p:txBody>
      </p:sp>
      <p:sp>
        <p:nvSpPr>
          <p:cNvPr id="249" name="Shape 249"/>
          <p:cNvSpPr/>
          <p:nvPr/>
        </p:nvSpPr>
        <p:spPr>
          <a:xfrm>
            <a:off x="8453119" y="2141135"/>
            <a:ext cx="1733975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Paris</a:t>
            </a:r>
          </a:p>
        </p:txBody>
      </p:sp>
      <p:sp>
        <p:nvSpPr>
          <p:cNvPr id="250" name="Shape 250"/>
          <p:cNvSpPr/>
          <p:nvPr/>
        </p:nvSpPr>
        <p:spPr>
          <a:xfrm>
            <a:off x="10793983" y="4486655"/>
            <a:ext cx="2037431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Battle of Britain</a:t>
            </a:r>
          </a:p>
        </p:txBody>
      </p:sp>
      <p:sp>
        <p:nvSpPr>
          <p:cNvPr id="251" name="Shape 251"/>
          <p:cNvSpPr/>
          <p:nvPr/>
        </p:nvSpPr>
        <p:spPr>
          <a:xfrm>
            <a:off x="10793983" y="3433267"/>
            <a:ext cx="1804552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5023" tIns="65023" rIns="65023" bIns="65023">
            <a:spAutoFit/>
          </a:bodyPr>
          <a:lstStyle/>
          <a:p>
            <a:pPr algn="l" defTabSz="914400">
              <a:lnSpc>
                <a:spcPct val="100000"/>
              </a:lnSpc>
              <a:defRPr sz="2400" b="0"/>
            </a:pPr>
            <a:r>
              <a:rPr sz="2200">
                <a:solidFill>
                  <a:srgbClr val="FFFFFF"/>
                </a:solidFill>
              </a:rPr>
              <a:t>Schrodinger </a:t>
            </a:r>
          </a:p>
          <a:p>
            <a:pPr algn="l" defTabSz="914400">
              <a:lnSpc>
                <a:spcPct val="100000"/>
              </a:lnSpc>
              <a:defRPr sz="2400" b="0"/>
            </a:pPr>
            <a:r>
              <a:rPr sz="2200" i="1">
                <a:solidFill>
                  <a:srgbClr val="FFFFFF"/>
                </a:solidFill>
              </a:rPr>
              <a:t>What is Life?</a:t>
            </a:r>
          </a:p>
        </p:txBody>
      </p:sp>
      <p:sp>
        <p:nvSpPr>
          <p:cNvPr id="252" name="Shape 252"/>
          <p:cNvSpPr/>
          <p:nvPr/>
        </p:nvSpPr>
        <p:spPr>
          <a:xfrm>
            <a:off x="10837333" y="1586585"/>
            <a:ext cx="2492587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Pauling’s helical protein</a:t>
            </a:r>
          </a:p>
        </p:txBody>
      </p:sp>
      <p:sp>
        <p:nvSpPr>
          <p:cNvPr id="253" name="Shape 253"/>
          <p:cNvSpPr/>
          <p:nvPr/>
        </p:nvSpPr>
        <p:spPr>
          <a:xfrm>
            <a:off x="10837333" y="728268"/>
            <a:ext cx="2210817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DNA papers in Nature</a:t>
            </a:r>
          </a:p>
        </p:txBody>
      </p:sp>
      <p:pic>
        <p:nvPicPr>
          <p:cNvPr id="254" name="image2.jpg" descr="RosalindFranklin.jp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" y="-8302"/>
            <a:ext cx="8193025" cy="9761903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Shape 255"/>
          <p:cNvSpPr/>
          <p:nvPr/>
        </p:nvSpPr>
        <p:spPr>
          <a:xfrm>
            <a:off x="8389818" y="5376511"/>
            <a:ext cx="1915815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St. Paul’s School</a:t>
            </a:r>
          </a:p>
        </p:txBody>
      </p:sp>
      <p:sp>
        <p:nvSpPr>
          <p:cNvPr id="256" name="Shape 256"/>
          <p:cNvSpPr/>
          <p:nvPr/>
        </p:nvSpPr>
        <p:spPr>
          <a:xfrm>
            <a:off x="8431445" y="1339172"/>
            <a:ext cx="1886053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King’s College</a:t>
            </a:r>
          </a:p>
        </p:txBody>
      </p:sp>
      <p:grpSp>
        <p:nvGrpSpPr>
          <p:cNvPr id="263" name="Group 263"/>
          <p:cNvGrpSpPr/>
          <p:nvPr/>
        </p:nvGrpSpPr>
        <p:grpSpPr>
          <a:xfrm>
            <a:off x="10468863" y="-1"/>
            <a:ext cx="260097" cy="9753602"/>
            <a:chOff x="0" y="0"/>
            <a:chExt cx="260096" cy="9753600"/>
          </a:xfrm>
        </p:grpSpPr>
        <p:sp>
          <p:nvSpPr>
            <p:cNvPr id="257" name="Shape 257"/>
            <p:cNvSpPr/>
            <p:nvPr/>
          </p:nvSpPr>
          <p:spPr>
            <a:xfrm>
              <a:off x="-1" y="6580429"/>
              <a:ext cx="260098" cy="3173172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58" name="Shape 258"/>
            <p:cNvSpPr/>
            <p:nvPr/>
          </p:nvSpPr>
          <p:spPr>
            <a:xfrm>
              <a:off x="-1" y="5006847"/>
              <a:ext cx="260098" cy="1586587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59" name="Shape 259"/>
            <p:cNvSpPr/>
            <p:nvPr/>
          </p:nvSpPr>
          <p:spPr>
            <a:xfrm>
              <a:off x="-1" y="2904405"/>
              <a:ext cx="260098" cy="2106779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0" name="Shape 260"/>
            <p:cNvSpPr/>
            <p:nvPr/>
          </p:nvSpPr>
          <p:spPr>
            <a:xfrm>
              <a:off x="-1" y="1857469"/>
              <a:ext cx="260098" cy="1053389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1" name="Shape 261"/>
            <p:cNvSpPr/>
            <p:nvPr/>
          </p:nvSpPr>
          <p:spPr>
            <a:xfrm>
              <a:off x="-1" y="1330724"/>
              <a:ext cx="260098" cy="533198"/>
            </a:xfrm>
            <a:prstGeom prst="rect">
              <a:avLst/>
            </a:prstGeom>
            <a:solidFill>
              <a:srgbClr val="808080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262" name="Shape 262"/>
            <p:cNvSpPr/>
            <p:nvPr/>
          </p:nvSpPr>
          <p:spPr>
            <a:xfrm>
              <a:off x="-1" y="-1"/>
              <a:ext cx="260098" cy="1326491"/>
            </a:xfrm>
            <a:prstGeom prst="rect">
              <a:avLst/>
            </a:pr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</p:grpSp>
      <p:sp>
        <p:nvSpPr>
          <p:cNvPr id="264" name="Shape 264"/>
          <p:cNvSpPr/>
          <p:nvPr/>
        </p:nvSpPr>
        <p:spPr>
          <a:xfrm>
            <a:off x="8691542" y="325119"/>
            <a:ext cx="1495551" cy="79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r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Birkbeck College</a:t>
            </a:r>
          </a:p>
        </p:txBody>
      </p:sp>
      <p:sp>
        <p:nvSpPr>
          <p:cNvPr id="265" name="Shape 265"/>
          <p:cNvSpPr/>
          <p:nvPr/>
        </p:nvSpPr>
        <p:spPr>
          <a:xfrm>
            <a:off x="10663225" y="9272101"/>
            <a:ext cx="866987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1920</a:t>
            </a:r>
          </a:p>
        </p:txBody>
      </p:sp>
      <p:sp>
        <p:nvSpPr>
          <p:cNvPr id="266" name="Shape 266"/>
          <p:cNvSpPr/>
          <p:nvPr/>
        </p:nvSpPr>
        <p:spPr>
          <a:xfrm>
            <a:off x="10663225" y="-1"/>
            <a:ext cx="866987" cy="460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>
            <a:lvl1pPr algn="l" defTabSz="914400">
              <a:lnSpc>
                <a:spcPct val="100000"/>
              </a:lnSpc>
              <a:defRPr sz="2200" b="0">
                <a:solidFill>
                  <a:srgbClr val="FFFFFF"/>
                </a:solidFill>
              </a:defRPr>
            </a:lvl1pPr>
          </a:lstStyle>
          <a:p>
            <a:pPr>
              <a:defRPr sz="2400">
                <a:solidFill>
                  <a:srgbClr val="000000"/>
                </a:solidFill>
              </a:defRPr>
            </a:pPr>
            <a:r>
              <a:rPr sz="2200">
                <a:solidFill>
                  <a:srgbClr val="FFFFFF"/>
                </a:solidFill>
              </a:rPr>
              <a:t>1958</a:t>
            </a:r>
          </a:p>
        </p:txBody>
      </p:sp>
      <p:sp>
        <p:nvSpPr>
          <p:cNvPr id="267" name="Shape 267"/>
          <p:cNvSpPr/>
          <p:nvPr/>
        </p:nvSpPr>
        <p:spPr>
          <a:xfrm>
            <a:off x="544143" y="5596466"/>
            <a:ext cx="7104738" cy="3500629"/>
          </a:xfrm>
          <a:prstGeom prst="rect">
            <a:avLst/>
          </a:prstGeom>
          <a:solidFill>
            <a:srgbClr val="D9D9D9"/>
          </a:solidFill>
          <a:ln w="38100">
            <a:solidFill>
              <a:srgbClr val="000000"/>
            </a:solidFill>
            <a:bevel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914400">
              <a:defRPr sz="2400" i="1"/>
            </a:pPr>
            <a:r>
              <a:rPr sz="3400" dirty="0"/>
              <a:t>“If ever you hear of anybody anxious for the services of a physical chemist who knows very little about physical chemistry but a lot about the holes in coal, please let me know.” </a:t>
            </a:r>
          </a:p>
          <a:p>
            <a:pPr algn="l" defTabSz="914400">
              <a:defRPr sz="2400"/>
            </a:pPr>
            <a:r>
              <a:rPr sz="3400" dirty="0"/>
              <a:t>– Franklin to A. Weill, 1945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-815213" y="9322193"/>
            <a:ext cx="5733476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smtClean="0">
                <a:solidFill>
                  <a:schemeClr val="bg1"/>
                </a:solidFill>
              </a:rPr>
              <a:t>Credit: Prof. Rafael Jaramillo</a:t>
            </a:r>
            <a:endParaRPr lang="en-US" sz="22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" dur="500" fill="hold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" grpId="1" animBg="1" advAuto="0"/>
      <p:bldP spid="267" grpId="2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310"/>
          <p:cNvSpPr/>
          <p:nvPr/>
        </p:nvSpPr>
        <p:spPr>
          <a:xfrm>
            <a:off x="-1" y="-1"/>
            <a:ext cx="13004801" cy="1950721"/>
          </a:xfrm>
          <a:prstGeom prst="rect">
            <a:avLst/>
          </a:prstGeom>
          <a:gradFill>
            <a:gsLst>
              <a:gs pos="0">
                <a:srgbClr val="000000"/>
              </a:gs>
              <a:gs pos="63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65023" tIns="65023" rIns="65023" bIns="65023" anchor="ctr"/>
          <a:lstStyle/>
          <a:p>
            <a:pPr defTabSz="914400">
              <a:lnSpc>
                <a:spcPct val="100000"/>
              </a:lnSpc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311" name="image4.jpg" descr="kings college london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68906" y="975359"/>
            <a:ext cx="4988453" cy="71526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image5.png" descr="cavendish gre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5119" y="975359"/>
            <a:ext cx="5364482" cy="715264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5" name="Group 315"/>
          <p:cNvGrpSpPr/>
          <p:nvPr/>
        </p:nvGrpSpPr>
        <p:grpSpPr>
          <a:xfrm>
            <a:off x="1517226" y="39014"/>
            <a:ext cx="2120898" cy="3034454"/>
            <a:chOff x="0" y="0"/>
            <a:chExt cx="2120897" cy="3034453"/>
          </a:xfrm>
        </p:grpSpPr>
        <p:sp>
          <p:nvSpPr>
            <p:cNvPr id="313" name="Shape 313"/>
            <p:cNvSpPr/>
            <p:nvPr/>
          </p:nvSpPr>
          <p:spPr>
            <a:xfrm>
              <a:off x="0" y="-1"/>
              <a:ext cx="2120898" cy="3034455"/>
            </a:xfrm>
            <a:prstGeom prst="ellipse">
              <a:avLst/>
            </a:prstGeom>
            <a:blipFill rotWithShape="1">
              <a:blip r:embed="rId4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14" name="Shape 314"/>
            <p:cNvSpPr/>
            <p:nvPr/>
          </p:nvSpPr>
          <p:spPr>
            <a:xfrm>
              <a:off x="426393" y="539572"/>
              <a:ext cx="1390288" cy="650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 algn="l" defTabSz="914400">
                <a:lnSpc>
                  <a:spcPct val="100000"/>
                </a:lnSpc>
                <a:defRPr sz="3400"/>
              </a:lvl1pPr>
            </a:lstStyle>
            <a:p>
              <a:pPr>
                <a:defRPr sz="2400" b="0"/>
              </a:pPr>
              <a:r>
                <a:rPr sz="3400" b="1"/>
                <a:t>Bragg</a:t>
              </a:r>
            </a:p>
          </p:txBody>
        </p:sp>
      </p:grpSp>
      <p:grpSp>
        <p:nvGrpSpPr>
          <p:cNvPr id="318" name="Group 318"/>
          <p:cNvGrpSpPr/>
          <p:nvPr/>
        </p:nvGrpSpPr>
        <p:grpSpPr>
          <a:xfrm>
            <a:off x="2384213" y="3251200"/>
            <a:ext cx="1950721" cy="2912757"/>
            <a:chOff x="0" y="0"/>
            <a:chExt cx="1950720" cy="2912756"/>
          </a:xfrm>
        </p:grpSpPr>
        <p:sp>
          <p:nvSpPr>
            <p:cNvPr id="316" name="Shape 316"/>
            <p:cNvSpPr/>
            <p:nvPr/>
          </p:nvSpPr>
          <p:spPr>
            <a:xfrm>
              <a:off x="0" y="0"/>
              <a:ext cx="1950721" cy="2912757"/>
            </a:xfrm>
            <a:prstGeom prst="ellipse">
              <a:avLst/>
            </a:prstGeom>
            <a:blipFill rotWithShape="1">
              <a:blip r:embed="rId5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17" name="Shape 317"/>
            <p:cNvSpPr/>
            <p:nvPr/>
          </p:nvSpPr>
          <p:spPr>
            <a:xfrm>
              <a:off x="324360" y="514389"/>
              <a:ext cx="873427" cy="4856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>
                <a:defRPr sz="2300"/>
              </a:lvl1pPr>
            </a:lstStyle>
            <a:p>
              <a:r>
                <a:t>Crick</a:t>
              </a:r>
            </a:p>
          </p:txBody>
        </p:sp>
      </p:grpSp>
      <p:grpSp>
        <p:nvGrpSpPr>
          <p:cNvPr id="321" name="Group 321"/>
          <p:cNvGrpSpPr/>
          <p:nvPr/>
        </p:nvGrpSpPr>
        <p:grpSpPr>
          <a:xfrm>
            <a:off x="650239" y="5201920"/>
            <a:ext cx="1842348" cy="2817710"/>
            <a:chOff x="0" y="0"/>
            <a:chExt cx="1842346" cy="2817709"/>
          </a:xfrm>
        </p:grpSpPr>
        <p:sp>
          <p:nvSpPr>
            <p:cNvPr id="319" name="Shape 319"/>
            <p:cNvSpPr/>
            <p:nvPr/>
          </p:nvSpPr>
          <p:spPr>
            <a:xfrm>
              <a:off x="0" y="0"/>
              <a:ext cx="1842347" cy="2817710"/>
            </a:xfrm>
            <a:prstGeom prst="ellipse">
              <a:avLst/>
            </a:prstGeom>
            <a:blipFill rotWithShape="1">
              <a:blip r:embed="rId6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20" name="Shape 320"/>
            <p:cNvSpPr/>
            <p:nvPr/>
          </p:nvSpPr>
          <p:spPr>
            <a:xfrm>
              <a:off x="304541" y="674166"/>
              <a:ext cx="1322956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Watson</a:t>
              </a:r>
            </a:p>
          </p:txBody>
        </p:sp>
      </p:grpSp>
      <p:grpSp>
        <p:nvGrpSpPr>
          <p:cNvPr id="324" name="Group 324"/>
          <p:cNvGrpSpPr/>
          <p:nvPr/>
        </p:nvGrpSpPr>
        <p:grpSpPr>
          <a:xfrm>
            <a:off x="3576320" y="6411379"/>
            <a:ext cx="1733974" cy="2891376"/>
            <a:chOff x="0" y="0"/>
            <a:chExt cx="1733973" cy="2891375"/>
          </a:xfrm>
        </p:grpSpPr>
        <p:sp>
          <p:nvSpPr>
            <p:cNvPr id="322" name="Shape 322"/>
            <p:cNvSpPr/>
            <p:nvPr/>
          </p:nvSpPr>
          <p:spPr>
            <a:xfrm>
              <a:off x="0" y="-1"/>
              <a:ext cx="1733974" cy="2891377"/>
            </a:xfrm>
            <a:prstGeom prst="ellipse">
              <a:avLst/>
            </a:prstGeom>
            <a:blipFill rotWithShape="1">
              <a:blip r:embed="rId7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23" name="Shape 323"/>
            <p:cNvSpPr/>
            <p:nvPr/>
          </p:nvSpPr>
          <p:spPr>
            <a:xfrm>
              <a:off x="272687" y="626837"/>
              <a:ext cx="1151890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Perutz</a:t>
              </a:r>
            </a:p>
          </p:txBody>
        </p:sp>
      </p:grpSp>
      <p:grpSp>
        <p:nvGrpSpPr>
          <p:cNvPr id="329" name="Group 329"/>
          <p:cNvGrpSpPr/>
          <p:nvPr/>
        </p:nvGrpSpPr>
        <p:grpSpPr>
          <a:xfrm>
            <a:off x="7477758" y="41949"/>
            <a:ext cx="2494075" cy="3034455"/>
            <a:chOff x="0" y="0"/>
            <a:chExt cx="2494074" cy="3034453"/>
          </a:xfrm>
        </p:grpSpPr>
        <p:grpSp>
          <p:nvGrpSpPr>
            <p:cNvPr id="327" name="Group 327"/>
            <p:cNvGrpSpPr/>
            <p:nvPr/>
          </p:nvGrpSpPr>
          <p:grpSpPr>
            <a:xfrm>
              <a:off x="-1" y="-1"/>
              <a:ext cx="2494076" cy="3034455"/>
              <a:chOff x="0" y="0"/>
              <a:chExt cx="2494074" cy="3034453"/>
            </a:xfrm>
          </p:grpSpPr>
          <p:sp>
            <p:nvSpPr>
              <p:cNvPr id="325" name="Shape 325"/>
              <p:cNvSpPr/>
              <p:nvPr/>
            </p:nvSpPr>
            <p:spPr>
              <a:xfrm>
                <a:off x="-1" y="-1"/>
                <a:ext cx="2494076" cy="3034455"/>
              </a:xfrm>
              <a:prstGeom prst="ellipse">
                <a:avLst/>
              </a:prstGeom>
              <a:blipFill rotWithShape="1">
                <a:blip r:embed="rId8"/>
                <a:srcRect/>
                <a:stretch>
                  <a:fillRect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defRPr sz="2400" b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326" name="Shape 326"/>
              <p:cNvSpPr/>
              <p:nvPr/>
            </p:nvSpPr>
            <p:spPr>
              <a:xfrm>
                <a:off x="-1" y="-1"/>
                <a:ext cx="2494076" cy="3034455"/>
              </a:xfrm>
              <a:prstGeom prst="ellipse">
                <a:avLst/>
              </a:prstGeom>
              <a:noFill/>
              <a:ln w="3175" cap="flat">
                <a:solidFill>
                  <a:srgbClr val="808080"/>
                </a:solidFill>
                <a:prstDash val="solid"/>
                <a:bevel/>
              </a:ln>
              <a:effectLst/>
            </p:spPr>
            <p:txBody>
              <a:bodyPr wrap="square" lIns="65023" tIns="65023" rIns="65023" bIns="65023" numCol="1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defRPr sz="2400" b="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sp>
          <p:nvSpPr>
            <p:cNvPr id="328" name="Shape 328"/>
            <p:cNvSpPr/>
            <p:nvPr/>
          </p:nvSpPr>
          <p:spPr>
            <a:xfrm>
              <a:off x="617473" y="521492"/>
              <a:ext cx="1335370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Randall</a:t>
              </a:r>
            </a:p>
          </p:txBody>
        </p:sp>
      </p:grpSp>
      <p:grpSp>
        <p:nvGrpSpPr>
          <p:cNvPr id="332" name="Group 332"/>
          <p:cNvGrpSpPr/>
          <p:nvPr/>
        </p:nvGrpSpPr>
        <p:grpSpPr>
          <a:xfrm>
            <a:off x="7694507" y="6477546"/>
            <a:ext cx="1920877" cy="2759042"/>
            <a:chOff x="0" y="0"/>
            <a:chExt cx="1920876" cy="2759041"/>
          </a:xfrm>
        </p:grpSpPr>
        <p:sp>
          <p:nvSpPr>
            <p:cNvPr id="330" name="Shape 330"/>
            <p:cNvSpPr/>
            <p:nvPr/>
          </p:nvSpPr>
          <p:spPr>
            <a:xfrm>
              <a:off x="0" y="0"/>
              <a:ext cx="1700893" cy="2759042"/>
            </a:xfrm>
            <a:prstGeom prst="ellipse">
              <a:avLst/>
            </a:prstGeom>
            <a:blipFill rotWithShape="1">
              <a:blip r:embed="rId9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31" name="Shape 331"/>
            <p:cNvSpPr/>
            <p:nvPr/>
          </p:nvSpPr>
          <p:spPr>
            <a:xfrm>
              <a:off x="40024" y="764545"/>
              <a:ext cx="1880853" cy="6497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/>
            <a:p>
              <a:r>
                <a:t>Gosling</a:t>
              </a:r>
            </a:p>
          </p:txBody>
        </p:sp>
      </p:grpSp>
      <p:grpSp>
        <p:nvGrpSpPr>
          <p:cNvPr id="339" name="Group 339"/>
          <p:cNvGrpSpPr/>
          <p:nvPr/>
        </p:nvGrpSpPr>
        <p:grpSpPr>
          <a:xfrm>
            <a:off x="9858726" y="6610773"/>
            <a:ext cx="3146076" cy="3142829"/>
            <a:chOff x="0" y="0"/>
            <a:chExt cx="3146075" cy="3142828"/>
          </a:xfrm>
        </p:grpSpPr>
        <p:pic>
          <p:nvPicPr>
            <p:cNvPr id="333" name="image12.png" descr="caltech grey.png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0" y="650240"/>
              <a:ext cx="3146076" cy="249258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grpSp>
          <p:nvGrpSpPr>
            <p:cNvPr id="338" name="Group 338"/>
            <p:cNvGrpSpPr/>
            <p:nvPr/>
          </p:nvGrpSpPr>
          <p:grpSpPr>
            <a:xfrm>
              <a:off x="1370148" y="0"/>
              <a:ext cx="1625604" cy="2379506"/>
              <a:chOff x="0" y="0"/>
              <a:chExt cx="1625602" cy="2379505"/>
            </a:xfrm>
          </p:grpSpPr>
          <p:grpSp>
            <p:nvGrpSpPr>
              <p:cNvPr id="336" name="Group 336"/>
              <p:cNvGrpSpPr/>
              <p:nvPr/>
            </p:nvGrpSpPr>
            <p:grpSpPr>
              <a:xfrm>
                <a:off x="-1" y="0"/>
                <a:ext cx="1625604" cy="2379506"/>
                <a:chOff x="0" y="0"/>
                <a:chExt cx="1625602" cy="2379505"/>
              </a:xfrm>
            </p:grpSpPr>
            <p:sp>
              <p:nvSpPr>
                <p:cNvPr id="334" name="Shape 334"/>
                <p:cNvSpPr/>
                <p:nvPr/>
              </p:nvSpPr>
              <p:spPr>
                <a:xfrm>
                  <a:off x="-1" y="0"/>
                  <a:ext cx="1625604" cy="2379506"/>
                </a:xfrm>
                <a:prstGeom prst="ellipse">
                  <a:avLst/>
                </a:prstGeom>
                <a:blipFill rotWithShape="1">
                  <a:blip r:embed="rId11"/>
                  <a:srcRect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defRPr sz="2400" b="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  <p:sp>
              <p:nvSpPr>
                <p:cNvPr id="335" name="Shape 335"/>
                <p:cNvSpPr/>
                <p:nvPr/>
              </p:nvSpPr>
              <p:spPr>
                <a:xfrm>
                  <a:off x="-1" y="0"/>
                  <a:ext cx="1625604" cy="2379506"/>
                </a:xfrm>
                <a:prstGeom prst="ellipse">
                  <a:avLst/>
                </a:prstGeom>
                <a:noFill/>
                <a:ln w="3175" cap="flat">
                  <a:solidFill>
                    <a:srgbClr val="808080"/>
                  </a:solidFill>
                  <a:prstDash val="solid"/>
                  <a:bevel/>
                </a:ln>
                <a:effectLst/>
              </p:spPr>
              <p:txBody>
                <a:bodyPr wrap="square" lIns="65023" tIns="65023" rIns="65023" bIns="65023" numCol="1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defRPr sz="2400" b="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/>
                </a:p>
              </p:txBody>
            </p:sp>
          </p:grpSp>
          <p:sp>
            <p:nvSpPr>
              <p:cNvPr id="337" name="Shape 337"/>
              <p:cNvSpPr/>
              <p:nvPr/>
            </p:nvSpPr>
            <p:spPr>
              <a:xfrm>
                <a:off x="230810" y="480703"/>
                <a:ext cx="1105890" cy="44754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65023" tIns="65023" rIns="65023" bIns="65023" numCol="1" anchor="t">
                <a:spAutoFit/>
              </a:bodyPr>
              <a:lstStyle>
                <a:lvl1pPr>
                  <a:defRPr sz="2100"/>
                </a:lvl1pPr>
              </a:lstStyle>
              <a:p>
                <a:r>
                  <a:t>Pauling</a:t>
                </a:r>
              </a:p>
            </p:txBody>
          </p:sp>
        </p:grpSp>
      </p:grpSp>
      <p:sp>
        <p:nvSpPr>
          <p:cNvPr id="340" name="Shape 340"/>
          <p:cNvSpPr/>
          <p:nvPr/>
        </p:nvSpPr>
        <p:spPr>
          <a:xfrm>
            <a:off x="7911253" y="3142826"/>
            <a:ext cx="2384214" cy="3311407"/>
          </a:xfrm>
          <a:prstGeom prst="ellipse">
            <a:avLst/>
          </a:prstGeom>
          <a:blipFill>
            <a:blip r:embed="rId12"/>
            <a:stretch>
              <a:fillRect/>
            </a:stretch>
          </a:blipFill>
          <a:ln w="3175">
            <a:solidFill>
              <a:srgbClr val="808080"/>
            </a:solidFill>
            <a:bevel/>
          </a:ln>
        </p:spPr>
        <p:txBody>
          <a:bodyPr lIns="65023" tIns="65023" rIns="65023" bIns="65023" anchor="ctr"/>
          <a:lstStyle/>
          <a:p>
            <a:pPr defTabSz="914400">
              <a:lnSpc>
                <a:spcPct val="100000"/>
              </a:lnSpc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41" name="Shape 341"/>
          <p:cNvSpPr/>
          <p:nvPr/>
        </p:nvSpPr>
        <p:spPr>
          <a:xfrm>
            <a:off x="3793066" y="11162453"/>
            <a:ext cx="1300481" cy="1300481"/>
          </a:xfrm>
          <a:prstGeom prst="line">
            <a:avLst/>
          </a:prstGeom>
          <a:ln w="12700">
            <a:solidFill>
              <a:srgbClr val="4A7EBB"/>
            </a:solidFill>
            <a:bevel/>
          </a:ln>
        </p:spPr>
        <p:txBody>
          <a:bodyPr lIns="65023" tIns="65023" rIns="65023" bIns="65023"/>
          <a:lstStyle/>
          <a:p>
            <a:pPr algn="l" defTabSz="457200">
              <a:lnSpc>
                <a:spcPct val="100000"/>
              </a:lnSpc>
              <a:defRPr sz="1600" b="0"/>
            </a:pPr>
            <a:endParaRPr/>
          </a:p>
        </p:txBody>
      </p:sp>
      <p:grpSp>
        <p:nvGrpSpPr>
          <p:cNvPr id="344" name="Group 344"/>
          <p:cNvGrpSpPr/>
          <p:nvPr/>
        </p:nvGrpSpPr>
        <p:grpSpPr>
          <a:xfrm>
            <a:off x="7586133" y="3142826"/>
            <a:ext cx="1968535" cy="2817708"/>
            <a:chOff x="0" y="0"/>
            <a:chExt cx="1968534" cy="2817706"/>
          </a:xfrm>
        </p:grpSpPr>
        <p:sp>
          <p:nvSpPr>
            <p:cNvPr id="342" name="Shape 342"/>
            <p:cNvSpPr/>
            <p:nvPr/>
          </p:nvSpPr>
          <p:spPr>
            <a:xfrm>
              <a:off x="0" y="-1"/>
              <a:ext cx="1968535" cy="2817708"/>
            </a:xfrm>
            <a:prstGeom prst="ellipse">
              <a:avLst/>
            </a:prstGeom>
            <a:blipFill rotWithShape="1">
              <a:blip r:embed="rId13"/>
              <a:srcRect/>
              <a:stretch>
                <a:fillRect/>
              </a:stretch>
            </a:blipFill>
            <a:ln w="3175" cap="flat">
              <a:solidFill>
                <a:srgbClr val="80808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43" name="Shape 343"/>
            <p:cNvSpPr/>
            <p:nvPr/>
          </p:nvSpPr>
          <p:spPr>
            <a:xfrm>
              <a:off x="466302" y="532415"/>
              <a:ext cx="1295708" cy="5237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/>
            <a:p>
              <a:r>
                <a:t>Wilkins</a:t>
              </a:r>
            </a:p>
          </p:txBody>
        </p:sp>
      </p:grpSp>
      <p:sp>
        <p:nvSpPr>
          <p:cNvPr id="345" name="Shape 345"/>
          <p:cNvSpPr/>
          <p:nvPr/>
        </p:nvSpPr>
        <p:spPr>
          <a:xfrm>
            <a:off x="2938779" y="3018535"/>
            <a:ext cx="6827522" cy="3292349"/>
          </a:xfrm>
          <a:prstGeom prst="rect">
            <a:avLst/>
          </a:prstGeom>
          <a:solidFill>
            <a:srgbClr val="D9D9D9"/>
          </a:solidFill>
          <a:ln w="38100">
            <a:solidFill>
              <a:srgbClr val="000000"/>
            </a:solidFill>
            <a:bevel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914400">
              <a:lnSpc>
                <a:spcPct val="100000"/>
              </a:lnSpc>
              <a:defRPr sz="2400" i="1"/>
            </a:pPr>
            <a:r>
              <a:rPr sz="3400"/>
              <a:t>“This means that as far as the experimental x-ray effort is concerned there will be at the moment only yourself and Gosling” </a:t>
            </a:r>
          </a:p>
          <a:p>
            <a:pPr algn="l" defTabSz="914400">
              <a:lnSpc>
                <a:spcPct val="100000"/>
              </a:lnSpc>
              <a:defRPr sz="2400"/>
            </a:pPr>
            <a:r>
              <a:rPr sz="3400"/>
              <a:t>– Randall to Franklin, 1951</a:t>
            </a:r>
          </a:p>
        </p:txBody>
      </p:sp>
      <p:pic>
        <p:nvPicPr>
          <p:cNvPr id="346" name="image16-filtered.png" descr="stop_sign.png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294639" y="3460326"/>
            <a:ext cx="4226562" cy="422656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49" name="Group 349"/>
          <p:cNvGrpSpPr/>
          <p:nvPr/>
        </p:nvGrpSpPr>
        <p:grpSpPr>
          <a:xfrm>
            <a:off x="4606713" y="5884333"/>
            <a:ext cx="2628144" cy="3290525"/>
            <a:chOff x="0" y="0"/>
            <a:chExt cx="2628142" cy="3290523"/>
          </a:xfrm>
        </p:grpSpPr>
        <p:sp>
          <p:nvSpPr>
            <p:cNvPr id="347" name="Shape 347"/>
            <p:cNvSpPr/>
            <p:nvPr/>
          </p:nvSpPr>
          <p:spPr>
            <a:xfrm>
              <a:off x="0" y="0"/>
              <a:ext cx="2628143" cy="3290524"/>
            </a:xfrm>
            <a:prstGeom prst="ellipse">
              <a:avLst/>
            </a:prstGeom>
            <a:blipFill rotWithShape="1">
              <a:blip r:embed="rId15"/>
              <a:srcRect/>
              <a:stretch>
                <a:fillRect/>
              </a:stretch>
            </a:blipFill>
            <a:ln w="3175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ctr">
              <a:noAutofit/>
            </a:bodyPr>
            <a:lstStyle/>
            <a:p>
              <a:pPr defTabSz="914400">
                <a:lnSpc>
                  <a:spcPct val="100000"/>
                </a:lnSpc>
                <a:defRPr sz="2400" b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sp>
          <p:nvSpPr>
            <p:cNvPr id="348" name="Shape 348"/>
            <p:cNvSpPr/>
            <p:nvPr/>
          </p:nvSpPr>
          <p:spPr>
            <a:xfrm>
              <a:off x="419913" y="670047"/>
              <a:ext cx="1788317" cy="4602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65023" tIns="65023" rIns="65023" bIns="65023" numCol="1" anchor="t">
              <a:spAutoFit/>
            </a:bodyPr>
            <a:lstStyle>
              <a:lvl1pPr>
                <a:defRPr sz="2200"/>
              </a:lvl1pPr>
            </a:lstStyle>
            <a:p>
              <a:r>
                <a:t>Schrodinger</a:t>
              </a:r>
            </a:p>
          </p:txBody>
        </p:sp>
      </p:grpSp>
      <p:sp>
        <p:nvSpPr>
          <p:cNvPr id="42" name="Rectangle 41"/>
          <p:cNvSpPr/>
          <p:nvPr/>
        </p:nvSpPr>
        <p:spPr>
          <a:xfrm>
            <a:off x="-815213" y="9322193"/>
            <a:ext cx="5733476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i="1" dirty="0" smtClean="0"/>
              <a:t>Credit: Prof. Rafael Jaramillo</a:t>
            </a:r>
            <a:endParaRPr lang="en-US" sz="2200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xit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53" dur="500" fill="hold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-0.184032 0.000000" pathEditMode="relative">
                                      <p:cBhvr>
                                        <p:cTn id="63" dur="20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320843 0.077778" pathEditMode="relative">
                                      <p:cBhvr>
                                        <p:cTn id="82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xit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86" dur="500" fill="hold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0843 0.077778 L 0.004173 0.000000" pathEditMode="relative">
                                      <p:cBhvr>
                                        <p:cTn id="90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" grpId="6" animBg="1" advAuto="0"/>
      <p:bldP spid="318" grpId="7" animBg="1" advAuto="0"/>
      <p:bldP spid="321" grpId="13" animBg="1" advAuto="0"/>
      <p:bldP spid="324" grpId="18" animBg="1" advAuto="0"/>
      <p:bldP spid="329" grpId="3" animBg="1" advAuto="0"/>
      <p:bldP spid="332" grpId="5" animBg="1" advAuto="0"/>
      <p:bldP spid="339" grpId="12" animBg="1" advAuto="0"/>
      <p:bldP spid="340" grpId="10" animBg="1" advAuto="0"/>
      <p:bldP spid="344" grpId="4" animBg="1" advAuto="0"/>
      <p:bldP spid="345" grpId="8" animBg="1" advAuto="0"/>
      <p:bldP spid="345" grpId="9" animBg="1" advAuto="0"/>
      <p:bldP spid="346" grpId="14" animBg="1" advAuto="0"/>
      <p:bldP spid="346" grpId="16" animBg="1" advAuto="0"/>
      <p:bldP spid="349" grpId="1" animBg="1" advAuto="0"/>
      <p:bldP spid="349" grpId="2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Shape 351"/>
          <p:cNvSpPr/>
          <p:nvPr/>
        </p:nvSpPr>
        <p:spPr>
          <a:xfrm>
            <a:off x="-1" y="-1"/>
            <a:ext cx="13004801" cy="1950721"/>
          </a:xfrm>
          <a:prstGeom prst="rect">
            <a:avLst/>
          </a:prstGeom>
          <a:gradFill>
            <a:gsLst>
              <a:gs pos="0">
                <a:srgbClr val="000000"/>
              </a:gs>
              <a:gs pos="63000">
                <a:srgbClr val="FFFFFF"/>
              </a:gs>
            </a:gsLst>
            <a:lin ang="5400000"/>
          </a:gradFill>
          <a:ln w="12700">
            <a:miter lim="400000"/>
          </a:ln>
        </p:spPr>
        <p:txBody>
          <a:bodyPr lIns="65023" tIns="65023" rIns="65023" bIns="65023" anchor="ctr"/>
          <a:lstStyle/>
          <a:p>
            <a:pPr defTabSz="914400">
              <a:lnSpc>
                <a:spcPct val="100000"/>
              </a:lnSpc>
              <a:defRPr sz="24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52" name="Shape 352"/>
          <p:cNvSpPr/>
          <p:nvPr/>
        </p:nvSpPr>
        <p:spPr>
          <a:xfrm>
            <a:off x="3793066" y="11162453"/>
            <a:ext cx="1300481" cy="1300481"/>
          </a:xfrm>
          <a:prstGeom prst="line">
            <a:avLst/>
          </a:prstGeom>
          <a:ln w="12700">
            <a:solidFill>
              <a:srgbClr val="4A7EBB"/>
            </a:solidFill>
            <a:bevel/>
          </a:ln>
        </p:spPr>
        <p:txBody>
          <a:bodyPr lIns="65023" tIns="65023" rIns="65023" bIns="65023"/>
          <a:lstStyle/>
          <a:p>
            <a:pPr algn="l" defTabSz="457200">
              <a:lnSpc>
                <a:spcPct val="100000"/>
              </a:lnSpc>
              <a:defRPr sz="1600" b="0"/>
            </a:pPr>
            <a:endParaRPr/>
          </a:p>
        </p:txBody>
      </p:sp>
      <p:grpSp>
        <p:nvGrpSpPr>
          <p:cNvPr id="355" name="Group 355"/>
          <p:cNvGrpSpPr/>
          <p:nvPr/>
        </p:nvGrpSpPr>
        <p:grpSpPr>
          <a:xfrm>
            <a:off x="198061" y="115846"/>
            <a:ext cx="10945708" cy="2709335"/>
            <a:chOff x="0" y="0"/>
            <a:chExt cx="10945706" cy="2709333"/>
          </a:xfrm>
        </p:grpSpPr>
        <p:pic>
          <p:nvPicPr>
            <p:cNvPr id="353" name="image17.png" descr="watson crick paper header.png"/>
            <p:cNvPicPr>
              <a:picLocks noChangeAspect="1"/>
            </p:cNvPicPr>
            <p:nvPr/>
          </p:nvPicPr>
          <p:blipFill>
            <a:blip r:embed="rId2">
              <a:extLst/>
            </a:blip>
            <a:srcRect t="3477" r="40074" b="56528"/>
            <a:stretch>
              <a:fillRect/>
            </a:stretch>
          </p:blipFill>
          <p:spPr>
            <a:xfrm>
              <a:off x="-1" y="0"/>
              <a:ext cx="5418669" cy="2709334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</p:pic>
        <p:pic>
          <p:nvPicPr>
            <p:cNvPr id="354" name="image18.png" descr="watson crick nature acknowledgment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r="32256" b="79133"/>
            <a:stretch>
              <a:fillRect/>
            </a:stretch>
          </p:blipFill>
          <p:spPr>
            <a:xfrm>
              <a:off x="5310293" y="1408853"/>
              <a:ext cx="5635414" cy="1300481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</p:pic>
      </p:grpSp>
      <p:pic>
        <p:nvPicPr>
          <p:cNvPr id="356" name="image19.png" descr="wilkins paper header.png"/>
          <p:cNvPicPr>
            <a:picLocks noChangeAspect="1"/>
          </p:cNvPicPr>
          <p:nvPr/>
        </p:nvPicPr>
        <p:blipFill>
          <a:blip r:embed="rId4">
            <a:extLst/>
          </a:blip>
          <a:srcRect r="42183" b="60433"/>
          <a:stretch>
            <a:fillRect/>
          </a:stretch>
        </p:blipFill>
        <p:spPr>
          <a:xfrm>
            <a:off x="362490" y="3183933"/>
            <a:ext cx="5495772" cy="2817707"/>
          </a:xfrm>
          <a:prstGeom prst="rect">
            <a:avLst/>
          </a:prstGeom>
          <a:ln w="12700">
            <a:solidFill>
              <a:srgbClr val="000000"/>
            </a:solidFill>
            <a:bevel/>
          </a:ln>
        </p:spPr>
      </p:pic>
      <p:grpSp>
        <p:nvGrpSpPr>
          <p:cNvPr id="359" name="Group 359"/>
          <p:cNvGrpSpPr/>
          <p:nvPr/>
        </p:nvGrpSpPr>
        <p:grpSpPr>
          <a:xfrm>
            <a:off x="261590" y="3556175"/>
            <a:ext cx="12481620" cy="5786250"/>
            <a:chOff x="0" y="0"/>
            <a:chExt cx="12481618" cy="5786248"/>
          </a:xfrm>
        </p:grpSpPr>
        <p:pic>
          <p:nvPicPr>
            <p:cNvPr id="357" name="image21.png" descr="franklin gosling paper header.png"/>
            <p:cNvPicPr>
              <a:picLocks noChangeAspect="1"/>
            </p:cNvPicPr>
            <p:nvPr/>
          </p:nvPicPr>
          <p:blipFill>
            <a:blip r:embed="rId5">
              <a:extLst/>
            </a:blip>
            <a:srcRect r="41429" b="64339"/>
            <a:stretch>
              <a:fillRect/>
            </a:stretch>
          </p:blipFill>
          <p:spPr>
            <a:xfrm>
              <a:off x="-1" y="2806495"/>
              <a:ext cx="6414869" cy="2926081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</p:pic>
        <p:pic>
          <p:nvPicPr>
            <p:cNvPr id="358" name="image22.png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6521084" y="0"/>
              <a:ext cx="5960535" cy="5786249"/>
            </a:xfrm>
            <a:prstGeom prst="rect">
              <a:avLst/>
            </a:prstGeom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5" grpId="1" animBg="1" advAuto="0"/>
      <p:bldP spid="356" grpId="2" animBg="1" advAuto="0"/>
      <p:bldP spid="359" grpId="3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/>
          <p:nvPr/>
        </p:nvSpPr>
        <p:spPr>
          <a:xfrm>
            <a:off x="1805121" y="3248405"/>
            <a:ext cx="9394558" cy="32542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5023" tIns="65023" rIns="65023" bIns="65023">
            <a:spAutoFit/>
          </a:bodyPr>
          <a:lstStyle/>
          <a:p>
            <a:pPr algn="l" defTabSz="914400">
              <a:lnSpc>
                <a:spcPct val="100000"/>
              </a:lnSpc>
              <a:defRPr sz="2400" i="1"/>
            </a:pPr>
            <a:r>
              <a:rPr sz="3400"/>
              <a:t>“She needed a collaborator, and she didn’t have one. Somebody to break the pattern of her thinking, to show her what was right in front of her, to push her up and over.”</a:t>
            </a:r>
          </a:p>
          <a:p>
            <a:pPr algn="l" defTabSz="914400">
              <a:lnSpc>
                <a:spcPct val="100000"/>
              </a:lnSpc>
              <a:defRPr sz="2400"/>
            </a:pPr>
            <a:endParaRPr sz="3400"/>
          </a:p>
          <a:p>
            <a:pPr algn="r" defTabSz="914400">
              <a:lnSpc>
                <a:spcPct val="100000"/>
              </a:lnSpc>
              <a:defRPr sz="2400"/>
            </a:pPr>
            <a:r>
              <a:rPr sz="3400"/>
              <a:t>– A. Klug on Franklin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437232" y="762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dirty="0"/>
              <a:t>Photograph 51</a:t>
            </a:r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9687" y="1868169"/>
            <a:ext cx="7225426" cy="7339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437232" y="762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Standout features?</a:t>
            </a:r>
            <a:endParaRPr dirty="0"/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89687" y="1868169"/>
            <a:ext cx="7225426" cy="733939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7" name="Group 26"/>
          <p:cNvGrpSpPr/>
          <p:nvPr/>
        </p:nvGrpSpPr>
        <p:grpSpPr>
          <a:xfrm>
            <a:off x="653143" y="2764971"/>
            <a:ext cx="5442857" cy="5595258"/>
            <a:chOff x="653143" y="2764971"/>
            <a:chExt cx="5442857" cy="5595258"/>
          </a:xfrm>
        </p:grpSpPr>
        <p:cxnSp>
          <p:nvCxnSpPr>
            <p:cNvPr id="3" name="Straight Arrow Connector 2"/>
            <p:cNvCxnSpPr/>
            <p:nvPr/>
          </p:nvCxnSpPr>
          <p:spPr>
            <a:xfrm flipV="1">
              <a:off x="653143" y="2764971"/>
              <a:ext cx="5442857" cy="2155372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653143" y="4920343"/>
              <a:ext cx="5442857" cy="3439886"/>
            </a:xfrm>
            <a:prstGeom prst="straightConnector1">
              <a:avLst/>
            </a:prstGeom>
            <a:noFill/>
            <a:ln w="57150" cap="flat">
              <a:solidFill>
                <a:srgbClr val="FF0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6" name="Group 25"/>
          <p:cNvGrpSpPr/>
          <p:nvPr/>
        </p:nvGrpSpPr>
        <p:grpSpPr>
          <a:xfrm>
            <a:off x="6959141" y="4201887"/>
            <a:ext cx="3643545" cy="1335977"/>
            <a:chOff x="6959141" y="4201887"/>
            <a:chExt cx="3643545" cy="1335977"/>
          </a:xfrm>
        </p:grpSpPr>
        <p:cxnSp>
          <p:nvCxnSpPr>
            <p:cNvPr id="11" name="Straight Arrow Connector 10"/>
            <p:cNvCxnSpPr/>
            <p:nvPr/>
          </p:nvCxnSpPr>
          <p:spPr>
            <a:xfrm flipH="1" flipV="1">
              <a:off x="7293429" y="4702629"/>
              <a:ext cx="3309257" cy="835235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4" name="Straight Arrow Connector 13"/>
            <p:cNvCxnSpPr/>
            <p:nvPr/>
          </p:nvCxnSpPr>
          <p:spPr>
            <a:xfrm flipH="1" flipV="1">
              <a:off x="6959141" y="5015350"/>
              <a:ext cx="3643545" cy="522514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16" name="Straight Arrow Connector 15"/>
            <p:cNvCxnSpPr/>
            <p:nvPr/>
          </p:nvCxnSpPr>
          <p:spPr>
            <a:xfrm flipH="1" flipV="1">
              <a:off x="7620000" y="4201887"/>
              <a:ext cx="2982686" cy="1306284"/>
            </a:xfrm>
            <a:prstGeom prst="straightConnector1">
              <a:avLst/>
            </a:prstGeom>
            <a:noFill/>
            <a:ln w="57150" cap="flat">
              <a:solidFill>
                <a:srgbClr val="FFC000"/>
              </a:solidFill>
              <a:prstDash val="solid"/>
              <a:miter lim="400000"/>
              <a:tailEnd type="triangle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grpSp>
        <p:nvGrpSpPr>
          <p:cNvPr id="25" name="Group 24"/>
          <p:cNvGrpSpPr/>
          <p:nvPr/>
        </p:nvGrpSpPr>
        <p:grpSpPr>
          <a:xfrm>
            <a:off x="5468927" y="4368801"/>
            <a:ext cx="2100272" cy="2481942"/>
            <a:chOff x="5468927" y="4368801"/>
            <a:chExt cx="2100272" cy="2481942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5566227" y="4368801"/>
              <a:ext cx="2002972" cy="2481942"/>
            </a:xfrm>
            <a:prstGeom prst="line">
              <a:avLst/>
            </a:prstGeom>
            <a:noFill/>
            <a:ln w="66675" cap="flat">
              <a:solidFill>
                <a:schemeClr val="accent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5468927" y="4390572"/>
              <a:ext cx="1802728" cy="2397609"/>
            </a:xfrm>
            <a:prstGeom prst="line">
              <a:avLst/>
            </a:prstGeom>
            <a:noFill/>
            <a:ln w="66675" cap="flat">
              <a:solidFill>
                <a:schemeClr val="accent2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48368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Math tool: Fourier Transform</a:t>
            </a:r>
            <a:endParaRPr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52500" y="605526"/>
            <a:ext cx="11099800" cy="486844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</a:t>
            </a:r>
            <a:r>
              <a:rPr lang="en-US" dirty="0" smtClean="0"/>
              <a:t>a Fourier transform?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19544" y="5473970"/>
            <a:ext cx="2735044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Input</a:t>
            </a:r>
          </a:p>
          <a:p>
            <a:r>
              <a:rPr lang="en-US" sz="3200" dirty="0" smtClean="0">
                <a:solidFill>
                  <a:srgbClr val="00B050"/>
                </a:solidFill>
              </a:rPr>
              <a:t>“Real space”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7232" y="5473970"/>
            <a:ext cx="3940502" cy="9787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>
                <a:solidFill>
                  <a:srgbClr val="FFC000"/>
                </a:solidFill>
              </a:rPr>
              <a:t>Output</a:t>
            </a:r>
          </a:p>
          <a:p>
            <a:r>
              <a:rPr lang="en-US" sz="3200" dirty="0" smtClean="0">
                <a:solidFill>
                  <a:srgbClr val="FFC000"/>
                </a:solidFill>
              </a:rPr>
              <a:t>“Frequency space”</a:t>
            </a:r>
            <a:endParaRPr lang="en-US" sz="3200" dirty="0">
              <a:solidFill>
                <a:srgbClr val="FFC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900" y="3863830"/>
            <a:ext cx="5461000" cy="10795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771900" y="3959274"/>
            <a:ext cx="963089" cy="727335"/>
          </a:xfrm>
          <a:prstGeom prst="rect">
            <a:avLst/>
          </a:prstGeom>
          <a:solidFill>
            <a:srgbClr val="FFC000">
              <a:alpha val="2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76283" y="7764332"/>
            <a:ext cx="1998288" cy="727335"/>
          </a:xfrm>
          <a:prstGeom prst="rect">
            <a:avLst/>
          </a:prstGeom>
          <a:solidFill>
            <a:srgbClr val="FFC000">
              <a:alpha val="23000"/>
            </a:srgb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65024" y="4016946"/>
            <a:ext cx="963089" cy="727335"/>
          </a:xfrm>
          <a:prstGeom prst="rect">
            <a:avLst/>
          </a:prstGeom>
          <a:solidFill>
            <a:schemeClr val="accent2">
              <a:alpha val="23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783479" y="7764331"/>
            <a:ext cx="1444634" cy="727336"/>
          </a:xfrm>
          <a:prstGeom prst="rect">
            <a:avLst/>
          </a:prstGeom>
          <a:solidFill>
            <a:schemeClr val="accent2">
              <a:alpha val="23000"/>
            </a:schemeClr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FFC000">
                <a:alpha val="74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866" y="7531717"/>
            <a:ext cx="9677400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080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Sine </a:t>
            </a:r>
            <a:r>
              <a:rPr lang="en-US" dirty="0" smtClean="0"/>
              <a:t>and Cosine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732973" y="8375051"/>
            <a:ext cx="1227182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8583" indent="-518583">
              <a:defRPr sz="4200"/>
            </a:pPr>
            <a:r>
              <a:rPr lang="en-US" dirty="0" smtClean="0"/>
              <a:t>Period is inversely proportional to frequency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180802" y="2285153"/>
            <a:ext cx="507292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i="1" dirty="0" smtClean="0"/>
              <a:t>(</a:t>
            </a:r>
            <a:r>
              <a:rPr lang="en-US" sz="3000" i="1" dirty="0" err="1" smtClean="0"/>
              <a:t>Boardwork</a:t>
            </a:r>
            <a:r>
              <a:rPr lang="en-US" sz="3000" i="1" dirty="0" smtClean="0"/>
              <a:t> discussion)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13993693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Fourier Transform</a:t>
            </a:r>
            <a:br>
              <a:rPr lang="en-US" dirty="0" smtClean="0"/>
            </a:br>
            <a:r>
              <a:rPr lang="en-US" dirty="0" smtClean="0"/>
              <a:t>Sine and Cosine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611289" y="8573833"/>
            <a:ext cx="12194727" cy="67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8583" indent="-518583">
              <a:defRPr sz="4200"/>
            </a:pPr>
            <a:r>
              <a:rPr lang="en-US" dirty="0" smtClean="0"/>
              <a:t>High intensity spots signify a repeating pattern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07650" y="2541185"/>
            <a:ext cx="507292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i="1" dirty="0" smtClean="0"/>
              <a:t>(</a:t>
            </a:r>
            <a:r>
              <a:rPr lang="en-US" sz="3000" i="1" dirty="0" err="1" smtClean="0"/>
              <a:t>Boardwork</a:t>
            </a:r>
            <a:r>
              <a:rPr lang="en-US" sz="3000" i="1" dirty="0" smtClean="0"/>
              <a:t> discussion)</a:t>
            </a:r>
            <a:endParaRPr lang="en-US" sz="3000" i="1" dirty="0"/>
          </a:p>
        </p:txBody>
      </p:sp>
    </p:spTree>
    <p:extLst>
      <p:ext uri="{BB962C8B-B14F-4D97-AF65-F5344CB8AC3E}">
        <p14:creationId xmlns:p14="http://schemas.microsoft.com/office/powerpoint/2010/main" val="10671559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1015955" y="0"/>
            <a:ext cx="10972890" cy="2189922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Diffraction pattern: frequency space</a:t>
            </a:r>
            <a:endParaRPr dirty="0"/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89687" y="2189922"/>
            <a:ext cx="7225426" cy="733939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396222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437232" y="76200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Patterns and length scales</a:t>
            </a:r>
            <a:endParaRPr dirty="0"/>
          </a:p>
        </p:txBody>
      </p:sp>
      <p:pic>
        <p:nvPicPr>
          <p:cNvPr id="246" name="pasted-image.ti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116052" y="1863509"/>
            <a:ext cx="7225426" cy="7339391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9" name="Straight Arrow Connector 8"/>
          <p:cNvCxnSpPr/>
          <p:nvPr/>
        </p:nvCxnSpPr>
        <p:spPr>
          <a:xfrm flipH="1" flipV="1">
            <a:off x="7364426" y="2738540"/>
            <a:ext cx="21768" cy="5529943"/>
          </a:xfrm>
          <a:prstGeom prst="straightConnector1">
            <a:avLst/>
          </a:prstGeom>
          <a:noFill/>
          <a:ln w="57150" cap="flat">
            <a:solidFill>
              <a:srgbClr val="FF0000"/>
            </a:solidFill>
            <a:prstDash val="solid"/>
            <a:miter lim="400000"/>
            <a:headEnd type="triangle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/>
          <p:cNvCxnSpPr/>
          <p:nvPr/>
        </p:nvCxnSpPr>
        <p:spPr>
          <a:xfrm flipV="1">
            <a:off x="9236766" y="4567341"/>
            <a:ext cx="3" cy="587828"/>
          </a:xfrm>
          <a:prstGeom prst="straightConnector1">
            <a:avLst/>
          </a:prstGeom>
          <a:noFill/>
          <a:ln w="57150" cap="flat">
            <a:solidFill>
              <a:srgbClr val="FFC000"/>
            </a:solidFill>
            <a:prstDash val="solid"/>
            <a:miter lim="400000"/>
            <a:headEnd type="triangle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/>
          <p:cNvCxnSpPr/>
          <p:nvPr/>
        </p:nvCxnSpPr>
        <p:spPr>
          <a:xfrm flipV="1">
            <a:off x="8908398" y="6548540"/>
            <a:ext cx="894424" cy="7922"/>
          </a:xfrm>
          <a:prstGeom prst="straightConnector1">
            <a:avLst/>
          </a:prstGeom>
          <a:noFill/>
          <a:ln w="57150" cap="flat">
            <a:solidFill>
              <a:schemeClr val="accent2"/>
            </a:solidFill>
            <a:prstDash val="solid"/>
            <a:miter lim="400000"/>
            <a:headEnd type="triangle"/>
            <a:tailEnd type="triangle" w="med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00"/>
          <a:stretch/>
        </p:blipFill>
        <p:spPr>
          <a:xfrm>
            <a:off x="865737" y="2042413"/>
            <a:ext cx="3086809" cy="6567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06148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236"/>
          <p:cNvSpPr>
            <a:spLocks noGrp="1"/>
          </p:cNvSpPr>
          <p:nvPr>
            <p:ph type="title"/>
          </p:nvPr>
        </p:nvSpPr>
        <p:spPr>
          <a:xfrm>
            <a:off x="437232" y="0"/>
            <a:ext cx="14650367" cy="246017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/>
              <a:t>Fourier Transform: single helix</a:t>
            </a:r>
            <a:endParaRPr dirty="0"/>
          </a:p>
        </p:txBody>
      </p:sp>
      <p:pic>
        <p:nvPicPr>
          <p:cNvPr id="8" name="helix1.png"/>
          <p:cNvPicPr>
            <a:picLocks noChangeAspect="1"/>
          </p:cNvPicPr>
          <p:nvPr/>
        </p:nvPicPr>
        <p:blipFill rotWithShape="1">
          <a:blip r:embed="rId2">
            <a:extLst/>
          </a:blip>
          <a:srcRect t="12470" b="8674"/>
          <a:stretch/>
        </p:blipFill>
        <p:spPr>
          <a:xfrm>
            <a:off x="88884" y="2329539"/>
            <a:ext cx="6477001" cy="7010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14233" y="2460171"/>
            <a:ext cx="5734616" cy="5825067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hape 404"/>
          <p:cNvSpPr/>
          <p:nvPr/>
        </p:nvSpPr>
        <p:spPr>
          <a:xfrm>
            <a:off x="2232738" y="2132695"/>
            <a:ext cx="194926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Single helix</a:t>
            </a:r>
          </a:p>
        </p:txBody>
      </p:sp>
    </p:spTree>
    <p:extLst>
      <p:ext uri="{BB962C8B-B14F-4D97-AF65-F5344CB8AC3E}">
        <p14:creationId xmlns:p14="http://schemas.microsoft.com/office/powerpoint/2010/main" val="16432301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helix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0712" y="1264558"/>
            <a:ext cx="6477001" cy="8890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asted-image.ti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14233" y="2460171"/>
            <a:ext cx="5734616" cy="5825067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Shape 236"/>
          <p:cNvSpPr>
            <a:spLocks noGrp="1"/>
          </p:cNvSpPr>
          <p:nvPr>
            <p:ph type="title"/>
          </p:nvPr>
        </p:nvSpPr>
        <p:spPr>
          <a:xfrm>
            <a:off x="437232" y="0"/>
            <a:ext cx="14650367" cy="2460171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/>
              <a:t>Fourier Transform: double helix</a:t>
            </a:r>
            <a:endParaRPr dirty="0"/>
          </a:p>
        </p:txBody>
      </p:sp>
      <p:sp>
        <p:nvSpPr>
          <p:cNvPr id="7" name="Shape 406"/>
          <p:cNvSpPr/>
          <p:nvPr/>
        </p:nvSpPr>
        <p:spPr>
          <a:xfrm>
            <a:off x="3338060" y="2655388"/>
            <a:ext cx="2115241" cy="919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900">
                <a:solidFill>
                  <a:srgbClr val="FFFFFF"/>
                </a:solidFill>
              </a:defRPr>
            </a:lvl1pPr>
          </a:lstStyle>
          <a:p>
            <a:r>
              <a:t>Missing band as in Franklin’s image</a:t>
            </a:r>
          </a:p>
        </p:txBody>
      </p:sp>
      <p:sp>
        <p:nvSpPr>
          <p:cNvPr id="8" name="Shape 407"/>
          <p:cNvSpPr/>
          <p:nvPr/>
        </p:nvSpPr>
        <p:spPr>
          <a:xfrm flipH="1">
            <a:off x="3815846" y="3470728"/>
            <a:ext cx="358826" cy="870496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lnSpc>
                <a:spcPct val="100000"/>
              </a:lnSpc>
              <a:defRPr sz="2400" b="0">
                <a:latin typeface="+mn-lt"/>
                <a:ea typeface="+mn-ea"/>
                <a:cs typeface="+mn-cs"/>
                <a:sym typeface="Helvetica Light"/>
              </a:defRPr>
            </a:pPr>
            <a:endParaRPr/>
          </a:p>
        </p:txBody>
      </p:sp>
      <p:sp>
        <p:nvSpPr>
          <p:cNvPr id="9" name="Shape 405"/>
          <p:cNvSpPr/>
          <p:nvPr/>
        </p:nvSpPr>
        <p:spPr>
          <a:xfrm>
            <a:off x="902861" y="2000068"/>
            <a:ext cx="5466508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Two helixes with 3/8 displacement</a:t>
            </a:r>
          </a:p>
        </p:txBody>
      </p:sp>
    </p:spTree>
    <p:extLst>
      <p:ext uri="{BB962C8B-B14F-4D97-AF65-F5344CB8AC3E}">
        <p14:creationId xmlns:p14="http://schemas.microsoft.com/office/powerpoint/2010/main" val="83056441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363"/>
          <p:cNvSpPr>
            <a:spLocks noGrp="1"/>
          </p:cNvSpPr>
          <p:nvPr>
            <p:ph type="body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Calculation of the Century</a:t>
            </a:r>
          </a:p>
        </p:txBody>
      </p:sp>
      <p:pic>
        <p:nvPicPr>
          <p:cNvPr id="364" name="image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866" y="2459857"/>
            <a:ext cx="11803664" cy="60576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image22.png"/>
          <p:cNvPicPr>
            <a:picLocks noChangeAspect="1"/>
          </p:cNvPicPr>
          <p:nvPr/>
        </p:nvPicPr>
        <p:blipFill>
          <a:blip r:embed="rId2">
            <a:extLst/>
          </a:blip>
          <a:srcRect l="5455" t="1872" r="7272" b="8226"/>
          <a:stretch>
            <a:fillRect/>
          </a:stretch>
        </p:blipFill>
        <p:spPr>
          <a:xfrm>
            <a:off x="220487" y="2384213"/>
            <a:ext cx="5852161" cy="5852161"/>
          </a:xfrm>
          <a:prstGeom prst="rect">
            <a:avLst/>
          </a:prstGeom>
          <a:ln w="12700">
            <a:solidFill>
              <a:srgbClr val="000000"/>
            </a:solidFill>
            <a:miter/>
          </a:ln>
        </p:spPr>
      </p:pic>
      <p:sp>
        <p:nvSpPr>
          <p:cNvPr id="367" name="Shape 36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>
                <a:solidFill>
                  <a:srgbClr val="011993"/>
                </a:solidFill>
              </a:defRPr>
            </a:lvl1pPr>
          </a:lstStyle>
          <a:p>
            <a:r>
              <a:t>Diffraction from a double helix</a:t>
            </a:r>
          </a:p>
        </p:txBody>
      </p:sp>
      <p:sp>
        <p:nvSpPr>
          <p:cNvPr id="368" name="Shape 368"/>
          <p:cNvSpPr>
            <a:spLocks noGrp="1"/>
          </p:cNvSpPr>
          <p:nvPr>
            <p:ph type="body" sz="half" idx="1"/>
          </p:nvPr>
        </p:nvSpPr>
        <p:spPr>
          <a:xfrm>
            <a:off x="6289393" y="1851220"/>
            <a:ext cx="6099219" cy="7137152"/>
          </a:xfrm>
          <a:prstGeom prst="rect">
            <a:avLst/>
          </a:prstGeom>
        </p:spPr>
        <p:txBody>
          <a:bodyPr/>
          <a:lstStyle/>
          <a:p>
            <a:pPr marL="342264" indent="-342264" defTabSz="449833">
              <a:spcBef>
                <a:spcPts val="2000"/>
              </a:spcBef>
              <a:defRPr sz="2772"/>
            </a:pPr>
            <a:r>
              <a:rPr dirty="0"/>
              <a:t>Base pair spacing along the helix given by strong reflections at the poles.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rPr dirty="0"/>
              <a:t>Two helices, each with radius </a:t>
            </a:r>
            <a:r>
              <a:rPr b="0" i="1" dirty="0"/>
              <a:t>R</a:t>
            </a:r>
            <a:r>
              <a:rPr dirty="0"/>
              <a:t> and pitch </a:t>
            </a:r>
            <a:r>
              <a:rPr b="0" i="1" dirty="0"/>
              <a:t>P</a:t>
            </a:r>
            <a:r>
              <a:rPr dirty="0"/>
              <a:t>, separated by fraction </a:t>
            </a:r>
            <a:r>
              <a:rPr b="0" i="1" dirty="0"/>
              <a:t>f</a:t>
            </a:r>
            <a:r>
              <a:rPr dirty="0"/>
              <a:t> of </a:t>
            </a:r>
            <a:r>
              <a:rPr b="0" i="1" dirty="0"/>
              <a:t>P</a:t>
            </a:r>
            <a:r>
              <a:rPr dirty="0"/>
              <a:t>. Destructive interference with </a:t>
            </a:r>
            <a:r>
              <a:rPr b="0" i="1" dirty="0"/>
              <a:t>f</a:t>
            </a:r>
            <a:r>
              <a:rPr b="0" dirty="0"/>
              <a:t> ≈ 3/8</a:t>
            </a:r>
            <a:r>
              <a:rPr dirty="0"/>
              <a:t> causes missing 4th Bessel line.</a:t>
            </a:r>
          </a:p>
          <a:p>
            <a:pPr marL="342264" indent="-342264" defTabSz="449833">
              <a:spcBef>
                <a:spcPts val="2000"/>
              </a:spcBef>
              <a:defRPr sz="2772"/>
            </a:pPr>
            <a:endParaRPr dirty="0"/>
          </a:p>
          <a:p>
            <a:pPr marL="342264" indent="-342264" defTabSz="449833">
              <a:spcBef>
                <a:spcPts val="2000"/>
              </a:spcBef>
              <a:defRPr sz="2772"/>
            </a:pPr>
            <a:endParaRPr dirty="0"/>
          </a:p>
          <a:p>
            <a:pPr marL="342264" indent="-342264" defTabSz="449833">
              <a:spcBef>
                <a:spcPts val="2000"/>
              </a:spcBef>
              <a:defRPr sz="2772"/>
            </a:pPr>
            <a:endParaRPr dirty="0"/>
          </a:p>
          <a:p>
            <a:pPr marL="342264" indent="-342264" defTabSz="449833">
              <a:spcBef>
                <a:spcPts val="2000"/>
              </a:spcBef>
              <a:defRPr sz="2772"/>
            </a:pPr>
            <a:r>
              <a:rPr dirty="0"/>
              <a:t>Photo 51 gives helix pitch, angle, radius and radial mass distribution, base pair spacing, and double helix separation.</a:t>
            </a:r>
          </a:p>
        </p:txBody>
      </p:sp>
      <p:sp>
        <p:nvSpPr>
          <p:cNvPr id="369" name="Shape 369"/>
          <p:cNvSpPr/>
          <p:nvPr/>
        </p:nvSpPr>
        <p:spPr>
          <a:xfrm flipH="1">
            <a:off x="1732844" y="3035583"/>
            <a:ext cx="2259" cy="4768427"/>
          </a:xfrm>
          <a:prstGeom prst="line">
            <a:avLst/>
          </a:prstGeom>
          <a:ln w="76200">
            <a:solidFill>
              <a:srgbClr val="000000"/>
            </a:solidFill>
            <a:bevel/>
            <a:headEnd type="triangle"/>
            <a:tailEnd type="triangle"/>
          </a:ln>
        </p:spPr>
        <p:txBody>
          <a:bodyPr lIns="65023" tIns="65023" rIns="65023" bIns="65023"/>
          <a:lstStyle/>
          <a:p>
            <a:pPr algn="l" defTabSz="457200">
              <a:lnSpc>
                <a:spcPct val="100000"/>
              </a:lnSpc>
              <a:defRPr sz="1600" b="0"/>
            </a:pPr>
            <a:endParaRPr/>
          </a:p>
        </p:txBody>
      </p:sp>
      <p:grpSp>
        <p:nvGrpSpPr>
          <p:cNvPr id="372" name="Group 372"/>
          <p:cNvGrpSpPr/>
          <p:nvPr/>
        </p:nvGrpSpPr>
        <p:grpSpPr>
          <a:xfrm>
            <a:off x="1831125" y="4379778"/>
            <a:ext cx="2720556" cy="1861030"/>
            <a:chOff x="0" y="0"/>
            <a:chExt cx="2720554" cy="1861029"/>
          </a:xfrm>
        </p:grpSpPr>
        <p:sp>
          <p:nvSpPr>
            <p:cNvPr id="370" name="Shape 370"/>
            <p:cNvSpPr/>
            <p:nvPr/>
          </p:nvSpPr>
          <p:spPr>
            <a:xfrm>
              <a:off x="0" y="0"/>
              <a:ext cx="2709334" cy="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ysDash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1" name="Shape 371"/>
            <p:cNvSpPr/>
            <p:nvPr/>
          </p:nvSpPr>
          <p:spPr>
            <a:xfrm>
              <a:off x="11221" y="1861029"/>
              <a:ext cx="2709334" cy="1"/>
            </a:xfrm>
            <a:prstGeom prst="line">
              <a:avLst/>
            </a:prstGeom>
            <a:noFill/>
            <a:ln w="76200" cap="flat">
              <a:solidFill>
                <a:srgbClr val="000000"/>
              </a:solidFill>
              <a:prstDash val="sysDash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</p:grpSp>
      <p:grpSp>
        <p:nvGrpSpPr>
          <p:cNvPr id="381" name="Group 381"/>
          <p:cNvGrpSpPr/>
          <p:nvPr/>
        </p:nvGrpSpPr>
        <p:grpSpPr>
          <a:xfrm>
            <a:off x="9006172" y="5173505"/>
            <a:ext cx="2636975" cy="1986247"/>
            <a:chOff x="0" y="0"/>
            <a:chExt cx="2636974" cy="1986246"/>
          </a:xfrm>
        </p:grpSpPr>
        <p:pic>
          <p:nvPicPr>
            <p:cNvPr id="373" name="image27.png"/>
            <p:cNvPicPr>
              <a:picLocks noChangeAspect="1"/>
            </p:cNvPicPr>
            <p:nvPr/>
          </p:nvPicPr>
          <p:blipFill>
            <a:blip r:embed="rId3">
              <a:extLst/>
            </a:blip>
            <a:srcRect t="18220" b="7246"/>
            <a:stretch>
              <a:fillRect/>
            </a:stretch>
          </p:blipFill>
          <p:spPr>
            <a:xfrm>
              <a:off x="0" y="0"/>
              <a:ext cx="987606" cy="19862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4" name="Shape 374"/>
            <p:cNvSpPr/>
            <p:nvPr/>
          </p:nvSpPr>
          <p:spPr>
            <a:xfrm>
              <a:off x="514952" y="220693"/>
              <a:ext cx="191268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5" name="Shape 375"/>
            <p:cNvSpPr/>
            <p:nvPr/>
          </p:nvSpPr>
          <p:spPr>
            <a:xfrm>
              <a:off x="514952" y="1196094"/>
              <a:ext cx="141244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6" name="Shape 376"/>
            <p:cNvSpPr/>
            <p:nvPr/>
          </p:nvSpPr>
          <p:spPr>
            <a:xfrm>
              <a:off x="514952" y="1661545"/>
              <a:ext cx="1912682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bevel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7" name="Shape 377"/>
            <p:cNvSpPr/>
            <p:nvPr/>
          </p:nvSpPr>
          <p:spPr>
            <a:xfrm flipH="1">
              <a:off x="2373600" y="264583"/>
              <a:ext cx="1534" cy="134182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bevel/>
              <a:headEnd type="triangle" w="med" len="med"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8" name="Shape 378"/>
            <p:cNvSpPr/>
            <p:nvPr/>
          </p:nvSpPr>
          <p:spPr>
            <a:xfrm flipH="1">
              <a:off x="1776700" y="1222696"/>
              <a:ext cx="1534" cy="42373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bevel/>
              <a:headEnd type="triangle" w="med" len="med"/>
              <a:tailEnd type="triangle" w="med" len="med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algn="l" defTabSz="457200">
                <a:lnSpc>
                  <a:spcPct val="100000"/>
                </a:lnSpc>
                <a:defRPr sz="1600" b="0"/>
              </a:pPr>
              <a:endParaRPr/>
            </a:p>
          </p:txBody>
        </p:sp>
        <p:sp>
          <p:nvSpPr>
            <p:cNvPr id="379" name="Shape 379"/>
            <p:cNvSpPr/>
            <p:nvPr/>
          </p:nvSpPr>
          <p:spPr>
            <a:xfrm>
              <a:off x="1826434" y="1263280"/>
              <a:ext cx="292384" cy="3296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>
              <a:lvl1pPr algn="l" defTabSz="914400">
                <a:lnSpc>
                  <a:spcPct val="100000"/>
                </a:lnSpc>
                <a:defRPr sz="1100" b="0" i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i="0"/>
              </a:pPr>
              <a:r>
                <a:rPr i="1"/>
                <a:t>fP</a:t>
              </a:r>
            </a:p>
          </p:txBody>
        </p:sp>
        <p:sp>
          <p:nvSpPr>
            <p:cNvPr id="380" name="Shape 380"/>
            <p:cNvSpPr/>
            <p:nvPr/>
          </p:nvSpPr>
          <p:spPr>
            <a:xfrm>
              <a:off x="2427633" y="735646"/>
              <a:ext cx="209341" cy="32966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65023" tIns="65023" rIns="65023" bIns="65023" numCol="1" anchor="t">
              <a:noAutofit/>
            </a:bodyPr>
            <a:lstStyle>
              <a:lvl1pPr algn="l" defTabSz="914400">
                <a:lnSpc>
                  <a:spcPct val="100000"/>
                </a:lnSpc>
                <a:defRPr sz="1100" b="0" i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>
                <a:defRPr i="0"/>
              </a:pPr>
              <a:r>
                <a:rPr i="1"/>
                <a:t>P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11" dur="500" fill="hold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xit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5" dur="500" fill="hold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xit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animEffect transition="out" filter="dissolve">
                                      <p:cBhvr>
                                        <p:cTn id="29" dur="500" fill="hold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" grpId="1" animBg="1" advAuto="0"/>
      <p:bldP spid="369" grpId="2" animBg="1" advAuto="0"/>
      <p:bldP spid="372" grpId="3" animBg="1" advAuto="0"/>
      <p:bldP spid="372" grpId="6" animBg="1" advAuto="0"/>
      <p:bldP spid="381" grpId="4" animBg="1" advAuto="0"/>
      <p:bldP spid="381" grpId="5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Shape 3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Recreation of experiment</a:t>
            </a:r>
          </a:p>
        </p:txBody>
      </p:sp>
      <p:sp>
        <p:nvSpPr>
          <p:cNvPr id="384" name="Shape 384"/>
          <p:cNvSpPr>
            <a:spLocks noGrp="1"/>
          </p:cNvSpPr>
          <p:nvPr>
            <p:ph type="body" sz="quarter" idx="1"/>
          </p:nvPr>
        </p:nvSpPr>
        <p:spPr>
          <a:xfrm>
            <a:off x="370912" y="2425700"/>
            <a:ext cx="6269832" cy="3599905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rPr dirty="0"/>
              <a:t>The basic idea behind the experiment can be reproduced with a laser, beam expander, and spring from a ballpoint pen</a:t>
            </a:r>
          </a:p>
        </p:txBody>
      </p:sp>
      <p:pic>
        <p:nvPicPr>
          <p:cNvPr id="385" name="Screen Shot 2014-04-28 at 12.53.15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2948" y="6273284"/>
            <a:ext cx="6170476" cy="2758287"/>
          </a:xfrm>
          <a:prstGeom prst="rect">
            <a:avLst/>
          </a:prstGeom>
          <a:ln w="12700">
            <a:miter lim="400000"/>
          </a:ln>
        </p:spPr>
      </p:pic>
      <p:sp>
        <p:nvSpPr>
          <p:cNvPr id="386" name="Shape 386"/>
          <p:cNvSpPr/>
          <p:nvPr/>
        </p:nvSpPr>
        <p:spPr>
          <a:xfrm>
            <a:off x="-49263" y="9290049"/>
            <a:ext cx="7794726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1600"/>
            </a:pPr>
            <a:r>
              <a:t>G. Braun, D. Tierney, and H. Schmitzer, The Physics Teacher 49, 140–143 (2011).</a:t>
            </a:r>
          </a:p>
        </p:txBody>
      </p:sp>
      <p:pic>
        <p:nvPicPr>
          <p:cNvPr id="387" name="Screen Shot 2014-04-29 at 5.44.29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47304" y="2582077"/>
            <a:ext cx="5915354" cy="62912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389"/>
          <p:cNvSpPr>
            <a:spLocks noGrp="1"/>
          </p:cNvSpPr>
          <p:nvPr>
            <p:ph type="title"/>
          </p:nvPr>
        </p:nvSpPr>
        <p:spPr>
          <a:xfrm>
            <a:off x="437231" y="120313"/>
            <a:ext cx="12130336" cy="2159000"/>
          </a:xfrm>
          <a:prstGeom prst="rect">
            <a:avLst/>
          </a:prstGeom>
        </p:spPr>
        <p:txBody>
          <a:bodyPr/>
          <a:lstStyle/>
          <a:p>
            <a:r>
              <a:t>Numerical recreation</a:t>
            </a:r>
          </a:p>
        </p:txBody>
      </p:sp>
      <p:sp>
        <p:nvSpPr>
          <p:cNvPr id="390" name="Shape 390"/>
          <p:cNvSpPr>
            <a:spLocks noGrp="1"/>
          </p:cNvSpPr>
          <p:nvPr>
            <p:ph type="body" sz="half" idx="1"/>
          </p:nvPr>
        </p:nvSpPr>
        <p:spPr>
          <a:xfrm>
            <a:off x="952499" y="5637357"/>
            <a:ext cx="11099800" cy="3882778"/>
          </a:xfrm>
          <a:prstGeom prst="rect">
            <a:avLst/>
          </a:prstGeom>
        </p:spPr>
        <p:txBody>
          <a:bodyPr/>
          <a:lstStyle/>
          <a:p>
            <a:pPr marL="400050" indent="-400050" defTabSz="525779">
              <a:spcBef>
                <a:spcPts val="2300"/>
              </a:spcBef>
              <a:defRPr sz="3239"/>
            </a:pPr>
            <a:r>
              <a:rPr dirty="0"/>
              <a:t>The diffraction pattern can also be reproduced by taking the Fourier transform of a helix, which could be approximated by</a:t>
            </a:r>
          </a:p>
          <a:p>
            <a:pPr marL="400050" indent="-400050" defTabSz="525779">
              <a:spcBef>
                <a:spcPts val="2300"/>
              </a:spcBef>
              <a:defRPr sz="3239"/>
            </a:pPr>
            <a:endParaRPr dirty="0"/>
          </a:p>
          <a:p>
            <a:pPr marL="0" indent="0" defTabSz="525779">
              <a:spcBef>
                <a:spcPts val="2300"/>
              </a:spcBef>
              <a:buNone/>
              <a:defRPr sz="3239"/>
            </a:pPr>
            <a:endParaRPr dirty="0"/>
          </a:p>
        </p:txBody>
      </p:sp>
      <p:pic>
        <p:nvPicPr>
          <p:cNvPr id="392" name="Screen Shot 2014-04-29 at 5.50.42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939143" y="1650919"/>
            <a:ext cx="6749143" cy="45252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00" y="7578746"/>
            <a:ext cx="10706100" cy="138430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 smtClean="0"/>
              <a:t>Thursday’s class</a:t>
            </a:r>
            <a:endParaRPr dirty="0"/>
          </a:p>
        </p:txBody>
      </p:sp>
      <p:sp>
        <p:nvSpPr>
          <p:cNvPr id="106" name="Shape 106"/>
          <p:cNvSpPr>
            <a:spLocks noGrp="1"/>
          </p:cNvSpPr>
          <p:nvPr>
            <p:ph type="body" idx="1"/>
          </p:nvPr>
        </p:nvSpPr>
        <p:spPr>
          <a:xfrm>
            <a:off x="952500" y="3000829"/>
            <a:ext cx="11099800" cy="6286500"/>
          </a:xfrm>
          <a:prstGeom prst="rect">
            <a:avLst/>
          </a:prstGeom>
        </p:spPr>
        <p:txBody>
          <a:bodyPr anchor="t"/>
          <a:lstStyle/>
          <a:p>
            <a:pPr marL="444499" indent="-444499"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lang="en-US" dirty="0" smtClean="0"/>
              <a:t>More inverse problems</a:t>
            </a:r>
            <a:endParaRPr lang="en-US" dirty="0" smtClean="0"/>
          </a:p>
          <a:p>
            <a:pPr marL="0" indent="0">
              <a:buNone/>
              <a:defRPr sz="3900"/>
            </a:pPr>
            <a:endParaRPr lang="en-US" dirty="0"/>
          </a:p>
          <a:p>
            <a:pPr marL="0" indent="0">
              <a:buNone/>
              <a:defRPr sz="3900"/>
            </a:pPr>
            <a:r>
              <a:rPr lang="en-US" dirty="0" smtClean="0"/>
              <a:t>Computed tomography and image reconstruction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565936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6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947</Words>
  <Application>Microsoft Macintosh PowerPoint</Application>
  <PresentationFormat>Custom</PresentationFormat>
  <Paragraphs>128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Avenir Roman</vt:lpstr>
      <vt:lpstr>Calibri</vt:lpstr>
      <vt:lpstr>Helvetica</vt:lpstr>
      <vt:lpstr>Helvetica Light</vt:lpstr>
      <vt:lpstr>Arial</vt:lpstr>
      <vt:lpstr>White</vt:lpstr>
      <vt:lpstr>Lecture 7: Inverse problems and the story of DNA</vt:lpstr>
      <vt:lpstr>What is an inverse problem?</vt:lpstr>
      <vt:lpstr>Example: multiplication</vt:lpstr>
      <vt:lpstr>Examples</vt:lpstr>
      <vt:lpstr>Examples</vt:lpstr>
      <vt:lpstr>Sequences: what rule generates the following sequences?</vt:lpstr>
      <vt:lpstr>Practical example: GPS</vt:lpstr>
      <vt:lpstr>PowerPoint Presentation</vt:lpstr>
      <vt:lpstr>PowerPoint Presentation</vt:lpstr>
      <vt:lpstr>PowerPoint Presentation</vt:lpstr>
      <vt:lpstr>Motivation</vt:lpstr>
      <vt:lpstr>What structure? </vt:lpstr>
      <vt:lpstr>X-ray diffraction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Photograph 51</vt:lpstr>
      <vt:lpstr>Standout features?</vt:lpstr>
      <vt:lpstr> Math tool: Fourier Transform</vt:lpstr>
      <vt:lpstr>Sine and Cosine</vt:lpstr>
      <vt:lpstr>Fourier Transform Sine and Cosine</vt:lpstr>
      <vt:lpstr>Diffraction pattern: frequency space</vt:lpstr>
      <vt:lpstr>Patterns and length scales</vt:lpstr>
      <vt:lpstr>Fourier Transform: single helix</vt:lpstr>
      <vt:lpstr>Fourier Transform: double helix</vt:lpstr>
      <vt:lpstr>PowerPoint Presentation</vt:lpstr>
      <vt:lpstr>Diffraction from a double helix</vt:lpstr>
      <vt:lpstr>Recreation of experiment</vt:lpstr>
      <vt:lpstr>Numerical recreation</vt:lpstr>
      <vt:lpstr>Thursday’s class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7: Inverse problems and the story of DNA</dc:title>
  <cp:lastModifiedBy>Microsoft Office User</cp:lastModifiedBy>
  <cp:revision>32</cp:revision>
  <dcterms:modified xsi:type="dcterms:W3CDTF">2017-02-20T20:28:43Z</dcterms:modified>
</cp:coreProperties>
</file>