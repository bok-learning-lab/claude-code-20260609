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Default Extension="mp4" ContentType="video/mp4"/>
  <Default Extension="emf" ContentType="image/x-emf"/>
  <Default Extension="tif" ContentType="image/t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16" r:id="rId2"/>
    <p:sldId id="323" r:id="rId3"/>
    <p:sldId id="324" r:id="rId4"/>
    <p:sldId id="325" r:id="rId5"/>
    <p:sldId id="326" r:id="rId6"/>
    <p:sldId id="327" r:id="rId7"/>
    <p:sldId id="328" r:id="rId8"/>
    <p:sldId id="329" r:id="rId9"/>
    <p:sldId id="341" r:id="rId10"/>
    <p:sldId id="344" r:id="rId11"/>
    <p:sldId id="342" r:id="rId12"/>
    <p:sldId id="343" r:id="rId13"/>
    <p:sldId id="348" r:id="rId14"/>
    <p:sldId id="330" r:id="rId15"/>
    <p:sldId id="331" r:id="rId16"/>
    <p:sldId id="332" r:id="rId17"/>
    <p:sldId id="360" r:id="rId18"/>
    <p:sldId id="357" r:id="rId19"/>
    <p:sldId id="358" r:id="rId20"/>
    <p:sldId id="345" r:id="rId21"/>
    <p:sldId id="349" r:id="rId22"/>
    <p:sldId id="347" r:id="rId23"/>
    <p:sldId id="351" r:id="rId24"/>
    <p:sldId id="352" r:id="rId25"/>
    <p:sldId id="355" r:id="rId26"/>
    <p:sldId id="353" r:id="rId27"/>
    <p:sldId id="359" r:id="rId28"/>
    <p:sldId id="362" r:id="rId2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3"/>
    <p:restoredTop sz="91389"/>
  </p:normalViewPr>
  <p:slideViewPr>
    <p:cSldViewPr snapToGrid="0" snapToObjects="1">
      <p:cViewPr>
        <p:scale>
          <a:sx n="55" d="100"/>
          <a:sy n="55" d="100"/>
        </p:scale>
        <p:origin x="8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282238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Context: particle motion due to thermal</a:t>
            </a:r>
            <a:r>
              <a:rPr lang="en-US" baseline="0" dirty="0" smtClean="0"/>
              <a:t> vibrations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47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400" b="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63" name="Shape 63"/>
          <p:cNvSpPr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>
            <a:noAutofit/>
          </a:bodyPr>
          <a:lstStyle>
            <a:lvl1pPr marL="889000" indent="-571500">
              <a:lnSpc>
                <a:spcPct val="100000"/>
              </a:lnSpc>
              <a:spcBef>
                <a:spcPts val="2400"/>
              </a:spcBef>
              <a:buSzPct val="171000"/>
              <a:defRPr sz="4200" b="0">
                <a:latin typeface="Gill Sans"/>
                <a:ea typeface="Gill Sans"/>
                <a:cs typeface="Gill Sans"/>
                <a:sym typeface="Gill Sans"/>
              </a:defRPr>
            </a:lvl1pPr>
            <a:lvl2pPr marL="1333500" indent="-571500">
              <a:lnSpc>
                <a:spcPct val="100000"/>
              </a:lnSpc>
              <a:spcBef>
                <a:spcPts val="2400"/>
              </a:spcBef>
              <a:buSzPct val="171000"/>
              <a:defRPr sz="4200" b="0">
                <a:latin typeface="Gill Sans"/>
                <a:ea typeface="Gill Sans"/>
                <a:cs typeface="Gill Sans"/>
                <a:sym typeface="Gill Sans"/>
              </a:defRPr>
            </a:lvl2pPr>
            <a:lvl3pPr marL="1778000" indent="-571500">
              <a:lnSpc>
                <a:spcPct val="100000"/>
              </a:lnSpc>
              <a:spcBef>
                <a:spcPts val="2400"/>
              </a:spcBef>
              <a:buSzPct val="171000"/>
              <a:defRPr sz="4200" b="0">
                <a:latin typeface="Gill Sans"/>
                <a:ea typeface="Gill Sans"/>
                <a:cs typeface="Gill Sans"/>
                <a:sym typeface="Gill Sans"/>
              </a:defRPr>
            </a:lvl3pPr>
            <a:lvl4pPr marL="2222500" indent="-571500">
              <a:lnSpc>
                <a:spcPct val="100000"/>
              </a:lnSpc>
              <a:spcBef>
                <a:spcPts val="2400"/>
              </a:spcBef>
              <a:buSzPct val="171000"/>
              <a:defRPr sz="4200" b="0">
                <a:latin typeface="Gill Sans"/>
                <a:ea typeface="Gill Sans"/>
                <a:cs typeface="Gill Sans"/>
                <a:sym typeface="Gill Sans"/>
              </a:defRPr>
            </a:lvl4pPr>
            <a:lvl5pPr marL="2667000" indent="-571500">
              <a:lnSpc>
                <a:spcPct val="100000"/>
              </a:lnSpc>
              <a:spcBef>
                <a:spcPts val="2400"/>
              </a:spcBef>
              <a:buSzPct val="171000"/>
              <a:defRPr sz="4200" b="0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lnSpc>
                <a:spcPct val="100000"/>
              </a:lnSpc>
              <a:defRPr sz="18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t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t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23.emf"/><Relationship Id="rId5" Type="http://schemas.openxmlformats.org/officeDocument/2006/relationships/image" Target="../media/image24.emf"/><Relationship Id="rId6" Type="http://schemas.openxmlformats.org/officeDocument/2006/relationships/image" Target="../media/image26.png"/><Relationship Id="rId7" Type="http://schemas.openxmlformats.org/officeDocument/2006/relationships/image" Target="../media/image25.em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27.emf"/><Relationship Id="rId5" Type="http://schemas.openxmlformats.org/officeDocument/2006/relationships/image" Target="../media/image28.emf"/><Relationship Id="rId6" Type="http://schemas.openxmlformats.org/officeDocument/2006/relationships/image" Target="../media/image29.emf"/><Relationship Id="rId7" Type="http://schemas.openxmlformats.org/officeDocument/2006/relationships/image" Target="../media/image30.emf"/><Relationship Id="rId8" Type="http://schemas.openxmlformats.org/officeDocument/2006/relationships/image" Target="../media/image21.ti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4" Type="http://schemas.openxmlformats.org/officeDocument/2006/relationships/image" Target="../media/image32.png"/><Relationship Id="rId1" Type="http://schemas.microsoft.com/office/2007/relationships/media" Target="../media/media1.mp4"/><Relationship Id="rId2" Type="http://schemas.openxmlformats.org/officeDocument/2006/relationships/video" Target="../media/media1.mp4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ti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tif"/><Relationship Id="rId3" Type="http://schemas.openxmlformats.org/officeDocument/2006/relationships/image" Target="../media/image37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Random walks</a:t>
            </a:r>
            <a:endParaRPr dirty="0"/>
          </a:p>
        </p:txBody>
      </p:sp>
      <p:sp>
        <p:nvSpPr>
          <p:cNvPr id="74" name="Shape 74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615068" cy="6181912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 lang="en-US" dirty="0" smtClean="0"/>
              <a:t>History of random walks</a:t>
            </a:r>
          </a:p>
          <a:p>
            <a:r>
              <a:rPr lang="en-US" dirty="0" smtClean="0"/>
              <a:t>Basic theory of random walks</a:t>
            </a:r>
          </a:p>
          <a:p>
            <a:r>
              <a:rPr lang="en-US" dirty="0" smtClean="0"/>
              <a:t>Einstein’s paper: using random walks to calculate the size of a molecule</a:t>
            </a:r>
          </a:p>
          <a:p>
            <a:r>
              <a:rPr lang="en-US" dirty="0" smtClean="0"/>
              <a:t>Stock prices and random walks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Random walk presentation papers posted tonight</a:t>
            </a:r>
          </a:p>
        </p:txBody>
      </p:sp>
    </p:spTree>
    <p:extLst>
      <p:ext uri="{BB962C8B-B14F-4D97-AF65-F5344CB8AC3E}">
        <p14:creationId xmlns:p14="http://schemas.microsoft.com/office/powerpoint/2010/main" val="16697928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Karl Pearson (1857-1936)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99" y="2603500"/>
            <a:ext cx="6323789" cy="6286500"/>
          </a:xfrm>
        </p:spPr>
        <p:txBody>
          <a:bodyPr>
            <a:normAutofit/>
          </a:bodyPr>
          <a:lstStyle/>
          <a:p>
            <a:r>
              <a:rPr lang="en-US" dirty="0" smtClean="0"/>
              <a:t>English mathematician</a:t>
            </a:r>
          </a:p>
          <a:p>
            <a:r>
              <a:rPr lang="en-US" dirty="0" smtClean="0"/>
              <a:t>Educated at King’s College, Cambridge</a:t>
            </a:r>
          </a:p>
          <a:p>
            <a:r>
              <a:rPr lang="en-US" dirty="0" smtClean="0"/>
              <a:t>Founded the first university statistics department at University College London in 1911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664" y="2177103"/>
            <a:ext cx="4697201" cy="72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516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936" y="180473"/>
            <a:ext cx="11050622" cy="2159000"/>
          </a:xfrm>
        </p:spPr>
        <p:txBody>
          <a:bodyPr>
            <a:normAutofit/>
          </a:bodyPr>
          <a:lstStyle/>
          <a:p>
            <a:r>
              <a:rPr lang="en-US" dirty="0" smtClean="0"/>
              <a:t>First use of the term “random walk”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7" y="2625146"/>
            <a:ext cx="8628418" cy="57017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8465552"/>
            <a:ext cx="12738100" cy="469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625" y="3690685"/>
            <a:ext cx="3885631" cy="29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904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Einstein’s paper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4472" y="2304163"/>
            <a:ext cx="10349132" cy="34546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557" y="2506147"/>
            <a:ext cx="3134011" cy="39140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6110" y="7234106"/>
            <a:ext cx="1193145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457200" hangingPunct="1">
              <a:lnSpc>
                <a:spcPct val="125000"/>
              </a:lnSpc>
              <a:defRPr/>
            </a:pPr>
            <a:r>
              <a:rPr lang="en-US" sz="3000" dirty="0"/>
              <a:t>If Pearson had been a careful reader of the literature, he could have found the answer from the (not yet famous) Mr. </a:t>
            </a:r>
            <a:r>
              <a:rPr lang="en-US" sz="3000" dirty="0" smtClean="0"/>
              <a:t>Einstein!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984394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5217" b="12453"/>
          <a:stretch/>
        </p:blipFill>
        <p:spPr>
          <a:xfrm>
            <a:off x="0" y="160108"/>
            <a:ext cx="11681735" cy="9483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392938" y="4483503"/>
            <a:ext cx="3311386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 smtClean="0"/>
              <a:t>Despite being world-famous for developing special and general relativity, this is one of Einstein’s most highly cited papers.</a:t>
            </a:r>
            <a:endParaRPr lang="en-US" dirty="0"/>
          </a:p>
        </p:txBody>
      </p:sp>
      <p:sp>
        <p:nvSpPr>
          <p:cNvPr id="6" name="Right Brace 5"/>
          <p:cNvSpPr/>
          <p:nvPr/>
        </p:nvSpPr>
        <p:spPr>
          <a:xfrm>
            <a:off x="8775032" y="5513023"/>
            <a:ext cx="336884" cy="1354704"/>
          </a:xfrm>
          <a:prstGeom prst="rightBrace">
            <a:avLst/>
          </a:prstGeom>
          <a:noFill/>
          <a:ln w="539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00755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Actually, history is even more interesting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2576" t="4751" r="12712" b="12247"/>
          <a:stretch/>
        </p:blipFill>
        <p:spPr>
          <a:xfrm>
            <a:off x="437232" y="2780966"/>
            <a:ext cx="5211284" cy="63256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35903"/>
          <a:stretch/>
        </p:blipFill>
        <p:spPr>
          <a:xfrm>
            <a:off x="5840919" y="2780966"/>
            <a:ext cx="6276171" cy="15741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4387634"/>
            <a:ext cx="2206031" cy="3265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66213" y="7685567"/>
            <a:ext cx="6502400" cy="11726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dirty="0" err="1"/>
              <a:t>Bachelier</a:t>
            </a:r>
            <a:r>
              <a:rPr lang="en-US" dirty="0"/>
              <a:t> beat Einstein to the theory of random walks by 5 </a:t>
            </a:r>
            <a:r>
              <a:rPr lang="en-US" dirty="0" smtClean="0"/>
              <a:t>years </a:t>
            </a:r>
            <a:r>
              <a:rPr lang="mr-IN" dirty="0" smtClean="0"/>
              <a:t>–</a:t>
            </a:r>
            <a:r>
              <a:rPr lang="en-US" dirty="0"/>
              <a:t> </a:t>
            </a:r>
            <a:r>
              <a:rPr lang="en-US" dirty="0" smtClean="0"/>
              <a:t>when </a:t>
            </a:r>
            <a:r>
              <a:rPr lang="en-US" dirty="0"/>
              <a:t>working on Stock prices</a:t>
            </a:r>
          </a:p>
        </p:txBody>
      </p:sp>
    </p:spTree>
    <p:extLst>
      <p:ext uri="{BB962C8B-B14F-4D97-AF65-F5344CB8AC3E}">
        <p14:creationId xmlns:p14="http://schemas.microsoft.com/office/powerpoint/2010/main" val="14548322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problem, same result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4816"/>
            <a:ext cx="7393021" cy="39559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38991" y="7160320"/>
            <a:ext cx="2969082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Bachelier’s</a:t>
            </a:r>
            <a:r>
              <a:rPr lang="en-US" dirty="0"/>
              <a:t> result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862" y="3357288"/>
            <a:ext cx="3873500" cy="1549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302" y="5178094"/>
            <a:ext cx="2946400" cy="825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01878" y="7162438"/>
            <a:ext cx="2681824" cy="4626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/>
              <a:t>Einstein’s result</a:t>
            </a:r>
            <a:endParaRPr kumimoji="0" lang="en-US" sz="2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06730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random walk?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89" y="6452603"/>
            <a:ext cx="711200" cy="698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8689" y="2361294"/>
            <a:ext cx="375102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sz="3000" dirty="0" smtClean="0"/>
              <a:t>Start at the origin</a:t>
            </a:r>
          </a:p>
          <a:p>
            <a:pPr marR="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11711733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random walk?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8689" y="2361294"/>
            <a:ext cx="375102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sz="3000" dirty="0" smtClean="0"/>
              <a:t>Start at the origin</a:t>
            </a:r>
          </a:p>
          <a:p>
            <a:pPr marR="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3000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1278688" y="3142055"/>
            <a:ext cx="471354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Flip a fair </a:t>
            </a:r>
            <a:r>
              <a:rPr lang="en-US" sz="3000" dirty="0" smtClean="0"/>
              <a:t>coin</a:t>
            </a:r>
            <a:endParaRPr lang="en-US" sz="3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89" y="6452603"/>
            <a:ext cx="7112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124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random walk?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8689" y="2361294"/>
            <a:ext cx="375102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sz="3000" dirty="0" smtClean="0"/>
              <a:t>Start at the origin</a:t>
            </a:r>
          </a:p>
          <a:p>
            <a:pPr marR="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3000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72" y="6452603"/>
            <a:ext cx="711200" cy="6985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78688" y="3142055"/>
            <a:ext cx="471354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Flip a fair </a:t>
            </a:r>
            <a:r>
              <a:rPr lang="en-US" sz="3000" dirty="0" smtClean="0"/>
              <a:t>coin</a:t>
            </a:r>
            <a:endParaRPr lang="en-US" sz="3000" dirty="0"/>
          </a:p>
        </p:txBody>
      </p:sp>
      <p:sp>
        <p:nvSpPr>
          <p:cNvPr id="19" name="Rectangle 18"/>
          <p:cNvSpPr/>
          <p:nvPr/>
        </p:nvSpPr>
        <p:spPr>
          <a:xfrm>
            <a:off x="1278688" y="3596964"/>
            <a:ext cx="68730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3000" dirty="0"/>
          </a:p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Walking rule: go right if </a:t>
            </a:r>
            <a:r>
              <a:rPr lang="en-US" sz="3000" dirty="0" smtClean="0"/>
              <a:t>heads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592438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random walk?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8689" y="2361294"/>
            <a:ext cx="375102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sz="3000" dirty="0" smtClean="0"/>
              <a:t>Start at the origin</a:t>
            </a:r>
          </a:p>
          <a:p>
            <a:pPr marR="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3000" dirty="0" smtClean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006" y="6452603"/>
            <a:ext cx="711200" cy="6985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78688" y="3142055"/>
            <a:ext cx="471354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Flip a fair </a:t>
            </a:r>
            <a:r>
              <a:rPr lang="en-US" sz="3000" dirty="0" smtClean="0"/>
              <a:t>coin</a:t>
            </a:r>
            <a:endParaRPr lang="en-US" sz="3000" dirty="0"/>
          </a:p>
        </p:txBody>
      </p:sp>
      <p:sp>
        <p:nvSpPr>
          <p:cNvPr id="19" name="Rectangle 18"/>
          <p:cNvSpPr/>
          <p:nvPr/>
        </p:nvSpPr>
        <p:spPr>
          <a:xfrm>
            <a:off x="1278688" y="3596964"/>
            <a:ext cx="68730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3000" dirty="0"/>
          </a:p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Walking rule: go right if </a:t>
            </a:r>
            <a:r>
              <a:rPr lang="en-US" sz="3000" dirty="0" smtClean="0"/>
              <a:t>heads</a:t>
            </a:r>
            <a:endParaRPr lang="en-US" sz="3000" dirty="0"/>
          </a:p>
        </p:txBody>
      </p:sp>
      <p:sp>
        <p:nvSpPr>
          <p:cNvPr id="21" name="Rectangle 20"/>
          <p:cNvSpPr/>
          <p:nvPr/>
        </p:nvSpPr>
        <p:spPr>
          <a:xfrm>
            <a:off x="7203416" y="4033407"/>
            <a:ext cx="206178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800" dirty="0"/>
              <a:t>, left if tails</a:t>
            </a:r>
          </a:p>
        </p:txBody>
      </p:sp>
    </p:spTree>
    <p:extLst>
      <p:ext uri="{BB962C8B-B14F-4D97-AF65-F5344CB8AC3E}">
        <p14:creationId xmlns:p14="http://schemas.microsoft.com/office/powerpoint/2010/main" val="14434245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random walk?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8689" y="2361294"/>
            <a:ext cx="375102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r>
              <a:rPr lang="en-US" sz="3000" dirty="0" smtClean="0"/>
              <a:t>Start at the origin</a:t>
            </a:r>
          </a:p>
          <a:p>
            <a:pPr marR="0" algn="l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3000" dirty="0" smtClean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006" y="6452603"/>
            <a:ext cx="711200" cy="6985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78688" y="3142055"/>
            <a:ext cx="471354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Flip a fair </a:t>
            </a:r>
            <a:r>
              <a:rPr lang="en-US" sz="3000" dirty="0" smtClean="0"/>
              <a:t>coin</a:t>
            </a:r>
            <a:endParaRPr lang="en-US" sz="3000" dirty="0"/>
          </a:p>
        </p:txBody>
      </p:sp>
      <p:sp>
        <p:nvSpPr>
          <p:cNvPr id="19" name="Rectangle 18"/>
          <p:cNvSpPr/>
          <p:nvPr/>
        </p:nvSpPr>
        <p:spPr>
          <a:xfrm>
            <a:off x="1278688" y="3596964"/>
            <a:ext cx="68730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3000" dirty="0"/>
          </a:p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Walking rule: go right if </a:t>
            </a:r>
            <a:r>
              <a:rPr lang="en-US" sz="3000" dirty="0" smtClean="0"/>
              <a:t>heads</a:t>
            </a:r>
            <a:endParaRPr lang="en-US" sz="3000" dirty="0"/>
          </a:p>
        </p:txBody>
      </p:sp>
      <p:sp>
        <p:nvSpPr>
          <p:cNvPr id="20" name="Rectangle 19"/>
          <p:cNvSpPr/>
          <p:nvPr/>
        </p:nvSpPr>
        <p:spPr>
          <a:xfrm>
            <a:off x="1278688" y="4513538"/>
            <a:ext cx="98629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3000" dirty="0"/>
          </a:p>
          <a:p>
            <a:pPr marL="457200" indent="-457200" algn="l">
              <a:buFont typeface="Arial" charset="0"/>
              <a:buChar char="•"/>
            </a:pPr>
            <a:r>
              <a:rPr lang="en-US" sz="3000" dirty="0"/>
              <a:t>Prior history has no influence on next move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3416" y="4033407"/>
            <a:ext cx="206178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800" dirty="0"/>
              <a:t>, left if tails</a:t>
            </a:r>
          </a:p>
        </p:txBody>
      </p:sp>
    </p:spTree>
    <p:extLst>
      <p:ext uri="{BB962C8B-B14F-4D97-AF65-F5344CB8AC3E}">
        <p14:creationId xmlns:p14="http://schemas.microsoft.com/office/powerpoint/2010/main" val="7947844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006" y="6452603"/>
            <a:ext cx="711200" cy="698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321497" y="2603500"/>
            <a:ext cx="1058905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000" dirty="0" smtClean="0"/>
              <a:t>How far do you travel after time T?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2516958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walk in </a:t>
            </a:r>
            <a:r>
              <a:rPr lang="en-US" dirty="0" err="1" smtClean="0"/>
              <a:t>Matlab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50845" y="3276865"/>
            <a:ext cx="65024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2000" b="0" dirty="0">
                <a:latin typeface="courier" charset="0"/>
              </a:rPr>
              <a:t>clear </a:t>
            </a:r>
            <a:r>
              <a:rPr lang="en-US" sz="2000" b="0" dirty="0">
                <a:solidFill>
                  <a:srgbClr val="A020F0"/>
                </a:solidFill>
                <a:latin typeface="courier" charset="0"/>
              </a:rPr>
              <a:t>all</a:t>
            </a:r>
            <a:r>
              <a:rPr lang="en-US" sz="2000" b="0" dirty="0">
                <a:latin typeface="courier" charset="0"/>
              </a:rPr>
              <a:t>;</a:t>
            </a:r>
          </a:p>
          <a:p>
            <a:pPr algn="l"/>
            <a:r>
              <a:rPr lang="en-US" sz="2000" b="0" dirty="0">
                <a:latin typeface="courier" charset="0"/>
              </a:rPr>
              <a:t>close </a:t>
            </a:r>
            <a:r>
              <a:rPr lang="en-US" sz="2000" b="0" dirty="0">
                <a:solidFill>
                  <a:srgbClr val="A020F0"/>
                </a:solidFill>
                <a:latin typeface="courier" charset="0"/>
              </a:rPr>
              <a:t>all</a:t>
            </a:r>
            <a:r>
              <a:rPr lang="en-US" sz="2000" b="0" dirty="0">
                <a:latin typeface="courier" charset="0"/>
              </a:rPr>
              <a:t>;</a:t>
            </a:r>
          </a:p>
          <a:p>
            <a:pPr algn="l"/>
            <a:r>
              <a:rPr lang="en-US" sz="2000" b="0" dirty="0">
                <a:latin typeface="courier" charset="0"/>
              </a:rPr>
              <a:t> </a:t>
            </a:r>
          </a:p>
          <a:p>
            <a:pPr algn="l"/>
            <a:r>
              <a:rPr lang="en-US" sz="2000" b="0" dirty="0">
                <a:solidFill>
                  <a:srgbClr val="228B22"/>
                </a:solidFill>
                <a:latin typeface="courier" charset="0"/>
              </a:rPr>
              <a:t>%starting position</a:t>
            </a:r>
          </a:p>
          <a:p>
            <a:pPr algn="l"/>
            <a:r>
              <a:rPr lang="mr-IN" sz="2000" b="0" dirty="0" err="1">
                <a:latin typeface="courier" charset="0"/>
              </a:rPr>
              <a:t>x</a:t>
            </a:r>
            <a:r>
              <a:rPr lang="mr-IN" sz="2000" b="0" dirty="0">
                <a:latin typeface="courier" charset="0"/>
              </a:rPr>
              <a:t> = 0;</a:t>
            </a:r>
          </a:p>
          <a:p>
            <a:pPr algn="l"/>
            <a:r>
              <a:rPr lang="mr-IN" sz="2000" b="0" dirty="0">
                <a:latin typeface="courier" charset="0"/>
              </a:rPr>
              <a:t> </a:t>
            </a:r>
          </a:p>
          <a:p>
            <a:pPr algn="l"/>
            <a:r>
              <a:rPr lang="en-US" sz="2000" b="0" dirty="0">
                <a:solidFill>
                  <a:srgbClr val="228B22"/>
                </a:solidFill>
                <a:latin typeface="courier" charset="0"/>
              </a:rPr>
              <a:t>%number of steps</a:t>
            </a:r>
          </a:p>
          <a:p>
            <a:pPr algn="l"/>
            <a:r>
              <a:rPr lang="en-US" sz="2000" b="0" dirty="0">
                <a:latin typeface="courier" charset="0"/>
              </a:rPr>
              <a:t>steps = </a:t>
            </a:r>
            <a:r>
              <a:rPr lang="en-US" sz="2000" b="0" dirty="0" smtClean="0">
                <a:latin typeface="courier" charset="0"/>
              </a:rPr>
              <a:t>10</a:t>
            </a:r>
            <a:r>
              <a:rPr lang="en-US" sz="2000" b="0" dirty="0">
                <a:latin typeface="courier" charset="0"/>
              </a:rPr>
              <a:t>;</a:t>
            </a:r>
          </a:p>
          <a:p>
            <a:pPr algn="l"/>
            <a:r>
              <a:rPr lang="en-US" sz="2000" b="0" dirty="0">
                <a:latin typeface="courier" charset="0"/>
              </a:rPr>
              <a:t> </a:t>
            </a:r>
          </a:p>
          <a:p>
            <a:pPr algn="l"/>
            <a:r>
              <a:rPr lang="en-US" sz="2000" b="0" dirty="0">
                <a:solidFill>
                  <a:srgbClr val="228B22"/>
                </a:solidFill>
                <a:latin typeface="courier" charset="0"/>
              </a:rPr>
              <a:t>%carry out steps</a:t>
            </a:r>
          </a:p>
          <a:p>
            <a:pPr algn="l"/>
            <a:r>
              <a:rPr lang="en-US" sz="2000" b="0" dirty="0">
                <a:solidFill>
                  <a:srgbClr val="0000FF"/>
                </a:solidFill>
                <a:latin typeface="courier" charset="0"/>
              </a:rPr>
              <a:t>for</a:t>
            </a:r>
            <a:r>
              <a:rPr lang="en-US" sz="2000" b="0" dirty="0">
                <a:latin typeface="courier" charset="0"/>
              </a:rPr>
              <a:t> </a:t>
            </a:r>
            <a:r>
              <a:rPr lang="en-US" sz="2000" b="0" dirty="0" err="1">
                <a:latin typeface="courier" charset="0"/>
              </a:rPr>
              <a:t>i</a:t>
            </a:r>
            <a:r>
              <a:rPr lang="en-US" sz="2000" b="0" dirty="0">
                <a:latin typeface="courier" charset="0"/>
              </a:rPr>
              <a:t> = 1:steps</a:t>
            </a:r>
          </a:p>
          <a:p>
            <a:pPr algn="l"/>
            <a:r>
              <a:rPr lang="en-US" sz="2000" b="0" dirty="0">
                <a:latin typeface="courier" charset="0"/>
              </a:rPr>
              <a:t> </a:t>
            </a:r>
            <a:r>
              <a:rPr lang="en-US" sz="2000" b="0" dirty="0" smtClean="0">
                <a:latin typeface="courier" charset="0"/>
              </a:rPr>
              <a:t>   </a:t>
            </a:r>
            <a:r>
              <a:rPr lang="en-US" sz="2000" b="0" dirty="0" smtClean="0">
                <a:solidFill>
                  <a:srgbClr val="228B22"/>
                </a:solidFill>
                <a:latin typeface="courier" charset="0"/>
              </a:rPr>
              <a:t>%print </a:t>
            </a:r>
            <a:r>
              <a:rPr lang="en-US" sz="2000" b="0" dirty="0">
                <a:solidFill>
                  <a:srgbClr val="228B22"/>
                </a:solidFill>
                <a:latin typeface="courier" charset="0"/>
              </a:rPr>
              <a:t>results</a:t>
            </a:r>
          </a:p>
          <a:p>
            <a:pPr algn="l"/>
            <a:r>
              <a:rPr lang="mr-IN" sz="2000" b="0" dirty="0">
                <a:latin typeface="courier" charset="0"/>
              </a:rPr>
              <a:t>    </a:t>
            </a:r>
            <a:r>
              <a:rPr lang="en-US" sz="2000" b="0" dirty="0" smtClean="0">
                <a:latin typeface="courier" charset="0"/>
              </a:rPr>
              <a:t>  </a:t>
            </a:r>
            <a:r>
              <a:rPr lang="mr-IN" sz="2000" b="0" dirty="0" err="1" smtClean="0">
                <a:latin typeface="courier" charset="0"/>
              </a:rPr>
              <a:t>disp</a:t>
            </a:r>
            <a:r>
              <a:rPr lang="mr-IN" sz="2000" b="0" dirty="0" smtClean="0">
                <a:latin typeface="courier" charset="0"/>
              </a:rPr>
              <a:t>([</a:t>
            </a:r>
            <a:r>
              <a:rPr lang="en-US" sz="2000" b="0" dirty="0" err="1" smtClean="0">
                <a:latin typeface="courier" charset="0"/>
              </a:rPr>
              <a:t>i</a:t>
            </a:r>
            <a:r>
              <a:rPr lang="mr-IN" sz="2000" b="0" dirty="0" smtClean="0">
                <a:latin typeface="courier" charset="0"/>
              </a:rPr>
              <a:t>, </a:t>
            </a:r>
            <a:r>
              <a:rPr lang="mr-IN" sz="2000" b="0" dirty="0" err="1">
                <a:latin typeface="courier" charset="0"/>
              </a:rPr>
              <a:t>x</a:t>
            </a:r>
            <a:r>
              <a:rPr lang="mr-IN" sz="2000" b="0" dirty="0">
                <a:latin typeface="courier" charset="0"/>
              </a:rPr>
              <a:t>])</a:t>
            </a:r>
          </a:p>
          <a:p>
            <a:pPr algn="l"/>
            <a:r>
              <a:rPr lang="mr-IN" sz="2000" b="0" dirty="0">
                <a:latin typeface="courier" charset="0"/>
              </a:rPr>
              <a:t>    </a:t>
            </a:r>
            <a:r>
              <a:rPr lang="en-US" sz="2000" b="0" dirty="0" smtClean="0">
                <a:latin typeface="courier" charset="0"/>
              </a:rPr>
              <a:t>  </a:t>
            </a:r>
            <a:r>
              <a:rPr lang="mr-IN" sz="2000" b="0" dirty="0" err="1" smtClean="0">
                <a:solidFill>
                  <a:srgbClr val="0000FF"/>
                </a:solidFill>
                <a:latin typeface="courier" charset="0"/>
              </a:rPr>
              <a:t>if</a:t>
            </a:r>
            <a:r>
              <a:rPr lang="mr-IN" sz="2000" b="0" dirty="0" smtClean="0">
                <a:latin typeface="courier" charset="0"/>
              </a:rPr>
              <a:t> </a:t>
            </a:r>
            <a:r>
              <a:rPr lang="mr-IN" sz="2000" b="0" dirty="0" err="1">
                <a:latin typeface="courier" charset="0"/>
              </a:rPr>
              <a:t>rand</a:t>
            </a:r>
            <a:r>
              <a:rPr lang="mr-IN" sz="2000" b="0" dirty="0">
                <a:latin typeface="courier" charset="0"/>
              </a:rPr>
              <a:t>(1,1) &lt; .5</a:t>
            </a:r>
          </a:p>
          <a:p>
            <a:pPr algn="l"/>
            <a:r>
              <a:rPr lang="mr-IN" sz="2000" b="0" dirty="0">
                <a:latin typeface="courier" charset="0"/>
              </a:rPr>
              <a:t>        </a:t>
            </a:r>
            <a:r>
              <a:rPr lang="en-US" sz="2000" b="0" dirty="0" smtClean="0">
                <a:latin typeface="courier" charset="0"/>
              </a:rPr>
              <a:t>    </a:t>
            </a:r>
            <a:r>
              <a:rPr lang="mr-IN" sz="2000" b="0" dirty="0" err="1" smtClean="0">
                <a:latin typeface="courier" charset="0"/>
              </a:rPr>
              <a:t>x</a:t>
            </a:r>
            <a:r>
              <a:rPr lang="mr-IN" sz="2000" b="0" dirty="0" smtClean="0">
                <a:latin typeface="courier" charset="0"/>
              </a:rPr>
              <a:t> </a:t>
            </a:r>
            <a:r>
              <a:rPr lang="mr-IN" sz="2000" b="0" dirty="0">
                <a:latin typeface="courier" charset="0"/>
              </a:rPr>
              <a:t>= x+1;</a:t>
            </a:r>
          </a:p>
          <a:p>
            <a:pPr algn="l"/>
            <a:r>
              <a:rPr lang="mr-IN" sz="2000" b="0" dirty="0">
                <a:latin typeface="courier" charset="0"/>
              </a:rPr>
              <a:t>    </a:t>
            </a:r>
            <a:r>
              <a:rPr lang="en-US" sz="2000" b="0" dirty="0" smtClean="0">
                <a:latin typeface="courier" charset="0"/>
              </a:rPr>
              <a:t>  </a:t>
            </a:r>
            <a:r>
              <a:rPr lang="mr-IN" sz="2000" b="0" dirty="0" err="1" smtClean="0">
                <a:solidFill>
                  <a:srgbClr val="0000FF"/>
                </a:solidFill>
                <a:latin typeface="courier" charset="0"/>
              </a:rPr>
              <a:t>else</a:t>
            </a:r>
            <a:endParaRPr lang="mr-IN" sz="2000" b="0" dirty="0">
              <a:solidFill>
                <a:srgbClr val="0000FF"/>
              </a:solidFill>
              <a:latin typeface="courier" charset="0"/>
            </a:endParaRPr>
          </a:p>
          <a:p>
            <a:pPr algn="l"/>
            <a:r>
              <a:rPr lang="mr-IN" sz="2000" b="0" dirty="0">
                <a:latin typeface="courier" charset="0"/>
              </a:rPr>
              <a:t>        </a:t>
            </a:r>
            <a:r>
              <a:rPr lang="en-US" sz="2000" b="0" dirty="0" smtClean="0">
                <a:latin typeface="courier" charset="0"/>
              </a:rPr>
              <a:t>    </a:t>
            </a:r>
            <a:r>
              <a:rPr lang="mr-IN" sz="2000" b="0" dirty="0" err="1" smtClean="0">
                <a:latin typeface="courier" charset="0"/>
              </a:rPr>
              <a:t>x</a:t>
            </a:r>
            <a:r>
              <a:rPr lang="mr-IN" sz="2000" b="0" dirty="0" smtClean="0">
                <a:latin typeface="courier" charset="0"/>
              </a:rPr>
              <a:t> </a:t>
            </a:r>
            <a:r>
              <a:rPr lang="mr-IN" sz="2000" b="0" dirty="0">
                <a:latin typeface="courier" charset="0"/>
              </a:rPr>
              <a:t>= x-1;</a:t>
            </a:r>
          </a:p>
          <a:p>
            <a:pPr algn="l"/>
            <a:r>
              <a:rPr lang="mr-IN" sz="2000" b="0" dirty="0">
                <a:latin typeface="courier" charset="0"/>
              </a:rPr>
              <a:t>    </a:t>
            </a:r>
            <a:r>
              <a:rPr lang="en-US" sz="2000" b="0" dirty="0" smtClean="0">
                <a:latin typeface="courier" charset="0"/>
              </a:rPr>
              <a:t>  </a:t>
            </a:r>
            <a:r>
              <a:rPr lang="mr-IN" sz="2000" b="0" dirty="0" err="1" smtClean="0">
                <a:solidFill>
                  <a:srgbClr val="0000FF"/>
                </a:solidFill>
                <a:latin typeface="courier" charset="0"/>
              </a:rPr>
              <a:t>end</a:t>
            </a:r>
            <a:endParaRPr lang="mr-IN" sz="2000" b="0" dirty="0">
              <a:solidFill>
                <a:srgbClr val="0000FF"/>
              </a:solidFill>
              <a:latin typeface="courier" charset="0"/>
            </a:endParaRPr>
          </a:p>
          <a:p>
            <a:pPr algn="l"/>
            <a:r>
              <a:rPr lang="en-US" sz="2000" b="0" dirty="0">
                <a:solidFill>
                  <a:srgbClr val="0000FF"/>
                </a:solidFill>
                <a:latin typeface="courier" charset="0"/>
              </a:rPr>
              <a:t>end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245" y="3276865"/>
            <a:ext cx="2044065" cy="58849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813" y="3308984"/>
            <a:ext cx="78486" cy="58528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845" y="2448158"/>
            <a:ext cx="8089900" cy="660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550845" y="8977127"/>
            <a:ext cx="1978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</a:t>
            </a:r>
            <a:r>
              <a:rPr lang="en-US" sz="2000" dirty="0" err="1" smtClean="0"/>
              <a:t>andomwalk.m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78658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Ten 100-step random walks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6"/>
          <a:stretch/>
        </p:blipFill>
        <p:spPr>
          <a:xfrm>
            <a:off x="1324583" y="2198450"/>
            <a:ext cx="10355634" cy="734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127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Ten 10000-step random walks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4" b="2349"/>
          <a:stretch/>
        </p:blipFill>
        <p:spPr>
          <a:xfrm>
            <a:off x="1125168" y="2178998"/>
            <a:ext cx="10537371" cy="74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06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n-US" dirty="0" err="1" smtClean="0"/>
              <a:t>Matlab</a:t>
            </a:r>
            <a:r>
              <a:rPr lang="en-US" dirty="0" smtClean="0"/>
              <a:t> movie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9761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1854" y="839656"/>
            <a:ext cx="11401092" cy="891394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n-US" dirty="0" smtClean="0"/>
              <a:t>Snapshots of the distribution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6436659" y="3657600"/>
            <a:ext cx="1649506" cy="4733365"/>
            <a:chOff x="6436659" y="3657600"/>
            <a:chExt cx="1649506" cy="4733365"/>
          </a:xfrm>
        </p:grpSpPr>
        <p:cxnSp>
          <p:nvCxnSpPr>
            <p:cNvPr id="3" name="Straight Arrow Connector 2"/>
            <p:cNvCxnSpPr/>
            <p:nvPr/>
          </p:nvCxnSpPr>
          <p:spPr>
            <a:xfrm>
              <a:off x="6436659" y="5898776"/>
              <a:ext cx="824753" cy="0"/>
            </a:xfrm>
            <a:prstGeom prst="straightConnector1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6436659" y="8381999"/>
              <a:ext cx="1649506" cy="8966"/>
            </a:xfrm>
            <a:prstGeom prst="straightConnector1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6436659" y="3657600"/>
              <a:ext cx="654424" cy="8964"/>
            </a:xfrm>
            <a:prstGeom prst="straightConnector1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1067893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553" y="890891"/>
            <a:ext cx="12402338" cy="862275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1" i="0" u="none" strike="noStrike" cap="none" spc="0" baseline="0">
                <a:ln>
                  <a:noFill/>
                </a:ln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n-US" dirty="0" smtClean="0"/>
              <a:t>Width of the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870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Turning walking rule into math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89" y="6452603"/>
            <a:ext cx="711200" cy="698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789" y="4489570"/>
            <a:ext cx="4470400" cy="939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98805" y="2618550"/>
            <a:ext cx="1256756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000" dirty="0" smtClean="0"/>
              <a:t>Walking rule: flip a fair coin and move right if heads, left if tails</a:t>
            </a:r>
            <a:endParaRPr lang="en-US" sz="30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770802" y="3509840"/>
            <a:ext cx="10799751" cy="493390"/>
            <a:chOff x="798805" y="3705454"/>
            <a:chExt cx="10799751" cy="49339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2239" y="3705454"/>
              <a:ext cx="457200" cy="457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798805" y="3718713"/>
                  <a:ext cx="10799751" cy="4801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800" dirty="0" smtClean="0"/>
                    <a:t>Let         be the probability of being at position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latin typeface="Cambria Math" charset="0"/>
                        </a:rPr>
                        <m:t>𝒊</m:t>
                      </m:r>
                      <m:r>
                        <a:rPr lang="en-US" sz="2800" b="1" i="1" smtClean="0">
                          <a:latin typeface="Cambria Math" charset="0"/>
                        </a:rPr>
                        <m:t> </m:t>
                      </m:r>
                      <m:r>
                        <a:rPr lang="en-US" sz="2800" b="1" i="0" smtClean="0">
                          <a:latin typeface="Cambria Math" charset="0"/>
                        </a:rPr>
                        <m:t>𝚫</m:t>
                      </m:r>
                      <m:r>
                        <a:rPr lang="en-US" sz="2800" b="1" i="0" smtClean="0">
                          <a:latin typeface="Cambria Math" charset="0"/>
                        </a:rPr>
                        <m:t>𝐱</m:t>
                      </m:r>
                    </m:oMath>
                  </a14:m>
                  <a:r>
                    <a:rPr lang="en-US" sz="2800" dirty="0" smtClean="0"/>
                    <a:t> at time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latin typeface="Cambria Math" charset="0"/>
                        </a:rPr>
                        <m:t>𝒏</m:t>
                      </m:r>
                      <m:r>
                        <a:rPr lang="en-US" sz="2800" b="1" i="1" smtClean="0">
                          <a:latin typeface="Cambria Math" charset="0"/>
                        </a:rPr>
                        <m:t> </m:t>
                      </m:r>
                      <m:r>
                        <a:rPr lang="en-US" sz="2800" b="1" i="0" smtClean="0">
                          <a:latin typeface="Cambria Math" charset="0"/>
                        </a:rPr>
                        <m:t>𝚫</m:t>
                      </m:r>
                      <m:r>
                        <a:rPr lang="en-US" sz="2800" b="1" i="0" smtClean="0">
                          <a:latin typeface="Cambria Math" charset="0"/>
                        </a:rPr>
                        <m:t>𝐭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805" y="3718713"/>
                  <a:ext cx="10799751" cy="480131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677" t="-22785" b="-341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953" y="6681361"/>
            <a:ext cx="609600" cy="342900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10526451" y="7174576"/>
            <a:ext cx="1206229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headEnd type="arrow" w="lg" len="lg"/>
            <a:tailEnd type="arrow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352590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fundamental equation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89" y="7375692"/>
            <a:ext cx="10896600" cy="1130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89" y="6452603"/>
            <a:ext cx="711200" cy="698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789" y="2358189"/>
            <a:ext cx="9042400" cy="939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569" y="5033810"/>
            <a:ext cx="2349500" cy="10287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34028" y="3515280"/>
            <a:ext cx="1837361" cy="97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MATH!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(AM 105)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651812" y="3496235"/>
            <a:ext cx="17929" cy="1147483"/>
          </a:xfrm>
          <a:prstGeom prst="straightConnector1">
            <a:avLst/>
          </a:prstGeom>
          <a:noFill/>
          <a:ln w="66675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036554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232" y="463955"/>
            <a:ext cx="12130336" cy="2159000"/>
          </a:xfrm>
        </p:spPr>
        <p:txBody>
          <a:bodyPr/>
          <a:lstStyle/>
          <a:p>
            <a:r>
              <a:rPr lang="en-US" dirty="0" smtClean="0"/>
              <a:t>Diffusion/heat equation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71" y="7765645"/>
            <a:ext cx="10896600" cy="1130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071" y="6842556"/>
            <a:ext cx="711200" cy="698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414" y="2847544"/>
            <a:ext cx="2349500" cy="1028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414" y="4368800"/>
            <a:ext cx="2578100" cy="1016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689" y="2796744"/>
            <a:ext cx="6070600" cy="1130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589" y="4764373"/>
            <a:ext cx="1854200" cy="469900"/>
          </a:xfrm>
          <a:prstGeom prst="rect">
            <a:avLst/>
          </a:prstGeom>
        </p:spPr>
      </p:pic>
      <p:pic>
        <p:nvPicPr>
          <p:cNvPr id="16" name="droppedImage.tiff"/>
          <p:cNvPicPr>
            <a:picLocks noChangeAspect="1"/>
          </p:cNvPicPr>
          <p:nvPr/>
        </p:nvPicPr>
        <p:blipFill rotWithShape="1">
          <a:blip r:embed="rId8">
            <a:extLst/>
          </a:blip>
          <a:srcRect l="33383" t="71237" r="34851" b="4827"/>
          <a:stretch/>
        </p:blipFill>
        <p:spPr>
          <a:xfrm>
            <a:off x="8945827" y="5384800"/>
            <a:ext cx="3621741" cy="21336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223003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Einstein’s paper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2156028"/>
            <a:ext cx="9906000" cy="74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608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points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16782" y="5264782"/>
            <a:ext cx="102657" cy="4626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3450" y="9031466"/>
            <a:ext cx="10661920" cy="463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www.sciencemag.org</a:t>
            </a:r>
            <a:r>
              <a:rPr lang="en-US" dirty="0"/>
              <a:t>/</a:t>
            </a:r>
            <a:r>
              <a:rPr lang="en-US" dirty="0" err="1"/>
              <a:t>cgi</a:t>
            </a:r>
            <a:r>
              <a:rPr lang="en-US" dirty="0"/>
              <a:t>/content/abstract/327/5965/560</a:t>
            </a:r>
          </a:p>
        </p:txBody>
      </p:sp>
      <p:pic>
        <p:nvPicPr>
          <p:cNvPr id="9" name="N4_Well-2.mov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6948792" y="5208391"/>
            <a:ext cx="4876800" cy="3657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/>
          <p:cNvSpPr/>
          <p:nvPr/>
        </p:nvSpPr>
        <p:spPr>
          <a:xfrm>
            <a:off x="1130571" y="1727649"/>
            <a:ext cx="10951182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>
                <a:solidFill>
                  <a:srgbClr val="002E7A"/>
                </a:solidFill>
              </a:defRPr>
            </a:pPr>
            <a:endParaRPr lang="en-US" sz="2800" u="sng" dirty="0">
              <a:solidFill>
                <a:schemeClr val="tx1"/>
              </a:solidFill>
            </a:endParaRPr>
          </a:p>
          <a:p>
            <a:pPr marL="514350" indent="-514350" algn="l">
              <a:buFont typeface="+mj-lt"/>
              <a:buAutoNum type="arabicPeriod"/>
              <a:defRPr sz="3500">
                <a:solidFill>
                  <a:srgbClr val="002E7A"/>
                </a:solidFill>
              </a:defRPr>
            </a:pPr>
            <a:r>
              <a:rPr lang="en-US" sz="2800" dirty="0" smtClean="0">
                <a:solidFill>
                  <a:schemeClr val="tx1"/>
                </a:solidFill>
              </a:rPr>
              <a:t>“Visible</a:t>
            </a:r>
            <a:r>
              <a:rPr lang="en-US" sz="2800" dirty="0">
                <a:solidFill>
                  <a:schemeClr val="tx1"/>
                </a:solidFill>
              </a:rPr>
              <a:t>” (</a:t>
            </a:r>
            <a:r>
              <a:rPr lang="en-US" sz="2800" dirty="0" err="1">
                <a:solidFill>
                  <a:schemeClr val="tx1"/>
                </a:solidFill>
              </a:rPr>
              <a:t>ie</a:t>
            </a:r>
            <a:r>
              <a:rPr lang="en-US" sz="2800" dirty="0">
                <a:solidFill>
                  <a:schemeClr val="tx1"/>
                </a:solidFill>
              </a:rPr>
              <a:t>, micron sized) particles will jiggle </a:t>
            </a:r>
            <a:r>
              <a:rPr lang="en-US" sz="2800" dirty="0" smtClean="0">
                <a:solidFill>
                  <a:schemeClr val="tx1"/>
                </a:solidFill>
              </a:rPr>
              <a:t>around in </a:t>
            </a:r>
            <a:r>
              <a:rPr lang="en-US" sz="2800" dirty="0">
                <a:solidFill>
                  <a:schemeClr val="tx1"/>
                </a:solidFill>
              </a:rPr>
              <a:t>a </a:t>
            </a:r>
            <a:r>
              <a:rPr lang="en-US" sz="2800" dirty="0" smtClean="0">
                <a:solidFill>
                  <a:schemeClr val="tx1"/>
                </a:solidFill>
              </a:rPr>
              <a:t> liquid</a:t>
            </a:r>
            <a:r>
              <a:rPr lang="en-US" sz="2800" dirty="0">
                <a:solidFill>
                  <a:schemeClr val="tx1"/>
                </a:solidFill>
              </a:rPr>
              <a:t>. i.e. doing a random walk. 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20196" y="3343628"/>
            <a:ext cx="10461557" cy="1782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smtClean="0">
                <a:solidFill>
                  <a:schemeClr val="tx1"/>
                </a:solidFill>
              </a:rPr>
              <a:t>This </a:t>
            </a:r>
            <a:r>
              <a:rPr lang="en-US" sz="2400" dirty="0">
                <a:solidFill>
                  <a:schemeClr val="tx1"/>
                </a:solidFill>
              </a:rPr>
              <a:t>is predicted on theoretical grounds, but </a:t>
            </a:r>
            <a:r>
              <a:rPr lang="en-US" sz="2400" dirty="0" smtClean="0">
                <a:solidFill>
                  <a:schemeClr val="tx1"/>
                </a:solidFill>
              </a:rPr>
              <a:t>had neither </a:t>
            </a:r>
            <a:r>
              <a:rPr lang="en-US" sz="2400" dirty="0">
                <a:solidFill>
                  <a:schemeClr val="tx1"/>
                </a:solidFill>
              </a:rPr>
              <a:t>been observed nor expected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sz="2400" dirty="0">
              <a:solidFill>
                <a:schemeClr val="tx1"/>
              </a:solidFill>
            </a:endParaRPr>
          </a:p>
          <a:p>
            <a:pPr algn="l"/>
            <a:endParaRPr lang="en-US" dirty="0" smtClean="0"/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Now it is easy to observe!</a:t>
            </a:r>
          </a:p>
        </p:txBody>
      </p:sp>
    </p:spTree>
    <p:extLst>
      <p:ext uri="{BB962C8B-B14F-4D97-AF65-F5344CB8AC3E}">
        <p14:creationId xmlns:p14="http://schemas.microsoft.com/office/powerpoint/2010/main" val="13112080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points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16782" y="5264782"/>
            <a:ext cx="102657" cy="4626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30571" y="1727649"/>
            <a:ext cx="1095118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>
                <a:solidFill>
                  <a:srgbClr val="002E7A"/>
                </a:solidFill>
              </a:defRPr>
            </a:pPr>
            <a:endParaRPr lang="en-US" sz="2800" u="sng" dirty="0">
              <a:solidFill>
                <a:schemeClr val="tx1"/>
              </a:solidFill>
            </a:endParaRPr>
          </a:p>
          <a:p>
            <a:pPr marL="514350" indent="-514350" algn="l">
              <a:buFont typeface="+mj-lt"/>
              <a:buAutoNum type="arabicPeriod"/>
              <a:defRPr sz="3500">
                <a:solidFill>
                  <a:srgbClr val="002E7A"/>
                </a:solidFill>
              </a:defRPr>
            </a:pPr>
            <a:r>
              <a:rPr lang="en-US" sz="2800" dirty="0" smtClean="0">
                <a:solidFill>
                  <a:schemeClr val="tx1"/>
                </a:solidFill>
              </a:rPr>
              <a:t>“Visible</a:t>
            </a:r>
            <a:r>
              <a:rPr lang="en-US" sz="2800" dirty="0">
                <a:solidFill>
                  <a:schemeClr val="tx1"/>
                </a:solidFill>
              </a:rPr>
              <a:t>” (</a:t>
            </a:r>
            <a:r>
              <a:rPr lang="en-US" sz="2800" dirty="0" err="1">
                <a:solidFill>
                  <a:schemeClr val="tx1"/>
                </a:solidFill>
              </a:rPr>
              <a:t>ie</a:t>
            </a:r>
            <a:r>
              <a:rPr lang="en-US" sz="2800" dirty="0">
                <a:solidFill>
                  <a:schemeClr val="tx1"/>
                </a:solidFill>
              </a:rPr>
              <a:t>, micron sized) particles will jiggle </a:t>
            </a:r>
            <a:r>
              <a:rPr lang="en-US" sz="2800" dirty="0" smtClean="0">
                <a:solidFill>
                  <a:schemeClr val="tx1"/>
                </a:solidFill>
              </a:rPr>
              <a:t>around in </a:t>
            </a:r>
            <a:r>
              <a:rPr lang="en-US" sz="2800" dirty="0">
                <a:solidFill>
                  <a:schemeClr val="tx1"/>
                </a:solidFill>
              </a:rPr>
              <a:t>a </a:t>
            </a:r>
            <a:r>
              <a:rPr lang="en-US" sz="2800" dirty="0" smtClean="0">
                <a:solidFill>
                  <a:schemeClr val="tx1"/>
                </a:solidFill>
              </a:rPr>
              <a:t> liquid</a:t>
            </a:r>
            <a:r>
              <a:rPr lang="en-US" sz="2800" dirty="0">
                <a:solidFill>
                  <a:schemeClr val="tx1"/>
                </a:solidFill>
              </a:rPr>
              <a:t>. i.e. doing a random walk. 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514350" indent="-514350" algn="l">
              <a:buFont typeface="+mj-lt"/>
              <a:buAutoNum type="arabicPeriod"/>
              <a:defRPr sz="3500">
                <a:solidFill>
                  <a:srgbClr val="002E7A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marL="514350" indent="-514350" algn="l">
              <a:buFont typeface="+mj-lt"/>
              <a:buAutoNum type="arabicPeriod"/>
              <a:defRPr sz="3500">
                <a:solidFill>
                  <a:srgbClr val="002E7A"/>
                </a:solidFill>
              </a:defRPr>
            </a:pPr>
            <a:endParaRPr lang="en-US" sz="2800" dirty="0" smtClean="0">
              <a:solidFill>
                <a:schemeClr val="tx1"/>
              </a:solidFill>
            </a:endParaRPr>
          </a:p>
          <a:p>
            <a:pPr algn="l">
              <a:defRPr sz="3500">
                <a:solidFill>
                  <a:srgbClr val="002E7A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algn="l">
              <a:defRPr sz="3500">
                <a:solidFill>
                  <a:srgbClr val="002E7A"/>
                </a:solidFill>
              </a:defRPr>
            </a:pPr>
            <a:endParaRPr lang="en-US" sz="2800" dirty="0" smtClean="0">
              <a:solidFill>
                <a:schemeClr val="tx1"/>
              </a:solidFill>
            </a:endParaRPr>
          </a:p>
          <a:p>
            <a:pPr algn="l">
              <a:defRPr sz="3500">
                <a:solidFill>
                  <a:srgbClr val="002E7A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algn="l">
              <a:defRPr sz="3500">
                <a:solidFill>
                  <a:srgbClr val="002E7A"/>
                </a:solidFill>
              </a:defRPr>
            </a:pPr>
            <a:endParaRPr lang="en-US" sz="2800" dirty="0" smtClean="0">
              <a:solidFill>
                <a:schemeClr val="tx1"/>
              </a:solidFill>
            </a:endParaRPr>
          </a:p>
          <a:p>
            <a:pPr algn="l">
              <a:defRPr sz="3500">
                <a:solidFill>
                  <a:srgbClr val="002E7A"/>
                </a:solidFill>
              </a:defRPr>
            </a:pPr>
            <a:r>
              <a:rPr lang="en-US" sz="2800" dirty="0" smtClean="0">
                <a:solidFill>
                  <a:schemeClr val="tx1"/>
                </a:solidFill>
              </a:rPr>
              <a:t>2.  Calculation of diffusion constant of the particles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20196" y="3341884"/>
            <a:ext cx="10461557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This </a:t>
            </a:r>
            <a:r>
              <a:rPr lang="en-US" sz="2400" dirty="0">
                <a:solidFill>
                  <a:schemeClr val="tx1"/>
                </a:solidFill>
              </a:rPr>
              <a:t>is predicted on theoretical grounds, but </a:t>
            </a:r>
            <a:r>
              <a:rPr lang="en-US" sz="2400" dirty="0" smtClean="0">
                <a:solidFill>
                  <a:schemeClr val="tx1"/>
                </a:solidFill>
              </a:rPr>
              <a:t>had neither </a:t>
            </a:r>
            <a:r>
              <a:rPr lang="en-US" sz="2400" dirty="0">
                <a:solidFill>
                  <a:schemeClr val="tx1"/>
                </a:solidFill>
              </a:rPr>
              <a:t>been observed nor expected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8" name="image-356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5631" y="6202903"/>
            <a:ext cx="4229100" cy="10541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991495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43" y="1206230"/>
            <a:ext cx="12422070" cy="60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47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/>
        </p:nvSpPr>
        <p:spPr>
          <a:xfrm>
            <a:off x="937728" y="2374900"/>
            <a:ext cx="702948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Random Walks and Stock Prices</a:t>
            </a:r>
          </a:p>
        </p:txBody>
      </p:sp>
      <p:pic>
        <p:nvPicPr>
          <p:cNvPr id="443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2019300"/>
            <a:ext cx="10845800" cy="2578100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Shape 444"/>
          <p:cNvSpPr/>
          <p:nvPr/>
        </p:nvSpPr>
        <p:spPr>
          <a:xfrm>
            <a:off x="966322" y="5223304"/>
            <a:ext cx="6426201" cy="462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This is a </a:t>
            </a:r>
            <a:r>
              <a:rPr dirty="0" smtClean="0"/>
              <a:t>review</a:t>
            </a:r>
            <a:r>
              <a:rPr lang="en-US" dirty="0" smtClean="0"/>
              <a:t> article (not posted) </a:t>
            </a:r>
            <a:r>
              <a:rPr dirty="0" smtClean="0"/>
              <a:t>...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30511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6782" y="1724211"/>
            <a:ext cx="5339889" cy="7251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8247" y="1857561"/>
            <a:ext cx="5562600" cy="6985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454"/>
          <p:cNvSpPr/>
          <p:nvPr/>
        </p:nvSpPr>
        <p:spPr>
          <a:xfrm>
            <a:off x="6521824" y="1857561"/>
            <a:ext cx="5526741" cy="1387663"/>
          </a:xfrm>
          <a:prstGeom prst="rect">
            <a:avLst/>
          </a:prstGeom>
          <a:solidFill>
            <a:srgbClr val="FFFB00">
              <a:alpha val="47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4739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5051</TotalTime>
  <Words>526</Words>
  <Application>Microsoft Macintosh PowerPoint</Application>
  <PresentationFormat>Custom</PresentationFormat>
  <Paragraphs>103</Paragraphs>
  <Slides>28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Avenir Roman</vt:lpstr>
      <vt:lpstr>Cambria Math</vt:lpstr>
      <vt:lpstr>courier</vt:lpstr>
      <vt:lpstr>Gill Sans</vt:lpstr>
      <vt:lpstr>Helvetica</vt:lpstr>
      <vt:lpstr>Helvetica Light</vt:lpstr>
      <vt:lpstr>Arial</vt:lpstr>
      <vt:lpstr>White</vt:lpstr>
      <vt:lpstr>Random walks</vt:lpstr>
      <vt:lpstr>Karl Pearson (1857-1936)</vt:lpstr>
      <vt:lpstr>First use of the term “random walk”</vt:lpstr>
      <vt:lpstr>Einstein’s paper</vt:lpstr>
      <vt:lpstr>PowerPoint Presentation</vt:lpstr>
      <vt:lpstr>Actually, history is even more interesting</vt:lpstr>
      <vt:lpstr>Different problem, same result</vt:lpstr>
      <vt:lpstr>What is a random walk?</vt:lpstr>
      <vt:lpstr>What is a random walk?</vt:lpstr>
      <vt:lpstr>What is a random walk?</vt:lpstr>
      <vt:lpstr>What is a random walk?</vt:lpstr>
      <vt:lpstr>What is a random walk?</vt:lpstr>
      <vt:lpstr>Question</vt:lpstr>
      <vt:lpstr>Random walk in Matlab</vt:lpstr>
      <vt:lpstr>Ten 100-step random walks</vt:lpstr>
      <vt:lpstr>Ten 10000-step random walks</vt:lpstr>
      <vt:lpstr>PowerPoint Presentation</vt:lpstr>
      <vt:lpstr>PowerPoint Presentation</vt:lpstr>
      <vt:lpstr>PowerPoint Presentation</vt:lpstr>
      <vt:lpstr>Turning walking rule into math</vt:lpstr>
      <vt:lpstr>The fundamental equation</vt:lpstr>
      <vt:lpstr>Diffusion/heat equation</vt:lpstr>
      <vt:lpstr>Einstein’s paper</vt:lpstr>
      <vt:lpstr>Main points</vt:lpstr>
      <vt:lpstr>Main points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Conventional x-rays </dc:title>
  <cp:lastModifiedBy>Microsoft Office User</cp:lastModifiedBy>
  <cp:revision>80</cp:revision>
  <dcterms:modified xsi:type="dcterms:W3CDTF">2017-03-01T17:35:17Z</dcterms:modified>
</cp:coreProperties>
</file>