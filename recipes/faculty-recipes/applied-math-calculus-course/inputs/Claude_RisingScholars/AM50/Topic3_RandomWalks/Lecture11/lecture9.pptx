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media1.mov" ContentType="video/unknown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Solve heat equation on board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x_i =x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typo in p(x,t): negative exponent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var=sigma^2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sx="100000" sy="100000" kx="0" ky="0" algn="b" rotWithShape="0" blurRad="88900" dist="38100" dir="270000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9" name="Shape 3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7" name="Shape 4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 fontScale="100000" lnSpcReduction="0"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tif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video" Target="../media/media1.mov"/><Relationship Id="rId3" Type="http://schemas.microsoft.com/office/2007/relationships/media" Target="../media/media1.mov"/><Relationship Id="rId4" Type="http://schemas.openxmlformats.org/officeDocument/2006/relationships/image" Target="../media/image14.png"/><Relationship Id="rId5" Type="http://schemas.openxmlformats.org/officeDocument/2006/relationships/hyperlink" Target="http://www.sciencemag.org/cgi/content/abstract/327/5965/560" TargetMode="Externa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2.png"/><Relationship Id="rId6" Type="http://schemas.openxmlformats.org/officeDocument/2006/relationships/image" Target="../media/image50.png"/></Relationships>
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
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/Relationships>
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2"/>
            <a:r>
              <a:t>Lecture 9</a:t>
            </a:r>
          </a:p>
        </p:txBody>
      </p:sp>
      <p:sp>
        <p:nvSpPr>
          <p:cNvPr id="65" name="Shape 65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continuum limit of a random walk</a:t>
            </a:r>
          </a:p>
          <a:p>
            <a:pPr/>
            <a:r>
              <a:t>Einstein’s paper on particle diffusion</a:t>
            </a:r>
          </a:p>
          <a:p>
            <a:pPr/>
            <a:r>
              <a:t>The Central Limit Theorem</a:t>
            </a:r>
          </a:p>
          <a:p>
            <a:pPr/>
            <a:r>
              <a:t>Anomalous diffusion and Lévy flights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title"/>
          </p:nvPr>
        </p:nvSpPr>
        <p:spPr>
          <a:xfrm>
            <a:off x="437232" y="444500"/>
            <a:ext cx="12130336" cy="1815307"/>
          </a:xfrm>
          <a:prstGeom prst="rect">
            <a:avLst/>
          </a:prstGeom>
        </p:spPr>
        <p:txBody>
          <a:bodyPr/>
          <a:lstStyle/>
          <a:p>
            <a:pPr/>
            <a:r>
              <a:t>Discrete relation</a:t>
            </a:r>
          </a:p>
        </p:txBody>
      </p:sp>
      <p:sp>
        <p:nvSpPr>
          <p:cNvPr id="68" name="Shape 68"/>
          <p:cNvSpPr/>
          <p:nvPr>
            <p:ph type="body" sz="half" idx="1"/>
          </p:nvPr>
        </p:nvSpPr>
        <p:spPr>
          <a:xfrm>
            <a:off x="952500" y="5655915"/>
            <a:ext cx="11099800" cy="3815557"/>
          </a:xfrm>
          <a:prstGeom prst="rect">
            <a:avLst/>
          </a:prstGeom>
        </p:spPr>
        <p:txBody>
          <a:bodyPr anchor="t"/>
          <a:lstStyle/>
          <a:p>
            <a:pPr/>
            <a:r>
              <a:t>Let </a:t>
            </a:r>
            <a:r>
              <a:rPr b="0" i="1"/>
              <a:t>p</a:t>
            </a:r>
            <a:r>
              <a:rPr b="0"/>
              <a:t>(</a:t>
            </a:r>
            <a:r>
              <a:rPr b="0" i="1"/>
              <a:t>x</a:t>
            </a:r>
            <a:r>
              <a:rPr b="0"/>
              <a:t>,</a:t>
            </a:r>
            <a:r>
              <a:rPr b="0" i="1"/>
              <a:t>t</a:t>
            </a:r>
            <a:r>
              <a:rPr b="0"/>
              <a:t>)</a:t>
            </a:r>
            <a:r>
              <a:t> be the probability of finding a walker at position </a:t>
            </a:r>
            <a:r>
              <a:rPr b="0" i="1"/>
              <a:t>x</a:t>
            </a:r>
            <a:r>
              <a:t> at time </a:t>
            </a:r>
            <a:r>
              <a:rPr b="0" i="1"/>
              <a:t>t</a:t>
            </a:r>
          </a:p>
          <a:p>
            <a:pPr/>
            <a:r>
              <a:t>Probability of the walker being at x and time </a:t>
            </a:r>
          </a:p>
        </p:txBody>
      </p:sp>
      <p:sp>
        <p:nvSpPr>
          <p:cNvPr id="69" name="Shape 69"/>
          <p:cNvSpPr/>
          <p:nvPr/>
        </p:nvSpPr>
        <p:spPr>
          <a:xfrm>
            <a:off x="3128911" y="4406900"/>
            <a:ext cx="6746978" cy="0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0" name="Shape 70"/>
          <p:cNvSpPr/>
          <p:nvPr/>
        </p:nvSpPr>
        <p:spPr>
          <a:xfrm>
            <a:off x="3128911" y="2895600"/>
            <a:ext cx="6746978" cy="0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1" name="Shape 71"/>
          <p:cNvSpPr/>
          <p:nvPr/>
        </p:nvSpPr>
        <p:spPr>
          <a:xfrm flipV="1">
            <a:off x="6502400" y="4279899"/>
            <a:ext cx="0" cy="254001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2" name="Shape 72"/>
          <p:cNvSpPr/>
          <p:nvPr/>
        </p:nvSpPr>
        <p:spPr>
          <a:xfrm flipV="1">
            <a:off x="6502400" y="2768599"/>
            <a:ext cx="0" cy="254001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3" name="Shape 73"/>
          <p:cNvSpPr/>
          <p:nvPr/>
        </p:nvSpPr>
        <p:spPr>
          <a:xfrm flipV="1">
            <a:off x="8407400" y="2768599"/>
            <a:ext cx="0" cy="254001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4" name="Shape 74"/>
          <p:cNvSpPr/>
          <p:nvPr/>
        </p:nvSpPr>
        <p:spPr>
          <a:xfrm flipV="1">
            <a:off x="8407400" y="4292599"/>
            <a:ext cx="0" cy="254001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5" name="Shape 75"/>
          <p:cNvSpPr/>
          <p:nvPr/>
        </p:nvSpPr>
        <p:spPr>
          <a:xfrm flipV="1">
            <a:off x="4597400" y="4292599"/>
            <a:ext cx="0" cy="254001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6" name="Shape 76"/>
          <p:cNvSpPr/>
          <p:nvPr/>
        </p:nvSpPr>
        <p:spPr>
          <a:xfrm flipV="1">
            <a:off x="4597400" y="2768599"/>
            <a:ext cx="0" cy="254001"/>
          </a:xfrm>
          <a:prstGeom prst="line">
            <a:avLst/>
          </a:prstGeom>
          <a:ln w="762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pic>
        <p:nvPicPr>
          <p:cNvPr id="77" name="rw9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3002" y="4670597"/>
            <a:ext cx="918797" cy="36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rw10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62329" y="4670597"/>
            <a:ext cx="1447801" cy="36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rw11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94670" y="4670597"/>
            <a:ext cx="1447801" cy="36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rw12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64578" y="2333228"/>
            <a:ext cx="1475643" cy="36195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hape 81"/>
          <p:cNvSpPr/>
          <p:nvPr/>
        </p:nvSpPr>
        <p:spPr>
          <a:xfrm>
            <a:off x="11917679" y="2913952"/>
            <a:ext cx="1" cy="1448591"/>
          </a:xfrm>
          <a:prstGeom prst="line">
            <a:avLst/>
          </a:prstGeom>
          <a:ln w="50800">
            <a:solidFill>
              <a:schemeClr val="accent4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pic>
        <p:nvPicPr>
          <p:cNvPr id="82" name="rw13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027197" y="3546807"/>
            <a:ext cx="21336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hape 83"/>
          <p:cNvSpPr/>
          <p:nvPr/>
        </p:nvSpPr>
        <p:spPr>
          <a:xfrm flipV="1">
            <a:off x="4749800" y="2990094"/>
            <a:ext cx="1626394" cy="1271291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84" name="Shape 84"/>
          <p:cNvSpPr/>
          <p:nvPr/>
        </p:nvSpPr>
        <p:spPr>
          <a:xfrm flipH="1" flipV="1">
            <a:off x="2756693" y="2997703"/>
            <a:ext cx="1657004" cy="1240931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85" name="Shape 85"/>
          <p:cNvSpPr/>
          <p:nvPr/>
        </p:nvSpPr>
        <p:spPr>
          <a:xfrm flipV="1">
            <a:off x="8521700" y="2982722"/>
            <a:ext cx="1626394" cy="1271292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86" name="Shape 86"/>
          <p:cNvSpPr/>
          <p:nvPr/>
        </p:nvSpPr>
        <p:spPr>
          <a:xfrm flipH="1" flipV="1">
            <a:off x="6617493" y="3005075"/>
            <a:ext cx="1657004" cy="1240931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87" name="Shape 87"/>
          <p:cNvSpPr/>
          <p:nvPr/>
        </p:nvSpPr>
        <p:spPr>
          <a:xfrm flipV="1">
            <a:off x="6641306" y="2990094"/>
            <a:ext cx="1626395" cy="1271291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88" name="Shape 88"/>
          <p:cNvSpPr/>
          <p:nvPr/>
        </p:nvSpPr>
        <p:spPr>
          <a:xfrm flipH="1" flipV="1">
            <a:off x="4737100" y="3012447"/>
            <a:ext cx="1657003" cy="1240930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pic>
        <p:nvPicPr>
          <p:cNvPr id="89" name="rw15.pdf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323415" y="7277265"/>
            <a:ext cx="917404" cy="344028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rw16.pdf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718734" y="8001754"/>
            <a:ext cx="5567332" cy="8081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title"/>
          </p:nvPr>
        </p:nvSpPr>
        <p:spPr>
          <a:xfrm>
            <a:off x="437232" y="444500"/>
            <a:ext cx="12130336" cy="1815307"/>
          </a:xfrm>
          <a:prstGeom prst="rect">
            <a:avLst/>
          </a:prstGeom>
        </p:spPr>
        <p:txBody>
          <a:bodyPr/>
          <a:lstStyle/>
          <a:p>
            <a:pPr/>
            <a:r>
              <a:t>Continuum limit</a:t>
            </a:r>
          </a:p>
        </p:txBody>
      </p:sp>
      <p:sp>
        <p:nvSpPr>
          <p:cNvPr id="93" name="Shape 93"/>
          <p:cNvSpPr/>
          <p:nvPr>
            <p:ph type="body" idx="1"/>
          </p:nvPr>
        </p:nvSpPr>
        <p:spPr>
          <a:xfrm>
            <a:off x="952500" y="2266453"/>
            <a:ext cx="11099800" cy="7205019"/>
          </a:xfrm>
          <a:prstGeom prst="rect">
            <a:avLst/>
          </a:prstGeom>
        </p:spPr>
        <p:txBody>
          <a:bodyPr anchor="t"/>
          <a:lstStyle/>
          <a:p>
            <a:pPr/>
            <a:r>
              <a:t>Subtract additional term from both sides</a:t>
            </a:r>
          </a:p>
          <a:p>
            <a:pPr/>
          </a:p>
          <a:p>
            <a:pPr/>
            <a:r>
              <a:t>Additional manipulation</a:t>
            </a:r>
          </a:p>
          <a:p>
            <a:pPr/>
          </a:p>
          <a:p>
            <a:pPr/>
            <a:r>
              <a:t>Taking limits                   while keeping </a:t>
            </a:r>
            <a:r>
              <a:rPr b="0" i="1"/>
              <a:t>D</a:t>
            </a:r>
            <a:r>
              <a:t> fixed leads to the partial differential equation</a:t>
            </a:r>
          </a:p>
          <a:p>
            <a:pPr/>
          </a:p>
          <a:p>
            <a:pPr/>
            <a:r>
              <a:t>This is the </a:t>
            </a:r>
            <a:r>
              <a:t>diffusion equation</a:t>
            </a:r>
            <a:r>
              <a:t> (also known as the </a:t>
            </a:r>
            <a:r>
              <a:t>heat equation</a:t>
            </a:r>
            <a:r>
              <a:t>)</a:t>
            </a:r>
          </a:p>
        </p:txBody>
      </p:sp>
      <p:pic>
        <p:nvPicPr>
          <p:cNvPr id="94" name="rw19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1859" y="5908299"/>
            <a:ext cx="2423084" cy="410062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rw20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23169" y="7136778"/>
            <a:ext cx="1758462" cy="820616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asted-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86785" y="3102432"/>
            <a:ext cx="9031230" cy="768612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pasted-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63634" y="4895439"/>
            <a:ext cx="10077532" cy="7163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Solving the heat equation</a:t>
            </a:r>
          </a:p>
        </p:txBody>
      </p:sp>
      <p:sp>
        <p:nvSpPr>
          <p:cNvPr id="100" name="Shape 100"/>
          <p:cNvSpPr/>
          <p:nvPr>
            <p:ph type="body" sz="half" idx="1"/>
          </p:nvPr>
        </p:nvSpPr>
        <p:spPr>
          <a:xfrm>
            <a:off x="952500" y="2603500"/>
            <a:ext cx="6343849" cy="6286500"/>
          </a:xfrm>
          <a:prstGeom prst="rect">
            <a:avLst/>
          </a:prstGeom>
        </p:spPr>
        <p:txBody>
          <a:bodyPr anchor="t"/>
          <a:lstStyle/>
          <a:p>
            <a:pPr marL="400050" indent="-400050" defTabSz="525779">
              <a:spcBef>
                <a:spcPts val="2300"/>
              </a:spcBef>
              <a:defRPr sz="3239"/>
            </a:pPr>
            <a:r>
              <a:t>Multiple approaches, such as the use of integral transforms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t>We’ll consider dimensional analysis and finding a similarity solution </a:t>
            </a:r>
            <a:r>
              <a:t>(see PDF document on website)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t>For more information, see </a:t>
            </a:r>
            <a:r>
              <a:rPr i="1"/>
              <a:t>Scaling</a:t>
            </a:r>
            <a:r>
              <a:t> by G. I. Barenblatt: a short, classic book on the subject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t>Available as a paperback and excellent summer reading)</a:t>
            </a:r>
          </a:p>
        </p:txBody>
      </p:sp>
      <p:pic>
        <p:nvPicPr>
          <p:cNvPr id="101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07154" y="3220346"/>
            <a:ext cx="3233798" cy="50528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title"/>
          </p:nvPr>
        </p:nvSpPr>
        <p:spPr>
          <a:xfrm>
            <a:off x="437232" y="-1270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Einstein’s paper</a:t>
            </a:r>
          </a:p>
        </p:txBody>
      </p:sp>
      <p:pic>
        <p:nvPicPr>
          <p:cNvPr id="106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3549" y="1864945"/>
            <a:ext cx="9917702" cy="74128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09" name="Shape 109"/>
          <p:cNvSpPr/>
          <p:nvPr>
            <p:ph type="body" sz="half" idx="1"/>
          </p:nvPr>
        </p:nvSpPr>
        <p:spPr>
          <a:xfrm>
            <a:off x="952500" y="2171700"/>
            <a:ext cx="11099800" cy="3207743"/>
          </a:xfrm>
          <a:prstGeom prst="rect">
            <a:avLst/>
          </a:prstGeom>
        </p:spPr>
        <p:txBody>
          <a:bodyPr/>
          <a:lstStyle/>
          <a:p>
            <a:pPr/>
            <a:r>
              <a:t>Visible (</a:t>
            </a:r>
            <a:r>
              <a:rPr i="1"/>
              <a:t>i.e.</a:t>
            </a:r>
            <a:r>
              <a:t> micrometer-sized) particles will jiggle around in a liquid (</a:t>
            </a:r>
            <a:r>
              <a:rPr i="1"/>
              <a:t>i.e.</a:t>
            </a:r>
            <a:r>
              <a:t> doing a random walk)</a:t>
            </a:r>
          </a:p>
          <a:p>
            <a:pPr/>
            <a:r>
              <a:t>It was predicted on theoretical grounds, but it hadn’t been observed and it wasn’t expected</a:t>
            </a:r>
          </a:p>
        </p:txBody>
      </p:sp>
      <p:pic>
        <p:nvPicPr>
          <p:cNvPr id="110" name="N4_Well-2.mov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7454900" y="5384800"/>
            <a:ext cx="4876800" cy="3657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hape 111"/>
          <p:cNvSpPr/>
          <p:nvPr/>
        </p:nvSpPr>
        <p:spPr>
          <a:xfrm>
            <a:off x="127000" y="9258300"/>
            <a:ext cx="130048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 sz="2300" u="sng">
                <a:latin typeface="+mj-lt"/>
                <a:ea typeface="+mj-ea"/>
                <a:cs typeface="+mj-cs"/>
                <a:sym typeface="Helvetica"/>
                <a:hlinkClick r:id="rId5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5" invalidUrl="" action="" tgtFrame="" tooltip="" history="1" highlightClick="0" endSnd="0"/>
              </a:rPr>
              <a:t>http://www.sciencemag.org/cgi/content/abstract/327/5965/560</a:t>
            </a:r>
          </a:p>
        </p:txBody>
      </p:sp>
      <p:sp>
        <p:nvSpPr>
          <p:cNvPr id="112" name="Shape 112"/>
          <p:cNvSpPr/>
          <p:nvPr/>
        </p:nvSpPr>
        <p:spPr>
          <a:xfrm>
            <a:off x="939800" y="5325864"/>
            <a:ext cx="5406629" cy="275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444500" indent="-444500" algn="l">
              <a:lnSpc>
                <a:spcPct val="90000"/>
              </a:lnSpc>
              <a:spcBef>
                <a:spcPts val="2600"/>
              </a:spcBef>
              <a:buSzPct val="75000"/>
              <a:buChar char="•"/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Nowadays this is easy to observe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6666" fill="hold"/>
                                        <p:tgtEl>
                                          <p:spTgt spid="1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40200" y="1993900"/>
            <a:ext cx="3784600" cy="1993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0400" y="4127500"/>
            <a:ext cx="11201400" cy="1701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dropped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77900" y="5626100"/>
            <a:ext cx="9017000" cy="184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870200"/>
            <a:ext cx="11633200" cy="4000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700"/>
            </a:lvl1pPr>
          </a:lstStyle>
          <a:p>
            <a:pPr/>
            <a:r>
              <a:t>Do details of the walk matter?</a:t>
            </a:r>
          </a:p>
        </p:txBody>
      </p:sp>
      <p:pic>
        <p:nvPicPr>
          <p:cNvPr id="121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2817" y="5002183"/>
            <a:ext cx="6067408" cy="393442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Shape 122"/>
          <p:cNvSpPr/>
          <p:nvPr/>
        </p:nvSpPr>
        <p:spPr>
          <a:xfrm>
            <a:off x="8280400" y="6540500"/>
            <a:ext cx="1612900" cy="1612900"/>
          </a:xfrm>
          <a:prstGeom prst="ellipse">
            <a:avLst/>
          </a:prstGeom>
          <a:ln w="381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3" name="Shape 123"/>
          <p:cNvSpPr/>
          <p:nvPr/>
        </p:nvSpPr>
        <p:spPr>
          <a:xfrm>
            <a:off x="8670925" y="5822950"/>
            <a:ext cx="1612900" cy="1612900"/>
          </a:xfrm>
          <a:prstGeom prst="ellipse">
            <a:avLst/>
          </a:prstGeom>
          <a:ln w="381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4" name="Shape 124"/>
          <p:cNvSpPr/>
          <p:nvPr/>
        </p:nvSpPr>
        <p:spPr>
          <a:xfrm>
            <a:off x="9451975" y="5991225"/>
            <a:ext cx="1612900" cy="1612900"/>
          </a:xfrm>
          <a:prstGeom prst="ellipse">
            <a:avLst/>
          </a:prstGeom>
          <a:ln w="381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5" name="Shape 125"/>
          <p:cNvSpPr/>
          <p:nvPr/>
        </p:nvSpPr>
        <p:spPr>
          <a:xfrm>
            <a:off x="10121900" y="5578475"/>
            <a:ext cx="1612900" cy="1612900"/>
          </a:xfrm>
          <a:prstGeom prst="ellipse">
            <a:avLst/>
          </a:prstGeom>
          <a:ln w="38100">
            <a:solidFill>
              <a:srgbClr val="0096FF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6" name="Shape 126"/>
          <p:cNvSpPr/>
          <p:nvPr/>
        </p:nvSpPr>
        <p:spPr>
          <a:xfrm>
            <a:off x="8983526" y="7243626"/>
            <a:ext cx="206648" cy="206648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7" name="Shape 127"/>
          <p:cNvSpPr/>
          <p:nvPr/>
        </p:nvSpPr>
        <p:spPr>
          <a:xfrm flipV="1">
            <a:off x="9078431" y="6645808"/>
            <a:ext cx="408172" cy="702876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28" name="Shape 128"/>
          <p:cNvSpPr/>
          <p:nvPr/>
        </p:nvSpPr>
        <p:spPr>
          <a:xfrm>
            <a:off x="9488007" y="6647008"/>
            <a:ext cx="763710" cy="203439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29" name="Shape 129"/>
          <p:cNvSpPr/>
          <p:nvPr/>
        </p:nvSpPr>
        <p:spPr>
          <a:xfrm flipV="1">
            <a:off x="10259532" y="6368354"/>
            <a:ext cx="681929" cy="481854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30" name="Shape 130"/>
          <p:cNvSpPr/>
          <p:nvPr/>
        </p:nvSpPr>
        <p:spPr>
          <a:xfrm flipH="1" flipV="1">
            <a:off x="10170270" y="6101580"/>
            <a:ext cx="775063" cy="269204"/>
          </a:xfrm>
          <a:prstGeom prst="line">
            <a:avLst/>
          </a:prstGeom>
          <a:ln w="50800">
            <a:solidFill>
              <a:schemeClr val="accent5"/>
            </a:solidFill>
            <a:prstDash val="sysDot"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31" name="Shape 131"/>
          <p:cNvSpPr/>
          <p:nvPr/>
        </p:nvSpPr>
        <p:spPr>
          <a:xfrm>
            <a:off x="8916975" y="7375525"/>
            <a:ext cx="46992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132" name="Shape 132"/>
          <p:cNvSpPr/>
          <p:nvPr/>
        </p:nvSpPr>
        <p:spPr>
          <a:xfrm>
            <a:off x="559643" y="1701800"/>
            <a:ext cx="11885514" cy="322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83822" indent="-383822" algn="l">
              <a:buSzPct val="100000"/>
              <a:buChar char="•"/>
              <a:defRPr b="1" sz="3400">
                <a:latin typeface="+mj-lt"/>
                <a:ea typeface="+mj-ea"/>
                <a:cs typeface="+mj-cs"/>
                <a:sym typeface="Helvetica"/>
              </a:defRPr>
            </a:pPr>
            <a:r>
              <a:t>In previous analysis, we started from a Bernoulli random walk, but this may not be reasonable for atomic motion</a:t>
            </a:r>
          </a:p>
          <a:p>
            <a:pPr marL="383822" indent="-383822" algn="l">
              <a:buSzPct val="100000"/>
              <a:buChar char="•"/>
              <a:defRPr b="1" sz="3400">
                <a:latin typeface="+mj-lt"/>
                <a:ea typeface="+mj-ea"/>
                <a:cs typeface="+mj-cs"/>
                <a:sym typeface="Helvetica"/>
              </a:defRPr>
            </a:pPr>
            <a:r>
              <a:t>Does this have an effect on the analysis? Would we reach a different conclusion if we used a Pearson walk?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Shape of a 1D Pearson walk</a:t>
            </a:r>
          </a:p>
        </p:txBody>
      </p:sp>
      <p:sp>
        <p:nvSpPr>
          <p:cNvPr id="135" name="Shape 135"/>
          <p:cNvSpPr/>
          <p:nvPr/>
        </p:nvSpPr>
        <p:spPr>
          <a:xfrm>
            <a:off x="7017562" y="2190750"/>
            <a:ext cx="321290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Input program</a:t>
            </a:r>
          </a:p>
        </p:txBody>
      </p:sp>
      <p:sp>
        <p:nvSpPr>
          <p:cNvPr id="136" name="Shape 136"/>
          <p:cNvSpPr/>
          <p:nvPr/>
        </p:nvSpPr>
        <p:spPr>
          <a:xfrm>
            <a:off x="7107783" y="9099549"/>
            <a:ext cx="390926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Example: many_rwalk2.py</a:t>
            </a:r>
          </a:p>
        </p:txBody>
      </p:sp>
      <p:sp>
        <p:nvSpPr>
          <p:cNvPr id="137" name="Shape 137"/>
          <p:cNvSpPr/>
          <p:nvPr/>
        </p:nvSpPr>
        <p:spPr>
          <a:xfrm>
            <a:off x="7330200" y="2952749"/>
            <a:ext cx="3983200" cy="588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random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random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math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*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Total trials and random walk length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0433FF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trials=</a:t>
            </a:r>
            <a:r>
              <a:t>10000000</a:t>
            </a:r>
            <a:r>
              <a:rPr>
                <a:solidFill>
                  <a:srgbClr val="000000"/>
                </a:solidFill>
              </a:rPr>
              <a:t>; n=</a:t>
            </a:r>
            <a:r>
              <a:t>16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Bin width and number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t>bw=</a:t>
            </a:r>
            <a:r>
              <a:rPr>
                <a:solidFill>
                  <a:srgbClr val="0433FF"/>
                </a:solidFill>
              </a:rPr>
              <a:t>0.05</a:t>
            </a:r>
            <a:r>
              <a:t>; num=</a:t>
            </a:r>
            <a:r>
              <a:rPr>
                <a:solidFill>
                  <a:srgbClr val="0433FF"/>
                </a:solidFill>
              </a:rPr>
              <a:t>1000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t>b=[[</a:t>
            </a:r>
            <a:r>
              <a:rPr>
                <a:solidFill>
                  <a:srgbClr val="0433FF"/>
                </a:solidFill>
              </a:rPr>
              <a:t>0</a:t>
            </a:r>
            <a:r>
              <a:t>]*num </a:t>
            </a:r>
            <a:r>
              <a:rPr>
                <a:solidFill>
                  <a:srgbClr val="E539E5"/>
                </a:solidFill>
              </a:rPr>
              <a:t>for</a:t>
            </a:r>
            <a: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t> </a:t>
            </a:r>
            <a:r>
              <a:rPr>
                <a:solidFill>
                  <a:srgbClr val="AF5F00"/>
                </a:solidFill>
              </a:rPr>
              <a:t>range</a:t>
            </a:r>
            <a:r>
              <a:t>(n)]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t> </a:t>
            </a:r>
            <a:r>
              <a:rPr>
                <a:solidFill>
                  <a:srgbClr val="AF5F00"/>
                </a:solidFill>
              </a:rPr>
              <a:t>range</a:t>
            </a:r>
            <a:r>
              <a:t>(trials):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# Carry out a small random walk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t>    x=</a:t>
            </a:r>
            <a:r>
              <a:rPr>
                <a:solidFill>
                  <a:srgbClr val="0433FF"/>
                </a:solidFill>
              </a:rPr>
              <a:t>0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j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(n):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    # Pearson walk step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D57A"/>
                </a:solidFill>
              </a:rPr>
              <a:t>       </a:t>
            </a:r>
            <a:r>
              <a:t> x+=cos(</a:t>
            </a:r>
            <a:r>
              <a:rPr>
                <a:solidFill>
                  <a:srgbClr val="0433FF"/>
                </a:solidFill>
              </a:rPr>
              <a:t>2</a:t>
            </a:r>
            <a:r>
              <a:t>*pi*random())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    # Bin walk position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D57A"/>
                </a:solidFill>
              </a:rPr>
              <a:t>       </a:t>
            </a:r>
            <a:r>
              <a:t> k=</a:t>
            </a:r>
            <a:r>
              <a:rPr>
                <a:solidFill>
                  <a:srgbClr val="AF5F00"/>
                </a:solidFill>
              </a:rPr>
              <a:t>int</a:t>
            </a:r>
            <a:r>
              <a:t>((x/bw+num*</a:t>
            </a:r>
            <a:r>
              <a:rPr>
                <a:solidFill>
                  <a:srgbClr val="0433FF"/>
                </a:solidFill>
              </a:rPr>
              <a:t>0.5</a:t>
            </a:r>
            <a:r>
              <a:t>))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D57A"/>
                </a:solidFill>
              </a:rPr>
              <a:t>       </a:t>
            </a:r>
            <a:r>
              <a:t> </a:t>
            </a:r>
            <a:r>
              <a:rPr>
                <a:solidFill>
                  <a:srgbClr val="E539E5"/>
                </a:solidFill>
              </a:rPr>
              <a:t>if</a:t>
            </a:r>
            <a:r>
              <a:t> k&gt;=</a:t>
            </a:r>
            <a:r>
              <a:rPr>
                <a:solidFill>
                  <a:srgbClr val="0433FF"/>
                </a:solidFill>
              </a:rPr>
              <a:t>0</a:t>
            </a:r>
            <a:r>
              <a:t> </a:t>
            </a:r>
            <a:r>
              <a:rPr>
                <a:solidFill>
                  <a:schemeClr val="accent2"/>
                </a:solidFill>
              </a:rPr>
              <a:t>and</a:t>
            </a:r>
            <a:r>
              <a:t> k&lt;num: b[j][k]+=</a:t>
            </a:r>
            <a:r>
              <a:rPr>
                <a:solidFill>
                  <a:srgbClr val="0433FF"/>
                </a:solidFill>
              </a:rPr>
              <a:t>1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Output the frequency density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t>ift=</a:t>
            </a:r>
            <a:r>
              <a:rPr>
                <a:solidFill>
                  <a:srgbClr val="0433FF"/>
                </a:solidFill>
              </a:rPr>
              <a:t>1</a:t>
            </a:r>
            <a:r>
              <a:t>/(bw*</a:t>
            </a:r>
            <a:r>
              <a:rPr>
                <a:solidFill>
                  <a:srgbClr val="AF5F00"/>
                </a:solidFill>
              </a:rPr>
              <a:t>float</a:t>
            </a:r>
            <a:r>
              <a:t>(trials))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t> k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t> </a:t>
            </a:r>
            <a:r>
              <a:rPr>
                <a:solidFill>
                  <a:srgbClr val="AF5F00"/>
                </a:solidFill>
              </a:rPr>
              <a:t>range</a:t>
            </a:r>
            <a:r>
              <a:t>(num):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# Assemble a list of entries on one line 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t>    s=[</a:t>
            </a:r>
            <a:r>
              <a:rPr>
                <a:solidFill>
                  <a:srgbClr val="AF5F00"/>
                </a:solidFill>
              </a:rPr>
              <a:t>str</a:t>
            </a:r>
            <a:r>
              <a:t>(bw*(</a:t>
            </a:r>
            <a:r>
              <a:rPr>
                <a:solidFill>
                  <a:srgbClr val="0433FF"/>
                </a:solidFill>
              </a:rPr>
              <a:t>0.5</a:t>
            </a:r>
            <a:r>
              <a:t>+k-</a:t>
            </a:r>
            <a:r>
              <a:rPr>
                <a:solidFill>
                  <a:srgbClr val="0433FF"/>
                </a:solidFill>
              </a:rPr>
              <a:t>0.5</a:t>
            </a:r>
            <a:r>
              <a:t>*num))]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j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(n):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D57A"/>
                </a:solidFill>
              </a:rPr>
              <a:t>       </a:t>
            </a:r>
            <a:r>
              <a:t> s.append(</a:t>
            </a:r>
            <a:r>
              <a:rPr>
                <a:solidFill>
                  <a:srgbClr val="AF5F00"/>
                </a:solidFill>
              </a:rPr>
              <a:t>str</a:t>
            </a:r>
            <a:r>
              <a:t>(b[j][k]*ift))</a:t>
            </a:r>
            <a:endParaRPr>
              <a:solidFill>
                <a:srgbClr val="FFD57A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D57A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# Print the line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AF5F00"/>
                </a:solidFill>
              </a:rPr>
              <a:t>print</a:t>
            </a:r>
            <a:r>
              <a:t> </a:t>
            </a:r>
            <a:r>
              <a:rPr>
                <a:solidFill>
                  <a:srgbClr val="0220B3"/>
                </a:solidFill>
              </a:rPr>
              <a:t>" "</a:t>
            </a:r>
            <a:r>
              <a:t>.join(s)</a:t>
            </a:r>
          </a:p>
        </p:txBody>
      </p:sp>
      <p:sp>
        <p:nvSpPr>
          <p:cNvPr id="138" name="Shape 138"/>
          <p:cNvSpPr/>
          <p:nvPr/>
        </p:nvSpPr>
        <p:spPr>
          <a:xfrm>
            <a:off x="585043" y="2297691"/>
            <a:ext cx="5446614" cy="635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83822" indent="-383822" algn="l">
              <a:buSzPct val="100000"/>
              <a:buChar char="•"/>
              <a:defRPr b="1" sz="3400">
                <a:latin typeface="+mj-lt"/>
                <a:ea typeface="+mj-ea"/>
                <a:cs typeface="+mj-cs"/>
                <a:sym typeface="Helvetica"/>
              </a:defRPr>
            </a:pPr>
            <a:r>
              <a:t>Suppose we consider a one-dimensional projection of the Pearson walk</a:t>
            </a:r>
          </a:p>
          <a:p>
            <a:pPr algn="l">
              <a:defRPr b="1" sz="3400">
                <a:latin typeface="+mj-lt"/>
                <a:ea typeface="+mj-ea"/>
                <a:cs typeface="+mj-cs"/>
                <a:sym typeface="Helvetica"/>
              </a:defRPr>
            </a:pPr>
          </a:p>
          <a:p>
            <a:pPr algn="l">
              <a:defRPr b="1" sz="3400">
                <a:latin typeface="+mj-lt"/>
                <a:ea typeface="+mj-ea"/>
                <a:cs typeface="+mj-cs"/>
                <a:sym typeface="Helvetica"/>
              </a:defRPr>
            </a:pPr>
          </a:p>
          <a:p>
            <a:pPr algn="l">
              <a:defRPr b="1" sz="3400">
                <a:latin typeface="+mj-lt"/>
                <a:ea typeface="+mj-ea"/>
                <a:cs typeface="+mj-cs"/>
                <a:sym typeface="Helvetica"/>
              </a:defRPr>
            </a:pPr>
          </a:p>
          <a:p>
            <a:pPr algn="l">
              <a:defRPr b="1" sz="3400">
                <a:latin typeface="+mj-lt"/>
                <a:ea typeface="+mj-ea"/>
                <a:cs typeface="+mj-cs"/>
                <a:sym typeface="Helvetica"/>
              </a:defRPr>
            </a:pPr>
          </a:p>
          <a:p>
            <a:pPr algn="l">
              <a:defRPr b="1" sz="3400">
                <a:latin typeface="+mj-lt"/>
                <a:ea typeface="+mj-ea"/>
                <a:cs typeface="+mj-cs"/>
                <a:sym typeface="Helvetica"/>
              </a:defRPr>
            </a:pPr>
          </a:p>
          <a:p>
            <a:pPr algn="l">
              <a:defRPr b="1" sz="3400"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419805" indent="-419805" algn="l">
              <a:buSzPct val="75000"/>
              <a:buChar char="•"/>
              <a:defRPr b="1" sz="3400">
                <a:latin typeface="+mj-lt"/>
                <a:ea typeface="+mj-ea"/>
                <a:cs typeface="+mj-cs"/>
                <a:sym typeface="Helvetica"/>
              </a:defRPr>
            </a:pPr>
            <a:r>
              <a:t>If     is uniformly distributed, then </a:t>
            </a:r>
          </a:p>
        </p:txBody>
      </p:sp>
      <p:sp>
        <p:nvSpPr>
          <p:cNvPr id="139" name="Shape 139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40" name="Shape 140"/>
          <p:cNvSpPr/>
          <p:nvPr/>
        </p:nvSpPr>
        <p:spPr>
          <a:xfrm>
            <a:off x="2114550" y="4651143"/>
            <a:ext cx="2184400" cy="2184401"/>
          </a:xfrm>
          <a:prstGeom prst="ellipse">
            <a:avLst/>
          </a:prstGeom>
          <a:ln w="381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1" name="Shape 141"/>
          <p:cNvSpPr/>
          <p:nvPr/>
        </p:nvSpPr>
        <p:spPr>
          <a:xfrm>
            <a:off x="3103426" y="5640019"/>
            <a:ext cx="206648" cy="206649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2" name="Shape 142"/>
          <p:cNvSpPr/>
          <p:nvPr/>
        </p:nvSpPr>
        <p:spPr>
          <a:xfrm>
            <a:off x="3251200" y="5743343"/>
            <a:ext cx="1051005" cy="1"/>
          </a:xfrm>
          <a:prstGeom prst="line">
            <a:avLst/>
          </a:prstGeom>
          <a:ln w="25400">
            <a:solidFill>
              <a:schemeClr val="accent5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43" name="Shape 143"/>
          <p:cNvSpPr/>
          <p:nvPr/>
        </p:nvSpPr>
        <p:spPr>
          <a:xfrm flipV="1">
            <a:off x="3198331" y="4802885"/>
            <a:ext cx="549857" cy="961242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44" name="Shape 144"/>
          <p:cNvSpPr/>
          <p:nvPr/>
        </p:nvSpPr>
        <p:spPr>
          <a:xfrm>
            <a:off x="3198331" y="7046826"/>
            <a:ext cx="527809" cy="1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45" name="Shape 145"/>
          <p:cNvSpPr/>
          <p:nvPr/>
        </p:nvSpPr>
        <p:spPr>
          <a:xfrm>
            <a:off x="3103426" y="6943502"/>
            <a:ext cx="206648" cy="206649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52" name="Shape 152"/>
          <p:cNvSpPr/>
          <p:nvPr/>
        </p:nvSpPr>
        <p:spPr>
          <a:xfrm>
            <a:off x="3426462" y="5376160"/>
            <a:ext cx="212421" cy="363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5" h="21600" fill="norm" stroke="1" extrusionOk="0">
                <a:moveTo>
                  <a:pt x="21210" y="21600"/>
                </a:moveTo>
                <a:cubicBezTo>
                  <a:pt x="21600" y="11010"/>
                  <a:pt x="14530" y="3810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pPr/>
          </a:p>
        </p:txBody>
      </p:sp>
      <p:pic>
        <p:nvPicPr>
          <p:cNvPr id="147" name="sto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9227" y="5298876"/>
            <a:ext cx="339583" cy="33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sto2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68693" y="6870352"/>
            <a:ext cx="352949" cy="3529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sto3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57230" y="8985380"/>
            <a:ext cx="2358465" cy="4492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sto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0227" y="7828483"/>
            <a:ext cx="400776" cy="400776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Shape 151"/>
          <p:cNvSpPr/>
          <p:nvPr/>
        </p:nvSpPr>
        <p:spPr>
          <a:xfrm>
            <a:off x="3200412" y="4718050"/>
            <a:ext cx="21587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Pearson walk (1 step)</a:t>
            </a:r>
          </a:p>
        </p:txBody>
      </p:sp>
      <p:pic>
        <p:nvPicPr>
          <p:cNvPr id="155" name="lec15_1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930" y="2197471"/>
            <a:ext cx="10158940" cy="71112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Pearson walk (2 steps)</a:t>
            </a:r>
          </a:p>
        </p:txBody>
      </p:sp>
      <p:pic>
        <p:nvPicPr>
          <p:cNvPr id="158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Pearson walk (3 steps)</a:t>
            </a:r>
          </a:p>
        </p:txBody>
      </p:sp>
      <p:pic>
        <p:nvPicPr>
          <p:cNvPr id="161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Pearson walk (4 steps)</a:t>
            </a:r>
          </a:p>
        </p:txBody>
      </p:sp>
      <p:pic>
        <p:nvPicPr>
          <p:cNvPr id="164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Pearson walk (5 steps)</a:t>
            </a:r>
          </a:p>
        </p:txBody>
      </p:sp>
      <p:pic>
        <p:nvPicPr>
          <p:cNvPr id="16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Pearson walk (6 steps)</a:t>
            </a:r>
          </a:p>
        </p:txBody>
      </p:sp>
      <p:pic>
        <p:nvPicPr>
          <p:cNvPr id="170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Pearson walk (16 steps)</a:t>
            </a:r>
          </a:p>
        </p:txBody>
      </p:sp>
      <p:pic>
        <p:nvPicPr>
          <p:cNvPr id="173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Shape 174"/>
          <p:cNvSpPr/>
          <p:nvPr/>
        </p:nvSpPr>
        <p:spPr>
          <a:xfrm>
            <a:off x="8444280" y="3204695"/>
            <a:ext cx="4487021" cy="2378572"/>
          </a:xfrm>
          <a:prstGeom prst="roundRect">
            <a:avLst>
              <a:gd name="adj" fmla="val 11464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Even though the details of a single step are different, the distribution after 16 steps of the Pearson walk looks like a Gaussian, like Einstein’s continuum solution.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Uniform walk (1 step)</a:t>
            </a:r>
          </a:p>
        </p:txBody>
      </p:sp>
      <p:pic>
        <p:nvPicPr>
          <p:cNvPr id="177" name="lec15_2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Uniform walk (2 steps)</a:t>
            </a:r>
          </a:p>
        </p:txBody>
      </p:sp>
      <p:pic>
        <p:nvPicPr>
          <p:cNvPr id="18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Uniform walk (3 steps)</a:t>
            </a:r>
          </a:p>
        </p:txBody>
      </p:sp>
      <p:pic>
        <p:nvPicPr>
          <p:cNvPr id="185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Uniform walk (4 steps)</a:t>
            </a:r>
          </a:p>
        </p:txBody>
      </p:sp>
      <p:pic>
        <p:nvPicPr>
          <p:cNvPr id="188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Uniform walk (5 steps)</a:t>
            </a:r>
          </a:p>
        </p:txBody>
      </p:sp>
      <p:pic>
        <p:nvPicPr>
          <p:cNvPr id="191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Uniform walk (6 steps)</a:t>
            </a:r>
          </a:p>
        </p:txBody>
      </p:sp>
      <p:pic>
        <p:nvPicPr>
          <p:cNvPr id="194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Uniform walk (16 steps)</a:t>
            </a:r>
          </a:p>
        </p:txBody>
      </p:sp>
      <p:pic>
        <p:nvPicPr>
          <p:cNvPr id="19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2400" y="2197100"/>
            <a:ext cx="10160000" cy="711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Shape 198"/>
          <p:cNvSpPr/>
          <p:nvPr/>
        </p:nvSpPr>
        <p:spPr>
          <a:xfrm>
            <a:off x="8634780" y="4055595"/>
            <a:ext cx="4245076" cy="2074020"/>
          </a:xfrm>
          <a:prstGeom prst="roundRect">
            <a:avLst>
              <a:gd name="adj" fmla="val 12439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After sixteen steps of the uniform walk, the probability distribution of the walker also looks like a Gaussian, although with a different width.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title"/>
          </p:nvPr>
        </p:nvSpPr>
        <p:spPr>
          <a:xfrm>
            <a:off x="437232" y="-1905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Fit to Gaussian distribution</a:t>
            </a:r>
          </a:p>
        </p:txBody>
      </p:sp>
      <p:pic>
        <p:nvPicPr>
          <p:cNvPr id="201" name="lec15_3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0557" y="1373306"/>
            <a:ext cx="10003686" cy="7002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sto8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64387" y="8435213"/>
            <a:ext cx="4066093" cy="1081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asted-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508145" y="8601834"/>
            <a:ext cx="3848533" cy="756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Some facts about random numbers</a:t>
            </a:r>
          </a:p>
        </p:txBody>
      </p:sp>
      <p:sp>
        <p:nvSpPr>
          <p:cNvPr id="208" name="Shape 208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If </a:t>
            </a:r>
            <a:r>
              <a:rPr b="0" i="1"/>
              <a:t>S</a:t>
            </a:r>
            <a:r>
              <a:t> and </a:t>
            </a:r>
            <a:r>
              <a:rPr b="0" i="1"/>
              <a:t>T</a:t>
            </a:r>
            <a:r>
              <a:t> are independent random variables then their means and variances are additive:</a:t>
            </a:r>
          </a:p>
          <a:p>
            <a:pPr/>
          </a:p>
          <a:p>
            <a:pPr/>
            <a:r>
              <a:t>Suppose a random walk has independent steps </a:t>
            </a:r>
            <a:r>
              <a:rPr b="0" i="1"/>
              <a:t>X</a:t>
            </a:r>
            <a:r>
              <a:rPr b="0" baseline="-5999" i="1"/>
              <a:t>i</a:t>
            </a:r>
            <a:r>
              <a:t> each with variance    . The position after </a:t>
            </a:r>
            <a:r>
              <a:rPr b="0" i="1"/>
              <a:t>N</a:t>
            </a:r>
            <a:r>
              <a:t> steps is</a:t>
            </a:r>
          </a:p>
          <a:p>
            <a:pPr/>
          </a:p>
          <a:p>
            <a:pPr/>
            <a:r>
              <a:t>The variance is</a:t>
            </a:r>
          </a:p>
        </p:txBody>
      </p:sp>
      <p:pic>
        <p:nvPicPr>
          <p:cNvPr id="209" name="sto9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01821" y="4145333"/>
            <a:ext cx="8201158" cy="3862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sto10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72330" y="6308476"/>
            <a:ext cx="1660141" cy="98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sto11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54203" y="5541218"/>
            <a:ext cx="461864" cy="461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sto12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708041" y="8034404"/>
            <a:ext cx="5588718" cy="984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pPr/>
            <a:r>
              <a:t>Variance calculation for uniform walk</a:t>
            </a:r>
          </a:p>
        </p:txBody>
      </p:sp>
      <p:sp>
        <p:nvSpPr>
          <p:cNvPr id="215" name="Shape 215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For the uniform walk</a:t>
            </a:r>
          </a:p>
          <a:p>
            <a:pPr/>
          </a:p>
          <a:p>
            <a:pPr/>
          </a:p>
          <a:p>
            <a:pPr/>
          </a:p>
          <a:p>
            <a:pPr/>
            <a:r>
              <a:t>Hence the expected width after 16 steps is</a:t>
            </a:r>
          </a:p>
          <a:p>
            <a:pPr/>
          </a:p>
          <a:p>
            <a:pPr/>
            <a:r>
              <a:t>Agrees with calculated value of 2.32906 within sampling error</a:t>
            </a:r>
          </a:p>
        </p:txBody>
      </p:sp>
      <p:pic>
        <p:nvPicPr>
          <p:cNvPr id="216" name="sto6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74387" y="3300020"/>
            <a:ext cx="3056027" cy="261551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sto13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79779" y="6705556"/>
            <a:ext cx="5045242" cy="845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pPr/>
            <a:r>
              <a:t>Variance calculation for Pearson walk</a:t>
            </a:r>
          </a:p>
        </p:txBody>
      </p:sp>
      <p:sp>
        <p:nvSpPr>
          <p:cNvPr id="222" name="Shape 222"/>
          <p:cNvSpPr/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/>
            <a:r>
              <a:t>For the Pearson walk</a:t>
            </a:r>
          </a:p>
          <a:p>
            <a:pPr/>
          </a:p>
          <a:p>
            <a:pPr/>
          </a:p>
          <a:p>
            <a:pPr/>
          </a:p>
          <a:p>
            <a:pPr/>
            <a:r>
              <a:t>Hence the expected width after 16 steps is</a:t>
            </a:r>
          </a:p>
          <a:p>
            <a:pPr/>
          </a:p>
          <a:p>
            <a:pPr/>
            <a:r>
              <a:t>Agrees with calculated value of 2.85589 to within sampling error</a:t>
            </a:r>
          </a:p>
        </p:txBody>
      </p:sp>
      <p:pic>
        <p:nvPicPr>
          <p:cNvPr id="223" name="sto4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98850" y="3332625"/>
            <a:ext cx="5007100" cy="25562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sto5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05108" y="6933053"/>
            <a:ext cx="5194585" cy="4962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Central Limit Theorem</a:t>
            </a:r>
          </a:p>
        </p:txBody>
      </p:sp>
      <p:sp>
        <p:nvSpPr>
          <p:cNvPr id="227" name="Shape 227"/>
          <p:cNvSpPr/>
          <p:nvPr>
            <p:ph type="body" idx="1"/>
          </p:nvPr>
        </p:nvSpPr>
        <p:spPr>
          <a:xfrm>
            <a:off x="952500" y="2603500"/>
            <a:ext cx="11099800" cy="5570488"/>
          </a:xfrm>
          <a:prstGeom prst="rect">
            <a:avLst/>
          </a:prstGeom>
        </p:spPr>
        <p:txBody>
          <a:bodyPr/>
          <a:lstStyle/>
          <a:p>
            <a:pPr/>
            <a:r>
              <a:t>Consider a random walk where the steps </a:t>
            </a:r>
            <a:r>
              <a:rPr b="0" i="1"/>
              <a:t>X</a:t>
            </a:r>
            <a:r>
              <a:rPr b="0" baseline="-5999" i="1"/>
              <a:t>i</a:t>
            </a:r>
            <a:r>
              <a:t> have mean   and finite variance    . Let</a:t>
            </a:r>
          </a:p>
          <a:p>
            <a:pPr/>
          </a:p>
          <a:p>
            <a:pPr/>
            <a:r>
              <a:t>Consider the re-scaled random variable</a:t>
            </a:r>
          </a:p>
          <a:p>
            <a:pPr/>
          </a:p>
          <a:p>
            <a:pPr/>
            <a:r>
              <a:t>Then the Central Limit Theorem states that </a:t>
            </a:r>
            <a:r>
              <a:rPr b="0" i="1"/>
              <a:t>Z</a:t>
            </a:r>
            <a:r>
              <a:rPr b="0" baseline="-5999" i="1"/>
              <a:t>n</a:t>
            </a:r>
            <a:r>
              <a:t> tends to a Gaussian distribution with mean 0 and variance 1. Its probability density is</a:t>
            </a:r>
          </a:p>
        </p:txBody>
      </p:sp>
      <p:pic>
        <p:nvPicPr>
          <p:cNvPr id="228" name="sto10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0060" y="3761216"/>
            <a:ext cx="1564680" cy="92721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sto14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95982" y="5525326"/>
            <a:ext cx="2012836" cy="82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sto15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27727" y="8175512"/>
            <a:ext cx="3149346" cy="1013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sto11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68019" y="3177033"/>
            <a:ext cx="408931" cy="4089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muo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1427519" y="2814036"/>
            <a:ext cx="301322" cy="3389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Lévy flights: an example of anomalous diffusion</a:t>
            </a:r>
          </a:p>
        </p:txBody>
      </p:sp>
      <p:sp>
        <p:nvSpPr>
          <p:cNvPr id="235" name="Shape 235"/>
          <p:cNvSpPr/>
          <p:nvPr>
            <p:ph type="body" idx="1"/>
          </p:nvPr>
        </p:nvSpPr>
        <p:spPr>
          <a:xfrm>
            <a:off x="952500" y="2603500"/>
            <a:ext cx="11099800" cy="6547297"/>
          </a:xfrm>
          <a:prstGeom prst="rect">
            <a:avLst/>
          </a:prstGeom>
        </p:spPr>
        <p:txBody>
          <a:bodyPr anchor="t"/>
          <a:lstStyle/>
          <a:p>
            <a:pPr marL="440055" indent="-440055" defTabSz="578358">
              <a:spcBef>
                <a:spcPts val="2500"/>
              </a:spcBef>
              <a:defRPr sz="3564"/>
            </a:pPr>
            <a:r>
              <a:t>Not all cases are covered by the Central Limit Theorem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t>Consider taking steps from a Lévy distribution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t>Variance calculation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</a:p>
          <a:p>
            <a:pPr marL="440055" indent="-440055" defTabSz="578358">
              <a:spcBef>
                <a:spcPts val="2500"/>
              </a:spcBef>
              <a:defRPr sz="3564"/>
            </a:pPr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t>Since variance is unbounded, CLT does not apply</a:t>
            </a:r>
          </a:p>
        </p:txBody>
      </p:sp>
      <p:pic>
        <p:nvPicPr>
          <p:cNvPr id="236" name="sto16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84614" y="4864217"/>
            <a:ext cx="2835572" cy="9022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sto17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32220" y="6560522"/>
            <a:ext cx="6740360" cy="15931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Sampling from a Lévy distribution</a:t>
            </a:r>
          </a:p>
        </p:txBody>
      </p:sp>
      <p:sp>
        <p:nvSpPr>
          <p:cNvPr id="240" name="Shape 240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Choose     uniformly between </a:t>
            </a:r>
            <a:r>
              <a:rPr b="0"/>
              <a:t>     </a:t>
            </a:r>
            <a:r>
              <a:t>and    and set</a:t>
            </a:r>
          </a:p>
          <a:p>
            <a:pPr/>
          </a:p>
          <a:p>
            <a:pPr/>
            <a:r>
              <a:t>Cumulative distribution of </a:t>
            </a:r>
            <a:r>
              <a:rPr b="0" i="1"/>
              <a:t>X</a:t>
            </a:r>
            <a:r>
              <a:t> is</a:t>
            </a:r>
          </a:p>
          <a:p>
            <a:pPr/>
          </a:p>
          <a:p>
            <a:pPr/>
            <a:r>
              <a:t>Hence PDF of </a:t>
            </a:r>
            <a:r>
              <a:rPr b="0" i="1"/>
              <a:t>X</a:t>
            </a:r>
            <a:r>
              <a:t> is </a:t>
            </a:r>
          </a:p>
          <a:p>
            <a:pPr/>
          </a:p>
          <a:p>
            <a:pPr/>
            <a:r>
              <a:t>Hence </a:t>
            </a:r>
            <a:r>
              <a:rPr b="0" i="1"/>
              <a:t>X</a:t>
            </a:r>
            <a:r>
              <a:t> follows a Lévy distribution</a:t>
            </a:r>
          </a:p>
        </p:txBody>
      </p:sp>
      <p:pic>
        <p:nvPicPr>
          <p:cNvPr id="241" name="sto18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57782" y="2715724"/>
            <a:ext cx="373421" cy="4149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sto20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70083" y="3657744"/>
            <a:ext cx="2064634" cy="357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sto22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15003" y="6837878"/>
            <a:ext cx="8574794" cy="1038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mpi2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271841" y="2649327"/>
            <a:ext cx="625950" cy="5477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pi2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6909" y="2648328"/>
            <a:ext cx="274852" cy="5497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levy.pdf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73895" y="4992366"/>
            <a:ext cx="10517754" cy="10880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/>
        </p:nvSpPr>
        <p:spPr>
          <a:xfrm flipH="1">
            <a:off x="9877821" y="6987827"/>
            <a:ext cx="516484" cy="1080940"/>
          </a:xfrm>
          <a:prstGeom prst="line">
            <a:avLst/>
          </a:prstGeom>
          <a:ln w="63500">
            <a:solidFill>
              <a:schemeClr val="accent3">
                <a:hueOff val="-546624"/>
                <a:satOff val="7767"/>
                <a:lumOff val="-14512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49" name="Shape 24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Lévy walk (1 step)</a:t>
            </a:r>
          </a:p>
        </p:txBody>
      </p:sp>
      <p:pic>
        <p:nvPicPr>
          <p:cNvPr id="250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4742" y="2198739"/>
            <a:ext cx="10155316" cy="71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hape 251"/>
          <p:cNvSpPr/>
          <p:nvPr/>
        </p:nvSpPr>
        <p:spPr>
          <a:xfrm>
            <a:off x="9676180" y="4042895"/>
            <a:ext cx="3118993" cy="3068291"/>
          </a:xfrm>
          <a:prstGeom prst="roundRect">
            <a:avLst>
              <a:gd name="adj" fmla="val 7712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The Lévy distribution is often referred to as a “fat-tailed” distribution, since there is much greater probability density in the tails than in a Gaussian. The tails decay like </a:t>
            </a:r>
            <a:r>
              <a:rPr b="0"/>
              <a:t>1/</a:t>
            </a:r>
            <a:r>
              <a:rPr b="0" i="1"/>
              <a:t>x</a:t>
            </a:r>
            <a:r>
              <a:rPr b="0" baseline="31999"/>
              <a:t>2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Lévy walk (16 steps)</a:t>
            </a:r>
          </a:p>
        </p:txBody>
      </p:sp>
      <p:pic>
        <p:nvPicPr>
          <p:cNvPr id="254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0815" y="2195990"/>
            <a:ext cx="10163170" cy="7114220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255"/>
          <p:cNvSpPr/>
          <p:nvPr/>
        </p:nvSpPr>
        <p:spPr>
          <a:xfrm>
            <a:off x="9688880" y="4395014"/>
            <a:ext cx="2898727" cy="2716172"/>
          </a:xfrm>
          <a:prstGeom prst="roundRect">
            <a:avLst>
              <a:gd name="adj" fmla="val 8712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After sixteen Lévy steps, the random walker’s position follows a stretched Lévy distribution instead of a Gaussian.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2D Lévy–Pearson comparison</a:t>
            </a:r>
          </a:p>
        </p:txBody>
      </p:sp>
      <p:pic>
        <p:nvPicPr>
          <p:cNvPr id="258" name="Screen Shot 2014-04-09 at 12.25.1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2450" y="2827287"/>
            <a:ext cx="11645900" cy="501650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Shape 259"/>
          <p:cNvSpPr/>
          <p:nvPr/>
        </p:nvSpPr>
        <p:spPr>
          <a:xfrm>
            <a:off x="3245221" y="7887514"/>
            <a:ext cx="6514358" cy="1620053"/>
          </a:xfrm>
          <a:prstGeom prst="roundRect">
            <a:avLst>
              <a:gd name="adj" fmla="val 11569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Lévy walks look very different to typical random walks, and highlight the behavior of taking very large steps from time to time.</a:t>
            </a:r>
          </a:p>
        </p:txBody>
      </p:sp>
      <p:sp>
        <p:nvSpPr>
          <p:cNvPr id="260" name="Shape 260"/>
          <p:cNvSpPr/>
          <p:nvPr/>
        </p:nvSpPr>
        <p:spPr>
          <a:xfrm>
            <a:off x="3092102" y="2368550"/>
            <a:ext cx="115639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Lévy</a:t>
            </a:r>
          </a:p>
        </p:txBody>
      </p:sp>
      <p:sp>
        <p:nvSpPr>
          <p:cNvPr id="261" name="Shape 261"/>
          <p:cNvSpPr/>
          <p:nvPr/>
        </p:nvSpPr>
        <p:spPr>
          <a:xfrm>
            <a:off x="8870528" y="2368550"/>
            <a:ext cx="191854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Pearson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