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media/media1.mov" ContentType="video/unknown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ill Sans"/>
      </a:defRPr>
    </a:lvl1pPr>
    <a:lvl2pPr marL="0" marR="0" indent="3429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ill Sans"/>
      </a:defRPr>
    </a:lvl2pPr>
    <a:lvl3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ill Sans"/>
      </a:defRPr>
    </a:lvl3pPr>
    <a:lvl4pPr marL="0" marR="0" indent="10287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ill Sans"/>
      </a:defRPr>
    </a:lvl4pPr>
    <a:lvl5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ill Sans"/>
      </a:defRPr>
    </a:lvl5pPr>
    <a:lvl6pPr marL="0" marR="0" indent="17145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ill Sans"/>
      </a:defRPr>
    </a:lvl6pPr>
    <a:lvl7pPr marL="0" marR="0" indent="2057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ill Sans"/>
      </a:defRPr>
    </a:lvl7pPr>
    <a:lvl8pPr marL="0" marR="0" indent="24003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ill Sans"/>
      </a:defRPr>
    </a:lvl8pPr>
    <a:lvl9pPr marL="0" marR="0" indent="2743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4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Gill San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def" i="de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de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def" i="de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de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def" i="de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n" i="de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def" i="de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de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def" i="de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 b="def" i="def"/>
      <a:tcStyle>
        <a:tcBdr/>
        <a:fill>
          <a:solidFill>
            <a:srgbClr val="C3C2C2"/>
          </a:solidFill>
        </a:fill>
      </a:tcStyle>
    </a:band2H>
    <a:firstCol>
      <a:tcTxStyle b="on" i="de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de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de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def" i="de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CE5E6"/>
          </a:solidFill>
        </a:fill>
      </a:tcStyle>
    </a:band2H>
    <a:firstCol>
      <a:tcTxStyle b="on" i="de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de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de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def" i="de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 b="def" i="def"/>
      <a:tcStyle>
        <a:tcBdr/>
        <a:fill>
          <a:solidFill>
            <a:srgbClr val="DEDEDF"/>
          </a:solidFill>
        </a:fill>
      </a:tcStyle>
    </a:band2H>
    <a:firstCol>
      <a:tcTxStyle b="on" i="de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de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de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def" i="def"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de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de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de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8F44A2F1-9E1F-4B54-A3A2-5F16C0AD49E2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584200" latinLnBrk="0">
      <a:defRPr sz="2200">
        <a:latin typeface="Lucida Grande"/>
        <a:ea typeface="Lucida Grande"/>
        <a:cs typeface="Lucida Grande"/>
        <a:sym typeface="Lucida Grande"/>
      </a:defRPr>
    </a:lvl1pPr>
    <a:lvl2pPr indent="228600" defTabSz="584200" latinLnBrk="0">
      <a:defRPr sz="2200">
        <a:latin typeface="Lucida Grande"/>
        <a:ea typeface="Lucida Grande"/>
        <a:cs typeface="Lucida Grande"/>
        <a:sym typeface="Lucida Grande"/>
      </a:defRPr>
    </a:lvl2pPr>
    <a:lvl3pPr indent="457200" defTabSz="584200" latinLnBrk="0">
      <a:defRPr sz="2200">
        <a:latin typeface="Lucida Grande"/>
        <a:ea typeface="Lucida Grande"/>
        <a:cs typeface="Lucida Grande"/>
        <a:sym typeface="Lucida Grande"/>
      </a:defRPr>
    </a:lvl3pPr>
    <a:lvl4pPr indent="685800" defTabSz="584200" latinLnBrk="0">
      <a:defRPr sz="2200">
        <a:latin typeface="Lucida Grande"/>
        <a:ea typeface="Lucida Grande"/>
        <a:cs typeface="Lucida Grande"/>
        <a:sym typeface="Lucida Grande"/>
      </a:defRPr>
    </a:lvl4pPr>
    <a:lvl5pPr indent="914400" defTabSz="584200" latinLnBrk="0">
      <a:defRPr sz="2200">
        <a:latin typeface="Lucida Grande"/>
        <a:ea typeface="Lucida Grande"/>
        <a:cs typeface="Lucida Grande"/>
        <a:sym typeface="Lucida Grande"/>
      </a:defRPr>
    </a:lvl5pPr>
    <a:lvl6pPr indent="1143000" defTabSz="584200" latinLnBrk="0">
      <a:defRPr sz="2200">
        <a:latin typeface="Lucida Grande"/>
        <a:ea typeface="Lucida Grande"/>
        <a:cs typeface="Lucida Grande"/>
        <a:sym typeface="Lucida Grande"/>
      </a:defRPr>
    </a:lvl6pPr>
    <a:lvl7pPr indent="1371600" defTabSz="584200" latinLnBrk="0">
      <a:defRPr sz="2200">
        <a:latin typeface="Lucida Grande"/>
        <a:ea typeface="Lucida Grande"/>
        <a:cs typeface="Lucida Grande"/>
        <a:sym typeface="Lucida Grande"/>
      </a:defRPr>
    </a:lvl7pPr>
    <a:lvl8pPr indent="1600200" defTabSz="584200" latinLnBrk="0">
      <a:defRPr sz="2200">
        <a:latin typeface="Lucida Grande"/>
        <a:ea typeface="Lucida Grande"/>
        <a:cs typeface="Lucida Grande"/>
        <a:sym typeface="Lucida Grande"/>
      </a:defRPr>
    </a:lvl8pPr>
    <a:lvl9pPr indent="1828800" defTabSz="584200" latinLnBrk="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Shape 12"/>
          <p:cNvSpPr/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600"/>
            </a:lvl1pPr>
            <a:lvl2pPr marL="0" indent="0" algn="ctr">
              <a:spcBef>
                <a:spcPts val="0"/>
              </a:spcBef>
              <a:buSzTx/>
              <a:buNone/>
              <a:defRPr sz="3600"/>
            </a:lvl2pPr>
            <a:lvl3pPr marL="0" indent="0" algn="ctr">
              <a:spcBef>
                <a:spcPts val="0"/>
              </a:spcBef>
              <a:buSzTx/>
              <a:buNone/>
              <a:defRPr sz="3600"/>
            </a:lvl3pPr>
            <a:lvl4pPr marL="0" indent="0" algn="ctr">
              <a:spcBef>
                <a:spcPts val="0"/>
              </a:spcBef>
              <a:buSzTx/>
              <a:buNone/>
              <a:defRPr sz="3600"/>
            </a:lvl4pPr>
            <a:lvl5pPr marL="0" indent="0" algn="ctr">
              <a:spcBef>
                <a:spcPts val="0"/>
              </a:spcBef>
              <a:buSzTx/>
              <a:buNone/>
              <a:defRPr sz="3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Shape 21"/>
          <p:cNvSpPr/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/>
          <a:lstStyle>
            <a:lvl1pPr>
              <a:spcBef>
                <a:spcPts val="2400"/>
              </a:spcBef>
            </a:lvl1pPr>
            <a:lvl2pPr>
              <a:spcBef>
                <a:spcPts val="2400"/>
              </a:spcBef>
            </a:lvl2pPr>
            <a:lvl3pPr>
              <a:spcBef>
                <a:spcPts val="2400"/>
              </a:spcBef>
            </a:lvl3pPr>
            <a:lvl4pPr>
              <a:spcBef>
                <a:spcPts val="2400"/>
              </a:spcBef>
            </a:lvl4pPr>
            <a:lvl5pPr>
              <a:spcBef>
                <a:spcPts val="2400"/>
              </a:spcBef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hape 22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0" name="Shape 30"/>
          <p:cNvSpPr/>
          <p:nvPr>
            <p:ph type="body" idx="1"/>
          </p:nvPr>
        </p:nvSpPr>
        <p:spPr>
          <a:xfrm>
            <a:off x="1270000" y="2768600"/>
            <a:ext cx="10464800" cy="5715000"/>
          </a:xfrm>
          <a:prstGeom prst="rect">
            <a:avLst/>
          </a:prstGeom>
        </p:spPr>
        <p:txBody>
          <a:bodyPr numCol="2" spcCol="523240" anchor="t"/>
          <a:lstStyle>
            <a:lvl1pPr marL="812120" indent="-494620">
              <a:spcBef>
                <a:spcPts val="3800"/>
              </a:spcBef>
              <a:defRPr sz="3200"/>
            </a:lvl1pPr>
            <a:lvl2pPr marL="1256620" indent="-494620">
              <a:spcBef>
                <a:spcPts val="3800"/>
              </a:spcBef>
              <a:defRPr sz="3200"/>
            </a:lvl2pPr>
            <a:lvl3pPr marL="1701120" indent="-494620">
              <a:spcBef>
                <a:spcPts val="3800"/>
              </a:spcBef>
              <a:defRPr sz="3200"/>
            </a:lvl3pPr>
            <a:lvl4pPr marL="2145620" indent="-494620">
              <a:spcBef>
                <a:spcPts val="3800"/>
              </a:spcBef>
              <a:defRPr sz="3200"/>
            </a:lvl4pPr>
            <a:lvl5pPr marL="2590120" indent="-494620">
              <a:spcBef>
                <a:spcPts val="3800"/>
              </a:spcBef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hape 3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Shape 39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4" name="Shape 54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/>
          <p:nvPr>
            <p:ph type="title"/>
          </p:nvPr>
        </p:nvSpPr>
        <p:spPr>
          <a:xfrm>
            <a:off x="1270000" y="2971800"/>
            <a:ext cx="10464800" cy="3810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2" name="Shape 62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/>
          <p:nvPr>
            <p:ph type="pic" sz="half" idx="13"/>
          </p:nvPr>
        </p:nvSpPr>
        <p:spPr>
          <a:xfrm>
            <a:off x="2438400" y="1638300"/>
            <a:ext cx="8128000" cy="4559300"/>
          </a:xfrm>
          <a:prstGeom prst="rect">
            <a:avLst/>
          </a:prstGeom>
        </p:spPr>
        <p:txBody>
          <a:bodyPr lIns="91439" tIns="45719" rIns="91439" bIns="45719" anchor="t"/>
          <a:lstStyle/>
          <a:p>
            <a:pPr/>
          </a:p>
        </p:txBody>
      </p:sp>
      <p:sp>
        <p:nvSpPr>
          <p:cNvPr id="70" name="Shape 70"/>
          <p:cNvSpPr/>
          <p:nvPr>
            <p:ph type="title"/>
          </p:nvPr>
        </p:nvSpPr>
        <p:spPr>
          <a:xfrm>
            <a:off x="1270000" y="7366000"/>
            <a:ext cx="10464800" cy="17018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1" name="Shape 7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Horizontal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/>
          <p:nvPr>
            <p:ph type="pic" sz="half" idx="13"/>
          </p:nvPr>
        </p:nvSpPr>
        <p:spPr>
          <a:xfrm>
            <a:off x="2438400" y="1638300"/>
            <a:ext cx="8128000" cy="4559300"/>
          </a:xfrm>
          <a:prstGeom prst="rect">
            <a:avLst/>
          </a:prstGeom>
          <a:ln w="25400"/>
          <a:effectLst>
            <a:reflection blurRad="0" stA="50000" stPos="0" endA="0" endPos="40000" dist="0" dir="5400000" fadeDir="5400000" sx="100000" sy="-100000" kx="0" ky="0" algn="bl" rotWithShape="0"/>
          </a:effectLst>
        </p:spPr>
        <p:txBody>
          <a:bodyPr lIns="91439" tIns="45719" rIns="91439" bIns="45719" anchor="t"/>
          <a:lstStyle/>
          <a:p>
            <a:pPr/>
          </a:p>
        </p:txBody>
      </p:sp>
      <p:sp>
        <p:nvSpPr>
          <p:cNvPr id="79" name="Shape 79"/>
          <p:cNvSpPr/>
          <p:nvPr>
            <p:ph type="title"/>
          </p:nvPr>
        </p:nvSpPr>
        <p:spPr>
          <a:xfrm>
            <a:off x="1270000" y="7366000"/>
            <a:ext cx="10464800" cy="17018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0" name="Shape 80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/>
          <p:nvPr>
            <p:ph type="pic" sz="quarter" idx="13"/>
          </p:nvPr>
        </p:nvSpPr>
        <p:spPr>
          <a:xfrm>
            <a:off x="7124700" y="1968500"/>
            <a:ext cx="4216400" cy="5626100"/>
          </a:xfrm>
          <a:prstGeom prst="rect">
            <a:avLst/>
          </a:prstGeom>
        </p:spPr>
        <p:txBody>
          <a:bodyPr lIns="91439" tIns="45719" rIns="91439" bIns="45719" anchor="t"/>
          <a:lstStyle/>
          <a:p>
            <a:pPr/>
          </a:p>
        </p:txBody>
      </p:sp>
      <p:sp>
        <p:nvSpPr>
          <p:cNvPr id="88" name="Shape 88"/>
          <p:cNvSpPr/>
          <p:nvPr>
            <p:ph type="title"/>
          </p:nvPr>
        </p:nvSpPr>
        <p:spPr>
          <a:xfrm>
            <a:off x="635000" y="1409700"/>
            <a:ext cx="5867400" cy="3302000"/>
          </a:xfrm>
          <a:prstGeom prst="rect">
            <a:avLst/>
          </a:prstGeom>
        </p:spPr>
        <p:txBody>
          <a:bodyPr anchor="b"/>
          <a:lstStyle>
            <a:lvl1pPr>
              <a:defRPr sz="7000"/>
            </a:lvl1pPr>
          </a:lstStyle>
          <a:p>
            <a:pPr/>
            <a:r>
              <a:t>Title Text</a:t>
            </a:r>
          </a:p>
        </p:txBody>
      </p:sp>
      <p:sp>
        <p:nvSpPr>
          <p:cNvPr id="89" name="Shape 89"/>
          <p:cNvSpPr/>
          <p:nvPr>
            <p:ph type="body" sz="quarter" idx="1"/>
          </p:nvPr>
        </p:nvSpPr>
        <p:spPr>
          <a:xfrm>
            <a:off x="635000" y="4787900"/>
            <a:ext cx="5867400" cy="3302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400"/>
            </a:lvl1pPr>
            <a:lvl2pPr marL="0" indent="0" algn="ctr">
              <a:spcBef>
                <a:spcPts val="0"/>
              </a:spcBef>
              <a:buSzTx/>
              <a:buNone/>
              <a:defRPr sz="3400"/>
            </a:lvl2pPr>
            <a:lvl3pPr marL="0" indent="0" algn="ctr">
              <a:spcBef>
                <a:spcPts val="0"/>
              </a:spcBef>
              <a:buSzTx/>
              <a:buNone/>
              <a:defRPr sz="3400"/>
            </a:lvl3pPr>
            <a:lvl4pPr marL="0" indent="0" algn="ctr">
              <a:spcBef>
                <a:spcPts val="0"/>
              </a:spcBef>
              <a:buSzTx/>
              <a:buNone/>
              <a:defRPr sz="3400"/>
            </a:lvl4pPr>
            <a:lvl5pPr marL="0" indent="0" algn="ctr">
              <a:spcBef>
                <a:spcPts val="0"/>
              </a:spcBef>
              <a:buSzTx/>
              <a:buNone/>
              <a:defRPr sz="3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0" name="Shape 90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Vertical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/>
          <p:nvPr>
            <p:ph type="pic" sz="quarter" idx="13"/>
          </p:nvPr>
        </p:nvSpPr>
        <p:spPr>
          <a:xfrm>
            <a:off x="7124700" y="1968500"/>
            <a:ext cx="4216400" cy="5626100"/>
          </a:xfrm>
          <a:prstGeom prst="rect">
            <a:avLst/>
          </a:prstGeom>
          <a:ln w="25400"/>
          <a:effectLst>
            <a:reflection blurRad="0" stA="50000" stPos="0" endA="0" endPos="40000" dist="0" dir="5400000" fadeDir="5400000" sx="100000" sy="-100000" kx="0" ky="0" algn="bl" rotWithShape="0"/>
          </a:effectLst>
        </p:spPr>
        <p:txBody>
          <a:bodyPr lIns="91439" tIns="45719" rIns="91439" bIns="45719" anchor="t"/>
          <a:lstStyle/>
          <a:p>
            <a:pPr/>
          </a:p>
        </p:txBody>
      </p:sp>
      <p:sp>
        <p:nvSpPr>
          <p:cNvPr id="98" name="Shape 98"/>
          <p:cNvSpPr/>
          <p:nvPr>
            <p:ph type="title"/>
          </p:nvPr>
        </p:nvSpPr>
        <p:spPr>
          <a:xfrm>
            <a:off x="635000" y="1409700"/>
            <a:ext cx="5867400" cy="3302000"/>
          </a:xfrm>
          <a:prstGeom prst="rect">
            <a:avLst/>
          </a:prstGeom>
        </p:spPr>
        <p:txBody>
          <a:bodyPr anchor="b"/>
          <a:lstStyle>
            <a:lvl1pPr>
              <a:defRPr sz="7000"/>
            </a:lvl1pPr>
          </a:lstStyle>
          <a:p>
            <a:pPr/>
            <a:r>
              <a:t>Title Text</a:t>
            </a:r>
          </a:p>
        </p:txBody>
      </p:sp>
      <p:sp>
        <p:nvSpPr>
          <p:cNvPr id="99" name="Shape 99"/>
          <p:cNvSpPr/>
          <p:nvPr>
            <p:ph type="body" sz="quarter" idx="1"/>
          </p:nvPr>
        </p:nvSpPr>
        <p:spPr>
          <a:xfrm>
            <a:off x="635000" y="4787900"/>
            <a:ext cx="5867400" cy="3302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400"/>
            </a:lvl1pPr>
            <a:lvl2pPr marL="0" indent="0" algn="ctr">
              <a:spcBef>
                <a:spcPts val="0"/>
              </a:spcBef>
              <a:buSzTx/>
              <a:buNone/>
              <a:defRPr sz="3400"/>
            </a:lvl2pPr>
            <a:lvl3pPr marL="0" indent="0" algn="ctr">
              <a:spcBef>
                <a:spcPts val="0"/>
              </a:spcBef>
              <a:buSzTx/>
              <a:buNone/>
              <a:defRPr sz="3400"/>
            </a:lvl3pPr>
            <a:lvl4pPr marL="0" indent="0" algn="ctr">
              <a:spcBef>
                <a:spcPts val="0"/>
              </a:spcBef>
              <a:buSzTx/>
              <a:buNone/>
              <a:defRPr sz="3400"/>
            </a:lvl4pPr>
            <a:lvl5pPr marL="0" indent="0" algn="ctr">
              <a:spcBef>
                <a:spcPts val="0"/>
              </a:spcBef>
              <a:buSzTx/>
              <a:buNone/>
              <a:defRPr sz="3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Shape 100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/>
          <p:nvPr>
            <p:ph type="pic" sz="quarter" idx="13"/>
          </p:nvPr>
        </p:nvSpPr>
        <p:spPr>
          <a:xfrm>
            <a:off x="7175500" y="2882900"/>
            <a:ext cx="4102100" cy="5473700"/>
          </a:xfrm>
          <a:prstGeom prst="rect">
            <a:avLst/>
          </a:prstGeom>
        </p:spPr>
        <p:txBody>
          <a:bodyPr lIns="91439" tIns="45719" rIns="91439" bIns="45719" anchor="t"/>
          <a:lstStyle/>
          <a:p>
            <a:pPr/>
          </a:p>
        </p:txBody>
      </p:sp>
      <p:sp>
        <p:nvSpPr>
          <p:cNvPr id="108" name="Shape 108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9" name="Shape 109"/>
          <p:cNvSpPr/>
          <p:nvPr>
            <p:ph type="body" sz="half" idx="1"/>
          </p:nvPr>
        </p:nvSpPr>
        <p:spPr>
          <a:xfrm>
            <a:off x="1270000" y="2768600"/>
            <a:ext cx="50419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/>
            </a:lvl1pPr>
            <a:lvl2pPr marL="1256620" indent="-494620">
              <a:spcBef>
                <a:spcPts val="3800"/>
              </a:spcBef>
              <a:defRPr sz="3200"/>
            </a:lvl2pPr>
            <a:lvl3pPr marL="1701120" indent="-494620">
              <a:spcBef>
                <a:spcPts val="3800"/>
              </a:spcBef>
              <a:defRPr sz="3200"/>
            </a:lvl3pPr>
            <a:lvl4pPr marL="2145620" indent="-494620">
              <a:spcBef>
                <a:spcPts val="3800"/>
              </a:spcBef>
              <a:defRPr sz="3200"/>
            </a:lvl4pPr>
            <a:lvl5pPr marL="2590120" indent="-494620">
              <a:spcBef>
                <a:spcPts val="3800"/>
              </a:spcBef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0" name="Shape 110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18" name="Shape 118"/>
          <p:cNvSpPr/>
          <p:nvPr>
            <p:ph type="body" sz="half" idx="1"/>
          </p:nvPr>
        </p:nvSpPr>
        <p:spPr>
          <a:xfrm>
            <a:off x="1270000" y="2768600"/>
            <a:ext cx="50419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/>
            </a:lvl1pPr>
            <a:lvl2pPr marL="1256620" indent="-494620">
              <a:spcBef>
                <a:spcPts val="3800"/>
              </a:spcBef>
              <a:defRPr sz="3200"/>
            </a:lvl2pPr>
            <a:lvl3pPr marL="1701120" indent="-494620">
              <a:spcBef>
                <a:spcPts val="3800"/>
              </a:spcBef>
              <a:defRPr sz="3200"/>
            </a:lvl3pPr>
            <a:lvl4pPr marL="2145620" indent="-494620">
              <a:spcBef>
                <a:spcPts val="3800"/>
              </a:spcBef>
              <a:defRPr sz="3200"/>
            </a:lvl4pPr>
            <a:lvl5pPr marL="2590120" indent="-494620">
              <a:spcBef>
                <a:spcPts val="3800"/>
              </a:spcBef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hape 119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7" name="Shape 127"/>
          <p:cNvSpPr/>
          <p:nvPr>
            <p:ph type="body" sz="quarter" idx="1"/>
          </p:nvPr>
        </p:nvSpPr>
        <p:spPr>
          <a:xfrm>
            <a:off x="7772400" y="2768600"/>
            <a:ext cx="3962400" cy="5715000"/>
          </a:xfrm>
          <a:prstGeom prst="rect">
            <a:avLst/>
          </a:prstGeom>
        </p:spPr>
        <p:txBody>
          <a:bodyPr/>
          <a:lstStyle>
            <a:lvl1pPr marL="812120" indent="-494620">
              <a:spcBef>
                <a:spcPts val="3800"/>
              </a:spcBef>
              <a:defRPr sz="3200"/>
            </a:lvl1pPr>
            <a:lvl2pPr marL="1256620" indent="-494620">
              <a:spcBef>
                <a:spcPts val="3800"/>
              </a:spcBef>
              <a:defRPr sz="3200"/>
            </a:lvl2pPr>
            <a:lvl3pPr marL="1701120" indent="-494620">
              <a:spcBef>
                <a:spcPts val="3800"/>
              </a:spcBef>
              <a:defRPr sz="3200"/>
            </a:lvl3pPr>
            <a:lvl4pPr marL="2145620" indent="-494620">
              <a:spcBef>
                <a:spcPts val="3800"/>
              </a:spcBef>
              <a:defRPr sz="3200"/>
            </a:lvl4pPr>
            <a:lvl5pPr marL="2590120" indent="-494620">
              <a:spcBef>
                <a:spcPts val="3800"/>
              </a:spcBef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Shape 12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body" idx="1"/>
          </p:nvPr>
        </p:nvSpPr>
        <p:spPr>
          <a:xfrm>
            <a:off x="1270000" y="1270000"/>
            <a:ext cx="10464800" cy="721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Shape 3"/>
          <p:cNvSpPr/>
          <p:nvPr>
            <p:ph type="title"/>
          </p:nvPr>
        </p:nvSpPr>
        <p:spPr>
          <a:xfrm>
            <a:off x="1270000" y="254000"/>
            <a:ext cx="10464800" cy="2438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/>
            <a:r>
              <a:t>Title Text</a:t>
            </a:r>
          </a:p>
        </p:txBody>
      </p:sp>
      <p:sp>
        <p:nvSpPr>
          <p:cNvPr id="4" name="Shape 4"/>
          <p:cNvSpPr/>
          <p:nvPr>
            <p:ph type="sldNum" sz="quarter" idx="2"/>
          </p:nvPr>
        </p:nvSpPr>
        <p:spPr>
          <a:xfrm>
            <a:off x="6324600" y="9258300"/>
            <a:ext cx="342900" cy="3683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4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4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4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4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4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4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4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4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4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9pPr>
    </p:titleStyle>
    <p:bodyStyle>
      <a:lvl1pPr marL="889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b="0" baseline="0" cap="none" i="0" spc="0" strike="noStrike" sz="4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1pPr>
      <a:lvl2pPr marL="13335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b="0" baseline="0" cap="none" i="0" spc="0" strike="noStrike" sz="4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2pPr>
      <a:lvl3pPr marL="1778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b="0" baseline="0" cap="none" i="0" spc="0" strike="noStrike" sz="4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3pPr>
      <a:lvl4pPr marL="22225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b="0" baseline="0" cap="none" i="0" spc="0" strike="noStrike" sz="4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4pPr>
      <a:lvl5pPr marL="2667000" marR="0" indent="-5715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b="0" baseline="0" cap="none" i="0" spc="0" strike="noStrike" sz="4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5pPr>
      <a:lvl6pPr marL="26454100" marR="0" indent="-240030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b="0" baseline="0" cap="none" i="0" spc="0" strike="noStrike" sz="4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6pPr>
      <a:lvl7pPr marL="26809700" marR="0" indent="-240030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b="0" baseline="0" cap="none" i="0" spc="0" strike="noStrike" sz="4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7pPr>
      <a:lvl8pPr marL="27165300" marR="0" indent="-240030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b="0" baseline="0" cap="none" i="0" spc="0" strike="noStrike" sz="4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8pPr>
      <a:lvl9pPr marL="27520900" marR="0" indent="-24003000" algn="l" defTabSz="584200" rtl="0" latinLnBrk="0">
        <a:lnSpc>
          <a:spcPct val="100000"/>
        </a:lnSpc>
        <a:spcBef>
          <a:spcPts val="4800"/>
        </a:spcBef>
        <a:spcAft>
          <a:spcPts val="0"/>
        </a:spcAft>
        <a:buClrTx/>
        <a:buSzPct val="171000"/>
        <a:buFontTx/>
        <a:buChar char="•"/>
        <a:tabLst/>
        <a:defRPr b="0" baseline="0" cap="none" i="0" spc="0" strike="noStrike" sz="4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Gill Sans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tif"/><Relationship Id="rId3" Type="http://schemas.openxmlformats.org/officeDocument/2006/relationships/image" Target="../media/image2.tif"/><Relationship Id="rId4" Type="http://schemas.openxmlformats.org/officeDocument/2006/relationships/image" Target="../media/image3.tif"/></Relationships>
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tif"/><Relationship Id="rId3" Type="http://schemas.openxmlformats.org/officeDocument/2006/relationships/image" Target="../media/image5.tif"/></Relationships>
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tif"/><Relationship Id="rId3" Type="http://schemas.openxmlformats.org/officeDocument/2006/relationships/image" Target="../media/image7.tif"/></Relationships>
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tif"/><Relationship Id="rId3" Type="http://schemas.openxmlformats.org/officeDocument/2006/relationships/image" Target="../media/image9.tif"/></Relationships>
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tif"/><Relationship Id="rId3" Type="http://schemas.openxmlformats.org/officeDocument/2006/relationships/image" Target="../media/image11.tif"/></Relationships>
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tif"/><Relationship Id="rId3" Type="http://schemas.openxmlformats.org/officeDocument/2006/relationships/image" Target="../media/image13.tif"/><Relationship Id="rId4" Type="http://schemas.openxmlformats.org/officeDocument/2006/relationships/image" Target="../media/image14.tif"/></Relationships>
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tif"/><Relationship Id="rId3" Type="http://schemas.openxmlformats.org/officeDocument/2006/relationships/image" Target="../media/image16.tif"/><Relationship Id="rId4" Type="http://schemas.openxmlformats.org/officeDocument/2006/relationships/image" Target="../media/image17.tif"/></Relationships>
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tif"/></Relationships>
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tif"/></Relationships>
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tif"/></Relationships>
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tif"/></Relationships>
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tif"/><Relationship Id="rId3" Type="http://schemas.openxmlformats.org/officeDocument/2006/relationships/image" Target="../media/image2.png"/></Relationships>
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tif"/><Relationship Id="rId3" Type="http://schemas.openxmlformats.org/officeDocument/2006/relationships/image" Target="../media/image3.png"/></Relationships>
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tif"/><Relationship Id="rId3" Type="http://schemas.openxmlformats.org/officeDocument/2006/relationships/image" Target="../media/image16.tif"/><Relationship Id="rId4" Type="http://schemas.openxmlformats.org/officeDocument/2006/relationships/image" Target="../media/image17.tif"/></Relationships>
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mathworks.com/moler/random.pdf" TargetMode="External"/></Relationships>
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tif"/></Relationships>
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tif"/></Relationships>
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tif"/><Relationship Id="rId3" Type="http://schemas.openxmlformats.org/officeDocument/2006/relationships/image" Target="../media/image6.png"/></Relationships>
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tif"/></Relationships>
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sciencemag.org/cgi/content/abstract/327/5965/560" TargetMode="External"/><Relationship Id="rId3" Type="http://schemas.openxmlformats.org/officeDocument/2006/relationships/video" Target="../media/media1.mov"/><Relationship Id="rId4" Type="http://schemas.microsoft.com/office/2007/relationships/media" Target="../media/media1.mov"/><Relationship Id="rId5" Type="http://schemas.openxmlformats.org/officeDocument/2006/relationships/image" Target="../media/image8.png"/></Relationships>
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tif"/><Relationship Id="rId3" Type="http://schemas.openxmlformats.org/officeDocument/2006/relationships/image" Target="../media/image24.tif"/><Relationship Id="rId4" Type="http://schemas.openxmlformats.org/officeDocument/2006/relationships/image" Target="../media/image25.tif"/></Relationships>
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tif"/></Relationships>
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tif"/></Relationships>
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tif"/></Relationships>
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tif"/></Relationships>
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tif"/><Relationship Id="rId3" Type="http://schemas.openxmlformats.org/officeDocument/2006/relationships/image" Target="../media/image31.tif"/></Relationships>
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tif"/><Relationship Id="rId3" Type="http://schemas.openxmlformats.org/officeDocument/2006/relationships/image" Target="../media/image33.tif"/></Relationships>
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google.com/finance?chdnp=1&amp;chdd=1&amp;chds=1&amp;chdv=1&amp;chvs=maximized&amp;chdeh=0&amp;chdet=1266804959996&amp;chddm=331925&amp;chls=IntervalBasedLine&amp;q=INDEXSP:.INX&amp;ntsp=0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/>
          <p:nvPr/>
        </p:nvSpPr>
        <p:spPr>
          <a:xfrm>
            <a:off x="2151" y="6350"/>
            <a:ext cx="12480833" cy="736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3500" tIns="63500" rIns="63500" bIns="63500">
            <a:spAutoFit/>
          </a:bodyPr>
          <a:lstStyle/>
          <a:p>
            <a:pPr algn="l">
              <a:defRPr b="1">
                <a:solidFill>
                  <a:srgbClr val="2C1376"/>
                </a:solidFill>
              </a:defRPr>
            </a:pPr>
            <a:r>
              <a:t>Announcements</a:t>
            </a:r>
          </a:p>
          <a:p>
            <a:pPr algn="l">
              <a:defRPr>
                <a:solidFill>
                  <a:srgbClr val="2C1376"/>
                </a:solidFill>
              </a:defRPr>
            </a:pPr>
          </a:p>
          <a:p>
            <a:pPr algn="l"/>
            <a:r>
              <a:rPr sz="4100">
                <a:solidFill>
                  <a:srgbClr val="38571A"/>
                </a:solidFill>
              </a:rPr>
              <a:t>(1) </a:t>
            </a:r>
            <a:r>
              <a:rPr b="1" sz="4100">
                <a:solidFill>
                  <a:srgbClr val="38571A"/>
                </a:solidFill>
              </a:rPr>
              <a:t>Labs: </a:t>
            </a:r>
            <a:r>
              <a:rPr sz="4100">
                <a:solidFill>
                  <a:srgbClr val="38571A"/>
                </a:solidFill>
              </a:rPr>
              <a:t>We are now a Monday-Sunday schedule.</a:t>
            </a:r>
            <a:endParaRPr sz="4100">
              <a:solidFill>
                <a:srgbClr val="38571A"/>
              </a:solidFill>
            </a:endParaRPr>
          </a:p>
          <a:p>
            <a:pPr lvl="1" algn="l"/>
            <a:r>
              <a:rPr sz="4100">
                <a:solidFill>
                  <a:srgbClr val="38571A"/>
                </a:solidFill>
              </a:rPr>
              <a:t>    The random walk lab starts </a:t>
            </a:r>
            <a:r>
              <a:rPr i="1" sz="4100">
                <a:solidFill>
                  <a:srgbClr val="38571A"/>
                </a:solidFill>
              </a:rPr>
              <a:t>today!</a:t>
            </a:r>
            <a:endParaRPr i="1" sz="4100">
              <a:solidFill>
                <a:srgbClr val="38571A"/>
              </a:solidFill>
            </a:endParaRPr>
          </a:p>
          <a:p>
            <a:pPr lvl="1" algn="l"/>
            <a:endParaRPr i="1" sz="4100">
              <a:solidFill>
                <a:srgbClr val="38571A"/>
              </a:solidFill>
            </a:endParaRPr>
          </a:p>
          <a:p>
            <a:pPr lvl="1" algn="l"/>
            <a:r>
              <a:rPr sz="4100">
                <a:solidFill>
                  <a:srgbClr val="38571A"/>
                </a:solidFill>
              </a:rPr>
              <a:t>(2) </a:t>
            </a:r>
            <a:r>
              <a:rPr b="1" sz="4100">
                <a:solidFill>
                  <a:srgbClr val="38571A"/>
                </a:solidFill>
              </a:rPr>
              <a:t>Final projects</a:t>
            </a:r>
            <a:r>
              <a:rPr sz="4100">
                <a:solidFill>
                  <a:srgbClr val="38571A"/>
                </a:solidFill>
              </a:rPr>
              <a:t>--time to start thinking about them.</a:t>
            </a:r>
            <a:endParaRPr sz="4100">
              <a:solidFill>
                <a:srgbClr val="38571A"/>
              </a:solidFill>
            </a:endParaRPr>
          </a:p>
          <a:p>
            <a:pPr lvl="2" algn="l"/>
            <a:r>
              <a:rPr sz="4100">
                <a:solidFill>
                  <a:srgbClr val="38571A"/>
                </a:solidFill>
              </a:rPr>
              <a:t>   Guidelines and last year’s topics posted on web</a:t>
            </a:r>
            <a:endParaRPr sz="4100">
              <a:solidFill>
                <a:srgbClr val="38571A"/>
              </a:solidFill>
            </a:endParaRPr>
          </a:p>
          <a:p>
            <a:pPr lvl="2" algn="l"/>
            <a:endParaRPr sz="4100">
              <a:solidFill>
                <a:srgbClr val="38571A"/>
              </a:solidFill>
            </a:endParaRPr>
          </a:p>
          <a:p>
            <a:pPr lvl="2" algn="l"/>
            <a:r>
              <a:rPr sz="4100">
                <a:solidFill>
                  <a:srgbClr val="38571A"/>
                </a:solidFill>
              </a:rPr>
              <a:t>(3) </a:t>
            </a:r>
            <a:r>
              <a:rPr b="1" sz="4100">
                <a:solidFill>
                  <a:srgbClr val="38571A"/>
                </a:solidFill>
              </a:rPr>
              <a:t>Hmk.</a:t>
            </a:r>
            <a:r>
              <a:rPr sz="4100">
                <a:solidFill>
                  <a:srgbClr val="38571A"/>
                </a:solidFill>
              </a:rPr>
              <a:t> Inverse problems howework due Fri.</a:t>
            </a:r>
            <a:endParaRPr sz="4100">
              <a:solidFill>
                <a:srgbClr val="38571A"/>
              </a:solidFill>
            </a:endParaRPr>
          </a:p>
          <a:p>
            <a:pPr lvl="3" algn="l"/>
            <a:r>
              <a:rPr sz="4100">
                <a:solidFill>
                  <a:srgbClr val="38571A"/>
                </a:solidFill>
              </a:rPr>
              <a:t>   Random walk hmk due next friday.</a:t>
            </a:r>
            <a:endParaRPr sz="4100">
              <a:solidFill>
                <a:srgbClr val="38571A"/>
              </a:solidFill>
            </a:endParaRPr>
          </a:p>
          <a:p>
            <a:pPr lvl="4" algn="l"/>
            <a:r>
              <a:rPr sz="4100">
                <a:solidFill>
                  <a:srgbClr val="38571A"/>
                </a:solidFill>
              </a:rPr>
              <a:t>  One question will ask “what is your final project”?</a:t>
            </a:r>
            <a:endParaRPr sz="4100">
              <a:solidFill>
                <a:srgbClr val="38571A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/>
          <p:nvPr/>
        </p:nvSpPr>
        <p:spPr>
          <a:xfrm>
            <a:off x="913438" y="368300"/>
            <a:ext cx="3242569" cy="698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defRPr sz="4100" u="sng"/>
            </a:lvl1pPr>
          </a:lstStyle>
          <a:p>
            <a:pPr/>
            <a:r>
              <a:t>Random Walks</a:t>
            </a:r>
          </a:p>
        </p:txBody>
      </p:sp>
      <p:pic>
        <p:nvPicPr>
          <p:cNvPr id="140" name="dropped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09900" y="1536700"/>
            <a:ext cx="6972300" cy="4521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droppedImage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0200" y="6718300"/>
            <a:ext cx="12738100" cy="469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2" name="File-Karl_Pearson_2.tif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160000" y="2362200"/>
            <a:ext cx="2857500" cy="3479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/>
          <p:nvPr/>
        </p:nvSpPr>
        <p:spPr>
          <a:xfrm>
            <a:off x="393563" y="336550"/>
            <a:ext cx="10898139" cy="173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l">
              <a:defRPr sz="3700"/>
            </a:pPr>
            <a:r>
              <a:t>If Pearson had been a careful reader of the literature, he</a:t>
            </a:r>
          </a:p>
          <a:p>
            <a:pPr algn="l">
              <a:defRPr sz="3700"/>
            </a:pPr>
            <a:r>
              <a:t>could have found the answer from the (not yet famous)</a:t>
            </a:r>
          </a:p>
          <a:p>
            <a:pPr algn="l">
              <a:defRPr sz="3700"/>
            </a:pPr>
            <a:r>
              <a:t>Mr. Einstein</a:t>
            </a:r>
          </a:p>
        </p:txBody>
      </p:sp>
      <p:pic>
        <p:nvPicPr>
          <p:cNvPr id="145" name="dropped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4800" y="2590800"/>
            <a:ext cx="8940800" cy="2984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6" name="File-Einstein1921_by_F_Schmutzer_4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198100" y="3302000"/>
            <a:ext cx="2857500" cy="35687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dropped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28043" y="1181100"/>
            <a:ext cx="4244057" cy="646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" name="droppedImage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312307" y="482600"/>
            <a:ext cx="5349594" cy="6629401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Shape 150"/>
          <p:cNvSpPr/>
          <p:nvPr/>
        </p:nvSpPr>
        <p:spPr>
          <a:xfrm>
            <a:off x="1122" y="171450"/>
            <a:ext cx="12992101" cy="55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/>
            </a:lvl1pPr>
          </a:lstStyle>
          <a:p>
            <a:pPr/>
            <a:r>
              <a:t>Einstein had apparently already been influenced by Pearson’s thought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roup 154"/>
          <p:cNvGrpSpPr/>
          <p:nvPr/>
        </p:nvGrpSpPr>
        <p:grpSpPr>
          <a:xfrm>
            <a:off x="4452870" y="-228600"/>
            <a:ext cx="6875531" cy="12458700"/>
            <a:chOff x="0" y="0"/>
            <a:chExt cx="6875529" cy="12458699"/>
          </a:xfrm>
        </p:grpSpPr>
        <p:pic>
          <p:nvPicPr>
            <p:cNvPr id="152" name="droppedImage.tiff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3060699"/>
              <a:ext cx="6875531" cy="9398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3" name="droppedImage.tiff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55629" y="0"/>
              <a:ext cx="6819901" cy="396588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55" name="Shape 155"/>
          <p:cNvSpPr/>
          <p:nvPr/>
        </p:nvSpPr>
        <p:spPr>
          <a:xfrm>
            <a:off x="208830" y="488950"/>
            <a:ext cx="3966085" cy="1346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Citation Counts: </a:t>
            </a:r>
          </a:p>
          <a:p>
            <a:pPr/>
            <a:r>
              <a:t>Albert Einstein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/>
          <p:nvPr/>
        </p:nvSpPr>
        <p:spPr>
          <a:xfrm>
            <a:off x="208830" y="488950"/>
            <a:ext cx="3966085" cy="1346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rgbClr val="831100"/>
                </a:solidFill>
              </a:defRPr>
            </a:pPr>
            <a:r>
              <a:t>Citation Counts: </a:t>
            </a:r>
          </a:p>
          <a:p>
            <a:pPr>
              <a:defRPr>
                <a:solidFill>
                  <a:srgbClr val="831100"/>
                </a:solidFill>
              </a:defRPr>
            </a:pPr>
            <a:r>
              <a:t>Albert Einstein</a:t>
            </a:r>
          </a:p>
        </p:txBody>
      </p:sp>
      <p:pic>
        <p:nvPicPr>
          <p:cNvPr id="158" name="dropped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9400" y="2854952"/>
            <a:ext cx="10934700" cy="551434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" name="droppedImage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19100" y="1968500"/>
            <a:ext cx="12484100" cy="13589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/>
        </p:nvSpPr>
        <p:spPr>
          <a:xfrm>
            <a:off x="648735" y="260350"/>
            <a:ext cx="5272076" cy="1092200"/>
          </a:xfrm>
          <a:prstGeom prst="rect">
            <a:avLst/>
          </a:prstGeom>
          <a:solidFill>
            <a:srgbClr val="FFFB00">
              <a:alpha val="41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l">
              <a:defRPr sz="3400"/>
            </a:pPr>
            <a:r>
              <a:t>Actually, the history of this is</a:t>
            </a:r>
          </a:p>
          <a:p>
            <a:pPr algn="l">
              <a:defRPr sz="3400"/>
            </a:pPr>
            <a:r>
              <a:t>even more interesting</a:t>
            </a:r>
          </a:p>
        </p:txBody>
      </p:sp>
      <p:pic>
        <p:nvPicPr>
          <p:cNvPr id="162" name="File-LouisBachelier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04056" y="1663700"/>
            <a:ext cx="2248244" cy="3327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3" name="droppedImage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66379" y="1397000"/>
            <a:ext cx="5487679" cy="5994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4" name="droppedImage.tif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035800" y="-317500"/>
            <a:ext cx="5257800" cy="2057400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Shape 165"/>
          <p:cNvSpPr/>
          <p:nvPr/>
        </p:nvSpPr>
        <p:spPr>
          <a:xfrm>
            <a:off x="6897135" y="5200650"/>
            <a:ext cx="6578601" cy="158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defRPr sz="3400">
                <a:solidFill>
                  <a:srgbClr val="4D22B3"/>
                </a:solidFill>
              </a:defRPr>
            </a:lvl1pPr>
          </a:lstStyle>
          <a:p>
            <a:pPr/>
            <a:r>
              <a:t>Beat Einstein to the theory of random walks by 5 years, when working on Stock prices!!!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dropped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5300" y="2413000"/>
            <a:ext cx="5263816" cy="2540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droppedImage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353300" y="4000500"/>
            <a:ext cx="2946400" cy="825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9" name="droppedImage.tif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112000" y="2057400"/>
            <a:ext cx="3873500" cy="1549400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Shape 170"/>
          <p:cNvSpPr/>
          <p:nvPr/>
        </p:nvSpPr>
        <p:spPr>
          <a:xfrm>
            <a:off x="1487481" y="1435100"/>
            <a:ext cx="1815183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9929BD"/>
                </a:solidFill>
              </a:defRPr>
            </a:lvl1pPr>
          </a:lstStyle>
          <a:p>
            <a:pPr/>
            <a:r>
              <a:t>Bachelier</a:t>
            </a:r>
          </a:p>
        </p:txBody>
      </p:sp>
      <p:sp>
        <p:nvSpPr>
          <p:cNvPr id="171" name="Shape 171"/>
          <p:cNvSpPr/>
          <p:nvPr/>
        </p:nvSpPr>
        <p:spPr>
          <a:xfrm>
            <a:off x="8047403" y="1435100"/>
            <a:ext cx="1547739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9929BD"/>
                </a:solidFill>
              </a:defRPr>
            </a:lvl1pPr>
          </a:lstStyle>
          <a:p>
            <a:pPr/>
            <a:r>
              <a:t>Einstein</a:t>
            </a:r>
          </a:p>
        </p:txBody>
      </p:sp>
      <p:sp>
        <p:nvSpPr>
          <p:cNvPr id="172" name="Shape 172"/>
          <p:cNvSpPr/>
          <p:nvPr/>
        </p:nvSpPr>
        <p:spPr>
          <a:xfrm>
            <a:off x="3872910" y="368300"/>
            <a:ext cx="4232524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The Central Result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/>
          <p:nvPr/>
        </p:nvSpPr>
        <p:spPr>
          <a:xfrm>
            <a:off x="584200" y="431800"/>
            <a:ext cx="11701165" cy="5676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l"/>
            <a:r>
              <a:rPr sz="4100" u="sng"/>
              <a:t>Outline</a:t>
            </a:r>
            <a:endParaRPr sz="4100" u="sng"/>
          </a:p>
          <a:p>
            <a:pPr algn="l"/>
          </a:p>
          <a:p>
            <a:pPr algn="l"/>
            <a:r>
              <a:t>(1) What is a random walk: The basic theory</a:t>
            </a:r>
          </a:p>
          <a:p>
            <a:pPr algn="l"/>
          </a:p>
          <a:p>
            <a:pPr algn="l"/>
            <a:r>
              <a:t>(2) Einstein’s paper. How Einstein used random walks</a:t>
            </a:r>
          </a:p>
          <a:p>
            <a:pPr algn="l"/>
            <a:r>
              <a:t>to calculate the size of a molecule</a:t>
            </a:r>
          </a:p>
          <a:p>
            <a:pPr algn="l"/>
          </a:p>
          <a:p>
            <a:pPr algn="l"/>
            <a:r>
              <a:t>(3) Stock prices and random walks.</a:t>
            </a:r>
          </a:p>
          <a:p>
            <a:pPr lvl="2" algn="l"/>
            <a:r>
              <a:t>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/>
          <p:nvPr/>
        </p:nvSpPr>
        <p:spPr>
          <a:xfrm>
            <a:off x="606865" y="393700"/>
            <a:ext cx="5329015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What is a random walk?</a:t>
            </a:r>
          </a:p>
        </p:txBody>
      </p:sp>
      <p:sp>
        <p:nvSpPr>
          <p:cNvPr id="177" name="Shape 177"/>
          <p:cNvSpPr/>
          <p:nvPr/>
        </p:nvSpPr>
        <p:spPr>
          <a:xfrm flipV="1">
            <a:off x="1130300" y="3784600"/>
            <a:ext cx="10490200" cy="38100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181" name="Group 181"/>
          <p:cNvGrpSpPr/>
          <p:nvPr/>
        </p:nvGrpSpPr>
        <p:grpSpPr>
          <a:xfrm>
            <a:off x="3695700" y="3467100"/>
            <a:ext cx="1054100" cy="330200"/>
            <a:chOff x="0" y="0"/>
            <a:chExt cx="1054100" cy="330200"/>
          </a:xfrm>
        </p:grpSpPr>
        <p:sp>
          <p:nvSpPr>
            <p:cNvPr id="178" name="Shape 178"/>
            <p:cNvSpPr/>
            <p:nvPr/>
          </p:nvSpPr>
          <p:spPr>
            <a:xfrm flipH="1">
              <a:off x="-1" y="0"/>
              <a:ext cx="2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9" name="Shape 179"/>
            <p:cNvSpPr/>
            <p:nvPr/>
          </p:nvSpPr>
          <p:spPr>
            <a:xfrm flipH="1">
              <a:off x="533399" y="0"/>
              <a:ext cx="1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0" name="Shape 180"/>
            <p:cNvSpPr/>
            <p:nvPr/>
          </p:nvSpPr>
          <p:spPr>
            <a:xfrm>
              <a:off x="1054100" y="0"/>
              <a:ext cx="0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185" name="Group 185"/>
          <p:cNvGrpSpPr/>
          <p:nvPr/>
        </p:nvGrpSpPr>
        <p:grpSpPr>
          <a:xfrm>
            <a:off x="5270500" y="3467100"/>
            <a:ext cx="1054100" cy="330200"/>
            <a:chOff x="0" y="0"/>
            <a:chExt cx="1054100" cy="330200"/>
          </a:xfrm>
        </p:grpSpPr>
        <p:sp>
          <p:nvSpPr>
            <p:cNvPr id="182" name="Shape 182"/>
            <p:cNvSpPr/>
            <p:nvPr/>
          </p:nvSpPr>
          <p:spPr>
            <a:xfrm flipH="1">
              <a:off x="-1" y="0"/>
              <a:ext cx="2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3" name="Shape 183"/>
            <p:cNvSpPr/>
            <p:nvPr/>
          </p:nvSpPr>
          <p:spPr>
            <a:xfrm flipH="1">
              <a:off x="533399" y="0"/>
              <a:ext cx="1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4" name="Shape 184"/>
            <p:cNvSpPr/>
            <p:nvPr/>
          </p:nvSpPr>
          <p:spPr>
            <a:xfrm>
              <a:off x="1054100" y="0"/>
              <a:ext cx="0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189" name="Group 189"/>
          <p:cNvGrpSpPr/>
          <p:nvPr/>
        </p:nvGrpSpPr>
        <p:grpSpPr>
          <a:xfrm>
            <a:off x="6845300" y="3467100"/>
            <a:ext cx="1054100" cy="330200"/>
            <a:chOff x="0" y="0"/>
            <a:chExt cx="1054100" cy="330200"/>
          </a:xfrm>
        </p:grpSpPr>
        <p:sp>
          <p:nvSpPr>
            <p:cNvPr id="186" name="Shape 186"/>
            <p:cNvSpPr/>
            <p:nvPr/>
          </p:nvSpPr>
          <p:spPr>
            <a:xfrm flipH="1">
              <a:off x="-1" y="0"/>
              <a:ext cx="2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7" name="Shape 187"/>
            <p:cNvSpPr/>
            <p:nvPr/>
          </p:nvSpPr>
          <p:spPr>
            <a:xfrm flipH="1">
              <a:off x="533399" y="0"/>
              <a:ext cx="1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8" name="Shape 188"/>
            <p:cNvSpPr/>
            <p:nvPr/>
          </p:nvSpPr>
          <p:spPr>
            <a:xfrm>
              <a:off x="1054100" y="0"/>
              <a:ext cx="0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193" name="Group 193"/>
          <p:cNvGrpSpPr/>
          <p:nvPr/>
        </p:nvGrpSpPr>
        <p:grpSpPr>
          <a:xfrm>
            <a:off x="8420100" y="3467100"/>
            <a:ext cx="1054100" cy="330200"/>
            <a:chOff x="0" y="0"/>
            <a:chExt cx="1054100" cy="330200"/>
          </a:xfrm>
        </p:grpSpPr>
        <p:sp>
          <p:nvSpPr>
            <p:cNvPr id="190" name="Shape 190"/>
            <p:cNvSpPr/>
            <p:nvPr/>
          </p:nvSpPr>
          <p:spPr>
            <a:xfrm flipH="1">
              <a:off x="-1" y="0"/>
              <a:ext cx="2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1" name="Shape 191"/>
            <p:cNvSpPr/>
            <p:nvPr/>
          </p:nvSpPr>
          <p:spPr>
            <a:xfrm flipH="1">
              <a:off x="533399" y="0"/>
              <a:ext cx="1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2" name="Shape 192"/>
            <p:cNvSpPr/>
            <p:nvPr/>
          </p:nvSpPr>
          <p:spPr>
            <a:xfrm>
              <a:off x="1054100" y="0"/>
              <a:ext cx="0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197" name="Group 197"/>
          <p:cNvGrpSpPr/>
          <p:nvPr/>
        </p:nvGrpSpPr>
        <p:grpSpPr>
          <a:xfrm>
            <a:off x="9994900" y="3467100"/>
            <a:ext cx="1054100" cy="330200"/>
            <a:chOff x="0" y="0"/>
            <a:chExt cx="1054100" cy="330200"/>
          </a:xfrm>
        </p:grpSpPr>
        <p:sp>
          <p:nvSpPr>
            <p:cNvPr id="194" name="Shape 194"/>
            <p:cNvSpPr/>
            <p:nvPr/>
          </p:nvSpPr>
          <p:spPr>
            <a:xfrm flipH="1">
              <a:off x="-1" y="0"/>
              <a:ext cx="2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5" name="Shape 195"/>
            <p:cNvSpPr/>
            <p:nvPr/>
          </p:nvSpPr>
          <p:spPr>
            <a:xfrm flipH="1">
              <a:off x="533399" y="0"/>
              <a:ext cx="1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6" name="Shape 196"/>
            <p:cNvSpPr/>
            <p:nvPr/>
          </p:nvSpPr>
          <p:spPr>
            <a:xfrm>
              <a:off x="1054100" y="0"/>
              <a:ext cx="0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201" name="Group 201"/>
          <p:cNvGrpSpPr/>
          <p:nvPr/>
        </p:nvGrpSpPr>
        <p:grpSpPr>
          <a:xfrm>
            <a:off x="2006600" y="3467100"/>
            <a:ext cx="1054100" cy="330200"/>
            <a:chOff x="0" y="0"/>
            <a:chExt cx="1054100" cy="330200"/>
          </a:xfrm>
        </p:grpSpPr>
        <p:sp>
          <p:nvSpPr>
            <p:cNvPr id="198" name="Shape 198"/>
            <p:cNvSpPr/>
            <p:nvPr/>
          </p:nvSpPr>
          <p:spPr>
            <a:xfrm flipH="1">
              <a:off x="-1" y="0"/>
              <a:ext cx="2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9" name="Shape 199"/>
            <p:cNvSpPr/>
            <p:nvPr/>
          </p:nvSpPr>
          <p:spPr>
            <a:xfrm flipH="1">
              <a:off x="533399" y="0"/>
              <a:ext cx="1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00" name="Shape 200"/>
            <p:cNvSpPr/>
            <p:nvPr/>
          </p:nvSpPr>
          <p:spPr>
            <a:xfrm>
              <a:off x="1054100" y="0"/>
              <a:ext cx="0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205" name="Group 205"/>
          <p:cNvGrpSpPr/>
          <p:nvPr/>
        </p:nvGrpSpPr>
        <p:grpSpPr>
          <a:xfrm>
            <a:off x="317500" y="3467100"/>
            <a:ext cx="1054100" cy="330200"/>
            <a:chOff x="0" y="0"/>
            <a:chExt cx="1054100" cy="330200"/>
          </a:xfrm>
        </p:grpSpPr>
        <p:sp>
          <p:nvSpPr>
            <p:cNvPr id="202" name="Shape 202"/>
            <p:cNvSpPr/>
            <p:nvPr/>
          </p:nvSpPr>
          <p:spPr>
            <a:xfrm flipH="1">
              <a:off x="-1" y="0"/>
              <a:ext cx="2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03" name="Shape 203"/>
            <p:cNvSpPr/>
            <p:nvPr/>
          </p:nvSpPr>
          <p:spPr>
            <a:xfrm flipH="1">
              <a:off x="533399" y="0"/>
              <a:ext cx="1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04" name="Shape 204"/>
            <p:cNvSpPr/>
            <p:nvPr/>
          </p:nvSpPr>
          <p:spPr>
            <a:xfrm>
              <a:off x="1054100" y="0"/>
              <a:ext cx="0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pic>
        <p:nvPicPr>
          <p:cNvPr id="206" name="images%3Fq%3Dfunny%2Bface%2Bcartoon%26um%3D1%26hl%3Den%26tbs%3Disch-1&amp;ei=biqAS8PCG4OQlAe1wJGMBw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35600" y="2032000"/>
            <a:ext cx="723900" cy="1320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/>
          <p:nvPr/>
        </p:nvSpPr>
        <p:spPr>
          <a:xfrm>
            <a:off x="606865" y="393700"/>
            <a:ext cx="5329015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What is a random walk?</a:t>
            </a:r>
          </a:p>
        </p:txBody>
      </p:sp>
      <p:sp>
        <p:nvSpPr>
          <p:cNvPr id="209" name="Shape 209"/>
          <p:cNvSpPr/>
          <p:nvPr/>
        </p:nvSpPr>
        <p:spPr>
          <a:xfrm flipV="1">
            <a:off x="1130300" y="3784600"/>
            <a:ext cx="10490200" cy="38100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213" name="Group 213"/>
          <p:cNvGrpSpPr/>
          <p:nvPr/>
        </p:nvGrpSpPr>
        <p:grpSpPr>
          <a:xfrm>
            <a:off x="3695700" y="3467100"/>
            <a:ext cx="1054100" cy="330200"/>
            <a:chOff x="0" y="0"/>
            <a:chExt cx="1054100" cy="330200"/>
          </a:xfrm>
        </p:grpSpPr>
        <p:sp>
          <p:nvSpPr>
            <p:cNvPr id="210" name="Shape 210"/>
            <p:cNvSpPr/>
            <p:nvPr/>
          </p:nvSpPr>
          <p:spPr>
            <a:xfrm flipH="1">
              <a:off x="-1" y="0"/>
              <a:ext cx="2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11" name="Shape 211"/>
            <p:cNvSpPr/>
            <p:nvPr/>
          </p:nvSpPr>
          <p:spPr>
            <a:xfrm flipH="1">
              <a:off x="533399" y="0"/>
              <a:ext cx="1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12" name="Shape 212"/>
            <p:cNvSpPr/>
            <p:nvPr/>
          </p:nvSpPr>
          <p:spPr>
            <a:xfrm>
              <a:off x="1054100" y="0"/>
              <a:ext cx="0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217" name="Group 217"/>
          <p:cNvGrpSpPr/>
          <p:nvPr/>
        </p:nvGrpSpPr>
        <p:grpSpPr>
          <a:xfrm>
            <a:off x="5270500" y="3467100"/>
            <a:ext cx="1054100" cy="330200"/>
            <a:chOff x="0" y="0"/>
            <a:chExt cx="1054100" cy="330200"/>
          </a:xfrm>
        </p:grpSpPr>
        <p:sp>
          <p:nvSpPr>
            <p:cNvPr id="214" name="Shape 214"/>
            <p:cNvSpPr/>
            <p:nvPr/>
          </p:nvSpPr>
          <p:spPr>
            <a:xfrm flipH="1">
              <a:off x="-1" y="0"/>
              <a:ext cx="2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15" name="Shape 215"/>
            <p:cNvSpPr/>
            <p:nvPr/>
          </p:nvSpPr>
          <p:spPr>
            <a:xfrm flipH="1">
              <a:off x="533399" y="0"/>
              <a:ext cx="1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16" name="Shape 216"/>
            <p:cNvSpPr/>
            <p:nvPr/>
          </p:nvSpPr>
          <p:spPr>
            <a:xfrm>
              <a:off x="1054100" y="0"/>
              <a:ext cx="0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221" name="Group 221"/>
          <p:cNvGrpSpPr/>
          <p:nvPr/>
        </p:nvGrpSpPr>
        <p:grpSpPr>
          <a:xfrm>
            <a:off x="6845300" y="3467100"/>
            <a:ext cx="1054100" cy="330200"/>
            <a:chOff x="0" y="0"/>
            <a:chExt cx="1054100" cy="330200"/>
          </a:xfrm>
        </p:grpSpPr>
        <p:sp>
          <p:nvSpPr>
            <p:cNvPr id="218" name="Shape 218"/>
            <p:cNvSpPr/>
            <p:nvPr/>
          </p:nvSpPr>
          <p:spPr>
            <a:xfrm flipH="1">
              <a:off x="-1" y="0"/>
              <a:ext cx="2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19" name="Shape 219"/>
            <p:cNvSpPr/>
            <p:nvPr/>
          </p:nvSpPr>
          <p:spPr>
            <a:xfrm flipH="1">
              <a:off x="533399" y="0"/>
              <a:ext cx="1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20" name="Shape 220"/>
            <p:cNvSpPr/>
            <p:nvPr/>
          </p:nvSpPr>
          <p:spPr>
            <a:xfrm>
              <a:off x="1054100" y="0"/>
              <a:ext cx="0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225" name="Group 225"/>
          <p:cNvGrpSpPr/>
          <p:nvPr/>
        </p:nvGrpSpPr>
        <p:grpSpPr>
          <a:xfrm>
            <a:off x="8420100" y="3467100"/>
            <a:ext cx="1054100" cy="330200"/>
            <a:chOff x="0" y="0"/>
            <a:chExt cx="1054100" cy="330200"/>
          </a:xfrm>
        </p:grpSpPr>
        <p:sp>
          <p:nvSpPr>
            <p:cNvPr id="222" name="Shape 222"/>
            <p:cNvSpPr/>
            <p:nvPr/>
          </p:nvSpPr>
          <p:spPr>
            <a:xfrm flipH="1">
              <a:off x="-1" y="0"/>
              <a:ext cx="2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23" name="Shape 223"/>
            <p:cNvSpPr/>
            <p:nvPr/>
          </p:nvSpPr>
          <p:spPr>
            <a:xfrm flipH="1">
              <a:off x="533399" y="0"/>
              <a:ext cx="1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24" name="Shape 224"/>
            <p:cNvSpPr/>
            <p:nvPr/>
          </p:nvSpPr>
          <p:spPr>
            <a:xfrm>
              <a:off x="1054100" y="0"/>
              <a:ext cx="0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229" name="Group 229"/>
          <p:cNvGrpSpPr/>
          <p:nvPr/>
        </p:nvGrpSpPr>
        <p:grpSpPr>
          <a:xfrm>
            <a:off x="9994900" y="3467100"/>
            <a:ext cx="1054100" cy="330200"/>
            <a:chOff x="0" y="0"/>
            <a:chExt cx="1054100" cy="330200"/>
          </a:xfrm>
        </p:grpSpPr>
        <p:sp>
          <p:nvSpPr>
            <p:cNvPr id="226" name="Shape 226"/>
            <p:cNvSpPr/>
            <p:nvPr/>
          </p:nvSpPr>
          <p:spPr>
            <a:xfrm flipH="1">
              <a:off x="-1" y="0"/>
              <a:ext cx="2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27" name="Shape 227"/>
            <p:cNvSpPr/>
            <p:nvPr/>
          </p:nvSpPr>
          <p:spPr>
            <a:xfrm flipH="1">
              <a:off x="533399" y="0"/>
              <a:ext cx="1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28" name="Shape 228"/>
            <p:cNvSpPr/>
            <p:nvPr/>
          </p:nvSpPr>
          <p:spPr>
            <a:xfrm>
              <a:off x="1054100" y="0"/>
              <a:ext cx="0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233" name="Group 233"/>
          <p:cNvGrpSpPr/>
          <p:nvPr/>
        </p:nvGrpSpPr>
        <p:grpSpPr>
          <a:xfrm>
            <a:off x="2006600" y="3467100"/>
            <a:ext cx="1054100" cy="330200"/>
            <a:chOff x="0" y="0"/>
            <a:chExt cx="1054100" cy="330200"/>
          </a:xfrm>
        </p:grpSpPr>
        <p:sp>
          <p:nvSpPr>
            <p:cNvPr id="230" name="Shape 230"/>
            <p:cNvSpPr/>
            <p:nvPr/>
          </p:nvSpPr>
          <p:spPr>
            <a:xfrm flipH="1">
              <a:off x="-1" y="0"/>
              <a:ext cx="2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31" name="Shape 231"/>
            <p:cNvSpPr/>
            <p:nvPr/>
          </p:nvSpPr>
          <p:spPr>
            <a:xfrm flipH="1">
              <a:off x="533399" y="0"/>
              <a:ext cx="1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32" name="Shape 232"/>
            <p:cNvSpPr/>
            <p:nvPr/>
          </p:nvSpPr>
          <p:spPr>
            <a:xfrm>
              <a:off x="1054100" y="0"/>
              <a:ext cx="0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237" name="Group 237"/>
          <p:cNvGrpSpPr/>
          <p:nvPr/>
        </p:nvGrpSpPr>
        <p:grpSpPr>
          <a:xfrm>
            <a:off x="317500" y="3467100"/>
            <a:ext cx="1054100" cy="330200"/>
            <a:chOff x="0" y="0"/>
            <a:chExt cx="1054100" cy="330200"/>
          </a:xfrm>
        </p:grpSpPr>
        <p:sp>
          <p:nvSpPr>
            <p:cNvPr id="234" name="Shape 234"/>
            <p:cNvSpPr/>
            <p:nvPr/>
          </p:nvSpPr>
          <p:spPr>
            <a:xfrm flipH="1">
              <a:off x="-1" y="0"/>
              <a:ext cx="2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35" name="Shape 235"/>
            <p:cNvSpPr/>
            <p:nvPr/>
          </p:nvSpPr>
          <p:spPr>
            <a:xfrm flipH="1">
              <a:off x="533399" y="0"/>
              <a:ext cx="1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36" name="Shape 236"/>
            <p:cNvSpPr/>
            <p:nvPr/>
          </p:nvSpPr>
          <p:spPr>
            <a:xfrm>
              <a:off x="1054100" y="0"/>
              <a:ext cx="0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pic>
        <p:nvPicPr>
          <p:cNvPr id="238" name="images%3Fq%3Dfunny%2Bface%2Bcartoon%26um%3D1%26hl%3Den%26tbs%3Disch-1&amp;ei=biqAS8PCG4OQlAe1wJGMBw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05500" y="2032000"/>
            <a:ext cx="723900" cy="1320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/>
          <p:nvPr/>
        </p:nvSpPr>
        <p:spPr>
          <a:xfrm>
            <a:off x="606865" y="393700"/>
            <a:ext cx="5329015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What is a random walk?</a:t>
            </a:r>
          </a:p>
        </p:txBody>
      </p:sp>
      <p:sp>
        <p:nvSpPr>
          <p:cNvPr id="241" name="Shape 241"/>
          <p:cNvSpPr/>
          <p:nvPr/>
        </p:nvSpPr>
        <p:spPr>
          <a:xfrm flipV="1">
            <a:off x="1130300" y="3784600"/>
            <a:ext cx="10490200" cy="38100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245" name="Group 245"/>
          <p:cNvGrpSpPr/>
          <p:nvPr/>
        </p:nvGrpSpPr>
        <p:grpSpPr>
          <a:xfrm>
            <a:off x="3695700" y="3467100"/>
            <a:ext cx="1054100" cy="330200"/>
            <a:chOff x="0" y="0"/>
            <a:chExt cx="1054100" cy="330200"/>
          </a:xfrm>
        </p:grpSpPr>
        <p:sp>
          <p:nvSpPr>
            <p:cNvPr id="242" name="Shape 242"/>
            <p:cNvSpPr/>
            <p:nvPr/>
          </p:nvSpPr>
          <p:spPr>
            <a:xfrm flipH="1">
              <a:off x="-1" y="0"/>
              <a:ext cx="2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43" name="Shape 243"/>
            <p:cNvSpPr/>
            <p:nvPr/>
          </p:nvSpPr>
          <p:spPr>
            <a:xfrm flipH="1">
              <a:off x="533399" y="0"/>
              <a:ext cx="1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44" name="Shape 244"/>
            <p:cNvSpPr/>
            <p:nvPr/>
          </p:nvSpPr>
          <p:spPr>
            <a:xfrm>
              <a:off x="1054100" y="0"/>
              <a:ext cx="0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249" name="Group 249"/>
          <p:cNvGrpSpPr/>
          <p:nvPr/>
        </p:nvGrpSpPr>
        <p:grpSpPr>
          <a:xfrm>
            <a:off x="5270500" y="3467100"/>
            <a:ext cx="1054100" cy="330200"/>
            <a:chOff x="0" y="0"/>
            <a:chExt cx="1054100" cy="330200"/>
          </a:xfrm>
        </p:grpSpPr>
        <p:sp>
          <p:nvSpPr>
            <p:cNvPr id="246" name="Shape 246"/>
            <p:cNvSpPr/>
            <p:nvPr/>
          </p:nvSpPr>
          <p:spPr>
            <a:xfrm flipH="1">
              <a:off x="-1" y="0"/>
              <a:ext cx="2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47" name="Shape 247"/>
            <p:cNvSpPr/>
            <p:nvPr/>
          </p:nvSpPr>
          <p:spPr>
            <a:xfrm flipH="1">
              <a:off x="533399" y="0"/>
              <a:ext cx="1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48" name="Shape 248"/>
            <p:cNvSpPr/>
            <p:nvPr/>
          </p:nvSpPr>
          <p:spPr>
            <a:xfrm>
              <a:off x="1054100" y="0"/>
              <a:ext cx="0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253" name="Group 253"/>
          <p:cNvGrpSpPr/>
          <p:nvPr/>
        </p:nvGrpSpPr>
        <p:grpSpPr>
          <a:xfrm>
            <a:off x="6845300" y="3467100"/>
            <a:ext cx="1054100" cy="330200"/>
            <a:chOff x="0" y="0"/>
            <a:chExt cx="1054100" cy="330200"/>
          </a:xfrm>
        </p:grpSpPr>
        <p:sp>
          <p:nvSpPr>
            <p:cNvPr id="250" name="Shape 250"/>
            <p:cNvSpPr/>
            <p:nvPr/>
          </p:nvSpPr>
          <p:spPr>
            <a:xfrm flipH="1">
              <a:off x="-1" y="0"/>
              <a:ext cx="2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51" name="Shape 251"/>
            <p:cNvSpPr/>
            <p:nvPr/>
          </p:nvSpPr>
          <p:spPr>
            <a:xfrm flipH="1">
              <a:off x="533399" y="0"/>
              <a:ext cx="1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52" name="Shape 252"/>
            <p:cNvSpPr/>
            <p:nvPr/>
          </p:nvSpPr>
          <p:spPr>
            <a:xfrm>
              <a:off x="1054100" y="0"/>
              <a:ext cx="0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257" name="Group 257"/>
          <p:cNvGrpSpPr/>
          <p:nvPr/>
        </p:nvGrpSpPr>
        <p:grpSpPr>
          <a:xfrm>
            <a:off x="8420100" y="3467100"/>
            <a:ext cx="1054100" cy="330200"/>
            <a:chOff x="0" y="0"/>
            <a:chExt cx="1054100" cy="330200"/>
          </a:xfrm>
        </p:grpSpPr>
        <p:sp>
          <p:nvSpPr>
            <p:cNvPr id="254" name="Shape 254"/>
            <p:cNvSpPr/>
            <p:nvPr/>
          </p:nvSpPr>
          <p:spPr>
            <a:xfrm flipH="1">
              <a:off x="-1" y="0"/>
              <a:ext cx="2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55" name="Shape 255"/>
            <p:cNvSpPr/>
            <p:nvPr/>
          </p:nvSpPr>
          <p:spPr>
            <a:xfrm flipH="1">
              <a:off x="533399" y="0"/>
              <a:ext cx="1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56" name="Shape 256"/>
            <p:cNvSpPr/>
            <p:nvPr/>
          </p:nvSpPr>
          <p:spPr>
            <a:xfrm>
              <a:off x="1054100" y="0"/>
              <a:ext cx="0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261" name="Group 261"/>
          <p:cNvGrpSpPr/>
          <p:nvPr/>
        </p:nvGrpSpPr>
        <p:grpSpPr>
          <a:xfrm>
            <a:off x="9994900" y="3467100"/>
            <a:ext cx="1054100" cy="330200"/>
            <a:chOff x="0" y="0"/>
            <a:chExt cx="1054100" cy="330200"/>
          </a:xfrm>
        </p:grpSpPr>
        <p:sp>
          <p:nvSpPr>
            <p:cNvPr id="258" name="Shape 258"/>
            <p:cNvSpPr/>
            <p:nvPr/>
          </p:nvSpPr>
          <p:spPr>
            <a:xfrm flipH="1">
              <a:off x="-1" y="0"/>
              <a:ext cx="2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59" name="Shape 259"/>
            <p:cNvSpPr/>
            <p:nvPr/>
          </p:nvSpPr>
          <p:spPr>
            <a:xfrm flipH="1">
              <a:off x="533399" y="0"/>
              <a:ext cx="1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60" name="Shape 260"/>
            <p:cNvSpPr/>
            <p:nvPr/>
          </p:nvSpPr>
          <p:spPr>
            <a:xfrm>
              <a:off x="1054100" y="0"/>
              <a:ext cx="0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265" name="Group 265"/>
          <p:cNvGrpSpPr/>
          <p:nvPr/>
        </p:nvGrpSpPr>
        <p:grpSpPr>
          <a:xfrm>
            <a:off x="2006600" y="3467100"/>
            <a:ext cx="1054100" cy="330200"/>
            <a:chOff x="0" y="0"/>
            <a:chExt cx="1054100" cy="330200"/>
          </a:xfrm>
        </p:grpSpPr>
        <p:sp>
          <p:nvSpPr>
            <p:cNvPr id="262" name="Shape 262"/>
            <p:cNvSpPr/>
            <p:nvPr/>
          </p:nvSpPr>
          <p:spPr>
            <a:xfrm flipH="1">
              <a:off x="-1" y="0"/>
              <a:ext cx="2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63" name="Shape 263"/>
            <p:cNvSpPr/>
            <p:nvPr/>
          </p:nvSpPr>
          <p:spPr>
            <a:xfrm flipH="1">
              <a:off x="533399" y="0"/>
              <a:ext cx="1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64" name="Shape 264"/>
            <p:cNvSpPr/>
            <p:nvPr/>
          </p:nvSpPr>
          <p:spPr>
            <a:xfrm>
              <a:off x="1054100" y="0"/>
              <a:ext cx="0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269" name="Group 269"/>
          <p:cNvGrpSpPr/>
          <p:nvPr/>
        </p:nvGrpSpPr>
        <p:grpSpPr>
          <a:xfrm>
            <a:off x="317500" y="3467100"/>
            <a:ext cx="1054100" cy="330200"/>
            <a:chOff x="0" y="0"/>
            <a:chExt cx="1054100" cy="330200"/>
          </a:xfrm>
        </p:grpSpPr>
        <p:sp>
          <p:nvSpPr>
            <p:cNvPr id="266" name="Shape 266"/>
            <p:cNvSpPr/>
            <p:nvPr/>
          </p:nvSpPr>
          <p:spPr>
            <a:xfrm flipH="1">
              <a:off x="-1" y="0"/>
              <a:ext cx="2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67" name="Shape 267"/>
            <p:cNvSpPr/>
            <p:nvPr/>
          </p:nvSpPr>
          <p:spPr>
            <a:xfrm flipH="1">
              <a:off x="533399" y="0"/>
              <a:ext cx="1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268" name="Shape 268"/>
            <p:cNvSpPr/>
            <p:nvPr/>
          </p:nvSpPr>
          <p:spPr>
            <a:xfrm>
              <a:off x="1054100" y="0"/>
              <a:ext cx="0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pic>
        <p:nvPicPr>
          <p:cNvPr id="270" name="images%3Fq%3Dfunny%2Bface%2Bcartoon%26um%3D1%26hl%3Den%26tbs%3Disch-1&amp;ei=biqAS8PCG4OQlAe1wJGMBw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89700" y="2057400"/>
            <a:ext cx="723900" cy="1320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/>
          <p:nvPr/>
        </p:nvSpPr>
        <p:spPr>
          <a:xfrm>
            <a:off x="606865" y="393700"/>
            <a:ext cx="5329015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What is a random walk?</a:t>
            </a:r>
          </a:p>
        </p:txBody>
      </p:sp>
      <p:grpSp>
        <p:nvGrpSpPr>
          <p:cNvPr id="303" name="Group 303"/>
          <p:cNvGrpSpPr/>
          <p:nvPr/>
        </p:nvGrpSpPr>
        <p:grpSpPr>
          <a:xfrm>
            <a:off x="317500" y="2044700"/>
            <a:ext cx="11303000" cy="1778000"/>
            <a:chOff x="0" y="0"/>
            <a:chExt cx="11302999" cy="1778000"/>
          </a:xfrm>
        </p:grpSpPr>
        <p:sp>
          <p:nvSpPr>
            <p:cNvPr id="273" name="Shape 273"/>
            <p:cNvSpPr/>
            <p:nvPr/>
          </p:nvSpPr>
          <p:spPr>
            <a:xfrm flipV="1">
              <a:off x="812800" y="1739900"/>
              <a:ext cx="10490200" cy="381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grpSp>
          <p:nvGrpSpPr>
            <p:cNvPr id="277" name="Group 277"/>
            <p:cNvGrpSpPr/>
            <p:nvPr/>
          </p:nvGrpSpPr>
          <p:grpSpPr>
            <a:xfrm>
              <a:off x="3378200" y="1422400"/>
              <a:ext cx="1054100" cy="330200"/>
              <a:chOff x="0" y="0"/>
              <a:chExt cx="1054100" cy="330200"/>
            </a:xfrm>
          </p:grpSpPr>
          <p:sp>
            <p:nvSpPr>
              <p:cNvPr id="274" name="Shape 274"/>
              <p:cNvSpPr/>
              <p:nvPr/>
            </p:nvSpPr>
            <p:spPr>
              <a:xfrm flipH="1">
                <a:off x="-1" y="0"/>
                <a:ext cx="2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275" name="Shape 275"/>
              <p:cNvSpPr/>
              <p:nvPr/>
            </p:nvSpPr>
            <p:spPr>
              <a:xfrm flipH="1">
                <a:off x="533399" y="0"/>
                <a:ext cx="1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276" name="Shape 276"/>
              <p:cNvSpPr/>
              <p:nvPr/>
            </p:nvSpPr>
            <p:spPr>
              <a:xfrm>
                <a:off x="1054100" y="0"/>
                <a:ext cx="0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</p:grpSp>
        <p:grpSp>
          <p:nvGrpSpPr>
            <p:cNvPr id="281" name="Group 281"/>
            <p:cNvGrpSpPr/>
            <p:nvPr/>
          </p:nvGrpSpPr>
          <p:grpSpPr>
            <a:xfrm>
              <a:off x="4953000" y="1422400"/>
              <a:ext cx="1054100" cy="330200"/>
              <a:chOff x="0" y="0"/>
              <a:chExt cx="1054100" cy="330200"/>
            </a:xfrm>
          </p:grpSpPr>
          <p:sp>
            <p:nvSpPr>
              <p:cNvPr id="278" name="Shape 278"/>
              <p:cNvSpPr/>
              <p:nvPr/>
            </p:nvSpPr>
            <p:spPr>
              <a:xfrm flipH="1">
                <a:off x="-1" y="0"/>
                <a:ext cx="2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279" name="Shape 279"/>
              <p:cNvSpPr/>
              <p:nvPr/>
            </p:nvSpPr>
            <p:spPr>
              <a:xfrm flipH="1">
                <a:off x="533399" y="0"/>
                <a:ext cx="1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280" name="Shape 280"/>
              <p:cNvSpPr/>
              <p:nvPr/>
            </p:nvSpPr>
            <p:spPr>
              <a:xfrm>
                <a:off x="1054100" y="0"/>
                <a:ext cx="0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</p:grpSp>
        <p:grpSp>
          <p:nvGrpSpPr>
            <p:cNvPr id="285" name="Group 285"/>
            <p:cNvGrpSpPr/>
            <p:nvPr/>
          </p:nvGrpSpPr>
          <p:grpSpPr>
            <a:xfrm>
              <a:off x="6527800" y="1422400"/>
              <a:ext cx="1054100" cy="330200"/>
              <a:chOff x="0" y="0"/>
              <a:chExt cx="1054100" cy="330200"/>
            </a:xfrm>
          </p:grpSpPr>
          <p:sp>
            <p:nvSpPr>
              <p:cNvPr id="282" name="Shape 282"/>
              <p:cNvSpPr/>
              <p:nvPr/>
            </p:nvSpPr>
            <p:spPr>
              <a:xfrm flipH="1">
                <a:off x="-1" y="0"/>
                <a:ext cx="2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283" name="Shape 283"/>
              <p:cNvSpPr/>
              <p:nvPr/>
            </p:nvSpPr>
            <p:spPr>
              <a:xfrm flipH="1">
                <a:off x="533399" y="0"/>
                <a:ext cx="1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284" name="Shape 284"/>
              <p:cNvSpPr/>
              <p:nvPr/>
            </p:nvSpPr>
            <p:spPr>
              <a:xfrm>
                <a:off x="1054100" y="0"/>
                <a:ext cx="0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</p:grpSp>
        <p:grpSp>
          <p:nvGrpSpPr>
            <p:cNvPr id="289" name="Group 289"/>
            <p:cNvGrpSpPr/>
            <p:nvPr/>
          </p:nvGrpSpPr>
          <p:grpSpPr>
            <a:xfrm>
              <a:off x="8102600" y="1422400"/>
              <a:ext cx="1054100" cy="330200"/>
              <a:chOff x="0" y="0"/>
              <a:chExt cx="1054100" cy="330200"/>
            </a:xfrm>
          </p:grpSpPr>
          <p:sp>
            <p:nvSpPr>
              <p:cNvPr id="286" name="Shape 286"/>
              <p:cNvSpPr/>
              <p:nvPr/>
            </p:nvSpPr>
            <p:spPr>
              <a:xfrm flipH="1">
                <a:off x="-1" y="0"/>
                <a:ext cx="2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287" name="Shape 287"/>
              <p:cNvSpPr/>
              <p:nvPr/>
            </p:nvSpPr>
            <p:spPr>
              <a:xfrm flipH="1">
                <a:off x="533399" y="0"/>
                <a:ext cx="1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288" name="Shape 288"/>
              <p:cNvSpPr/>
              <p:nvPr/>
            </p:nvSpPr>
            <p:spPr>
              <a:xfrm>
                <a:off x="1054100" y="0"/>
                <a:ext cx="0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</p:grpSp>
        <p:grpSp>
          <p:nvGrpSpPr>
            <p:cNvPr id="293" name="Group 293"/>
            <p:cNvGrpSpPr/>
            <p:nvPr/>
          </p:nvGrpSpPr>
          <p:grpSpPr>
            <a:xfrm>
              <a:off x="9677400" y="1422400"/>
              <a:ext cx="1054100" cy="330200"/>
              <a:chOff x="0" y="0"/>
              <a:chExt cx="1054100" cy="330200"/>
            </a:xfrm>
          </p:grpSpPr>
          <p:sp>
            <p:nvSpPr>
              <p:cNvPr id="290" name="Shape 290"/>
              <p:cNvSpPr/>
              <p:nvPr/>
            </p:nvSpPr>
            <p:spPr>
              <a:xfrm flipH="1">
                <a:off x="-1" y="0"/>
                <a:ext cx="2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291" name="Shape 291"/>
              <p:cNvSpPr/>
              <p:nvPr/>
            </p:nvSpPr>
            <p:spPr>
              <a:xfrm flipH="1">
                <a:off x="533399" y="0"/>
                <a:ext cx="1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292" name="Shape 292"/>
              <p:cNvSpPr/>
              <p:nvPr/>
            </p:nvSpPr>
            <p:spPr>
              <a:xfrm>
                <a:off x="1054100" y="0"/>
                <a:ext cx="0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</p:grpSp>
        <p:grpSp>
          <p:nvGrpSpPr>
            <p:cNvPr id="297" name="Group 297"/>
            <p:cNvGrpSpPr/>
            <p:nvPr/>
          </p:nvGrpSpPr>
          <p:grpSpPr>
            <a:xfrm>
              <a:off x="1689100" y="1422400"/>
              <a:ext cx="1054100" cy="330200"/>
              <a:chOff x="0" y="0"/>
              <a:chExt cx="1054100" cy="330200"/>
            </a:xfrm>
          </p:grpSpPr>
          <p:sp>
            <p:nvSpPr>
              <p:cNvPr id="294" name="Shape 294"/>
              <p:cNvSpPr/>
              <p:nvPr/>
            </p:nvSpPr>
            <p:spPr>
              <a:xfrm flipH="1">
                <a:off x="-1" y="0"/>
                <a:ext cx="2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295" name="Shape 295"/>
              <p:cNvSpPr/>
              <p:nvPr/>
            </p:nvSpPr>
            <p:spPr>
              <a:xfrm flipH="1">
                <a:off x="533399" y="0"/>
                <a:ext cx="1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296" name="Shape 296"/>
              <p:cNvSpPr/>
              <p:nvPr/>
            </p:nvSpPr>
            <p:spPr>
              <a:xfrm>
                <a:off x="1054100" y="0"/>
                <a:ext cx="0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</p:grpSp>
        <p:grpSp>
          <p:nvGrpSpPr>
            <p:cNvPr id="301" name="Group 301"/>
            <p:cNvGrpSpPr/>
            <p:nvPr/>
          </p:nvGrpSpPr>
          <p:grpSpPr>
            <a:xfrm>
              <a:off x="0" y="1422400"/>
              <a:ext cx="1054100" cy="330200"/>
              <a:chOff x="0" y="0"/>
              <a:chExt cx="1054100" cy="330200"/>
            </a:xfrm>
          </p:grpSpPr>
          <p:sp>
            <p:nvSpPr>
              <p:cNvPr id="298" name="Shape 298"/>
              <p:cNvSpPr/>
              <p:nvPr/>
            </p:nvSpPr>
            <p:spPr>
              <a:xfrm flipH="1">
                <a:off x="-1" y="0"/>
                <a:ext cx="2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299" name="Shape 299"/>
              <p:cNvSpPr/>
              <p:nvPr/>
            </p:nvSpPr>
            <p:spPr>
              <a:xfrm flipH="1">
                <a:off x="533399" y="0"/>
                <a:ext cx="1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300" name="Shape 300"/>
              <p:cNvSpPr/>
              <p:nvPr/>
            </p:nvSpPr>
            <p:spPr>
              <a:xfrm>
                <a:off x="1054100" y="0"/>
                <a:ext cx="0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</p:grpSp>
        <p:pic>
          <p:nvPicPr>
            <p:cNvPr id="302" name="images%3Fq%3Dfunny%2Bface%2Bcartoon%26um%3D1%26hl%3Den%26tbs%3Disch-1&amp;ei=biqAS8PCG4OQlAe1wJGMBw.tiff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5689600" y="0"/>
              <a:ext cx="723900" cy="1320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04" name="Shape 304"/>
          <p:cNvSpPr/>
          <p:nvPr/>
        </p:nvSpPr>
        <p:spPr>
          <a:xfrm>
            <a:off x="483077" y="4508500"/>
            <a:ext cx="11530386" cy="1244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l">
              <a:defRPr sz="3900"/>
            </a:pPr>
            <a:r>
              <a:rPr u="sng">
                <a:solidFill>
                  <a:srgbClr val="791A3E"/>
                </a:solidFill>
              </a:rPr>
              <a:t>The rule</a:t>
            </a:r>
            <a:r>
              <a:t> </a:t>
            </a:r>
            <a:r>
              <a:rPr>
                <a:solidFill>
                  <a:srgbClr val="5E30EB"/>
                </a:solidFill>
              </a:rPr>
              <a:t>Every time T, flip a coin, and either move to the</a:t>
            </a:r>
            <a:endParaRPr>
              <a:solidFill>
                <a:srgbClr val="5E30EB"/>
              </a:solidFill>
            </a:endParaRPr>
          </a:p>
          <a:p>
            <a:pPr algn="l">
              <a:defRPr sz="3900"/>
            </a:pPr>
            <a:r>
              <a:rPr>
                <a:solidFill>
                  <a:srgbClr val="5E30EB"/>
                </a:solidFill>
              </a:rPr>
              <a:t>left (Tails) or to the right (Heads)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306"/>
          <p:cNvSpPr/>
          <p:nvPr/>
        </p:nvSpPr>
        <p:spPr>
          <a:xfrm>
            <a:off x="606865" y="393700"/>
            <a:ext cx="5329015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What is a random walk?</a:t>
            </a:r>
          </a:p>
        </p:txBody>
      </p:sp>
      <p:sp>
        <p:nvSpPr>
          <p:cNvPr id="307" name="Shape 307"/>
          <p:cNvSpPr/>
          <p:nvPr/>
        </p:nvSpPr>
        <p:spPr>
          <a:xfrm flipV="1">
            <a:off x="1130300" y="3784600"/>
            <a:ext cx="10490200" cy="38100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grpSp>
        <p:nvGrpSpPr>
          <p:cNvPr id="311" name="Group 311"/>
          <p:cNvGrpSpPr/>
          <p:nvPr/>
        </p:nvGrpSpPr>
        <p:grpSpPr>
          <a:xfrm>
            <a:off x="3695700" y="3467100"/>
            <a:ext cx="1054100" cy="330200"/>
            <a:chOff x="0" y="0"/>
            <a:chExt cx="1054100" cy="330200"/>
          </a:xfrm>
        </p:grpSpPr>
        <p:sp>
          <p:nvSpPr>
            <p:cNvPr id="308" name="Shape 308"/>
            <p:cNvSpPr/>
            <p:nvPr/>
          </p:nvSpPr>
          <p:spPr>
            <a:xfrm flipH="1">
              <a:off x="-1" y="0"/>
              <a:ext cx="2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09" name="Shape 309"/>
            <p:cNvSpPr/>
            <p:nvPr/>
          </p:nvSpPr>
          <p:spPr>
            <a:xfrm flipH="1">
              <a:off x="533399" y="0"/>
              <a:ext cx="1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10" name="Shape 310"/>
            <p:cNvSpPr/>
            <p:nvPr/>
          </p:nvSpPr>
          <p:spPr>
            <a:xfrm>
              <a:off x="1054100" y="0"/>
              <a:ext cx="0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315" name="Group 315"/>
          <p:cNvGrpSpPr/>
          <p:nvPr/>
        </p:nvGrpSpPr>
        <p:grpSpPr>
          <a:xfrm>
            <a:off x="5270500" y="3467100"/>
            <a:ext cx="1054100" cy="330200"/>
            <a:chOff x="0" y="0"/>
            <a:chExt cx="1054100" cy="330200"/>
          </a:xfrm>
        </p:grpSpPr>
        <p:sp>
          <p:nvSpPr>
            <p:cNvPr id="312" name="Shape 312"/>
            <p:cNvSpPr/>
            <p:nvPr/>
          </p:nvSpPr>
          <p:spPr>
            <a:xfrm flipH="1">
              <a:off x="-1" y="0"/>
              <a:ext cx="2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13" name="Shape 313"/>
            <p:cNvSpPr/>
            <p:nvPr/>
          </p:nvSpPr>
          <p:spPr>
            <a:xfrm flipH="1">
              <a:off x="533399" y="0"/>
              <a:ext cx="1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14" name="Shape 314"/>
            <p:cNvSpPr/>
            <p:nvPr/>
          </p:nvSpPr>
          <p:spPr>
            <a:xfrm>
              <a:off x="1054100" y="0"/>
              <a:ext cx="0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319" name="Group 319"/>
          <p:cNvGrpSpPr/>
          <p:nvPr/>
        </p:nvGrpSpPr>
        <p:grpSpPr>
          <a:xfrm>
            <a:off x="6845300" y="3467100"/>
            <a:ext cx="1054100" cy="330200"/>
            <a:chOff x="0" y="0"/>
            <a:chExt cx="1054100" cy="330200"/>
          </a:xfrm>
        </p:grpSpPr>
        <p:sp>
          <p:nvSpPr>
            <p:cNvPr id="316" name="Shape 316"/>
            <p:cNvSpPr/>
            <p:nvPr/>
          </p:nvSpPr>
          <p:spPr>
            <a:xfrm flipH="1">
              <a:off x="-1" y="0"/>
              <a:ext cx="2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17" name="Shape 317"/>
            <p:cNvSpPr/>
            <p:nvPr/>
          </p:nvSpPr>
          <p:spPr>
            <a:xfrm flipH="1">
              <a:off x="533399" y="0"/>
              <a:ext cx="1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18" name="Shape 318"/>
            <p:cNvSpPr/>
            <p:nvPr/>
          </p:nvSpPr>
          <p:spPr>
            <a:xfrm>
              <a:off x="1054100" y="0"/>
              <a:ext cx="0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323" name="Group 323"/>
          <p:cNvGrpSpPr/>
          <p:nvPr/>
        </p:nvGrpSpPr>
        <p:grpSpPr>
          <a:xfrm>
            <a:off x="8420100" y="3467100"/>
            <a:ext cx="1054100" cy="330200"/>
            <a:chOff x="0" y="0"/>
            <a:chExt cx="1054100" cy="330200"/>
          </a:xfrm>
        </p:grpSpPr>
        <p:sp>
          <p:nvSpPr>
            <p:cNvPr id="320" name="Shape 320"/>
            <p:cNvSpPr/>
            <p:nvPr/>
          </p:nvSpPr>
          <p:spPr>
            <a:xfrm flipH="1">
              <a:off x="-1" y="0"/>
              <a:ext cx="2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21" name="Shape 321"/>
            <p:cNvSpPr/>
            <p:nvPr/>
          </p:nvSpPr>
          <p:spPr>
            <a:xfrm flipH="1">
              <a:off x="533399" y="0"/>
              <a:ext cx="1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22" name="Shape 322"/>
            <p:cNvSpPr/>
            <p:nvPr/>
          </p:nvSpPr>
          <p:spPr>
            <a:xfrm>
              <a:off x="1054100" y="0"/>
              <a:ext cx="0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327" name="Group 327"/>
          <p:cNvGrpSpPr/>
          <p:nvPr/>
        </p:nvGrpSpPr>
        <p:grpSpPr>
          <a:xfrm>
            <a:off x="9994900" y="3467100"/>
            <a:ext cx="1054100" cy="330200"/>
            <a:chOff x="0" y="0"/>
            <a:chExt cx="1054100" cy="330200"/>
          </a:xfrm>
        </p:grpSpPr>
        <p:sp>
          <p:nvSpPr>
            <p:cNvPr id="324" name="Shape 324"/>
            <p:cNvSpPr/>
            <p:nvPr/>
          </p:nvSpPr>
          <p:spPr>
            <a:xfrm flipH="1">
              <a:off x="-1" y="0"/>
              <a:ext cx="2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25" name="Shape 325"/>
            <p:cNvSpPr/>
            <p:nvPr/>
          </p:nvSpPr>
          <p:spPr>
            <a:xfrm flipH="1">
              <a:off x="533399" y="0"/>
              <a:ext cx="1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26" name="Shape 326"/>
            <p:cNvSpPr/>
            <p:nvPr/>
          </p:nvSpPr>
          <p:spPr>
            <a:xfrm>
              <a:off x="1054100" y="0"/>
              <a:ext cx="0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331" name="Group 331"/>
          <p:cNvGrpSpPr/>
          <p:nvPr/>
        </p:nvGrpSpPr>
        <p:grpSpPr>
          <a:xfrm>
            <a:off x="2006600" y="3467100"/>
            <a:ext cx="1054100" cy="330200"/>
            <a:chOff x="0" y="0"/>
            <a:chExt cx="1054100" cy="330200"/>
          </a:xfrm>
        </p:grpSpPr>
        <p:sp>
          <p:nvSpPr>
            <p:cNvPr id="328" name="Shape 328"/>
            <p:cNvSpPr/>
            <p:nvPr/>
          </p:nvSpPr>
          <p:spPr>
            <a:xfrm flipH="1">
              <a:off x="-1" y="0"/>
              <a:ext cx="2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29" name="Shape 329"/>
            <p:cNvSpPr/>
            <p:nvPr/>
          </p:nvSpPr>
          <p:spPr>
            <a:xfrm flipH="1">
              <a:off x="533399" y="0"/>
              <a:ext cx="1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30" name="Shape 330"/>
            <p:cNvSpPr/>
            <p:nvPr/>
          </p:nvSpPr>
          <p:spPr>
            <a:xfrm>
              <a:off x="1054100" y="0"/>
              <a:ext cx="0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335" name="Group 335"/>
          <p:cNvGrpSpPr/>
          <p:nvPr/>
        </p:nvGrpSpPr>
        <p:grpSpPr>
          <a:xfrm>
            <a:off x="317500" y="3467100"/>
            <a:ext cx="1054100" cy="330200"/>
            <a:chOff x="0" y="0"/>
            <a:chExt cx="1054100" cy="330200"/>
          </a:xfrm>
        </p:grpSpPr>
        <p:sp>
          <p:nvSpPr>
            <p:cNvPr id="332" name="Shape 332"/>
            <p:cNvSpPr/>
            <p:nvPr/>
          </p:nvSpPr>
          <p:spPr>
            <a:xfrm flipH="1">
              <a:off x="-1" y="0"/>
              <a:ext cx="2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33" name="Shape 333"/>
            <p:cNvSpPr/>
            <p:nvPr/>
          </p:nvSpPr>
          <p:spPr>
            <a:xfrm flipH="1">
              <a:off x="533399" y="0"/>
              <a:ext cx="1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34" name="Shape 334"/>
            <p:cNvSpPr/>
            <p:nvPr/>
          </p:nvSpPr>
          <p:spPr>
            <a:xfrm>
              <a:off x="1054100" y="0"/>
              <a:ext cx="0" cy="3302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pic>
        <p:nvPicPr>
          <p:cNvPr id="336" name="images%3Fq%3Dfunny%2Bface%2Bcartoon%26um%3D1%26hl%3Den%26tbs%3Disch-1&amp;ei=biqAS8PCG4OQlAe1wJGMBw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07100" y="2044700"/>
            <a:ext cx="723900" cy="1320800"/>
          </a:xfrm>
          <a:prstGeom prst="rect">
            <a:avLst/>
          </a:prstGeom>
          <a:ln w="12700">
            <a:miter lim="400000"/>
          </a:ln>
        </p:spPr>
      </p:pic>
      <p:sp>
        <p:nvSpPr>
          <p:cNvPr id="337" name="Shape 337"/>
          <p:cNvSpPr/>
          <p:nvPr/>
        </p:nvSpPr>
        <p:spPr>
          <a:xfrm>
            <a:off x="483077" y="4508500"/>
            <a:ext cx="11602697" cy="1282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l">
              <a:defRPr sz="3900"/>
            </a:pPr>
            <a:r>
              <a:rPr u="sng">
                <a:solidFill>
                  <a:srgbClr val="791A3E"/>
                </a:solidFill>
              </a:rPr>
              <a:t>The rule</a:t>
            </a:r>
            <a:r>
              <a:t> </a:t>
            </a:r>
            <a:r>
              <a:rPr>
                <a:solidFill>
                  <a:srgbClr val="5E30EB"/>
                </a:solidFill>
              </a:rPr>
              <a:t>Every time </a:t>
            </a:r>
            <a:r>
              <a:rPr>
                <a:solidFill>
                  <a:srgbClr val="5E30EB"/>
                </a:solidFill>
                <a:latin typeface="Symbol"/>
                <a:ea typeface="Symbol"/>
                <a:cs typeface="Symbol"/>
                <a:sym typeface="Symbol"/>
              </a:rPr>
              <a:t>  </a:t>
            </a:r>
            <a:r>
              <a:rPr>
                <a:solidFill>
                  <a:srgbClr val="5E30EB"/>
                </a:solidFill>
              </a:rPr>
              <a:t>, flip a coin, and either move to the</a:t>
            </a:r>
            <a:endParaRPr>
              <a:solidFill>
                <a:srgbClr val="5E30EB"/>
              </a:solidFill>
            </a:endParaRPr>
          </a:p>
          <a:p>
            <a:pPr algn="l">
              <a:defRPr sz="3900"/>
            </a:pPr>
            <a:r>
              <a:rPr>
                <a:solidFill>
                  <a:srgbClr val="5E30EB"/>
                </a:solidFill>
              </a:rPr>
              <a:t>left (Tails) or to the right (Heads)</a:t>
            </a:r>
          </a:p>
        </p:txBody>
      </p:sp>
      <p:sp>
        <p:nvSpPr>
          <p:cNvPr id="338" name="Shape 338"/>
          <p:cNvSpPr/>
          <p:nvPr/>
        </p:nvSpPr>
        <p:spPr>
          <a:xfrm>
            <a:off x="483077" y="5880100"/>
            <a:ext cx="9333459" cy="673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l">
              <a:defRPr sz="3900"/>
            </a:pPr>
            <a:r>
              <a:rPr u="sng">
                <a:solidFill>
                  <a:srgbClr val="791A3E"/>
                </a:solidFill>
              </a:rPr>
              <a:t>The question</a:t>
            </a:r>
            <a:r>
              <a:t> </a:t>
            </a:r>
            <a:r>
              <a:rPr>
                <a:solidFill>
                  <a:srgbClr val="5E30EB"/>
                </a:solidFill>
              </a:rPr>
              <a:t>How far do you go after time T?</a:t>
            </a:r>
          </a:p>
        </p:txBody>
      </p:sp>
      <p:pic>
        <p:nvPicPr>
          <p:cNvPr id="339" name="image-346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48200" y="4749800"/>
            <a:ext cx="279400" cy="228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341"/>
          <p:cNvSpPr/>
          <p:nvPr/>
        </p:nvSpPr>
        <p:spPr>
          <a:xfrm>
            <a:off x="419577" y="304800"/>
            <a:ext cx="6556587" cy="673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defRPr sz="3900">
                <a:solidFill>
                  <a:srgbClr val="5E30EB"/>
                </a:solidFill>
              </a:defRPr>
            </a:lvl1pPr>
          </a:lstStyle>
          <a:p>
            <a:pPr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5E30EB"/>
                </a:solidFill>
              </a:rPr>
              <a:t>How far do you go after time T?</a:t>
            </a:r>
          </a:p>
        </p:txBody>
      </p:sp>
      <p:grpSp>
        <p:nvGrpSpPr>
          <p:cNvPr id="372" name="Group 372"/>
          <p:cNvGrpSpPr/>
          <p:nvPr/>
        </p:nvGrpSpPr>
        <p:grpSpPr>
          <a:xfrm>
            <a:off x="317500" y="2044700"/>
            <a:ext cx="11303000" cy="1778000"/>
            <a:chOff x="0" y="0"/>
            <a:chExt cx="11302999" cy="1778000"/>
          </a:xfrm>
        </p:grpSpPr>
        <p:sp>
          <p:nvSpPr>
            <p:cNvPr id="342" name="Shape 342"/>
            <p:cNvSpPr/>
            <p:nvPr/>
          </p:nvSpPr>
          <p:spPr>
            <a:xfrm flipV="1">
              <a:off x="812800" y="1739900"/>
              <a:ext cx="10490200" cy="381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grpSp>
          <p:nvGrpSpPr>
            <p:cNvPr id="346" name="Group 346"/>
            <p:cNvGrpSpPr/>
            <p:nvPr/>
          </p:nvGrpSpPr>
          <p:grpSpPr>
            <a:xfrm>
              <a:off x="3378200" y="1422400"/>
              <a:ext cx="1054100" cy="330200"/>
              <a:chOff x="0" y="0"/>
              <a:chExt cx="1054100" cy="330200"/>
            </a:xfrm>
          </p:grpSpPr>
          <p:sp>
            <p:nvSpPr>
              <p:cNvPr id="343" name="Shape 343"/>
              <p:cNvSpPr/>
              <p:nvPr/>
            </p:nvSpPr>
            <p:spPr>
              <a:xfrm flipH="1">
                <a:off x="-1" y="0"/>
                <a:ext cx="2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344" name="Shape 344"/>
              <p:cNvSpPr/>
              <p:nvPr/>
            </p:nvSpPr>
            <p:spPr>
              <a:xfrm flipH="1">
                <a:off x="533399" y="0"/>
                <a:ext cx="1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345" name="Shape 345"/>
              <p:cNvSpPr/>
              <p:nvPr/>
            </p:nvSpPr>
            <p:spPr>
              <a:xfrm>
                <a:off x="1054100" y="0"/>
                <a:ext cx="0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</p:grpSp>
        <p:grpSp>
          <p:nvGrpSpPr>
            <p:cNvPr id="350" name="Group 350"/>
            <p:cNvGrpSpPr/>
            <p:nvPr/>
          </p:nvGrpSpPr>
          <p:grpSpPr>
            <a:xfrm>
              <a:off x="4953000" y="1422400"/>
              <a:ext cx="1054100" cy="330200"/>
              <a:chOff x="0" y="0"/>
              <a:chExt cx="1054100" cy="330200"/>
            </a:xfrm>
          </p:grpSpPr>
          <p:sp>
            <p:nvSpPr>
              <p:cNvPr id="347" name="Shape 347"/>
              <p:cNvSpPr/>
              <p:nvPr/>
            </p:nvSpPr>
            <p:spPr>
              <a:xfrm flipH="1">
                <a:off x="-1" y="0"/>
                <a:ext cx="2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348" name="Shape 348"/>
              <p:cNvSpPr/>
              <p:nvPr/>
            </p:nvSpPr>
            <p:spPr>
              <a:xfrm flipH="1">
                <a:off x="533399" y="0"/>
                <a:ext cx="1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349" name="Shape 349"/>
              <p:cNvSpPr/>
              <p:nvPr/>
            </p:nvSpPr>
            <p:spPr>
              <a:xfrm>
                <a:off x="1054100" y="0"/>
                <a:ext cx="0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</p:grpSp>
        <p:grpSp>
          <p:nvGrpSpPr>
            <p:cNvPr id="354" name="Group 354"/>
            <p:cNvGrpSpPr/>
            <p:nvPr/>
          </p:nvGrpSpPr>
          <p:grpSpPr>
            <a:xfrm>
              <a:off x="6527800" y="1422400"/>
              <a:ext cx="1054100" cy="330200"/>
              <a:chOff x="0" y="0"/>
              <a:chExt cx="1054100" cy="330200"/>
            </a:xfrm>
          </p:grpSpPr>
          <p:sp>
            <p:nvSpPr>
              <p:cNvPr id="351" name="Shape 351"/>
              <p:cNvSpPr/>
              <p:nvPr/>
            </p:nvSpPr>
            <p:spPr>
              <a:xfrm flipH="1">
                <a:off x="-1" y="0"/>
                <a:ext cx="2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352" name="Shape 352"/>
              <p:cNvSpPr/>
              <p:nvPr/>
            </p:nvSpPr>
            <p:spPr>
              <a:xfrm flipH="1">
                <a:off x="533399" y="0"/>
                <a:ext cx="1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353" name="Shape 353"/>
              <p:cNvSpPr/>
              <p:nvPr/>
            </p:nvSpPr>
            <p:spPr>
              <a:xfrm>
                <a:off x="1054100" y="0"/>
                <a:ext cx="0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</p:grpSp>
        <p:grpSp>
          <p:nvGrpSpPr>
            <p:cNvPr id="358" name="Group 358"/>
            <p:cNvGrpSpPr/>
            <p:nvPr/>
          </p:nvGrpSpPr>
          <p:grpSpPr>
            <a:xfrm>
              <a:off x="8102600" y="1422400"/>
              <a:ext cx="1054100" cy="330200"/>
              <a:chOff x="0" y="0"/>
              <a:chExt cx="1054100" cy="330200"/>
            </a:xfrm>
          </p:grpSpPr>
          <p:sp>
            <p:nvSpPr>
              <p:cNvPr id="355" name="Shape 355"/>
              <p:cNvSpPr/>
              <p:nvPr/>
            </p:nvSpPr>
            <p:spPr>
              <a:xfrm flipH="1">
                <a:off x="-1" y="0"/>
                <a:ext cx="2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356" name="Shape 356"/>
              <p:cNvSpPr/>
              <p:nvPr/>
            </p:nvSpPr>
            <p:spPr>
              <a:xfrm flipH="1">
                <a:off x="533399" y="0"/>
                <a:ext cx="1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357" name="Shape 357"/>
              <p:cNvSpPr/>
              <p:nvPr/>
            </p:nvSpPr>
            <p:spPr>
              <a:xfrm>
                <a:off x="1054100" y="0"/>
                <a:ext cx="0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</p:grpSp>
        <p:grpSp>
          <p:nvGrpSpPr>
            <p:cNvPr id="362" name="Group 362"/>
            <p:cNvGrpSpPr/>
            <p:nvPr/>
          </p:nvGrpSpPr>
          <p:grpSpPr>
            <a:xfrm>
              <a:off x="9677400" y="1422400"/>
              <a:ext cx="1054100" cy="330200"/>
              <a:chOff x="0" y="0"/>
              <a:chExt cx="1054100" cy="330200"/>
            </a:xfrm>
          </p:grpSpPr>
          <p:sp>
            <p:nvSpPr>
              <p:cNvPr id="359" name="Shape 359"/>
              <p:cNvSpPr/>
              <p:nvPr/>
            </p:nvSpPr>
            <p:spPr>
              <a:xfrm flipH="1">
                <a:off x="-1" y="0"/>
                <a:ext cx="2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360" name="Shape 360"/>
              <p:cNvSpPr/>
              <p:nvPr/>
            </p:nvSpPr>
            <p:spPr>
              <a:xfrm flipH="1">
                <a:off x="533399" y="0"/>
                <a:ext cx="1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361" name="Shape 361"/>
              <p:cNvSpPr/>
              <p:nvPr/>
            </p:nvSpPr>
            <p:spPr>
              <a:xfrm>
                <a:off x="1054100" y="0"/>
                <a:ext cx="0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</p:grpSp>
        <p:grpSp>
          <p:nvGrpSpPr>
            <p:cNvPr id="366" name="Group 366"/>
            <p:cNvGrpSpPr/>
            <p:nvPr/>
          </p:nvGrpSpPr>
          <p:grpSpPr>
            <a:xfrm>
              <a:off x="1689100" y="1422400"/>
              <a:ext cx="1054100" cy="330200"/>
              <a:chOff x="0" y="0"/>
              <a:chExt cx="1054100" cy="330200"/>
            </a:xfrm>
          </p:grpSpPr>
          <p:sp>
            <p:nvSpPr>
              <p:cNvPr id="363" name="Shape 363"/>
              <p:cNvSpPr/>
              <p:nvPr/>
            </p:nvSpPr>
            <p:spPr>
              <a:xfrm flipH="1">
                <a:off x="-1" y="0"/>
                <a:ext cx="2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364" name="Shape 364"/>
              <p:cNvSpPr/>
              <p:nvPr/>
            </p:nvSpPr>
            <p:spPr>
              <a:xfrm flipH="1">
                <a:off x="533399" y="0"/>
                <a:ext cx="1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365" name="Shape 365"/>
              <p:cNvSpPr/>
              <p:nvPr/>
            </p:nvSpPr>
            <p:spPr>
              <a:xfrm>
                <a:off x="1054100" y="0"/>
                <a:ext cx="0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</p:grpSp>
        <p:grpSp>
          <p:nvGrpSpPr>
            <p:cNvPr id="370" name="Group 370"/>
            <p:cNvGrpSpPr/>
            <p:nvPr/>
          </p:nvGrpSpPr>
          <p:grpSpPr>
            <a:xfrm>
              <a:off x="0" y="1422400"/>
              <a:ext cx="1054100" cy="330200"/>
              <a:chOff x="0" y="0"/>
              <a:chExt cx="1054100" cy="330200"/>
            </a:xfrm>
          </p:grpSpPr>
          <p:sp>
            <p:nvSpPr>
              <p:cNvPr id="367" name="Shape 367"/>
              <p:cNvSpPr/>
              <p:nvPr/>
            </p:nvSpPr>
            <p:spPr>
              <a:xfrm flipH="1">
                <a:off x="-1" y="0"/>
                <a:ext cx="2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368" name="Shape 368"/>
              <p:cNvSpPr/>
              <p:nvPr/>
            </p:nvSpPr>
            <p:spPr>
              <a:xfrm flipH="1">
                <a:off x="533399" y="0"/>
                <a:ext cx="1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  <p:sp>
            <p:nvSpPr>
              <p:cNvPr id="369" name="Shape 369"/>
              <p:cNvSpPr/>
              <p:nvPr/>
            </p:nvSpPr>
            <p:spPr>
              <a:xfrm>
                <a:off x="1054100" y="0"/>
                <a:ext cx="0" cy="33020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l" defTabSz="457200">
                  <a:defRPr sz="1200">
                    <a:latin typeface="Helvetica"/>
                    <a:ea typeface="Helvetica"/>
                    <a:cs typeface="Helvetica"/>
                    <a:sym typeface="Helvetica"/>
                  </a:defRPr>
                </a:pPr>
              </a:p>
            </p:txBody>
          </p:sp>
        </p:grpSp>
        <p:pic>
          <p:nvPicPr>
            <p:cNvPr id="371" name="images%3Fq%3Dfunny%2Bface%2Bcartoon%26um%3D1%26hl%3Den%26tbs%3Disch-1&amp;ei=biqAS8PCG4OQlAe1wJGMBw.tiff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5689600" y="0"/>
              <a:ext cx="723900" cy="13208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375" name="Group 375"/>
          <p:cNvGrpSpPr/>
          <p:nvPr/>
        </p:nvGrpSpPr>
        <p:grpSpPr>
          <a:xfrm>
            <a:off x="467143" y="4248150"/>
            <a:ext cx="9629357" cy="1936750"/>
            <a:chOff x="0" y="0"/>
            <a:chExt cx="9629356" cy="1936750"/>
          </a:xfrm>
        </p:grpSpPr>
        <p:sp>
          <p:nvSpPr>
            <p:cNvPr id="373" name="Shape 373"/>
            <p:cNvSpPr/>
            <p:nvPr/>
          </p:nvSpPr>
          <p:spPr>
            <a:xfrm>
              <a:off x="0" y="0"/>
              <a:ext cx="4541658" cy="584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300">
                  <a:solidFill>
                    <a:srgbClr val="669C35"/>
                  </a:solidFill>
                </a:defRPr>
              </a:lvl1pPr>
            </a:lstStyle>
            <a:p>
              <a:pPr/>
              <a:r>
                <a:t>The fundamental equation</a:t>
              </a:r>
            </a:p>
          </p:txBody>
        </p:sp>
        <p:pic>
          <p:nvPicPr>
            <p:cNvPr id="374" name="image-350.pdf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374356" y="819150"/>
              <a:ext cx="8255001" cy="11176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377"/>
          <p:cNvSpPr/>
          <p:nvPr/>
        </p:nvSpPr>
        <p:spPr>
          <a:xfrm>
            <a:off x="619543" y="539750"/>
            <a:ext cx="4541659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>
                <a:solidFill>
                  <a:srgbClr val="669C35"/>
                </a:solidFill>
              </a:defRPr>
            </a:lvl1pPr>
          </a:lstStyle>
          <a:p>
            <a:pPr/>
            <a:r>
              <a:t>The fundamental equation</a:t>
            </a:r>
          </a:p>
        </p:txBody>
      </p:sp>
      <p:pic>
        <p:nvPicPr>
          <p:cNvPr id="378" name="image-350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93900" y="1358900"/>
            <a:ext cx="8255000" cy="1117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79" name="image-351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10100" y="3721100"/>
            <a:ext cx="2400300" cy="10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80" name="image-353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915400" y="3606800"/>
            <a:ext cx="1854200" cy="10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81" name="Shape 381"/>
          <p:cNvSpPr/>
          <p:nvPr/>
        </p:nvSpPr>
        <p:spPr>
          <a:xfrm flipV="1">
            <a:off x="5702300" y="2451100"/>
            <a:ext cx="0" cy="1079500"/>
          </a:xfrm>
          <a:prstGeom prst="line">
            <a:avLst/>
          </a:prstGeom>
          <a:ln w="63500">
            <a:solidFill>
              <a:srgbClr val="FF2600"/>
            </a:solidFill>
            <a:miter lim="400000"/>
            <a:headEnd type="triangle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382" name="Shape 382"/>
          <p:cNvSpPr/>
          <p:nvPr/>
        </p:nvSpPr>
        <p:spPr>
          <a:xfrm>
            <a:off x="6344294" y="2717800"/>
            <a:ext cx="1347156" cy="546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Math (!)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Shape 384"/>
          <p:cNvSpPr/>
          <p:nvPr/>
        </p:nvSpPr>
        <p:spPr>
          <a:xfrm>
            <a:off x="619543" y="539750"/>
            <a:ext cx="4541659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>
                <a:solidFill>
                  <a:srgbClr val="669C35"/>
                </a:solidFill>
              </a:defRPr>
            </a:lvl1pPr>
          </a:lstStyle>
          <a:p>
            <a:pPr/>
            <a:r>
              <a:t>The fundamental equation</a:t>
            </a:r>
          </a:p>
        </p:txBody>
      </p:sp>
      <p:pic>
        <p:nvPicPr>
          <p:cNvPr id="385" name="image-350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93900" y="1358900"/>
            <a:ext cx="8255000" cy="1117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86" name="image-351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10100" y="3721100"/>
            <a:ext cx="2400300" cy="10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87" name="image-353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915400" y="3606800"/>
            <a:ext cx="1854200" cy="10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88" name="Shape 388"/>
          <p:cNvSpPr/>
          <p:nvPr/>
        </p:nvSpPr>
        <p:spPr>
          <a:xfrm flipV="1">
            <a:off x="5702300" y="2451100"/>
            <a:ext cx="0" cy="1079500"/>
          </a:xfrm>
          <a:prstGeom prst="line">
            <a:avLst/>
          </a:prstGeom>
          <a:ln w="63500">
            <a:solidFill>
              <a:srgbClr val="FF2600"/>
            </a:solidFill>
            <a:miter lim="400000"/>
            <a:headEnd type="triangle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389" name="Shape 389"/>
          <p:cNvSpPr/>
          <p:nvPr/>
        </p:nvSpPr>
        <p:spPr>
          <a:xfrm>
            <a:off x="6344294" y="2717800"/>
            <a:ext cx="1347156" cy="546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Math (!)</a:t>
            </a:r>
          </a:p>
        </p:txBody>
      </p:sp>
      <p:pic>
        <p:nvPicPr>
          <p:cNvPr id="390" name="image-354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714500" y="6629400"/>
            <a:ext cx="1943100" cy="482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91" name="image-355.pdf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943600" y="6070600"/>
            <a:ext cx="5981700" cy="1130300"/>
          </a:xfrm>
          <a:prstGeom prst="rect">
            <a:avLst/>
          </a:prstGeom>
          <a:ln w="12700">
            <a:miter lim="400000"/>
          </a:ln>
        </p:spPr>
      </p:pic>
      <p:sp>
        <p:nvSpPr>
          <p:cNvPr id="392" name="Shape 392"/>
          <p:cNvSpPr/>
          <p:nvPr/>
        </p:nvSpPr>
        <p:spPr>
          <a:xfrm>
            <a:off x="7515659" y="7442200"/>
            <a:ext cx="5278227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See : Applied Math 105b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dropped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5300" y="2413000"/>
            <a:ext cx="5263816" cy="2540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95" name="droppedImage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353300" y="4000500"/>
            <a:ext cx="2946400" cy="825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96" name="droppedImage.tif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112000" y="2057400"/>
            <a:ext cx="3873500" cy="1549400"/>
          </a:xfrm>
          <a:prstGeom prst="rect">
            <a:avLst/>
          </a:prstGeom>
          <a:ln w="12700">
            <a:miter lim="400000"/>
          </a:ln>
        </p:spPr>
      </p:pic>
      <p:sp>
        <p:nvSpPr>
          <p:cNvPr id="397" name="Shape 397"/>
          <p:cNvSpPr/>
          <p:nvPr/>
        </p:nvSpPr>
        <p:spPr>
          <a:xfrm>
            <a:off x="1487481" y="1435100"/>
            <a:ext cx="1815183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9929BD"/>
                </a:solidFill>
              </a:defRPr>
            </a:lvl1pPr>
          </a:lstStyle>
          <a:p>
            <a:pPr/>
            <a:r>
              <a:t>Bachelier</a:t>
            </a:r>
          </a:p>
        </p:txBody>
      </p:sp>
      <p:sp>
        <p:nvSpPr>
          <p:cNvPr id="398" name="Shape 398"/>
          <p:cNvSpPr/>
          <p:nvPr/>
        </p:nvSpPr>
        <p:spPr>
          <a:xfrm>
            <a:off x="8047403" y="1435100"/>
            <a:ext cx="1547739" cy="62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9929BD"/>
                </a:solidFill>
              </a:defRPr>
            </a:lvl1pPr>
          </a:lstStyle>
          <a:p>
            <a:pPr/>
            <a:r>
              <a:t>Einstein</a:t>
            </a:r>
          </a:p>
        </p:txBody>
      </p:sp>
      <p:sp>
        <p:nvSpPr>
          <p:cNvPr id="399" name="Shape 399"/>
          <p:cNvSpPr/>
          <p:nvPr/>
        </p:nvSpPr>
        <p:spPr>
          <a:xfrm>
            <a:off x="3872910" y="368300"/>
            <a:ext cx="4232524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The Central Result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Shape 401"/>
          <p:cNvSpPr/>
          <p:nvPr/>
        </p:nvSpPr>
        <p:spPr>
          <a:xfrm>
            <a:off x="180509" y="254000"/>
            <a:ext cx="12476784" cy="570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l">
              <a:defRPr b="1"/>
            </a:pPr>
            <a:r>
              <a:t>Remark:</a:t>
            </a:r>
          </a:p>
          <a:p>
            <a:pPr algn="l">
              <a:defRPr>
                <a:solidFill>
                  <a:srgbClr val="7B219F"/>
                </a:solidFill>
              </a:defRPr>
            </a:pPr>
          </a:p>
          <a:p>
            <a:pPr algn="l">
              <a:defRPr>
                <a:solidFill>
                  <a:srgbClr val="7B219F"/>
                </a:solidFill>
              </a:defRPr>
            </a:pPr>
            <a:r>
              <a:t>The essence of a random walk is that what happens in</a:t>
            </a:r>
          </a:p>
          <a:p>
            <a:pPr algn="l">
              <a:defRPr>
                <a:solidFill>
                  <a:srgbClr val="7B219F"/>
                </a:solidFill>
              </a:defRPr>
            </a:pPr>
            <a:r>
              <a:t> the future does not depend at all on what happened in</a:t>
            </a:r>
          </a:p>
          <a:p>
            <a:pPr algn="l">
              <a:defRPr>
                <a:solidFill>
                  <a:srgbClr val="7B219F"/>
                </a:solidFill>
              </a:defRPr>
            </a:pPr>
            <a:r>
              <a:t> the past.</a:t>
            </a:r>
          </a:p>
          <a:p>
            <a:pPr algn="l">
              <a:defRPr>
                <a:solidFill>
                  <a:srgbClr val="7B219F"/>
                </a:solidFill>
              </a:defRPr>
            </a:pPr>
          </a:p>
          <a:p>
            <a:pPr algn="l">
              <a:defRPr>
                <a:solidFill>
                  <a:srgbClr val="7B219F"/>
                </a:solidFill>
              </a:defRPr>
            </a:pPr>
            <a:r>
              <a:t>At every stage, you just flip a coin.</a:t>
            </a:r>
          </a:p>
          <a:p>
            <a:pPr algn="l">
              <a:defRPr>
                <a:solidFill>
                  <a:srgbClr val="7B219F"/>
                </a:solidFill>
              </a:defRPr>
            </a:pPr>
          </a:p>
          <a:p>
            <a:pPr algn="l">
              <a:defRPr>
                <a:solidFill>
                  <a:srgbClr val="7B219F"/>
                </a:solidFill>
              </a:defRPr>
            </a:pPr>
            <a:r>
              <a:t>Contrast: “Chartist” approaches to pricing stocks (Fama).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Shape 403"/>
          <p:cNvSpPr/>
          <p:nvPr/>
        </p:nvSpPr>
        <p:spPr>
          <a:xfrm>
            <a:off x="1309104" y="101600"/>
            <a:ext cx="6616937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The Laboratory:  Simulations!!</a:t>
            </a:r>
          </a:p>
        </p:txBody>
      </p:sp>
      <p:sp>
        <p:nvSpPr>
          <p:cNvPr id="404" name="Shape 404"/>
          <p:cNvSpPr/>
          <p:nvPr/>
        </p:nvSpPr>
        <p:spPr>
          <a:xfrm>
            <a:off x="2031038" y="1428750"/>
            <a:ext cx="7500009" cy="1930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l">
              <a:defRPr sz="3200">
                <a:solidFill>
                  <a:srgbClr val="7B219F"/>
                </a:solidFill>
              </a:defRPr>
            </a:pPr>
            <a:r>
              <a:t>Repeat 100 times.</a:t>
            </a:r>
          </a:p>
          <a:p>
            <a:pPr algn="l">
              <a:defRPr sz="3200">
                <a:solidFill>
                  <a:srgbClr val="7B219F"/>
                </a:solidFill>
              </a:defRPr>
            </a:pPr>
            <a:r>
              <a:t>    (i) Choose a random number </a:t>
            </a:r>
            <a:r>
              <a:rPr sz="2100">
                <a:solidFill>
                  <a:srgbClr val="000000"/>
                </a:solidFill>
              </a:rPr>
              <a:t>(*)</a:t>
            </a:r>
            <a:r>
              <a:t> p in [0,1]</a:t>
            </a:r>
          </a:p>
          <a:p>
            <a:pPr algn="l">
              <a:defRPr sz="3200">
                <a:solidFill>
                  <a:srgbClr val="7B219F"/>
                </a:solidFill>
              </a:defRPr>
            </a:pPr>
            <a:r>
              <a:t>    (ii) If p&lt; 1/2 move left one step</a:t>
            </a:r>
          </a:p>
          <a:p>
            <a:pPr algn="l">
              <a:defRPr sz="3200">
                <a:solidFill>
                  <a:srgbClr val="7B219F"/>
                </a:solidFill>
              </a:defRPr>
            </a:pPr>
            <a:r>
              <a:t>    (iii) else move right one step</a:t>
            </a:r>
          </a:p>
        </p:txBody>
      </p:sp>
      <p:sp>
        <p:nvSpPr>
          <p:cNvPr id="405" name="Shape 405"/>
          <p:cNvSpPr/>
          <p:nvPr/>
        </p:nvSpPr>
        <p:spPr>
          <a:xfrm>
            <a:off x="6553200" y="6146800"/>
            <a:ext cx="6175084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100"/>
            </a:pPr>
            <a:r>
              <a:t>(*) How computers generate random numbers: See e.g.</a:t>
            </a:r>
          </a:p>
          <a:p>
            <a:pPr algn="l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sz="1200" u="sng">
                <a:latin typeface="Helvetica"/>
                <a:ea typeface="Helvetica"/>
                <a:cs typeface="Helvetica"/>
                <a:sym typeface="Helvetica"/>
                <a:hlinkClick r:id="rId2" invalidUrl="" action="" tgtFrame="" tooltip="" history="1" highlightClick="0" endSnd="0"/>
              </a:rPr>
              <a:t>http://www.mathworks.com/moler/random.pdf</a:t>
            </a:r>
            <a:r>
              <a:rPr sz="1200">
                <a:latin typeface="Helvetica"/>
                <a:ea typeface="Helvetica"/>
                <a:cs typeface="Helvetica"/>
                <a:sym typeface="Helvetica"/>
              </a:rPr>
              <a:t>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407"/>
          <p:cNvSpPr/>
          <p:nvPr/>
        </p:nvSpPr>
        <p:spPr>
          <a:xfrm>
            <a:off x="1309104" y="101600"/>
            <a:ext cx="6616937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The Laboratory:  Simulations!!</a:t>
            </a:r>
          </a:p>
        </p:txBody>
      </p:sp>
      <p:pic>
        <p:nvPicPr>
          <p:cNvPr id="408" name="dropped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41219" y="1651000"/>
            <a:ext cx="7082081" cy="5283200"/>
          </a:xfrm>
          <a:prstGeom prst="rect">
            <a:avLst/>
          </a:prstGeom>
          <a:ln w="12700">
            <a:miter lim="400000"/>
          </a:ln>
        </p:spPr>
      </p:pic>
      <p:sp>
        <p:nvSpPr>
          <p:cNvPr id="409" name="Shape 409"/>
          <p:cNvSpPr/>
          <p:nvPr/>
        </p:nvSpPr>
        <p:spPr>
          <a:xfrm>
            <a:off x="1485900" y="3340100"/>
            <a:ext cx="2908300" cy="1320800"/>
          </a:xfrm>
          <a:prstGeom prst="rect">
            <a:avLst/>
          </a:prstGeom>
          <a:solidFill>
            <a:srgbClr val="FFFB00">
              <a:alpha val="17220"/>
            </a:srgbClr>
          </a:solidFill>
          <a:ln w="25400">
            <a:solidFill>
              <a:srgbClr val="000000">
                <a:alpha val="42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4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dropped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39242" y="2476500"/>
            <a:ext cx="8008059" cy="6261101"/>
          </a:xfrm>
          <a:prstGeom prst="rect">
            <a:avLst/>
          </a:prstGeom>
          <a:ln w="12700">
            <a:miter lim="400000"/>
          </a:ln>
        </p:spPr>
      </p:pic>
      <p:sp>
        <p:nvSpPr>
          <p:cNvPr id="412" name="Shape 412"/>
          <p:cNvSpPr/>
          <p:nvPr/>
        </p:nvSpPr>
        <p:spPr>
          <a:xfrm>
            <a:off x="739396" y="1917700"/>
            <a:ext cx="7426153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Start out with 100 walkers at x=0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dropped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92300" y="2933700"/>
            <a:ext cx="8293100" cy="576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5" name="image-354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67300" y="2349500"/>
            <a:ext cx="1943100" cy="482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Shape 417"/>
          <p:cNvSpPr/>
          <p:nvPr/>
        </p:nvSpPr>
        <p:spPr>
          <a:xfrm>
            <a:off x="584200" y="431800"/>
            <a:ext cx="11701165" cy="5676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l"/>
            <a:r>
              <a:rPr sz="4100" u="sng"/>
              <a:t>Outline</a:t>
            </a:r>
            <a:endParaRPr sz="4100" u="sng"/>
          </a:p>
          <a:p>
            <a:pPr algn="l"/>
          </a:p>
          <a:p>
            <a:pPr algn="l"/>
            <a:r>
              <a:t>(1) What is a random walk: The basic theory</a:t>
            </a:r>
          </a:p>
          <a:p>
            <a:pPr algn="l"/>
          </a:p>
          <a:p>
            <a:pPr algn="l"/>
            <a:r>
              <a:t>(2) Einstein’s paper. How Einstein used random walks</a:t>
            </a:r>
          </a:p>
          <a:p>
            <a:pPr algn="l"/>
            <a:r>
              <a:t>to calculate the size of a molecule</a:t>
            </a:r>
          </a:p>
          <a:p>
            <a:pPr algn="l"/>
          </a:p>
          <a:p>
            <a:pPr algn="l"/>
            <a:r>
              <a:t>(3) Stock prices and random walks.</a:t>
            </a:r>
          </a:p>
          <a:p>
            <a:pPr lvl="2" algn="l"/>
            <a:r>
              <a:t>  </a:t>
            </a:r>
          </a:p>
        </p:txBody>
      </p:sp>
      <p:sp>
        <p:nvSpPr>
          <p:cNvPr id="418" name="Shape 418"/>
          <p:cNvSpPr/>
          <p:nvPr/>
        </p:nvSpPr>
        <p:spPr>
          <a:xfrm>
            <a:off x="342900" y="2933700"/>
            <a:ext cx="12014200" cy="1270000"/>
          </a:xfrm>
          <a:prstGeom prst="rect">
            <a:avLst/>
          </a:prstGeom>
          <a:solidFill>
            <a:srgbClr val="FFFB00">
              <a:alpha val="29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dropped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51100" y="761046"/>
            <a:ext cx="9550400" cy="7138355"/>
          </a:xfrm>
          <a:prstGeom prst="rect">
            <a:avLst/>
          </a:prstGeom>
          <a:ln w="12700">
            <a:miter lim="400000"/>
          </a:ln>
        </p:spPr>
      </p:pic>
      <p:sp>
        <p:nvSpPr>
          <p:cNvPr id="421" name="Shape 421"/>
          <p:cNvSpPr/>
          <p:nvPr/>
        </p:nvSpPr>
        <p:spPr>
          <a:xfrm>
            <a:off x="257547" y="317500"/>
            <a:ext cx="3436851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56D6"/>
                </a:solidFill>
              </a:defRPr>
            </a:lvl1pPr>
          </a:lstStyle>
          <a:p>
            <a:pPr/>
            <a:r>
              <a:t>Einstein’s paper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Shape 423"/>
          <p:cNvSpPr/>
          <p:nvPr/>
        </p:nvSpPr>
        <p:spPr>
          <a:xfrm>
            <a:off x="536469" y="431800"/>
            <a:ext cx="12280901" cy="4305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/>
            <a:r>
              <a:rPr sz="4100" u="sng"/>
              <a:t>Main Points:</a:t>
            </a:r>
            <a:endParaRPr sz="4100" u="sng"/>
          </a:p>
          <a:p>
            <a:pPr algn="l">
              <a:defRPr>
                <a:solidFill>
                  <a:srgbClr val="002E7A"/>
                </a:solidFill>
              </a:defRPr>
            </a:pPr>
          </a:p>
          <a:p>
            <a:pPr algn="l">
              <a:defRPr sz="3500">
                <a:solidFill>
                  <a:srgbClr val="002E7A"/>
                </a:solidFill>
              </a:defRPr>
            </a:pPr>
            <a:r>
              <a:t>(1) “Visible” (ie, micron sized) particles will jiggle around</a:t>
            </a:r>
          </a:p>
          <a:p>
            <a:pPr algn="l">
              <a:defRPr sz="3400">
                <a:solidFill>
                  <a:srgbClr val="002E7A"/>
                </a:solidFill>
              </a:defRPr>
            </a:pPr>
            <a:r>
              <a:t>in a liquid. i.e. doing a random walk. </a:t>
            </a:r>
          </a:p>
          <a:p>
            <a:pPr algn="l">
              <a:defRPr sz="3400">
                <a:solidFill>
                  <a:srgbClr val="002E7A"/>
                </a:solidFill>
              </a:defRPr>
            </a:pPr>
          </a:p>
          <a:p>
            <a:pPr algn="l">
              <a:defRPr sz="3400">
                <a:solidFill>
                  <a:srgbClr val="002E7A"/>
                </a:solidFill>
              </a:defRPr>
            </a:pPr>
            <a:r>
              <a:t>This is predicted on theoretical grounds, but has neither been observed nor expected.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Shape 425"/>
          <p:cNvSpPr/>
          <p:nvPr/>
        </p:nvSpPr>
        <p:spPr>
          <a:xfrm>
            <a:off x="-749300" y="2044700"/>
            <a:ext cx="13004800" cy="53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 u="sng">
                <a:hlinkClick r:id="rId2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2" invalidUrl="" action="" tgtFrame="" tooltip="" history="1" highlightClick="0" endSnd="0"/>
              </a:rPr>
              <a:t>http://www.sciencemag.org/cgi/content/abstract/327/5965/560</a:t>
            </a:r>
          </a:p>
        </p:txBody>
      </p:sp>
      <p:sp>
        <p:nvSpPr>
          <p:cNvPr id="426" name="Shape 426"/>
          <p:cNvSpPr/>
          <p:nvPr/>
        </p:nvSpPr>
        <p:spPr>
          <a:xfrm>
            <a:off x="369422" y="584199"/>
            <a:ext cx="11849101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Now this is quite easy to observe!</a:t>
            </a:r>
          </a:p>
        </p:txBody>
      </p:sp>
      <p:pic>
        <p:nvPicPr>
          <p:cNvPr id="427" name="N4_Well-2.mov"/>
          <p:cNvPicPr>
            <a:picLocks noChangeAspect="0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>
            <a:extLst/>
          </a:blip>
          <a:stretch>
            <a:fillRect/>
          </a:stretch>
        </p:blipFill>
        <p:spPr>
          <a:xfrm>
            <a:off x="3505200" y="3048000"/>
            <a:ext cx="4876800" cy="3657600"/>
          </a:xfrm>
          <a:prstGeom prst="rect">
            <a:avLst/>
          </a:prstGeom>
          <a:ln w="12700">
            <a:miter lim="400000"/>
          </a:ln>
        </p:spPr>
      </p:pic>
      <p:sp>
        <p:nvSpPr>
          <p:cNvPr id="428" name="Shape 428"/>
          <p:cNvSpPr/>
          <p:nvPr/>
        </p:nvSpPr>
        <p:spPr>
          <a:xfrm>
            <a:off x="5148916" y="8966200"/>
            <a:ext cx="2899713" cy="469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500">
                <a:solidFill>
                  <a:srgbClr val="831100"/>
                </a:solidFill>
              </a:defRPr>
            </a:lvl1pPr>
          </a:lstStyle>
          <a:p>
            <a:pPr/>
            <a:r>
              <a:t>G.Meng, V. Manoharan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866" fill="hold"/>
                                        <p:tgtEl>
                                          <p:spTgt spid="4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427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Shape 430"/>
          <p:cNvSpPr/>
          <p:nvPr/>
        </p:nvSpPr>
        <p:spPr>
          <a:xfrm>
            <a:off x="739669" y="584200"/>
            <a:ext cx="12280901" cy="529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/>
            <a:r>
              <a:rPr sz="4100" u="sng"/>
              <a:t>Main Points of paper:</a:t>
            </a:r>
            <a:endParaRPr sz="4100" u="sng"/>
          </a:p>
          <a:p>
            <a:pPr algn="l">
              <a:defRPr>
                <a:solidFill>
                  <a:srgbClr val="002E7A"/>
                </a:solidFill>
              </a:defRPr>
            </a:pPr>
          </a:p>
          <a:p>
            <a:pPr algn="l">
              <a:defRPr sz="3500">
                <a:solidFill>
                  <a:srgbClr val="002E7A"/>
                </a:solidFill>
              </a:defRPr>
            </a:pPr>
            <a:r>
              <a:t>(1) “Visible” (ie, micron sized) particles will jiggle around</a:t>
            </a:r>
          </a:p>
          <a:p>
            <a:pPr algn="l">
              <a:defRPr sz="3400">
                <a:solidFill>
                  <a:srgbClr val="002E7A"/>
                </a:solidFill>
              </a:defRPr>
            </a:pPr>
            <a:r>
              <a:t>in a liquid. i.e. doing a random walk. </a:t>
            </a:r>
          </a:p>
          <a:p>
            <a:pPr algn="l">
              <a:defRPr sz="3400">
                <a:solidFill>
                  <a:srgbClr val="002E7A"/>
                </a:solidFill>
              </a:defRPr>
            </a:pPr>
          </a:p>
          <a:p>
            <a:pPr algn="l">
              <a:defRPr sz="3400">
                <a:solidFill>
                  <a:srgbClr val="002E7A"/>
                </a:solidFill>
              </a:defRPr>
            </a:pPr>
            <a:r>
              <a:t>This is predicted on theoretical grounds, but has neither been observed nor expected.</a:t>
            </a:r>
          </a:p>
          <a:p>
            <a:pPr algn="l">
              <a:defRPr sz="3400">
                <a:solidFill>
                  <a:srgbClr val="002E7A"/>
                </a:solidFill>
              </a:defRPr>
            </a:pPr>
          </a:p>
          <a:p>
            <a:pPr algn="l">
              <a:defRPr sz="3400">
                <a:solidFill>
                  <a:srgbClr val="B51A00"/>
                </a:solidFill>
              </a:defRPr>
            </a:pPr>
            <a:r>
              <a:t>(2) Calculation of diffusion constant of the particles</a:t>
            </a:r>
          </a:p>
        </p:txBody>
      </p:sp>
      <p:pic>
        <p:nvPicPr>
          <p:cNvPr id="431" name="image-356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33800" y="6019800"/>
            <a:ext cx="4229100" cy="10541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Shape 433"/>
          <p:cNvSpPr/>
          <p:nvPr/>
        </p:nvSpPr>
        <p:spPr>
          <a:xfrm>
            <a:off x="498369" y="558800"/>
            <a:ext cx="12280901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/>
            <a:r>
              <a:rPr sz="4100" u="sng"/>
              <a:t>Main Points:</a:t>
            </a:r>
            <a:endParaRPr sz="4100" u="sng"/>
          </a:p>
          <a:p>
            <a:pPr algn="l">
              <a:defRPr>
                <a:solidFill>
                  <a:srgbClr val="002E7A"/>
                </a:solidFill>
              </a:defRPr>
            </a:pPr>
          </a:p>
          <a:p>
            <a:pPr algn="l">
              <a:defRPr sz="3500">
                <a:solidFill>
                  <a:srgbClr val="002E7A"/>
                </a:solidFill>
              </a:defRPr>
            </a:pPr>
            <a:r>
              <a:t>(1) “Visible” (ie, micron sized) particles will jiggle around</a:t>
            </a:r>
          </a:p>
          <a:p>
            <a:pPr algn="l">
              <a:defRPr sz="3400">
                <a:solidFill>
                  <a:srgbClr val="002E7A"/>
                </a:solidFill>
              </a:defRPr>
            </a:pPr>
            <a:r>
              <a:t>in a liquid. i.e. doing a random walk. </a:t>
            </a:r>
          </a:p>
          <a:p>
            <a:pPr algn="l">
              <a:defRPr sz="3400">
                <a:solidFill>
                  <a:srgbClr val="002E7A"/>
                </a:solidFill>
              </a:defRPr>
            </a:pPr>
          </a:p>
          <a:p>
            <a:pPr algn="l">
              <a:defRPr sz="3400">
                <a:solidFill>
                  <a:srgbClr val="002E7A"/>
                </a:solidFill>
              </a:defRPr>
            </a:pPr>
            <a:r>
              <a:t>This is predicted on theoretical grounds, but has neither been observed nor expected.</a:t>
            </a:r>
          </a:p>
          <a:p>
            <a:pPr algn="l">
              <a:defRPr sz="3400">
                <a:solidFill>
                  <a:srgbClr val="002E7A"/>
                </a:solidFill>
              </a:defRPr>
            </a:pPr>
          </a:p>
          <a:p>
            <a:pPr algn="l">
              <a:defRPr sz="3400">
                <a:solidFill>
                  <a:srgbClr val="B51A00"/>
                </a:solidFill>
              </a:defRPr>
            </a:pPr>
            <a:r>
              <a:rPr>
                <a:solidFill>
                  <a:srgbClr val="371A94"/>
                </a:solidFill>
              </a:rPr>
              <a:t>(2) Calculation of diffusion constant of the particles</a:t>
            </a:r>
            <a:endParaRPr>
              <a:solidFill>
                <a:srgbClr val="371A94"/>
              </a:solidFill>
            </a:endParaRPr>
          </a:p>
          <a:p>
            <a:pPr algn="l">
              <a:defRPr sz="3400">
                <a:solidFill>
                  <a:srgbClr val="B51A00"/>
                </a:solidFill>
              </a:defRPr>
            </a:pPr>
          </a:p>
          <a:p>
            <a:pPr algn="l">
              <a:defRPr sz="3400">
                <a:solidFill>
                  <a:srgbClr val="B51A00"/>
                </a:solidFill>
              </a:defRPr>
            </a:pPr>
            <a:r>
              <a:t>(3) Using                       as a way to compute Avogadro’s number!</a:t>
            </a:r>
          </a:p>
        </p:txBody>
      </p:sp>
      <p:pic>
        <p:nvPicPr>
          <p:cNvPr id="434" name="image-354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27300" y="5803900"/>
            <a:ext cx="1943100" cy="482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dropped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40200" y="1993900"/>
            <a:ext cx="3784600" cy="1993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37" name="droppedImage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0400" y="4127500"/>
            <a:ext cx="11201400" cy="1701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38" name="droppedImage.tif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77900" y="5626100"/>
            <a:ext cx="9017000" cy="1841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dropped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3000" y="2870200"/>
            <a:ext cx="11633200" cy="4000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442"/>
          <p:cNvSpPr/>
          <p:nvPr/>
        </p:nvSpPr>
        <p:spPr>
          <a:xfrm>
            <a:off x="937728" y="2374900"/>
            <a:ext cx="7029489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Random Walks and Stock Prices</a:t>
            </a:r>
          </a:p>
        </p:txBody>
      </p:sp>
      <p:pic>
        <p:nvPicPr>
          <p:cNvPr id="443" name="dropped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7700" y="2019300"/>
            <a:ext cx="10845800" cy="2578100"/>
          </a:xfrm>
          <a:prstGeom prst="rect">
            <a:avLst/>
          </a:prstGeom>
          <a:ln w="12700">
            <a:miter lim="400000"/>
          </a:ln>
        </p:spPr>
      </p:pic>
      <p:sp>
        <p:nvSpPr>
          <p:cNvPr id="444" name="Shape 444"/>
          <p:cNvSpPr/>
          <p:nvPr/>
        </p:nvSpPr>
        <p:spPr>
          <a:xfrm>
            <a:off x="966322" y="5092699"/>
            <a:ext cx="6426201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This is a review...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dropped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89511" y="2387600"/>
            <a:ext cx="5339889" cy="72517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dropped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35400" y="2400300"/>
            <a:ext cx="5562600" cy="6985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dropped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43300" y="2413000"/>
            <a:ext cx="6375400" cy="2578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1" name="droppedImage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27400" y="5435600"/>
            <a:ext cx="6350000" cy="13589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dropped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22600" y="2578100"/>
            <a:ext cx="6299200" cy="3568700"/>
          </a:xfrm>
          <a:prstGeom prst="rect">
            <a:avLst/>
          </a:prstGeom>
          <a:ln w="12700">
            <a:miter lim="400000"/>
          </a:ln>
        </p:spPr>
      </p:pic>
      <p:sp>
        <p:nvSpPr>
          <p:cNvPr id="454" name="Shape 454"/>
          <p:cNvSpPr/>
          <p:nvPr/>
        </p:nvSpPr>
        <p:spPr>
          <a:xfrm>
            <a:off x="2971800" y="3670300"/>
            <a:ext cx="6134100" cy="1435100"/>
          </a:xfrm>
          <a:prstGeom prst="rect">
            <a:avLst/>
          </a:prstGeom>
          <a:solidFill>
            <a:srgbClr val="FFFB00">
              <a:alpha val="47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</a:defRPr>
            </a:pPr>
          </a:p>
        </p:txBody>
      </p:sp>
      <p:pic>
        <p:nvPicPr>
          <p:cNvPr id="455" name="droppedImage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49600" y="6007100"/>
            <a:ext cx="6032500" cy="1574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Shape 457"/>
          <p:cNvSpPr/>
          <p:nvPr/>
        </p:nvSpPr>
        <p:spPr>
          <a:xfrm>
            <a:off x="1143000" y="4152900"/>
            <a:ext cx="13004800" cy="21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defRPr sz="800" u="sng">
                <a:hlinkClick r:id="rId2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2" invalidUrl="" action="" tgtFrame="" tooltip="" history="1" highlightClick="0" endSnd="0"/>
              </a:rPr>
              <a:t>http://www.google.com/finance?chdnp=1&amp;chdd=1&amp;chds=1&amp;chdv=1&amp;chvs=maximized&amp;chdeh=0&amp;chdet=1266804959996&amp;chddm=331925&amp;chls=IntervalBasedLine&amp;q=INDEXSP:.INX&amp;ntsp=0</a:t>
            </a:r>
          </a:p>
        </p:txBody>
      </p:sp>
      <p:sp>
        <p:nvSpPr>
          <p:cNvPr id="458" name="Shape 458"/>
          <p:cNvSpPr/>
          <p:nvPr/>
        </p:nvSpPr>
        <p:spPr>
          <a:xfrm>
            <a:off x="1182904" y="2819400"/>
            <a:ext cx="4634137" cy="723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Link to S&amp;P 500 data</a:t>
            </a:r>
          </a:p>
        </p:txBody>
      </p:sp>
      <p:sp>
        <p:nvSpPr>
          <p:cNvPr id="459" name="Shape 459"/>
          <p:cNvSpPr/>
          <p:nvPr/>
        </p:nvSpPr>
        <p:spPr>
          <a:xfrm>
            <a:off x="358669" y="5905500"/>
            <a:ext cx="12280901" cy="1092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defRPr sz="3400">
                <a:solidFill>
                  <a:srgbClr val="B51A00"/>
                </a:solidFill>
              </a:defRPr>
            </a:lvl1pPr>
          </a:lstStyle>
          <a:p>
            <a:pPr/>
            <a:r>
              <a:t>Given a data set, how do you tell if it is a random walk?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Gill Sans"/>
        <a:ea typeface="Gill Sans"/>
        <a:cs typeface="Gill San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38100" dist="12700" dir="540000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Gill Sans"/>
        <a:ea typeface="Gill Sans"/>
        <a:cs typeface="Gill San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38100" dist="12700" dir="540000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