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dia/image2.jpeg" ContentType="image/jpeg"/>
  <Override PartName="/ppt/media/image3.jpeg" ContentType="image/jpeg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342900" algn="ctr" defTabSz="5842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685800" algn="ctr" defTabSz="5842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1028700" algn="ctr" defTabSz="5842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1371600" algn="ctr" defTabSz="5842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1714500" algn="ctr" defTabSz="5842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2057400" algn="ctr" defTabSz="5842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2400300" algn="ctr" defTabSz="5842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2743200" algn="ctr" defTabSz="5842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def" i="de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de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def" i="de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de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def" i="de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n" i="de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def" i="de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de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def" i="de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 b="def" i="def"/>
      <a:tcStyle>
        <a:tcBdr/>
        <a:fill>
          <a:solidFill>
            <a:srgbClr val="C3C2C2"/>
          </a:solidFill>
        </a:fill>
      </a:tcStyle>
    </a:band2H>
    <a:firstCol>
      <a:tcTxStyle b="on" i="de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de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de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def" i="de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CE5E6"/>
          </a:solidFill>
        </a:fill>
      </a:tcStyle>
    </a:band2H>
    <a:firstCol>
      <a:tcTxStyle b="on" i="de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de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de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def" i="de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 b="def" i="def"/>
      <a:tcStyle>
        <a:tcBdr/>
        <a:fill>
          <a:solidFill>
            <a:srgbClr val="DEDEDF"/>
          </a:solidFill>
        </a:fill>
      </a:tcStyle>
    </a:band2H>
    <a:firstCol>
      <a:tcTxStyle b="on" i="de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de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de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def" i="de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de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de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de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8F44A2F1-9E1F-4B54-A3A2-5F16C0AD49E2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C5C7C9">
              <a:alpha val="30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1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4" name="Shape 44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584200" latinLnBrk="0">
      <a:defRPr sz="2200">
        <a:latin typeface="Lucida Grande"/>
        <a:ea typeface="Lucida Grande"/>
        <a:cs typeface="Lucida Grande"/>
        <a:sym typeface="Lucida Grande"/>
      </a:defRPr>
    </a:lvl1pPr>
    <a:lvl2pPr indent="228600" defTabSz="584200" latinLnBrk="0">
      <a:defRPr sz="2200">
        <a:latin typeface="Lucida Grande"/>
        <a:ea typeface="Lucida Grande"/>
        <a:cs typeface="Lucida Grande"/>
        <a:sym typeface="Lucida Grande"/>
      </a:defRPr>
    </a:lvl2pPr>
    <a:lvl3pPr indent="457200" defTabSz="584200" latinLnBrk="0">
      <a:defRPr sz="2200">
        <a:latin typeface="Lucida Grande"/>
        <a:ea typeface="Lucida Grande"/>
        <a:cs typeface="Lucida Grande"/>
        <a:sym typeface="Lucida Grande"/>
      </a:defRPr>
    </a:lvl3pPr>
    <a:lvl4pPr indent="685800" defTabSz="584200" latinLnBrk="0">
      <a:defRPr sz="2200">
        <a:latin typeface="Lucida Grande"/>
        <a:ea typeface="Lucida Grande"/>
        <a:cs typeface="Lucida Grande"/>
        <a:sym typeface="Lucida Grande"/>
      </a:defRPr>
    </a:lvl4pPr>
    <a:lvl5pPr indent="914400" defTabSz="584200" latinLnBrk="0">
      <a:defRPr sz="2200">
        <a:latin typeface="Lucida Grande"/>
        <a:ea typeface="Lucida Grande"/>
        <a:cs typeface="Lucida Grande"/>
        <a:sym typeface="Lucida Grande"/>
      </a:defRPr>
    </a:lvl5pPr>
    <a:lvl6pPr indent="1143000" defTabSz="584200" latinLnBrk="0">
      <a:defRPr sz="2200">
        <a:latin typeface="Lucida Grande"/>
        <a:ea typeface="Lucida Grande"/>
        <a:cs typeface="Lucida Grande"/>
        <a:sym typeface="Lucida Grande"/>
      </a:defRPr>
    </a:lvl6pPr>
    <a:lvl7pPr indent="1371600" defTabSz="584200" latinLnBrk="0">
      <a:defRPr sz="2200">
        <a:latin typeface="Lucida Grande"/>
        <a:ea typeface="Lucida Grande"/>
        <a:cs typeface="Lucida Grande"/>
        <a:sym typeface="Lucida Grande"/>
      </a:defRPr>
    </a:lvl7pPr>
    <a:lvl8pPr indent="1600200" defTabSz="584200" latinLnBrk="0">
      <a:defRPr sz="2200">
        <a:latin typeface="Lucida Grande"/>
        <a:ea typeface="Lucida Grande"/>
        <a:cs typeface="Lucida Grande"/>
        <a:sym typeface="Lucida Grande"/>
      </a:defRPr>
    </a:lvl8pPr>
    <a:lvl9pPr indent="1828800" defTabSz="584200" latinLnBrk="0">
      <a:defRPr sz="2200">
        <a:latin typeface="Lucida Grande"/>
        <a:ea typeface="Lucida Grande"/>
        <a:cs typeface="Lucida Grande"/>
        <a:sym typeface="Lucida Grande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14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4" name="Shape 14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warrant is like an option but offered by company and longer term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16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4" name="Shape 16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</a:t>
            </a:r>
            <a:r>
              <a:rPr baseline="-5999" sz="2100"/>
              <a:t>1</a:t>
            </a:r>
            <a:r>
              <a:rPr sz="2100"/>
              <a:t>=dw/dx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19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3" name="Shape 19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 = price of option</a:t>
            </a:r>
          </a:p>
          <a:p>
            <a:pPr/>
            <a:r>
              <a:t>r = risk-free interest rate</a:t>
            </a:r>
          </a:p>
          <a:p>
            <a:pPr/>
            <a:r>
              <a:t>v = volatility of stock</a:t>
            </a:r>
          </a:p>
          <a:p>
            <a:pPr/>
            <a:r>
              <a:t>x = stock price</a:t>
            </a:r>
          </a:p>
          <a:p>
            <a:pPr/>
            <a:b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>
            <p:ph type="title"/>
          </p:nvPr>
        </p:nvSpPr>
        <p:spPr>
          <a:xfrm>
            <a:off x="1270000" y="254000"/>
            <a:ext cx="10464800" cy="2438400"/>
          </a:xfrm>
          <a:prstGeom prst="rect">
            <a:avLst/>
          </a:prstGeom>
          <a:effectLst>
            <a:outerShdw sx="100000" sy="100000" kx="0" ky="0" algn="b" rotWithShape="0" blurRad="63500" dist="38100" dir="2700000">
              <a:srgbClr val="A6AAA9">
                <a:alpha val="50000"/>
              </a:srgbClr>
            </a:outerShdw>
          </a:effectLst>
        </p:spPr>
        <p:txBody>
          <a:bodyPr/>
          <a:lstStyle>
            <a:lvl1pPr>
              <a:lnSpc>
                <a:spcPct val="90000"/>
              </a:lnSpc>
              <a:defRPr sz="6300"/>
            </a:lvl1pPr>
          </a:lstStyle>
          <a:p>
            <a:pPr>
              <a:defRPr>
                <a:effectLst/>
              </a:defRPr>
            </a:pPr>
            <a:r>
              <a:t>Title Text</a:t>
            </a:r>
          </a:p>
        </p:txBody>
      </p:sp>
      <p:sp>
        <p:nvSpPr>
          <p:cNvPr id="12" name="Shape 12"/>
          <p:cNvSpPr/>
          <p:nvPr>
            <p:ph type="body" idx="1"/>
          </p:nvPr>
        </p:nvSpPr>
        <p:spPr>
          <a:xfrm>
            <a:off x="1270000" y="2768600"/>
            <a:ext cx="10464800" cy="5715000"/>
          </a:xfrm>
          <a:prstGeom prst="rect">
            <a:avLst/>
          </a:prstGeom>
        </p:spPr>
        <p:txBody>
          <a:bodyPr>
            <a:noAutofit/>
          </a:bodyPr>
          <a:lstStyle>
            <a:lvl1pPr marL="889000" indent="-571500">
              <a:lnSpc>
                <a:spcPct val="100000"/>
              </a:lnSpc>
              <a:spcBef>
                <a:spcPts val="2400"/>
              </a:spcBef>
              <a:buSzPct val="120000"/>
              <a:defRPr sz="4200"/>
            </a:lvl1pPr>
            <a:lvl2pPr marL="1333500" indent="-571500">
              <a:lnSpc>
                <a:spcPct val="100000"/>
              </a:lnSpc>
              <a:spcBef>
                <a:spcPts val="2400"/>
              </a:spcBef>
              <a:buSzPct val="120000"/>
              <a:defRPr sz="4200"/>
            </a:lvl2pPr>
            <a:lvl3pPr marL="1778000" indent="-571500">
              <a:lnSpc>
                <a:spcPct val="100000"/>
              </a:lnSpc>
              <a:spcBef>
                <a:spcPts val="2400"/>
              </a:spcBef>
              <a:buSzPct val="120000"/>
              <a:defRPr sz="4200"/>
            </a:lvl3pPr>
            <a:lvl4pPr marL="2222500" indent="-571500">
              <a:lnSpc>
                <a:spcPct val="100000"/>
              </a:lnSpc>
              <a:spcBef>
                <a:spcPts val="2400"/>
              </a:spcBef>
              <a:buSzPct val="120000"/>
              <a:defRPr sz="4200"/>
            </a:lvl4pPr>
            <a:lvl5pPr marL="2667000" indent="-571500">
              <a:lnSpc>
                <a:spcPct val="100000"/>
              </a:lnSpc>
              <a:spcBef>
                <a:spcPts val="2400"/>
              </a:spcBef>
              <a:buSzPct val="120000"/>
              <a:defRPr sz="4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hape 13"/>
          <p:cNvSpPr/>
          <p:nvPr>
            <p:ph type="sldNum" sz="quarter" idx="2"/>
          </p:nvPr>
        </p:nvSpPr>
        <p:spPr>
          <a:xfrm>
            <a:off x="6311763" y="9258300"/>
            <a:ext cx="368574" cy="381000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0000"/>
              </a:lnSpc>
              <a:defRPr b="1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/>
          <p:nvPr>
            <p:ph type="sldNum" sz="quarter" idx="2"/>
          </p:nvPr>
        </p:nvSpPr>
        <p:spPr>
          <a:xfrm>
            <a:off x="6311763" y="9258300"/>
            <a:ext cx="368574" cy="381000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0000"/>
              </a:lnSpc>
              <a:defRPr b="1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7"/>
          <p:cNvSpPr/>
          <p:nvPr>
            <p:ph type="title"/>
          </p:nvPr>
        </p:nvSpPr>
        <p:spPr>
          <a:xfrm>
            <a:off x="1270000" y="254000"/>
            <a:ext cx="10464800" cy="2438400"/>
          </a:xfrm>
          <a:prstGeom prst="rect">
            <a:avLst/>
          </a:prstGeom>
          <a:effectLst>
            <a:outerShdw sx="100000" sy="100000" kx="0" ky="0" algn="b" rotWithShape="0" blurRad="63500" dist="38100" dir="2700000">
              <a:srgbClr val="A6AAA9">
                <a:alpha val="50000"/>
              </a:srgbClr>
            </a:outerShdw>
          </a:effectLst>
        </p:spPr>
        <p:txBody>
          <a:bodyPr/>
          <a:lstStyle>
            <a:lvl1pPr>
              <a:lnSpc>
                <a:spcPct val="90000"/>
              </a:lnSpc>
              <a:defRPr sz="6800"/>
            </a:lvl1pPr>
          </a:lstStyle>
          <a:p>
            <a:pPr>
              <a:defRPr>
                <a:effectLst/>
              </a:defRPr>
            </a:pPr>
            <a:r>
              <a:t>Title Text</a:t>
            </a:r>
          </a:p>
        </p:txBody>
      </p:sp>
      <p:sp>
        <p:nvSpPr>
          <p:cNvPr id="28" name="Shape 28"/>
          <p:cNvSpPr/>
          <p:nvPr>
            <p:ph type="sldNum" sz="quarter" idx="2"/>
          </p:nvPr>
        </p:nvSpPr>
        <p:spPr>
          <a:xfrm>
            <a:off x="6311763" y="9258300"/>
            <a:ext cx="368574" cy="381000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0000"/>
              </a:lnSpc>
              <a:defRPr b="1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6" name="Shape 36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7" name="Shape 37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>
            <p:ph type="title"/>
          </p:nvPr>
        </p:nvSpPr>
        <p:spPr>
          <a:xfrm>
            <a:off x="437232" y="444500"/>
            <a:ext cx="12130336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Shape 3"/>
          <p:cNvSpPr/>
          <p:nvPr>
            <p:ph type="body" idx="1"/>
          </p:nvPr>
        </p:nvSpPr>
        <p:spPr>
          <a:xfrm>
            <a:off x="952500" y="26035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hape 4"/>
          <p:cNvSpPr/>
          <p:nvPr>
            <p:ph type="sldNum" sz="quarter" idx="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normAutofit fontScale="100000" lnSpcReduction="0"/>
          </a:bodyPr>
          <a:lstStyle>
            <a:lvl1pPr>
              <a:lnSpc>
                <a:spcPct val="100000"/>
              </a:lnSpc>
              <a:defRPr b="0" sz="18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</p:sldLayoutIdLst>
  <p:transition xmlns:p14="http://schemas.microsoft.com/office/powerpoint/2010/main" spd="med" advClick="1"/>
  <p:txStyles>
    <p:title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6400" u="none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sx="100000" sy="100000" kx="0" ky="0" algn="b" rotWithShape="0" blurRad="88900" dist="38100" dir="270000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6400" u="none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sx="100000" sy="100000" kx="0" ky="0" algn="b" rotWithShape="0" blurRad="88900" dist="38100" dir="270000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6400" u="none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sx="100000" sy="100000" kx="0" ky="0" algn="b" rotWithShape="0" blurRad="88900" dist="38100" dir="270000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6400" u="none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sx="100000" sy="100000" kx="0" ky="0" algn="b" rotWithShape="0" blurRad="88900" dist="38100" dir="270000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6400" u="none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sx="100000" sy="100000" kx="0" ky="0" algn="b" rotWithShape="0" blurRad="88900" dist="38100" dir="270000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6400" u="none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sx="100000" sy="100000" kx="0" ky="0" algn="b" rotWithShape="0" blurRad="88900" dist="38100" dir="270000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6400" u="none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sx="100000" sy="100000" kx="0" ky="0" algn="b" rotWithShape="0" blurRad="88900" dist="38100" dir="270000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6400" u="none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sx="100000" sy="100000" kx="0" ky="0" algn="b" rotWithShape="0" blurRad="88900" dist="38100" dir="270000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6400" u="none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sx="100000" sy="100000" kx="0" ky="0" algn="b" rotWithShape="0" blurRad="88900" dist="38100" dir="270000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9pPr>
    </p:titleStyle>
    <p:bodyStyle>
      <a:lvl1pPr marL="444500" marR="0" indent="-444500" algn="l" defTabSz="58420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b="1" baseline="0" cap="none" i="0" spc="0" strike="noStrike" sz="36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1pPr>
      <a:lvl2pPr marL="889000" marR="0" indent="-444500" algn="l" defTabSz="58420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b="1" baseline="0" cap="none" i="0" spc="0" strike="noStrike" sz="36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2pPr>
      <a:lvl3pPr marL="1333500" marR="0" indent="-444500" algn="l" defTabSz="58420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b="1" baseline="0" cap="none" i="0" spc="0" strike="noStrike" sz="36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3pPr>
      <a:lvl4pPr marL="1778000" marR="0" indent="-444500" algn="l" defTabSz="58420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b="1" baseline="0" cap="none" i="0" spc="0" strike="noStrike" sz="36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4pPr>
      <a:lvl5pPr marL="2222500" marR="0" indent="-444500" algn="l" defTabSz="58420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b="1" baseline="0" cap="none" i="0" spc="0" strike="noStrike" sz="36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5pPr>
      <a:lvl6pPr marL="2667000" marR="0" indent="-444500" algn="l" defTabSz="58420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b="1" baseline="0" cap="none" i="0" spc="0" strike="noStrike" sz="36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6pPr>
      <a:lvl7pPr marL="3111500" marR="0" indent="-444500" algn="l" defTabSz="58420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b="1" baseline="0" cap="none" i="0" spc="0" strike="noStrike" sz="36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7pPr>
      <a:lvl8pPr marL="3556000" marR="0" indent="-444500" algn="l" defTabSz="58420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b="1" baseline="0" cap="none" i="0" spc="0" strike="noStrike" sz="36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8pPr>
      <a:lvl9pPr marL="4000500" marR="0" indent="-444500" algn="l" defTabSz="58420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b="1" baseline="0" cap="none" i="0" spc="0" strike="noStrike" sz="36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eg"/></Relationships>
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/Relationships>
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/Relationships>
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/Relationships>
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/Relationships>
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effectLst/>
              </a:defRPr>
            </a:pPr>
            <a:r>
              <a:t>Lecture 10: Random Walks</a:t>
            </a:r>
          </a:p>
        </p:txBody>
      </p:sp>
      <p:sp>
        <p:nvSpPr>
          <p:cNvPr id="47" name="Shape 47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Final project details</a:t>
            </a:r>
          </a:p>
          <a:p>
            <a:pPr/>
            <a:r>
              <a:t>Stock Option pricing</a:t>
            </a:r>
          </a:p>
          <a:p>
            <a:pPr/>
            <a:r>
              <a:t>Black–Scholes(–Merton) Equation</a:t>
            </a:r>
          </a:p>
          <a:p>
            <a:pPr/>
            <a:r>
              <a:t>AM cake today in Pierce 307B, 2:30pm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Final project</a:t>
            </a:r>
          </a:p>
        </p:txBody>
      </p:sp>
      <p:sp>
        <p:nvSpPr>
          <p:cNvPr id="50" name="Shape 50"/>
          <p:cNvSpPr/>
          <p:nvPr>
            <p:ph type="body" idx="1"/>
          </p:nvPr>
        </p:nvSpPr>
        <p:spPr>
          <a:xfrm>
            <a:off x="1066800" y="2609850"/>
            <a:ext cx="11099800" cy="6286501"/>
          </a:xfrm>
          <a:prstGeom prst="rect">
            <a:avLst/>
          </a:prstGeom>
        </p:spPr>
        <p:txBody>
          <a:bodyPr/>
          <a:lstStyle/>
          <a:p>
            <a:pPr/>
            <a:r>
              <a:t>Worth 40% of the course grade</a:t>
            </a:r>
          </a:p>
          <a:p>
            <a:pPr/>
            <a:r>
              <a:t>May be done with a partner or individually</a:t>
            </a:r>
          </a:p>
          <a:p>
            <a:pPr/>
            <a:r>
              <a:t>Graded out of eighty points</a:t>
            </a:r>
          </a:p>
          <a:p>
            <a:pPr/>
            <a:r>
              <a:t>Deadline: 5 PM on Friday May 13th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What are we looking for?</a:t>
            </a:r>
          </a:p>
        </p:txBody>
      </p:sp>
      <p:sp>
        <p:nvSpPr>
          <p:cNvPr id="53" name="Shape 53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00050" indent="-400050" defTabSz="525779">
              <a:spcBef>
                <a:spcPts val="2300"/>
              </a:spcBef>
              <a:defRPr sz="3239"/>
            </a:pPr>
            <a:r>
              <a:t>We are looking for you to </a:t>
            </a:r>
            <a:r>
              <a:rPr>
                <a:solidFill>
                  <a:schemeClr val="accent5"/>
                </a:solidFill>
              </a:rPr>
              <a:t>Apply </a:t>
            </a:r>
            <a:r>
              <a:rPr>
                <a:solidFill>
                  <a:schemeClr val="accent1"/>
                </a:solidFill>
              </a:rPr>
              <a:t>Mathematics</a:t>
            </a:r>
            <a:endParaRPr>
              <a:solidFill>
                <a:schemeClr val="accent1"/>
              </a:solidFill>
            </a:endParaRPr>
          </a:p>
          <a:p>
            <a:pPr marL="400050" indent="-400050" defTabSz="525779">
              <a:spcBef>
                <a:spcPts val="2300"/>
              </a:spcBef>
              <a:defRPr sz="3239"/>
            </a:pPr>
            <a:r>
              <a:rPr>
                <a:solidFill>
                  <a:schemeClr val="accent5"/>
                </a:solidFill>
              </a:rPr>
              <a:t>“Apply”</a:t>
            </a:r>
            <a:r>
              <a:t> – we want you consider some real-world question and not just something purely abstract. You should think about how you can mathematically model the real world.</a:t>
            </a:r>
          </a:p>
          <a:p>
            <a:pPr marL="400050" indent="-400050" defTabSz="525779">
              <a:spcBef>
                <a:spcPts val="2300"/>
              </a:spcBef>
              <a:defRPr sz="3239"/>
            </a:pPr>
            <a:r>
              <a:rPr>
                <a:solidFill>
                  <a:schemeClr val="accent1"/>
                </a:solidFill>
              </a:rPr>
              <a:t>“Mathematics” </a:t>
            </a:r>
            <a:r>
              <a:t>– we want your project to have some scope for doing some significant mathematics.</a:t>
            </a:r>
          </a:p>
          <a:p>
            <a:pPr marL="400050" indent="-400050" defTabSz="525779">
              <a:spcBef>
                <a:spcPts val="2300"/>
              </a:spcBef>
              <a:defRPr sz="3239"/>
            </a:pPr>
            <a:r>
              <a:t>Another viewpoint: what question are you trying to answer and why would other people care about it?</a:t>
            </a:r>
          </a:p>
          <a:p>
            <a:pPr marL="400050" indent="-400050" defTabSz="525779">
              <a:spcBef>
                <a:spcPts val="2300"/>
              </a:spcBef>
              <a:defRPr sz="3239"/>
            </a:pPr>
            <a:r>
              <a:t>While many projects involve some programming, purely analytical projects are also allowed.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Length guideline</a:t>
            </a:r>
          </a:p>
        </p:txBody>
      </p:sp>
      <p:sp>
        <p:nvSpPr>
          <p:cNvPr id="56" name="Shape 56"/>
          <p:cNvSpPr/>
          <p:nvPr>
            <p:ph type="body" idx="1"/>
          </p:nvPr>
        </p:nvSpPr>
        <p:spPr>
          <a:xfrm>
            <a:off x="311001" y="2147837"/>
            <a:ext cx="9459516" cy="7210526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1100"/>
              </a:spcBef>
            </a:pPr>
            <a:r>
              <a:t>For text and figures:</a:t>
            </a:r>
          </a:p>
          <a:p>
            <a:pPr lvl="1">
              <a:spcBef>
                <a:spcPts val="1100"/>
              </a:spcBef>
            </a:pPr>
            <a:r>
              <a:t>7 pages for individual project</a:t>
            </a:r>
          </a:p>
          <a:p>
            <a:pPr lvl="1">
              <a:spcBef>
                <a:spcPts val="1100"/>
              </a:spcBef>
            </a:pPr>
            <a:r>
              <a:t>12 pages for pair project</a:t>
            </a:r>
          </a:p>
          <a:p>
            <a:pPr>
              <a:spcBef>
                <a:spcPts val="1100"/>
              </a:spcBef>
            </a:pPr>
            <a:r>
              <a:t>This is a </a:t>
            </a:r>
            <a:r>
              <a:rPr i="1">
                <a:solidFill>
                  <a:schemeClr val="accent1"/>
                </a:solidFill>
              </a:rPr>
              <a:t>highly approximate</a:t>
            </a:r>
            <a:r>
              <a:t> guideline. The exact length is not important. Depending on the topic, some projects may be longer, and some may be shorter. The key issue is how much did you accomplish.</a:t>
            </a:r>
          </a:p>
          <a:p>
            <a:pPr>
              <a:spcBef>
                <a:spcPts val="1100"/>
              </a:spcBef>
            </a:pPr>
            <a:r>
              <a:t>Text should be clear and concise: see </a:t>
            </a:r>
            <a:r>
              <a:rPr i="1"/>
              <a:t>The Elements of Style</a:t>
            </a:r>
            <a:r>
              <a:t> by Strunk, White, and Kalman</a:t>
            </a:r>
          </a:p>
        </p:txBody>
      </p:sp>
      <p:pic>
        <p:nvPicPr>
          <p:cNvPr id="57" name="71BWKVK+ToL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051674" y="5601227"/>
            <a:ext cx="2833432" cy="401952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/>
          <p:nvPr>
            <p:ph type="title"/>
          </p:nvPr>
        </p:nvSpPr>
        <p:spPr>
          <a:xfrm>
            <a:off x="437232" y="254000"/>
            <a:ext cx="12130336" cy="2159000"/>
          </a:xfrm>
          <a:prstGeom prst="rect">
            <a:avLst/>
          </a:prstGeom>
        </p:spPr>
        <p:txBody>
          <a:bodyPr/>
          <a:lstStyle/>
          <a:p>
            <a:pPr/>
            <a:r>
              <a:t>Project proposal</a:t>
            </a:r>
          </a:p>
        </p:txBody>
      </p:sp>
      <p:sp>
        <p:nvSpPr>
          <p:cNvPr id="60" name="Shape 60"/>
          <p:cNvSpPr/>
          <p:nvPr>
            <p:ph type="body" idx="1"/>
          </p:nvPr>
        </p:nvSpPr>
        <p:spPr>
          <a:xfrm>
            <a:off x="952500" y="2179835"/>
            <a:ext cx="11099800" cy="6710165"/>
          </a:xfrm>
          <a:prstGeom prst="rect">
            <a:avLst/>
          </a:prstGeom>
        </p:spPr>
        <p:txBody>
          <a:bodyPr/>
          <a:lstStyle/>
          <a:p>
            <a:pPr marL="360045" indent="-360045" defTabSz="473201">
              <a:spcBef>
                <a:spcPts val="2100"/>
              </a:spcBef>
              <a:defRPr sz="2916"/>
            </a:pPr>
            <a:r>
              <a:t>Consider project ideas over the next few weeks. Your project could relate to one of the topics covered in class, or could be about a completely different subject. Please discuss with the teaching staff.</a:t>
            </a:r>
          </a:p>
          <a:p>
            <a:pPr marL="360045" indent="-360045" defTabSz="473201">
              <a:spcBef>
                <a:spcPts val="2100"/>
              </a:spcBef>
              <a:defRPr sz="2916"/>
            </a:pPr>
            <a:r>
              <a:t>Project proposal due by April 12th at 6 PM, and consists of a half-hour meeting with a member of the teaching staff.</a:t>
            </a:r>
          </a:p>
          <a:p>
            <a:pPr marL="360045" indent="-360045" defTabSz="473201">
              <a:spcBef>
                <a:spcPts val="2100"/>
              </a:spcBef>
              <a:defRPr sz="2916"/>
            </a:pPr>
            <a:r>
              <a:t>May optionally submit a half-page overview of project prior to meeting</a:t>
            </a:r>
          </a:p>
          <a:p>
            <a:pPr marL="360045" indent="-360045" defTabSz="473201">
              <a:spcBef>
                <a:spcPts val="2100"/>
              </a:spcBef>
              <a:defRPr sz="2916"/>
            </a:pPr>
            <a:r>
              <a:t>5 points automatically awarded for doing this.</a:t>
            </a:r>
          </a:p>
          <a:p>
            <a:pPr marL="360045" indent="-360045" defTabSz="473201">
              <a:spcBef>
                <a:spcPts val="2100"/>
              </a:spcBef>
              <a:defRPr sz="2916"/>
            </a:pPr>
            <a:r>
              <a:t>Meetings arranged by appointment. Good days:</a:t>
            </a:r>
          </a:p>
          <a:p>
            <a:pPr lvl="1" marL="720090" indent="-360045" defTabSz="473201">
              <a:spcBef>
                <a:spcPts val="2100"/>
              </a:spcBef>
              <a:defRPr sz="2916"/>
            </a:pPr>
            <a:r>
              <a:t>Chris: 3/21, 3/22, 3/28, 3/29, 3/30, 3/31, 4/4, 4/5, 4/11, 4/12</a:t>
            </a:r>
          </a:p>
          <a:p>
            <a:pPr lvl="1" marL="720090" indent="-360045" defTabSz="473201">
              <a:spcBef>
                <a:spcPts val="2100"/>
              </a:spcBef>
              <a:defRPr sz="2916"/>
            </a:pPr>
            <a:r>
              <a:t>Bryan and Kundan: TBA</a:t>
            </a:r>
          </a:p>
        </p:txBody>
      </p:sp>
      <p:sp>
        <p:nvSpPr>
          <p:cNvPr id="61" name="Shape 61"/>
          <p:cNvSpPr/>
          <p:nvPr/>
        </p:nvSpPr>
        <p:spPr>
          <a:xfrm>
            <a:off x="92373" y="9309100"/>
            <a:ext cx="380350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2000"/>
            </a:lvl1pPr>
          </a:lstStyle>
          <a:p>
            <a:pPr/>
            <a:r>
              <a:t>Note: Chris is away April 7–10.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Grading breakdown: content</a:t>
            </a:r>
          </a:p>
        </p:txBody>
      </p:sp>
      <p:graphicFrame>
        <p:nvGraphicFramePr>
          <p:cNvPr id="64" name="Table 64"/>
          <p:cNvGraphicFramePr/>
          <p:nvPr/>
        </p:nvGraphicFramePr>
        <p:xfrm>
          <a:off x="862322" y="2264246"/>
          <a:ext cx="11292856" cy="6373388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401137"/>
                <a:gridCol w="2879017"/>
              </a:tblGrid>
              <a:tr h="937743">
                <a:tc>
                  <a:txBody>
                    <a:bodyPr/>
                    <a:lstStyle/>
                    <a:p>
                      <a:pPr defTabSz="914400"/>
                      <a:r>
                        <a:rPr b="1" sz="21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Topic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21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Points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</a:tr>
              <a:tr h="937743">
                <a:tc>
                  <a:txBody>
                    <a:bodyPr/>
                    <a:lstStyle/>
                    <a:p>
                      <a:pPr defTabSz="914400"/>
                      <a:r>
                        <a:rPr b="1" sz="21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Project proposal completed by April 12th, 6 PM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21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5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</a:tr>
              <a:tr h="1366078">
                <a:tc>
                  <a:txBody>
                    <a:bodyPr/>
                    <a:lstStyle/>
                    <a:p>
                      <a:pPr defTabSz="914400">
                        <a:defRPr b="1" sz="2100"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  <a:r>
                        <a:t>Project motivation: </a:t>
                      </a:r>
                      <a:r>
                        <a:t>what problem are you trying to solve? What has been done before in this area? If appropriate, cite any relevant books and papers.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21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10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</a:tr>
              <a:tr h="1559560">
                <a:tc>
                  <a:txBody>
                    <a:bodyPr/>
                    <a:lstStyle/>
                    <a:p>
                      <a:pPr defTabSz="914400">
                        <a:defRPr b="1" sz="2100"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  <a:r>
                        <a:t>Project methods and results: </a:t>
                      </a:r>
                      <a:r>
                        <a:t>what mathematics and/or code did you develop for your problem? Where appropriate, did you consider mathematical analyses of your approach? Is the mathematics/code that you developed correct?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21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26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</a:tr>
              <a:tr h="1559560">
                <a:tc>
                  <a:txBody>
                    <a:bodyPr/>
                    <a:lstStyle/>
                    <a:p>
                      <a:pPr defTabSz="914400">
                        <a:defRPr b="1" sz="2100"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  <a:r>
                        <a:t>Project conclusions: </a:t>
                      </a:r>
                      <a:r>
                        <a:t>did you solve what you set out to do? What are possible limitations and problems with your approach? How you could you develop the project further?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21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9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</a:tr>
            </a:tbl>
          </a:graphicData>
        </a:graphic>
      </p:graphicFrame>
      <p:sp>
        <p:nvSpPr>
          <p:cNvPr id="65" name="Shape 65"/>
          <p:cNvSpPr/>
          <p:nvPr/>
        </p:nvSpPr>
        <p:spPr>
          <a:xfrm>
            <a:off x="7078104" y="8832850"/>
            <a:ext cx="5973292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/>
            </a:lvl1pPr>
          </a:lstStyle>
          <a:p>
            <a:pPr/>
            <a:r>
              <a:t>Total for content: 50 points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67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Grading breakdown: style</a:t>
            </a:r>
          </a:p>
        </p:txBody>
      </p:sp>
      <p:graphicFrame>
        <p:nvGraphicFramePr>
          <p:cNvPr id="68" name="Table 68"/>
          <p:cNvGraphicFramePr/>
          <p:nvPr/>
        </p:nvGraphicFramePr>
        <p:xfrm>
          <a:off x="3148496" y="2696046"/>
          <a:ext cx="6720508" cy="4065167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4995783"/>
                <a:gridCol w="1712024"/>
              </a:tblGrid>
              <a:tr h="1013116">
                <a:tc>
                  <a:txBody>
                    <a:bodyPr/>
                    <a:lstStyle/>
                    <a:p>
                      <a:pPr defTabSz="914400"/>
                      <a:r>
                        <a:rPr b="1" sz="21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Topic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21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Points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</a:tr>
              <a:tr h="1013116">
                <a:tc>
                  <a:txBody>
                    <a:bodyPr/>
                    <a:lstStyle/>
                    <a:p>
                      <a:pPr defTabSz="914400"/>
                      <a:r>
                        <a:rPr b="1" sz="21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Written material: clear, correct grammar and spelling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 rowSpan="3">
                  <a:txBody>
                    <a:bodyPr/>
                    <a:lstStyle/>
                    <a:p>
                      <a:pPr defTabSz="914400"/>
                      <a:r>
                        <a:rPr b="1" sz="21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30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</a:tr>
              <a:tr h="1013116">
                <a:tc>
                  <a:txBody>
                    <a:bodyPr/>
                    <a:lstStyle/>
                    <a:p>
                      <a:pPr defTabSz="914400"/>
                      <a:r>
                        <a:rPr b="1" sz="21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Figures (if any): clear, properly labeled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 vMerge="1">
                  <a:tcPr/>
                </a:tc>
              </a:tr>
              <a:tr h="1013116">
                <a:tc>
                  <a:txBody>
                    <a:bodyPr/>
                    <a:lstStyle/>
                    <a:p>
                      <a:pPr defTabSz="914400"/>
                      <a:r>
                        <a:rPr b="1" sz="21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Code listings (if any): clear, well commented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 vMerge="1">
                  <a:tcPr/>
                </a:tc>
              </a:tr>
            </a:tbl>
          </a:graphicData>
        </a:graphic>
      </p:graphicFrame>
      <p:sp>
        <p:nvSpPr>
          <p:cNvPr id="69" name="Shape 69"/>
          <p:cNvSpPr/>
          <p:nvPr/>
        </p:nvSpPr>
        <p:spPr>
          <a:xfrm>
            <a:off x="7554006" y="7118350"/>
            <a:ext cx="5364511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>
              <a:defRPr sz="3600"/>
            </a:lvl1pPr>
          </a:lstStyle>
          <a:p>
            <a:pPr/>
            <a:r>
              <a:t>Total for style: 30 points</a:t>
            </a:r>
          </a:p>
        </p:txBody>
      </p:sp>
      <p:sp>
        <p:nvSpPr>
          <p:cNvPr id="70" name="Shape 70"/>
          <p:cNvSpPr/>
          <p:nvPr/>
        </p:nvSpPr>
        <p:spPr>
          <a:xfrm>
            <a:off x="4434252" y="9023350"/>
            <a:ext cx="8484544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>
              <a:defRPr sz="3600"/>
            </a:lvl1pPr>
          </a:lstStyle>
          <a:p>
            <a:pPr/>
            <a:r>
              <a:t>Grand total (content + style): 80 points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Rough guideline for layout</a:t>
            </a:r>
          </a:p>
        </p:txBody>
      </p:sp>
      <p:sp>
        <p:nvSpPr>
          <p:cNvPr id="73" name="Shape 73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55600" indent="-355600" defTabSz="467359">
              <a:spcBef>
                <a:spcPts val="2000"/>
              </a:spcBef>
              <a:defRPr sz="2880"/>
            </a:pPr>
            <a:r>
              <a:t>Abstract:</a:t>
            </a:r>
            <a:r>
              <a:t> a short, concise summary of your paper</a:t>
            </a:r>
          </a:p>
          <a:p>
            <a:pPr marL="355600" indent="-355600" defTabSz="467359">
              <a:spcBef>
                <a:spcPts val="2000"/>
              </a:spcBef>
              <a:defRPr sz="2880"/>
            </a:pPr>
            <a:r>
              <a:t>Introduction:</a:t>
            </a:r>
            <a:r>
              <a:t> background information about your project and your original motivation. References to any relevant papers.</a:t>
            </a:r>
          </a:p>
          <a:p>
            <a:pPr marL="355600" indent="-355600" defTabSz="467359">
              <a:spcBef>
                <a:spcPts val="2000"/>
              </a:spcBef>
              <a:defRPr sz="2880"/>
            </a:pPr>
            <a:r>
              <a:t>Methods:</a:t>
            </a:r>
            <a:r>
              <a:rPr b="0"/>
              <a:t> </a:t>
            </a:r>
            <a:r>
              <a:t>description of all of the methods (mathematics, coding, </a:t>
            </a:r>
            <a:r>
              <a:rPr i="1"/>
              <a:t>etc.</a:t>
            </a:r>
            <a:r>
              <a:t>) that you used</a:t>
            </a:r>
          </a:p>
          <a:p>
            <a:pPr marL="355600" indent="-355600" defTabSz="467359">
              <a:spcBef>
                <a:spcPts val="2000"/>
              </a:spcBef>
              <a:defRPr sz="2880"/>
            </a:pPr>
            <a:r>
              <a:t>Results and discussion: </a:t>
            </a:r>
            <a:r>
              <a:t>Explain your results, including your graphs, why they are important and why we should care. Critically examine the quality of your results and the quality of your models.</a:t>
            </a:r>
          </a:p>
          <a:p>
            <a:pPr marL="355600" indent="-355600" defTabSz="467359">
              <a:spcBef>
                <a:spcPts val="2000"/>
              </a:spcBef>
              <a:defRPr sz="2880"/>
            </a:pPr>
            <a:r>
              <a:t>Conclusion: </a:t>
            </a:r>
            <a:r>
              <a:t>a quick round-up of the main points that you learned, plus possible future work</a:t>
            </a:r>
          </a:p>
          <a:p>
            <a:pPr marL="355600" indent="-355600" defTabSz="467359">
              <a:spcBef>
                <a:spcPts val="2000"/>
              </a:spcBef>
              <a:defRPr sz="2880"/>
            </a:pPr>
            <a:r>
              <a:t>References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/>
          <p:nvPr>
            <p:ph type="title"/>
          </p:nvPr>
        </p:nvSpPr>
        <p:spPr>
          <a:xfrm>
            <a:off x="723900" y="254000"/>
            <a:ext cx="11557000" cy="2438400"/>
          </a:xfrm>
          <a:prstGeom prst="rect">
            <a:avLst/>
          </a:prstGeom>
        </p:spPr>
        <p:txBody>
          <a:bodyPr/>
          <a:lstStyle>
            <a:lvl1pPr>
              <a:defRPr sz="6600"/>
            </a:lvl1pPr>
          </a:lstStyle>
          <a:p>
            <a:pPr>
              <a:defRPr>
                <a:effectLst/>
              </a:defRPr>
            </a:pPr>
            <a:r>
              <a:t>Option Pricing</a:t>
            </a:r>
          </a:p>
        </p:txBody>
      </p:sp>
      <p:pic>
        <p:nvPicPr>
          <p:cNvPr id="76" name="dropped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406900" y="2082800"/>
            <a:ext cx="9156700" cy="4851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77" name="droppedImag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787900" y="6652841"/>
            <a:ext cx="8534400" cy="2937617"/>
          </a:xfrm>
          <a:prstGeom prst="rect">
            <a:avLst/>
          </a:prstGeom>
          <a:ln w="12700">
            <a:miter lim="400000"/>
          </a:ln>
        </p:spPr>
      </p:pic>
      <p:pic>
        <p:nvPicPr>
          <p:cNvPr id="78" name="droppedImage.pdf"/>
          <p:cNvPicPr>
            <a:picLocks noChangeAspect="1"/>
          </p:cNvPicPr>
          <p:nvPr/>
        </p:nvPicPr>
        <p:blipFill>
          <a:blip r:embed="rId4">
            <a:extLst/>
          </a:blip>
          <a:srcRect l="3642" t="43399" r="53752" b="2000"/>
          <a:stretch>
            <a:fillRect/>
          </a:stretch>
        </p:blipFill>
        <p:spPr>
          <a:xfrm>
            <a:off x="139700" y="4508500"/>
            <a:ext cx="4650806" cy="3289300"/>
          </a:xfrm>
          <a:prstGeom prst="rect">
            <a:avLst/>
          </a:prstGeom>
          <a:ln w="12700">
            <a:miter lim="400000"/>
          </a:ln>
        </p:spPr>
      </p:pic>
      <p:sp>
        <p:nvSpPr>
          <p:cNvPr id="79" name="Shape 79"/>
          <p:cNvSpPr/>
          <p:nvPr/>
        </p:nvSpPr>
        <p:spPr>
          <a:xfrm>
            <a:off x="4792619" y="3498850"/>
            <a:ext cx="1300907" cy="736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1973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/>
          <p:nvPr>
            <p:ph type="title"/>
          </p:nvPr>
        </p:nvSpPr>
        <p:spPr>
          <a:xfrm>
            <a:off x="723900" y="254000"/>
            <a:ext cx="11557000" cy="2438400"/>
          </a:xfrm>
          <a:prstGeom prst="rect">
            <a:avLst/>
          </a:prstGeom>
        </p:spPr>
        <p:txBody>
          <a:bodyPr/>
          <a:lstStyle>
            <a:lvl1pPr>
              <a:defRPr sz="6400"/>
            </a:lvl1pPr>
          </a:lstStyle>
          <a:p>
            <a:pPr>
              <a:defRPr>
                <a:effectLst/>
              </a:defRPr>
            </a:pPr>
            <a:r>
              <a:t>Jargon</a:t>
            </a:r>
          </a:p>
        </p:txBody>
      </p:sp>
      <p:sp>
        <p:nvSpPr>
          <p:cNvPr id="82" name="Shape 82"/>
          <p:cNvSpPr/>
          <p:nvPr>
            <p:ph type="body" idx="1"/>
          </p:nvPr>
        </p:nvSpPr>
        <p:spPr>
          <a:xfrm>
            <a:off x="641350" y="2311400"/>
            <a:ext cx="11722100" cy="6756400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 marL="0" indent="266700" defTabSz="490727">
              <a:spcBef>
                <a:spcPts val="2000"/>
              </a:spcBef>
              <a:buSzTx/>
              <a:buNone/>
              <a:defRPr sz="3696"/>
            </a:pPr>
            <a:r>
              <a:rPr>
                <a:solidFill>
                  <a:schemeClr val="accent1"/>
                </a:solidFill>
              </a:rPr>
              <a:t>Stock</a:t>
            </a:r>
            <a:r>
              <a:t> –</a:t>
            </a:r>
            <a:r>
              <a:t> share of a company</a:t>
            </a:r>
          </a:p>
          <a:p>
            <a:pPr marL="0" indent="266700" defTabSz="490727">
              <a:spcBef>
                <a:spcPts val="2000"/>
              </a:spcBef>
              <a:buSzTx/>
              <a:buNone/>
              <a:defRPr sz="3696"/>
            </a:pPr>
            <a:r>
              <a:rPr>
                <a:solidFill>
                  <a:schemeClr val="accent1"/>
                </a:solidFill>
              </a:rPr>
              <a:t>Derivative</a:t>
            </a:r>
            <a:r>
              <a:t> – broad financial term to describe financial instrument whose value is derived from that of other assets, </a:t>
            </a:r>
            <a:r>
              <a:rPr i="1"/>
              <a:t>e.g.</a:t>
            </a:r>
          </a:p>
          <a:p>
            <a:pPr lvl="1" marL="1559051" indent="-416051" defTabSz="490727">
              <a:spcBef>
                <a:spcPts val="2000"/>
              </a:spcBef>
              <a:buSzPct val="100000"/>
              <a:defRPr sz="3696"/>
            </a:pPr>
            <a:r>
              <a:t>stocks</a:t>
            </a:r>
          </a:p>
          <a:p>
            <a:pPr lvl="1" marL="1559051" indent="-416051" defTabSz="490727">
              <a:spcBef>
                <a:spcPts val="2000"/>
              </a:spcBef>
              <a:buSzPct val="100000"/>
              <a:defRPr sz="3696"/>
            </a:pPr>
            <a:r>
              <a:t>bonds</a:t>
            </a:r>
          </a:p>
          <a:p>
            <a:pPr lvl="1" marL="1559051" indent="-416051" defTabSz="490727">
              <a:spcBef>
                <a:spcPts val="2000"/>
              </a:spcBef>
              <a:buSzPct val="100000"/>
              <a:defRPr sz="3696"/>
            </a:pPr>
            <a:r>
              <a:t>commodities (oil prices)</a:t>
            </a:r>
          </a:p>
          <a:p>
            <a:pPr lvl="1" marL="1559051" indent="-416051" defTabSz="490727">
              <a:spcBef>
                <a:spcPts val="2000"/>
              </a:spcBef>
              <a:buSzPct val="100000"/>
              <a:defRPr sz="3696"/>
            </a:pPr>
            <a:r>
              <a:t>other indices (weather, </a:t>
            </a:r>
            <a:r>
              <a:rPr i="1"/>
              <a:t>etc.</a:t>
            </a:r>
            <a:r>
              <a:t>)</a:t>
            </a:r>
          </a:p>
          <a:p>
            <a:pPr marL="0" indent="266700" defTabSz="490727">
              <a:spcBef>
                <a:spcPts val="2000"/>
              </a:spcBef>
              <a:buSzTx/>
              <a:buNone/>
              <a:defRPr sz="3696"/>
            </a:pPr>
            <a:r>
              <a:t>Primarily used for managing risk, or hedging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/>
          <p:nvPr>
            <p:ph type="title"/>
          </p:nvPr>
        </p:nvSpPr>
        <p:spPr>
          <a:xfrm>
            <a:off x="723900" y="254000"/>
            <a:ext cx="11557000" cy="2438400"/>
          </a:xfrm>
          <a:prstGeom prst="rect">
            <a:avLst/>
          </a:prstGeom>
        </p:spPr>
        <p:txBody>
          <a:bodyPr/>
          <a:lstStyle>
            <a:lvl1pPr>
              <a:defRPr sz="6000"/>
            </a:lvl1pPr>
          </a:lstStyle>
          <a:p>
            <a:pPr>
              <a:defRPr>
                <a:effectLst/>
              </a:defRPr>
            </a:pPr>
            <a:r>
              <a:t>Jargon</a:t>
            </a:r>
          </a:p>
        </p:txBody>
      </p:sp>
      <p:sp>
        <p:nvSpPr>
          <p:cNvPr id="85" name="Shape 85"/>
          <p:cNvSpPr/>
          <p:nvPr>
            <p:ph type="body" idx="1"/>
          </p:nvPr>
        </p:nvSpPr>
        <p:spPr>
          <a:xfrm>
            <a:off x="282227" y="2768600"/>
            <a:ext cx="12081223" cy="6210300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 marL="0" indent="228600" defTabSz="420624">
              <a:spcBef>
                <a:spcPts val="1700"/>
              </a:spcBef>
              <a:buSzTx/>
              <a:buNone/>
              <a:defRPr sz="3168"/>
            </a:pPr>
            <a:r>
              <a:rPr>
                <a:solidFill>
                  <a:schemeClr val="accent1"/>
                </a:solidFill>
              </a:rPr>
              <a:t>Call option</a:t>
            </a:r>
            <a:r>
              <a:t> – </a:t>
            </a:r>
            <a:r>
              <a:t>The right, but not the obligation, to </a:t>
            </a:r>
            <a:r>
              <a:rPr>
                <a:solidFill>
                  <a:schemeClr val="accent4"/>
                </a:solidFill>
              </a:rPr>
              <a:t>buy</a:t>
            </a:r>
            <a:r>
              <a:rPr>
                <a:solidFill>
                  <a:schemeClr val="accent4"/>
                </a:solidFill>
              </a:rPr>
              <a:t> </a:t>
            </a:r>
            <a:r>
              <a:rPr>
                <a:solidFill>
                  <a:schemeClr val="accent4"/>
                </a:solidFill>
              </a:rPr>
              <a:t>some asset</a:t>
            </a:r>
            <a:r>
              <a:t> in the future at a fixed price that is agreed upon today, called the </a:t>
            </a:r>
            <a:r>
              <a:t>strike </a:t>
            </a:r>
            <a:r>
              <a:t>or</a:t>
            </a:r>
            <a:r>
              <a:t> exercise price</a:t>
            </a:r>
            <a:r>
              <a:t>.</a:t>
            </a:r>
          </a:p>
          <a:p>
            <a:pPr marL="0" indent="228600" defTabSz="420624">
              <a:spcBef>
                <a:spcPts val="1700"/>
              </a:spcBef>
              <a:buSzTx/>
              <a:buNone/>
              <a:defRPr sz="3168"/>
            </a:pPr>
            <a:r>
              <a:rPr>
                <a:solidFill>
                  <a:schemeClr val="accent1"/>
                </a:solidFill>
              </a:rPr>
              <a:t>Put option</a:t>
            </a:r>
            <a:r>
              <a:t> – </a:t>
            </a:r>
            <a:r>
              <a:t>The right, but not the obligation to </a:t>
            </a:r>
            <a:r>
              <a:rPr>
                <a:solidFill>
                  <a:schemeClr val="accent4"/>
                </a:solidFill>
              </a:rPr>
              <a:t>sell an asset</a:t>
            </a:r>
            <a:r>
              <a:t> in the future at a price determined today.</a:t>
            </a:r>
          </a:p>
          <a:p>
            <a:pPr marL="0" indent="228600" defTabSz="420624">
              <a:spcBef>
                <a:spcPts val="1700"/>
              </a:spcBef>
              <a:buSzTx/>
              <a:buNone/>
              <a:defRPr sz="3168"/>
            </a:pPr>
          </a:p>
          <a:p>
            <a:pPr marL="0" indent="228600" defTabSz="420624">
              <a:spcBef>
                <a:spcPts val="1700"/>
              </a:spcBef>
              <a:buSzTx/>
              <a:buNone/>
              <a:defRPr sz="3168"/>
            </a:pPr>
            <a:r>
              <a:t>The person </a:t>
            </a:r>
            <a:r>
              <a:rPr>
                <a:solidFill>
                  <a:schemeClr val="accent4"/>
                </a:solidFill>
              </a:rPr>
              <a:t>buying the option</a:t>
            </a:r>
            <a:r>
              <a:t> is said to be in a </a:t>
            </a:r>
            <a:r>
              <a:rPr i="1"/>
              <a:t>long</a:t>
            </a:r>
            <a:r>
              <a:t> position: if they keep the option they won’t make money for a while. </a:t>
            </a:r>
          </a:p>
          <a:p>
            <a:pPr marL="0" indent="228600" defTabSz="420624">
              <a:spcBef>
                <a:spcPts val="1700"/>
              </a:spcBef>
              <a:buSzTx/>
              <a:buNone/>
              <a:defRPr sz="3168"/>
            </a:pPr>
            <a:r>
              <a:t>The person </a:t>
            </a:r>
            <a:r>
              <a:rPr>
                <a:solidFill>
                  <a:schemeClr val="accent4"/>
                </a:solidFill>
              </a:rPr>
              <a:t>selling the option</a:t>
            </a:r>
            <a:r>
              <a:t> is said to be in a </a:t>
            </a:r>
            <a:r>
              <a:rPr i="1"/>
              <a:t>short</a:t>
            </a:r>
            <a:r>
              <a:t> position.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85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9"/>
          <p:cNvGrpSpPr/>
          <p:nvPr/>
        </p:nvGrpSpPr>
        <p:grpSpPr>
          <a:xfrm>
            <a:off x="88900" y="2201811"/>
            <a:ext cx="12839700" cy="5616678"/>
            <a:chOff x="0" y="0"/>
            <a:chExt cx="12839700" cy="5616676"/>
          </a:xfrm>
        </p:grpSpPr>
        <p:pic>
          <p:nvPicPr>
            <p:cNvPr id="88" name="droppedImage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215900" y="139700"/>
              <a:ext cx="12407900" cy="5057877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87" name="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12839700" cy="5616677"/>
            </a:xfrm>
            <a:prstGeom prst="rect">
              <a:avLst/>
            </a:prstGeom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title"/>
          </p:nvPr>
        </p:nvSpPr>
        <p:spPr>
          <a:xfrm>
            <a:off x="723900" y="254000"/>
            <a:ext cx="11557000" cy="2438400"/>
          </a:xfrm>
          <a:prstGeom prst="rect">
            <a:avLst/>
          </a:prstGeom>
        </p:spPr>
        <p:txBody>
          <a:bodyPr/>
          <a:lstStyle>
            <a:lvl1pPr>
              <a:defRPr sz="6000"/>
            </a:lvl1pPr>
          </a:lstStyle>
          <a:p>
            <a:pPr>
              <a:defRPr>
                <a:effectLst/>
              </a:defRPr>
            </a:pPr>
            <a:r>
              <a:t>Jargon</a:t>
            </a:r>
          </a:p>
        </p:txBody>
      </p:sp>
      <p:sp>
        <p:nvSpPr>
          <p:cNvPr id="92" name="Shape 92"/>
          <p:cNvSpPr/>
          <p:nvPr/>
        </p:nvSpPr>
        <p:spPr>
          <a:xfrm>
            <a:off x="66104" y="4159250"/>
            <a:ext cx="12872592" cy="1968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/>
            </a:lvl1pPr>
          </a:lstStyle>
          <a:p>
            <a:pPr/>
            <a:r>
              <a:t>5 Minute Break – Explain the jargon to your neighbor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/>
          <p:nvPr>
            <p:ph type="title"/>
          </p:nvPr>
        </p:nvSpPr>
        <p:spPr>
          <a:xfrm>
            <a:off x="723900" y="254000"/>
            <a:ext cx="11557000" cy="1219200"/>
          </a:xfrm>
          <a:prstGeom prst="rect">
            <a:avLst/>
          </a:prstGeom>
        </p:spPr>
        <p:txBody>
          <a:bodyPr/>
          <a:lstStyle>
            <a:lvl1pPr>
              <a:defRPr sz="6000"/>
            </a:lvl1pPr>
          </a:lstStyle>
          <a:p>
            <a:pPr>
              <a:defRPr>
                <a:effectLst/>
              </a:defRPr>
            </a:pPr>
            <a:r>
              <a:t>Example – Call Option</a:t>
            </a:r>
          </a:p>
        </p:txBody>
      </p:sp>
      <p:sp>
        <p:nvSpPr>
          <p:cNvPr id="95" name="Shape 95"/>
          <p:cNvSpPr/>
          <p:nvPr>
            <p:ph type="body" idx="1"/>
          </p:nvPr>
        </p:nvSpPr>
        <p:spPr>
          <a:xfrm>
            <a:off x="336550" y="1568450"/>
            <a:ext cx="12331700" cy="7467600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 marL="709748" indent="-404948" defTabSz="560831">
              <a:spcBef>
                <a:spcPts val="2300"/>
              </a:spcBef>
              <a:defRPr sz="2976"/>
            </a:pPr>
            <a:r>
              <a:t>You have a June call option for Microsoft with a strike price of $30 for 100 shares. If the price today is $20 and it rises to $40, would you exercise your option?</a:t>
            </a:r>
          </a:p>
          <a:p>
            <a:pPr lvl="1" marL="1136468" indent="-404948" defTabSz="560831">
              <a:spcBef>
                <a:spcPts val="2300"/>
              </a:spcBef>
              <a:defRPr sz="2976"/>
            </a:pPr>
            <a:r>
              <a:rPr>
                <a:solidFill>
                  <a:schemeClr val="accent2"/>
                </a:solidFill>
              </a:rPr>
              <a:t>Yes</a:t>
            </a:r>
            <a:r>
              <a:t>, you would exercise your call option and buy Microsoft stock for $30, earning $10 in profit</a:t>
            </a:r>
          </a:p>
          <a:p>
            <a:pPr lvl="1" marL="1136468" indent="-404948" defTabSz="560831">
              <a:spcBef>
                <a:spcPts val="2300"/>
              </a:spcBef>
              <a:defRPr sz="2976"/>
            </a:pPr>
            <a:r>
              <a:t>The seller writes the call option contract and the owner (buyer of contract) has the option to buy the said stock at the given value</a:t>
            </a:r>
          </a:p>
          <a:p>
            <a:pPr lvl="1" marL="1136468" indent="-404948" defTabSz="560831">
              <a:spcBef>
                <a:spcPts val="2300"/>
              </a:spcBef>
              <a:defRPr sz="2976"/>
            </a:pPr>
            <a:r>
              <a:t>Note: seller is required to sell, but buyer isn’t required to buy</a:t>
            </a:r>
          </a:p>
          <a:p>
            <a:pPr lvl="1" marL="1136468" indent="-404948" defTabSz="560831">
              <a:spcBef>
                <a:spcPts val="2300"/>
              </a:spcBef>
              <a:defRPr sz="2976"/>
            </a:pPr>
            <a:r>
              <a:t>The seller must give the buyer 10 dollars</a:t>
            </a:r>
          </a:p>
          <a:p>
            <a:pPr marL="709748" indent="-404948" defTabSz="560831">
              <a:spcBef>
                <a:spcPts val="2300"/>
              </a:spcBef>
              <a:defRPr sz="2976"/>
            </a:pPr>
            <a:r>
              <a:t>Hence, the option contract costs money; the price depends on the strike price, the length of time, risk, </a:t>
            </a:r>
            <a:r>
              <a:rPr i="1"/>
              <a:t>etc. 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95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/>
          <p:nvPr>
            <p:ph type="title"/>
          </p:nvPr>
        </p:nvSpPr>
        <p:spPr>
          <a:xfrm>
            <a:off x="723900" y="254000"/>
            <a:ext cx="11557000" cy="2438400"/>
          </a:xfrm>
          <a:prstGeom prst="rect">
            <a:avLst/>
          </a:prstGeom>
        </p:spPr>
        <p:txBody>
          <a:bodyPr/>
          <a:lstStyle>
            <a:lvl1pPr>
              <a:defRPr sz="6000"/>
            </a:lvl1pPr>
          </a:lstStyle>
          <a:p>
            <a:pPr>
              <a:defRPr>
                <a:effectLst/>
              </a:defRPr>
            </a:pPr>
            <a:r>
              <a:t>Option Pricing</a:t>
            </a:r>
          </a:p>
        </p:txBody>
      </p:sp>
      <p:sp>
        <p:nvSpPr>
          <p:cNvPr id="98" name="Shape 98"/>
          <p:cNvSpPr/>
          <p:nvPr>
            <p:ph type="body" idx="1"/>
          </p:nvPr>
        </p:nvSpPr>
        <p:spPr>
          <a:xfrm>
            <a:off x="476250" y="2768600"/>
            <a:ext cx="12052300" cy="5715000"/>
          </a:xfrm>
          <a:prstGeom prst="rect">
            <a:avLst/>
          </a:prstGeom>
        </p:spPr>
        <p:txBody>
          <a:bodyPr/>
          <a:lstStyle/>
          <a:p>
            <a:pPr/>
            <a:r>
              <a:t>Note the option is an insurance contract. The question of valuing options is really thus the question of how much to charge for insurance.</a:t>
            </a:r>
          </a:p>
          <a:p>
            <a:pPr/>
            <a:r>
              <a:t>How do we value this?  </a:t>
            </a:r>
          </a:p>
          <a:p>
            <a:pPr/>
            <a:r>
              <a:t>We do not know what is going to happen to the stock price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98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/>
          <p:nvPr>
            <p:ph type="title"/>
          </p:nvPr>
        </p:nvSpPr>
        <p:spPr>
          <a:xfrm>
            <a:off x="723900" y="254000"/>
            <a:ext cx="11557000" cy="1219200"/>
          </a:xfrm>
          <a:prstGeom prst="rect">
            <a:avLst/>
          </a:prstGeom>
        </p:spPr>
        <p:txBody>
          <a:bodyPr/>
          <a:lstStyle>
            <a:lvl1pPr>
              <a:defRPr sz="6000"/>
            </a:lvl1pPr>
          </a:lstStyle>
          <a:p>
            <a:pPr>
              <a:defRPr>
                <a:effectLst/>
              </a:defRPr>
            </a:pPr>
            <a:r>
              <a:t>Example – Call Option</a:t>
            </a:r>
          </a:p>
        </p:txBody>
      </p:sp>
      <p:sp>
        <p:nvSpPr>
          <p:cNvPr id="101" name="Shape 101"/>
          <p:cNvSpPr/>
          <p:nvPr>
            <p:ph type="body" sz="quarter" idx="1"/>
          </p:nvPr>
        </p:nvSpPr>
        <p:spPr>
          <a:xfrm>
            <a:off x="407838" y="1619250"/>
            <a:ext cx="12189124" cy="1624559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marL="0" indent="0">
              <a:buSzTx/>
              <a:buNone/>
              <a:defRPr sz="3000"/>
            </a:lvl1pPr>
          </a:lstStyle>
          <a:p>
            <a:pPr/>
            <a:r>
              <a:t>You have a June call option for Microsoft with a strike price of $30 for 100 shares. If the price today is $20 and it rises to $40, would you exercise your option?</a:t>
            </a:r>
          </a:p>
        </p:txBody>
      </p:sp>
      <p:sp>
        <p:nvSpPr>
          <p:cNvPr id="102" name="Shape 102"/>
          <p:cNvSpPr/>
          <p:nvPr/>
        </p:nvSpPr>
        <p:spPr>
          <a:xfrm>
            <a:off x="1635528" y="4154805"/>
            <a:ext cx="9733744" cy="2053591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spcBef>
                <a:spcPts val="1800"/>
              </a:spcBef>
              <a:defRPr sz="3600">
                <a:solidFill>
                  <a:schemeClr val="accent6"/>
                </a:solidFill>
              </a:defRPr>
            </a:pPr>
            <a:r>
              <a:t>How much should you charge for the option?</a:t>
            </a:r>
          </a:p>
          <a:p>
            <a:pPr>
              <a:spcBef>
                <a:spcPts val="1200"/>
              </a:spcBef>
              <a:defRPr sz="3100"/>
            </a:pPr>
            <a:r>
              <a:t>5 Minute Break (Solve this problem with your neighbor)</a:t>
            </a:r>
          </a:p>
        </p:txBody>
      </p:sp>
      <p:sp>
        <p:nvSpPr>
          <p:cNvPr id="103" name="Shape 103"/>
          <p:cNvSpPr/>
          <p:nvPr/>
        </p:nvSpPr>
        <p:spPr>
          <a:xfrm>
            <a:off x="406905" y="6070599"/>
            <a:ext cx="12190990" cy="335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lvl="1" indent="0" algn="l">
              <a:lnSpc>
                <a:spcPct val="100000"/>
              </a:lnSpc>
              <a:spcBef>
                <a:spcPts val="800"/>
              </a:spcBef>
            </a:pPr>
            <a:r>
              <a:t>How much money do you make?</a:t>
            </a:r>
            <a:endParaRPr>
              <a:latin typeface="+mn-lt"/>
              <a:ea typeface="+mn-ea"/>
              <a:cs typeface="+mn-cs"/>
              <a:sym typeface="Gill Sans"/>
            </a:endParaRPr>
          </a:p>
          <a:p>
            <a:pPr lvl="2" marL="1117600" indent="-355600" algn="l">
              <a:lnSpc>
                <a:spcPct val="100000"/>
              </a:lnSpc>
              <a:spcBef>
                <a:spcPts val="800"/>
              </a:spcBef>
              <a:buSzPct val="100000"/>
              <a:buChar char="•"/>
            </a:pPr>
            <a:r>
              <a:t>If stock is $27, the option is worthless. PAYOFF = 0</a:t>
            </a:r>
          </a:p>
          <a:p>
            <a:pPr lvl="2" marL="1117600" indent="-355600" algn="l">
              <a:lnSpc>
                <a:spcPct val="100000"/>
              </a:lnSpc>
              <a:spcBef>
                <a:spcPts val="800"/>
              </a:spcBef>
              <a:buSzPct val="100000"/>
              <a:buChar char="•"/>
            </a:pPr>
            <a:r>
              <a:t>If stock is $33, the option is worth $3. PAYOFF = $3</a:t>
            </a:r>
          </a:p>
          <a:p>
            <a:pPr lvl="2" marL="1117600" indent="-355600" algn="l">
              <a:lnSpc>
                <a:spcPct val="100000"/>
              </a:lnSpc>
              <a:spcBef>
                <a:spcPts val="800"/>
              </a:spcBef>
              <a:buSzPct val="100000"/>
              <a:buChar char="•"/>
            </a:pPr>
            <a:r>
              <a:t>If stock is $39, the option is worth $9. PAYOFF = $9</a:t>
            </a:r>
          </a:p>
          <a:p>
            <a:pPr lvl="2" marL="1117600" indent="-355600" algn="l">
              <a:lnSpc>
                <a:spcPct val="100000"/>
              </a:lnSpc>
              <a:spcBef>
                <a:spcPts val="800"/>
              </a:spcBef>
              <a:buSzPct val="100000"/>
              <a:buChar char="•"/>
            </a:pPr>
            <a:r>
              <a:t>Expected payoff = 1/3 * 0 + 1/3 * 3 + 1/3 * 9= </a:t>
            </a:r>
            <a:r>
              <a:t>$4</a:t>
            </a:r>
          </a:p>
          <a:p>
            <a:pPr lvl="1" indent="0" algn="l">
              <a:lnSpc>
                <a:spcPct val="100000"/>
              </a:lnSpc>
              <a:spcBef>
                <a:spcPts val="800"/>
              </a:spcBef>
            </a:pPr>
            <a:r>
              <a:t>Thus you should charge </a:t>
            </a:r>
            <a:r>
              <a:rPr i="1"/>
              <a:t>at least</a:t>
            </a:r>
            <a:r>
              <a:t> this much for the option</a:t>
            </a:r>
          </a:p>
        </p:txBody>
      </p:sp>
      <p:sp>
        <p:nvSpPr>
          <p:cNvPr id="104" name="Shape 104"/>
          <p:cNvSpPr/>
          <p:nvPr/>
        </p:nvSpPr>
        <p:spPr>
          <a:xfrm>
            <a:off x="393700" y="3352799"/>
            <a:ext cx="11960573" cy="101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2400"/>
              </a:spcBef>
            </a:pPr>
            <a:r>
              <a:t>Suppose, as of today, there is a 1/3 chance </a:t>
            </a:r>
            <a:r>
              <a:rPr>
                <a:solidFill>
                  <a:schemeClr val="accent4"/>
                </a:solidFill>
              </a:rPr>
              <a:t>each</a:t>
            </a:r>
            <a:r>
              <a:t> the stock will go up to </a:t>
            </a:r>
            <a:r>
              <a:t>$27</a:t>
            </a:r>
            <a:r>
              <a:t>, to </a:t>
            </a:r>
            <a:r>
              <a:t>$33</a:t>
            </a:r>
            <a:r>
              <a:t>, or to </a:t>
            </a:r>
            <a:r>
              <a:t>$39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0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Class="entr" nodeType="with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1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1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04" grpId="2"/>
      <p:bldP build="whole" bldLvl="1" animBg="1" rev="0" advAuto="0" spid="102" grpId="3"/>
      <p:bldP build="p" bldLvl="5" animBg="1" rev="0" advAuto="0" spid="101" grpId="1"/>
      <p:bldP build="p" bldLvl="5" animBg="1" rev="0" advAuto="0" spid="103" grpId="4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/>
          <p:nvPr>
            <p:ph type="title"/>
          </p:nvPr>
        </p:nvSpPr>
        <p:spPr>
          <a:xfrm>
            <a:off x="723900" y="254000"/>
            <a:ext cx="11557000" cy="1219200"/>
          </a:xfrm>
          <a:prstGeom prst="rect">
            <a:avLst/>
          </a:prstGeom>
        </p:spPr>
        <p:txBody>
          <a:bodyPr/>
          <a:lstStyle>
            <a:lvl1pPr>
              <a:defRPr sz="6000"/>
            </a:lvl1pPr>
          </a:lstStyle>
          <a:p>
            <a:pPr>
              <a:defRPr>
                <a:effectLst/>
              </a:defRPr>
            </a:pPr>
            <a:r>
              <a:t>Example 2 – Call Option</a:t>
            </a:r>
          </a:p>
        </p:txBody>
      </p:sp>
      <p:sp>
        <p:nvSpPr>
          <p:cNvPr id="107" name="Shape 107"/>
          <p:cNvSpPr/>
          <p:nvPr>
            <p:ph type="body" sz="half" idx="1"/>
          </p:nvPr>
        </p:nvSpPr>
        <p:spPr>
          <a:xfrm>
            <a:off x="410666" y="1416050"/>
            <a:ext cx="12196168" cy="2908300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/>
          <a:p>
            <a:pPr marL="0" indent="0" defTabSz="455675">
              <a:spcBef>
                <a:spcPts val="1800"/>
              </a:spcBef>
              <a:buSzTx/>
              <a:buNone/>
              <a:defRPr sz="3275"/>
            </a:pPr>
            <a:r>
              <a:t>You have a June call option for Microsoft with a strike price of $30 for 100 shares. If the price today is $20 and it rises to $40, would you exercise your option?</a:t>
            </a:r>
          </a:p>
          <a:p>
            <a:pPr marL="0" indent="0" defTabSz="455675">
              <a:spcBef>
                <a:spcPts val="1800"/>
              </a:spcBef>
              <a:buSzTx/>
              <a:buNone/>
              <a:defRPr sz="3275"/>
            </a:pPr>
            <a:r>
              <a:t>Suppose, as of today, there is a 1/3 chance </a:t>
            </a:r>
            <a:r>
              <a:rPr>
                <a:solidFill>
                  <a:schemeClr val="accent4"/>
                </a:solidFill>
              </a:rPr>
              <a:t>each</a:t>
            </a:r>
            <a:r>
              <a:t> that the stock will go up to </a:t>
            </a:r>
            <a:r>
              <a:t>$30</a:t>
            </a:r>
            <a:r>
              <a:t>, to </a:t>
            </a:r>
            <a:r>
              <a:t>$40</a:t>
            </a:r>
            <a:r>
              <a:t>, or to </a:t>
            </a:r>
            <a:r>
              <a:t>$50</a:t>
            </a:r>
            <a:r>
              <a:t>.</a:t>
            </a:r>
          </a:p>
        </p:txBody>
      </p:sp>
      <p:sp>
        <p:nvSpPr>
          <p:cNvPr id="108" name="Shape 108"/>
          <p:cNvSpPr/>
          <p:nvPr/>
        </p:nvSpPr>
        <p:spPr>
          <a:xfrm>
            <a:off x="1703511" y="4502150"/>
            <a:ext cx="9610478" cy="749300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spcBef>
                <a:spcPts val="1800"/>
              </a:spcBef>
              <a:defRPr sz="4200">
                <a:solidFill>
                  <a:schemeClr val="accent6"/>
                </a:solidFill>
              </a:defRPr>
            </a:lvl1pPr>
          </a:lstStyle>
          <a:p>
            <a:pPr>
              <a:defRPr sz="3600"/>
            </a:pPr>
            <a:r>
              <a:rPr sz="4200"/>
              <a:t>Does the value of the option change?</a:t>
            </a:r>
          </a:p>
        </p:txBody>
      </p:sp>
      <p:sp>
        <p:nvSpPr>
          <p:cNvPr id="109" name="Shape 109"/>
          <p:cNvSpPr/>
          <p:nvPr/>
        </p:nvSpPr>
        <p:spPr>
          <a:xfrm>
            <a:off x="411112" y="5524499"/>
            <a:ext cx="12195275" cy="381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lvl="1" indent="0" algn="l">
              <a:lnSpc>
                <a:spcPct val="100000"/>
              </a:lnSpc>
              <a:spcBef>
                <a:spcPts val="800"/>
              </a:spcBef>
            </a:pPr>
            <a:r>
              <a:t>How much money do you make?</a:t>
            </a:r>
          </a:p>
          <a:p>
            <a:pPr lvl="2" marL="1117600" indent="-355600" algn="l">
              <a:lnSpc>
                <a:spcPct val="100000"/>
              </a:lnSpc>
              <a:spcBef>
                <a:spcPts val="800"/>
              </a:spcBef>
              <a:buSzPct val="100000"/>
              <a:buChar char="•"/>
            </a:pPr>
            <a:r>
              <a:t>If stock is $30, the option is worthless. PAYOFF = 0</a:t>
            </a:r>
          </a:p>
          <a:p>
            <a:pPr lvl="2" marL="1117600" indent="-355600" algn="l">
              <a:lnSpc>
                <a:spcPct val="100000"/>
              </a:lnSpc>
              <a:spcBef>
                <a:spcPts val="800"/>
              </a:spcBef>
              <a:buSzPct val="100000"/>
              <a:buChar char="•"/>
            </a:pPr>
            <a:r>
              <a:t>If stock is $40, the option is worth $10. PAYOFF = $10</a:t>
            </a:r>
          </a:p>
          <a:p>
            <a:pPr lvl="2" marL="1117600" indent="-355600" algn="l">
              <a:lnSpc>
                <a:spcPct val="100000"/>
              </a:lnSpc>
              <a:spcBef>
                <a:spcPts val="800"/>
              </a:spcBef>
              <a:buSzPct val="100000"/>
              <a:buChar char="•"/>
            </a:pPr>
            <a:r>
              <a:t>If stock is $50, the option is worth $20. PAYOFF = $20</a:t>
            </a:r>
          </a:p>
          <a:p>
            <a:pPr lvl="2" marL="1117600" indent="-355600" algn="l">
              <a:lnSpc>
                <a:spcPct val="100000"/>
              </a:lnSpc>
              <a:spcBef>
                <a:spcPts val="800"/>
              </a:spcBef>
              <a:buSzPct val="100000"/>
              <a:buChar char="•"/>
            </a:pPr>
            <a:r>
              <a:t>Expected payoff = 1/3 * 0 + 1/3 * 10 + 1/3 * 20= </a:t>
            </a:r>
            <a:r>
              <a:t>$10</a:t>
            </a:r>
          </a:p>
          <a:p>
            <a:pPr lvl="1" indent="0" algn="l">
              <a:lnSpc>
                <a:spcPct val="100000"/>
              </a:lnSpc>
              <a:spcBef>
                <a:spcPts val="800"/>
              </a:spcBef>
            </a:pPr>
            <a:r>
              <a:t>The value of the option should change. (The expected value of the stock also changes—it is now $40/share.)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10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Class="entr" nodeType="with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1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1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1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1" animBg="1" rev="0" advAuto="0" spid="107" grpId="1"/>
      <p:bldP build="whole" bldLvl="1" animBg="1" rev="0" advAuto="0" spid="108" grpId="2"/>
      <p:bldP build="p" bldLvl="5" animBg="1" rev="0" advAuto="0" spid="109" grpId="3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/>
          <p:nvPr>
            <p:ph type="title"/>
          </p:nvPr>
        </p:nvSpPr>
        <p:spPr>
          <a:xfrm>
            <a:off x="723900" y="254000"/>
            <a:ext cx="11557000" cy="1219200"/>
          </a:xfrm>
          <a:prstGeom prst="rect">
            <a:avLst/>
          </a:prstGeom>
        </p:spPr>
        <p:txBody>
          <a:bodyPr/>
          <a:lstStyle>
            <a:lvl1pPr>
              <a:defRPr sz="6000"/>
            </a:lvl1pPr>
          </a:lstStyle>
          <a:p>
            <a:pPr>
              <a:defRPr>
                <a:effectLst/>
              </a:defRPr>
            </a:pPr>
            <a:r>
              <a:t>Example 2 – Call Option</a:t>
            </a:r>
          </a:p>
        </p:txBody>
      </p:sp>
      <p:sp>
        <p:nvSpPr>
          <p:cNvPr id="112" name="Shape 112"/>
          <p:cNvSpPr/>
          <p:nvPr>
            <p:ph type="body" sz="half" idx="1"/>
          </p:nvPr>
        </p:nvSpPr>
        <p:spPr>
          <a:xfrm>
            <a:off x="410666" y="1416050"/>
            <a:ext cx="12196168" cy="2908300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/>
          <a:p>
            <a:pPr marL="0" indent="0" defTabSz="455675">
              <a:spcBef>
                <a:spcPts val="1800"/>
              </a:spcBef>
              <a:buSzTx/>
              <a:buNone/>
              <a:defRPr sz="3275"/>
            </a:pPr>
            <a:r>
              <a:t>You have a June call option for Microsoft with a strike price of $30 for 100 shares. If the price today is $20 and it rises to $40, would you exercise your option?</a:t>
            </a:r>
          </a:p>
          <a:p>
            <a:pPr marL="0" indent="0" defTabSz="455675">
              <a:spcBef>
                <a:spcPts val="1800"/>
              </a:spcBef>
              <a:buSzTx/>
              <a:buNone/>
              <a:defRPr sz="3275"/>
            </a:pPr>
            <a:r>
              <a:t>Suppose, as of today, there is a 1/3 chance </a:t>
            </a:r>
            <a:r>
              <a:rPr>
                <a:solidFill>
                  <a:schemeClr val="accent4"/>
                </a:solidFill>
              </a:rPr>
              <a:t>each</a:t>
            </a:r>
            <a:r>
              <a:t> that the stock will go up to </a:t>
            </a:r>
            <a:r>
              <a:t>$21</a:t>
            </a:r>
            <a:r>
              <a:t>, to </a:t>
            </a:r>
            <a:r>
              <a:t>$40</a:t>
            </a:r>
            <a:r>
              <a:t>, or to </a:t>
            </a:r>
            <a:r>
              <a:t>$59</a:t>
            </a:r>
            <a:r>
              <a:t>.</a:t>
            </a:r>
          </a:p>
        </p:txBody>
      </p:sp>
      <p:sp>
        <p:nvSpPr>
          <p:cNvPr id="113" name="Shape 113"/>
          <p:cNvSpPr/>
          <p:nvPr/>
        </p:nvSpPr>
        <p:spPr>
          <a:xfrm>
            <a:off x="1703511" y="4502150"/>
            <a:ext cx="9610478" cy="749300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spcBef>
                <a:spcPts val="1800"/>
              </a:spcBef>
              <a:defRPr sz="4200">
                <a:solidFill>
                  <a:schemeClr val="accent6"/>
                </a:solidFill>
              </a:defRPr>
            </a:lvl1pPr>
          </a:lstStyle>
          <a:p>
            <a:pPr>
              <a:defRPr sz="3600"/>
            </a:pPr>
            <a:r>
              <a:rPr sz="4200"/>
              <a:t>Does the value of the option change?</a:t>
            </a:r>
          </a:p>
        </p:txBody>
      </p:sp>
      <p:sp>
        <p:nvSpPr>
          <p:cNvPr id="114" name="Shape 114"/>
          <p:cNvSpPr/>
          <p:nvPr/>
        </p:nvSpPr>
        <p:spPr>
          <a:xfrm>
            <a:off x="411112" y="5524499"/>
            <a:ext cx="12195275" cy="381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lvl="1" indent="0" algn="l">
              <a:lnSpc>
                <a:spcPct val="100000"/>
              </a:lnSpc>
              <a:spcBef>
                <a:spcPts val="800"/>
              </a:spcBef>
            </a:pPr>
            <a:r>
              <a:t>How much money do you make?</a:t>
            </a:r>
          </a:p>
          <a:p>
            <a:pPr lvl="2" marL="1117600" indent="-355600" algn="l">
              <a:lnSpc>
                <a:spcPct val="100000"/>
              </a:lnSpc>
              <a:spcBef>
                <a:spcPts val="800"/>
              </a:spcBef>
              <a:buSzPct val="100000"/>
              <a:buChar char="•"/>
            </a:pPr>
            <a:r>
              <a:t>If stock is $21, the option is worthless. PAYOFF = 0</a:t>
            </a:r>
          </a:p>
          <a:p>
            <a:pPr lvl="2" marL="1117600" indent="-355600" algn="l">
              <a:lnSpc>
                <a:spcPct val="100000"/>
              </a:lnSpc>
              <a:spcBef>
                <a:spcPts val="800"/>
              </a:spcBef>
              <a:buSzPct val="100000"/>
              <a:buChar char="•"/>
            </a:pPr>
            <a:r>
              <a:t>If stock is $40, the option is worth $10. PAYOFF = $10</a:t>
            </a:r>
          </a:p>
          <a:p>
            <a:pPr lvl="2" marL="1117600" indent="-355600" algn="l">
              <a:lnSpc>
                <a:spcPct val="100000"/>
              </a:lnSpc>
              <a:spcBef>
                <a:spcPts val="800"/>
              </a:spcBef>
              <a:buSzPct val="100000"/>
              <a:buChar char="•"/>
            </a:pPr>
            <a:r>
              <a:t>If stock is $59, the option is worth $29. PAYOFF = $29</a:t>
            </a:r>
          </a:p>
          <a:p>
            <a:pPr lvl="2" marL="1117600" indent="-355600" algn="l">
              <a:lnSpc>
                <a:spcPct val="100000"/>
              </a:lnSpc>
              <a:spcBef>
                <a:spcPts val="800"/>
              </a:spcBef>
              <a:buSzPct val="100000"/>
              <a:buChar char="•"/>
            </a:pPr>
            <a:r>
              <a:t>Expected payoff = 1/3 * 0 + 1/3 * 10 + 1/3 * 29= </a:t>
            </a:r>
            <a:r>
              <a:t>$13</a:t>
            </a:r>
          </a:p>
          <a:p>
            <a:pPr lvl="1" indent="0" algn="l">
              <a:lnSpc>
                <a:spcPct val="100000"/>
              </a:lnSpc>
              <a:spcBef>
                <a:spcPts val="800"/>
              </a:spcBef>
              <a:defRPr>
                <a:solidFill>
                  <a:schemeClr val="accent2"/>
                </a:solidFill>
              </a:defRPr>
            </a:pPr>
            <a:r>
              <a:t>The value seems to depend both on the expected value of the stock and on the volatility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1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Class="entr" nodeType="with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1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12" grpId="1"/>
      <p:bldP build="p" bldLvl="5" animBg="1" rev="0" advAuto="0" spid="114" grpId="3"/>
      <p:bldP build="whole" bldLvl="1" animBg="1" rev="0" advAuto="0" spid="113" grpId="2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dropped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28516" y="2882900"/>
            <a:ext cx="8172668" cy="5842000"/>
          </a:xfrm>
          <a:prstGeom prst="rect">
            <a:avLst/>
          </a:prstGeom>
          <a:ln w="12700">
            <a:miter lim="400000"/>
          </a:ln>
        </p:spPr>
      </p:pic>
      <p:sp>
        <p:nvSpPr>
          <p:cNvPr id="117" name="Shape 117"/>
          <p:cNvSpPr/>
          <p:nvPr/>
        </p:nvSpPr>
        <p:spPr>
          <a:xfrm>
            <a:off x="6995064" y="3308350"/>
            <a:ext cx="5486401" cy="4978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/>
            <a:r>
              <a:rPr sz="4100" u="sng"/>
              <a:t>Line A</a:t>
            </a:r>
          </a:p>
          <a:p>
            <a:pPr algn="l">
              <a:defRPr sz="3400"/>
            </a:pPr>
            <a:r>
              <a:t>Maximum value of option</a:t>
            </a:r>
          </a:p>
          <a:p>
            <a:pPr algn="l"/>
          </a:p>
          <a:p>
            <a:pPr algn="l"/>
            <a:r>
              <a:rPr u="sng"/>
              <a:t>Line B</a:t>
            </a:r>
          </a:p>
          <a:p>
            <a:pPr algn="l">
              <a:defRPr sz="3500"/>
            </a:pPr>
            <a:r>
              <a:t>Minimum value of option</a:t>
            </a:r>
          </a:p>
          <a:p>
            <a:pPr algn="l">
              <a:defRPr sz="3500"/>
            </a:pPr>
          </a:p>
          <a:p>
            <a:pPr algn="l">
              <a:defRPr sz="3400" u="sng"/>
            </a:pPr>
            <a:r>
              <a:rPr sz="3500"/>
              <a:t>T</a:t>
            </a:r>
            <a:r>
              <a:rPr baseline="-5999" sz="3500"/>
              <a:t>1</a:t>
            </a:r>
            <a:r>
              <a:rPr sz="3500"/>
              <a:t>, T</a:t>
            </a:r>
            <a:r>
              <a:rPr baseline="-5999" sz="3500"/>
              <a:t>2</a:t>
            </a:r>
            <a:r>
              <a:rPr sz="3500"/>
              <a:t>, T</a:t>
            </a:r>
            <a:r>
              <a:rPr baseline="-5999" sz="3500"/>
              <a:t>3</a:t>
            </a:r>
            <a:endParaRPr sz="3500"/>
          </a:p>
          <a:p>
            <a:pPr algn="l">
              <a:defRPr sz="3400"/>
            </a:pPr>
            <a:r>
              <a:rPr sz="3500"/>
              <a:t>values at successively shorter maturities.</a:t>
            </a:r>
          </a:p>
        </p:txBody>
      </p:sp>
      <p:sp>
        <p:nvSpPr>
          <p:cNvPr id="118" name="Shape 118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000"/>
            </a:lvl1pPr>
          </a:lstStyle>
          <a:p>
            <a:pPr>
              <a:defRPr>
                <a:effectLst/>
              </a:defRPr>
            </a:pPr>
            <a:r>
              <a:t>Option Price vs. Stock Price</a:t>
            </a:r>
          </a:p>
        </p:txBody>
      </p:sp>
      <p:sp>
        <p:nvSpPr>
          <p:cNvPr id="119" name="Shape 119"/>
          <p:cNvSpPr/>
          <p:nvPr/>
        </p:nvSpPr>
        <p:spPr>
          <a:xfrm>
            <a:off x="-135248" y="9359900"/>
            <a:ext cx="4258296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/>
            </a:lvl1pPr>
          </a:lstStyle>
          <a:p>
            <a:pPr/>
            <a:r>
              <a:t>Note: Exercise Price = Strike Price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1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1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17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dropped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28516" y="2882900"/>
            <a:ext cx="8172668" cy="5842000"/>
          </a:xfrm>
          <a:prstGeom prst="rect">
            <a:avLst/>
          </a:prstGeom>
          <a:ln w="12700">
            <a:miter lim="400000"/>
          </a:ln>
        </p:spPr>
      </p:pic>
      <p:sp>
        <p:nvSpPr>
          <p:cNvPr id="122" name="Shape 122"/>
          <p:cNvSpPr/>
          <p:nvPr/>
        </p:nvSpPr>
        <p:spPr>
          <a:xfrm>
            <a:off x="6982364" y="2508250"/>
            <a:ext cx="5676901" cy="6731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380999" indent="-380999" algn="l">
              <a:spcBef>
                <a:spcPts val="1600"/>
              </a:spcBef>
              <a:buSzPct val="100000"/>
              <a:buChar char="•"/>
              <a:defRPr sz="3800"/>
            </a:pPr>
            <a:r>
              <a:t>Why does the option value approach line B as the time to maturity shrinks?</a:t>
            </a:r>
          </a:p>
          <a:p>
            <a:pPr marL="380999" indent="-380999" algn="l">
              <a:spcBef>
                <a:spcPts val="1600"/>
              </a:spcBef>
              <a:buSzPct val="100000"/>
              <a:buChar char="•"/>
              <a:defRPr sz="3800"/>
            </a:pPr>
            <a:r>
              <a:t>Intuitively, what determines where it starts (A) and ends (B)? </a:t>
            </a:r>
          </a:p>
          <a:p>
            <a:pPr marL="380999" indent="-380999" algn="l">
              <a:spcBef>
                <a:spcPts val="1600"/>
              </a:spcBef>
              <a:buSzPct val="100000"/>
              <a:buChar char="•"/>
              <a:defRPr sz="3800"/>
            </a:pPr>
            <a:r>
              <a:t>5 minute break to discuss with your neighbor</a:t>
            </a:r>
          </a:p>
        </p:txBody>
      </p:sp>
      <p:sp>
        <p:nvSpPr>
          <p:cNvPr id="123" name="Shape 123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000"/>
            </a:lvl1pPr>
          </a:lstStyle>
          <a:p>
            <a:pPr>
              <a:defRPr>
                <a:effectLst/>
              </a:defRPr>
            </a:pPr>
            <a:r>
              <a:t>Option Price vs. Stock Price</a:t>
            </a:r>
          </a:p>
        </p:txBody>
      </p:sp>
      <p:sp>
        <p:nvSpPr>
          <p:cNvPr id="124" name="Shape 124"/>
          <p:cNvSpPr/>
          <p:nvPr/>
        </p:nvSpPr>
        <p:spPr>
          <a:xfrm>
            <a:off x="-135248" y="9359900"/>
            <a:ext cx="4258296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/>
            </a:lvl1pPr>
          </a:lstStyle>
          <a:p>
            <a:pPr/>
            <a:r>
              <a:t>Note: Exercise Price = Strike Price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22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dropped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28516" y="2882900"/>
            <a:ext cx="8172668" cy="5842000"/>
          </a:xfrm>
          <a:prstGeom prst="rect">
            <a:avLst/>
          </a:prstGeom>
          <a:ln w="12700">
            <a:miter lim="400000"/>
          </a:ln>
        </p:spPr>
      </p:pic>
      <p:sp>
        <p:nvSpPr>
          <p:cNvPr id="127" name="Shape 127"/>
          <p:cNvSpPr/>
          <p:nvPr/>
        </p:nvSpPr>
        <p:spPr>
          <a:xfrm>
            <a:off x="6995064" y="3587750"/>
            <a:ext cx="5676901" cy="6731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380999" indent="-380999" algn="l">
              <a:spcBef>
                <a:spcPts val="1600"/>
              </a:spcBef>
              <a:buSzPct val="100000"/>
              <a:buChar char="•"/>
              <a:defRPr sz="3800"/>
            </a:pPr>
            <a:r>
              <a:t>Suppose I have:</a:t>
            </a:r>
          </a:p>
          <a:p>
            <a:pPr lvl="1" marL="723900" indent="-381000" algn="l">
              <a:spcBef>
                <a:spcPts val="1600"/>
              </a:spcBef>
              <a:buSzPct val="100000"/>
              <a:buChar char="•"/>
              <a:defRPr sz="3800"/>
            </a:pPr>
            <a:r>
              <a:t>$100 in stock</a:t>
            </a:r>
          </a:p>
          <a:p>
            <a:pPr lvl="1" marL="723900" indent="-381000" algn="l">
              <a:spcBef>
                <a:spcPts val="1600"/>
              </a:spcBef>
              <a:buSzPct val="100000"/>
              <a:buChar char="•"/>
              <a:defRPr sz="3800"/>
            </a:pPr>
            <a:r>
              <a:t>$100 in options</a:t>
            </a:r>
          </a:p>
          <a:p>
            <a:pPr marL="380999" indent="-380999" algn="l">
              <a:spcBef>
                <a:spcPts val="1600"/>
              </a:spcBef>
              <a:buSzPct val="100000"/>
              <a:buChar char="•"/>
              <a:defRPr sz="3800"/>
            </a:pPr>
            <a:r>
              <a:t>Which is more likely to change in value?</a:t>
            </a:r>
          </a:p>
        </p:txBody>
      </p:sp>
      <p:sp>
        <p:nvSpPr>
          <p:cNvPr id="128" name="Shape 128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000"/>
            </a:lvl1pPr>
          </a:lstStyle>
          <a:p>
            <a:pPr>
              <a:defRPr>
                <a:effectLst/>
              </a:defRPr>
            </a:pPr>
            <a:r>
              <a:t>Which is more volatile?</a:t>
            </a:r>
          </a:p>
        </p:txBody>
      </p:sp>
      <p:sp>
        <p:nvSpPr>
          <p:cNvPr id="129" name="Shape 129"/>
          <p:cNvSpPr/>
          <p:nvPr/>
        </p:nvSpPr>
        <p:spPr>
          <a:xfrm>
            <a:off x="-135248" y="9359900"/>
            <a:ext cx="4258296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/>
            </a:lvl1pPr>
          </a:lstStyle>
          <a:p>
            <a:pPr/>
            <a:r>
              <a:t>Note: Exercise Price = Strike Price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1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27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roup 133"/>
          <p:cNvGrpSpPr/>
          <p:nvPr/>
        </p:nvGrpSpPr>
        <p:grpSpPr>
          <a:xfrm>
            <a:off x="1085850" y="1828800"/>
            <a:ext cx="10820401" cy="7698169"/>
            <a:chOff x="0" y="0"/>
            <a:chExt cx="10820400" cy="7698168"/>
          </a:xfrm>
        </p:grpSpPr>
        <p:pic>
          <p:nvPicPr>
            <p:cNvPr id="132" name="droppedImage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215900" y="139700"/>
              <a:ext cx="10388600" cy="7139369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131" name="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10820400" cy="7698169"/>
            </a:xfrm>
            <a:prstGeom prst="rect">
              <a:avLst/>
            </a:prstGeom>
            <a:effectLst/>
          </p:spPr>
        </p:pic>
      </p:grpSp>
      <p:sp>
        <p:nvSpPr>
          <p:cNvPr id="134" name="Shape 134"/>
          <p:cNvSpPr/>
          <p:nvPr/>
        </p:nvSpPr>
        <p:spPr>
          <a:xfrm>
            <a:off x="441579" y="387349"/>
            <a:ext cx="12121642" cy="914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buClr>
                <a:srgbClr val="000000"/>
              </a:buClr>
              <a:defRPr sz="5300"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</a:defRPr>
            </a:lvl1pPr>
          </a:lstStyle>
          <a:p>
            <a:pPr/>
            <a:r>
              <a:t>Other formulas, before Black Scholes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droppedImage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47700" y="1028700"/>
            <a:ext cx="2882900" cy="372110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39" name="Group 139"/>
          <p:cNvGrpSpPr/>
          <p:nvPr/>
        </p:nvGrpSpPr>
        <p:grpSpPr>
          <a:xfrm>
            <a:off x="3822700" y="1231900"/>
            <a:ext cx="8572500" cy="6616700"/>
            <a:chOff x="0" y="0"/>
            <a:chExt cx="8572500" cy="6616700"/>
          </a:xfrm>
        </p:grpSpPr>
        <p:pic>
          <p:nvPicPr>
            <p:cNvPr id="137" name="droppedImage.png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0"/>
              <a:ext cx="8521700" cy="25781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8" name="droppedImage.png"/>
            <p:cNvPicPr>
              <a:picLocks noChangeAspect="1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190500" y="3213100"/>
              <a:ext cx="8382000" cy="34036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140" name="droppedImage.pdf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647700" y="5207000"/>
            <a:ext cx="2882900" cy="3835400"/>
          </a:xfrm>
          <a:prstGeom prst="rect">
            <a:avLst/>
          </a:prstGeom>
          <a:ln w="12700">
            <a:miter lim="400000"/>
          </a:ln>
        </p:spPr>
      </p:pic>
      <p:sp>
        <p:nvSpPr>
          <p:cNvPr id="141" name="Shape 141"/>
          <p:cNvSpPr/>
          <p:nvPr/>
        </p:nvSpPr>
        <p:spPr>
          <a:xfrm>
            <a:off x="1050974" y="4762500"/>
            <a:ext cx="207635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/>
            </a:lvl1pPr>
          </a:lstStyle>
          <a:p>
            <a:pPr/>
            <a:r>
              <a:t>Paul Samuelson</a:t>
            </a:r>
          </a:p>
        </p:txBody>
      </p:sp>
      <p:sp>
        <p:nvSpPr>
          <p:cNvPr id="142" name="Shape 142"/>
          <p:cNvSpPr/>
          <p:nvPr/>
        </p:nvSpPr>
        <p:spPr>
          <a:xfrm>
            <a:off x="1001923" y="9067800"/>
            <a:ext cx="2174454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/>
            </a:lvl1pPr>
          </a:lstStyle>
          <a:p>
            <a:pPr/>
            <a:r>
              <a:t>Robert C. Merton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roup 148"/>
          <p:cNvGrpSpPr/>
          <p:nvPr/>
        </p:nvGrpSpPr>
        <p:grpSpPr>
          <a:xfrm>
            <a:off x="1993900" y="101600"/>
            <a:ext cx="9017000" cy="7226300"/>
            <a:chOff x="0" y="0"/>
            <a:chExt cx="9017000" cy="7226300"/>
          </a:xfrm>
        </p:grpSpPr>
        <p:pic>
          <p:nvPicPr>
            <p:cNvPr id="147" name="droppedImage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215900" y="139700"/>
              <a:ext cx="8585200" cy="6667500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146" name="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9017000" cy="7226300"/>
            </a:xfrm>
            <a:prstGeom prst="rect">
              <a:avLst/>
            </a:prstGeom>
            <a:effectLst/>
          </p:spPr>
        </p:pic>
      </p:grpSp>
      <p:sp>
        <p:nvSpPr>
          <p:cNvPr id="149" name="Shape 149"/>
          <p:cNvSpPr/>
          <p:nvPr/>
        </p:nvSpPr>
        <p:spPr>
          <a:xfrm>
            <a:off x="0" y="7721600"/>
            <a:ext cx="13004800" cy="144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buClr>
                <a:srgbClr val="000000"/>
              </a:buClr>
              <a:defRPr sz="4400"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</a:defRPr>
            </a:pPr>
            <a:r>
              <a:t>Discuss these assumptions with your neighbor.</a:t>
            </a:r>
          </a:p>
          <a:p>
            <a:pPr>
              <a:buClr>
                <a:srgbClr val="000000"/>
              </a:buClr>
              <a:defRPr sz="4400"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</a:defRPr>
            </a:pPr>
            <a:r>
              <a:t>Decide which one bothers you the most.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roup 153"/>
          <p:cNvGrpSpPr/>
          <p:nvPr/>
        </p:nvGrpSpPr>
        <p:grpSpPr>
          <a:xfrm>
            <a:off x="1993900" y="101600"/>
            <a:ext cx="9017000" cy="7226300"/>
            <a:chOff x="0" y="0"/>
            <a:chExt cx="9017000" cy="7226300"/>
          </a:xfrm>
        </p:grpSpPr>
        <p:pic>
          <p:nvPicPr>
            <p:cNvPr id="152" name="droppedImage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215900" y="139700"/>
              <a:ext cx="8585200" cy="6667500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151" name="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9017000" cy="7226300"/>
            </a:xfrm>
            <a:prstGeom prst="rect">
              <a:avLst/>
            </a:prstGeom>
            <a:effectLst/>
          </p:spPr>
        </p:pic>
      </p:grpSp>
      <p:sp>
        <p:nvSpPr>
          <p:cNvPr id="154" name="Shape 154"/>
          <p:cNvSpPr/>
          <p:nvPr/>
        </p:nvSpPr>
        <p:spPr>
          <a:xfrm>
            <a:off x="0" y="7531100"/>
            <a:ext cx="13004800" cy="144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buClr>
                <a:srgbClr val="000000"/>
              </a:buClr>
              <a:defRPr sz="4300"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</a:defRPr>
            </a:lvl1pPr>
          </a:lstStyle>
          <a:p>
            <a:pPr/>
            <a:r>
              <a:t>This assumption was introduced in the lab and homework</a:t>
            </a:r>
          </a:p>
        </p:txBody>
      </p:sp>
      <p:sp>
        <p:nvSpPr>
          <p:cNvPr id="155" name="Shape 155"/>
          <p:cNvSpPr/>
          <p:nvPr/>
        </p:nvSpPr>
        <p:spPr>
          <a:xfrm>
            <a:off x="2044700" y="2311400"/>
            <a:ext cx="8585200" cy="1193800"/>
          </a:xfrm>
          <a:prstGeom prst="rect">
            <a:avLst/>
          </a:prstGeom>
          <a:solidFill>
            <a:srgbClr val="FFFB00">
              <a:alpha val="37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lnSpc>
                <a:spcPct val="100000"/>
              </a:lnSpc>
              <a:defRPr b="0" sz="4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+mn-lt"/>
                <a:ea typeface="+mn-ea"/>
                <a:cs typeface="+mn-cs"/>
                <a:sym typeface="Gill Sans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roup 159"/>
          <p:cNvGrpSpPr/>
          <p:nvPr/>
        </p:nvGrpSpPr>
        <p:grpSpPr>
          <a:xfrm>
            <a:off x="1968500" y="2425700"/>
            <a:ext cx="9067800" cy="7023100"/>
            <a:chOff x="0" y="0"/>
            <a:chExt cx="9067800" cy="7023100"/>
          </a:xfrm>
        </p:grpSpPr>
        <p:pic>
          <p:nvPicPr>
            <p:cNvPr id="158" name="droppedImage.png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215900" y="139700"/>
              <a:ext cx="8636000" cy="6464300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157" name=""/>
            <p:cNvPicPr>
              <a:picLocks noChangeAspect="0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0"/>
              <a:ext cx="9067800" cy="7023100"/>
            </a:xfrm>
            <a:prstGeom prst="rect">
              <a:avLst/>
            </a:prstGeom>
            <a:effectLst/>
          </p:spPr>
        </p:pic>
      </p:grpSp>
      <p:sp>
        <p:nvSpPr>
          <p:cNvPr id="160" name="Shape 160"/>
          <p:cNvSpPr/>
          <p:nvPr/>
        </p:nvSpPr>
        <p:spPr>
          <a:xfrm>
            <a:off x="228600" y="3448049"/>
            <a:ext cx="1560984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 b="0" sz="2800"/>
            </a:pPr>
            <a:r>
              <a:rPr i="1" sz="2500"/>
              <a:t>w</a:t>
            </a:r>
            <a:r>
              <a:rPr baseline="-5999" sz="2400"/>
              <a:t>1</a:t>
            </a:r>
            <a:r>
              <a:rPr sz="2400"/>
              <a:t>=</a:t>
            </a:r>
            <a:r>
              <a:rPr i="1" sz="2400"/>
              <a:t>dw</a:t>
            </a:r>
            <a:r>
              <a:rPr sz="2400"/>
              <a:t>/</a:t>
            </a:r>
            <a:r>
              <a:rPr i="1" sz="2400"/>
              <a:t>dx</a:t>
            </a:r>
          </a:p>
        </p:txBody>
      </p:sp>
      <p:sp>
        <p:nvSpPr>
          <p:cNvPr id="161" name="Shape 161"/>
          <p:cNvSpPr/>
          <p:nvPr/>
        </p:nvSpPr>
        <p:spPr>
          <a:xfrm>
            <a:off x="2082800" y="2603500"/>
            <a:ext cx="8585200" cy="1193800"/>
          </a:xfrm>
          <a:prstGeom prst="rect">
            <a:avLst/>
          </a:prstGeom>
          <a:solidFill>
            <a:srgbClr val="FFFB00">
              <a:alpha val="37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lnSpc>
                <a:spcPct val="100000"/>
              </a:lnSpc>
              <a:defRPr b="0" sz="4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+mn-lt"/>
                <a:ea typeface="+mn-ea"/>
                <a:cs typeface="+mn-cs"/>
                <a:sym typeface="Gill Sans"/>
              </a:defRPr>
            </a:pPr>
          </a:p>
        </p:txBody>
      </p:sp>
      <p:sp>
        <p:nvSpPr>
          <p:cNvPr id="162" name="Shape 162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000"/>
            </a:lvl1pPr>
          </a:lstStyle>
          <a:p>
            <a:pPr>
              <a:defRPr>
                <a:effectLst/>
              </a:defRPr>
            </a:pPr>
            <a:r>
              <a:t>Hedging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166"/>
          <p:cNvSpPr/>
          <p:nvPr>
            <p:ph type="title"/>
          </p:nvPr>
        </p:nvSpPr>
        <p:spPr>
          <a:xfrm>
            <a:off x="723900" y="254000"/>
            <a:ext cx="11557000" cy="2438400"/>
          </a:xfrm>
          <a:prstGeom prst="rect">
            <a:avLst/>
          </a:prstGeom>
        </p:spPr>
        <p:txBody>
          <a:bodyPr/>
          <a:lstStyle>
            <a:lvl1pPr>
              <a:defRPr sz="6000"/>
            </a:lvl1pPr>
          </a:lstStyle>
          <a:p>
            <a:pPr>
              <a:defRPr>
                <a:effectLst/>
              </a:defRPr>
            </a:pPr>
            <a:r>
              <a:t>Main Idea</a:t>
            </a:r>
          </a:p>
        </p:txBody>
      </p:sp>
      <p:sp>
        <p:nvSpPr>
          <p:cNvPr id="167" name="Shape 167"/>
          <p:cNvSpPr/>
          <p:nvPr>
            <p:ph type="body" idx="1"/>
          </p:nvPr>
        </p:nvSpPr>
        <p:spPr>
          <a:xfrm>
            <a:off x="641350" y="2768600"/>
            <a:ext cx="11722100" cy="6210300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>
              <a:buSzPct val="100000"/>
            </a:pPr>
            <a:r>
              <a:t>Consider a portfolio with stocks and options</a:t>
            </a:r>
          </a:p>
          <a:p>
            <a:pPr>
              <a:buSzPct val="100000"/>
            </a:pPr>
            <a:r>
              <a:t>When stock goes up, you lose money on the options and vice versa</a:t>
            </a:r>
          </a:p>
          <a:p>
            <a:pPr>
              <a:buSzPct val="100000"/>
            </a:pPr>
            <a:r>
              <a:t>Such a portfolio (if perfectly balanced) has no risk</a:t>
            </a:r>
          </a:p>
          <a:p>
            <a:pPr>
              <a:buSzPct val="100000"/>
            </a:pPr>
            <a:r>
              <a:t>Thus the portfolio increases at the risk-free interest rate, “r”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169"/>
          <p:cNvSpPr/>
          <p:nvPr/>
        </p:nvSpPr>
        <p:spPr>
          <a:xfrm>
            <a:off x="6350" y="1301750"/>
            <a:ext cx="12992100" cy="314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buClr>
                <a:srgbClr val="000000"/>
              </a:buClr>
              <a:defRPr sz="4600"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</a:defRPr>
            </a:pPr>
            <a:r>
              <a:t>Discuss with your neighbor the main idea.</a:t>
            </a:r>
          </a:p>
          <a:p>
            <a:pPr>
              <a:buClr>
                <a:srgbClr val="000000"/>
              </a:buClr>
              <a:defRPr sz="4600"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</a:defRPr>
            </a:pPr>
          </a:p>
          <a:p>
            <a:pPr>
              <a:buClr>
                <a:srgbClr val="000000"/>
              </a:buClr>
              <a:defRPr sz="4600"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</a:defRPr>
            </a:pPr>
            <a:r>
              <a:t>Convince yourselves that it is both true and nontrivial.</a:t>
            </a:r>
          </a:p>
        </p:txBody>
      </p:sp>
      <p:grpSp>
        <p:nvGrpSpPr>
          <p:cNvPr id="172" name="Group 172"/>
          <p:cNvGrpSpPr/>
          <p:nvPr/>
        </p:nvGrpSpPr>
        <p:grpSpPr>
          <a:xfrm>
            <a:off x="1027335" y="4813300"/>
            <a:ext cx="11318429" cy="3035300"/>
            <a:chOff x="0" y="0"/>
            <a:chExt cx="11318427" cy="3035300"/>
          </a:xfrm>
        </p:grpSpPr>
        <p:pic>
          <p:nvPicPr>
            <p:cNvPr id="171" name="droppedImage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215900" y="139700"/>
              <a:ext cx="10886628" cy="2476500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170" name="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11318428" cy="3035300"/>
            </a:xfrm>
            <a:prstGeom prst="rect">
              <a:avLst/>
            </a:prstGeom>
            <a:effectLst/>
          </p:spPr>
        </p:pic>
      </p:grpSp>
      <p:grpSp>
        <p:nvGrpSpPr>
          <p:cNvPr id="175" name="Group 175"/>
          <p:cNvGrpSpPr/>
          <p:nvPr/>
        </p:nvGrpSpPr>
        <p:grpSpPr>
          <a:xfrm>
            <a:off x="4368800" y="7848600"/>
            <a:ext cx="7785100" cy="1121454"/>
            <a:chOff x="0" y="0"/>
            <a:chExt cx="7785100" cy="1121453"/>
          </a:xfrm>
        </p:grpSpPr>
        <p:pic>
          <p:nvPicPr>
            <p:cNvPr id="174" name="droppedImage.png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215900" y="139700"/>
              <a:ext cx="7353300" cy="562654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173" name=""/>
            <p:cNvPicPr>
              <a:picLocks noChangeAspect="0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0" y="0"/>
              <a:ext cx="7785100" cy="1121454"/>
            </a:xfrm>
            <a:prstGeom prst="rect">
              <a:avLst/>
            </a:prstGeom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roup 179"/>
          <p:cNvGrpSpPr/>
          <p:nvPr/>
        </p:nvGrpSpPr>
        <p:grpSpPr>
          <a:xfrm>
            <a:off x="2349500" y="1651000"/>
            <a:ext cx="8559800" cy="4381500"/>
            <a:chOff x="0" y="0"/>
            <a:chExt cx="8559800" cy="4381500"/>
          </a:xfrm>
        </p:grpSpPr>
        <p:pic>
          <p:nvPicPr>
            <p:cNvPr id="178" name="droppedImage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215900" y="139700"/>
              <a:ext cx="8128000" cy="3822700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177" name="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8559800" cy="4381500"/>
            </a:xfrm>
            <a:prstGeom prst="rect">
              <a:avLst/>
            </a:prstGeom>
            <a:effectLst/>
          </p:spPr>
        </p:pic>
      </p:grpSp>
      <p:sp>
        <p:nvSpPr>
          <p:cNvPr id="180" name="Shape 180"/>
          <p:cNvSpPr/>
          <p:nvPr/>
        </p:nvSpPr>
        <p:spPr>
          <a:xfrm>
            <a:off x="133350" y="6965950"/>
            <a:ext cx="12992100" cy="187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/>
            <a:r>
              <a:t>Requires Stochastic Calculus</a:t>
            </a:r>
          </a:p>
          <a:p>
            <a:pPr/>
          </a:p>
          <a:p>
            <a:pPr>
              <a:defRPr sz="3300">
                <a:solidFill>
                  <a:srgbClr val="FF2600"/>
                </a:solidFill>
              </a:defRPr>
            </a:pPr>
            <a:r>
              <a:t>NOTE:  This assumes rates of stock change obey a random walk</a:t>
            </a:r>
          </a:p>
        </p:txBody>
      </p:sp>
      <p:sp>
        <p:nvSpPr>
          <p:cNvPr id="181" name="Shape 181"/>
          <p:cNvSpPr/>
          <p:nvPr>
            <p:ph type="title" idx="4294967295"/>
          </p:nvPr>
        </p:nvSpPr>
        <p:spPr>
          <a:xfrm>
            <a:off x="723900" y="254000"/>
            <a:ext cx="11557000" cy="121920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6000"/>
            </a:lvl1pPr>
          </a:lstStyle>
          <a:p>
            <a:pPr>
              <a:defRPr>
                <a:effectLst/>
              </a:defRPr>
            </a:pPr>
            <a:r>
              <a:t>Derivation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roup 185"/>
          <p:cNvGrpSpPr/>
          <p:nvPr/>
        </p:nvGrpSpPr>
        <p:grpSpPr>
          <a:xfrm>
            <a:off x="2222500" y="1651000"/>
            <a:ext cx="8559800" cy="4381500"/>
            <a:chOff x="0" y="0"/>
            <a:chExt cx="8559800" cy="4381500"/>
          </a:xfrm>
        </p:grpSpPr>
        <p:pic>
          <p:nvPicPr>
            <p:cNvPr id="184" name="droppedImage.png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215900" y="139700"/>
              <a:ext cx="8128000" cy="3822700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183" name=""/>
            <p:cNvPicPr>
              <a:picLocks noChangeAspect="0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0"/>
              <a:ext cx="8559800" cy="4381500"/>
            </a:xfrm>
            <a:prstGeom prst="rect">
              <a:avLst/>
            </a:prstGeom>
            <a:effectLst/>
          </p:spPr>
        </p:pic>
      </p:grpSp>
      <p:grpSp>
        <p:nvGrpSpPr>
          <p:cNvPr id="188" name="Group 188"/>
          <p:cNvGrpSpPr/>
          <p:nvPr/>
        </p:nvGrpSpPr>
        <p:grpSpPr>
          <a:xfrm>
            <a:off x="2590800" y="10655300"/>
            <a:ext cx="7162800" cy="1587500"/>
            <a:chOff x="0" y="0"/>
            <a:chExt cx="7162800" cy="1587500"/>
          </a:xfrm>
        </p:grpSpPr>
        <p:pic>
          <p:nvPicPr>
            <p:cNvPr id="187" name="droppedImage.pdf"/>
            <p:cNvPicPr>
              <a:picLocks noChangeAspect="1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215900" y="139700"/>
              <a:ext cx="6731000" cy="1028700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186" name=""/>
            <p:cNvPicPr>
              <a:picLocks noChangeAspect="0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0" y="0"/>
              <a:ext cx="7162800" cy="1587500"/>
            </a:xfrm>
            <a:prstGeom prst="rect">
              <a:avLst/>
            </a:prstGeom>
            <a:effectLst/>
          </p:spPr>
        </p:pic>
      </p:grpSp>
      <p:sp>
        <p:nvSpPr>
          <p:cNvPr id="189" name="Shape 189"/>
          <p:cNvSpPr/>
          <p:nvPr/>
        </p:nvSpPr>
        <p:spPr>
          <a:xfrm>
            <a:off x="3049624" y="8299450"/>
            <a:ext cx="6895097" cy="736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200"/>
            </a:lvl1pPr>
          </a:lstStyle>
          <a:p>
            <a:pPr/>
            <a:r>
              <a:t>A sort-of-diffusion equation</a:t>
            </a:r>
          </a:p>
        </p:txBody>
      </p:sp>
      <p:pic>
        <p:nvPicPr>
          <p:cNvPr id="190" name="droppedImage.pdf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3327400" y="6629400"/>
            <a:ext cx="6362700" cy="1079500"/>
          </a:xfrm>
          <a:prstGeom prst="rect">
            <a:avLst/>
          </a:prstGeom>
          <a:ln w="12700">
            <a:miter lim="400000"/>
          </a:ln>
        </p:spPr>
      </p:pic>
      <p:sp>
        <p:nvSpPr>
          <p:cNvPr id="191" name="Shape 191"/>
          <p:cNvSpPr/>
          <p:nvPr>
            <p:ph type="title" idx="4294967295"/>
          </p:nvPr>
        </p:nvSpPr>
        <p:spPr>
          <a:xfrm>
            <a:off x="723900" y="254000"/>
            <a:ext cx="11557000" cy="121920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6000"/>
            </a:lvl1pPr>
          </a:lstStyle>
          <a:p>
            <a:pPr>
              <a:defRPr>
                <a:effectLst/>
              </a:defRPr>
            </a:pPr>
            <a:r>
              <a:t>Black-Scholes Equation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" name="Group 197"/>
          <p:cNvGrpSpPr/>
          <p:nvPr/>
        </p:nvGrpSpPr>
        <p:grpSpPr>
          <a:xfrm>
            <a:off x="1072372" y="838200"/>
            <a:ext cx="10872764" cy="2525475"/>
            <a:chOff x="0" y="0"/>
            <a:chExt cx="10872762" cy="2525474"/>
          </a:xfrm>
        </p:grpSpPr>
        <p:pic>
          <p:nvPicPr>
            <p:cNvPr id="196" name="droppedImage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215900" y="139700"/>
              <a:ext cx="10440963" cy="1966675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195" name="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10872763" cy="2525475"/>
            </a:xfrm>
            <a:prstGeom prst="rect">
              <a:avLst/>
            </a:prstGeom>
            <a:effectLst/>
          </p:spPr>
        </p:pic>
      </p:grpSp>
      <p:grpSp>
        <p:nvGrpSpPr>
          <p:cNvPr id="200" name="Group 200"/>
          <p:cNvGrpSpPr/>
          <p:nvPr/>
        </p:nvGrpSpPr>
        <p:grpSpPr>
          <a:xfrm>
            <a:off x="816545" y="4212563"/>
            <a:ext cx="11384415" cy="4652039"/>
            <a:chOff x="0" y="0"/>
            <a:chExt cx="11384413" cy="4652038"/>
          </a:xfrm>
        </p:grpSpPr>
        <p:pic>
          <p:nvPicPr>
            <p:cNvPr id="199" name="droppedImage.png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215900" y="139700"/>
              <a:ext cx="10952614" cy="4093239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198" name=""/>
            <p:cNvPicPr>
              <a:picLocks noChangeAspect="0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0" y="0"/>
              <a:ext cx="11384414" cy="4652039"/>
            </a:xfrm>
            <a:prstGeom prst="rect">
              <a:avLst/>
            </a:prstGeom>
            <a:effectLst/>
          </p:spPr>
        </p:pic>
      </p:grpSp>
      <p:sp>
        <p:nvSpPr>
          <p:cNvPr id="201" name="Shape 201"/>
          <p:cNvSpPr/>
          <p:nvPr/>
        </p:nvSpPr>
        <p:spPr>
          <a:xfrm>
            <a:off x="1619122" y="8743950"/>
            <a:ext cx="10769837" cy="736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lnSpc>
                <a:spcPct val="100000"/>
              </a:lnSpc>
              <a:spcBef>
                <a:spcPts val="2400"/>
              </a:spcBef>
            </a:lvl1pPr>
          </a:lstStyle>
          <a:p>
            <a:pPr/>
            <a:r>
              <a:t>Solution to equations like this covered in Applied Math 105</a:t>
            </a:r>
          </a:p>
        </p:txBody>
      </p:sp>
      <p:sp>
        <p:nvSpPr>
          <p:cNvPr id="202" name="Shape 202"/>
          <p:cNvSpPr/>
          <p:nvPr/>
        </p:nvSpPr>
        <p:spPr>
          <a:xfrm>
            <a:off x="1085781" y="3302000"/>
            <a:ext cx="7023238" cy="736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change variables and solve...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stockprices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6200" y="3670300"/>
            <a:ext cx="6426200" cy="4826000"/>
          </a:xfrm>
          <a:prstGeom prst="rect">
            <a:avLst/>
          </a:prstGeom>
          <a:ln w="12700">
            <a:miter lim="400000"/>
          </a:ln>
        </p:spPr>
      </p:pic>
      <p:sp>
        <p:nvSpPr>
          <p:cNvPr id="205" name="Shape 205"/>
          <p:cNvSpPr/>
          <p:nvPr/>
        </p:nvSpPr>
        <p:spPr>
          <a:xfrm>
            <a:off x="3677233" y="463550"/>
            <a:ext cx="5650335" cy="101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buClr>
                <a:srgbClr val="000000"/>
              </a:buClr>
              <a:defRPr sz="6000"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</a:defRPr>
            </a:lvl1pPr>
          </a:lstStyle>
          <a:p>
            <a:pPr/>
            <a:r>
              <a:t>S&amp;P 500 Prices</a:t>
            </a:r>
          </a:p>
        </p:txBody>
      </p:sp>
      <p:sp>
        <p:nvSpPr>
          <p:cNvPr id="206" name="Shape 206"/>
          <p:cNvSpPr/>
          <p:nvPr/>
        </p:nvSpPr>
        <p:spPr>
          <a:xfrm>
            <a:off x="4076148" y="8851900"/>
            <a:ext cx="4852504" cy="596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0"/>
              </a:lnSpc>
              <a:defRPr b="0" sz="3400">
                <a:latin typeface="+mn-lt"/>
                <a:ea typeface="+mn-ea"/>
                <a:cs typeface="+mn-cs"/>
                <a:sym typeface="Gill Sans"/>
              </a:defRPr>
            </a:lvl1pPr>
          </a:lstStyle>
          <a:p>
            <a:pPr/>
            <a:r>
              <a:t>16000 days (1953–present)</a:t>
            </a:r>
          </a:p>
        </p:txBody>
      </p:sp>
      <p:pic>
        <p:nvPicPr>
          <p:cNvPr id="207" name="stockprices_log.jp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629400" y="3670300"/>
            <a:ext cx="6426200" cy="4826000"/>
          </a:xfrm>
          <a:prstGeom prst="rect">
            <a:avLst/>
          </a:prstGeom>
          <a:ln w="12700">
            <a:miter lim="400000"/>
          </a:ln>
        </p:spPr>
      </p:pic>
      <p:sp>
        <p:nvSpPr>
          <p:cNvPr id="208" name="Shape 208"/>
          <p:cNvSpPr/>
          <p:nvPr/>
        </p:nvSpPr>
        <p:spPr>
          <a:xfrm rot="16200000">
            <a:off x="5622069" y="5613398"/>
            <a:ext cx="2182007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log(price)</a:t>
            </a:r>
          </a:p>
        </p:txBody>
      </p:sp>
      <p:sp>
        <p:nvSpPr>
          <p:cNvPr id="209" name="Shape 209"/>
          <p:cNvSpPr/>
          <p:nvPr/>
        </p:nvSpPr>
        <p:spPr>
          <a:xfrm rot="16200000">
            <a:off x="-326095" y="5605853"/>
            <a:ext cx="1198290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price</a:t>
            </a:r>
          </a:p>
        </p:txBody>
      </p:sp>
      <p:sp>
        <p:nvSpPr>
          <p:cNvPr id="210" name="Shape 210"/>
          <p:cNvSpPr/>
          <p:nvPr/>
        </p:nvSpPr>
        <p:spPr>
          <a:xfrm>
            <a:off x="2719127" y="1849120"/>
            <a:ext cx="7566546" cy="1559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400"/>
            </a:lvl1pPr>
          </a:lstStyle>
          <a:p>
            <a:pPr/>
            <a:r>
              <a:t>Central question in lab and homework: do stock prices follow random walks?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_rels/theme1.xml.rels><?xml version="1.0" encoding="UTF-8" standalone="yes"?><Relationships xmlns="http://schemas.openxmlformats.org/package/2006/relationships"><Relationship Id="rId1" Type="http://schemas.openxmlformats.org/officeDocument/2006/relationships/image" Target="../media/image1.png"/></Relationships>

</file>

<file path=ppt/theme/_rels/theme2.xml.rels><?xml version="1.0" encoding="UTF-8" standalone="yes"?><Relationships xmlns="http://schemas.openxmlformats.org/package/2006/relationships"><Relationship Id="rId1" Type="http://schemas.openxmlformats.org/officeDocument/2006/relationships/image" Target="../media/image1.png"/></Relationships>
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Gill Sans"/>
        <a:ea typeface="Gill Sans"/>
        <a:cs typeface="Gill Sans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50800" dist="12700" dir="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>
          <a:outerShdw sx="100000" sy="100000" kx="0" ky="0" algn="b" rotWithShape="0" blurRad="38100" dist="25400" dir="540000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rgbClr val="FFFFFF"/>
            </a:solidFill>
            <a:effectLst>
              <a:outerShdw sx="100000" sy="100000" kx="0" ky="0" algn="b" rotWithShape="0" blurRad="38100" dist="12700" dir="5400000">
                <a:srgbClr val="000000">
                  <a:alpha val="50000"/>
                </a:srgbClr>
              </a:outerShdw>
            </a:effectLst>
            <a:uFillTx/>
            <a:latin typeface="+mn-lt"/>
            <a:ea typeface="+mn-ea"/>
            <a:cs typeface="+mn-c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9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Gill Sans"/>
        <a:ea typeface="Gill Sans"/>
        <a:cs typeface="Gill Sans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50800" dist="12700" dir="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>
          <a:outerShdw sx="100000" sy="100000" kx="0" ky="0" algn="b" rotWithShape="0" blurRad="38100" dist="25400" dir="540000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rgbClr val="FFFFFF"/>
            </a:solidFill>
            <a:effectLst>
              <a:outerShdw sx="100000" sy="100000" kx="0" ky="0" algn="b" rotWithShape="0" blurRad="38100" dist="12700" dir="5400000">
                <a:srgbClr val="000000">
                  <a:alpha val="50000"/>
                </a:srgbClr>
              </a:outerShdw>
            </a:effectLst>
            <a:uFillTx/>
            <a:latin typeface="+mn-lt"/>
            <a:ea typeface="+mn-ea"/>
            <a:cs typeface="+mn-c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9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