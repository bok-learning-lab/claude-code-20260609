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1pPr>
    <a:lvl2pPr marL="0" marR="0" indent="3429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2pPr>
    <a:lvl3pPr marL="0" marR="0" indent="6858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3pPr>
    <a:lvl4pPr marL="0" marR="0" indent="10287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4pPr>
    <a:lvl5pPr marL="0" marR="0" indent="13716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5pPr>
    <a:lvl6pPr marL="0" marR="0" indent="17145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6pPr>
    <a:lvl7pPr marL="0" marR="0" indent="20574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7pPr>
    <a:lvl8pPr marL="0" marR="0" indent="24003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8pPr>
    <a:lvl9pPr marL="0" marR="0" indent="274320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Ref idx="maj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2"/>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Ref idx="maj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Ref idx="major">
          <a:srgbClr val="FFFFFF"/>
        </a:fontRef>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Ref idx="maj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Ref idx="major">
          <a:srgbClr val="000000"/>
        </a:fontRef>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Ref idx="maj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8F44A2F1-9E1F-4B54-A3A2-5F16C0AD49E2}" styleName="">
    <a:tblBg/>
    <a:wholeTbl>
      <a:tcTxStyle b="off" i="off">
        <a:fontRef idx="minor">
          <a:srgbClr val="000000"/>
        </a:fontRef>
        <a:srgbClr val="000000"/>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wholeTbl>
    <a:band2H>
      <a:tcTxStyle/>
      <a:tcStyle>
        <a:tcBdr/>
        <a:fill>
          <a:solidFill>
            <a:srgbClr val="C5C7C9">
              <a:alpha val="30000"/>
            </a:srgbClr>
          </a:solidFill>
        </a:fill>
      </a:tcStyle>
    </a:band2H>
    <a:firstCol>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Col>
    <a:la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lastRow>
    <a:firstRow>
      <a:tcTxStyle b="off" i="off">
        <a:fontRef idx="minor">
          <a:srgbClr val="FFFFFF"/>
        </a:fontRef>
        <a:srgbClr val="FFFFFF"/>
      </a:tcTxStyle>
      <a:tcStyle>
        <a:tcBdr>
          <a:left>
            <a:ln w="25400" cap="flat">
              <a:solidFill>
                <a:srgbClr val="000000"/>
              </a:solidFill>
              <a:prstDash val="solid"/>
              <a:miter lim="400000"/>
            </a:ln>
          </a:left>
          <a:right>
            <a:ln w="25400" cap="flat">
              <a:solidFill>
                <a:srgbClr val="000000"/>
              </a:solidFill>
              <a:prstDash val="solid"/>
              <a:miter lim="400000"/>
            </a:ln>
          </a:right>
          <a:top>
            <a:ln w="25400" cap="flat">
              <a:solidFill>
                <a:srgbClr val="000000"/>
              </a:solidFill>
              <a:prstDash val="solid"/>
              <a:miter lim="400000"/>
            </a:ln>
          </a:top>
          <a:bottom>
            <a:ln w="25400" cap="flat">
              <a:solidFill>
                <a:srgbClr val="000000"/>
              </a:solidFill>
              <a:prstDash val="solid"/>
              <a:miter lim="400000"/>
            </a:ln>
          </a:bottom>
          <a:insideH>
            <a:ln w="25400" cap="flat">
              <a:solidFill>
                <a:srgbClr val="000000"/>
              </a:solidFill>
              <a:prstDash val="solid"/>
              <a:miter lim="400000"/>
            </a:ln>
          </a:insideH>
          <a:insideV>
            <a:ln w="25400" cap="flat">
              <a:solidFill>
                <a:srgbClr val="000000"/>
              </a:solidFill>
              <a:prstDash val="solid"/>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70"/>
    <p:restoredTop sz="79159"/>
  </p:normalViewPr>
  <p:slideViewPr>
    <p:cSldViewPr snapToGrid="0" snapToObjects="1">
      <p:cViewPr>
        <p:scale>
          <a:sx n="66" d="100"/>
          <a:sy n="66" d="100"/>
        </p:scale>
        <p:origin x="408"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3" name="Shape 43"/>
          <p:cNvSpPr>
            <a:spLocks noGrp="1" noRot="1" noChangeAspect="1"/>
          </p:cNvSpPr>
          <p:nvPr>
            <p:ph type="sldImg"/>
          </p:nvPr>
        </p:nvSpPr>
        <p:spPr>
          <a:xfrm>
            <a:off x="1143000" y="685800"/>
            <a:ext cx="4572000" cy="3429000"/>
          </a:xfrm>
          <a:prstGeom prst="rect">
            <a:avLst/>
          </a:prstGeom>
        </p:spPr>
        <p:txBody>
          <a:bodyPr/>
          <a:lstStyle/>
          <a:p>
            <a:endParaRPr/>
          </a:p>
        </p:txBody>
      </p:sp>
      <p:sp>
        <p:nvSpPr>
          <p:cNvPr id="44" name="Shape 44"/>
          <p:cNvSpPr>
            <a:spLocks noGrp="1"/>
          </p:cNvSpPr>
          <p:nvPr>
            <p:ph type="body" sz="quarter" idx="1"/>
          </p:nvPr>
        </p:nvSpPr>
        <p:spPr>
          <a:xfrm>
            <a:off x="914400" y="4343400"/>
            <a:ext cx="5029200" cy="4114800"/>
          </a:xfrm>
          <a:prstGeom prst="rect">
            <a:avLst/>
          </a:prstGeom>
        </p:spPr>
        <p:txBody>
          <a:bodyPr/>
          <a:lstStyle/>
          <a:p>
            <a:endParaRPr/>
          </a:p>
        </p:txBody>
      </p:sp>
    </p:spTree>
    <p:extLst>
      <p:ext uri="{BB962C8B-B14F-4D97-AF65-F5344CB8AC3E}">
        <p14:creationId xmlns:p14="http://schemas.microsoft.com/office/powerpoint/2010/main" val="1604598672"/>
      </p:ext>
    </p:extLst>
  </p:cSld>
  <p:clrMap bg1="lt1" tx1="dk1" bg2="lt2" tx2="dk2" accent1="accent1" accent2="accent2" accent3="accent3" accent4="accent4" accent5="accent5" accent6="accent6" hlink="hlink" folHlink="folHlink"/>
  <p:notesStyle>
    <a:lvl1pPr defTabSz="584200" latinLnBrk="0">
      <a:defRPr sz="2200">
        <a:latin typeface="Lucida Grande"/>
        <a:ea typeface="Lucida Grande"/>
        <a:cs typeface="Lucida Grande"/>
        <a:sym typeface="Lucida Grande"/>
      </a:defRPr>
    </a:lvl1pPr>
    <a:lvl2pPr indent="228600" defTabSz="584200" latinLnBrk="0">
      <a:defRPr sz="2200">
        <a:latin typeface="Lucida Grande"/>
        <a:ea typeface="Lucida Grande"/>
        <a:cs typeface="Lucida Grande"/>
        <a:sym typeface="Lucida Grande"/>
      </a:defRPr>
    </a:lvl2pPr>
    <a:lvl3pPr indent="457200" defTabSz="584200" latinLnBrk="0">
      <a:defRPr sz="2200">
        <a:latin typeface="Lucida Grande"/>
        <a:ea typeface="Lucida Grande"/>
        <a:cs typeface="Lucida Grande"/>
        <a:sym typeface="Lucida Grande"/>
      </a:defRPr>
    </a:lvl3pPr>
    <a:lvl4pPr indent="685800" defTabSz="584200" latinLnBrk="0">
      <a:defRPr sz="2200">
        <a:latin typeface="Lucida Grande"/>
        <a:ea typeface="Lucida Grande"/>
        <a:cs typeface="Lucida Grande"/>
        <a:sym typeface="Lucida Grande"/>
      </a:defRPr>
    </a:lvl4pPr>
    <a:lvl5pPr indent="914400" defTabSz="584200" latinLnBrk="0">
      <a:defRPr sz="2200">
        <a:latin typeface="Lucida Grande"/>
        <a:ea typeface="Lucida Grande"/>
        <a:cs typeface="Lucida Grande"/>
        <a:sym typeface="Lucida Grande"/>
      </a:defRPr>
    </a:lvl5pPr>
    <a:lvl6pPr indent="1143000" defTabSz="584200" latinLnBrk="0">
      <a:defRPr sz="2200">
        <a:latin typeface="Lucida Grande"/>
        <a:ea typeface="Lucida Grande"/>
        <a:cs typeface="Lucida Grande"/>
        <a:sym typeface="Lucida Grande"/>
      </a:defRPr>
    </a:lvl6pPr>
    <a:lvl7pPr indent="1371600" defTabSz="584200" latinLnBrk="0">
      <a:defRPr sz="2200">
        <a:latin typeface="Lucida Grande"/>
        <a:ea typeface="Lucida Grande"/>
        <a:cs typeface="Lucida Grande"/>
        <a:sym typeface="Lucida Grande"/>
      </a:defRPr>
    </a:lvl7pPr>
    <a:lvl8pPr indent="1600200" defTabSz="584200" latinLnBrk="0">
      <a:defRPr sz="2200">
        <a:latin typeface="Lucida Grande"/>
        <a:ea typeface="Lucida Grande"/>
        <a:cs typeface="Lucida Grande"/>
        <a:sym typeface="Lucida Grande"/>
      </a:defRPr>
    </a:lvl8pPr>
    <a:lvl9pPr indent="1828800" defTabSz="584200" latinLnBrk="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1997 Nobel</a:t>
            </a:r>
            <a:r>
              <a:rPr lang="en-US" baseline="0" dirty="0" smtClean="0"/>
              <a:t> Prize in Economics</a:t>
            </a:r>
          </a:p>
          <a:p>
            <a:r>
              <a:rPr lang="en-US" baseline="0" dirty="0" smtClean="0"/>
              <a:t>Went to Scholes and Merton (Black died in 1995).  Merton MIT</a:t>
            </a:r>
          </a:p>
          <a:p>
            <a:r>
              <a:rPr lang="en-US" baseline="0" dirty="0" smtClean="0"/>
              <a:t>Work laid the foundation for the rapid growth of markets for derivatives</a:t>
            </a:r>
            <a:endParaRPr lang="en-US" dirty="0"/>
          </a:p>
        </p:txBody>
      </p:sp>
    </p:spTree>
    <p:extLst>
      <p:ext uri="{BB962C8B-B14F-4D97-AF65-F5344CB8AC3E}">
        <p14:creationId xmlns:p14="http://schemas.microsoft.com/office/powerpoint/2010/main" val="10774636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 will exercise my option</a:t>
            </a:r>
            <a:r>
              <a:rPr lang="en-US" baseline="0" dirty="0" smtClean="0"/>
              <a:t> if</a:t>
            </a:r>
          </a:p>
          <a:p>
            <a:r>
              <a:rPr lang="en-US" baseline="0" dirty="0" smtClean="0"/>
              <a:t>Stock price &gt; strike price (+ cost of option)</a:t>
            </a:r>
            <a:endParaRPr lang="en-US" dirty="0" smtClean="0"/>
          </a:p>
          <a:p>
            <a:endParaRPr lang="en-US" dirty="0" smtClean="0"/>
          </a:p>
          <a:p>
            <a:r>
              <a:rPr lang="en-US" dirty="0" smtClean="0"/>
              <a:t>Not quite $10</a:t>
            </a:r>
            <a:r>
              <a:rPr lang="en-US" baseline="0" dirty="0" smtClean="0"/>
              <a:t> profit.  This doesn’t take into account how much you paid for the option!  Option contract costs money!</a:t>
            </a:r>
            <a:endParaRPr lang="en-US" dirty="0"/>
          </a:p>
        </p:txBody>
      </p:sp>
    </p:spTree>
    <p:extLst>
      <p:ext uri="{BB962C8B-B14F-4D97-AF65-F5344CB8AC3E}">
        <p14:creationId xmlns:p14="http://schemas.microsoft.com/office/powerpoint/2010/main" val="1561056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much should we charge for the</a:t>
            </a:r>
            <a:r>
              <a:rPr lang="en-US" baseline="0" dirty="0" smtClean="0"/>
              <a:t> option?  What is the value of the option?</a:t>
            </a:r>
          </a:p>
          <a:p>
            <a:endParaRPr lang="en-US" baseline="0" dirty="0" smtClean="0"/>
          </a:p>
          <a:p>
            <a:r>
              <a:rPr lang="en-US" baseline="0" dirty="0" smtClean="0"/>
              <a:t>Value of option depends on strike price and the future stock price but we don’t know the stock price</a:t>
            </a:r>
          </a:p>
          <a:p>
            <a:endParaRPr lang="en-US" baseline="0" dirty="0" smtClean="0"/>
          </a:p>
          <a:p>
            <a:endParaRPr lang="en-US" dirty="0"/>
          </a:p>
        </p:txBody>
      </p:sp>
    </p:spTree>
    <p:extLst>
      <p:ext uri="{BB962C8B-B14F-4D97-AF65-F5344CB8AC3E}">
        <p14:creationId xmlns:p14="http://schemas.microsoft.com/office/powerpoint/2010/main" val="16625313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How much money do I expect to make?</a:t>
            </a:r>
            <a:r>
              <a:rPr lang="en-US" baseline="0" dirty="0" smtClean="0"/>
              <a:t>  </a:t>
            </a:r>
          </a:p>
          <a:p>
            <a:r>
              <a:rPr lang="en-US" baseline="0" dirty="0" smtClean="0"/>
              <a:t>Payoff = 1/3*max(27 </a:t>
            </a:r>
            <a:r>
              <a:rPr lang="mr-IN" baseline="0" dirty="0" smtClean="0"/>
              <a:t>–</a:t>
            </a:r>
            <a:r>
              <a:rPr lang="en-US" baseline="0" dirty="0" smtClean="0"/>
              <a:t> 30, 0) + 1/3*max(33 </a:t>
            </a:r>
            <a:r>
              <a:rPr lang="mr-IN" baseline="0" dirty="0" smtClean="0"/>
              <a:t>–</a:t>
            </a:r>
            <a:r>
              <a:rPr lang="en-US" baseline="0" dirty="0" smtClean="0"/>
              <a:t> 30, 0) + </a:t>
            </a:r>
            <a:r>
              <a:rPr lang="en-US" baseline="0" dirty="0" smtClean="0"/>
              <a:t>1/3*max(39 </a:t>
            </a:r>
            <a:r>
              <a:rPr lang="mr-IN" baseline="0" dirty="0" smtClean="0"/>
              <a:t>–</a:t>
            </a:r>
            <a:r>
              <a:rPr lang="en-US" baseline="0" dirty="0" smtClean="0"/>
              <a:t> 30, 0)  = 1/3 sum max(stock price </a:t>
            </a:r>
            <a:r>
              <a:rPr lang="mr-IN" baseline="0" dirty="0" smtClean="0"/>
              <a:t>–</a:t>
            </a:r>
            <a:r>
              <a:rPr lang="en-US" baseline="0" dirty="0" smtClean="0"/>
              <a:t> strike price, 0) </a:t>
            </a:r>
          </a:p>
          <a:p>
            <a:endParaRPr lang="en-US" baseline="0" dirty="0" smtClean="0"/>
          </a:p>
          <a:p>
            <a:r>
              <a:rPr lang="en-US" baseline="0" dirty="0" smtClean="0"/>
              <a:t>If I expect to make $4 from exercising the option, then I should charge at least $4 for the option.  Option price should be &gt;= $4.</a:t>
            </a:r>
          </a:p>
          <a:p>
            <a:endParaRPr lang="en-US" baseline="0" dirty="0" smtClean="0"/>
          </a:p>
          <a:p>
            <a:r>
              <a:rPr lang="en-US" baseline="0" dirty="0" smtClean="0"/>
              <a:t>Expected value of stock is 1/3*(27 + 33+ 39) ~ $25</a:t>
            </a:r>
          </a:p>
          <a:p>
            <a:endParaRPr lang="en-US" baseline="0" dirty="0" smtClean="0"/>
          </a:p>
          <a:p>
            <a:r>
              <a:rPr lang="en-US" baseline="0" dirty="0" smtClean="0"/>
              <a:t>E[stock] ~ 25</a:t>
            </a:r>
          </a:p>
          <a:p>
            <a:r>
              <a:rPr lang="en-US" baseline="0" dirty="0" smtClean="0"/>
              <a:t>E[payoff] = 4</a:t>
            </a:r>
            <a:endParaRPr lang="en-US" baseline="0" dirty="0" smtClean="0"/>
          </a:p>
        </p:txBody>
      </p:sp>
    </p:spTree>
    <p:extLst>
      <p:ext uri="{BB962C8B-B14F-4D97-AF65-F5344CB8AC3E}">
        <p14:creationId xmlns:p14="http://schemas.microsoft.com/office/powerpoint/2010/main" val="20066671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defTabSz="584200" eaLnBrk="1" fontAlgn="auto" latinLnBrk="0" hangingPunct="1">
              <a:lnSpc>
                <a:spcPct val="100000"/>
              </a:lnSpc>
              <a:spcBef>
                <a:spcPts val="0"/>
              </a:spcBef>
              <a:spcAft>
                <a:spcPts val="0"/>
              </a:spcAft>
              <a:buClrTx/>
              <a:buSzTx/>
              <a:buFontTx/>
              <a:buNone/>
              <a:tabLst/>
              <a:defRPr/>
            </a:pPr>
            <a:r>
              <a:rPr lang="en-US" baseline="0" dirty="0" smtClean="0"/>
              <a:t>Payoff = 1/3*max(30 </a:t>
            </a:r>
            <a:r>
              <a:rPr lang="mr-IN" baseline="0" dirty="0" smtClean="0"/>
              <a:t>–</a:t>
            </a:r>
            <a:r>
              <a:rPr lang="en-US" baseline="0" dirty="0" smtClean="0"/>
              <a:t> 30, 0) + 1/3*max(40 </a:t>
            </a:r>
            <a:r>
              <a:rPr lang="mr-IN" baseline="0" dirty="0" smtClean="0"/>
              <a:t>–</a:t>
            </a:r>
            <a:r>
              <a:rPr lang="en-US" baseline="0" dirty="0" smtClean="0"/>
              <a:t> 30, 0) + 1/3*max(50</a:t>
            </a:r>
            <a:r>
              <a:rPr lang="mr-IN" baseline="0" dirty="0" smtClean="0"/>
              <a:t>–</a:t>
            </a:r>
            <a:r>
              <a:rPr lang="en-US" baseline="0" dirty="0" smtClean="0"/>
              <a:t> 30, 0)  = 1/3 sum max(stock price </a:t>
            </a:r>
            <a:r>
              <a:rPr lang="mr-IN" baseline="0" dirty="0" smtClean="0"/>
              <a:t>–</a:t>
            </a:r>
            <a:r>
              <a:rPr lang="en-US" baseline="0" dirty="0" smtClean="0"/>
              <a:t> strike price, 0) = $10.</a:t>
            </a:r>
          </a:p>
          <a:p>
            <a:endParaRPr lang="en-US" dirty="0" smtClean="0"/>
          </a:p>
          <a:p>
            <a:r>
              <a:rPr lang="en-US" dirty="0" smtClean="0"/>
              <a:t>Expected</a:t>
            </a:r>
            <a:r>
              <a:rPr lang="en-US" baseline="0" dirty="0" smtClean="0"/>
              <a:t> value of stock is 1/3(30 + 40+ 50) = $40</a:t>
            </a:r>
          </a:p>
          <a:p>
            <a:endParaRPr lang="en-US" baseline="0" dirty="0" smtClean="0"/>
          </a:p>
          <a:p>
            <a:r>
              <a:rPr lang="en-US" baseline="0" dirty="0" smtClean="0"/>
              <a:t>E[stock] ~ 40</a:t>
            </a:r>
          </a:p>
          <a:p>
            <a:r>
              <a:rPr lang="en-US" baseline="0" dirty="0" smtClean="0"/>
              <a:t>E[payoff] = 10</a:t>
            </a:r>
          </a:p>
          <a:p>
            <a:endParaRPr lang="en-US" dirty="0"/>
          </a:p>
        </p:txBody>
      </p:sp>
    </p:spTree>
    <p:extLst>
      <p:ext uri="{BB962C8B-B14F-4D97-AF65-F5344CB8AC3E}">
        <p14:creationId xmlns:p14="http://schemas.microsoft.com/office/powerpoint/2010/main" val="10322359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E[stock] = 40 as on previous slide.  There is more variability in the stock price though.</a:t>
            </a:r>
          </a:p>
          <a:p>
            <a:r>
              <a:rPr lang="en-US" baseline="0" dirty="0" smtClean="0"/>
              <a:t>E[payoff] = 13</a:t>
            </a:r>
          </a:p>
          <a:p>
            <a:pPr marL="0" marR="0" indent="0" defTabSz="584200" eaLnBrk="1" fontAlgn="auto" latinLnBrk="0" hangingPunct="1">
              <a:lnSpc>
                <a:spcPct val="100000"/>
              </a:lnSpc>
              <a:spcBef>
                <a:spcPts val="0"/>
              </a:spcBef>
              <a:spcAft>
                <a:spcPts val="0"/>
              </a:spcAft>
              <a:buClrTx/>
              <a:buSzTx/>
              <a:buFontTx/>
              <a:buNone/>
              <a:tabLst/>
              <a:defRPr/>
            </a:pPr>
            <a:endParaRPr lang="en-US" dirty="0" smtClean="0"/>
          </a:p>
          <a:p>
            <a:pPr marL="0" marR="0" indent="0" defTabSz="584200" eaLnBrk="1" fontAlgn="auto" latinLnBrk="0" hangingPunct="1">
              <a:lnSpc>
                <a:spcPct val="100000"/>
              </a:lnSpc>
              <a:spcBef>
                <a:spcPts val="0"/>
              </a:spcBef>
              <a:spcAft>
                <a:spcPts val="0"/>
              </a:spcAft>
              <a:buClrTx/>
              <a:buSzTx/>
              <a:buFontTx/>
              <a:buNone/>
              <a:tabLst/>
              <a:defRPr/>
            </a:pPr>
            <a:r>
              <a:rPr lang="en-US" dirty="0" smtClean="0"/>
              <a:t>Expected value is the s</a:t>
            </a:r>
            <a:r>
              <a:rPr lang="en-US" baseline="0" dirty="0" smtClean="0"/>
              <a:t>ame as on previous slide but payoff is more.</a:t>
            </a:r>
          </a:p>
          <a:p>
            <a:pPr marL="0" marR="0" indent="0" defTabSz="584200" eaLnBrk="1" fontAlgn="auto" latinLnBrk="0" hangingPunct="1">
              <a:lnSpc>
                <a:spcPct val="100000"/>
              </a:lnSpc>
              <a:spcBef>
                <a:spcPts val="0"/>
              </a:spcBef>
              <a:spcAft>
                <a:spcPts val="0"/>
              </a:spcAft>
              <a:buClrTx/>
              <a:buSzTx/>
              <a:buFontTx/>
              <a:buNone/>
              <a:tabLst/>
              <a:defRPr/>
            </a:pPr>
            <a:endParaRPr lang="en-US" baseline="0" dirty="0" smtClean="0"/>
          </a:p>
          <a:p>
            <a:pPr marL="0" marR="0" indent="0" defTabSz="584200" eaLnBrk="1" fontAlgn="auto" latinLnBrk="0" hangingPunct="1">
              <a:lnSpc>
                <a:spcPct val="100000"/>
              </a:lnSpc>
              <a:spcBef>
                <a:spcPts val="0"/>
              </a:spcBef>
              <a:spcAft>
                <a:spcPts val="0"/>
              </a:spcAft>
              <a:buClrTx/>
              <a:buSzTx/>
              <a:buFontTx/>
              <a:buNone/>
              <a:tabLst/>
              <a:defRPr/>
            </a:pPr>
            <a:r>
              <a:rPr lang="en-US" baseline="0" dirty="0" smtClean="0"/>
              <a:t>Option price seems to depend on E[stock] and stock volatility</a:t>
            </a:r>
          </a:p>
          <a:p>
            <a:pPr marL="0" marR="0" indent="0" defTabSz="584200" eaLnBrk="1" fontAlgn="auto" latinLnBrk="0" hangingPunct="1">
              <a:lnSpc>
                <a:spcPct val="100000"/>
              </a:lnSpc>
              <a:spcBef>
                <a:spcPts val="0"/>
              </a:spcBef>
              <a:spcAft>
                <a:spcPts val="0"/>
              </a:spcAft>
              <a:buClrTx/>
              <a:buSzTx/>
              <a:buFontTx/>
              <a:buNone/>
              <a:tabLst/>
              <a:defRPr/>
            </a:pPr>
            <a:endParaRPr lang="en-US" baseline="0" dirty="0" smtClean="0"/>
          </a:p>
          <a:p>
            <a:pPr marL="0" marR="0" indent="0" defTabSz="584200" eaLnBrk="1" fontAlgn="auto" latinLnBrk="0" hangingPunct="1">
              <a:lnSpc>
                <a:spcPct val="100000"/>
              </a:lnSpc>
              <a:spcBef>
                <a:spcPts val="0"/>
              </a:spcBef>
              <a:spcAft>
                <a:spcPts val="0"/>
              </a:spcAft>
              <a:buClrTx/>
              <a:buSzTx/>
              <a:buFontTx/>
              <a:buNone/>
              <a:tabLst/>
              <a:defRPr/>
            </a:pPr>
            <a:endParaRPr lang="en-US" baseline="0" dirty="0" smtClean="0"/>
          </a:p>
          <a:p>
            <a:pPr marL="0" marR="0" indent="0" defTabSz="584200" eaLnBrk="1" fontAlgn="auto" latinLnBrk="0" hangingPunct="1">
              <a:lnSpc>
                <a:spcPct val="100000"/>
              </a:lnSpc>
              <a:spcBef>
                <a:spcPts val="0"/>
              </a:spcBef>
              <a:spcAft>
                <a:spcPts val="0"/>
              </a:spcAft>
              <a:buClrTx/>
              <a:buSzTx/>
              <a:buFontTx/>
              <a:buNone/>
              <a:tabLst/>
              <a:defRPr/>
            </a:pPr>
            <a:endParaRPr lang="en-US" baseline="0" dirty="0" smtClean="0"/>
          </a:p>
          <a:p>
            <a:pPr marL="0" marR="0" indent="0" defTabSz="58420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744766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Current value of option </a:t>
            </a:r>
            <a:r>
              <a:rPr lang="en-US" dirty="0" smtClean="0"/>
              <a:t>~</a:t>
            </a:r>
            <a:r>
              <a:rPr lang="en-US" baseline="0" dirty="0" smtClean="0"/>
              <a:t>= stock price </a:t>
            </a:r>
            <a:r>
              <a:rPr lang="mr-IN" baseline="0" dirty="0" smtClean="0"/>
              <a:t>–</a:t>
            </a:r>
            <a:r>
              <a:rPr lang="en-US" baseline="0" dirty="0" smtClean="0"/>
              <a:t> strike price</a:t>
            </a:r>
            <a:endParaRPr lang="en-US" dirty="0"/>
          </a:p>
        </p:txBody>
      </p:sp>
    </p:spTree>
    <p:extLst>
      <p:ext uri="{BB962C8B-B14F-4D97-AF65-F5344CB8AC3E}">
        <p14:creationId xmlns:p14="http://schemas.microsoft.com/office/powerpoint/2010/main" val="505135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As time to maturity shrinks, the option</a:t>
            </a:r>
            <a:r>
              <a:rPr lang="en-US" baseline="0" dirty="0" smtClean="0"/>
              <a:t> price should be closer and closer to the strike price because there’s more certainty about the price of the stock?</a:t>
            </a:r>
            <a:endParaRPr lang="en-US" dirty="0"/>
          </a:p>
        </p:txBody>
      </p:sp>
    </p:spTree>
    <p:extLst>
      <p:ext uri="{BB962C8B-B14F-4D97-AF65-F5344CB8AC3E}">
        <p14:creationId xmlns:p14="http://schemas.microsoft.com/office/powerpoint/2010/main" val="2067687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a:t>
            </a:r>
            <a:r>
              <a:rPr lang="en-US" baseline="0" dirty="0" smtClean="0"/>
              <a:t> option is more volatile.  Why?</a:t>
            </a:r>
          </a:p>
          <a:p>
            <a:endParaRPr lang="en-US" baseline="0" dirty="0" smtClean="0"/>
          </a:p>
          <a:p>
            <a:r>
              <a:rPr lang="en-US" baseline="0" dirty="0" smtClean="0"/>
              <a:t>“the curve representing the value of an option will be concave upward.  Since it is also below the 45 degree line, we can see that the option will be more volatile than the stock.  A given percentage change in stock price </a:t>
            </a:r>
            <a:r>
              <a:rPr lang="mr-IN" baseline="0" dirty="0" smtClean="0"/>
              <a:t>…</a:t>
            </a:r>
            <a:r>
              <a:rPr lang="en-US" baseline="0" dirty="0" smtClean="0"/>
              <a:t> will result in a larger percentage change in the option value”</a:t>
            </a:r>
            <a:endParaRPr lang="en-US" dirty="0"/>
          </a:p>
        </p:txBody>
      </p:sp>
    </p:spTree>
    <p:extLst>
      <p:ext uri="{BB962C8B-B14F-4D97-AF65-F5344CB8AC3E}">
        <p14:creationId xmlns:p14="http://schemas.microsoft.com/office/powerpoint/2010/main" val="2909530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Difficulty in getting</a:t>
            </a:r>
            <a:r>
              <a:rPr lang="en-US" baseline="0" dirty="0" smtClean="0"/>
              <a:t> parameters</a:t>
            </a:r>
            <a:endParaRPr lang="en-US" dirty="0"/>
          </a:p>
        </p:txBody>
      </p:sp>
    </p:spTree>
    <p:extLst>
      <p:ext uri="{BB962C8B-B14F-4D97-AF65-F5344CB8AC3E}">
        <p14:creationId xmlns:p14="http://schemas.microsoft.com/office/powerpoint/2010/main" val="4435007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Shape 143"/>
          <p:cNvSpPr>
            <a:spLocks noGrp="1" noRot="1" noChangeAspect="1"/>
          </p:cNvSpPr>
          <p:nvPr>
            <p:ph type="sldImg"/>
          </p:nvPr>
        </p:nvSpPr>
        <p:spPr>
          <a:prstGeom prst="rect">
            <a:avLst/>
          </a:prstGeom>
        </p:spPr>
        <p:txBody>
          <a:bodyPr/>
          <a:lstStyle/>
          <a:p>
            <a:endParaRPr/>
          </a:p>
        </p:txBody>
      </p:sp>
      <p:sp>
        <p:nvSpPr>
          <p:cNvPr id="144" name="Shape 144"/>
          <p:cNvSpPr>
            <a:spLocks noGrp="1"/>
          </p:cNvSpPr>
          <p:nvPr>
            <p:ph type="body" sz="quarter" idx="1"/>
          </p:nvPr>
        </p:nvSpPr>
        <p:spPr>
          <a:prstGeom prst="rect">
            <a:avLst/>
          </a:prstGeom>
        </p:spPr>
        <p:txBody>
          <a:bodyPr/>
          <a:lstStyle/>
          <a:p>
            <a:r>
              <a:rPr dirty="0"/>
              <a:t>warrant is like an option but offered by company and longer term</a:t>
            </a:r>
          </a:p>
        </p:txBody>
      </p:sp>
    </p:spTree>
    <p:extLst>
      <p:ext uri="{BB962C8B-B14F-4D97-AF65-F5344CB8AC3E}">
        <p14:creationId xmlns:p14="http://schemas.microsoft.com/office/powerpoint/2010/main" val="15086375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AutoNum type="alphaLcParenR"/>
            </a:pPr>
            <a:r>
              <a:rPr lang="en-US" baseline="0" dirty="0" smtClean="0"/>
              <a:t>Not constant. https://</a:t>
            </a:r>
            <a:r>
              <a:rPr lang="en-US" baseline="0" dirty="0" err="1" smtClean="0"/>
              <a:t>data.oecd.org</a:t>
            </a:r>
            <a:r>
              <a:rPr lang="en-US" baseline="0" dirty="0" smtClean="0"/>
              <a:t>/interest/short-term-interest-</a:t>
            </a:r>
            <a:r>
              <a:rPr lang="en-US" baseline="0" dirty="0" err="1" smtClean="0"/>
              <a:t>rates.htm</a:t>
            </a:r>
            <a:r>
              <a:rPr lang="en-US" baseline="0" dirty="0" smtClean="0"/>
              <a:t>.  Fairly constant from 2010 </a:t>
            </a:r>
            <a:r>
              <a:rPr lang="mr-IN" baseline="0" dirty="0" smtClean="0"/>
              <a:t>–</a:t>
            </a:r>
            <a:r>
              <a:rPr lang="en-US" baseline="0" dirty="0" smtClean="0"/>
              <a:t> 2015.  Big changes from 2008 (~5%) </a:t>
            </a:r>
            <a:r>
              <a:rPr lang="mr-IN" baseline="0" dirty="0" smtClean="0"/>
              <a:t>–</a:t>
            </a:r>
            <a:r>
              <a:rPr lang="en-US" baseline="0" dirty="0" smtClean="0"/>
              <a:t> 2010 ( &lt; 1%).</a:t>
            </a:r>
          </a:p>
          <a:p>
            <a:pPr marL="457200" indent="-457200">
              <a:buAutoNum type="alphaLcParenR"/>
            </a:pPr>
            <a:r>
              <a:rPr lang="en-US" baseline="0" dirty="0" smtClean="0"/>
              <a:t>Lab/HW</a:t>
            </a:r>
          </a:p>
          <a:p>
            <a:pPr marL="457200" indent="-457200">
              <a:buAutoNum type="alphaLcParenR"/>
            </a:pPr>
            <a:r>
              <a:rPr lang="en-US" baseline="0" dirty="0" smtClean="0"/>
              <a:t>If you own a stock you get paid for owning that stock, </a:t>
            </a:r>
            <a:r>
              <a:rPr lang="en-US" baseline="0" dirty="0" err="1" smtClean="0"/>
              <a:t>ie</a:t>
            </a:r>
            <a:r>
              <a:rPr lang="en-US" baseline="0" dirty="0" smtClean="0"/>
              <a:t>, you get a dividend.</a:t>
            </a:r>
          </a:p>
          <a:p>
            <a:pPr marL="457200" indent="-457200">
              <a:buAutoNum type="alphaLcParenR"/>
            </a:pPr>
            <a:r>
              <a:rPr lang="en-US" baseline="0" dirty="0" smtClean="0"/>
              <a:t>Okay</a:t>
            </a:r>
          </a:p>
          <a:p>
            <a:pPr marL="457200" indent="-457200">
              <a:buAutoNum type="alphaLcParenR"/>
            </a:pPr>
            <a:r>
              <a:rPr lang="en-US" baseline="0" dirty="0" smtClean="0"/>
              <a:t>These costs always exist</a:t>
            </a:r>
          </a:p>
          <a:p>
            <a:pPr marL="457200" indent="-457200">
              <a:buAutoNum type="alphaLcParenR"/>
            </a:pPr>
            <a:r>
              <a:rPr lang="en-US" baseline="0" dirty="0" smtClean="0"/>
              <a:t>What is a security </a:t>
            </a:r>
            <a:r>
              <a:rPr lang="mr-IN" baseline="0" dirty="0" smtClean="0"/>
              <a:t>–</a:t>
            </a:r>
            <a:r>
              <a:rPr lang="en-US" baseline="0" dirty="0" smtClean="0"/>
              <a:t> the stock!?</a:t>
            </a:r>
          </a:p>
          <a:p>
            <a:pPr marL="457200" indent="-457200">
              <a:buAutoNum type="alphaLcParenR"/>
            </a:pPr>
            <a:r>
              <a:rPr lang="en-US" baseline="0" dirty="0" err="1" smtClean="0"/>
              <a:t>Prob</a:t>
            </a:r>
            <a:r>
              <a:rPr lang="en-US" baseline="0" dirty="0" smtClean="0"/>
              <a:t> not true for European option</a:t>
            </a:r>
          </a:p>
        </p:txBody>
      </p:sp>
    </p:spTree>
    <p:extLst>
      <p:ext uri="{BB962C8B-B14F-4D97-AF65-F5344CB8AC3E}">
        <p14:creationId xmlns:p14="http://schemas.microsoft.com/office/powerpoint/2010/main" val="203011040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Shape 163"/>
          <p:cNvSpPr>
            <a:spLocks noGrp="1" noRot="1" noChangeAspect="1"/>
          </p:cNvSpPr>
          <p:nvPr>
            <p:ph type="sldImg"/>
          </p:nvPr>
        </p:nvSpPr>
        <p:spPr>
          <a:prstGeom prst="rect">
            <a:avLst/>
          </a:prstGeom>
        </p:spPr>
        <p:txBody>
          <a:bodyPr/>
          <a:lstStyle/>
          <a:p>
            <a:endParaRPr/>
          </a:p>
        </p:txBody>
      </p:sp>
      <p:sp>
        <p:nvSpPr>
          <p:cNvPr id="164" name="Shape 164"/>
          <p:cNvSpPr>
            <a:spLocks noGrp="1"/>
          </p:cNvSpPr>
          <p:nvPr>
            <p:ph type="body" sz="quarter" idx="1"/>
          </p:nvPr>
        </p:nvSpPr>
        <p:spPr>
          <a:prstGeom prst="rect">
            <a:avLst/>
          </a:prstGeom>
        </p:spPr>
        <p:txBody>
          <a:bodyPr/>
          <a:lstStyle/>
          <a:p>
            <a:r>
              <a:t>w</a:t>
            </a:r>
            <a:r>
              <a:rPr sz="2100" baseline="-5999"/>
              <a:t>1</a:t>
            </a:r>
            <a:r>
              <a:rPr sz="2100"/>
              <a:t>=dw/dx</a:t>
            </a:r>
          </a:p>
        </p:txBody>
      </p:sp>
    </p:spTree>
    <p:extLst>
      <p:ext uri="{BB962C8B-B14F-4D97-AF65-F5344CB8AC3E}">
        <p14:creationId xmlns:p14="http://schemas.microsoft.com/office/powerpoint/2010/main" val="1190750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Shape 192"/>
          <p:cNvSpPr>
            <a:spLocks noGrp="1" noRot="1" noChangeAspect="1"/>
          </p:cNvSpPr>
          <p:nvPr>
            <p:ph type="sldImg"/>
          </p:nvPr>
        </p:nvSpPr>
        <p:spPr>
          <a:prstGeom prst="rect">
            <a:avLst/>
          </a:prstGeom>
        </p:spPr>
        <p:txBody>
          <a:bodyPr/>
          <a:lstStyle/>
          <a:p>
            <a:endParaRPr/>
          </a:p>
        </p:txBody>
      </p:sp>
      <p:sp>
        <p:nvSpPr>
          <p:cNvPr id="193" name="Shape 193"/>
          <p:cNvSpPr>
            <a:spLocks noGrp="1"/>
          </p:cNvSpPr>
          <p:nvPr>
            <p:ph type="body" sz="quarter" idx="1"/>
          </p:nvPr>
        </p:nvSpPr>
        <p:spPr>
          <a:prstGeom prst="rect">
            <a:avLst/>
          </a:prstGeom>
        </p:spPr>
        <p:txBody>
          <a:bodyPr/>
          <a:lstStyle/>
          <a:p>
            <a:r>
              <a:t>w = price of option</a:t>
            </a:r>
          </a:p>
          <a:p>
            <a:r>
              <a:t>r = risk-free interest rate</a:t>
            </a:r>
          </a:p>
          <a:p>
            <a:r>
              <a:t>v = volatility of stock</a:t>
            </a:r>
          </a:p>
          <a:p>
            <a:r>
              <a:t>x = stock price</a:t>
            </a:r>
          </a:p>
          <a:p>
            <a:r>
              <a:t/>
            </a:r>
            <a:br/>
            <a:endParaRPr/>
          </a:p>
        </p:txBody>
      </p:sp>
    </p:spTree>
    <p:extLst>
      <p:ext uri="{BB962C8B-B14F-4D97-AF65-F5344CB8AC3E}">
        <p14:creationId xmlns:p14="http://schemas.microsoft.com/office/powerpoint/2010/main" val="1375682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w</a:t>
            </a:r>
            <a:r>
              <a:rPr lang="en-US" baseline="0" dirty="0" smtClean="0"/>
              <a:t> = x </a:t>
            </a:r>
            <a:r>
              <a:rPr lang="mr-IN" baseline="0" dirty="0" smtClean="0"/>
              <a:t>–</a:t>
            </a:r>
            <a:r>
              <a:rPr lang="en-US" baseline="0" dirty="0" smtClean="0"/>
              <a:t> c (option price = stock price </a:t>
            </a:r>
            <a:r>
              <a:rPr lang="mr-IN" baseline="0" dirty="0" smtClean="0"/>
              <a:t>–</a:t>
            </a:r>
            <a:r>
              <a:rPr lang="en-US" baseline="0" dirty="0" smtClean="0"/>
              <a:t> exercise price).  Then another complicated substitution w(</a:t>
            </a:r>
            <a:r>
              <a:rPr lang="en-US" baseline="0" dirty="0" err="1" smtClean="0"/>
              <a:t>x,t</a:t>
            </a:r>
            <a:r>
              <a:rPr lang="en-US" baseline="0" dirty="0" smtClean="0"/>
              <a:t>) = </a:t>
            </a:r>
            <a:r>
              <a:rPr lang="en-US" baseline="0" dirty="0" err="1" smtClean="0"/>
              <a:t>exp</a:t>
            </a:r>
            <a:r>
              <a:rPr lang="en-US" baseline="0" dirty="0" smtClean="0"/>
              <a:t>(r(t </a:t>
            </a:r>
            <a:r>
              <a:rPr lang="mr-IN" baseline="0" dirty="0" smtClean="0"/>
              <a:t>–</a:t>
            </a:r>
            <a:r>
              <a:rPr lang="en-US" baseline="0" dirty="0" smtClean="0"/>
              <a:t> t*)) y </a:t>
            </a:r>
            <a:r>
              <a:rPr lang="mr-IN" baseline="0" dirty="0" smtClean="0"/>
              <a:t>…</a:t>
            </a:r>
            <a:r>
              <a:rPr lang="en-US" baseline="0" dirty="0" smtClean="0"/>
              <a:t>.</a:t>
            </a:r>
          </a:p>
          <a:p>
            <a:endParaRPr lang="en-US" dirty="0" smtClean="0"/>
          </a:p>
          <a:p>
            <a:r>
              <a:rPr lang="en-US" dirty="0" smtClean="0"/>
              <a:t>Substitutions</a:t>
            </a:r>
            <a:r>
              <a:rPr lang="en-US" baseline="0" dirty="0" smtClean="0"/>
              <a:t> give the diffusion equation </a:t>
            </a:r>
            <a:r>
              <a:rPr lang="en-US" baseline="0" dirty="0" err="1" smtClean="0"/>
              <a:t>y_t</a:t>
            </a:r>
            <a:r>
              <a:rPr lang="en-US" baseline="0" dirty="0" smtClean="0"/>
              <a:t> = </a:t>
            </a:r>
            <a:r>
              <a:rPr lang="en-US" baseline="0" dirty="0" err="1" smtClean="0"/>
              <a:t>y_xx</a:t>
            </a:r>
            <a:endParaRPr lang="en-US" dirty="0"/>
          </a:p>
        </p:txBody>
      </p:sp>
    </p:spTree>
    <p:extLst>
      <p:ext uri="{BB962C8B-B14F-4D97-AF65-F5344CB8AC3E}">
        <p14:creationId xmlns:p14="http://schemas.microsoft.com/office/powerpoint/2010/main" val="12330500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11" name="Shape 11"/>
          <p:cNvSpPr>
            <a:spLocks noGrp="1"/>
          </p:cNvSpPr>
          <p:nvPr>
            <p:ph type="title"/>
          </p:nvPr>
        </p:nvSpPr>
        <p:spPr>
          <a:xfrm>
            <a:off x="1270000" y="254000"/>
            <a:ext cx="10464800" cy="2438400"/>
          </a:xfrm>
          <a:prstGeom prst="rect">
            <a:avLst/>
          </a:prstGeom>
          <a:effectLst>
            <a:outerShdw blurRad="63500" dist="38100" dir="2700000" rotWithShape="0">
              <a:srgbClr val="A6AAA9">
                <a:alpha val="50000"/>
              </a:srgbClr>
            </a:outerShdw>
          </a:effectLst>
        </p:spPr>
        <p:txBody>
          <a:bodyPr/>
          <a:lstStyle>
            <a:lvl1pPr>
              <a:lnSpc>
                <a:spcPct val="90000"/>
              </a:lnSpc>
              <a:defRPr sz="6300"/>
            </a:lvl1pPr>
          </a:lstStyle>
          <a:p>
            <a:pPr>
              <a:defRPr>
                <a:effectLst/>
              </a:defRPr>
            </a:pPr>
            <a:r>
              <a:t>Title Text</a:t>
            </a:r>
          </a:p>
        </p:txBody>
      </p:sp>
      <p:sp>
        <p:nvSpPr>
          <p:cNvPr id="12" name="Shape 12"/>
          <p:cNvSpPr>
            <a:spLocks noGrp="1"/>
          </p:cNvSpPr>
          <p:nvPr>
            <p:ph type="body" idx="1"/>
          </p:nvPr>
        </p:nvSpPr>
        <p:spPr>
          <a:xfrm>
            <a:off x="1270000" y="2768600"/>
            <a:ext cx="10464800" cy="5715000"/>
          </a:xfrm>
          <a:prstGeom prst="rect">
            <a:avLst/>
          </a:prstGeom>
        </p:spPr>
        <p:txBody>
          <a:bodyPr>
            <a:noAutofit/>
          </a:bodyPr>
          <a:lstStyle>
            <a:lvl1pPr marL="889000" indent="-571500">
              <a:lnSpc>
                <a:spcPct val="100000"/>
              </a:lnSpc>
              <a:spcBef>
                <a:spcPts val="2400"/>
              </a:spcBef>
              <a:buSzPct val="120000"/>
              <a:defRPr sz="4200"/>
            </a:lvl1pPr>
            <a:lvl2pPr marL="1333500" indent="-571500">
              <a:lnSpc>
                <a:spcPct val="100000"/>
              </a:lnSpc>
              <a:spcBef>
                <a:spcPts val="2400"/>
              </a:spcBef>
              <a:buSzPct val="120000"/>
              <a:defRPr sz="4200"/>
            </a:lvl2pPr>
            <a:lvl3pPr marL="1778000" indent="-571500">
              <a:lnSpc>
                <a:spcPct val="100000"/>
              </a:lnSpc>
              <a:spcBef>
                <a:spcPts val="2400"/>
              </a:spcBef>
              <a:buSzPct val="120000"/>
              <a:defRPr sz="4200"/>
            </a:lvl3pPr>
            <a:lvl4pPr marL="2222500" indent="-571500">
              <a:lnSpc>
                <a:spcPct val="100000"/>
              </a:lnSpc>
              <a:spcBef>
                <a:spcPts val="2400"/>
              </a:spcBef>
              <a:buSzPct val="120000"/>
              <a:defRPr sz="4200"/>
            </a:lvl4pPr>
            <a:lvl5pPr marL="2667000" indent="-571500">
              <a:lnSpc>
                <a:spcPct val="100000"/>
              </a:lnSpc>
              <a:spcBef>
                <a:spcPts val="2400"/>
              </a:spcBef>
              <a:buSzPct val="120000"/>
              <a:defRPr sz="4200"/>
            </a:lvl5pPr>
          </a:lstStyle>
          <a:p>
            <a:r>
              <a:t>Body Level One</a:t>
            </a:r>
          </a:p>
          <a:p>
            <a:pPr lvl="1"/>
            <a:r>
              <a:t>Body Level Two</a:t>
            </a:r>
          </a:p>
          <a:p>
            <a:pPr lvl="2"/>
            <a:r>
              <a:t>Body Level Three</a:t>
            </a:r>
          </a:p>
          <a:p>
            <a:pPr lvl="3"/>
            <a:r>
              <a:t>Body Level Four</a:t>
            </a:r>
          </a:p>
          <a:p>
            <a:pPr lvl="4"/>
            <a:r>
              <a:t>Body Level Five</a:t>
            </a:r>
          </a:p>
        </p:txBody>
      </p:sp>
      <p:sp>
        <p:nvSpPr>
          <p:cNvPr id="13" name="Shape 13"/>
          <p:cNvSpPr>
            <a:spLocks noGrp="1"/>
          </p:cNvSpPr>
          <p:nvPr>
            <p:ph type="sldNum" sz="quarter" idx="2"/>
          </p:nvPr>
        </p:nvSpPr>
        <p:spPr>
          <a:xfrm>
            <a:off x="6311763" y="9258300"/>
            <a:ext cx="368574" cy="381000"/>
          </a:xfrm>
          <a:prstGeom prst="rect">
            <a:avLst/>
          </a:prstGeom>
        </p:spPr>
        <p:txBody>
          <a:bodyPr>
            <a:spAutoFit/>
          </a:bodyPr>
          <a:lstStyle>
            <a:lvl1pPr>
              <a:lnSpc>
                <a:spcPct val="90000"/>
              </a:lnSpc>
              <a:defRPr b="1">
                <a:latin typeface="+mj-lt"/>
                <a:ea typeface="+mj-ea"/>
                <a:cs typeface="+mj-cs"/>
                <a:sym typeface="Helvetica"/>
              </a:defRPr>
            </a:lvl1p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Blank">
    <p:spTree>
      <p:nvGrpSpPr>
        <p:cNvPr id="1" name=""/>
        <p:cNvGrpSpPr/>
        <p:nvPr/>
      </p:nvGrpSpPr>
      <p:grpSpPr>
        <a:xfrm>
          <a:off x="0" y="0"/>
          <a:ext cx="0" cy="0"/>
          <a:chOff x="0" y="0"/>
          <a:chExt cx="0" cy="0"/>
        </a:xfrm>
      </p:grpSpPr>
      <p:sp>
        <p:nvSpPr>
          <p:cNvPr id="20" name="Shape 20"/>
          <p:cNvSpPr>
            <a:spLocks noGrp="1"/>
          </p:cNvSpPr>
          <p:nvPr>
            <p:ph type="sldNum" sz="quarter" idx="2"/>
          </p:nvPr>
        </p:nvSpPr>
        <p:spPr>
          <a:xfrm>
            <a:off x="6311763" y="9258300"/>
            <a:ext cx="368574" cy="381000"/>
          </a:xfrm>
          <a:prstGeom prst="rect">
            <a:avLst/>
          </a:prstGeom>
        </p:spPr>
        <p:txBody>
          <a:bodyPr>
            <a:spAutoFit/>
          </a:bodyPr>
          <a:lstStyle>
            <a:lvl1pPr>
              <a:lnSpc>
                <a:spcPct val="90000"/>
              </a:lnSpc>
              <a:defRPr b="1">
                <a:latin typeface="+mj-lt"/>
                <a:ea typeface="+mj-ea"/>
                <a:cs typeface="+mj-cs"/>
                <a:sym typeface="Helvetica"/>
              </a:defRPr>
            </a:lvl1p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27" name="Shape 27"/>
          <p:cNvSpPr>
            <a:spLocks noGrp="1"/>
          </p:cNvSpPr>
          <p:nvPr>
            <p:ph type="title"/>
          </p:nvPr>
        </p:nvSpPr>
        <p:spPr>
          <a:xfrm>
            <a:off x="1270000" y="254000"/>
            <a:ext cx="10464800" cy="2438400"/>
          </a:xfrm>
          <a:prstGeom prst="rect">
            <a:avLst/>
          </a:prstGeom>
          <a:effectLst>
            <a:outerShdw blurRad="63500" dist="38100" dir="2700000" rotWithShape="0">
              <a:srgbClr val="A6AAA9">
                <a:alpha val="50000"/>
              </a:srgbClr>
            </a:outerShdw>
          </a:effectLst>
        </p:spPr>
        <p:txBody>
          <a:bodyPr/>
          <a:lstStyle>
            <a:lvl1pPr>
              <a:lnSpc>
                <a:spcPct val="90000"/>
              </a:lnSpc>
              <a:defRPr sz="6800"/>
            </a:lvl1pPr>
          </a:lstStyle>
          <a:p>
            <a:pPr>
              <a:defRPr>
                <a:effectLst/>
              </a:defRPr>
            </a:pPr>
            <a:r>
              <a:t>Title Text</a:t>
            </a:r>
          </a:p>
        </p:txBody>
      </p:sp>
      <p:sp>
        <p:nvSpPr>
          <p:cNvPr id="28" name="Shape 28"/>
          <p:cNvSpPr>
            <a:spLocks noGrp="1"/>
          </p:cNvSpPr>
          <p:nvPr>
            <p:ph type="sldNum" sz="quarter" idx="2"/>
          </p:nvPr>
        </p:nvSpPr>
        <p:spPr>
          <a:xfrm>
            <a:off x="6311763" y="9258300"/>
            <a:ext cx="368574" cy="381000"/>
          </a:xfrm>
          <a:prstGeom prst="rect">
            <a:avLst/>
          </a:prstGeom>
        </p:spPr>
        <p:txBody>
          <a:bodyPr>
            <a:spAutoFit/>
          </a:bodyPr>
          <a:lstStyle>
            <a:lvl1pPr>
              <a:lnSpc>
                <a:spcPct val="90000"/>
              </a:lnSpc>
              <a:defRPr b="1">
                <a:latin typeface="+mj-lt"/>
                <a:ea typeface="+mj-ea"/>
                <a:cs typeface="+mj-cs"/>
                <a:sym typeface="Helvetica"/>
              </a:defRPr>
            </a:lvl1p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35" name="Shape 35"/>
          <p:cNvSpPr>
            <a:spLocks noGrp="1"/>
          </p:cNvSpPr>
          <p:nvPr>
            <p:ph type="title"/>
          </p:nvPr>
        </p:nvSpPr>
        <p:spPr>
          <a:prstGeom prst="rect">
            <a:avLst/>
          </a:prstGeom>
        </p:spPr>
        <p:txBody>
          <a:bodyPr/>
          <a:lstStyle/>
          <a:p>
            <a:r>
              <a:t>Title Text</a:t>
            </a:r>
          </a:p>
        </p:txBody>
      </p:sp>
      <p:sp>
        <p:nvSpPr>
          <p:cNvPr id="36" name="Shape 36"/>
          <p:cNvSpPr>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37" name="Shape 37"/>
          <p:cNvSpPr>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437232" y="444500"/>
            <a:ext cx="12130336" cy="2159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p>
            <a:r>
              <a:t>Title Text</a:t>
            </a:r>
          </a:p>
        </p:txBody>
      </p:sp>
      <p:sp>
        <p:nvSpPr>
          <p:cNvPr id="3" name="Shape 3"/>
          <p:cNvSpPr>
            <a:spLocks noGrp="1"/>
          </p:cNvSpPr>
          <p:nvPr>
            <p:ph type="body" idx="1"/>
          </p:nvPr>
        </p:nvSpPr>
        <p:spPr>
          <a:xfrm>
            <a:off x="952500" y="2603500"/>
            <a:ext cx="11099800" cy="62865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a:bodyPr>
          <a:lstStyle/>
          <a:p>
            <a:r>
              <a:t>Body Level One</a:t>
            </a:r>
          </a:p>
          <a:p>
            <a:pPr lvl="1"/>
            <a:r>
              <a:t>Body Level Two</a:t>
            </a:r>
          </a:p>
          <a:p>
            <a:pPr lvl="2"/>
            <a:r>
              <a:t>Body Level Three</a:t>
            </a:r>
          </a:p>
          <a:p>
            <a:pPr lvl="3"/>
            <a:r>
              <a:t>Body Level Four</a:t>
            </a:r>
          </a:p>
          <a:p>
            <a:pPr lvl="4"/>
            <a:r>
              <a:t>Body Level Five</a:t>
            </a:r>
          </a:p>
        </p:txBody>
      </p:sp>
      <p:sp>
        <p:nvSpPr>
          <p:cNvPr id="4" name="Shape 4"/>
          <p:cNvSpPr>
            <a:spLocks noGrp="1"/>
          </p:cNvSpPr>
          <p:nvPr>
            <p:ph type="sldNum" sz="quarter" idx="2"/>
          </p:nvPr>
        </p:nvSpPr>
        <p:spPr>
          <a:xfrm>
            <a:off x="6311798" y="9251950"/>
            <a:ext cx="368504" cy="381000"/>
          </a:xfrm>
          <a:prstGeom prst="rect">
            <a:avLst/>
          </a:prstGeom>
          <a:ln w="12700">
            <a:miter lim="400000"/>
          </a:ln>
        </p:spPr>
        <p:txBody>
          <a:bodyPr wrap="none" lIns="50800" tIns="50800" rIns="50800" bIns="50800">
            <a:normAutofit/>
          </a:bodyPr>
          <a:lstStyle>
            <a:lvl1pPr>
              <a:lnSpc>
                <a:spcPct val="100000"/>
              </a:lnSpc>
              <a:defRPr sz="1800" b="0">
                <a:latin typeface="Helvetica Light"/>
                <a:ea typeface="Helvetica Light"/>
                <a:cs typeface="Helvetica Light"/>
                <a:sym typeface="Helvetica Light"/>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marL="0" marR="0" indent="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1pPr>
      <a:lvl2pPr marL="0" marR="0" indent="2286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2pPr>
      <a:lvl3pPr marL="0" marR="0" indent="4572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3pPr>
      <a:lvl4pPr marL="0" marR="0" indent="6858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4pPr>
      <a:lvl5pPr marL="0" marR="0" indent="9144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5pPr>
      <a:lvl6pPr marL="0" marR="0" indent="11430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6pPr>
      <a:lvl7pPr marL="0" marR="0" indent="13716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7pPr>
      <a:lvl8pPr marL="0" marR="0" indent="16002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8pPr>
      <a:lvl9pPr marL="0" marR="0" indent="1828800" algn="ctr" defTabSz="584200" latinLnBrk="0">
        <a:lnSpc>
          <a:spcPct val="100000"/>
        </a:lnSpc>
        <a:spcBef>
          <a:spcPts val="0"/>
        </a:spcBef>
        <a:spcAft>
          <a:spcPts val="0"/>
        </a:spcAft>
        <a:buClrTx/>
        <a:buSzTx/>
        <a:buFontTx/>
        <a:buNone/>
        <a:tabLst/>
        <a:defRPr sz="6400" b="1" i="0" u="none" strike="noStrike" cap="none" spc="0" baseline="0">
          <a:ln>
            <a:noFill/>
          </a:ln>
          <a:solidFill>
            <a:schemeClr val="accent1">
              <a:hueOff val="47394"/>
              <a:satOff val="-25753"/>
              <a:lumOff val="-7544"/>
            </a:schemeClr>
          </a:solidFill>
          <a:effectLst>
            <a:outerShdw blurRad="88900" dist="38100" dir="2700000" rotWithShape="0">
              <a:srgbClr val="000000">
                <a:alpha val="30000"/>
              </a:srgbClr>
            </a:outerShdw>
          </a:effectLst>
          <a:uFillTx/>
          <a:latin typeface="+mj-lt"/>
          <a:ea typeface="+mj-ea"/>
          <a:cs typeface="+mj-cs"/>
          <a:sym typeface="Helvetica"/>
        </a:defRPr>
      </a:lvl9pPr>
    </p:titleStyle>
    <p:bodyStyle>
      <a:lvl1pPr marL="4445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1pPr>
      <a:lvl2pPr marL="8890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2pPr>
      <a:lvl3pPr marL="13335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3pPr>
      <a:lvl4pPr marL="17780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4pPr>
      <a:lvl5pPr marL="22225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5pPr>
      <a:lvl6pPr marL="26670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6pPr>
      <a:lvl7pPr marL="31115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7pPr>
      <a:lvl8pPr marL="35560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8pPr>
      <a:lvl9pPr marL="4000500" marR="0" indent="-444500" algn="l" defTabSz="584200" latinLnBrk="0">
        <a:lnSpc>
          <a:spcPct val="90000"/>
        </a:lnSpc>
        <a:spcBef>
          <a:spcPts val="2600"/>
        </a:spcBef>
        <a:spcAft>
          <a:spcPts val="0"/>
        </a:spcAft>
        <a:buClrTx/>
        <a:buSzPct val="75000"/>
        <a:buFontTx/>
        <a:buChar char="•"/>
        <a:tabLst/>
        <a:defRPr sz="3600" b="1" i="0" u="none" strike="noStrike" cap="none" spc="0" baseline="0">
          <a:ln>
            <a:noFill/>
          </a:ln>
          <a:solidFill>
            <a:srgbClr val="000000"/>
          </a:solidFill>
          <a:uFillTx/>
          <a:latin typeface="+mj-lt"/>
          <a:ea typeface="+mj-ea"/>
          <a:cs typeface="+mj-cs"/>
          <a:sym typeface="Helvetica"/>
        </a:defRPr>
      </a:lvl9pPr>
    </p:bodyStyle>
    <p:otherStyle>
      <a:lvl1pPr marL="0" marR="0" indent="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1pPr>
      <a:lvl2pPr marL="0" marR="0" indent="228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2pPr>
      <a:lvl3pPr marL="0" marR="0" indent="457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3pPr>
      <a:lvl4pPr marL="0" marR="0" indent="685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4pPr>
      <a:lvl5pPr marL="0" marR="0" indent="9144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5pPr>
      <a:lvl6pPr marL="0" marR="0" indent="11430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6pPr>
      <a:lvl7pPr marL="0" marR="0" indent="13716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7pPr>
      <a:lvl8pPr marL="0" marR="0" indent="16002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8pPr>
      <a:lvl9pPr marL="0" marR="0" indent="1828800" algn="ctr" defTabSz="584200" rtl="0" latinLnBrk="0">
        <a:lnSpc>
          <a:spcPct val="100000"/>
        </a:lnSpc>
        <a:spcBef>
          <a:spcPts val="0"/>
        </a:spcBef>
        <a:spcAft>
          <a:spcPts val="0"/>
        </a:spcAft>
        <a:buClrTx/>
        <a:buSzTx/>
        <a:buFontTx/>
        <a:buNone/>
        <a:tabLst/>
        <a:defRPr sz="1800" b="0" i="0" u="none" strike="noStrike" cap="none" spc="0" baseline="0">
          <a:ln>
            <a:noFill/>
          </a:ln>
          <a:solidFill>
            <a:schemeClr val="tx1"/>
          </a:solidFill>
          <a:uFillTx/>
          <a:latin typeface="+mn-lt"/>
          <a:ea typeface="+mn-ea"/>
          <a:cs typeface="+mn-cs"/>
          <a:sym typeface="Helvetica Ligh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4"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16.png"/><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emf"/><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emf"/><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5.jpeg"/><Relationship Id="rId3" Type="http://schemas.openxmlformats.org/officeDocument/2006/relationships/image" Target="../media/image3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hape 46"/>
          <p:cNvSpPr>
            <a:spLocks noGrp="1"/>
          </p:cNvSpPr>
          <p:nvPr>
            <p:ph type="title"/>
          </p:nvPr>
        </p:nvSpPr>
        <p:spPr>
          <a:prstGeom prst="rect">
            <a:avLst/>
          </a:prstGeom>
        </p:spPr>
        <p:txBody>
          <a:bodyPr/>
          <a:lstStyle/>
          <a:p>
            <a:pPr>
              <a:defRPr>
                <a:effectLst/>
              </a:defRPr>
            </a:pPr>
            <a:r>
              <a:rPr dirty="0" smtClean="0"/>
              <a:t>Random </a:t>
            </a:r>
            <a:r>
              <a:rPr dirty="0"/>
              <a:t>Walks</a:t>
            </a:r>
          </a:p>
        </p:txBody>
      </p:sp>
      <p:sp>
        <p:nvSpPr>
          <p:cNvPr id="47" name="Shape 47"/>
          <p:cNvSpPr>
            <a:spLocks noGrp="1"/>
          </p:cNvSpPr>
          <p:nvPr>
            <p:ph type="body" idx="1"/>
          </p:nvPr>
        </p:nvSpPr>
        <p:spPr>
          <a:prstGeom prst="rect">
            <a:avLst/>
          </a:prstGeom>
        </p:spPr>
        <p:txBody>
          <a:bodyPr/>
          <a:lstStyle/>
          <a:p>
            <a:r>
              <a:rPr dirty="0"/>
              <a:t>Final project details</a:t>
            </a:r>
          </a:p>
          <a:p>
            <a:r>
              <a:rPr dirty="0"/>
              <a:t>Stock Option pricing</a:t>
            </a:r>
          </a:p>
          <a:p>
            <a:r>
              <a:rPr dirty="0"/>
              <a:t>Black–Scholes(–Merton) Equation</a:t>
            </a:r>
          </a:p>
          <a:p>
            <a:r>
              <a:rPr dirty="0"/>
              <a:t>AM cake </a:t>
            </a:r>
            <a:r>
              <a:rPr dirty="0" smtClean="0"/>
              <a:t>today</a:t>
            </a:r>
            <a:r>
              <a:rPr lang="en-US" dirty="0" smtClean="0"/>
              <a:t> (every Thursday)</a:t>
            </a:r>
            <a:r>
              <a:rPr dirty="0" smtClean="0"/>
              <a:t> </a:t>
            </a:r>
            <a:r>
              <a:rPr dirty="0"/>
              <a:t>in Pierce 307B, </a:t>
            </a:r>
            <a:r>
              <a:rPr dirty="0" smtClean="0"/>
              <a:t>2:</a:t>
            </a:r>
            <a:r>
              <a:rPr lang="en-US" dirty="0" smtClean="0"/>
              <a:t>4</a:t>
            </a:r>
            <a:r>
              <a:rPr dirty="0" smtClean="0"/>
              <a:t>0pm</a:t>
            </a:r>
            <a:endParaRPr dirty="0"/>
          </a:p>
        </p:txBody>
      </p:sp>
    </p:spTree>
  </p:cSld>
  <p:clrMapOvr>
    <a:masterClrMapping/>
  </p:clrMapOvr>
  <p:transition spd="med"/>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Shape 49"/>
          <p:cNvSpPr>
            <a:spLocks noGrp="1"/>
          </p:cNvSpPr>
          <p:nvPr>
            <p:ph type="title"/>
          </p:nvPr>
        </p:nvSpPr>
        <p:spPr>
          <a:prstGeom prst="rect">
            <a:avLst/>
          </a:prstGeom>
        </p:spPr>
        <p:txBody>
          <a:bodyPr/>
          <a:lstStyle/>
          <a:p>
            <a:r>
              <a:t>Final project</a:t>
            </a:r>
          </a:p>
        </p:txBody>
      </p:sp>
      <p:sp>
        <p:nvSpPr>
          <p:cNvPr id="50" name="Shape 50"/>
          <p:cNvSpPr>
            <a:spLocks noGrp="1"/>
          </p:cNvSpPr>
          <p:nvPr>
            <p:ph type="body" idx="1"/>
          </p:nvPr>
        </p:nvSpPr>
        <p:spPr>
          <a:xfrm>
            <a:off x="1066800" y="2609850"/>
            <a:ext cx="11099800" cy="6286501"/>
          </a:xfrm>
          <a:prstGeom prst="rect">
            <a:avLst/>
          </a:prstGeom>
        </p:spPr>
        <p:txBody>
          <a:bodyPr/>
          <a:lstStyle/>
          <a:p>
            <a:r>
              <a:rPr dirty="0" smtClean="0"/>
              <a:t>Worth</a:t>
            </a:r>
            <a:r>
              <a:rPr lang="en-US" dirty="0" smtClean="0"/>
              <a:t> 30% </a:t>
            </a:r>
            <a:r>
              <a:rPr dirty="0" smtClean="0"/>
              <a:t>of </a:t>
            </a:r>
            <a:r>
              <a:rPr dirty="0"/>
              <a:t>the course grade</a:t>
            </a:r>
          </a:p>
          <a:p>
            <a:r>
              <a:rPr dirty="0"/>
              <a:t>May be done with a partner or individually</a:t>
            </a:r>
          </a:p>
          <a:p>
            <a:r>
              <a:rPr dirty="0"/>
              <a:t>Graded out of </a:t>
            </a:r>
            <a:r>
              <a:rPr lang="en-US" dirty="0" smtClean="0"/>
              <a:t>80 </a:t>
            </a:r>
            <a:r>
              <a:rPr dirty="0" smtClean="0"/>
              <a:t>points</a:t>
            </a:r>
            <a:endParaRPr dirty="0"/>
          </a:p>
          <a:p>
            <a:r>
              <a:rPr dirty="0"/>
              <a:t>Deadline</a:t>
            </a:r>
            <a:r>
              <a:rPr dirty="0" smtClean="0"/>
              <a:t>:</a:t>
            </a:r>
            <a:r>
              <a:rPr lang="en-US" dirty="0" smtClean="0"/>
              <a:t> 5pm on May 3 (last day of Reading Period)</a:t>
            </a:r>
            <a:endParaRPr dirty="0">
              <a:solidFill>
                <a:srgbClr val="FF0000"/>
              </a:solidFill>
            </a:endParaRPr>
          </a:p>
        </p:txBody>
      </p:sp>
    </p:spTree>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Shape 52"/>
          <p:cNvSpPr>
            <a:spLocks noGrp="1"/>
          </p:cNvSpPr>
          <p:nvPr>
            <p:ph type="title"/>
          </p:nvPr>
        </p:nvSpPr>
        <p:spPr>
          <a:prstGeom prst="rect">
            <a:avLst/>
          </a:prstGeom>
        </p:spPr>
        <p:txBody>
          <a:bodyPr/>
          <a:lstStyle/>
          <a:p>
            <a:r>
              <a:t>What are we looking for?</a:t>
            </a:r>
          </a:p>
        </p:txBody>
      </p:sp>
      <p:sp>
        <p:nvSpPr>
          <p:cNvPr id="53" name="Shape 53"/>
          <p:cNvSpPr>
            <a:spLocks noGrp="1"/>
          </p:cNvSpPr>
          <p:nvPr>
            <p:ph type="body" idx="1"/>
          </p:nvPr>
        </p:nvSpPr>
        <p:spPr>
          <a:prstGeom prst="rect">
            <a:avLst/>
          </a:prstGeom>
        </p:spPr>
        <p:txBody>
          <a:bodyPr/>
          <a:lstStyle/>
          <a:p>
            <a:pPr marL="400050" indent="-400050" defTabSz="525779">
              <a:spcBef>
                <a:spcPts val="2300"/>
              </a:spcBef>
              <a:defRPr sz="3239"/>
            </a:pPr>
            <a:r>
              <a:t>We are looking for you to </a:t>
            </a:r>
            <a:r>
              <a:rPr>
                <a:solidFill>
                  <a:schemeClr val="accent5"/>
                </a:solidFill>
              </a:rPr>
              <a:t>Apply </a:t>
            </a:r>
            <a:r>
              <a:rPr>
                <a:solidFill>
                  <a:schemeClr val="accent1"/>
                </a:solidFill>
              </a:rPr>
              <a:t>Mathematics</a:t>
            </a:r>
          </a:p>
          <a:p>
            <a:pPr marL="400050" indent="-400050" defTabSz="525779">
              <a:spcBef>
                <a:spcPts val="2300"/>
              </a:spcBef>
              <a:defRPr sz="3239"/>
            </a:pPr>
            <a:r>
              <a:rPr>
                <a:solidFill>
                  <a:schemeClr val="accent5"/>
                </a:solidFill>
              </a:rPr>
              <a:t>“Apply”</a:t>
            </a:r>
            <a:r>
              <a:t> – we want you consider some real-world question and not just something purely abstract. You should think about how you can mathematically model the real world.</a:t>
            </a:r>
          </a:p>
          <a:p>
            <a:pPr marL="400050" indent="-400050" defTabSz="525779">
              <a:spcBef>
                <a:spcPts val="2300"/>
              </a:spcBef>
              <a:defRPr sz="3239"/>
            </a:pPr>
            <a:r>
              <a:rPr>
                <a:solidFill>
                  <a:schemeClr val="accent1"/>
                </a:solidFill>
              </a:rPr>
              <a:t>“Mathematics” </a:t>
            </a:r>
            <a:r>
              <a:t>– we want your project to have some scope for doing some significant mathematics.</a:t>
            </a:r>
          </a:p>
          <a:p>
            <a:pPr marL="400050" indent="-400050" defTabSz="525779">
              <a:spcBef>
                <a:spcPts val="2300"/>
              </a:spcBef>
              <a:defRPr sz="3239"/>
            </a:pPr>
            <a:r>
              <a:t>Another viewpoint: what question are you trying to answer and why would other people care about it?</a:t>
            </a:r>
          </a:p>
          <a:p>
            <a:pPr marL="400050" indent="-400050" defTabSz="525779">
              <a:spcBef>
                <a:spcPts val="2300"/>
              </a:spcBef>
              <a:defRPr sz="3239"/>
            </a:pPr>
            <a:r>
              <a:t>While many projects involve some programming, purely analytical projects are also allowed.</a:t>
            </a:r>
          </a:p>
        </p:txBody>
      </p:sp>
    </p:spTree>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Shape 55"/>
          <p:cNvSpPr>
            <a:spLocks noGrp="1"/>
          </p:cNvSpPr>
          <p:nvPr>
            <p:ph type="title"/>
          </p:nvPr>
        </p:nvSpPr>
        <p:spPr>
          <a:prstGeom prst="rect">
            <a:avLst/>
          </a:prstGeom>
        </p:spPr>
        <p:txBody>
          <a:bodyPr/>
          <a:lstStyle/>
          <a:p>
            <a:r>
              <a:t>Length guideline</a:t>
            </a:r>
          </a:p>
        </p:txBody>
      </p:sp>
      <p:sp>
        <p:nvSpPr>
          <p:cNvPr id="56" name="Shape 56"/>
          <p:cNvSpPr>
            <a:spLocks noGrp="1"/>
          </p:cNvSpPr>
          <p:nvPr>
            <p:ph type="body" idx="1"/>
          </p:nvPr>
        </p:nvSpPr>
        <p:spPr>
          <a:xfrm>
            <a:off x="311001" y="2147837"/>
            <a:ext cx="9459516" cy="7210526"/>
          </a:xfrm>
          <a:prstGeom prst="rect">
            <a:avLst/>
          </a:prstGeom>
        </p:spPr>
        <p:txBody>
          <a:bodyPr/>
          <a:lstStyle/>
          <a:p>
            <a:pPr>
              <a:spcBef>
                <a:spcPts val="1100"/>
              </a:spcBef>
            </a:pPr>
            <a:r>
              <a:t>For text and figures:</a:t>
            </a:r>
          </a:p>
          <a:p>
            <a:pPr lvl="1">
              <a:spcBef>
                <a:spcPts val="1100"/>
              </a:spcBef>
            </a:pPr>
            <a:r>
              <a:t>7 pages for individual project</a:t>
            </a:r>
          </a:p>
          <a:p>
            <a:pPr lvl="1">
              <a:spcBef>
                <a:spcPts val="1100"/>
              </a:spcBef>
            </a:pPr>
            <a:r>
              <a:t>12 pages for pair project</a:t>
            </a:r>
          </a:p>
          <a:p>
            <a:pPr>
              <a:spcBef>
                <a:spcPts val="1100"/>
              </a:spcBef>
            </a:pPr>
            <a:r>
              <a:t>This is a </a:t>
            </a:r>
            <a:r>
              <a:rPr i="1">
                <a:solidFill>
                  <a:schemeClr val="accent1"/>
                </a:solidFill>
              </a:rPr>
              <a:t>highly approximate</a:t>
            </a:r>
            <a:r>
              <a:t> guideline. The exact length is not important. Depending on the topic, some projects may be longer, and some may be shorter. The key issue is how much did you accomplish.</a:t>
            </a:r>
          </a:p>
          <a:p>
            <a:pPr>
              <a:spcBef>
                <a:spcPts val="1100"/>
              </a:spcBef>
            </a:pPr>
            <a:r>
              <a:t>Text should be clear and concise: see </a:t>
            </a:r>
            <a:r>
              <a:rPr i="1"/>
              <a:t>The Elements of Style</a:t>
            </a:r>
            <a:r>
              <a:t> by Strunk, White, and Kalman</a:t>
            </a:r>
          </a:p>
        </p:txBody>
      </p:sp>
      <p:pic>
        <p:nvPicPr>
          <p:cNvPr id="57" name="71BWKVK+ToL.jpg"/>
          <p:cNvPicPr>
            <a:picLocks noChangeAspect="1"/>
          </p:cNvPicPr>
          <p:nvPr/>
        </p:nvPicPr>
        <p:blipFill>
          <a:blip r:embed="rId2">
            <a:extLst/>
          </a:blip>
          <a:stretch>
            <a:fillRect/>
          </a:stretch>
        </p:blipFill>
        <p:spPr>
          <a:xfrm>
            <a:off x="10051674" y="5601227"/>
            <a:ext cx="2833432" cy="4019520"/>
          </a:xfrm>
          <a:prstGeom prst="rect">
            <a:avLst/>
          </a:prstGeom>
          <a:ln w="12700">
            <a:miter lim="400000"/>
          </a:ln>
        </p:spPr>
      </p:pic>
    </p:spTree>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hape 59"/>
          <p:cNvSpPr>
            <a:spLocks noGrp="1"/>
          </p:cNvSpPr>
          <p:nvPr>
            <p:ph type="title"/>
          </p:nvPr>
        </p:nvSpPr>
        <p:spPr>
          <a:xfrm>
            <a:off x="437232" y="254000"/>
            <a:ext cx="12130336" cy="2159000"/>
          </a:xfrm>
          <a:prstGeom prst="rect">
            <a:avLst/>
          </a:prstGeom>
        </p:spPr>
        <p:txBody>
          <a:bodyPr/>
          <a:lstStyle/>
          <a:p>
            <a:r>
              <a:t>Project proposal</a:t>
            </a:r>
          </a:p>
        </p:txBody>
      </p:sp>
      <p:sp>
        <p:nvSpPr>
          <p:cNvPr id="60" name="Shape 60"/>
          <p:cNvSpPr>
            <a:spLocks noGrp="1"/>
          </p:cNvSpPr>
          <p:nvPr>
            <p:ph type="body" idx="1"/>
          </p:nvPr>
        </p:nvSpPr>
        <p:spPr>
          <a:xfrm>
            <a:off x="952500" y="2179835"/>
            <a:ext cx="11099800" cy="6710165"/>
          </a:xfrm>
          <a:prstGeom prst="rect">
            <a:avLst/>
          </a:prstGeom>
        </p:spPr>
        <p:txBody>
          <a:bodyPr/>
          <a:lstStyle/>
          <a:p>
            <a:pPr marL="360045" indent="-360045" defTabSz="473201">
              <a:spcBef>
                <a:spcPts val="2100"/>
              </a:spcBef>
              <a:defRPr sz="2916"/>
            </a:pPr>
            <a:r>
              <a:rPr dirty="0"/>
              <a:t>Consider project ideas over the next few weeks. Your project could relate to one of the topics covered in class, or could be about a completely different subject. Please discuss with the teaching staff.</a:t>
            </a:r>
          </a:p>
          <a:p>
            <a:pPr marL="360045" indent="-360045" defTabSz="473201">
              <a:spcBef>
                <a:spcPts val="2100"/>
              </a:spcBef>
              <a:defRPr sz="2916"/>
            </a:pPr>
            <a:r>
              <a:rPr dirty="0">
                <a:solidFill>
                  <a:schemeClr val="tx1"/>
                </a:solidFill>
              </a:rPr>
              <a:t>Project proposal due by </a:t>
            </a:r>
            <a:r>
              <a:rPr dirty="0" smtClean="0">
                <a:solidFill>
                  <a:schemeClr val="tx1"/>
                </a:solidFill>
              </a:rPr>
              <a:t>April</a:t>
            </a:r>
            <a:r>
              <a:rPr lang="en-US" dirty="0" smtClean="0">
                <a:solidFill>
                  <a:schemeClr val="tx1"/>
                </a:solidFill>
              </a:rPr>
              <a:t> 6</a:t>
            </a:r>
            <a:r>
              <a:rPr dirty="0" smtClean="0">
                <a:solidFill>
                  <a:schemeClr val="tx1"/>
                </a:solidFill>
              </a:rPr>
              <a:t>th </a:t>
            </a:r>
            <a:r>
              <a:rPr dirty="0">
                <a:solidFill>
                  <a:schemeClr val="tx1"/>
                </a:solidFill>
              </a:rPr>
              <a:t>at </a:t>
            </a:r>
            <a:r>
              <a:rPr lang="en-US" dirty="0" smtClean="0">
                <a:solidFill>
                  <a:schemeClr val="tx1"/>
                </a:solidFill>
              </a:rPr>
              <a:t>5</a:t>
            </a:r>
            <a:r>
              <a:rPr dirty="0" smtClean="0">
                <a:solidFill>
                  <a:schemeClr val="tx1"/>
                </a:solidFill>
              </a:rPr>
              <a:t> </a:t>
            </a:r>
            <a:r>
              <a:rPr dirty="0">
                <a:solidFill>
                  <a:schemeClr val="tx1"/>
                </a:solidFill>
              </a:rPr>
              <a:t>PM, and consists of a half-hour meeting with </a:t>
            </a:r>
            <a:r>
              <a:rPr dirty="0" smtClean="0">
                <a:solidFill>
                  <a:schemeClr val="tx1"/>
                </a:solidFill>
              </a:rPr>
              <a:t>a</a:t>
            </a:r>
            <a:r>
              <a:rPr lang="en-US" dirty="0" smtClean="0">
                <a:solidFill>
                  <a:schemeClr val="tx1"/>
                </a:solidFill>
              </a:rPr>
              <a:t> Margo</a:t>
            </a:r>
            <a:r>
              <a:rPr dirty="0" smtClean="0">
                <a:solidFill>
                  <a:schemeClr val="tx1"/>
                </a:solidFill>
              </a:rPr>
              <a:t>.</a:t>
            </a:r>
            <a:endParaRPr dirty="0">
              <a:solidFill>
                <a:schemeClr val="tx1"/>
              </a:solidFill>
            </a:endParaRPr>
          </a:p>
          <a:p>
            <a:pPr marL="360045" indent="-360045" defTabSz="473201">
              <a:spcBef>
                <a:spcPts val="2100"/>
              </a:spcBef>
              <a:defRPr sz="2916"/>
            </a:pPr>
            <a:r>
              <a:rPr dirty="0"/>
              <a:t>May optionally submit a half-page overview of project prior to meeting</a:t>
            </a:r>
          </a:p>
          <a:p>
            <a:pPr marL="360045" indent="-360045" defTabSz="473201">
              <a:spcBef>
                <a:spcPts val="2100"/>
              </a:spcBef>
              <a:defRPr sz="2916"/>
            </a:pPr>
            <a:r>
              <a:rPr dirty="0"/>
              <a:t>5 points automatically awarded for doing this.</a:t>
            </a:r>
          </a:p>
          <a:p>
            <a:pPr marL="360045" indent="-360045" defTabSz="473201">
              <a:spcBef>
                <a:spcPts val="2100"/>
              </a:spcBef>
              <a:defRPr sz="2916"/>
            </a:pPr>
            <a:r>
              <a:rPr dirty="0"/>
              <a:t>Meetings arranged by appointment. Good days:</a:t>
            </a:r>
          </a:p>
          <a:p>
            <a:pPr marL="360045" lvl="1" indent="0" defTabSz="473201">
              <a:spcBef>
                <a:spcPts val="2100"/>
              </a:spcBef>
              <a:buNone/>
              <a:defRPr sz="2916"/>
            </a:pPr>
            <a:r>
              <a:rPr lang="en-US" dirty="0" smtClean="0">
                <a:solidFill>
                  <a:schemeClr val="tx1"/>
                </a:solidFill>
              </a:rPr>
              <a:t> 3/8, 3/9, 3/10, 3/27, 3/28, 3/29, 3/30, 3/31, 4/3</a:t>
            </a:r>
            <a:endParaRPr dirty="0">
              <a:solidFill>
                <a:schemeClr val="tx1"/>
              </a:solidFill>
            </a:endParaRPr>
          </a:p>
        </p:txBody>
      </p:sp>
    </p:spTree>
  </p:cSld>
  <p:clrMapOvr>
    <a:masterClrMapping/>
  </p:clrMapOvr>
  <p:transition spd="med"/>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Shape 63"/>
          <p:cNvSpPr>
            <a:spLocks noGrp="1"/>
          </p:cNvSpPr>
          <p:nvPr>
            <p:ph type="title"/>
          </p:nvPr>
        </p:nvSpPr>
        <p:spPr>
          <a:prstGeom prst="rect">
            <a:avLst/>
          </a:prstGeom>
        </p:spPr>
        <p:txBody>
          <a:bodyPr/>
          <a:lstStyle/>
          <a:p>
            <a:r>
              <a:t>Grading breakdown: content</a:t>
            </a:r>
          </a:p>
        </p:txBody>
      </p:sp>
      <p:graphicFrame>
        <p:nvGraphicFramePr>
          <p:cNvPr id="64" name="Table 64"/>
          <p:cNvGraphicFramePr/>
          <p:nvPr>
            <p:extLst>
              <p:ext uri="{D42A27DB-BD31-4B8C-83A1-F6EECF244321}">
                <p14:modId xmlns:p14="http://schemas.microsoft.com/office/powerpoint/2010/main" val="1358799955"/>
              </p:ext>
            </p:extLst>
          </p:nvPr>
        </p:nvGraphicFramePr>
        <p:xfrm>
          <a:off x="862322" y="2264246"/>
          <a:ext cx="11280154" cy="6360684"/>
        </p:xfrm>
        <a:graphic>
          <a:graphicData uri="http://schemas.openxmlformats.org/drawingml/2006/table">
            <a:tbl>
              <a:tblPr>
                <a:tableStyleId>{4C3C2611-4C71-4FC5-86AE-919BDF0F9419}</a:tableStyleId>
              </a:tblPr>
              <a:tblGrid>
                <a:gridCol w="8401137"/>
                <a:gridCol w="2879017"/>
              </a:tblGrid>
              <a:tr h="937743">
                <a:tc>
                  <a:txBody>
                    <a:bodyPr/>
                    <a:lstStyle/>
                    <a:p>
                      <a:pPr defTabSz="914400"/>
                      <a:r>
                        <a:rPr sz="2100" b="1">
                          <a:latin typeface="+mj-lt"/>
                          <a:ea typeface="+mj-ea"/>
                          <a:cs typeface="+mj-cs"/>
                          <a:sym typeface="Helvetica"/>
                        </a:rPr>
                        <a:t>Topic</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100" b="1">
                          <a:latin typeface="+mj-lt"/>
                          <a:ea typeface="+mj-ea"/>
                          <a:cs typeface="+mj-cs"/>
                          <a:sym typeface="Helvetica"/>
                        </a:rPr>
                        <a:t>Points</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937743">
                <a:tc>
                  <a:txBody>
                    <a:bodyPr/>
                    <a:lstStyle/>
                    <a:p>
                      <a:pPr defTabSz="914400"/>
                      <a:r>
                        <a:rPr sz="2100" b="1" dirty="0">
                          <a:latin typeface="+mj-lt"/>
                          <a:ea typeface="+mj-ea"/>
                          <a:cs typeface="+mj-cs"/>
                          <a:sym typeface="Helvetica"/>
                        </a:rPr>
                        <a:t>Project proposal completed by </a:t>
                      </a:r>
                      <a:r>
                        <a:rPr sz="2100" b="1" dirty="0">
                          <a:solidFill>
                            <a:schemeClr val="tx1"/>
                          </a:solidFill>
                          <a:latin typeface="+mj-lt"/>
                          <a:ea typeface="+mj-ea"/>
                          <a:cs typeface="+mj-cs"/>
                          <a:sym typeface="Helvetica"/>
                        </a:rPr>
                        <a:t>April </a:t>
                      </a:r>
                      <a:r>
                        <a:rPr lang="en-US" sz="2100" b="1" dirty="0" smtClean="0">
                          <a:solidFill>
                            <a:schemeClr val="tx1"/>
                          </a:solidFill>
                          <a:latin typeface="+mj-lt"/>
                          <a:ea typeface="+mj-ea"/>
                          <a:cs typeface="+mj-cs"/>
                          <a:sym typeface="Helvetica"/>
                        </a:rPr>
                        <a:t>6th</a:t>
                      </a:r>
                      <a:r>
                        <a:rPr sz="2100" b="1" dirty="0" smtClean="0">
                          <a:solidFill>
                            <a:schemeClr val="tx1"/>
                          </a:solidFill>
                          <a:latin typeface="+mj-lt"/>
                          <a:ea typeface="+mj-ea"/>
                          <a:cs typeface="+mj-cs"/>
                          <a:sym typeface="Helvetica"/>
                        </a:rPr>
                        <a:t>, </a:t>
                      </a:r>
                      <a:r>
                        <a:rPr lang="en-US" sz="2100" b="1" dirty="0" smtClean="0">
                          <a:solidFill>
                            <a:schemeClr val="tx1"/>
                          </a:solidFill>
                          <a:latin typeface="+mj-lt"/>
                          <a:ea typeface="+mj-ea"/>
                          <a:cs typeface="+mj-cs"/>
                          <a:sym typeface="Helvetica"/>
                        </a:rPr>
                        <a:t>5</a:t>
                      </a:r>
                      <a:r>
                        <a:rPr sz="2100" b="1" dirty="0">
                          <a:solidFill>
                            <a:schemeClr val="tx1"/>
                          </a:solidFill>
                          <a:latin typeface="+mj-lt"/>
                          <a:ea typeface="+mj-ea"/>
                          <a:cs typeface="+mj-cs"/>
                          <a:sym typeface="Helvetica"/>
                        </a:rPr>
                        <a:t> PM</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100" b="1">
                          <a:latin typeface="+mj-lt"/>
                          <a:ea typeface="+mj-ea"/>
                          <a:cs typeface="+mj-cs"/>
                          <a:sym typeface="Helvetica"/>
                        </a:rPr>
                        <a:t>5</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1366078">
                <a:tc>
                  <a:txBody>
                    <a:bodyPr/>
                    <a:lstStyle/>
                    <a:p>
                      <a:pPr defTabSz="914400">
                        <a:defRPr sz="2100" b="1">
                          <a:latin typeface="+mj-lt"/>
                          <a:ea typeface="+mj-ea"/>
                          <a:cs typeface="+mj-cs"/>
                          <a:sym typeface="Helvetica"/>
                        </a:defRPr>
                      </a:pPr>
                      <a:r>
                        <a:rPr dirty="0"/>
                        <a:t>Project motivation: what problem are you trying to solve? What has been done before in this area? If appropriate, cite any relevant books and papers.</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100" b="1">
                          <a:latin typeface="+mj-lt"/>
                          <a:ea typeface="+mj-ea"/>
                          <a:cs typeface="+mj-cs"/>
                          <a:sym typeface="Helvetica"/>
                        </a:rPr>
                        <a:t>10</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1559560">
                <a:tc>
                  <a:txBody>
                    <a:bodyPr/>
                    <a:lstStyle/>
                    <a:p>
                      <a:pPr defTabSz="914400">
                        <a:defRPr sz="2100" b="1">
                          <a:latin typeface="+mj-lt"/>
                          <a:ea typeface="+mj-ea"/>
                          <a:cs typeface="+mj-cs"/>
                          <a:sym typeface="Helvetica"/>
                        </a:defRPr>
                      </a:pPr>
                      <a:r>
                        <a:rPr dirty="0"/>
                        <a:t>Project methods and results: what mathematics and/or code did you develop for your problem? Where appropriate, did you consider mathematical analyses of your approach? Is the mathematics/code that you developed correct?</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100" b="1">
                          <a:latin typeface="+mj-lt"/>
                          <a:ea typeface="+mj-ea"/>
                          <a:cs typeface="+mj-cs"/>
                          <a:sym typeface="Helvetica"/>
                        </a:rPr>
                        <a:t>26</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1559560">
                <a:tc>
                  <a:txBody>
                    <a:bodyPr/>
                    <a:lstStyle/>
                    <a:p>
                      <a:pPr defTabSz="914400">
                        <a:defRPr sz="2100" b="1">
                          <a:latin typeface="+mj-lt"/>
                          <a:ea typeface="+mj-ea"/>
                          <a:cs typeface="+mj-cs"/>
                          <a:sym typeface="Helvetica"/>
                        </a:defRPr>
                      </a:pPr>
                      <a:r>
                        <a:t>Project conclusions: did you solve what you set out to do? What are possible limitations and problems with your approach? How you could you develop the project further?</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100" b="1" dirty="0">
                          <a:latin typeface="+mj-lt"/>
                          <a:ea typeface="+mj-ea"/>
                          <a:cs typeface="+mj-cs"/>
                          <a:sym typeface="Helvetica"/>
                        </a:rPr>
                        <a:t>9</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bl>
          </a:graphicData>
        </a:graphic>
      </p:graphicFrame>
      <p:sp>
        <p:nvSpPr>
          <p:cNvPr id="65" name="Shape 65"/>
          <p:cNvSpPr/>
          <p:nvPr/>
        </p:nvSpPr>
        <p:spPr>
          <a:xfrm>
            <a:off x="7078104" y="8832850"/>
            <a:ext cx="5973292"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600"/>
            </a:lvl1pPr>
          </a:lstStyle>
          <a:p>
            <a:r>
              <a:t>Total for content: 50 points</a:t>
            </a:r>
          </a:p>
        </p:txBody>
      </p:sp>
    </p:spTree>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a:spLocks noGrp="1"/>
          </p:cNvSpPr>
          <p:nvPr>
            <p:ph type="title"/>
          </p:nvPr>
        </p:nvSpPr>
        <p:spPr>
          <a:prstGeom prst="rect">
            <a:avLst/>
          </a:prstGeom>
        </p:spPr>
        <p:txBody>
          <a:bodyPr/>
          <a:lstStyle/>
          <a:p>
            <a:r>
              <a:t>Grading breakdown: style</a:t>
            </a:r>
          </a:p>
        </p:txBody>
      </p:sp>
      <p:graphicFrame>
        <p:nvGraphicFramePr>
          <p:cNvPr id="68" name="Table 68"/>
          <p:cNvGraphicFramePr/>
          <p:nvPr>
            <p:extLst>
              <p:ext uri="{D42A27DB-BD31-4B8C-83A1-F6EECF244321}">
                <p14:modId xmlns:p14="http://schemas.microsoft.com/office/powerpoint/2010/main" val="773498629"/>
              </p:ext>
            </p:extLst>
          </p:nvPr>
        </p:nvGraphicFramePr>
        <p:xfrm>
          <a:off x="3148496" y="2696046"/>
          <a:ext cx="6707807" cy="4101068"/>
        </p:xfrm>
        <a:graphic>
          <a:graphicData uri="http://schemas.openxmlformats.org/drawingml/2006/table">
            <a:tbl>
              <a:tblPr>
                <a:tableStyleId>{4C3C2611-4C71-4FC5-86AE-919BDF0F9419}</a:tableStyleId>
              </a:tblPr>
              <a:tblGrid>
                <a:gridCol w="4995783"/>
                <a:gridCol w="1712024"/>
              </a:tblGrid>
              <a:tr h="1013116">
                <a:tc>
                  <a:txBody>
                    <a:bodyPr/>
                    <a:lstStyle/>
                    <a:p>
                      <a:pPr defTabSz="914400"/>
                      <a:r>
                        <a:rPr sz="2100" b="1">
                          <a:latin typeface="+mj-lt"/>
                          <a:ea typeface="+mj-ea"/>
                          <a:cs typeface="+mj-cs"/>
                          <a:sym typeface="Helvetica"/>
                        </a:rPr>
                        <a:t>Topic</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a:txBody>
                    <a:bodyPr/>
                    <a:lstStyle/>
                    <a:p>
                      <a:pPr defTabSz="914400"/>
                      <a:r>
                        <a:rPr sz="2100" b="1">
                          <a:latin typeface="+mj-lt"/>
                          <a:ea typeface="+mj-ea"/>
                          <a:cs typeface="+mj-cs"/>
                          <a:sym typeface="Helvetica"/>
                        </a:rPr>
                        <a:t>Points</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1013116">
                <a:tc>
                  <a:txBody>
                    <a:bodyPr/>
                    <a:lstStyle/>
                    <a:p>
                      <a:pPr defTabSz="914400"/>
                      <a:r>
                        <a:rPr sz="2100" b="1" dirty="0">
                          <a:latin typeface="+mj-lt"/>
                          <a:ea typeface="+mj-ea"/>
                          <a:cs typeface="+mj-cs"/>
                          <a:sym typeface="Helvetica"/>
                        </a:rPr>
                        <a:t>Written material: clear, correct grammar and </a:t>
                      </a:r>
                      <a:r>
                        <a:rPr sz="2100" b="1" dirty="0" smtClean="0">
                          <a:latin typeface="+mj-lt"/>
                          <a:ea typeface="+mj-ea"/>
                          <a:cs typeface="+mj-cs"/>
                          <a:sym typeface="Helvetica"/>
                        </a:rPr>
                        <a:t>spelling</a:t>
                      </a:r>
                      <a:r>
                        <a:rPr lang="en-US" sz="2100" b="1" dirty="0" smtClean="0">
                          <a:latin typeface="+mj-lt"/>
                          <a:ea typeface="+mj-ea"/>
                          <a:cs typeface="+mj-cs"/>
                          <a:sym typeface="Helvetica"/>
                        </a:rPr>
                        <a:t>, appropriate</a:t>
                      </a:r>
                      <a:r>
                        <a:rPr lang="en-US" sz="2100" b="1" baseline="0" dirty="0" smtClean="0">
                          <a:latin typeface="+mj-lt"/>
                          <a:ea typeface="+mj-ea"/>
                          <a:cs typeface="+mj-cs"/>
                          <a:sym typeface="Helvetica"/>
                        </a:rPr>
                        <a:t> citations</a:t>
                      </a:r>
                      <a:endParaRPr sz="2100" b="1" dirty="0">
                        <a:latin typeface="+mj-lt"/>
                        <a:ea typeface="+mj-ea"/>
                        <a:cs typeface="+mj-cs"/>
                        <a:sym typeface="Helvetica"/>
                      </a:endParaRP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rowSpan="3">
                  <a:txBody>
                    <a:bodyPr/>
                    <a:lstStyle/>
                    <a:p>
                      <a:pPr defTabSz="914400"/>
                      <a:r>
                        <a:rPr sz="2100" b="1">
                          <a:latin typeface="+mj-lt"/>
                          <a:ea typeface="+mj-ea"/>
                          <a:cs typeface="+mj-cs"/>
                          <a:sym typeface="Helvetica"/>
                        </a:rPr>
                        <a:t>30</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r>
              <a:tr h="1013116">
                <a:tc>
                  <a:txBody>
                    <a:bodyPr/>
                    <a:lstStyle/>
                    <a:p>
                      <a:pPr defTabSz="914400"/>
                      <a:r>
                        <a:rPr sz="2100" b="1">
                          <a:latin typeface="+mj-lt"/>
                          <a:ea typeface="+mj-ea"/>
                          <a:cs typeface="+mj-cs"/>
                          <a:sym typeface="Helvetica"/>
                        </a:rPr>
                        <a:t>Figures (if any): clear, properly labeled</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vMerge="1">
                  <a:txBody>
                    <a:bodyPr/>
                    <a:lstStyle/>
                    <a:p>
                      <a:endParaRPr lang="en-US"/>
                    </a:p>
                  </a:txBody>
                  <a:tcPr/>
                </a:tc>
              </a:tr>
              <a:tr h="1013116">
                <a:tc>
                  <a:txBody>
                    <a:bodyPr/>
                    <a:lstStyle/>
                    <a:p>
                      <a:pPr defTabSz="914400"/>
                      <a:r>
                        <a:rPr sz="2100" b="1" dirty="0">
                          <a:latin typeface="+mj-lt"/>
                          <a:ea typeface="+mj-ea"/>
                          <a:cs typeface="+mj-cs"/>
                          <a:sym typeface="Helvetica"/>
                        </a:rPr>
                        <a:t>Code listings (if any): clear, well commented</a:t>
                      </a:r>
                    </a:p>
                  </a:txBody>
                  <a:tcPr marL="50800" marR="50800" marT="50800" marB="50800" anchor="ctr" horzOverflow="overflow">
                    <a:lnL w="12700">
                      <a:solidFill>
                        <a:srgbClr val="3797C6"/>
                      </a:solidFill>
                      <a:miter lim="400000"/>
                    </a:lnL>
                    <a:lnR w="12700">
                      <a:solidFill>
                        <a:srgbClr val="3797C6"/>
                      </a:solidFill>
                      <a:miter lim="400000"/>
                    </a:lnR>
                    <a:lnT w="12700">
                      <a:solidFill>
                        <a:srgbClr val="3797C6"/>
                      </a:solidFill>
                      <a:miter lim="400000"/>
                    </a:lnT>
                    <a:lnB w="12700">
                      <a:solidFill>
                        <a:srgbClr val="3797C6"/>
                      </a:solidFill>
                      <a:miter lim="400000"/>
                    </a:lnB>
                  </a:tcPr>
                </a:tc>
                <a:tc vMerge="1">
                  <a:txBody>
                    <a:bodyPr/>
                    <a:lstStyle/>
                    <a:p>
                      <a:endParaRPr lang="en-US"/>
                    </a:p>
                  </a:txBody>
                  <a:tcPr/>
                </a:tc>
              </a:tr>
            </a:tbl>
          </a:graphicData>
        </a:graphic>
      </p:graphicFrame>
      <p:sp>
        <p:nvSpPr>
          <p:cNvPr id="69" name="Shape 69"/>
          <p:cNvSpPr/>
          <p:nvPr/>
        </p:nvSpPr>
        <p:spPr>
          <a:xfrm>
            <a:off x="7554006" y="7118350"/>
            <a:ext cx="5364511"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a:defRPr sz="3600"/>
            </a:lvl1pPr>
          </a:lstStyle>
          <a:p>
            <a:r>
              <a:t>Total for style: 30 points</a:t>
            </a:r>
          </a:p>
        </p:txBody>
      </p:sp>
      <p:sp>
        <p:nvSpPr>
          <p:cNvPr id="70" name="Shape 70"/>
          <p:cNvSpPr/>
          <p:nvPr/>
        </p:nvSpPr>
        <p:spPr>
          <a:xfrm>
            <a:off x="4434252" y="9023350"/>
            <a:ext cx="8484544" cy="6477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r">
              <a:defRPr sz="3600"/>
            </a:lvl1pPr>
          </a:lstStyle>
          <a:p>
            <a:r>
              <a:t>Grand total (content + style): 80 points</a:t>
            </a:r>
          </a:p>
        </p:txBody>
      </p:sp>
    </p:spTree>
  </p:cSld>
  <p:clrMapOvr>
    <a:masterClrMapping/>
  </p:clrMapOvr>
  <p:transition spd="med"/>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prstGeom prst="rect">
            <a:avLst/>
          </a:prstGeom>
        </p:spPr>
        <p:txBody>
          <a:bodyPr/>
          <a:lstStyle/>
          <a:p>
            <a:r>
              <a:t>Rough guideline for layout</a:t>
            </a:r>
          </a:p>
        </p:txBody>
      </p:sp>
      <p:sp>
        <p:nvSpPr>
          <p:cNvPr id="73" name="Shape 73"/>
          <p:cNvSpPr>
            <a:spLocks noGrp="1"/>
          </p:cNvSpPr>
          <p:nvPr>
            <p:ph type="body" idx="1"/>
          </p:nvPr>
        </p:nvSpPr>
        <p:spPr>
          <a:prstGeom prst="rect">
            <a:avLst/>
          </a:prstGeom>
        </p:spPr>
        <p:txBody>
          <a:bodyPr/>
          <a:lstStyle/>
          <a:p>
            <a:pPr marL="355600" indent="-355600" defTabSz="467359">
              <a:spcBef>
                <a:spcPts val="2000"/>
              </a:spcBef>
              <a:defRPr sz="2880"/>
            </a:pPr>
            <a:r>
              <a:t>Abstract: a short, concise summary of your paper</a:t>
            </a:r>
          </a:p>
          <a:p>
            <a:pPr marL="355600" indent="-355600" defTabSz="467359">
              <a:spcBef>
                <a:spcPts val="2000"/>
              </a:spcBef>
              <a:defRPr sz="2880"/>
            </a:pPr>
            <a:r>
              <a:t>Introduction: background information about your project and your original motivation. References to any relevant papers.</a:t>
            </a:r>
          </a:p>
          <a:p>
            <a:pPr marL="355600" indent="-355600" defTabSz="467359">
              <a:spcBef>
                <a:spcPts val="2000"/>
              </a:spcBef>
              <a:defRPr sz="2880"/>
            </a:pPr>
            <a:r>
              <a:t>Methods:</a:t>
            </a:r>
            <a:r>
              <a:rPr b="0"/>
              <a:t> </a:t>
            </a:r>
            <a:r>
              <a:t>description of all of the methods (mathematics, coding, </a:t>
            </a:r>
            <a:r>
              <a:rPr i="1"/>
              <a:t>etc.</a:t>
            </a:r>
            <a:r>
              <a:t>) that you used</a:t>
            </a:r>
          </a:p>
          <a:p>
            <a:pPr marL="355600" indent="-355600" defTabSz="467359">
              <a:spcBef>
                <a:spcPts val="2000"/>
              </a:spcBef>
              <a:defRPr sz="2880"/>
            </a:pPr>
            <a:r>
              <a:t>Results and discussion: Explain your results, including your graphs, why they are important and why we should care. Critically examine the quality of your results and the quality of your models.</a:t>
            </a:r>
          </a:p>
          <a:p>
            <a:pPr marL="355600" indent="-355600" defTabSz="467359">
              <a:spcBef>
                <a:spcPts val="2000"/>
              </a:spcBef>
              <a:defRPr sz="2880"/>
            </a:pPr>
            <a:r>
              <a:t>Conclusion: a quick round-up of the main points that you learned, plus possible future work</a:t>
            </a:r>
          </a:p>
          <a:p>
            <a:pPr marL="355600" indent="-355600" defTabSz="467359">
              <a:spcBef>
                <a:spcPts val="2000"/>
              </a:spcBef>
              <a:defRPr sz="2880"/>
            </a:pPr>
            <a:r>
              <a:t>References</a:t>
            </a:r>
          </a:p>
        </p:txBody>
      </p:sp>
    </p:spTree>
  </p:cSld>
  <p:clrMapOvr>
    <a:masterClrMapping/>
  </p:clrMapOvr>
  <p:transition spd="med"/>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Shape 75"/>
          <p:cNvSpPr>
            <a:spLocks noGrp="1"/>
          </p:cNvSpPr>
          <p:nvPr>
            <p:ph type="title"/>
          </p:nvPr>
        </p:nvSpPr>
        <p:spPr>
          <a:xfrm>
            <a:off x="723900" y="254000"/>
            <a:ext cx="11557000" cy="2438400"/>
          </a:xfrm>
          <a:prstGeom prst="rect">
            <a:avLst/>
          </a:prstGeom>
        </p:spPr>
        <p:txBody>
          <a:bodyPr/>
          <a:lstStyle>
            <a:lvl1pPr>
              <a:defRPr sz="6600"/>
            </a:lvl1pPr>
          </a:lstStyle>
          <a:p>
            <a:pPr>
              <a:defRPr>
                <a:effectLst/>
              </a:defRPr>
            </a:pPr>
            <a:r>
              <a:t>Option Pricing</a:t>
            </a:r>
          </a:p>
        </p:txBody>
      </p:sp>
      <p:pic>
        <p:nvPicPr>
          <p:cNvPr id="76" name="droppedImage.png"/>
          <p:cNvPicPr>
            <a:picLocks noChangeAspect="1"/>
          </p:cNvPicPr>
          <p:nvPr/>
        </p:nvPicPr>
        <p:blipFill>
          <a:blip r:embed="rId3">
            <a:extLst/>
          </a:blip>
          <a:stretch>
            <a:fillRect/>
          </a:stretch>
        </p:blipFill>
        <p:spPr>
          <a:xfrm>
            <a:off x="4406900" y="2082800"/>
            <a:ext cx="9156700" cy="4851400"/>
          </a:xfrm>
          <a:prstGeom prst="rect">
            <a:avLst/>
          </a:prstGeom>
          <a:ln w="12700">
            <a:miter lim="400000"/>
          </a:ln>
        </p:spPr>
      </p:pic>
      <p:pic>
        <p:nvPicPr>
          <p:cNvPr id="77" name="droppedImage.png"/>
          <p:cNvPicPr>
            <a:picLocks noChangeAspect="1"/>
          </p:cNvPicPr>
          <p:nvPr/>
        </p:nvPicPr>
        <p:blipFill>
          <a:blip r:embed="rId4">
            <a:extLst/>
          </a:blip>
          <a:stretch>
            <a:fillRect/>
          </a:stretch>
        </p:blipFill>
        <p:spPr>
          <a:xfrm>
            <a:off x="4787900" y="6652841"/>
            <a:ext cx="8534400" cy="2937617"/>
          </a:xfrm>
          <a:prstGeom prst="rect">
            <a:avLst/>
          </a:prstGeom>
          <a:ln w="12700">
            <a:miter lim="400000"/>
          </a:ln>
        </p:spPr>
      </p:pic>
      <p:pic>
        <p:nvPicPr>
          <p:cNvPr id="78" name="droppedImage.pdf"/>
          <p:cNvPicPr>
            <a:picLocks noChangeAspect="1"/>
          </p:cNvPicPr>
          <p:nvPr/>
        </p:nvPicPr>
        <p:blipFill>
          <a:blip r:embed="rId5">
            <a:extLst/>
          </a:blip>
          <a:srcRect l="3642" t="43399" r="53752" b="2000"/>
          <a:stretch>
            <a:fillRect/>
          </a:stretch>
        </p:blipFill>
        <p:spPr>
          <a:xfrm>
            <a:off x="139700" y="4508500"/>
            <a:ext cx="4650806" cy="3289300"/>
          </a:xfrm>
          <a:prstGeom prst="rect">
            <a:avLst/>
          </a:prstGeom>
          <a:ln w="12700">
            <a:miter lim="400000"/>
          </a:ln>
        </p:spPr>
      </p:pic>
      <p:sp>
        <p:nvSpPr>
          <p:cNvPr id="79" name="Shape 79"/>
          <p:cNvSpPr/>
          <p:nvPr/>
        </p:nvSpPr>
        <p:spPr>
          <a:xfrm>
            <a:off x="4792619" y="3498850"/>
            <a:ext cx="1300907" cy="736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r>
              <a:t>1973</a:t>
            </a:r>
          </a:p>
        </p:txBody>
      </p:sp>
    </p:spTree>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Shape 81"/>
          <p:cNvSpPr>
            <a:spLocks noGrp="1"/>
          </p:cNvSpPr>
          <p:nvPr>
            <p:ph type="title"/>
          </p:nvPr>
        </p:nvSpPr>
        <p:spPr>
          <a:xfrm>
            <a:off x="723900" y="254000"/>
            <a:ext cx="11557000" cy="2438400"/>
          </a:xfrm>
          <a:prstGeom prst="rect">
            <a:avLst/>
          </a:prstGeom>
        </p:spPr>
        <p:txBody>
          <a:bodyPr/>
          <a:lstStyle>
            <a:lvl1pPr>
              <a:defRPr sz="6400"/>
            </a:lvl1pPr>
          </a:lstStyle>
          <a:p>
            <a:pPr>
              <a:defRPr>
                <a:effectLst/>
              </a:defRPr>
            </a:pPr>
            <a:r>
              <a:t>Jargon</a:t>
            </a:r>
          </a:p>
        </p:txBody>
      </p:sp>
      <p:sp>
        <p:nvSpPr>
          <p:cNvPr id="82" name="Shape 82"/>
          <p:cNvSpPr>
            <a:spLocks noGrp="1"/>
          </p:cNvSpPr>
          <p:nvPr>
            <p:ph type="body" idx="1"/>
          </p:nvPr>
        </p:nvSpPr>
        <p:spPr>
          <a:xfrm>
            <a:off x="641350" y="2311400"/>
            <a:ext cx="11722100" cy="6756400"/>
          </a:xfrm>
          <a:prstGeom prst="rect">
            <a:avLst/>
          </a:prstGeom>
        </p:spPr>
        <p:txBody>
          <a:bodyPr>
            <a:normAutofit/>
          </a:bodyPr>
          <a:lstStyle/>
          <a:p>
            <a:pPr marL="0" indent="266700" defTabSz="490727">
              <a:spcBef>
                <a:spcPts val="2000"/>
              </a:spcBef>
              <a:buSzTx/>
              <a:buNone/>
              <a:defRPr sz="3696"/>
            </a:pPr>
            <a:r>
              <a:rPr>
                <a:solidFill>
                  <a:schemeClr val="accent1"/>
                </a:solidFill>
              </a:rPr>
              <a:t>Stock</a:t>
            </a:r>
            <a:r>
              <a:t> – share of a company</a:t>
            </a:r>
          </a:p>
          <a:p>
            <a:pPr marL="0" indent="266700" defTabSz="490727">
              <a:spcBef>
                <a:spcPts val="2000"/>
              </a:spcBef>
              <a:buSzTx/>
              <a:buNone/>
              <a:defRPr sz="3696"/>
            </a:pPr>
            <a:r>
              <a:rPr>
                <a:solidFill>
                  <a:schemeClr val="accent1"/>
                </a:solidFill>
              </a:rPr>
              <a:t>Derivative</a:t>
            </a:r>
            <a:r>
              <a:t> – broad financial term to describe financial instrument whose value is derived from that of other assets, </a:t>
            </a:r>
            <a:r>
              <a:rPr i="1"/>
              <a:t>e.g.</a:t>
            </a:r>
          </a:p>
          <a:p>
            <a:pPr marL="1559051" lvl="1" indent="-416051" defTabSz="490727">
              <a:spcBef>
                <a:spcPts val="2000"/>
              </a:spcBef>
              <a:buSzPct val="100000"/>
              <a:defRPr sz="3696"/>
            </a:pPr>
            <a:r>
              <a:t>stocks</a:t>
            </a:r>
          </a:p>
          <a:p>
            <a:pPr marL="1559051" lvl="1" indent="-416051" defTabSz="490727">
              <a:spcBef>
                <a:spcPts val="2000"/>
              </a:spcBef>
              <a:buSzPct val="100000"/>
              <a:defRPr sz="3696"/>
            </a:pPr>
            <a:r>
              <a:t>bonds</a:t>
            </a:r>
          </a:p>
          <a:p>
            <a:pPr marL="1559051" lvl="1" indent="-416051" defTabSz="490727">
              <a:spcBef>
                <a:spcPts val="2000"/>
              </a:spcBef>
              <a:buSzPct val="100000"/>
              <a:defRPr sz="3696"/>
            </a:pPr>
            <a:r>
              <a:t>commodities (oil prices)</a:t>
            </a:r>
          </a:p>
          <a:p>
            <a:pPr marL="1559051" lvl="1" indent="-416051" defTabSz="490727">
              <a:spcBef>
                <a:spcPts val="2000"/>
              </a:spcBef>
              <a:buSzPct val="100000"/>
              <a:defRPr sz="3696"/>
            </a:pPr>
            <a:r>
              <a:t>other indices (weather, </a:t>
            </a:r>
            <a:r>
              <a:rPr i="1"/>
              <a:t>etc.</a:t>
            </a:r>
            <a:r>
              <a:t>)</a:t>
            </a:r>
          </a:p>
          <a:p>
            <a:pPr marL="0" indent="266700" defTabSz="490727">
              <a:spcBef>
                <a:spcPts val="2000"/>
              </a:spcBef>
              <a:buSzTx/>
              <a:buNone/>
              <a:defRPr sz="3696"/>
            </a:pPr>
            <a:r>
              <a:t>Primarily used for managing risk, or hedging</a:t>
            </a:r>
          </a:p>
        </p:txBody>
      </p:sp>
    </p:spTree>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p:cNvSpPr>
          <p:nvPr>
            <p:ph type="title"/>
          </p:nvPr>
        </p:nvSpPr>
        <p:spPr>
          <a:xfrm>
            <a:off x="723900" y="254000"/>
            <a:ext cx="11557000" cy="2438400"/>
          </a:xfrm>
          <a:prstGeom prst="rect">
            <a:avLst/>
          </a:prstGeom>
        </p:spPr>
        <p:txBody>
          <a:bodyPr/>
          <a:lstStyle>
            <a:lvl1pPr>
              <a:defRPr sz="6000"/>
            </a:lvl1pPr>
          </a:lstStyle>
          <a:p>
            <a:pPr>
              <a:defRPr>
                <a:effectLst/>
              </a:defRPr>
            </a:pPr>
            <a:r>
              <a:t>Jargon</a:t>
            </a:r>
          </a:p>
        </p:txBody>
      </p:sp>
      <p:sp>
        <p:nvSpPr>
          <p:cNvPr id="85" name="Shape 85"/>
          <p:cNvSpPr>
            <a:spLocks noGrp="1"/>
          </p:cNvSpPr>
          <p:nvPr>
            <p:ph type="body" idx="1"/>
          </p:nvPr>
        </p:nvSpPr>
        <p:spPr>
          <a:xfrm>
            <a:off x="282227" y="2768600"/>
            <a:ext cx="12081223" cy="6210300"/>
          </a:xfrm>
          <a:prstGeom prst="rect">
            <a:avLst/>
          </a:prstGeom>
        </p:spPr>
        <p:txBody>
          <a:bodyPr>
            <a:normAutofit/>
          </a:bodyPr>
          <a:lstStyle/>
          <a:p>
            <a:pPr marL="0" indent="228600" defTabSz="420624">
              <a:spcBef>
                <a:spcPts val="1700"/>
              </a:spcBef>
              <a:buSzTx/>
              <a:buNone/>
              <a:defRPr sz="3168"/>
            </a:pPr>
            <a:r>
              <a:rPr dirty="0">
                <a:solidFill>
                  <a:schemeClr val="accent1"/>
                </a:solidFill>
              </a:rPr>
              <a:t>Call option</a:t>
            </a:r>
            <a:r>
              <a:rPr dirty="0"/>
              <a:t> – The right, but not the obligation, to </a:t>
            </a:r>
            <a:r>
              <a:rPr dirty="0">
                <a:solidFill>
                  <a:schemeClr val="accent4"/>
                </a:solidFill>
              </a:rPr>
              <a:t>buy some asset</a:t>
            </a:r>
            <a:r>
              <a:rPr dirty="0"/>
              <a:t> in the future at a fixed price that is agreed upon today, called the </a:t>
            </a:r>
            <a:r>
              <a:rPr lang="en-US" dirty="0" smtClean="0">
                <a:solidFill>
                  <a:schemeClr val="accent4"/>
                </a:solidFill>
              </a:rPr>
              <a:t>strike </a:t>
            </a:r>
            <a:r>
              <a:rPr dirty="0" smtClean="0"/>
              <a:t>or </a:t>
            </a:r>
            <a:r>
              <a:rPr dirty="0"/>
              <a:t>exercise price.</a:t>
            </a:r>
          </a:p>
          <a:p>
            <a:pPr marL="0" indent="228600" defTabSz="420624">
              <a:spcBef>
                <a:spcPts val="1700"/>
              </a:spcBef>
              <a:buSzTx/>
              <a:buNone/>
              <a:defRPr sz="3168"/>
            </a:pPr>
            <a:r>
              <a:rPr dirty="0">
                <a:solidFill>
                  <a:schemeClr val="accent1"/>
                </a:solidFill>
              </a:rPr>
              <a:t>Put option</a:t>
            </a:r>
            <a:r>
              <a:rPr dirty="0"/>
              <a:t> – The right, but not the obligation to </a:t>
            </a:r>
            <a:r>
              <a:rPr dirty="0">
                <a:solidFill>
                  <a:schemeClr val="accent4"/>
                </a:solidFill>
              </a:rPr>
              <a:t>sell an asset</a:t>
            </a:r>
            <a:r>
              <a:rPr dirty="0"/>
              <a:t> in the future at a price determined today.</a:t>
            </a:r>
          </a:p>
          <a:p>
            <a:pPr marL="0" indent="228600" defTabSz="420624">
              <a:spcBef>
                <a:spcPts val="1700"/>
              </a:spcBef>
              <a:buSzTx/>
              <a:buNone/>
              <a:defRPr sz="3168"/>
            </a:pPr>
            <a:endParaRPr dirty="0"/>
          </a:p>
          <a:p>
            <a:pPr marL="0" indent="228600" defTabSz="420624">
              <a:spcBef>
                <a:spcPts val="1700"/>
              </a:spcBef>
              <a:buSzTx/>
              <a:buNone/>
              <a:defRPr sz="3168"/>
            </a:pPr>
            <a:r>
              <a:rPr dirty="0"/>
              <a:t>The person </a:t>
            </a:r>
            <a:r>
              <a:rPr dirty="0">
                <a:solidFill>
                  <a:schemeClr val="accent4"/>
                </a:solidFill>
              </a:rPr>
              <a:t>buying the option</a:t>
            </a:r>
            <a:r>
              <a:rPr dirty="0"/>
              <a:t> is said to be in a </a:t>
            </a:r>
            <a:r>
              <a:rPr i="1" dirty="0"/>
              <a:t>long</a:t>
            </a:r>
            <a:r>
              <a:rPr dirty="0"/>
              <a:t> position: </a:t>
            </a:r>
            <a:r>
              <a:rPr lang="en-US" dirty="0" smtClean="0"/>
              <a:t>   </a:t>
            </a:r>
            <a:r>
              <a:rPr dirty="0" smtClean="0"/>
              <a:t>if </a:t>
            </a:r>
            <a:r>
              <a:rPr dirty="0"/>
              <a:t>they keep the option they won’t make money for </a:t>
            </a:r>
            <a:r>
              <a:rPr lang="en-US" dirty="0"/>
              <a:t>a</a:t>
            </a:r>
            <a:r>
              <a:rPr dirty="0" smtClean="0"/>
              <a:t>while</a:t>
            </a:r>
            <a:r>
              <a:rPr dirty="0"/>
              <a:t>. </a:t>
            </a:r>
          </a:p>
          <a:p>
            <a:pPr marL="0" indent="228600" defTabSz="420624">
              <a:spcBef>
                <a:spcPts val="1700"/>
              </a:spcBef>
              <a:buSzTx/>
              <a:buNone/>
              <a:defRPr sz="3168"/>
            </a:pPr>
            <a:r>
              <a:rPr dirty="0"/>
              <a:t>The person </a:t>
            </a:r>
            <a:r>
              <a:rPr dirty="0">
                <a:solidFill>
                  <a:schemeClr val="accent4"/>
                </a:solidFill>
              </a:rPr>
              <a:t>selling the option</a:t>
            </a:r>
            <a:r>
              <a:rPr dirty="0"/>
              <a:t> is said to be in a </a:t>
            </a:r>
            <a:r>
              <a:rPr i="1" dirty="0"/>
              <a:t>short</a:t>
            </a:r>
            <a:r>
              <a:rPr dirty="0"/>
              <a:t> position.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8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8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8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85">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8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1" build="p" bldLvl="5" animBg="1" advAuto="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9" name="Group 89"/>
          <p:cNvGrpSpPr/>
          <p:nvPr/>
        </p:nvGrpSpPr>
        <p:grpSpPr>
          <a:xfrm>
            <a:off x="88900" y="2201811"/>
            <a:ext cx="12839700" cy="5616678"/>
            <a:chOff x="0" y="0"/>
            <a:chExt cx="12839700" cy="5616676"/>
          </a:xfrm>
        </p:grpSpPr>
        <p:pic>
          <p:nvPicPr>
            <p:cNvPr id="88" name="droppedImage.png"/>
            <p:cNvPicPr>
              <a:picLocks noChangeAspect="1"/>
            </p:cNvPicPr>
            <p:nvPr/>
          </p:nvPicPr>
          <p:blipFill>
            <a:blip r:embed="rId2">
              <a:extLst/>
            </a:blip>
            <a:stretch>
              <a:fillRect/>
            </a:stretch>
          </p:blipFill>
          <p:spPr>
            <a:xfrm>
              <a:off x="215900" y="139700"/>
              <a:ext cx="12407900" cy="5057877"/>
            </a:xfrm>
            <a:prstGeom prst="rect">
              <a:avLst/>
            </a:prstGeom>
            <a:ln>
              <a:noFill/>
            </a:ln>
            <a:effectLst/>
          </p:spPr>
        </p:pic>
        <p:pic>
          <p:nvPicPr>
            <p:cNvPr id="87" name="Picture 86"/>
            <p:cNvPicPr>
              <a:picLocks/>
            </p:cNvPicPr>
            <p:nvPr/>
          </p:nvPicPr>
          <p:blipFill>
            <a:blip r:embed="rId3">
              <a:extLst/>
            </a:blip>
            <a:stretch>
              <a:fillRect/>
            </a:stretch>
          </p:blipFill>
          <p:spPr>
            <a:xfrm>
              <a:off x="0" y="0"/>
              <a:ext cx="12839700" cy="5616677"/>
            </a:xfrm>
            <a:prstGeom prst="rect">
              <a:avLst/>
            </a:prstGeom>
            <a:effectLst/>
          </p:spPr>
        </p:pic>
      </p:grpSp>
    </p:spTree>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 name="Shape 91"/>
          <p:cNvSpPr>
            <a:spLocks noGrp="1"/>
          </p:cNvSpPr>
          <p:nvPr>
            <p:ph type="title"/>
          </p:nvPr>
        </p:nvSpPr>
        <p:spPr>
          <a:xfrm>
            <a:off x="723900" y="254000"/>
            <a:ext cx="11557000" cy="2438400"/>
          </a:xfrm>
          <a:prstGeom prst="rect">
            <a:avLst/>
          </a:prstGeom>
        </p:spPr>
        <p:txBody>
          <a:bodyPr/>
          <a:lstStyle>
            <a:lvl1pPr>
              <a:defRPr sz="6000"/>
            </a:lvl1pPr>
          </a:lstStyle>
          <a:p>
            <a:pPr>
              <a:defRPr>
                <a:effectLst/>
              </a:defRPr>
            </a:pPr>
            <a:r>
              <a:t>Jargon</a:t>
            </a:r>
          </a:p>
        </p:txBody>
      </p:sp>
      <p:sp>
        <p:nvSpPr>
          <p:cNvPr id="92" name="Shape 92"/>
          <p:cNvSpPr/>
          <p:nvPr/>
        </p:nvSpPr>
        <p:spPr>
          <a:xfrm>
            <a:off x="2122194" y="4261207"/>
            <a:ext cx="8760412" cy="1764586"/>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000"/>
            </a:lvl1pPr>
          </a:lstStyle>
          <a:p>
            <a:r>
              <a:rPr dirty="0"/>
              <a:t>5 Minute </a:t>
            </a:r>
            <a:r>
              <a:rPr dirty="0" smtClean="0"/>
              <a:t>Break</a:t>
            </a:r>
            <a:endParaRPr lang="en-US" dirty="0" smtClean="0"/>
          </a:p>
          <a:p>
            <a:endParaRPr lang="en-US" dirty="0" smtClean="0"/>
          </a:p>
          <a:p>
            <a:r>
              <a:rPr dirty="0" smtClean="0"/>
              <a:t>Explain </a:t>
            </a:r>
            <a:r>
              <a:rPr dirty="0"/>
              <a:t>the jargon to your neighbor</a:t>
            </a:r>
          </a:p>
        </p:txBody>
      </p:sp>
    </p:spTree>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Shape 94"/>
          <p:cNvSpPr>
            <a:spLocks noGrp="1"/>
          </p:cNvSpPr>
          <p:nvPr>
            <p:ph type="title"/>
          </p:nvPr>
        </p:nvSpPr>
        <p:spPr>
          <a:xfrm>
            <a:off x="723900" y="254000"/>
            <a:ext cx="11557000" cy="1219200"/>
          </a:xfrm>
          <a:prstGeom prst="rect">
            <a:avLst/>
          </a:prstGeom>
        </p:spPr>
        <p:txBody>
          <a:bodyPr/>
          <a:lstStyle>
            <a:lvl1pPr>
              <a:defRPr sz="6000"/>
            </a:lvl1pPr>
          </a:lstStyle>
          <a:p>
            <a:pPr>
              <a:defRPr>
                <a:effectLst/>
              </a:defRPr>
            </a:pPr>
            <a:r>
              <a:t>Example – Call Option</a:t>
            </a:r>
          </a:p>
        </p:txBody>
      </p:sp>
      <p:sp>
        <p:nvSpPr>
          <p:cNvPr id="95" name="Shape 95"/>
          <p:cNvSpPr>
            <a:spLocks noGrp="1"/>
          </p:cNvSpPr>
          <p:nvPr>
            <p:ph type="body" idx="1"/>
          </p:nvPr>
        </p:nvSpPr>
        <p:spPr>
          <a:xfrm>
            <a:off x="336550" y="1568450"/>
            <a:ext cx="12331700" cy="7467600"/>
          </a:xfrm>
          <a:prstGeom prst="rect">
            <a:avLst/>
          </a:prstGeom>
        </p:spPr>
        <p:txBody>
          <a:bodyPr>
            <a:normAutofit/>
          </a:bodyPr>
          <a:lstStyle/>
          <a:p>
            <a:pPr marL="709748" indent="-404948" defTabSz="560831">
              <a:spcBef>
                <a:spcPts val="2300"/>
              </a:spcBef>
              <a:defRPr sz="2976"/>
            </a:pPr>
            <a:r>
              <a:rPr dirty="0"/>
              <a:t>You have a June call option for Microsoft with a strike price of $30 for 100 shares. If the price today is $20 and it rises to $40, would you exercise your option?</a:t>
            </a:r>
          </a:p>
          <a:p>
            <a:pPr marL="1136468" lvl="1" indent="-404948" defTabSz="560831">
              <a:spcBef>
                <a:spcPts val="2300"/>
              </a:spcBef>
              <a:defRPr sz="2976"/>
            </a:pPr>
            <a:r>
              <a:rPr dirty="0">
                <a:solidFill>
                  <a:schemeClr val="accent2"/>
                </a:solidFill>
              </a:rPr>
              <a:t>Yes</a:t>
            </a:r>
            <a:r>
              <a:rPr dirty="0"/>
              <a:t>, you would exercise your call option and buy Microsoft stock for $30, earning $10 in </a:t>
            </a:r>
            <a:r>
              <a:rPr dirty="0" smtClean="0"/>
              <a:t>profit</a:t>
            </a:r>
            <a:r>
              <a:rPr lang="en-US" dirty="0" smtClean="0"/>
              <a:t> </a:t>
            </a:r>
            <a:endParaRPr dirty="0" smtClean="0"/>
          </a:p>
          <a:p>
            <a:pPr marL="1136468" lvl="1" indent="-404948" defTabSz="560831">
              <a:spcBef>
                <a:spcPts val="2300"/>
              </a:spcBef>
              <a:defRPr sz="2976"/>
            </a:pPr>
            <a:r>
              <a:rPr dirty="0" smtClean="0"/>
              <a:t>The seller writes the call option contract and the owner (buyer of contract) has the option to buy the said stock at the given value</a:t>
            </a:r>
          </a:p>
          <a:p>
            <a:pPr marL="1136468" lvl="1" indent="-404948" defTabSz="560831">
              <a:spcBef>
                <a:spcPts val="2300"/>
              </a:spcBef>
              <a:defRPr sz="2976"/>
            </a:pPr>
            <a:r>
              <a:rPr dirty="0" smtClean="0"/>
              <a:t>Note</a:t>
            </a:r>
            <a:r>
              <a:rPr dirty="0"/>
              <a:t>: seller is required to sell, but buyer isn’t required to buy</a:t>
            </a:r>
          </a:p>
          <a:p>
            <a:pPr marL="1136468" lvl="1" indent="-404948" defTabSz="560831">
              <a:spcBef>
                <a:spcPts val="2300"/>
              </a:spcBef>
              <a:defRPr sz="2976"/>
            </a:pPr>
            <a:r>
              <a:rPr dirty="0"/>
              <a:t>The seller must give the buyer </a:t>
            </a:r>
            <a:r>
              <a:rPr lang="en-US" dirty="0" smtClean="0"/>
              <a:t>$10</a:t>
            </a:r>
            <a:endParaRPr dirty="0"/>
          </a:p>
          <a:p>
            <a:pPr marL="709748" indent="-404948" defTabSz="560831">
              <a:spcBef>
                <a:spcPts val="2300"/>
              </a:spcBef>
              <a:defRPr sz="2976"/>
            </a:pPr>
            <a:r>
              <a:rPr dirty="0"/>
              <a:t>Hence, the option contract costs money; the price depends on the strike price, the length of time, risk, </a:t>
            </a:r>
            <a:r>
              <a:rPr i="1" dirty="0"/>
              <a:t>etc. </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5">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1" nodeType="clickEffect">
                                  <p:stCondLst>
                                    <p:cond delay="0"/>
                                  </p:stCondLst>
                                  <p:iterate>
                                    <p:tmAbs val="0"/>
                                  </p:iterate>
                                  <p:childTnLst>
                                    <p:set>
                                      <p:cBhvr>
                                        <p:cTn id="16" fill="hold"/>
                                        <p:tgtEl>
                                          <p:spTgt spid="9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1" nodeType="clickEffect">
                                  <p:stCondLst>
                                    <p:cond delay="0"/>
                                  </p:stCondLst>
                                  <p:iterate>
                                    <p:tmAbs val="0"/>
                                  </p:iterate>
                                  <p:childTnLst>
                                    <p:set>
                                      <p:cBhvr>
                                        <p:cTn id="20" fill="hold"/>
                                        <p:tgtEl>
                                          <p:spTgt spid="9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iterate>
                                    <p:tmAbs val="0"/>
                                  </p:iterate>
                                  <p:childTnLst>
                                    <p:set>
                                      <p:cBhvr>
                                        <p:cTn id="24" fill="hold"/>
                                        <p:tgtEl>
                                          <p:spTgt spid="9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1" nodeType="clickEffect">
                                  <p:stCondLst>
                                    <p:cond delay="0"/>
                                  </p:stCondLst>
                                  <p:iterate>
                                    <p:tmAbs val="0"/>
                                  </p:iterate>
                                  <p:childTnLst>
                                    <p:set>
                                      <p:cBhvr>
                                        <p:cTn id="28" fill="hold"/>
                                        <p:tgtEl>
                                          <p:spTgt spid="9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 grpId="1" build="p" bldLvl="5" animBg="1" advAuto="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Shape 97"/>
          <p:cNvSpPr>
            <a:spLocks noGrp="1"/>
          </p:cNvSpPr>
          <p:nvPr>
            <p:ph type="title"/>
          </p:nvPr>
        </p:nvSpPr>
        <p:spPr>
          <a:xfrm>
            <a:off x="723900" y="254000"/>
            <a:ext cx="11557000" cy="2438400"/>
          </a:xfrm>
          <a:prstGeom prst="rect">
            <a:avLst/>
          </a:prstGeom>
        </p:spPr>
        <p:txBody>
          <a:bodyPr/>
          <a:lstStyle>
            <a:lvl1pPr>
              <a:defRPr sz="6000"/>
            </a:lvl1pPr>
          </a:lstStyle>
          <a:p>
            <a:pPr>
              <a:defRPr>
                <a:effectLst/>
              </a:defRPr>
            </a:pPr>
            <a:r>
              <a:t>Option Pricing</a:t>
            </a:r>
          </a:p>
        </p:txBody>
      </p:sp>
      <p:sp>
        <p:nvSpPr>
          <p:cNvPr id="98" name="Shape 98"/>
          <p:cNvSpPr>
            <a:spLocks noGrp="1"/>
          </p:cNvSpPr>
          <p:nvPr>
            <p:ph type="body" idx="1"/>
          </p:nvPr>
        </p:nvSpPr>
        <p:spPr>
          <a:xfrm>
            <a:off x="476250" y="2768600"/>
            <a:ext cx="12052300" cy="5715000"/>
          </a:xfrm>
          <a:prstGeom prst="rect">
            <a:avLst/>
          </a:prstGeom>
        </p:spPr>
        <p:txBody>
          <a:bodyPr/>
          <a:lstStyle/>
          <a:p>
            <a:r>
              <a:rPr dirty="0"/>
              <a:t>Note the option is an insurance contract. The question of valuing options is really thus the question of how much to charge for insurance</a:t>
            </a:r>
            <a:r>
              <a:rPr dirty="0" smtClean="0"/>
              <a:t>.</a:t>
            </a:r>
            <a:r>
              <a:rPr lang="en-US" dirty="0" smtClean="0">
                <a:solidFill>
                  <a:srgbClr val="FF0000"/>
                </a:solidFill>
              </a:rPr>
              <a:t> </a:t>
            </a:r>
            <a:endParaRPr dirty="0"/>
          </a:p>
          <a:p>
            <a:r>
              <a:rPr dirty="0"/>
              <a:t>How do we value this?  </a:t>
            </a:r>
          </a:p>
          <a:p>
            <a:r>
              <a:rPr dirty="0"/>
              <a:t>We do not know what is going to happen to the stock price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98">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9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1" nodeType="clickEffect">
                                  <p:stCondLst>
                                    <p:cond delay="0"/>
                                  </p:stCondLst>
                                  <p:iterate>
                                    <p:tmAbs val="0"/>
                                  </p:iterate>
                                  <p:childTnLst>
                                    <p:set>
                                      <p:cBhvr>
                                        <p:cTn id="12" fill="hold"/>
                                        <p:tgtEl>
                                          <p:spTgt spid="98">
                                            <p:txEl>
                                              <p:pRg st="1" end="1"/>
                                            </p:txEl>
                                          </p:spTgt>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1" nodeType="afterEffect">
                                  <p:stCondLst>
                                    <p:cond delay="0"/>
                                  </p:stCondLst>
                                  <p:iterate>
                                    <p:tmAbs val="0"/>
                                  </p:iterate>
                                  <p:childTnLst>
                                    <p:set>
                                      <p:cBhvr>
                                        <p:cTn id="15" fill="hold"/>
                                        <p:tgtEl>
                                          <p:spTgt spid="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8" grpId="1" build="p" bldLvl="5" animBg="1" advAuto="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Shape 100"/>
          <p:cNvSpPr>
            <a:spLocks noGrp="1"/>
          </p:cNvSpPr>
          <p:nvPr>
            <p:ph type="title"/>
          </p:nvPr>
        </p:nvSpPr>
        <p:spPr>
          <a:xfrm>
            <a:off x="723900" y="254000"/>
            <a:ext cx="11557000" cy="1219200"/>
          </a:xfrm>
          <a:prstGeom prst="rect">
            <a:avLst/>
          </a:prstGeom>
        </p:spPr>
        <p:txBody>
          <a:bodyPr/>
          <a:lstStyle>
            <a:lvl1pPr>
              <a:defRPr sz="6000"/>
            </a:lvl1pPr>
          </a:lstStyle>
          <a:p>
            <a:pPr>
              <a:defRPr>
                <a:effectLst/>
              </a:defRPr>
            </a:pPr>
            <a:r>
              <a:t>Example – Call Option</a:t>
            </a:r>
          </a:p>
        </p:txBody>
      </p:sp>
      <p:sp>
        <p:nvSpPr>
          <p:cNvPr id="101" name="Shape 101"/>
          <p:cNvSpPr>
            <a:spLocks noGrp="1"/>
          </p:cNvSpPr>
          <p:nvPr>
            <p:ph type="body" sz="quarter" idx="1"/>
          </p:nvPr>
        </p:nvSpPr>
        <p:spPr>
          <a:xfrm>
            <a:off x="407837" y="1619250"/>
            <a:ext cx="12190057" cy="2232903"/>
          </a:xfrm>
          <a:prstGeom prst="rect">
            <a:avLst/>
          </a:prstGeom>
        </p:spPr>
        <p:txBody>
          <a:bodyPr anchor="t">
            <a:normAutofit/>
          </a:bodyPr>
          <a:lstStyle>
            <a:lvl1pPr marL="0" indent="0">
              <a:buSzTx/>
              <a:buNone/>
              <a:defRPr sz="3000"/>
            </a:lvl1pPr>
          </a:lstStyle>
          <a:p>
            <a:r>
              <a:rPr dirty="0"/>
              <a:t>You have a June call option for Microsoft with a strike price of $30 for 100 shares. </a:t>
            </a:r>
            <a:r>
              <a:rPr lang="en-US" dirty="0" smtClean="0"/>
              <a:t>Suppose</a:t>
            </a:r>
            <a:r>
              <a:rPr dirty="0" smtClean="0"/>
              <a:t> </a:t>
            </a:r>
            <a:r>
              <a:rPr dirty="0"/>
              <a:t>the price today is $</a:t>
            </a:r>
            <a:r>
              <a:rPr dirty="0" smtClean="0"/>
              <a:t>20</a:t>
            </a:r>
            <a:r>
              <a:rPr lang="en-US" dirty="0" smtClean="0"/>
              <a:t> and, as of today, there is a 1/3 chance each that the stock will go up to $27, to $33, or to $39.</a:t>
            </a:r>
            <a:endParaRPr dirty="0">
              <a:solidFill>
                <a:srgbClr val="FF0000"/>
              </a:solidFill>
            </a:endParaRPr>
          </a:p>
        </p:txBody>
      </p:sp>
      <p:sp>
        <p:nvSpPr>
          <p:cNvPr id="102" name="Shape 102"/>
          <p:cNvSpPr/>
          <p:nvPr/>
        </p:nvSpPr>
        <p:spPr>
          <a:xfrm>
            <a:off x="1460430" y="3998203"/>
            <a:ext cx="10645372" cy="1767663"/>
          </a:xfrm>
          <a:prstGeom prst="rect">
            <a:avLst/>
          </a:prstGeom>
          <a:ln w="12700">
            <a:solidFill>
              <a:srgbClr val="000000"/>
            </a:solidFill>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p>
            <a:pPr>
              <a:spcBef>
                <a:spcPts val="1800"/>
              </a:spcBef>
              <a:defRPr sz="3600">
                <a:solidFill>
                  <a:schemeClr val="accent6"/>
                </a:solidFill>
              </a:defRPr>
            </a:pPr>
            <a:r>
              <a:rPr dirty="0"/>
              <a:t>How much should you charge for the option?</a:t>
            </a:r>
          </a:p>
          <a:p>
            <a:pPr>
              <a:spcBef>
                <a:spcPts val="1200"/>
              </a:spcBef>
              <a:defRPr sz="3100"/>
            </a:pPr>
            <a:r>
              <a:rPr dirty="0"/>
              <a:t>5 Minute Break </a:t>
            </a:r>
            <a:endParaRPr lang="en-US" dirty="0" smtClean="0"/>
          </a:p>
          <a:p>
            <a:pPr>
              <a:spcBef>
                <a:spcPts val="1200"/>
              </a:spcBef>
              <a:defRPr sz="3100"/>
            </a:pPr>
            <a:r>
              <a:rPr dirty="0" smtClean="0"/>
              <a:t>(</a:t>
            </a:r>
            <a:r>
              <a:rPr dirty="0"/>
              <a:t>Solve this problem with your neighbor)</a:t>
            </a:r>
          </a:p>
        </p:txBody>
      </p:sp>
      <p:sp>
        <p:nvSpPr>
          <p:cNvPr id="103" name="Shape 103"/>
          <p:cNvSpPr/>
          <p:nvPr/>
        </p:nvSpPr>
        <p:spPr>
          <a:xfrm>
            <a:off x="406905" y="6070599"/>
            <a:ext cx="12190990" cy="33528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1" indent="0" algn="l">
              <a:lnSpc>
                <a:spcPct val="100000"/>
              </a:lnSpc>
              <a:spcBef>
                <a:spcPts val="800"/>
              </a:spcBef>
            </a:pPr>
            <a:r>
              <a:rPr dirty="0"/>
              <a:t>How much money do you make?</a:t>
            </a:r>
            <a:endParaRPr dirty="0">
              <a:latin typeface="+mn-lt"/>
              <a:ea typeface="+mn-ea"/>
              <a:cs typeface="+mn-cs"/>
              <a:sym typeface="Gill Sans"/>
            </a:endParaRPr>
          </a:p>
          <a:p>
            <a:pPr marL="1117600" lvl="2" indent="-355600" algn="l">
              <a:lnSpc>
                <a:spcPct val="100000"/>
              </a:lnSpc>
              <a:spcBef>
                <a:spcPts val="800"/>
              </a:spcBef>
              <a:buSzPct val="100000"/>
              <a:buChar char="•"/>
            </a:pPr>
            <a:r>
              <a:rPr dirty="0"/>
              <a:t>If stock is $27, the option is worthless. PAYOFF = 0</a:t>
            </a:r>
          </a:p>
          <a:p>
            <a:pPr marL="1117600" lvl="2" indent="-355600" algn="l">
              <a:lnSpc>
                <a:spcPct val="100000"/>
              </a:lnSpc>
              <a:spcBef>
                <a:spcPts val="800"/>
              </a:spcBef>
              <a:buSzPct val="100000"/>
              <a:buChar char="•"/>
            </a:pPr>
            <a:r>
              <a:rPr dirty="0"/>
              <a:t>If stock is $33, the option is worth $3. PAYOFF = $3</a:t>
            </a:r>
          </a:p>
          <a:p>
            <a:pPr marL="1117600" lvl="2" indent="-355600" algn="l">
              <a:lnSpc>
                <a:spcPct val="100000"/>
              </a:lnSpc>
              <a:spcBef>
                <a:spcPts val="800"/>
              </a:spcBef>
              <a:buSzPct val="100000"/>
              <a:buChar char="•"/>
            </a:pPr>
            <a:r>
              <a:rPr dirty="0"/>
              <a:t>If stock is $39, the option is worth $9. PAYOFF = $9</a:t>
            </a:r>
          </a:p>
          <a:p>
            <a:pPr marL="1117600" lvl="2" indent="-355600" algn="l">
              <a:lnSpc>
                <a:spcPct val="100000"/>
              </a:lnSpc>
              <a:spcBef>
                <a:spcPts val="800"/>
              </a:spcBef>
              <a:buSzPct val="100000"/>
              <a:buChar char="•"/>
            </a:pPr>
            <a:r>
              <a:rPr dirty="0"/>
              <a:t>Expected payoff = 1/3 * 0 + 1/3 * 3 + 1/3 * </a:t>
            </a:r>
            <a:r>
              <a:rPr dirty="0" smtClean="0"/>
              <a:t>9</a:t>
            </a:r>
            <a:r>
              <a:rPr lang="en-US" dirty="0" smtClean="0"/>
              <a:t> </a:t>
            </a:r>
            <a:r>
              <a:rPr dirty="0" smtClean="0"/>
              <a:t>= </a:t>
            </a:r>
            <a:r>
              <a:rPr dirty="0"/>
              <a:t>$4</a:t>
            </a:r>
          </a:p>
          <a:p>
            <a:pPr lvl="1" indent="0" algn="l">
              <a:lnSpc>
                <a:spcPct val="100000"/>
              </a:lnSpc>
              <a:spcBef>
                <a:spcPts val="800"/>
              </a:spcBef>
            </a:pPr>
            <a:r>
              <a:rPr dirty="0"/>
              <a:t>Thus you should charge </a:t>
            </a:r>
            <a:r>
              <a:rPr i="1" dirty="0"/>
              <a:t>at least</a:t>
            </a:r>
            <a:r>
              <a:rPr dirty="0"/>
              <a:t> this much for the option</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1">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3" nodeType="clickEffect">
                                  <p:stCondLst>
                                    <p:cond delay="0"/>
                                  </p:stCondLst>
                                  <p:iterate>
                                    <p:tmAbs val="0"/>
                                  </p:iterate>
                                  <p:childTnLst>
                                    <p:set>
                                      <p:cBhvr>
                                        <p:cTn id="12" fill="hold"/>
                                        <p:tgtEl>
                                          <p:spTgt spid="10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4" nodeType="clickEffect">
                                  <p:stCondLst>
                                    <p:cond delay="0"/>
                                  </p:stCondLst>
                                  <p:iterate>
                                    <p:tmAbs val="0"/>
                                  </p:iterate>
                                  <p:childTnLst>
                                    <p:set>
                                      <p:cBhvr>
                                        <p:cTn id="16" fill="hold"/>
                                        <p:tgtEl>
                                          <p:spTgt spid="103">
                                            <p:bg/>
                                          </p:spTgt>
                                        </p:tgtEl>
                                        <p:attrNameLst>
                                          <p:attrName>style.visibility</p:attrName>
                                        </p:attrNameLst>
                                      </p:cBhvr>
                                      <p:to>
                                        <p:strVal val="visible"/>
                                      </p:to>
                                    </p:set>
                                  </p:childTnLst>
                                </p:cTn>
                              </p:par>
                              <p:par>
                                <p:cTn id="17" presetID="1" presetClass="entr" presetSubtype="0" fill="hold" grpId="4" nodeType="withEffect">
                                  <p:stCondLst>
                                    <p:cond delay="0"/>
                                  </p:stCondLst>
                                  <p:iterate>
                                    <p:tmAbs val="0"/>
                                  </p:iterate>
                                  <p:childTnLst>
                                    <p:set>
                                      <p:cBhvr>
                                        <p:cTn id="18" fill="hold"/>
                                        <p:tgtEl>
                                          <p:spTgt spid="10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4" nodeType="clickEffect">
                                  <p:stCondLst>
                                    <p:cond delay="0"/>
                                  </p:stCondLst>
                                  <p:iterate>
                                    <p:tmAbs val="0"/>
                                  </p:iterate>
                                  <p:childTnLst>
                                    <p:set>
                                      <p:cBhvr>
                                        <p:cTn id="22" fill="hold"/>
                                        <p:tgtEl>
                                          <p:spTgt spid="10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4" nodeType="clickEffect">
                                  <p:stCondLst>
                                    <p:cond delay="0"/>
                                  </p:stCondLst>
                                  <p:iterate>
                                    <p:tmAbs val="0"/>
                                  </p:iterate>
                                  <p:childTnLst>
                                    <p:set>
                                      <p:cBhvr>
                                        <p:cTn id="26" fill="hold"/>
                                        <p:tgtEl>
                                          <p:spTgt spid="10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4" nodeType="clickEffect">
                                  <p:stCondLst>
                                    <p:cond delay="0"/>
                                  </p:stCondLst>
                                  <p:iterate>
                                    <p:tmAbs val="0"/>
                                  </p:iterate>
                                  <p:childTnLst>
                                    <p:set>
                                      <p:cBhvr>
                                        <p:cTn id="30" fill="hold"/>
                                        <p:tgtEl>
                                          <p:spTgt spid="10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4" nodeType="clickEffect">
                                  <p:stCondLst>
                                    <p:cond delay="0"/>
                                  </p:stCondLst>
                                  <p:iterate>
                                    <p:tmAbs val="0"/>
                                  </p:iterate>
                                  <p:childTnLst>
                                    <p:set>
                                      <p:cBhvr>
                                        <p:cTn id="34" fill="hold"/>
                                        <p:tgtEl>
                                          <p:spTgt spid="10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4" nodeType="clickEffect">
                                  <p:stCondLst>
                                    <p:cond delay="0"/>
                                  </p:stCondLst>
                                  <p:iterate>
                                    <p:tmAbs val="0"/>
                                  </p:iterate>
                                  <p:childTnLst>
                                    <p:set>
                                      <p:cBhvr>
                                        <p:cTn id="38" fill="hold"/>
                                        <p:tgtEl>
                                          <p:spTgt spid="10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1" grpId="1" build="p" bldLvl="5" animBg="1" advAuto="0"/>
      <p:bldP spid="102" grpId="3" animBg="1" advAuto="0"/>
      <p:bldP spid="103" grpId="4" build="p" bldLvl="5" animBg="1" advAuto="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Shape 106"/>
          <p:cNvSpPr>
            <a:spLocks noGrp="1"/>
          </p:cNvSpPr>
          <p:nvPr>
            <p:ph type="title"/>
          </p:nvPr>
        </p:nvSpPr>
        <p:spPr>
          <a:xfrm>
            <a:off x="723900" y="254000"/>
            <a:ext cx="11557000" cy="1219200"/>
          </a:xfrm>
          <a:prstGeom prst="rect">
            <a:avLst/>
          </a:prstGeom>
        </p:spPr>
        <p:txBody>
          <a:bodyPr/>
          <a:lstStyle>
            <a:lvl1pPr>
              <a:defRPr sz="6000"/>
            </a:lvl1pPr>
          </a:lstStyle>
          <a:p>
            <a:pPr>
              <a:defRPr>
                <a:effectLst/>
              </a:defRPr>
            </a:pPr>
            <a:r>
              <a:rPr dirty="0" smtClean="0"/>
              <a:t>Example </a:t>
            </a:r>
            <a:r>
              <a:rPr dirty="0"/>
              <a:t>– Call Option</a:t>
            </a:r>
          </a:p>
        </p:txBody>
      </p:sp>
      <p:sp>
        <p:nvSpPr>
          <p:cNvPr id="107" name="Shape 107"/>
          <p:cNvSpPr>
            <a:spLocks noGrp="1"/>
          </p:cNvSpPr>
          <p:nvPr>
            <p:ph type="body" sz="half" idx="1"/>
          </p:nvPr>
        </p:nvSpPr>
        <p:spPr>
          <a:xfrm>
            <a:off x="411112" y="1473200"/>
            <a:ext cx="12196168" cy="2908300"/>
          </a:xfrm>
          <a:prstGeom prst="rect">
            <a:avLst/>
          </a:prstGeom>
        </p:spPr>
        <p:txBody>
          <a:bodyPr anchor="t">
            <a:normAutofit/>
          </a:bodyPr>
          <a:lstStyle/>
          <a:p>
            <a:pPr marL="0" indent="0" defTabSz="455675">
              <a:spcBef>
                <a:spcPts val="1800"/>
              </a:spcBef>
              <a:buSzTx/>
              <a:buNone/>
              <a:defRPr sz="3275"/>
            </a:pPr>
            <a:r>
              <a:rPr dirty="0" smtClean="0"/>
              <a:t>You have a June call option for Microsoft with a strike price of $30 for 100 shares. </a:t>
            </a:r>
            <a:r>
              <a:rPr lang="en-US" dirty="0" smtClean="0"/>
              <a:t>Suppose the price today is $20, and</a:t>
            </a:r>
            <a:r>
              <a:rPr dirty="0" smtClean="0"/>
              <a:t> </a:t>
            </a:r>
            <a:r>
              <a:rPr dirty="0"/>
              <a:t>as of today, there is a 1/3 chance </a:t>
            </a:r>
            <a:r>
              <a:rPr dirty="0">
                <a:solidFill>
                  <a:schemeClr val="accent4"/>
                </a:solidFill>
              </a:rPr>
              <a:t>each</a:t>
            </a:r>
            <a:r>
              <a:rPr dirty="0"/>
              <a:t> that the stock will go up to $30, to $40, or to $50.</a:t>
            </a:r>
          </a:p>
        </p:txBody>
      </p:sp>
      <p:sp>
        <p:nvSpPr>
          <p:cNvPr id="108" name="Shape 108"/>
          <p:cNvSpPr/>
          <p:nvPr/>
        </p:nvSpPr>
        <p:spPr>
          <a:xfrm>
            <a:off x="1703511" y="4346510"/>
            <a:ext cx="9610478" cy="749300"/>
          </a:xfrm>
          <a:prstGeom prst="rect">
            <a:avLst/>
          </a:prstGeom>
          <a:ln w="12700">
            <a:solidFill>
              <a:srgbClr val="000000"/>
            </a:solidFill>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spcBef>
                <a:spcPts val="1800"/>
              </a:spcBef>
              <a:defRPr sz="4200">
                <a:solidFill>
                  <a:schemeClr val="accent6"/>
                </a:solidFill>
              </a:defRPr>
            </a:lvl1pPr>
          </a:lstStyle>
          <a:p>
            <a:pPr>
              <a:defRPr sz="3600"/>
            </a:pPr>
            <a:r>
              <a:rPr sz="4200"/>
              <a:t>Does the value of the option change?</a:t>
            </a:r>
          </a:p>
        </p:txBody>
      </p:sp>
      <p:sp>
        <p:nvSpPr>
          <p:cNvPr id="109" name="Shape 109"/>
          <p:cNvSpPr/>
          <p:nvPr/>
        </p:nvSpPr>
        <p:spPr>
          <a:xfrm>
            <a:off x="411112" y="5524499"/>
            <a:ext cx="12195275" cy="3810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1" indent="0" algn="l">
              <a:lnSpc>
                <a:spcPct val="100000"/>
              </a:lnSpc>
              <a:spcBef>
                <a:spcPts val="800"/>
              </a:spcBef>
            </a:pPr>
            <a:r>
              <a:rPr dirty="0"/>
              <a:t>How much money do you make?</a:t>
            </a:r>
          </a:p>
          <a:p>
            <a:pPr marL="1117600" lvl="2" indent="-355600" algn="l">
              <a:lnSpc>
                <a:spcPct val="100000"/>
              </a:lnSpc>
              <a:spcBef>
                <a:spcPts val="800"/>
              </a:spcBef>
              <a:buSzPct val="100000"/>
              <a:buChar char="•"/>
            </a:pPr>
            <a:r>
              <a:rPr dirty="0"/>
              <a:t>If stock is $30, the option is worthless. PAYOFF = 0</a:t>
            </a:r>
          </a:p>
          <a:p>
            <a:pPr marL="1117600" lvl="2" indent="-355600" algn="l">
              <a:lnSpc>
                <a:spcPct val="100000"/>
              </a:lnSpc>
              <a:spcBef>
                <a:spcPts val="800"/>
              </a:spcBef>
              <a:buSzPct val="100000"/>
              <a:buChar char="•"/>
            </a:pPr>
            <a:r>
              <a:rPr dirty="0"/>
              <a:t>If stock is $40, the option is worth $10. PAYOFF = $10</a:t>
            </a:r>
          </a:p>
          <a:p>
            <a:pPr marL="1117600" lvl="2" indent="-355600" algn="l">
              <a:lnSpc>
                <a:spcPct val="100000"/>
              </a:lnSpc>
              <a:spcBef>
                <a:spcPts val="800"/>
              </a:spcBef>
              <a:buSzPct val="100000"/>
              <a:buChar char="•"/>
            </a:pPr>
            <a:r>
              <a:rPr dirty="0"/>
              <a:t>If stock is $50, the option is worth $20. PAYOFF = $20</a:t>
            </a:r>
          </a:p>
          <a:p>
            <a:pPr marL="1117600" lvl="2" indent="-355600" algn="l">
              <a:lnSpc>
                <a:spcPct val="100000"/>
              </a:lnSpc>
              <a:spcBef>
                <a:spcPts val="800"/>
              </a:spcBef>
              <a:buSzPct val="100000"/>
              <a:buChar char="•"/>
            </a:pPr>
            <a:r>
              <a:rPr dirty="0"/>
              <a:t>Expected payoff = 1/3 * 0 + 1/3 * 10 + 1/3 * </a:t>
            </a:r>
            <a:r>
              <a:rPr dirty="0" smtClean="0"/>
              <a:t>20</a:t>
            </a:r>
            <a:r>
              <a:rPr lang="en-US" dirty="0" smtClean="0"/>
              <a:t> </a:t>
            </a:r>
            <a:r>
              <a:rPr dirty="0" smtClean="0"/>
              <a:t>= </a:t>
            </a:r>
            <a:r>
              <a:rPr dirty="0"/>
              <a:t>$10</a:t>
            </a:r>
          </a:p>
          <a:p>
            <a:pPr lvl="1" indent="0" algn="l">
              <a:lnSpc>
                <a:spcPct val="100000"/>
              </a:lnSpc>
              <a:spcBef>
                <a:spcPts val="800"/>
              </a:spcBef>
            </a:pPr>
            <a:r>
              <a:rPr dirty="0"/>
              <a:t>The value of the option should change. (The expected value of the stock also changes—it is now $40/share.)</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07">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07">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p:tmAbs val="0"/>
                                  </p:iterate>
                                  <p:childTnLst>
                                    <p:set>
                                      <p:cBhvr>
                                        <p:cTn id="12" fill="hold"/>
                                        <p:tgtEl>
                                          <p:spTgt spid="10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3" nodeType="clickEffect">
                                  <p:stCondLst>
                                    <p:cond delay="0"/>
                                  </p:stCondLst>
                                  <p:iterate>
                                    <p:tmAbs val="0"/>
                                  </p:iterate>
                                  <p:childTnLst>
                                    <p:set>
                                      <p:cBhvr>
                                        <p:cTn id="16" fill="hold"/>
                                        <p:tgtEl>
                                          <p:spTgt spid="109">
                                            <p:bg/>
                                          </p:spTgt>
                                        </p:tgtEl>
                                        <p:attrNameLst>
                                          <p:attrName>style.visibility</p:attrName>
                                        </p:attrNameLst>
                                      </p:cBhvr>
                                      <p:to>
                                        <p:strVal val="visible"/>
                                      </p:to>
                                    </p:set>
                                  </p:childTnLst>
                                </p:cTn>
                              </p:par>
                              <p:par>
                                <p:cTn id="17" presetID="1" presetClass="entr" presetSubtype="0" fill="hold" grpId="3" nodeType="withEffect">
                                  <p:stCondLst>
                                    <p:cond delay="0"/>
                                  </p:stCondLst>
                                  <p:iterate>
                                    <p:tmAbs val="0"/>
                                  </p:iterate>
                                  <p:childTnLst>
                                    <p:set>
                                      <p:cBhvr>
                                        <p:cTn id="18" fill="hold"/>
                                        <p:tgtEl>
                                          <p:spTgt spid="109">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3" nodeType="clickEffect">
                                  <p:stCondLst>
                                    <p:cond delay="0"/>
                                  </p:stCondLst>
                                  <p:iterate>
                                    <p:tmAbs val="0"/>
                                  </p:iterate>
                                  <p:childTnLst>
                                    <p:set>
                                      <p:cBhvr>
                                        <p:cTn id="22" fill="hold"/>
                                        <p:tgtEl>
                                          <p:spTgt spid="109">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3" nodeType="clickEffect">
                                  <p:stCondLst>
                                    <p:cond delay="0"/>
                                  </p:stCondLst>
                                  <p:iterate>
                                    <p:tmAbs val="0"/>
                                  </p:iterate>
                                  <p:childTnLst>
                                    <p:set>
                                      <p:cBhvr>
                                        <p:cTn id="26" fill="hold"/>
                                        <p:tgtEl>
                                          <p:spTgt spid="109">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3" nodeType="clickEffect">
                                  <p:stCondLst>
                                    <p:cond delay="0"/>
                                  </p:stCondLst>
                                  <p:iterate>
                                    <p:tmAbs val="0"/>
                                  </p:iterate>
                                  <p:childTnLst>
                                    <p:set>
                                      <p:cBhvr>
                                        <p:cTn id="30" fill="hold"/>
                                        <p:tgtEl>
                                          <p:spTgt spid="109">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3" nodeType="clickEffect">
                                  <p:stCondLst>
                                    <p:cond delay="0"/>
                                  </p:stCondLst>
                                  <p:iterate>
                                    <p:tmAbs val="0"/>
                                  </p:iterate>
                                  <p:childTnLst>
                                    <p:set>
                                      <p:cBhvr>
                                        <p:cTn id="34" fill="hold"/>
                                        <p:tgtEl>
                                          <p:spTgt spid="109">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3" nodeType="clickEffect">
                                  <p:stCondLst>
                                    <p:cond delay="0"/>
                                  </p:stCondLst>
                                  <p:iterate>
                                    <p:tmAbs val="0"/>
                                  </p:iterate>
                                  <p:childTnLst>
                                    <p:set>
                                      <p:cBhvr>
                                        <p:cTn id="38" fill="hold"/>
                                        <p:tgtEl>
                                          <p:spTgt spid="10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 grpId="1" build="p" animBg="1" advAuto="0"/>
      <p:bldP spid="108" grpId="2" animBg="1" advAuto="0"/>
      <p:bldP spid="109" grpId="3" build="p" bldLvl="5" animBg="1" advAuto="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Shape 111"/>
          <p:cNvSpPr>
            <a:spLocks noGrp="1"/>
          </p:cNvSpPr>
          <p:nvPr>
            <p:ph type="title"/>
          </p:nvPr>
        </p:nvSpPr>
        <p:spPr>
          <a:xfrm>
            <a:off x="723900" y="254000"/>
            <a:ext cx="11557000" cy="1219200"/>
          </a:xfrm>
          <a:prstGeom prst="rect">
            <a:avLst/>
          </a:prstGeom>
        </p:spPr>
        <p:txBody>
          <a:bodyPr/>
          <a:lstStyle>
            <a:lvl1pPr>
              <a:defRPr sz="6000"/>
            </a:lvl1pPr>
          </a:lstStyle>
          <a:p>
            <a:pPr>
              <a:defRPr>
                <a:effectLst/>
              </a:defRPr>
            </a:pPr>
            <a:r>
              <a:rPr dirty="0" smtClean="0"/>
              <a:t>Example </a:t>
            </a:r>
            <a:r>
              <a:rPr dirty="0"/>
              <a:t>– Call Option</a:t>
            </a:r>
          </a:p>
        </p:txBody>
      </p:sp>
      <p:sp>
        <p:nvSpPr>
          <p:cNvPr id="112" name="Shape 112"/>
          <p:cNvSpPr>
            <a:spLocks noGrp="1"/>
          </p:cNvSpPr>
          <p:nvPr>
            <p:ph type="body" sz="half" idx="1"/>
          </p:nvPr>
        </p:nvSpPr>
        <p:spPr>
          <a:xfrm>
            <a:off x="410666" y="1416050"/>
            <a:ext cx="12196168" cy="2908300"/>
          </a:xfrm>
          <a:prstGeom prst="rect">
            <a:avLst/>
          </a:prstGeom>
        </p:spPr>
        <p:txBody>
          <a:bodyPr anchor="t">
            <a:normAutofit/>
          </a:bodyPr>
          <a:lstStyle/>
          <a:p>
            <a:pPr marL="0" indent="0" defTabSz="455675">
              <a:spcBef>
                <a:spcPts val="1800"/>
              </a:spcBef>
              <a:buSzTx/>
              <a:buNone/>
              <a:defRPr sz="3275"/>
            </a:pPr>
            <a:r>
              <a:rPr dirty="0"/>
              <a:t>You have a June call option for Microsoft with a strike price of $30 for 100 shares. If the price today is $</a:t>
            </a:r>
            <a:r>
              <a:rPr dirty="0" smtClean="0"/>
              <a:t>20</a:t>
            </a:r>
            <a:r>
              <a:rPr lang="en-US" dirty="0" smtClean="0"/>
              <a:t>,</a:t>
            </a:r>
            <a:r>
              <a:rPr dirty="0" smtClean="0"/>
              <a:t> </a:t>
            </a:r>
            <a:r>
              <a:rPr lang="en-US" dirty="0" smtClean="0"/>
              <a:t>and </a:t>
            </a:r>
            <a:r>
              <a:rPr dirty="0" smtClean="0"/>
              <a:t>as </a:t>
            </a:r>
            <a:r>
              <a:rPr dirty="0"/>
              <a:t>of today, there is a 1/3 chance </a:t>
            </a:r>
            <a:r>
              <a:rPr dirty="0">
                <a:solidFill>
                  <a:schemeClr val="accent4"/>
                </a:solidFill>
              </a:rPr>
              <a:t>each</a:t>
            </a:r>
            <a:r>
              <a:rPr dirty="0"/>
              <a:t> that the stock will go up to $21, to $40, or to $59.</a:t>
            </a:r>
          </a:p>
        </p:txBody>
      </p:sp>
      <p:sp>
        <p:nvSpPr>
          <p:cNvPr id="113" name="Shape 113"/>
          <p:cNvSpPr/>
          <p:nvPr/>
        </p:nvSpPr>
        <p:spPr>
          <a:xfrm>
            <a:off x="1703511" y="4324350"/>
            <a:ext cx="9610478" cy="749300"/>
          </a:xfrm>
          <a:prstGeom prst="rect">
            <a:avLst/>
          </a:prstGeom>
          <a:ln w="12700">
            <a:solidFill>
              <a:srgbClr val="000000"/>
            </a:solidFill>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spcBef>
                <a:spcPts val="1800"/>
              </a:spcBef>
              <a:defRPr sz="4200">
                <a:solidFill>
                  <a:schemeClr val="accent6"/>
                </a:solidFill>
              </a:defRPr>
            </a:lvl1pPr>
          </a:lstStyle>
          <a:p>
            <a:pPr>
              <a:defRPr sz="3600"/>
            </a:pPr>
            <a:r>
              <a:rPr sz="4200"/>
              <a:t>Does the value of the option change?</a:t>
            </a:r>
          </a:p>
        </p:txBody>
      </p:sp>
      <p:sp>
        <p:nvSpPr>
          <p:cNvPr id="114" name="Shape 114"/>
          <p:cNvSpPr/>
          <p:nvPr/>
        </p:nvSpPr>
        <p:spPr>
          <a:xfrm>
            <a:off x="411112" y="5524499"/>
            <a:ext cx="12195275" cy="3810001"/>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lvl="1" indent="0" algn="l">
              <a:lnSpc>
                <a:spcPct val="100000"/>
              </a:lnSpc>
              <a:spcBef>
                <a:spcPts val="800"/>
              </a:spcBef>
            </a:pPr>
            <a:r>
              <a:t>How much money do you make?</a:t>
            </a:r>
          </a:p>
          <a:p>
            <a:pPr marL="1117600" lvl="2" indent="-355600" algn="l">
              <a:lnSpc>
                <a:spcPct val="100000"/>
              </a:lnSpc>
              <a:spcBef>
                <a:spcPts val="800"/>
              </a:spcBef>
              <a:buSzPct val="100000"/>
              <a:buChar char="•"/>
            </a:pPr>
            <a:r>
              <a:t>If stock is $21, the option is worthless. PAYOFF = 0</a:t>
            </a:r>
          </a:p>
          <a:p>
            <a:pPr marL="1117600" lvl="2" indent="-355600" algn="l">
              <a:lnSpc>
                <a:spcPct val="100000"/>
              </a:lnSpc>
              <a:spcBef>
                <a:spcPts val="800"/>
              </a:spcBef>
              <a:buSzPct val="100000"/>
              <a:buChar char="•"/>
            </a:pPr>
            <a:r>
              <a:t>If stock is $40, the option is worth $10. PAYOFF = $10</a:t>
            </a:r>
          </a:p>
          <a:p>
            <a:pPr marL="1117600" lvl="2" indent="-355600" algn="l">
              <a:lnSpc>
                <a:spcPct val="100000"/>
              </a:lnSpc>
              <a:spcBef>
                <a:spcPts val="800"/>
              </a:spcBef>
              <a:buSzPct val="100000"/>
              <a:buChar char="•"/>
            </a:pPr>
            <a:r>
              <a:t>If stock is $59, the option is worth $29. PAYOFF = $29</a:t>
            </a:r>
          </a:p>
          <a:p>
            <a:pPr marL="1117600" lvl="2" indent="-355600" algn="l">
              <a:lnSpc>
                <a:spcPct val="100000"/>
              </a:lnSpc>
              <a:spcBef>
                <a:spcPts val="800"/>
              </a:spcBef>
              <a:buSzPct val="100000"/>
              <a:buChar char="•"/>
            </a:pPr>
            <a:r>
              <a:t>Expected payoff = 1/3 * 0 + 1/3 * 10 + 1/3 * 29= $13</a:t>
            </a:r>
          </a:p>
          <a:p>
            <a:pPr lvl="1" indent="0" algn="l">
              <a:lnSpc>
                <a:spcPct val="100000"/>
              </a:lnSpc>
              <a:spcBef>
                <a:spcPts val="800"/>
              </a:spcBef>
              <a:defRPr>
                <a:solidFill>
                  <a:schemeClr val="accent2"/>
                </a:solidFill>
              </a:defRPr>
            </a:pPr>
            <a:r>
              <a:t>The value seems to depend both on the expected value of the stock and on the volatility</a:t>
            </a:r>
          </a:p>
        </p:txBody>
      </p:sp>
    </p:spTree>
  </p:cSld>
  <p:clrMapOvr>
    <a:masterClrMapping/>
  </p:clrMapOvr>
  <p:transition spd="med"/>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iterate>
                                    <p:tmAbs val="0"/>
                                  </p:iterate>
                                  <p:childTnLst>
                                    <p:set>
                                      <p:cBhvr>
                                        <p:cTn id="6" fill="hold"/>
                                        <p:tgtEl>
                                          <p:spTgt spid="112">
                                            <p:bg/>
                                          </p:spTgt>
                                        </p:tgtEl>
                                        <p:attrNameLst>
                                          <p:attrName>style.visibility</p:attrName>
                                        </p:attrNameLst>
                                      </p:cBhvr>
                                      <p:to>
                                        <p:strVal val="visible"/>
                                      </p:to>
                                    </p:set>
                                  </p:childTnLst>
                                </p:cTn>
                              </p:par>
                              <p:par>
                                <p:cTn id="7" presetID="1" presetClass="entr" presetSubtype="0" fill="hold" grpId="1" nodeType="withEffect">
                                  <p:stCondLst>
                                    <p:cond delay="0"/>
                                  </p:stCondLst>
                                  <p:iterate>
                                    <p:tmAbs val="0"/>
                                  </p:iterate>
                                  <p:childTnLst>
                                    <p:set>
                                      <p:cBhvr>
                                        <p:cTn id="8" fill="hold"/>
                                        <p:tgtEl>
                                          <p:spTgt spid="11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2" nodeType="clickEffect">
                                  <p:stCondLst>
                                    <p:cond delay="0"/>
                                  </p:stCondLst>
                                  <p:iterate>
                                    <p:tmAbs val="0"/>
                                  </p:iterate>
                                  <p:childTnLst>
                                    <p:set>
                                      <p:cBhvr>
                                        <p:cTn id="12" fill="hold"/>
                                        <p:tgtEl>
                                          <p:spTgt spid="1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3" nodeType="clickEffect">
                                  <p:stCondLst>
                                    <p:cond delay="0"/>
                                  </p:stCondLst>
                                  <p:iterate>
                                    <p:tmAbs val="0"/>
                                  </p:iterate>
                                  <p:childTnLst>
                                    <p:set>
                                      <p:cBhvr>
                                        <p:cTn id="16" fill="hold"/>
                                        <p:tgtEl>
                                          <p:spTgt spid="114">
                                            <p:bg/>
                                          </p:spTgt>
                                        </p:tgtEl>
                                        <p:attrNameLst>
                                          <p:attrName>style.visibility</p:attrName>
                                        </p:attrNameLst>
                                      </p:cBhvr>
                                      <p:to>
                                        <p:strVal val="visible"/>
                                      </p:to>
                                    </p:set>
                                  </p:childTnLst>
                                </p:cTn>
                              </p:par>
                              <p:par>
                                <p:cTn id="17" presetID="1" presetClass="entr" presetSubtype="0" fill="hold" grpId="3" nodeType="withEffect">
                                  <p:stCondLst>
                                    <p:cond delay="0"/>
                                  </p:stCondLst>
                                  <p:iterate>
                                    <p:tmAbs val="0"/>
                                  </p:iterate>
                                  <p:childTnLst>
                                    <p:set>
                                      <p:cBhvr>
                                        <p:cTn id="18" fill="hold"/>
                                        <p:tgtEl>
                                          <p:spTgt spid="1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3" nodeType="clickEffect">
                                  <p:stCondLst>
                                    <p:cond delay="0"/>
                                  </p:stCondLst>
                                  <p:iterate>
                                    <p:tmAbs val="0"/>
                                  </p:iterate>
                                  <p:childTnLst>
                                    <p:set>
                                      <p:cBhvr>
                                        <p:cTn id="22" fill="hold"/>
                                        <p:tgtEl>
                                          <p:spTgt spid="114">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3" nodeType="clickEffect">
                                  <p:stCondLst>
                                    <p:cond delay="0"/>
                                  </p:stCondLst>
                                  <p:iterate>
                                    <p:tmAbs val="0"/>
                                  </p:iterate>
                                  <p:childTnLst>
                                    <p:set>
                                      <p:cBhvr>
                                        <p:cTn id="26" fill="hold"/>
                                        <p:tgtEl>
                                          <p:spTgt spid="114">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3" nodeType="clickEffect">
                                  <p:stCondLst>
                                    <p:cond delay="0"/>
                                  </p:stCondLst>
                                  <p:iterate>
                                    <p:tmAbs val="0"/>
                                  </p:iterate>
                                  <p:childTnLst>
                                    <p:set>
                                      <p:cBhvr>
                                        <p:cTn id="30" fill="hold"/>
                                        <p:tgtEl>
                                          <p:spTgt spid="114">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3" nodeType="clickEffect">
                                  <p:stCondLst>
                                    <p:cond delay="0"/>
                                  </p:stCondLst>
                                  <p:iterate>
                                    <p:tmAbs val="0"/>
                                  </p:iterate>
                                  <p:childTnLst>
                                    <p:set>
                                      <p:cBhvr>
                                        <p:cTn id="34" fill="hold"/>
                                        <p:tgtEl>
                                          <p:spTgt spid="114">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3" nodeType="clickEffect">
                                  <p:stCondLst>
                                    <p:cond delay="0"/>
                                  </p:stCondLst>
                                  <p:iterate>
                                    <p:tmAbs val="0"/>
                                  </p:iterate>
                                  <p:childTnLst>
                                    <p:set>
                                      <p:cBhvr>
                                        <p:cTn id="38" fill="hold"/>
                                        <p:tgtEl>
                                          <p:spTgt spid="1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 grpId="1" build="p" bldLvl="5" animBg="1" advAuto="0"/>
      <p:bldP spid="113" grpId="2" animBg="1" advAuto="0"/>
      <p:bldP spid="114" grpId="3" build="p" bldLvl="5" animBg="1" advAuto="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 name="droppedImage.png"/>
          <p:cNvPicPr>
            <a:picLocks noChangeAspect="1"/>
          </p:cNvPicPr>
          <p:nvPr/>
        </p:nvPicPr>
        <p:blipFill rotWithShape="1">
          <a:blip r:embed="rId3">
            <a:extLst/>
          </a:blip>
          <a:srcRect r="21438"/>
          <a:stretch/>
        </p:blipFill>
        <p:spPr>
          <a:xfrm>
            <a:off x="252915" y="1978765"/>
            <a:ext cx="7554138" cy="6873402"/>
          </a:xfrm>
          <a:prstGeom prst="rect">
            <a:avLst/>
          </a:prstGeom>
          <a:ln w="12700">
            <a:miter lim="400000"/>
          </a:ln>
        </p:spPr>
      </p:pic>
      <p:sp>
        <p:nvSpPr>
          <p:cNvPr id="117" name="Shape 117"/>
          <p:cNvSpPr/>
          <p:nvPr/>
        </p:nvSpPr>
        <p:spPr>
          <a:xfrm>
            <a:off x="7518399" y="2855606"/>
            <a:ext cx="5486401" cy="4465325"/>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algn="l"/>
            <a:r>
              <a:rPr sz="3500" u="sng" dirty="0"/>
              <a:t>Line A</a:t>
            </a:r>
          </a:p>
          <a:p>
            <a:pPr algn="l">
              <a:defRPr sz="3400"/>
            </a:pPr>
            <a:r>
              <a:rPr sz="3500" dirty="0"/>
              <a:t>Maximum value of option</a:t>
            </a:r>
          </a:p>
          <a:p>
            <a:pPr algn="l"/>
            <a:endParaRPr sz="3500" dirty="0"/>
          </a:p>
          <a:p>
            <a:pPr algn="l"/>
            <a:r>
              <a:rPr sz="3500" u="sng" dirty="0"/>
              <a:t>Line B</a:t>
            </a:r>
          </a:p>
          <a:p>
            <a:pPr algn="l">
              <a:defRPr sz="3500"/>
            </a:pPr>
            <a:r>
              <a:rPr sz="3500" dirty="0"/>
              <a:t>Minimum value of option</a:t>
            </a:r>
          </a:p>
          <a:p>
            <a:pPr algn="l">
              <a:defRPr sz="3500"/>
            </a:pPr>
            <a:endParaRPr sz="3500" dirty="0"/>
          </a:p>
          <a:p>
            <a:pPr algn="l">
              <a:defRPr sz="3400" u="sng"/>
            </a:pPr>
            <a:r>
              <a:rPr sz="3500" dirty="0"/>
              <a:t>T</a:t>
            </a:r>
            <a:r>
              <a:rPr sz="3500" baseline="-5999" dirty="0"/>
              <a:t>1</a:t>
            </a:r>
            <a:r>
              <a:rPr sz="3500" dirty="0"/>
              <a:t>, T</a:t>
            </a:r>
            <a:r>
              <a:rPr sz="3500" baseline="-5999" dirty="0"/>
              <a:t>2</a:t>
            </a:r>
            <a:r>
              <a:rPr sz="3500" dirty="0"/>
              <a:t>, T</a:t>
            </a:r>
            <a:r>
              <a:rPr sz="3500" baseline="-5999" dirty="0"/>
              <a:t>3</a:t>
            </a:r>
            <a:endParaRPr sz="3500" dirty="0"/>
          </a:p>
          <a:p>
            <a:pPr algn="l">
              <a:defRPr sz="3400"/>
            </a:pPr>
            <a:r>
              <a:rPr sz="3500" dirty="0"/>
              <a:t>values at successively shorter maturities.</a:t>
            </a:r>
          </a:p>
        </p:txBody>
      </p:sp>
      <p:sp>
        <p:nvSpPr>
          <p:cNvPr id="118" name="Shape 118"/>
          <p:cNvSpPr>
            <a:spLocks noGrp="1"/>
          </p:cNvSpPr>
          <p:nvPr>
            <p:ph type="title"/>
          </p:nvPr>
        </p:nvSpPr>
        <p:spPr>
          <a:prstGeom prst="rect">
            <a:avLst/>
          </a:prstGeom>
        </p:spPr>
        <p:txBody>
          <a:bodyPr/>
          <a:lstStyle>
            <a:lvl1pPr>
              <a:defRPr sz="6000"/>
            </a:lvl1pPr>
          </a:lstStyle>
          <a:p>
            <a:pPr>
              <a:defRPr>
                <a:effectLst/>
              </a:defRPr>
            </a:pPr>
            <a:r>
              <a:t>Option Price vs. Stock Price</a:t>
            </a:r>
          </a:p>
        </p:txBody>
      </p:sp>
      <p:sp>
        <p:nvSpPr>
          <p:cNvPr id="119" name="Shape 119"/>
          <p:cNvSpPr/>
          <p:nvPr/>
        </p:nvSpPr>
        <p:spPr>
          <a:xfrm>
            <a:off x="252915" y="9165346"/>
            <a:ext cx="4258296"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000"/>
            </a:lvl1pPr>
          </a:lstStyle>
          <a:p>
            <a:r>
              <a:t>Note: Exercise Price = Strike Price</a:t>
            </a:r>
          </a:p>
        </p:txBody>
      </p:sp>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7">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Shape 122"/>
          <p:cNvSpPr/>
          <p:nvPr/>
        </p:nvSpPr>
        <p:spPr>
          <a:xfrm>
            <a:off x="7449293" y="2406784"/>
            <a:ext cx="5676901" cy="536044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380999" indent="-380999" algn="l">
              <a:spcBef>
                <a:spcPts val="1600"/>
              </a:spcBef>
              <a:buSzPct val="100000"/>
              <a:buChar char="•"/>
              <a:defRPr sz="3800"/>
            </a:pPr>
            <a:r>
              <a:rPr sz="3500" dirty="0"/>
              <a:t>Why does the option value approach line B as the time to maturity shrinks?</a:t>
            </a:r>
          </a:p>
          <a:p>
            <a:pPr marL="380999" indent="-380999" algn="l">
              <a:spcBef>
                <a:spcPts val="1600"/>
              </a:spcBef>
              <a:buSzPct val="100000"/>
              <a:buChar char="•"/>
              <a:defRPr sz="3800"/>
            </a:pPr>
            <a:r>
              <a:rPr sz="3500" dirty="0"/>
              <a:t>Intuitively, what determines where it starts (A) and ends (B)? </a:t>
            </a:r>
          </a:p>
          <a:p>
            <a:pPr marL="380999" indent="-380999" algn="l">
              <a:spcBef>
                <a:spcPts val="1600"/>
              </a:spcBef>
              <a:buSzPct val="100000"/>
              <a:buChar char="•"/>
              <a:defRPr sz="3800"/>
            </a:pPr>
            <a:r>
              <a:rPr sz="3500" dirty="0"/>
              <a:t>5 minute break to discuss with your neighbor</a:t>
            </a:r>
          </a:p>
        </p:txBody>
      </p:sp>
      <p:sp>
        <p:nvSpPr>
          <p:cNvPr id="123" name="Shape 123"/>
          <p:cNvSpPr>
            <a:spLocks noGrp="1"/>
          </p:cNvSpPr>
          <p:nvPr>
            <p:ph type="title"/>
          </p:nvPr>
        </p:nvSpPr>
        <p:spPr>
          <a:prstGeom prst="rect">
            <a:avLst/>
          </a:prstGeom>
        </p:spPr>
        <p:txBody>
          <a:bodyPr/>
          <a:lstStyle>
            <a:lvl1pPr>
              <a:defRPr sz="6000"/>
            </a:lvl1pPr>
          </a:lstStyle>
          <a:p>
            <a:pPr>
              <a:defRPr>
                <a:effectLst/>
              </a:defRPr>
            </a:pPr>
            <a:r>
              <a:rPr dirty="0"/>
              <a:t>Option </a:t>
            </a:r>
            <a:r>
              <a:rPr dirty="0" smtClean="0"/>
              <a:t>Price </a:t>
            </a:r>
            <a:r>
              <a:rPr dirty="0"/>
              <a:t>vs. Stock Price</a:t>
            </a:r>
          </a:p>
        </p:txBody>
      </p:sp>
      <p:sp>
        <p:nvSpPr>
          <p:cNvPr id="124" name="Shape 124"/>
          <p:cNvSpPr/>
          <p:nvPr/>
        </p:nvSpPr>
        <p:spPr>
          <a:xfrm>
            <a:off x="252915" y="9165347"/>
            <a:ext cx="4258296"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000"/>
            </a:lvl1pPr>
          </a:lstStyle>
          <a:p>
            <a:r>
              <a:t>Note: Exercise Price = Strike Price</a:t>
            </a:r>
          </a:p>
        </p:txBody>
      </p:sp>
      <p:pic>
        <p:nvPicPr>
          <p:cNvPr id="6" name="droppedImage.png"/>
          <p:cNvPicPr>
            <a:picLocks noChangeAspect="1"/>
          </p:cNvPicPr>
          <p:nvPr/>
        </p:nvPicPr>
        <p:blipFill rotWithShape="1">
          <a:blip r:embed="rId3">
            <a:extLst/>
          </a:blip>
          <a:srcRect r="21438"/>
          <a:stretch/>
        </p:blipFill>
        <p:spPr>
          <a:xfrm>
            <a:off x="252915" y="1978765"/>
            <a:ext cx="7554138" cy="6873402"/>
          </a:xfrm>
          <a:prstGeom prst="rect">
            <a:avLst/>
          </a:prstGeom>
          <a:ln w="12700">
            <a:miter lim="400000"/>
          </a:ln>
        </p:spPr>
      </p:pic>
    </p:spTree>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2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Shape 127"/>
          <p:cNvSpPr/>
          <p:nvPr/>
        </p:nvSpPr>
        <p:spPr>
          <a:xfrm>
            <a:off x="7578723" y="3035301"/>
            <a:ext cx="5676901" cy="6731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pPr marL="380999" indent="-380999" algn="l">
              <a:spcBef>
                <a:spcPts val="1600"/>
              </a:spcBef>
              <a:buSzPct val="100000"/>
              <a:buChar char="•"/>
              <a:defRPr sz="3800"/>
            </a:pPr>
            <a:r>
              <a:rPr dirty="0"/>
              <a:t>Suppose I have:</a:t>
            </a:r>
          </a:p>
          <a:p>
            <a:pPr marL="723900" lvl="1" indent="-381000" algn="l">
              <a:spcBef>
                <a:spcPts val="1600"/>
              </a:spcBef>
              <a:buSzPct val="100000"/>
              <a:buChar char="•"/>
              <a:defRPr sz="3800"/>
            </a:pPr>
            <a:r>
              <a:rPr dirty="0"/>
              <a:t>$100 in stock</a:t>
            </a:r>
          </a:p>
          <a:p>
            <a:pPr marL="723900" lvl="1" indent="-381000" algn="l">
              <a:spcBef>
                <a:spcPts val="1600"/>
              </a:spcBef>
              <a:buSzPct val="100000"/>
              <a:buChar char="•"/>
              <a:defRPr sz="3800"/>
            </a:pPr>
            <a:r>
              <a:rPr dirty="0"/>
              <a:t>$100 in options</a:t>
            </a:r>
          </a:p>
          <a:p>
            <a:pPr marL="380999" indent="-380999" algn="l">
              <a:spcBef>
                <a:spcPts val="1600"/>
              </a:spcBef>
              <a:buSzPct val="100000"/>
              <a:buChar char="•"/>
              <a:defRPr sz="3800"/>
            </a:pPr>
            <a:r>
              <a:rPr dirty="0"/>
              <a:t>Which is more likely to change in value?</a:t>
            </a:r>
          </a:p>
        </p:txBody>
      </p:sp>
      <p:sp>
        <p:nvSpPr>
          <p:cNvPr id="128" name="Shape 128"/>
          <p:cNvSpPr>
            <a:spLocks noGrp="1"/>
          </p:cNvSpPr>
          <p:nvPr>
            <p:ph type="title"/>
          </p:nvPr>
        </p:nvSpPr>
        <p:spPr>
          <a:prstGeom prst="rect">
            <a:avLst/>
          </a:prstGeom>
        </p:spPr>
        <p:txBody>
          <a:bodyPr/>
          <a:lstStyle>
            <a:lvl1pPr>
              <a:defRPr sz="6000"/>
            </a:lvl1pPr>
          </a:lstStyle>
          <a:p>
            <a:pPr>
              <a:defRPr>
                <a:effectLst/>
              </a:defRPr>
            </a:pPr>
            <a:r>
              <a:t>Which is more volatile?</a:t>
            </a:r>
          </a:p>
        </p:txBody>
      </p:sp>
      <p:sp>
        <p:nvSpPr>
          <p:cNvPr id="129" name="Shape 129"/>
          <p:cNvSpPr/>
          <p:nvPr/>
        </p:nvSpPr>
        <p:spPr>
          <a:xfrm>
            <a:off x="252915" y="9106033"/>
            <a:ext cx="4258296"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000"/>
            </a:lvl1pPr>
          </a:lstStyle>
          <a:p>
            <a:r>
              <a:t>Note: Exercise Price = Strike Price</a:t>
            </a:r>
          </a:p>
        </p:txBody>
      </p:sp>
      <p:pic>
        <p:nvPicPr>
          <p:cNvPr id="6" name="droppedImage.png"/>
          <p:cNvPicPr>
            <a:picLocks noChangeAspect="1"/>
          </p:cNvPicPr>
          <p:nvPr/>
        </p:nvPicPr>
        <p:blipFill rotWithShape="1">
          <a:blip r:embed="rId3">
            <a:extLst/>
          </a:blip>
          <a:srcRect r="21438"/>
          <a:stretch/>
        </p:blipFill>
        <p:spPr>
          <a:xfrm>
            <a:off x="252915" y="1978765"/>
            <a:ext cx="7554138" cy="6873402"/>
          </a:xfrm>
          <a:prstGeom prst="rect">
            <a:avLst/>
          </a:prstGeom>
          <a:ln w="12700">
            <a:miter lim="400000"/>
          </a:ln>
        </p:spPr>
      </p:pic>
    </p:spTree>
  </p:cSld>
  <p:clrMapOvr>
    <a:masterClrMapping/>
  </p:clrMapOvr>
  <p:transition spd="med"/>
  <p:timing>
    <p:tnLst>
      <p:par>
        <p:cTn id="1" dur="indefinite" restart="never" fill="hold"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 name="Group 133"/>
          <p:cNvGrpSpPr/>
          <p:nvPr/>
        </p:nvGrpSpPr>
        <p:grpSpPr>
          <a:xfrm>
            <a:off x="1085850" y="1828800"/>
            <a:ext cx="10820401" cy="7698169"/>
            <a:chOff x="0" y="0"/>
            <a:chExt cx="10820400" cy="7698168"/>
          </a:xfrm>
        </p:grpSpPr>
        <p:pic>
          <p:nvPicPr>
            <p:cNvPr id="132" name="droppedImage.png"/>
            <p:cNvPicPr>
              <a:picLocks noChangeAspect="1"/>
            </p:cNvPicPr>
            <p:nvPr/>
          </p:nvPicPr>
          <p:blipFill>
            <a:blip r:embed="rId3">
              <a:extLst/>
            </a:blip>
            <a:stretch>
              <a:fillRect/>
            </a:stretch>
          </p:blipFill>
          <p:spPr>
            <a:xfrm>
              <a:off x="215900" y="139700"/>
              <a:ext cx="10388600" cy="7139369"/>
            </a:xfrm>
            <a:prstGeom prst="rect">
              <a:avLst/>
            </a:prstGeom>
            <a:ln>
              <a:noFill/>
            </a:ln>
            <a:effectLst/>
          </p:spPr>
        </p:pic>
        <p:pic>
          <p:nvPicPr>
            <p:cNvPr id="131" name="Picture 130"/>
            <p:cNvPicPr>
              <a:picLocks/>
            </p:cNvPicPr>
            <p:nvPr/>
          </p:nvPicPr>
          <p:blipFill>
            <a:blip r:embed="rId4">
              <a:extLst/>
            </a:blip>
            <a:stretch>
              <a:fillRect/>
            </a:stretch>
          </p:blipFill>
          <p:spPr>
            <a:xfrm>
              <a:off x="0" y="0"/>
              <a:ext cx="10820400" cy="7698169"/>
            </a:xfrm>
            <a:prstGeom prst="rect">
              <a:avLst/>
            </a:prstGeom>
            <a:effectLst/>
          </p:spPr>
        </p:pic>
      </p:grpSp>
      <p:sp>
        <p:nvSpPr>
          <p:cNvPr id="134" name="Shape 134"/>
          <p:cNvSpPr/>
          <p:nvPr/>
        </p:nvSpPr>
        <p:spPr>
          <a:xfrm>
            <a:off x="441579" y="387349"/>
            <a:ext cx="12121642" cy="914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buClr>
                <a:srgbClr val="000000"/>
              </a:buClr>
              <a:defRPr sz="5300">
                <a:solidFill>
                  <a:schemeClr val="accent1">
                    <a:hueOff val="47394"/>
                    <a:satOff val="-25753"/>
                    <a:lumOff val="-7544"/>
                  </a:schemeClr>
                </a:solidFill>
              </a:defRPr>
            </a:lvl1pPr>
          </a:lstStyle>
          <a:p>
            <a:r>
              <a:t>Other formulas, before Black Scholes</a:t>
            </a:r>
          </a:p>
        </p:txBody>
      </p:sp>
    </p:spTree>
  </p:cSld>
  <p:clrMapOvr>
    <a:masterClrMapping/>
  </p:clrMapOvr>
  <p:transition spd="med"/>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6" name="droppedImage.pdf"/>
          <p:cNvPicPr>
            <a:picLocks noChangeAspect="1"/>
          </p:cNvPicPr>
          <p:nvPr/>
        </p:nvPicPr>
        <p:blipFill>
          <a:blip r:embed="rId3">
            <a:extLst/>
          </a:blip>
          <a:stretch>
            <a:fillRect/>
          </a:stretch>
        </p:blipFill>
        <p:spPr>
          <a:xfrm>
            <a:off x="647700" y="1028700"/>
            <a:ext cx="2882900" cy="3721100"/>
          </a:xfrm>
          <a:prstGeom prst="rect">
            <a:avLst/>
          </a:prstGeom>
          <a:ln w="12700">
            <a:miter lim="400000"/>
          </a:ln>
        </p:spPr>
      </p:pic>
      <p:grpSp>
        <p:nvGrpSpPr>
          <p:cNvPr id="139" name="Group 139"/>
          <p:cNvGrpSpPr/>
          <p:nvPr/>
        </p:nvGrpSpPr>
        <p:grpSpPr>
          <a:xfrm>
            <a:off x="3686512" y="1145837"/>
            <a:ext cx="9182100" cy="7639726"/>
            <a:chOff x="0" y="0"/>
            <a:chExt cx="8572500" cy="6616700"/>
          </a:xfrm>
        </p:grpSpPr>
        <p:pic>
          <p:nvPicPr>
            <p:cNvPr id="137" name="droppedImage.png"/>
            <p:cNvPicPr>
              <a:picLocks noChangeAspect="1"/>
            </p:cNvPicPr>
            <p:nvPr/>
          </p:nvPicPr>
          <p:blipFill>
            <a:blip r:embed="rId4">
              <a:extLst/>
            </a:blip>
            <a:stretch>
              <a:fillRect/>
            </a:stretch>
          </p:blipFill>
          <p:spPr>
            <a:xfrm>
              <a:off x="0" y="0"/>
              <a:ext cx="8521700" cy="2578100"/>
            </a:xfrm>
            <a:prstGeom prst="rect">
              <a:avLst/>
            </a:prstGeom>
            <a:ln w="12700" cap="flat">
              <a:noFill/>
              <a:miter lim="400000"/>
            </a:ln>
            <a:effectLst/>
          </p:spPr>
        </p:pic>
        <p:pic>
          <p:nvPicPr>
            <p:cNvPr id="138" name="droppedImage.png"/>
            <p:cNvPicPr>
              <a:picLocks noChangeAspect="1"/>
            </p:cNvPicPr>
            <p:nvPr/>
          </p:nvPicPr>
          <p:blipFill>
            <a:blip r:embed="rId5">
              <a:extLst/>
            </a:blip>
            <a:stretch>
              <a:fillRect/>
            </a:stretch>
          </p:blipFill>
          <p:spPr>
            <a:xfrm>
              <a:off x="190500" y="3213100"/>
              <a:ext cx="8382000" cy="3403600"/>
            </a:xfrm>
            <a:prstGeom prst="rect">
              <a:avLst/>
            </a:prstGeom>
            <a:ln w="12700" cap="flat">
              <a:noFill/>
              <a:miter lim="400000"/>
            </a:ln>
            <a:effectLst/>
          </p:spPr>
        </p:pic>
      </p:grpSp>
      <p:pic>
        <p:nvPicPr>
          <p:cNvPr id="140" name="droppedImage.pdf"/>
          <p:cNvPicPr>
            <a:picLocks noChangeAspect="1"/>
          </p:cNvPicPr>
          <p:nvPr/>
        </p:nvPicPr>
        <p:blipFill>
          <a:blip r:embed="rId6">
            <a:extLst/>
          </a:blip>
          <a:stretch>
            <a:fillRect/>
          </a:stretch>
        </p:blipFill>
        <p:spPr>
          <a:xfrm>
            <a:off x="647700" y="5207000"/>
            <a:ext cx="2882900" cy="3835400"/>
          </a:xfrm>
          <a:prstGeom prst="rect">
            <a:avLst/>
          </a:prstGeom>
          <a:ln w="12700">
            <a:miter lim="400000"/>
          </a:ln>
        </p:spPr>
      </p:pic>
      <p:sp>
        <p:nvSpPr>
          <p:cNvPr id="141" name="Shape 141"/>
          <p:cNvSpPr/>
          <p:nvPr/>
        </p:nvSpPr>
        <p:spPr>
          <a:xfrm>
            <a:off x="1050974" y="4762500"/>
            <a:ext cx="2076352"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000"/>
            </a:lvl1pPr>
          </a:lstStyle>
          <a:p>
            <a:r>
              <a:t>Paul Samuelson</a:t>
            </a:r>
          </a:p>
        </p:txBody>
      </p:sp>
      <p:sp>
        <p:nvSpPr>
          <p:cNvPr id="142" name="Shape 142"/>
          <p:cNvSpPr/>
          <p:nvPr/>
        </p:nvSpPr>
        <p:spPr>
          <a:xfrm>
            <a:off x="1001923" y="9067800"/>
            <a:ext cx="2174454" cy="4064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2000"/>
            </a:lvl1pPr>
          </a:lstStyle>
          <a:p>
            <a:r>
              <a:t>Robert C. Merton</a:t>
            </a:r>
          </a:p>
        </p:txBody>
      </p:sp>
    </p:spTree>
  </p:cSld>
  <p:clrMapOvr>
    <a:masterClrMapping/>
  </p:clrMapOvr>
  <p:transition spd="med"/>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8" name="Group 148"/>
          <p:cNvGrpSpPr/>
          <p:nvPr/>
        </p:nvGrpSpPr>
        <p:grpSpPr>
          <a:xfrm>
            <a:off x="1993900" y="101600"/>
            <a:ext cx="9017000" cy="7226300"/>
            <a:chOff x="0" y="0"/>
            <a:chExt cx="9017000" cy="7226300"/>
          </a:xfrm>
        </p:grpSpPr>
        <p:pic>
          <p:nvPicPr>
            <p:cNvPr id="147" name="droppedImage.png"/>
            <p:cNvPicPr>
              <a:picLocks noChangeAspect="1"/>
            </p:cNvPicPr>
            <p:nvPr/>
          </p:nvPicPr>
          <p:blipFill>
            <a:blip r:embed="rId3">
              <a:extLst/>
            </a:blip>
            <a:stretch>
              <a:fillRect/>
            </a:stretch>
          </p:blipFill>
          <p:spPr>
            <a:xfrm>
              <a:off x="215900" y="139700"/>
              <a:ext cx="8585200" cy="6667500"/>
            </a:xfrm>
            <a:prstGeom prst="rect">
              <a:avLst/>
            </a:prstGeom>
            <a:ln>
              <a:noFill/>
            </a:ln>
            <a:effectLst/>
          </p:spPr>
        </p:pic>
        <p:pic>
          <p:nvPicPr>
            <p:cNvPr id="146" name="Picture 145"/>
            <p:cNvPicPr>
              <a:picLocks/>
            </p:cNvPicPr>
            <p:nvPr/>
          </p:nvPicPr>
          <p:blipFill>
            <a:blip r:embed="rId4">
              <a:extLst/>
            </a:blip>
            <a:stretch>
              <a:fillRect/>
            </a:stretch>
          </p:blipFill>
          <p:spPr>
            <a:xfrm>
              <a:off x="0" y="0"/>
              <a:ext cx="9017000" cy="7226300"/>
            </a:xfrm>
            <a:prstGeom prst="rect">
              <a:avLst/>
            </a:prstGeom>
            <a:effectLst/>
          </p:spPr>
        </p:pic>
      </p:grpSp>
      <p:sp>
        <p:nvSpPr>
          <p:cNvPr id="149" name="Shape 149"/>
          <p:cNvSpPr/>
          <p:nvPr/>
        </p:nvSpPr>
        <p:spPr>
          <a:xfrm>
            <a:off x="0" y="7721600"/>
            <a:ext cx="13004800" cy="14478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buClr>
                <a:srgbClr val="000000"/>
              </a:buClr>
              <a:defRPr sz="4400">
                <a:solidFill>
                  <a:schemeClr val="accent1">
                    <a:hueOff val="47394"/>
                    <a:satOff val="-25753"/>
                    <a:lumOff val="-7544"/>
                  </a:schemeClr>
                </a:solidFill>
              </a:defRPr>
            </a:pPr>
            <a:r>
              <a:t>Discuss these assumptions with your neighbor.</a:t>
            </a:r>
          </a:p>
          <a:p>
            <a:pPr>
              <a:buClr>
                <a:srgbClr val="000000"/>
              </a:buClr>
              <a:defRPr sz="4400">
                <a:solidFill>
                  <a:schemeClr val="accent1">
                    <a:hueOff val="47394"/>
                    <a:satOff val="-25753"/>
                    <a:lumOff val="-7544"/>
                  </a:schemeClr>
                </a:solidFill>
              </a:defRPr>
            </a:pPr>
            <a:r>
              <a:t>Decide which one bothers you the most.</a:t>
            </a:r>
          </a:p>
        </p:txBody>
      </p:sp>
    </p:spTree>
  </p:cSld>
  <p:clrMapOvr>
    <a:masterClrMapping/>
  </p:clrMapOvr>
  <p:transition spd="med"/>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3" name="Group 153"/>
          <p:cNvGrpSpPr/>
          <p:nvPr/>
        </p:nvGrpSpPr>
        <p:grpSpPr>
          <a:xfrm>
            <a:off x="1993900" y="101600"/>
            <a:ext cx="9017000" cy="7226300"/>
            <a:chOff x="0" y="0"/>
            <a:chExt cx="9017000" cy="7226300"/>
          </a:xfrm>
        </p:grpSpPr>
        <p:pic>
          <p:nvPicPr>
            <p:cNvPr id="152" name="droppedImage.png"/>
            <p:cNvPicPr>
              <a:picLocks noChangeAspect="1"/>
            </p:cNvPicPr>
            <p:nvPr/>
          </p:nvPicPr>
          <p:blipFill>
            <a:blip r:embed="rId2">
              <a:extLst/>
            </a:blip>
            <a:stretch>
              <a:fillRect/>
            </a:stretch>
          </p:blipFill>
          <p:spPr>
            <a:xfrm>
              <a:off x="215900" y="139700"/>
              <a:ext cx="8585200" cy="6667500"/>
            </a:xfrm>
            <a:prstGeom prst="rect">
              <a:avLst/>
            </a:prstGeom>
            <a:ln>
              <a:noFill/>
            </a:ln>
            <a:effectLst/>
          </p:spPr>
        </p:pic>
        <p:pic>
          <p:nvPicPr>
            <p:cNvPr id="151" name="Picture 150"/>
            <p:cNvPicPr>
              <a:picLocks/>
            </p:cNvPicPr>
            <p:nvPr/>
          </p:nvPicPr>
          <p:blipFill>
            <a:blip r:embed="rId3">
              <a:extLst/>
            </a:blip>
            <a:stretch>
              <a:fillRect/>
            </a:stretch>
          </p:blipFill>
          <p:spPr>
            <a:xfrm>
              <a:off x="0" y="0"/>
              <a:ext cx="9017000" cy="7226300"/>
            </a:xfrm>
            <a:prstGeom prst="rect">
              <a:avLst/>
            </a:prstGeom>
            <a:effectLst/>
          </p:spPr>
        </p:pic>
      </p:grpSp>
      <p:sp>
        <p:nvSpPr>
          <p:cNvPr id="154" name="Shape 154"/>
          <p:cNvSpPr/>
          <p:nvPr/>
        </p:nvSpPr>
        <p:spPr>
          <a:xfrm>
            <a:off x="0" y="7919779"/>
            <a:ext cx="13004800" cy="670440"/>
          </a:xfrm>
          <a:prstGeom prst="rect">
            <a:avLst/>
          </a:prstGeom>
          <a:ln w="12700">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lvl1pPr>
              <a:buClr>
                <a:srgbClr val="000000"/>
              </a:buClr>
              <a:defRPr sz="4300">
                <a:solidFill>
                  <a:schemeClr val="accent1">
                    <a:hueOff val="47394"/>
                    <a:satOff val="-25753"/>
                    <a:lumOff val="-7544"/>
                  </a:schemeClr>
                </a:solidFill>
              </a:defRPr>
            </a:lvl1pPr>
          </a:lstStyle>
          <a:p>
            <a:r>
              <a:rPr sz="4100" dirty="0"/>
              <a:t>This assumption </a:t>
            </a:r>
            <a:r>
              <a:rPr lang="en-US" sz="4100" dirty="0" smtClean="0"/>
              <a:t>will show up in </a:t>
            </a:r>
            <a:r>
              <a:rPr sz="4100" dirty="0" smtClean="0"/>
              <a:t>lab </a:t>
            </a:r>
            <a:r>
              <a:rPr sz="4100" dirty="0"/>
              <a:t>and homework</a:t>
            </a:r>
          </a:p>
        </p:txBody>
      </p:sp>
      <p:sp>
        <p:nvSpPr>
          <p:cNvPr id="155" name="Shape 155"/>
          <p:cNvSpPr/>
          <p:nvPr/>
        </p:nvSpPr>
        <p:spPr>
          <a:xfrm>
            <a:off x="2044700" y="2311400"/>
            <a:ext cx="8585200" cy="1193800"/>
          </a:xfrm>
          <a:prstGeom prst="rect">
            <a:avLst/>
          </a:prstGeom>
          <a:solidFill>
            <a:srgbClr val="FFFB00">
              <a:alpha val="37000"/>
            </a:srgbClr>
          </a:solidFill>
          <a:ln w="12700">
            <a:miter lim="400000"/>
          </a:ln>
        </p:spPr>
        <p:txBody>
          <a:bodyPr lIns="50800" tIns="50800" rIns="50800" bIns="50800" anchor="ctr"/>
          <a:lstStyle/>
          <a:p>
            <a:pPr>
              <a:lnSpc>
                <a:spcPct val="100000"/>
              </a:lnSpc>
              <a:defRPr sz="4000" b="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Tree>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9" name="Group 159"/>
          <p:cNvGrpSpPr/>
          <p:nvPr/>
        </p:nvGrpSpPr>
        <p:grpSpPr>
          <a:xfrm>
            <a:off x="1968500" y="2425700"/>
            <a:ext cx="9067800" cy="7023100"/>
            <a:chOff x="0" y="0"/>
            <a:chExt cx="9067800" cy="7023100"/>
          </a:xfrm>
        </p:grpSpPr>
        <p:pic>
          <p:nvPicPr>
            <p:cNvPr id="158" name="droppedImage.png"/>
            <p:cNvPicPr>
              <a:picLocks noChangeAspect="1"/>
            </p:cNvPicPr>
            <p:nvPr/>
          </p:nvPicPr>
          <p:blipFill>
            <a:blip r:embed="rId3">
              <a:extLst/>
            </a:blip>
            <a:stretch>
              <a:fillRect/>
            </a:stretch>
          </p:blipFill>
          <p:spPr>
            <a:xfrm>
              <a:off x="215900" y="139700"/>
              <a:ext cx="8636000" cy="6464300"/>
            </a:xfrm>
            <a:prstGeom prst="rect">
              <a:avLst/>
            </a:prstGeom>
            <a:ln>
              <a:noFill/>
            </a:ln>
            <a:effectLst/>
          </p:spPr>
        </p:pic>
        <p:pic>
          <p:nvPicPr>
            <p:cNvPr id="157" name="Picture 156"/>
            <p:cNvPicPr>
              <a:picLocks/>
            </p:cNvPicPr>
            <p:nvPr/>
          </p:nvPicPr>
          <p:blipFill>
            <a:blip r:embed="rId4">
              <a:extLst/>
            </a:blip>
            <a:stretch>
              <a:fillRect/>
            </a:stretch>
          </p:blipFill>
          <p:spPr>
            <a:xfrm>
              <a:off x="0" y="0"/>
              <a:ext cx="9067800" cy="7023100"/>
            </a:xfrm>
            <a:prstGeom prst="rect">
              <a:avLst/>
            </a:prstGeom>
            <a:effectLst/>
          </p:spPr>
        </p:pic>
      </p:grpSp>
      <p:sp>
        <p:nvSpPr>
          <p:cNvPr id="161" name="Shape 161"/>
          <p:cNvSpPr/>
          <p:nvPr/>
        </p:nvSpPr>
        <p:spPr>
          <a:xfrm>
            <a:off x="2082800" y="2603500"/>
            <a:ext cx="8585200" cy="1193800"/>
          </a:xfrm>
          <a:prstGeom prst="rect">
            <a:avLst/>
          </a:prstGeom>
          <a:solidFill>
            <a:srgbClr val="FFFB00">
              <a:alpha val="37000"/>
            </a:srgbClr>
          </a:solidFill>
          <a:ln w="12700">
            <a:miter lim="400000"/>
          </a:ln>
        </p:spPr>
        <p:txBody>
          <a:bodyPr lIns="50800" tIns="50800" rIns="50800" bIns="50800" anchor="ctr"/>
          <a:lstStyle/>
          <a:p>
            <a:pPr>
              <a:lnSpc>
                <a:spcPct val="100000"/>
              </a:lnSpc>
              <a:defRPr sz="4000" b="0">
                <a:solidFill>
                  <a:srgbClr val="FFFFFF"/>
                </a:solidFill>
                <a:effectLst>
                  <a:outerShdw blurRad="38100" dist="12700" dir="5400000" rotWithShape="0">
                    <a:srgbClr val="000000">
                      <a:alpha val="50000"/>
                    </a:srgbClr>
                  </a:outerShdw>
                </a:effectLst>
                <a:latin typeface="+mn-lt"/>
                <a:ea typeface="+mn-ea"/>
                <a:cs typeface="+mn-cs"/>
                <a:sym typeface="Gill Sans"/>
              </a:defRPr>
            </a:pPr>
            <a:endParaRPr/>
          </a:p>
        </p:txBody>
      </p:sp>
      <p:sp>
        <p:nvSpPr>
          <p:cNvPr id="162" name="Shape 162"/>
          <p:cNvSpPr>
            <a:spLocks noGrp="1"/>
          </p:cNvSpPr>
          <p:nvPr>
            <p:ph type="title"/>
          </p:nvPr>
        </p:nvSpPr>
        <p:spPr>
          <a:prstGeom prst="rect">
            <a:avLst/>
          </a:prstGeom>
        </p:spPr>
        <p:txBody>
          <a:bodyPr/>
          <a:lstStyle>
            <a:lvl1pPr>
              <a:defRPr sz="6000"/>
            </a:lvl1pPr>
          </a:lstStyle>
          <a:p>
            <a:pPr>
              <a:defRPr>
                <a:effectLst/>
              </a:defRPr>
            </a:pPr>
            <a:r>
              <a:t>Hedging</a:t>
            </a: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670" y="2643491"/>
            <a:ext cx="1790700" cy="977900"/>
          </a:xfrm>
          <a:prstGeom prst="rect">
            <a:avLst/>
          </a:prstGeom>
        </p:spPr>
      </p:pic>
    </p:spTree>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Shape 166"/>
          <p:cNvSpPr>
            <a:spLocks noGrp="1"/>
          </p:cNvSpPr>
          <p:nvPr>
            <p:ph type="title"/>
          </p:nvPr>
        </p:nvSpPr>
        <p:spPr>
          <a:xfrm>
            <a:off x="723900" y="254000"/>
            <a:ext cx="11557000" cy="2438400"/>
          </a:xfrm>
          <a:prstGeom prst="rect">
            <a:avLst/>
          </a:prstGeom>
        </p:spPr>
        <p:txBody>
          <a:bodyPr/>
          <a:lstStyle>
            <a:lvl1pPr>
              <a:defRPr sz="6000"/>
            </a:lvl1pPr>
          </a:lstStyle>
          <a:p>
            <a:pPr>
              <a:defRPr>
                <a:effectLst/>
              </a:defRPr>
            </a:pPr>
            <a:r>
              <a:t>Main Idea</a:t>
            </a:r>
          </a:p>
        </p:txBody>
      </p:sp>
      <p:sp>
        <p:nvSpPr>
          <p:cNvPr id="167" name="Shape 167"/>
          <p:cNvSpPr>
            <a:spLocks noGrp="1"/>
          </p:cNvSpPr>
          <p:nvPr>
            <p:ph type="body" idx="1"/>
          </p:nvPr>
        </p:nvSpPr>
        <p:spPr>
          <a:xfrm>
            <a:off x="641350" y="2768600"/>
            <a:ext cx="11722100" cy="6210300"/>
          </a:xfrm>
          <a:prstGeom prst="rect">
            <a:avLst/>
          </a:prstGeom>
        </p:spPr>
        <p:txBody>
          <a:bodyPr>
            <a:normAutofit/>
          </a:bodyPr>
          <a:lstStyle/>
          <a:p>
            <a:pPr>
              <a:buSzPct val="100000"/>
            </a:pPr>
            <a:r>
              <a:t>Consider a portfolio with stocks and options</a:t>
            </a:r>
          </a:p>
          <a:p>
            <a:pPr>
              <a:buSzPct val="100000"/>
            </a:pPr>
            <a:r>
              <a:t>When stock goes up, you lose money on the options and vice versa</a:t>
            </a:r>
          </a:p>
          <a:p>
            <a:pPr>
              <a:buSzPct val="100000"/>
            </a:pPr>
            <a:r>
              <a:t>Such a portfolio (if perfectly balanced) has no risk</a:t>
            </a:r>
          </a:p>
          <a:p>
            <a:pPr>
              <a:buSzPct val="100000"/>
            </a:pPr>
            <a:r>
              <a:t>Thus the portfolio increases at the risk-free interest rate, “r”</a:t>
            </a:r>
          </a:p>
        </p:txBody>
      </p:sp>
    </p:spTree>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Shape 169"/>
          <p:cNvSpPr/>
          <p:nvPr/>
        </p:nvSpPr>
        <p:spPr>
          <a:xfrm>
            <a:off x="6350" y="1301750"/>
            <a:ext cx="12992100" cy="3149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buClr>
                <a:srgbClr val="000000"/>
              </a:buClr>
              <a:defRPr sz="4600">
                <a:solidFill>
                  <a:schemeClr val="accent1">
                    <a:hueOff val="47394"/>
                    <a:satOff val="-25753"/>
                    <a:lumOff val="-7544"/>
                  </a:schemeClr>
                </a:solidFill>
              </a:defRPr>
            </a:pPr>
            <a:r>
              <a:t>Discuss with your neighbor the main idea.</a:t>
            </a:r>
          </a:p>
          <a:p>
            <a:pPr>
              <a:buClr>
                <a:srgbClr val="000000"/>
              </a:buClr>
              <a:defRPr sz="4600">
                <a:solidFill>
                  <a:schemeClr val="accent1">
                    <a:hueOff val="47394"/>
                    <a:satOff val="-25753"/>
                    <a:lumOff val="-7544"/>
                  </a:schemeClr>
                </a:solidFill>
              </a:defRPr>
            </a:pPr>
            <a:endParaRPr/>
          </a:p>
          <a:p>
            <a:pPr>
              <a:buClr>
                <a:srgbClr val="000000"/>
              </a:buClr>
              <a:defRPr sz="4600">
                <a:solidFill>
                  <a:schemeClr val="accent1">
                    <a:hueOff val="47394"/>
                    <a:satOff val="-25753"/>
                    <a:lumOff val="-7544"/>
                  </a:schemeClr>
                </a:solidFill>
              </a:defRPr>
            </a:pPr>
            <a:r>
              <a:t>Convince yourselves that it is both true and nontrivial.</a:t>
            </a:r>
          </a:p>
        </p:txBody>
      </p:sp>
      <p:grpSp>
        <p:nvGrpSpPr>
          <p:cNvPr id="172" name="Group 172"/>
          <p:cNvGrpSpPr/>
          <p:nvPr/>
        </p:nvGrpSpPr>
        <p:grpSpPr>
          <a:xfrm>
            <a:off x="1027335" y="4813300"/>
            <a:ext cx="11318429" cy="3035300"/>
            <a:chOff x="0" y="0"/>
            <a:chExt cx="11318427" cy="3035300"/>
          </a:xfrm>
        </p:grpSpPr>
        <p:pic>
          <p:nvPicPr>
            <p:cNvPr id="171" name="droppedImage.png"/>
            <p:cNvPicPr>
              <a:picLocks noChangeAspect="1"/>
            </p:cNvPicPr>
            <p:nvPr/>
          </p:nvPicPr>
          <p:blipFill>
            <a:blip r:embed="rId2">
              <a:extLst/>
            </a:blip>
            <a:stretch>
              <a:fillRect/>
            </a:stretch>
          </p:blipFill>
          <p:spPr>
            <a:xfrm>
              <a:off x="215900" y="139700"/>
              <a:ext cx="10886628" cy="2476500"/>
            </a:xfrm>
            <a:prstGeom prst="rect">
              <a:avLst/>
            </a:prstGeom>
            <a:ln>
              <a:noFill/>
            </a:ln>
            <a:effectLst/>
          </p:spPr>
        </p:pic>
        <p:pic>
          <p:nvPicPr>
            <p:cNvPr id="170" name="Picture 169"/>
            <p:cNvPicPr>
              <a:picLocks/>
            </p:cNvPicPr>
            <p:nvPr/>
          </p:nvPicPr>
          <p:blipFill>
            <a:blip r:embed="rId3">
              <a:extLst/>
            </a:blip>
            <a:stretch>
              <a:fillRect/>
            </a:stretch>
          </p:blipFill>
          <p:spPr>
            <a:xfrm>
              <a:off x="0" y="0"/>
              <a:ext cx="11318428" cy="3035300"/>
            </a:xfrm>
            <a:prstGeom prst="rect">
              <a:avLst/>
            </a:prstGeom>
            <a:effectLst/>
          </p:spPr>
        </p:pic>
      </p:grpSp>
      <p:grpSp>
        <p:nvGrpSpPr>
          <p:cNvPr id="175" name="Group 175"/>
          <p:cNvGrpSpPr/>
          <p:nvPr/>
        </p:nvGrpSpPr>
        <p:grpSpPr>
          <a:xfrm>
            <a:off x="4368800" y="7848600"/>
            <a:ext cx="7785100" cy="1121454"/>
            <a:chOff x="0" y="0"/>
            <a:chExt cx="7785100" cy="1121453"/>
          </a:xfrm>
        </p:grpSpPr>
        <p:pic>
          <p:nvPicPr>
            <p:cNvPr id="174" name="droppedImage.png"/>
            <p:cNvPicPr>
              <a:picLocks noChangeAspect="1"/>
            </p:cNvPicPr>
            <p:nvPr/>
          </p:nvPicPr>
          <p:blipFill>
            <a:blip r:embed="rId4">
              <a:extLst/>
            </a:blip>
            <a:stretch>
              <a:fillRect/>
            </a:stretch>
          </p:blipFill>
          <p:spPr>
            <a:xfrm>
              <a:off x="215900" y="139700"/>
              <a:ext cx="7353300" cy="562654"/>
            </a:xfrm>
            <a:prstGeom prst="rect">
              <a:avLst/>
            </a:prstGeom>
            <a:ln>
              <a:noFill/>
            </a:ln>
            <a:effectLst/>
          </p:spPr>
        </p:pic>
        <p:pic>
          <p:nvPicPr>
            <p:cNvPr id="173" name="Picture 172"/>
            <p:cNvPicPr>
              <a:picLocks/>
            </p:cNvPicPr>
            <p:nvPr/>
          </p:nvPicPr>
          <p:blipFill>
            <a:blip r:embed="rId5">
              <a:extLst/>
            </a:blip>
            <a:stretch>
              <a:fillRect/>
            </a:stretch>
          </p:blipFill>
          <p:spPr>
            <a:xfrm>
              <a:off x="0" y="0"/>
              <a:ext cx="7785100" cy="1121454"/>
            </a:xfrm>
            <a:prstGeom prst="rect">
              <a:avLst/>
            </a:prstGeom>
            <a:effectLst/>
          </p:spPr>
        </p:pic>
      </p:grpSp>
    </p:spTree>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9" name="Group 179"/>
          <p:cNvGrpSpPr/>
          <p:nvPr/>
        </p:nvGrpSpPr>
        <p:grpSpPr>
          <a:xfrm>
            <a:off x="1318368" y="1473200"/>
            <a:ext cx="9931400" cy="5528013"/>
            <a:chOff x="0" y="0"/>
            <a:chExt cx="8559800" cy="4381500"/>
          </a:xfrm>
        </p:grpSpPr>
        <p:pic>
          <p:nvPicPr>
            <p:cNvPr id="178" name="droppedImage.png"/>
            <p:cNvPicPr>
              <a:picLocks noChangeAspect="1"/>
            </p:cNvPicPr>
            <p:nvPr/>
          </p:nvPicPr>
          <p:blipFill>
            <a:blip r:embed="rId2">
              <a:extLst/>
            </a:blip>
            <a:stretch>
              <a:fillRect/>
            </a:stretch>
          </p:blipFill>
          <p:spPr>
            <a:xfrm>
              <a:off x="215900" y="139700"/>
              <a:ext cx="8128000" cy="3822700"/>
            </a:xfrm>
            <a:prstGeom prst="rect">
              <a:avLst/>
            </a:prstGeom>
            <a:ln>
              <a:noFill/>
            </a:ln>
            <a:effectLst/>
          </p:spPr>
        </p:pic>
        <p:pic>
          <p:nvPicPr>
            <p:cNvPr id="177" name="Picture 176"/>
            <p:cNvPicPr>
              <a:picLocks/>
            </p:cNvPicPr>
            <p:nvPr/>
          </p:nvPicPr>
          <p:blipFill>
            <a:blip r:embed="rId3">
              <a:extLst/>
            </a:blip>
            <a:stretch>
              <a:fillRect/>
            </a:stretch>
          </p:blipFill>
          <p:spPr>
            <a:xfrm>
              <a:off x="0" y="0"/>
              <a:ext cx="8559800" cy="4381500"/>
            </a:xfrm>
            <a:prstGeom prst="rect">
              <a:avLst/>
            </a:prstGeom>
            <a:effectLst/>
          </p:spPr>
        </p:pic>
      </p:grpSp>
      <p:sp>
        <p:nvSpPr>
          <p:cNvPr id="180" name="Shape 180"/>
          <p:cNvSpPr/>
          <p:nvPr/>
        </p:nvSpPr>
        <p:spPr>
          <a:xfrm>
            <a:off x="12700" y="6810308"/>
            <a:ext cx="12992100" cy="18796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spAutoFit/>
          </a:bodyPr>
          <a:lstStyle/>
          <a:p>
            <a:r>
              <a:t>Requires Stochastic Calculus</a:t>
            </a:r>
          </a:p>
          <a:p>
            <a:endParaRPr/>
          </a:p>
          <a:p>
            <a:pPr>
              <a:defRPr sz="3300">
                <a:solidFill>
                  <a:srgbClr val="FF2600"/>
                </a:solidFill>
              </a:defRPr>
            </a:pPr>
            <a:r>
              <a:t>NOTE:  This assumes rates of stock change obey a random walk</a:t>
            </a:r>
          </a:p>
        </p:txBody>
      </p:sp>
      <p:sp>
        <p:nvSpPr>
          <p:cNvPr id="181" name="Shape 181"/>
          <p:cNvSpPr>
            <a:spLocks noGrp="1"/>
          </p:cNvSpPr>
          <p:nvPr>
            <p:ph type="title" idx="4294967295"/>
          </p:nvPr>
        </p:nvSpPr>
        <p:spPr>
          <a:xfrm>
            <a:off x="723900" y="254000"/>
            <a:ext cx="11557000" cy="1219200"/>
          </a:xfrm>
          <a:prstGeom prst="rect">
            <a:avLst/>
          </a:prstGeom>
        </p:spPr>
        <p:txBody>
          <a:bodyPr>
            <a:noAutofit/>
          </a:bodyPr>
          <a:lstStyle>
            <a:lvl1pPr>
              <a:lnSpc>
                <a:spcPct val="90000"/>
              </a:lnSpc>
              <a:defRPr sz="6000"/>
            </a:lvl1pPr>
          </a:lstStyle>
          <a:p>
            <a:pPr>
              <a:defRPr>
                <a:effectLst/>
              </a:defRPr>
            </a:pPr>
            <a:r>
              <a:t>Derivation</a:t>
            </a:r>
          </a:p>
        </p:txBody>
      </p:sp>
    </p:spTree>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 name="Group 188"/>
          <p:cNvGrpSpPr/>
          <p:nvPr/>
        </p:nvGrpSpPr>
        <p:grpSpPr>
          <a:xfrm>
            <a:off x="2590800" y="10655300"/>
            <a:ext cx="7162800" cy="1587500"/>
            <a:chOff x="0" y="0"/>
            <a:chExt cx="7162800" cy="1587500"/>
          </a:xfrm>
        </p:grpSpPr>
        <p:pic>
          <p:nvPicPr>
            <p:cNvPr id="187" name="droppedImage.pdf"/>
            <p:cNvPicPr>
              <a:picLocks noChangeAspect="1"/>
            </p:cNvPicPr>
            <p:nvPr/>
          </p:nvPicPr>
          <p:blipFill>
            <a:blip r:embed="rId3">
              <a:extLst/>
            </a:blip>
            <a:stretch>
              <a:fillRect/>
            </a:stretch>
          </p:blipFill>
          <p:spPr>
            <a:xfrm>
              <a:off x="215900" y="139700"/>
              <a:ext cx="6731000" cy="1028700"/>
            </a:xfrm>
            <a:prstGeom prst="rect">
              <a:avLst/>
            </a:prstGeom>
            <a:ln>
              <a:noFill/>
            </a:ln>
            <a:effectLst/>
          </p:spPr>
        </p:pic>
        <p:pic>
          <p:nvPicPr>
            <p:cNvPr id="186" name="Picture 185"/>
            <p:cNvPicPr>
              <a:picLocks/>
            </p:cNvPicPr>
            <p:nvPr/>
          </p:nvPicPr>
          <p:blipFill>
            <a:blip r:embed="rId4">
              <a:extLst/>
            </a:blip>
            <a:stretch>
              <a:fillRect/>
            </a:stretch>
          </p:blipFill>
          <p:spPr>
            <a:xfrm>
              <a:off x="0" y="0"/>
              <a:ext cx="7162800" cy="1587500"/>
            </a:xfrm>
            <a:prstGeom prst="rect">
              <a:avLst/>
            </a:prstGeom>
            <a:effectLst/>
          </p:spPr>
        </p:pic>
      </p:grpSp>
      <p:sp>
        <p:nvSpPr>
          <p:cNvPr id="189" name="Shape 189"/>
          <p:cNvSpPr/>
          <p:nvPr/>
        </p:nvSpPr>
        <p:spPr>
          <a:xfrm>
            <a:off x="3054851" y="7721552"/>
            <a:ext cx="6895097" cy="736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3200"/>
            </a:lvl1pPr>
          </a:lstStyle>
          <a:p>
            <a:r>
              <a:rPr dirty="0"/>
              <a:t>A sort-of-diffusion equation</a:t>
            </a:r>
          </a:p>
        </p:txBody>
      </p:sp>
      <p:pic>
        <p:nvPicPr>
          <p:cNvPr id="190" name="droppedImage.pdf"/>
          <p:cNvPicPr>
            <a:picLocks noChangeAspect="1"/>
          </p:cNvPicPr>
          <p:nvPr/>
        </p:nvPicPr>
        <p:blipFill>
          <a:blip r:embed="rId5">
            <a:extLst/>
          </a:blip>
          <a:stretch>
            <a:fillRect/>
          </a:stretch>
        </p:blipFill>
        <p:spPr>
          <a:xfrm>
            <a:off x="3183495" y="6368233"/>
            <a:ext cx="6882638" cy="1167713"/>
          </a:xfrm>
          <a:prstGeom prst="rect">
            <a:avLst/>
          </a:prstGeom>
          <a:noFill/>
          <a:ln w="12700">
            <a:solidFill>
              <a:schemeClr val="accent1"/>
            </a:solidFill>
            <a:miter lim="400000"/>
          </a:ln>
        </p:spPr>
      </p:pic>
      <p:sp>
        <p:nvSpPr>
          <p:cNvPr id="191" name="Shape 191"/>
          <p:cNvSpPr>
            <a:spLocks noGrp="1"/>
          </p:cNvSpPr>
          <p:nvPr>
            <p:ph type="title" idx="4294967295"/>
          </p:nvPr>
        </p:nvSpPr>
        <p:spPr>
          <a:xfrm>
            <a:off x="723900" y="254000"/>
            <a:ext cx="11557000" cy="1219200"/>
          </a:xfrm>
          <a:prstGeom prst="rect">
            <a:avLst/>
          </a:prstGeom>
        </p:spPr>
        <p:txBody>
          <a:bodyPr>
            <a:noAutofit/>
          </a:bodyPr>
          <a:lstStyle>
            <a:lvl1pPr>
              <a:lnSpc>
                <a:spcPct val="90000"/>
              </a:lnSpc>
              <a:defRPr sz="6000"/>
            </a:lvl1pPr>
          </a:lstStyle>
          <a:p>
            <a:pPr>
              <a:defRPr>
                <a:effectLst/>
              </a:defRPr>
            </a:pPr>
            <a:r>
              <a:t>Black-Scholes Equation</a:t>
            </a:r>
          </a:p>
        </p:txBody>
      </p:sp>
      <p:pic>
        <p:nvPicPr>
          <p:cNvPr id="5" name="Picture 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2522" y="2493569"/>
            <a:ext cx="10958014" cy="2183590"/>
          </a:xfrm>
          <a:prstGeom prst="rect">
            <a:avLst/>
          </a:prstGeom>
          <a:ln>
            <a:solidFill>
              <a:schemeClr val="accent1"/>
            </a:solidFill>
          </a:ln>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746750" y="5048497"/>
            <a:ext cx="4906985" cy="765830"/>
          </a:xfrm>
          <a:prstGeom prst="rect">
            <a:avLst/>
          </a:prstGeom>
        </p:spPr>
      </p:pic>
      <p:sp>
        <p:nvSpPr>
          <p:cNvPr id="8" name="Rectangle 7"/>
          <p:cNvSpPr/>
          <p:nvPr/>
        </p:nvSpPr>
        <p:spPr>
          <a:xfrm>
            <a:off x="5394990" y="5231065"/>
            <a:ext cx="1229824" cy="507831"/>
          </a:xfrm>
          <a:prstGeom prst="rect">
            <a:avLst/>
          </a:prstGeom>
        </p:spPr>
        <p:txBody>
          <a:bodyPr wrap="none">
            <a:spAutoFit/>
          </a:bodyPr>
          <a:lstStyle/>
          <a:p>
            <a:r>
              <a:rPr lang="en-US" b="0" dirty="0" smtClean="0"/>
              <a:t>where</a:t>
            </a:r>
            <a:endParaRPr lang="en-US" b="0" dirty="0"/>
          </a:p>
        </p:txBody>
      </p:sp>
    </p:spTree>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7" name="Group 197"/>
          <p:cNvGrpSpPr/>
          <p:nvPr/>
        </p:nvGrpSpPr>
        <p:grpSpPr>
          <a:xfrm>
            <a:off x="1072372" y="838200"/>
            <a:ext cx="10872764" cy="2525475"/>
            <a:chOff x="0" y="0"/>
            <a:chExt cx="10872762" cy="2525474"/>
          </a:xfrm>
        </p:grpSpPr>
        <p:pic>
          <p:nvPicPr>
            <p:cNvPr id="196" name="droppedImage.png"/>
            <p:cNvPicPr>
              <a:picLocks noChangeAspect="1"/>
            </p:cNvPicPr>
            <p:nvPr/>
          </p:nvPicPr>
          <p:blipFill>
            <a:blip r:embed="rId3">
              <a:extLst/>
            </a:blip>
            <a:stretch>
              <a:fillRect/>
            </a:stretch>
          </p:blipFill>
          <p:spPr>
            <a:xfrm>
              <a:off x="215900" y="139700"/>
              <a:ext cx="10440963" cy="1966675"/>
            </a:xfrm>
            <a:prstGeom prst="rect">
              <a:avLst/>
            </a:prstGeom>
            <a:ln>
              <a:noFill/>
            </a:ln>
            <a:effectLst/>
          </p:spPr>
        </p:pic>
        <p:pic>
          <p:nvPicPr>
            <p:cNvPr id="195" name="Picture 194"/>
            <p:cNvPicPr>
              <a:picLocks/>
            </p:cNvPicPr>
            <p:nvPr/>
          </p:nvPicPr>
          <p:blipFill>
            <a:blip r:embed="rId4">
              <a:extLst/>
            </a:blip>
            <a:stretch>
              <a:fillRect/>
            </a:stretch>
          </p:blipFill>
          <p:spPr>
            <a:xfrm>
              <a:off x="0" y="0"/>
              <a:ext cx="10872763" cy="2525475"/>
            </a:xfrm>
            <a:prstGeom prst="rect">
              <a:avLst/>
            </a:prstGeom>
            <a:effectLst/>
          </p:spPr>
        </p:pic>
      </p:grpSp>
      <p:grpSp>
        <p:nvGrpSpPr>
          <p:cNvPr id="200" name="Group 200"/>
          <p:cNvGrpSpPr/>
          <p:nvPr/>
        </p:nvGrpSpPr>
        <p:grpSpPr>
          <a:xfrm>
            <a:off x="816545" y="4212563"/>
            <a:ext cx="11384415" cy="4652039"/>
            <a:chOff x="0" y="0"/>
            <a:chExt cx="11384413" cy="4652038"/>
          </a:xfrm>
        </p:grpSpPr>
        <p:pic>
          <p:nvPicPr>
            <p:cNvPr id="199" name="droppedImage.png"/>
            <p:cNvPicPr>
              <a:picLocks noChangeAspect="1"/>
            </p:cNvPicPr>
            <p:nvPr/>
          </p:nvPicPr>
          <p:blipFill>
            <a:blip r:embed="rId5">
              <a:extLst/>
            </a:blip>
            <a:stretch>
              <a:fillRect/>
            </a:stretch>
          </p:blipFill>
          <p:spPr>
            <a:xfrm>
              <a:off x="215900" y="139700"/>
              <a:ext cx="10952614" cy="4093239"/>
            </a:xfrm>
            <a:prstGeom prst="rect">
              <a:avLst/>
            </a:prstGeom>
            <a:ln>
              <a:noFill/>
            </a:ln>
            <a:effectLst/>
          </p:spPr>
        </p:pic>
        <p:pic>
          <p:nvPicPr>
            <p:cNvPr id="198" name="Picture 197"/>
            <p:cNvPicPr>
              <a:picLocks/>
            </p:cNvPicPr>
            <p:nvPr/>
          </p:nvPicPr>
          <p:blipFill>
            <a:blip r:embed="rId6">
              <a:extLst/>
            </a:blip>
            <a:stretch>
              <a:fillRect/>
            </a:stretch>
          </p:blipFill>
          <p:spPr>
            <a:xfrm>
              <a:off x="0" y="0"/>
              <a:ext cx="11384414" cy="4652039"/>
            </a:xfrm>
            <a:prstGeom prst="rect">
              <a:avLst/>
            </a:prstGeom>
            <a:effectLst/>
          </p:spPr>
        </p:pic>
      </p:grpSp>
      <p:sp>
        <p:nvSpPr>
          <p:cNvPr id="201" name="Shape 201"/>
          <p:cNvSpPr/>
          <p:nvPr/>
        </p:nvSpPr>
        <p:spPr>
          <a:xfrm>
            <a:off x="1619122" y="8830121"/>
            <a:ext cx="9064982" cy="564257"/>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l">
              <a:lnSpc>
                <a:spcPct val="100000"/>
              </a:lnSpc>
              <a:spcBef>
                <a:spcPts val="2400"/>
              </a:spcBef>
            </a:lvl1pPr>
          </a:lstStyle>
          <a:p>
            <a:r>
              <a:rPr dirty="0"/>
              <a:t>Solution to equations like this covered in </a:t>
            </a:r>
            <a:r>
              <a:rPr lang="en-US" dirty="0" smtClean="0"/>
              <a:t>AM </a:t>
            </a:r>
            <a:r>
              <a:rPr dirty="0" smtClean="0"/>
              <a:t>105</a:t>
            </a:r>
            <a:endParaRPr dirty="0"/>
          </a:p>
        </p:txBody>
      </p:sp>
      <p:sp>
        <p:nvSpPr>
          <p:cNvPr id="202" name="Shape 202"/>
          <p:cNvSpPr/>
          <p:nvPr/>
        </p:nvSpPr>
        <p:spPr>
          <a:xfrm>
            <a:off x="1085781" y="3302000"/>
            <a:ext cx="7023238" cy="7366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r>
              <a:t>change variables and solve...</a:t>
            </a:r>
          </a:p>
        </p:txBody>
      </p:sp>
    </p:spTree>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stockprices.jpg"/>
          <p:cNvPicPr>
            <a:picLocks noChangeAspect="1"/>
          </p:cNvPicPr>
          <p:nvPr/>
        </p:nvPicPr>
        <p:blipFill>
          <a:blip r:embed="rId2">
            <a:extLst/>
          </a:blip>
          <a:stretch>
            <a:fillRect/>
          </a:stretch>
        </p:blipFill>
        <p:spPr>
          <a:xfrm>
            <a:off x="76200" y="3670300"/>
            <a:ext cx="6426200" cy="4826000"/>
          </a:xfrm>
          <a:prstGeom prst="rect">
            <a:avLst/>
          </a:prstGeom>
          <a:ln w="12700">
            <a:miter lim="400000"/>
          </a:ln>
        </p:spPr>
      </p:pic>
      <p:sp>
        <p:nvSpPr>
          <p:cNvPr id="205" name="Shape 205"/>
          <p:cNvSpPr/>
          <p:nvPr/>
        </p:nvSpPr>
        <p:spPr>
          <a:xfrm>
            <a:off x="3677233" y="463550"/>
            <a:ext cx="5650335" cy="10160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buClr>
                <a:srgbClr val="000000"/>
              </a:buClr>
              <a:defRPr sz="6000">
                <a:solidFill>
                  <a:schemeClr val="accent1">
                    <a:hueOff val="47394"/>
                    <a:satOff val="-25753"/>
                    <a:lumOff val="-7544"/>
                  </a:schemeClr>
                </a:solidFill>
              </a:defRPr>
            </a:lvl1pPr>
          </a:lstStyle>
          <a:p>
            <a:r>
              <a:t>S&amp;P 500 Prices</a:t>
            </a:r>
          </a:p>
        </p:txBody>
      </p:sp>
      <p:sp>
        <p:nvSpPr>
          <p:cNvPr id="206" name="Shape 206"/>
          <p:cNvSpPr/>
          <p:nvPr/>
        </p:nvSpPr>
        <p:spPr>
          <a:xfrm>
            <a:off x="4076148" y="8851900"/>
            <a:ext cx="4852504" cy="59690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nSpc>
                <a:spcPct val="100000"/>
              </a:lnSpc>
              <a:defRPr sz="3400" b="0">
                <a:latin typeface="+mn-lt"/>
                <a:ea typeface="+mn-ea"/>
                <a:cs typeface="+mn-cs"/>
                <a:sym typeface="Gill Sans"/>
              </a:defRPr>
            </a:lvl1pPr>
          </a:lstStyle>
          <a:p>
            <a:r>
              <a:t>16000 days (1953–present)</a:t>
            </a:r>
          </a:p>
        </p:txBody>
      </p:sp>
      <p:pic>
        <p:nvPicPr>
          <p:cNvPr id="207" name="stockprices_log.jpg"/>
          <p:cNvPicPr>
            <a:picLocks noChangeAspect="1"/>
          </p:cNvPicPr>
          <p:nvPr/>
        </p:nvPicPr>
        <p:blipFill>
          <a:blip r:embed="rId3">
            <a:extLst/>
          </a:blip>
          <a:stretch>
            <a:fillRect/>
          </a:stretch>
        </p:blipFill>
        <p:spPr>
          <a:xfrm>
            <a:off x="6629400" y="3670300"/>
            <a:ext cx="6426200" cy="4826000"/>
          </a:xfrm>
          <a:prstGeom prst="rect">
            <a:avLst/>
          </a:prstGeom>
          <a:ln w="12700">
            <a:miter lim="400000"/>
          </a:ln>
        </p:spPr>
      </p:pic>
      <p:sp>
        <p:nvSpPr>
          <p:cNvPr id="208" name="Shape 208"/>
          <p:cNvSpPr/>
          <p:nvPr/>
        </p:nvSpPr>
        <p:spPr>
          <a:xfrm rot="16200000">
            <a:off x="5622069" y="5613398"/>
            <a:ext cx="2182007"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r>
              <a:t>log(price)</a:t>
            </a:r>
          </a:p>
        </p:txBody>
      </p:sp>
      <p:sp>
        <p:nvSpPr>
          <p:cNvPr id="209" name="Shape 209"/>
          <p:cNvSpPr/>
          <p:nvPr/>
        </p:nvSpPr>
        <p:spPr>
          <a:xfrm rot="16200000">
            <a:off x="-326095" y="5605853"/>
            <a:ext cx="1198290" cy="72390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r>
              <a:t>price</a:t>
            </a:r>
          </a:p>
        </p:txBody>
      </p:sp>
      <p:sp>
        <p:nvSpPr>
          <p:cNvPr id="210" name="Shape 210"/>
          <p:cNvSpPr/>
          <p:nvPr/>
        </p:nvSpPr>
        <p:spPr>
          <a:xfrm>
            <a:off x="1867710" y="2106706"/>
            <a:ext cx="8657617" cy="1044388"/>
          </a:xfrm>
          <a:prstGeom prst="rect">
            <a:avLst/>
          </a:prstGeom>
          <a:ln w="12700">
            <a:miter lim="400000"/>
          </a:ln>
          <a:extLst>
            <a:ext uri="{C572A759-6A51-4108-AA02-DFA0A04FC94B}">
              <ma14:wrappingTextBoxFlag xmlns:ma14="http://schemas.microsoft.com/office/mac/drawingml/2011/main" val="1"/>
            </a:ext>
          </a:extLst>
        </p:spPr>
        <p:txBody>
          <a:bodyPr wrap="square" lIns="50800" tIns="50800" rIns="50800" bIns="50800" anchor="ctr">
            <a:spAutoFit/>
          </a:bodyPr>
          <a:lstStyle>
            <a:lvl1pPr>
              <a:defRPr sz="3400"/>
            </a:lvl1pPr>
          </a:lstStyle>
          <a:p>
            <a:r>
              <a:t>Central question in lab and homework: do stock prices follow random walks?</a:t>
            </a:r>
          </a:p>
        </p:txBody>
      </p:sp>
    </p:spTree>
  </p:cSld>
  <p:clrMapOvr>
    <a:masterClrMapping/>
  </p:clrMapOvr>
  <p:transition spd="med"/>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a:ea typeface="Helvetica"/>
        <a:cs typeface="Helvetica"/>
      </a:majorFont>
      <a:minorFont>
        <a:latin typeface="Gill Sans"/>
        <a:ea typeface="Gill Sans"/>
        <a:cs typeface="Gill Sans"/>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100000"/>
          </a:lnSpc>
          <a:spcBef>
            <a:spcPts val="0"/>
          </a:spcBef>
          <a:spcAft>
            <a:spcPts val="0"/>
          </a:spcAft>
          <a:buClrTx/>
          <a:buSzTx/>
          <a:buFontTx/>
          <a:buNone/>
          <a:tabLst/>
          <a:defRPr kumimoji="0" sz="4000"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mn-lt"/>
            <a:ea typeface="+mn-ea"/>
            <a:cs typeface="+mn-cs"/>
            <a:sym typeface="Gill Sans"/>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0" hangingPunct="0">
          <a:lnSpc>
            <a:spcPct val="9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3194</TotalTime>
  <Words>2292</Words>
  <Application>Microsoft Macintosh PowerPoint</Application>
  <PresentationFormat>Custom</PresentationFormat>
  <Paragraphs>224</Paragraphs>
  <Slides>32</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Gill Sans</vt:lpstr>
      <vt:lpstr>Helvetica</vt:lpstr>
      <vt:lpstr>Helvetica Light</vt:lpstr>
      <vt:lpstr>Lucida Grande</vt:lpstr>
      <vt:lpstr>White</vt:lpstr>
      <vt:lpstr>Random Walks</vt:lpstr>
      <vt:lpstr>Final project</vt:lpstr>
      <vt:lpstr>What are we looking for?</vt:lpstr>
      <vt:lpstr>Length guideline</vt:lpstr>
      <vt:lpstr>Project proposal</vt:lpstr>
      <vt:lpstr>Grading breakdown: content</vt:lpstr>
      <vt:lpstr>Grading breakdown: style</vt:lpstr>
      <vt:lpstr>Rough guideline for layout</vt:lpstr>
      <vt:lpstr>Option Pricing</vt:lpstr>
      <vt:lpstr>Jargon</vt:lpstr>
      <vt:lpstr>Jargon</vt:lpstr>
      <vt:lpstr>PowerPoint Presentation</vt:lpstr>
      <vt:lpstr>Jargon</vt:lpstr>
      <vt:lpstr>Example – Call Option</vt:lpstr>
      <vt:lpstr>Option Pricing</vt:lpstr>
      <vt:lpstr>Example – Call Option</vt:lpstr>
      <vt:lpstr>Example – Call Option</vt:lpstr>
      <vt:lpstr>Example – Call Option</vt:lpstr>
      <vt:lpstr>Option Price vs. Stock Price</vt:lpstr>
      <vt:lpstr>Option Price vs. Stock Price</vt:lpstr>
      <vt:lpstr>Which is more volatile?</vt:lpstr>
      <vt:lpstr>PowerPoint Presentation</vt:lpstr>
      <vt:lpstr>PowerPoint Presentation</vt:lpstr>
      <vt:lpstr>PowerPoint Presentation</vt:lpstr>
      <vt:lpstr>PowerPoint Presentation</vt:lpstr>
      <vt:lpstr>Hedging</vt:lpstr>
      <vt:lpstr>Main Idea</vt:lpstr>
      <vt:lpstr>PowerPoint Presentation</vt:lpstr>
      <vt:lpstr>Derivation</vt:lpstr>
      <vt:lpstr>Black-Scholes Equation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 Random Walks</dc:title>
  <cp:lastModifiedBy>Microsoft Office User</cp:lastModifiedBy>
  <cp:revision>33</cp:revision>
  <dcterms:modified xsi:type="dcterms:W3CDTF">2017-03-03T23:22:02Z</dcterms:modified>
</cp:coreProperties>
</file>