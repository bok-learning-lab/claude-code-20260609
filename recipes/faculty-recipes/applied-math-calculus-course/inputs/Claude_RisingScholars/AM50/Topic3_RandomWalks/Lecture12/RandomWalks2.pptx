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6" r:id="rId9"/>
    <p:sldId id="261" r:id="rId10"/>
    <p:sldId id="267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826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225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1888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86000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8934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6752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0218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96983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6482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249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6317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6882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541D6-BA24-A747-B9F0-B183802AEA2E}" type="datetimeFigureOut">
              <a:rPr lang="en-US" smtClean="0"/>
              <a:pPr/>
              <a:t>3/23/2011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1E1F7-8733-224F-8F4D-20538ADC49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6985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9894" y="3218150"/>
            <a:ext cx="65153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</a:rPr>
              <a:t>Today’s speaker</a:t>
            </a:r>
          </a:p>
          <a:p>
            <a:r>
              <a:rPr lang="en-US" sz="2800" dirty="0" smtClean="0"/>
              <a:t>       </a:t>
            </a:r>
            <a:r>
              <a:rPr lang="en-US" sz="2800" dirty="0" err="1" smtClean="0"/>
              <a:t>Aravi</a:t>
            </a:r>
            <a:r>
              <a:rPr lang="en-US" sz="2800" dirty="0" smtClean="0"/>
              <a:t> Samuel: Bacterial Random Walks</a:t>
            </a:r>
          </a:p>
          <a:p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16828" y="1018272"/>
            <a:ext cx="71587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000"/>
                </a:solidFill>
              </a:rPr>
              <a:t>Administration</a:t>
            </a:r>
            <a:endParaRPr lang="en-US" sz="2400" dirty="0" smtClean="0"/>
          </a:p>
          <a:p>
            <a:r>
              <a:rPr lang="en-US" sz="2800" dirty="0" smtClean="0"/>
              <a:t>       Lab 7</a:t>
            </a:r>
          </a:p>
          <a:p>
            <a:r>
              <a:rPr lang="en-US" sz="2800" dirty="0" smtClean="0"/>
              <a:t>       Homework 4</a:t>
            </a:r>
          </a:p>
          <a:p>
            <a:r>
              <a:rPr lang="en-US" sz="2800" dirty="0" smtClean="0"/>
              <a:t>       Monday Presentations</a:t>
            </a:r>
            <a:endParaRPr lang="en-US" sz="2800" b="1" dirty="0" smtClean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410720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6671" y="745856"/>
            <a:ext cx="382851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Last Class</a:t>
            </a:r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dirty="0" smtClean="0"/>
              <a:t>What is a Random Walk?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2298" y="4251579"/>
            <a:ext cx="76457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b="1" dirty="0" smtClean="0"/>
              <a:t>ule: </a:t>
            </a:r>
            <a:r>
              <a:rPr lang="en-US" sz="2400" dirty="0"/>
              <a:t>Every time </a:t>
            </a:r>
            <a:r>
              <a:rPr lang="en-US" sz="2400" dirty="0" err="1"/>
              <a:t>τ</a:t>
            </a:r>
            <a:r>
              <a:rPr lang="en-US" sz="2400" dirty="0"/>
              <a:t> , flip a coin</a:t>
            </a:r>
            <a:r>
              <a:rPr lang="en-US" sz="2400" dirty="0" smtClean="0"/>
              <a:t>, and </a:t>
            </a:r>
            <a:r>
              <a:rPr lang="en-US" sz="2400" dirty="0"/>
              <a:t>either move to the left </a:t>
            </a:r>
            <a:r>
              <a:rPr lang="en-US" sz="2400" dirty="0" smtClean="0"/>
              <a:t>(tails</a:t>
            </a:r>
            <a:r>
              <a:rPr lang="en-US" sz="2400" dirty="0"/>
              <a:t>) or to the right </a:t>
            </a:r>
            <a:r>
              <a:rPr lang="en-US" sz="2400" dirty="0" smtClean="0"/>
              <a:t>(heads</a:t>
            </a:r>
            <a:r>
              <a:rPr lang="en-US" sz="2400" dirty="0"/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6671" y="5493029"/>
            <a:ext cx="5468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Question: </a:t>
            </a:r>
            <a:r>
              <a:rPr lang="en-US" sz="2400" dirty="0"/>
              <a:t>How far do you go after time T?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1143113" y="2329180"/>
            <a:ext cx="6583969" cy="1214120"/>
            <a:chOff x="1076671" y="2159000"/>
            <a:chExt cx="6583969" cy="121412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076671" y="3261360"/>
              <a:ext cx="6583969" cy="1016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/>
            <p:cNvGrpSpPr/>
            <p:nvPr/>
          </p:nvGrpSpPr>
          <p:grpSpPr>
            <a:xfrm>
              <a:off x="1234698" y="3159760"/>
              <a:ext cx="406400" cy="203200"/>
              <a:chOff x="1234698" y="3159760"/>
              <a:chExt cx="406400" cy="2032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1641098" y="3159760"/>
              <a:ext cx="406400" cy="203200"/>
              <a:chOff x="1234698" y="3159760"/>
              <a:chExt cx="406400" cy="20320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2047498" y="3169920"/>
              <a:ext cx="406400" cy="203200"/>
              <a:chOff x="1234698" y="3159760"/>
              <a:chExt cx="406400" cy="20320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2453898" y="3169920"/>
              <a:ext cx="406400" cy="203200"/>
              <a:chOff x="1234698" y="3159760"/>
              <a:chExt cx="406400" cy="20320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>
            <a:xfrm>
              <a:off x="2860298" y="3159760"/>
              <a:ext cx="406400" cy="203200"/>
              <a:chOff x="1234698" y="3159760"/>
              <a:chExt cx="406400" cy="2032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>
              <a:off x="3266698" y="3159760"/>
              <a:ext cx="406400" cy="203200"/>
              <a:chOff x="1234698" y="3159760"/>
              <a:chExt cx="406400" cy="2032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>
              <a:off x="3673098" y="3159760"/>
              <a:ext cx="406400" cy="203200"/>
              <a:chOff x="1234698" y="3159760"/>
              <a:chExt cx="406400" cy="2032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>
              <a:off x="4079498" y="3149600"/>
              <a:ext cx="406400" cy="203200"/>
              <a:chOff x="1234698" y="3159760"/>
              <a:chExt cx="406400" cy="203200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/>
          </p:nvGrpSpPr>
          <p:grpSpPr>
            <a:xfrm>
              <a:off x="4485898" y="3149600"/>
              <a:ext cx="406400" cy="203200"/>
              <a:chOff x="1234698" y="3159760"/>
              <a:chExt cx="406400" cy="2032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/>
            <p:cNvGrpSpPr/>
            <p:nvPr/>
          </p:nvGrpSpPr>
          <p:grpSpPr>
            <a:xfrm>
              <a:off x="4892298" y="3159760"/>
              <a:ext cx="406400" cy="203200"/>
              <a:chOff x="1234698" y="3159760"/>
              <a:chExt cx="406400" cy="203200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/>
            <p:cNvGrpSpPr/>
            <p:nvPr/>
          </p:nvGrpSpPr>
          <p:grpSpPr>
            <a:xfrm>
              <a:off x="5298698" y="3149600"/>
              <a:ext cx="406400" cy="203200"/>
              <a:chOff x="1234698" y="3159760"/>
              <a:chExt cx="406400" cy="203200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/>
            <p:cNvGrpSpPr/>
            <p:nvPr/>
          </p:nvGrpSpPr>
          <p:grpSpPr>
            <a:xfrm>
              <a:off x="5705098" y="3149600"/>
              <a:ext cx="406400" cy="203200"/>
              <a:chOff x="1234698" y="3159760"/>
              <a:chExt cx="406400" cy="203200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/>
            <p:cNvGrpSpPr/>
            <p:nvPr/>
          </p:nvGrpSpPr>
          <p:grpSpPr>
            <a:xfrm>
              <a:off x="6111498" y="3159760"/>
              <a:ext cx="406400" cy="203200"/>
              <a:chOff x="1234698" y="3159760"/>
              <a:chExt cx="406400" cy="203200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/>
            <p:cNvGrpSpPr/>
            <p:nvPr/>
          </p:nvGrpSpPr>
          <p:grpSpPr>
            <a:xfrm>
              <a:off x="6517898" y="3149600"/>
              <a:ext cx="406400" cy="203200"/>
              <a:chOff x="1234698" y="3159760"/>
              <a:chExt cx="406400" cy="203200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/>
            <p:cNvGrpSpPr/>
            <p:nvPr/>
          </p:nvGrpSpPr>
          <p:grpSpPr>
            <a:xfrm>
              <a:off x="6924298" y="3149600"/>
              <a:ext cx="406400" cy="203200"/>
              <a:chOff x="1234698" y="3159760"/>
              <a:chExt cx="406400" cy="203200"/>
            </a:xfrm>
          </p:grpSpPr>
          <p:cxnSp>
            <p:nvCxnSpPr>
              <p:cNvPr id="56" name="Straight Connector 55"/>
              <p:cNvCxnSpPr/>
              <p:nvPr/>
            </p:nvCxnSpPr>
            <p:spPr>
              <a:xfrm rot="5400000">
                <a:off x="11330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rot="5400000">
                <a:off x="1539498" y="3261360"/>
                <a:ext cx="20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193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808036" y="2159000"/>
              <a:ext cx="542925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xmlns="" val="36320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3693" y="874454"/>
            <a:ext cx="7019334" cy="2739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 smtClean="0">
                <a:solidFill>
                  <a:srgbClr val="0000FF"/>
                </a:solidFill>
              </a:rPr>
              <a:t>Remark from last class</a:t>
            </a:r>
          </a:p>
          <a:p>
            <a:endParaRPr lang="en-US" sz="3200" b="1" u="sng" dirty="0" smtClean="0">
              <a:solidFill>
                <a:srgbClr val="008000"/>
              </a:solidFill>
            </a:endParaRPr>
          </a:p>
          <a:p>
            <a:r>
              <a:rPr lang="en-US" sz="2400" dirty="0" smtClean="0"/>
              <a:t>The </a:t>
            </a:r>
            <a:r>
              <a:rPr lang="en-US" sz="2400" dirty="0"/>
              <a:t>essence of a random walk is that what happens in the future does not depend at all on what happened in the past.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74510" y="3429000"/>
            <a:ext cx="44577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At every stage, you just flip a coin.</a:t>
            </a:r>
          </a:p>
        </p:txBody>
      </p:sp>
    </p:spTree>
    <p:extLst>
      <p:ext uri="{BB962C8B-B14F-4D97-AF65-F5344CB8AC3E}">
        <p14:creationId xmlns:p14="http://schemas.microsoft.com/office/powerpoint/2010/main" xmlns="" val="87368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36962" y="2704460"/>
            <a:ext cx="7399155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Suppose we give you a coin, and the probability of getting a heads is p. What is the probability of getting m heads out of N trials?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429" y="4242910"/>
            <a:ext cx="7399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Playing a series is like flipping a coin N times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036963" y="5187275"/>
            <a:ext cx="73991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Rule: </a:t>
            </a:r>
            <a:r>
              <a:rPr lang="en-US" sz="2400" dirty="0" smtClean="0"/>
              <a:t>For every game, flip a coin, and either lose (tails) or win (heads)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024429" y="540315"/>
            <a:ext cx="5188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smtClean="0">
                <a:solidFill>
                  <a:srgbClr val="FF6600"/>
                </a:solidFill>
              </a:rPr>
              <a:t>Haven’t we done this before?</a:t>
            </a:r>
            <a:endParaRPr lang="en-US" sz="3200" b="1" u="sng" dirty="0">
              <a:solidFill>
                <a:srgbClr val="FF66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36962" y="1469615"/>
            <a:ext cx="6540536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Remember </a:t>
            </a:r>
            <a:r>
              <a:rPr lang="en-US" sz="2400" dirty="0" err="1" smtClean="0"/>
              <a:t>Mostellar</a:t>
            </a:r>
            <a:r>
              <a:rPr lang="en-US" sz="2400" dirty="0" smtClean="0"/>
              <a:t> and the World Series?</a:t>
            </a:r>
          </a:p>
          <a:p>
            <a:r>
              <a:rPr lang="en-US" sz="2400" dirty="0" smtClean="0"/>
              <a:t>(first week of class)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61783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06093" y="4096721"/>
            <a:ext cx="8473848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 smtClean="0">
                <a:solidFill>
                  <a:srgbClr val="FF0000"/>
                </a:solidFill>
              </a:rPr>
              <a:t>Question</a:t>
            </a:r>
          </a:p>
          <a:p>
            <a:endParaRPr lang="en-US" dirty="0"/>
          </a:p>
          <a:p>
            <a:r>
              <a:rPr lang="en-US" sz="2400" dirty="0" smtClean="0"/>
              <a:t>Are </a:t>
            </a:r>
            <a:r>
              <a:rPr lang="en-US" sz="2400" dirty="0" smtClean="0"/>
              <a:t>unbiased random walks and series against evenly </a:t>
            </a:r>
            <a:endParaRPr lang="en-US" sz="2400" dirty="0" smtClean="0"/>
          </a:p>
          <a:p>
            <a:r>
              <a:rPr lang="en-US" sz="2400" dirty="0" smtClean="0"/>
              <a:t>matched </a:t>
            </a:r>
            <a:r>
              <a:rPr lang="en-US" sz="2400" dirty="0" smtClean="0"/>
              <a:t>teams </a:t>
            </a:r>
            <a:r>
              <a:rPr lang="en-US" sz="2400" dirty="0" smtClean="0"/>
              <a:t>equivalent problems? 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Discuss with your neighbor!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6093" y="652993"/>
            <a:ext cx="4572000" cy="58477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u="sng" dirty="0" smtClean="0">
                <a:solidFill>
                  <a:srgbClr val="008000"/>
                </a:solidFill>
              </a:rPr>
              <a:t>Comparing the rules</a:t>
            </a:r>
            <a:endParaRPr lang="en-US" sz="3200" b="1" u="sng" dirty="0">
              <a:solidFill>
                <a:srgbClr val="008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6093" y="1625683"/>
            <a:ext cx="76457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Random walk rule: </a:t>
            </a:r>
            <a:r>
              <a:rPr lang="en-US" sz="2400" dirty="0"/>
              <a:t>Every time </a:t>
            </a:r>
            <a:r>
              <a:rPr lang="en-US" sz="2400" dirty="0" err="1"/>
              <a:t>τ</a:t>
            </a:r>
            <a:r>
              <a:rPr lang="en-US" sz="2400" dirty="0"/>
              <a:t> , flip a coin</a:t>
            </a:r>
            <a:r>
              <a:rPr lang="en-US" sz="2400" dirty="0" smtClean="0"/>
              <a:t>, and </a:t>
            </a:r>
            <a:r>
              <a:rPr lang="en-US" sz="2400" dirty="0"/>
              <a:t>either move to the left </a:t>
            </a:r>
            <a:r>
              <a:rPr lang="en-US" sz="2400" dirty="0" smtClean="0"/>
              <a:t>(tails</a:t>
            </a:r>
            <a:r>
              <a:rPr lang="en-US" sz="2400" dirty="0"/>
              <a:t>) or to the right </a:t>
            </a:r>
            <a:r>
              <a:rPr lang="en-US" sz="2400" dirty="0" smtClean="0"/>
              <a:t>(heads</a:t>
            </a:r>
            <a:r>
              <a:rPr lang="en-US" sz="2400" dirty="0"/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6093" y="2733569"/>
            <a:ext cx="73991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Baseball rule: </a:t>
            </a:r>
            <a:r>
              <a:rPr lang="en-US" sz="2400" dirty="0" smtClean="0"/>
              <a:t>For every game, flip a coin, and either lose (tails) or win (heads)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49291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53692" y="509537"/>
            <a:ext cx="7054707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</a:rPr>
              <a:t>Let’s re-examine our simulations</a:t>
            </a:r>
            <a:endParaRPr lang="en-US" sz="3200" b="1" dirty="0">
              <a:solidFill>
                <a:srgbClr val="0000FF"/>
              </a:solidFill>
            </a:endParaRPr>
          </a:p>
        </p:txBody>
      </p:sp>
      <p:pic>
        <p:nvPicPr>
          <p:cNvPr id="2" name="Picture 1" descr="Screen shot 2011-03-23 at 6.00.14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279" t="21690" r="56556" b="33014"/>
          <a:stretch/>
        </p:blipFill>
        <p:spPr>
          <a:xfrm>
            <a:off x="498528" y="1951397"/>
            <a:ext cx="3751271" cy="3520440"/>
          </a:xfrm>
          <a:prstGeom prst="rect">
            <a:avLst/>
          </a:prstGeom>
        </p:spPr>
      </p:pic>
      <p:pic>
        <p:nvPicPr>
          <p:cNvPr id="4" name="Picture 3" descr="Screen shot 2011-03-23 at 10.55.03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001" t="23924" r="58999" b="57676"/>
          <a:stretch/>
        </p:blipFill>
        <p:spPr>
          <a:xfrm>
            <a:off x="5415280" y="3907536"/>
            <a:ext cx="3072384" cy="12618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8528" y="1460491"/>
            <a:ext cx="10952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Lab 7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5347548" y="1497567"/>
            <a:ext cx="10952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Lab 1</a:t>
            </a:r>
            <a:endParaRPr lang="en-US" sz="2000" dirty="0"/>
          </a:p>
        </p:txBody>
      </p:sp>
      <p:pic>
        <p:nvPicPr>
          <p:cNvPr id="9" name="Picture 8" descr="Screen shot 2011-03-23 at 10.59.43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1005" t="20880" r="38996" b="59120"/>
          <a:stretch/>
        </p:blipFill>
        <p:spPr>
          <a:xfrm>
            <a:off x="5415280" y="2002196"/>
            <a:ext cx="329173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665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1-03-23 at 11.03.57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7999" t="16079" r="7001" b="15922"/>
          <a:stretch/>
        </p:blipFill>
        <p:spPr>
          <a:xfrm>
            <a:off x="1536700" y="1316906"/>
            <a:ext cx="6181344" cy="404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455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1-03-23 at 11.09.25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998" t="16077" r="17000" b="11121"/>
          <a:stretch/>
        </p:blipFill>
        <p:spPr>
          <a:xfrm>
            <a:off x="1188720" y="1211072"/>
            <a:ext cx="6400800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9504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53693" y="801924"/>
            <a:ext cx="74422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Rename a few </a:t>
            </a:r>
            <a:r>
              <a:rPr lang="en-US" sz="2400" dirty="0" smtClean="0"/>
              <a:t>variables </a:t>
            </a:r>
            <a:r>
              <a:rPr lang="en-US" sz="2400" dirty="0" smtClean="0"/>
              <a:t>and the codes look very similar</a:t>
            </a:r>
          </a:p>
          <a:p>
            <a:endParaRPr lang="en-US" sz="2400" dirty="0" smtClean="0"/>
          </a:p>
          <a:p>
            <a:r>
              <a:rPr lang="en-US" sz="2400" dirty="0" smtClean="0"/>
              <a:t>Plots </a:t>
            </a:r>
            <a:r>
              <a:rPr lang="en-US" sz="2400" dirty="0" smtClean="0"/>
              <a:t>are </a:t>
            </a:r>
            <a:r>
              <a:rPr lang="en-US" sz="2400" i="1" dirty="0" smtClean="0"/>
              <a:t>qualitatively</a:t>
            </a:r>
            <a:r>
              <a:rPr lang="en-US" sz="2400" dirty="0" smtClean="0"/>
              <a:t> similar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953693" y="2233085"/>
            <a:ext cx="74422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But the equations look very different</a:t>
            </a:r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54306315"/>
              </p:ext>
            </p:extLst>
          </p:nvPr>
        </p:nvGraphicFramePr>
        <p:xfrm>
          <a:off x="1478626" y="3466715"/>
          <a:ext cx="4267200" cy="838200"/>
        </p:xfrm>
        <a:graphic>
          <a:graphicData uri="http://schemas.openxmlformats.org/presentationml/2006/ole">
            <p:oleObj spid="_x0000_s1044" name="Equation" r:id="rId3" imgW="2121120" imgH="411120" progId="Equation.3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07740335"/>
              </p:ext>
            </p:extLst>
          </p:nvPr>
        </p:nvGraphicFramePr>
        <p:xfrm>
          <a:off x="1478626" y="5158980"/>
          <a:ext cx="3581400" cy="939800"/>
        </p:xfrm>
        <a:graphic>
          <a:graphicData uri="http://schemas.openxmlformats.org/presentationml/2006/ole">
            <p:oleObj spid="_x0000_s1045" name="Equation" r:id="rId4" imgW="1782720" imgH="456840" progId="Equation.3">
              <p:embed/>
            </p:oleObj>
          </a:graphicData>
        </a:graphic>
      </p:graphicFrame>
      <p:sp>
        <p:nvSpPr>
          <p:cNvPr id="7" name="Rectangle 6"/>
          <p:cNvSpPr/>
          <p:nvPr/>
        </p:nvSpPr>
        <p:spPr>
          <a:xfrm>
            <a:off x="953693" y="3005050"/>
            <a:ext cx="74422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Baseball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53693" y="4640049"/>
            <a:ext cx="74422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</a:rPr>
              <a:t>Random walks</a:t>
            </a:r>
            <a:endParaRPr lang="en-US" sz="2400" b="1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271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1-03-23 at 11.23.19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4001" t="6479" r="26999" b="19121"/>
          <a:stretch/>
        </p:blipFill>
        <p:spPr>
          <a:xfrm>
            <a:off x="1432560" y="1161965"/>
            <a:ext cx="6042355" cy="476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6597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07667209"/>
              </p:ext>
            </p:extLst>
          </p:nvPr>
        </p:nvGraphicFramePr>
        <p:xfrm>
          <a:off x="920355" y="1552786"/>
          <a:ext cx="4267200" cy="838200"/>
        </p:xfrm>
        <a:graphic>
          <a:graphicData uri="http://schemas.openxmlformats.org/presentationml/2006/ole">
            <p:oleObj spid="_x0000_s2064" name="Equation" r:id="rId3" imgW="2121120" imgH="411120" progId="Equation.3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88195552"/>
              </p:ext>
            </p:extLst>
          </p:nvPr>
        </p:nvGraphicFramePr>
        <p:xfrm>
          <a:off x="2032529" y="2657916"/>
          <a:ext cx="4470400" cy="939800"/>
        </p:xfrm>
        <a:graphic>
          <a:graphicData uri="http://schemas.openxmlformats.org/presentationml/2006/ole">
            <p:oleObj spid="_x0000_s2065" name="Equation" r:id="rId4" imgW="2221560" imgH="456840" progId="Equation.3">
              <p:embed/>
            </p:oleObj>
          </a:graphicData>
        </a:graphic>
      </p:graphicFrame>
      <p:sp>
        <p:nvSpPr>
          <p:cNvPr id="9" name="Rectangle 8"/>
          <p:cNvSpPr/>
          <p:nvPr/>
        </p:nvSpPr>
        <p:spPr>
          <a:xfrm>
            <a:off x="920355" y="904855"/>
            <a:ext cx="74422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When </a:t>
            </a:r>
            <a:r>
              <a:rPr lang="en-US" sz="2400" i="1" dirty="0" smtClean="0"/>
              <a:t>N </a:t>
            </a:r>
            <a:r>
              <a:rPr lang="en-US" sz="2400" dirty="0" smtClean="0"/>
              <a:t>is large 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920355" y="4159899"/>
            <a:ext cx="34653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Stat 110/111, AM 101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023360" y="4877693"/>
            <a:ext cx="5847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fun exercise.  </a:t>
            </a:r>
            <a:r>
              <a:rPr lang="en-US" dirty="0" smtClean="0"/>
              <a:t>Use </a:t>
            </a:r>
            <a:r>
              <a:rPr lang="en-US" dirty="0" err="1" smtClean="0"/>
              <a:t>Stirling’s</a:t>
            </a:r>
            <a:r>
              <a:rPr lang="en-US" dirty="0" smtClean="0"/>
              <a:t> approximation:</a:t>
            </a:r>
            <a:endParaRPr lang="en-US" dirty="0"/>
          </a:p>
        </p:txBody>
      </p:sp>
      <p:graphicFrame>
        <p:nvGraphicFramePr>
          <p:cNvPr id="2066" name="Object 18"/>
          <p:cNvGraphicFramePr>
            <a:graphicFrameLocks noChangeAspect="1"/>
          </p:cNvGraphicFramePr>
          <p:nvPr/>
        </p:nvGraphicFramePr>
        <p:xfrm>
          <a:off x="6238558" y="5247025"/>
          <a:ext cx="1563687" cy="703262"/>
        </p:xfrm>
        <a:graphic>
          <a:graphicData uri="http://schemas.openxmlformats.org/presentationml/2006/ole">
            <p:oleObj spid="_x0000_s2066" name="Equation" r:id="rId5" imgW="1066680" imgH="4698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66945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303</Words>
  <Application>Microsoft Office PowerPoint</Application>
  <PresentationFormat>On-screen Show (4:3)</PresentationFormat>
  <Paragraphs>42</Paragraphs>
  <Slides>11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Office Theme</vt:lpstr>
      <vt:lpstr>Equation</vt:lpstr>
      <vt:lpstr>Microsoft Equation 3.0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Harvard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Margo Levine</dc:creator>
  <cp:lastModifiedBy>mlevine</cp:lastModifiedBy>
  <cp:revision>19</cp:revision>
  <dcterms:created xsi:type="dcterms:W3CDTF">2011-03-23T02:34:16Z</dcterms:created>
  <dcterms:modified xsi:type="dcterms:W3CDTF">2011-03-23T15:51:38Z</dcterms:modified>
</cp:coreProperties>
</file>