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03" r:id="rId3"/>
    <p:sldId id="301" r:id="rId4"/>
    <p:sldId id="261" r:id="rId5"/>
    <p:sldId id="262" r:id="rId6"/>
    <p:sldId id="263" r:id="rId7"/>
    <p:sldId id="30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304" r:id="rId32"/>
    <p:sldId id="288" r:id="rId33"/>
    <p:sldId id="289" r:id="rId34"/>
    <p:sldId id="293" r:id="rId35"/>
    <p:sldId id="294" r:id="rId36"/>
    <p:sldId id="295" r:id="rId37"/>
    <p:sldId id="300" r:id="rId3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66"/>
    <p:restoredTop sz="50000"/>
  </p:normalViewPr>
  <p:slideViewPr>
    <p:cSldViewPr snapToGrid="0" snapToObjects="1">
      <p:cViewPr varScale="1">
        <p:scale>
          <a:sx n="29" d="100"/>
          <a:sy n="29" d="100"/>
        </p:scale>
        <p:origin x="15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2" d="100"/>
          <a:sy n="72" d="100"/>
        </p:scale>
        <p:origin x="29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85512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F41B89-285A-5E46-9961-11DCB9951F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33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hyperlink" Target="http://www.fivethirtyeight.com/" TargetMode="External"/><Relationship Id="rId5" Type="http://schemas.openxmlformats.org/officeDocument/2006/relationships/hyperlink" Target="http://fivethirtyeight.blogs.nytimes.com/" TargetMode="External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mathworks.com/help/matlab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iki.harvard.edu/confluence/display/fasmatlab/MATLAB+Boot+Camp+Home)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en.wikipedia.org/wiki/Hello_world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Applied Math 50: Overview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sz="half" idx="1"/>
          </p:nvPr>
        </p:nvSpPr>
        <p:spPr>
          <a:xfrm>
            <a:off x="952500" y="2876550"/>
            <a:ext cx="11099800" cy="4533900"/>
          </a:xfrm>
          <a:prstGeom prst="rect">
            <a:avLst/>
          </a:prstGeom>
        </p:spPr>
        <p:txBody>
          <a:bodyPr/>
          <a:lstStyle/>
          <a:p>
            <a:pPr marL="635000" indent="-635000">
              <a:buSzPct val="100000"/>
              <a:buAutoNum type="arabicPeriod"/>
            </a:pPr>
            <a:r>
              <a:rPr dirty="0"/>
              <a:t>Recap and further discussion of “The World Series Competition” by Frederick Mosteller</a:t>
            </a:r>
          </a:p>
          <a:p>
            <a:pPr marL="635000" indent="-635000">
              <a:buSzPct val="100000"/>
              <a:buAutoNum type="arabicPeriod"/>
            </a:pPr>
            <a:r>
              <a:rPr dirty="0"/>
              <a:t>Five minute break</a:t>
            </a:r>
          </a:p>
          <a:p>
            <a:pPr marL="635000" indent="-635000">
              <a:buSzPct val="100000"/>
              <a:buAutoNum type="arabicPeriod"/>
            </a:pPr>
            <a:r>
              <a:rPr dirty="0"/>
              <a:t>Beginning tutorial in </a:t>
            </a:r>
            <a:r>
              <a:rPr lang="en-US" dirty="0" smtClean="0"/>
              <a:t>Matlab</a:t>
            </a:r>
            <a:endParaRPr dirty="0"/>
          </a:p>
        </p:txBody>
      </p:sp>
      <p:sp>
        <p:nvSpPr>
          <p:cNvPr id="66" name="Shape 66"/>
          <p:cNvSpPr/>
          <p:nvPr/>
        </p:nvSpPr>
        <p:spPr>
          <a:xfrm>
            <a:off x="1719994" y="8324850"/>
            <a:ext cx="956481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Lecture notes will be posted on Course site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959" y="151905"/>
            <a:ext cx="12130336" cy="2159000"/>
          </a:xfrm>
        </p:spPr>
        <p:txBody>
          <a:bodyPr/>
          <a:lstStyle/>
          <a:p>
            <a:r>
              <a:rPr lang="en-US" dirty="0" smtClean="0"/>
              <a:t>Quick detour</a:t>
            </a:r>
            <a:endParaRPr lang="en-US" dirty="0"/>
          </a:p>
        </p:txBody>
      </p:sp>
      <p:pic>
        <p:nvPicPr>
          <p:cNvPr id="4" name="Screen Shot 2014-01-28 at 10.56.2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15200" y="2115492"/>
            <a:ext cx="5367095" cy="30116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70"/>
          <p:cNvSpPr/>
          <p:nvPr/>
        </p:nvSpPr>
        <p:spPr>
          <a:xfrm>
            <a:off x="634147" y="2178049"/>
            <a:ext cx="5740233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 b="1" i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“We love sports, it's a great way to teach people about math and statistics.”</a:t>
            </a:r>
          </a:p>
        </p:txBody>
      </p:sp>
      <p:pic>
        <p:nvPicPr>
          <p:cNvPr id="6" name="NateSilverFacts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8790" y="5989042"/>
            <a:ext cx="8089901" cy="28575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hape 72"/>
          <p:cNvSpPr/>
          <p:nvPr/>
        </p:nvSpPr>
        <p:spPr>
          <a:xfrm>
            <a:off x="2415461" y="4064000"/>
            <a:ext cx="464327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t>Statistician Nate Silver on</a:t>
            </a:r>
          </a:p>
          <a:p>
            <a:pPr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t>The Colbert Report, Jan 27 2014 </a:t>
            </a:r>
          </a:p>
        </p:txBody>
      </p:sp>
      <p:sp>
        <p:nvSpPr>
          <p:cNvPr id="8" name="Shape 73"/>
          <p:cNvSpPr/>
          <p:nvPr/>
        </p:nvSpPr>
        <p:spPr>
          <a:xfrm>
            <a:off x="177215" y="6223992"/>
            <a:ext cx="4161660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Mathematical model of the 2012 US general election: all 50 states predicted correctly </a:t>
            </a:r>
          </a:p>
        </p:txBody>
      </p:sp>
      <p:sp>
        <p:nvSpPr>
          <p:cNvPr id="9" name="Shape 74"/>
          <p:cNvSpPr/>
          <p:nvPr/>
        </p:nvSpPr>
        <p:spPr>
          <a:xfrm>
            <a:off x="69265" y="9221192"/>
            <a:ext cx="438564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 b="1" u="sng">
                <a:latin typeface="+mj-lt"/>
                <a:ea typeface="+mj-ea"/>
                <a:cs typeface="+mj-cs"/>
                <a:sym typeface="Helvetica"/>
                <a:hlinkClick r:id="rId4"/>
              </a:defRPr>
            </a:lvl1pPr>
          </a:lstStyle>
          <a:p>
            <a:pPr>
              <a:defRPr u="none"/>
            </a:pPr>
            <a:r>
              <a:rPr u="sng">
                <a:hlinkClick r:id="rId4"/>
              </a:rPr>
              <a:t>http://www.fivethirtyeight.com/</a:t>
            </a:r>
          </a:p>
        </p:txBody>
      </p:sp>
      <p:sp>
        <p:nvSpPr>
          <p:cNvPr id="10" name="Shape 75"/>
          <p:cNvSpPr/>
          <p:nvPr/>
        </p:nvSpPr>
        <p:spPr>
          <a:xfrm>
            <a:off x="6927636" y="9221192"/>
            <a:ext cx="566462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 u="sng">
                <a:latin typeface="+mj-lt"/>
                <a:ea typeface="+mj-ea"/>
                <a:cs typeface="+mj-cs"/>
                <a:sym typeface="Helvetica"/>
                <a:hlinkClick r:id="rId5"/>
              </a:defRPr>
            </a:lvl1pPr>
          </a:lstStyle>
          <a:p>
            <a:pPr>
              <a:defRPr u="none"/>
            </a:pPr>
            <a:r>
              <a:rPr u="sng" dirty="0">
                <a:hlinkClick r:id="rId5"/>
              </a:rPr>
              <a:t>http://fivethirtyeight.blogs.nytimes.com/</a:t>
            </a:r>
          </a:p>
        </p:txBody>
      </p:sp>
    </p:spTree>
    <p:extLst>
      <p:ext uri="{BB962C8B-B14F-4D97-AF65-F5344CB8AC3E}">
        <p14:creationId xmlns:p14="http://schemas.microsoft.com/office/powerpoint/2010/main" val="13852859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 </a:t>
            </a:r>
            <a:r>
              <a:rPr lang="is-IS" dirty="0" smtClean="0"/>
              <a:t>… 2016?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3" y="4949825"/>
            <a:ext cx="5542804" cy="3476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32" y="2603500"/>
            <a:ext cx="5384800" cy="332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353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Mosteller’s World Series model</a:t>
            </a:r>
          </a:p>
        </p:txBody>
      </p:sp>
      <p:pic>
        <p:nvPicPr>
          <p:cNvPr id="128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82900" y="2815886"/>
            <a:ext cx="7594600" cy="3775414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Shape 129"/>
          <p:cNvSpPr/>
          <p:nvPr/>
        </p:nvSpPr>
        <p:spPr>
          <a:xfrm>
            <a:off x="2552601" y="7444106"/>
            <a:ext cx="789959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Full paper available on Canvas </a:t>
            </a:r>
            <a:r>
              <a:rPr dirty="0" smtClean="0"/>
              <a:t>sit</a:t>
            </a:r>
            <a:r>
              <a:rPr lang="en-US" dirty="0" smtClean="0"/>
              <a:t>e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Mosteller’s World Series model</a:t>
            </a:r>
          </a:p>
        </p:txBody>
      </p:sp>
      <p:sp>
        <p:nvSpPr>
          <p:cNvPr id="132" name="Shape 132"/>
          <p:cNvSpPr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t>Assume that in the World Series, one team wins with probability </a:t>
            </a:r>
            <a:r>
              <a:rPr i="1"/>
              <a:t>p</a:t>
            </a:r>
            <a:r>
              <a:t>, like a flipping an unfair coin</a:t>
            </a:r>
          </a:p>
          <a:p>
            <a:r>
              <a:t>The better team is the one with the higher probability of winning a single coin flip</a:t>
            </a:r>
          </a:p>
          <a:p>
            <a:r>
              <a:t>The point of playing a “series” is that you would like to amplify the chance the better team wins</a:t>
            </a:r>
          </a:p>
          <a:p>
            <a:r>
              <a:t>Central question: how often does the better team win?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Binomial trials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952500" y="1752600"/>
            <a:ext cx="11099801" cy="5669848"/>
          </a:xfrm>
          <a:prstGeom prst="rect">
            <a:avLst/>
          </a:prstGeom>
        </p:spPr>
        <p:txBody>
          <a:bodyPr/>
          <a:lstStyle/>
          <a:p>
            <a:r>
              <a:t>Suppose you are given a coin, and the probability of getting a head is </a:t>
            </a:r>
            <a:r>
              <a:rPr i="1"/>
              <a:t>p</a:t>
            </a:r>
            <a:r>
              <a:t>. In </a:t>
            </a:r>
            <a:r>
              <a:rPr i="1"/>
              <a:t>N</a:t>
            </a:r>
            <a:r>
              <a:t> trials the probability of getting exactly </a:t>
            </a:r>
            <a:r>
              <a:rPr i="1"/>
              <a:t>m</a:t>
            </a:r>
            <a:r>
              <a:t> heads is</a:t>
            </a:r>
          </a:p>
          <a:p>
            <a:endParaRPr/>
          </a:p>
          <a:p>
            <a:endParaRPr/>
          </a:p>
          <a:p>
            <a:r>
              <a:t>Alternative notation</a:t>
            </a:r>
          </a:p>
        </p:txBody>
      </p:sp>
      <p:sp>
        <p:nvSpPr>
          <p:cNvPr id="137" name="Shape 137"/>
          <p:cNvSpPr/>
          <p:nvPr/>
        </p:nvSpPr>
        <p:spPr>
          <a:xfrm flipV="1">
            <a:off x="4989055" y="7878613"/>
            <a:ext cx="517487" cy="517487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2100" y="4266405"/>
                <a:ext cx="9880600" cy="16694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bg-BG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charset="0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1 −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4266405"/>
                <a:ext cx="9880600" cy="166949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5"/>
          <p:cNvSpPr>
            <a:spLocks/>
          </p:cNvSpPr>
          <p:nvPr/>
        </p:nvSpPr>
        <p:spPr bwMode="auto">
          <a:xfrm>
            <a:off x="2401888" y="8440738"/>
            <a:ext cx="5380037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“</a:t>
            </a:r>
            <a:r>
              <a:rPr lang="en-US" altLang="en-US" sz="2600" b="1" i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N </a:t>
            </a: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choose </a:t>
            </a:r>
            <a:r>
              <a:rPr lang="en-US" altLang="en-US" sz="2600" b="1" i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</a:t>
            </a: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” : the number of ways to choose </a:t>
            </a:r>
            <a:r>
              <a:rPr lang="en-US" altLang="en-US" sz="2600" b="1" i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</a:t>
            </a: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items from </a:t>
            </a:r>
            <a:r>
              <a:rPr lang="en-US" altLang="en-US" sz="2600" b="1" i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N</a:t>
            </a: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things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01888" y="6685463"/>
                <a:ext cx="7854157" cy="1602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 </m:t>
                      </m:r>
                      <m:d>
                        <m:dPr>
                          <m:ctrlPr>
                            <a:rPr lang="is-IS" b="0" i="1" smtClean="0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is-IS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1 −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888" y="6685463"/>
                <a:ext cx="7854157" cy="16028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title"/>
          </p:nvPr>
        </p:nvSpPr>
        <p:spPr>
          <a:xfrm>
            <a:off x="436563" y="444500"/>
            <a:ext cx="6294437" cy="2159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 smtClean="0"/>
              <a:t> Success </a:t>
            </a:r>
            <a:r>
              <a:rPr lang="en-US" altLang="en-US" dirty="0"/>
              <a:t>probability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55639" y="2609850"/>
            <a:ext cx="5173662" cy="4254500"/>
          </a:xfrm>
        </p:spPr>
        <p:txBody>
          <a:bodyPr anchor="t"/>
          <a:lstStyle/>
          <a:p>
            <a:r>
              <a:rPr lang="en-US" altLang="en-US" dirty="0"/>
              <a:t>Define </a:t>
            </a:r>
            <a:r>
              <a:rPr lang="en-US" altLang="en-US" i="1" dirty="0"/>
              <a:t>S</a:t>
            </a:r>
            <a:r>
              <a:rPr lang="en-US" altLang="en-US" dirty="0"/>
              <a:t>(</a:t>
            </a:r>
            <a:r>
              <a:rPr lang="en-US" altLang="en-US" i="1" dirty="0"/>
              <a:t>p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N </a:t>
            </a:r>
            <a:r>
              <a:rPr lang="en-US" altLang="en-US" dirty="0" smtClean="0"/>
              <a:t>) </a:t>
            </a:r>
            <a:r>
              <a:rPr lang="en-US" altLang="en-US" dirty="0"/>
              <a:t>to the </a:t>
            </a:r>
            <a:r>
              <a:rPr lang="en-US" altLang="en-US" dirty="0" smtClean="0"/>
              <a:t>be </a:t>
            </a:r>
            <a:r>
              <a:rPr lang="en-US" altLang="en-US" dirty="0"/>
              <a:t>the probability of winning an </a:t>
            </a:r>
            <a:r>
              <a:rPr lang="en-US" altLang="en-US" i="1" dirty="0"/>
              <a:t>N</a:t>
            </a:r>
            <a:r>
              <a:rPr lang="en-US" altLang="en-US" dirty="0"/>
              <a:t> game series</a:t>
            </a:r>
          </a:p>
          <a:p>
            <a:r>
              <a:rPr lang="en-US" altLang="en-US" dirty="0"/>
              <a:t>Then</a:t>
            </a:r>
          </a:p>
        </p:txBody>
      </p:sp>
      <p:sp>
        <p:nvSpPr>
          <p:cNvPr id="50181" name="Rectangle 5"/>
          <p:cNvSpPr>
            <a:spLocks/>
          </p:cNvSpPr>
          <p:nvPr/>
        </p:nvSpPr>
        <p:spPr bwMode="auto">
          <a:xfrm>
            <a:off x="655638" y="7138988"/>
            <a:ext cx="5965825" cy="248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/>
          <a:lstStyle>
            <a:lvl1pPr marL="444500" indent="-444500"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457200" indent="914400" algn="ctr" defTabSz="58420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914400" indent="914400" algn="ctr" defTabSz="58420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1371600" indent="914400" algn="ctr" defTabSz="58420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1828800" indent="914400" algn="ctr" defTabSz="58420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l">
              <a:lnSpc>
                <a:spcPct val="90000"/>
              </a:lnSpc>
              <a:spcBef>
                <a:spcPts val="2600"/>
              </a:spcBef>
              <a:buSzPct val="75000"/>
              <a:buFontTx/>
              <a:buChar char="•"/>
            </a:pPr>
            <a:r>
              <a:rPr lang="en-US" altLang="en-US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Winning combinations:</a:t>
            </a:r>
          </a:p>
        </p:txBody>
      </p:sp>
      <p:sp>
        <p:nvSpPr>
          <p:cNvPr id="50182" name="Rectangle 6"/>
          <p:cNvSpPr>
            <a:spLocks/>
          </p:cNvSpPr>
          <p:nvPr/>
        </p:nvSpPr>
        <p:spPr bwMode="auto">
          <a:xfrm>
            <a:off x="3851275" y="7747000"/>
            <a:ext cx="664686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altLang="en-US" sz="47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BBB</a:t>
            </a:r>
            <a:r>
              <a:rPr lang="en-US" altLang="en-US" sz="47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</a:t>
            </a:r>
            <a:r>
              <a:rPr lang="en-US" altLang="en-US" sz="47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BB</a:t>
            </a:r>
            <a:r>
              <a:rPr lang="en-US" altLang="en-US" sz="4700" b="1" dirty="0">
                <a:solidFill>
                  <a:srgbClr val="86100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W</a:t>
            </a:r>
            <a:r>
              <a:rPr lang="en-US" altLang="en-US" sz="47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</a:t>
            </a:r>
            <a:r>
              <a:rPr lang="en-US" altLang="en-US" sz="47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</a:t>
            </a:r>
            <a:r>
              <a:rPr lang="en-US" altLang="en-US" sz="4700" b="1" dirty="0">
                <a:solidFill>
                  <a:srgbClr val="86100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W</a:t>
            </a:r>
            <a:r>
              <a:rPr lang="en-US" altLang="en-US" sz="47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</a:t>
            </a:r>
            <a:r>
              <a:rPr lang="en-US" altLang="en-US" sz="47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</a:t>
            </a:r>
            <a:r>
              <a:rPr lang="en-US" altLang="en-US" sz="4700" b="1" dirty="0">
                <a:solidFill>
                  <a:srgbClr val="86100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W</a:t>
            </a:r>
            <a:r>
              <a:rPr lang="en-US" altLang="en-US" sz="47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BB</a:t>
            </a:r>
            <a:endParaRPr lang="en-US" altLang="en-US" sz="47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50183" name="Rectangle 7"/>
          <p:cNvSpPr>
            <a:spLocks/>
          </p:cNvSpPr>
          <p:nvPr/>
        </p:nvSpPr>
        <p:spPr bwMode="auto">
          <a:xfrm>
            <a:off x="254000" y="7996912"/>
            <a:ext cx="4002087" cy="121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/>
            <a:r>
              <a:rPr lang="en-US" altLang="en-US" sz="2400" b="1" dirty="0" err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Mosteller’s</a:t>
            </a:r>
            <a:r>
              <a:rPr lang="en-US" altLang="en-US" sz="24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 notation</a:t>
            </a:r>
          </a:p>
          <a:p>
            <a:pPr algn="l"/>
            <a:r>
              <a:rPr lang="en-US" altLang="en-US" sz="2400" b="1" dirty="0">
                <a:solidFill>
                  <a:srgbClr val="0B5D18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</a:t>
            </a:r>
            <a:r>
              <a:rPr lang="en-US" altLang="en-US" sz="24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: better team wins</a:t>
            </a:r>
          </a:p>
          <a:p>
            <a:pPr algn="l"/>
            <a:r>
              <a:rPr lang="en-US" altLang="en-US" sz="2400" b="1" dirty="0">
                <a:solidFill>
                  <a:srgbClr val="86100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W</a:t>
            </a:r>
            <a:r>
              <a:rPr lang="en-US" altLang="en-US" sz="24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: worse team wins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691" y="504825"/>
            <a:ext cx="7446557" cy="52007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29779" y="5631518"/>
                <a:ext cx="6707092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𝑝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,3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func>
                        <m:func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3600" b="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dPr>
                            <m:e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𝑊𝑖𝑛</m:t>
                              </m:r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 3</m:t>
                              </m:r>
                            </m:e>
                          </m:d>
                        </m:e>
                      </m:func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US" sz="3600" b="0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Pr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⁡(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𝑊𝑖𝑛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2)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79" y="5631518"/>
                <a:ext cx="6707092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22844" y="6318786"/>
                <a:ext cx="7841057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3,3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𝑃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3,2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𝑝</m:t>
                          </m:r>
                        </m:e>
                        <m:sup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3</m:t>
                          </m:r>
                        </m:sup>
                      </m:sSup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+3</m:t>
                      </m:r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𝑝</m:t>
                          </m:r>
                        </m:e>
                        <m:sup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sup>
                      </m:sSup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(1 −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𝑝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844" y="6318786"/>
                <a:ext cx="7841057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37"/>
          <p:cNvSpPr/>
          <p:nvPr/>
        </p:nvSpPr>
        <p:spPr>
          <a:xfrm flipH="1" flipV="1">
            <a:off x="9524998" y="3366574"/>
            <a:ext cx="1448808" cy="3313626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" name="Rectangle 5"/>
          <p:cNvSpPr>
            <a:spLocks/>
          </p:cNvSpPr>
          <p:nvPr/>
        </p:nvSpPr>
        <p:spPr bwMode="auto">
          <a:xfrm>
            <a:off x="8637276" y="6709026"/>
            <a:ext cx="5380037" cy="42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smtClean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No series</a:t>
            </a:r>
            <a:endParaRPr lang="en-US" altLang="en-US" sz="2600" b="1" dirty="0">
              <a:solidFill>
                <a:srgbClr val="773F9B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95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Amplification factor</a:t>
            </a:r>
          </a:p>
        </p:txBody>
      </p:sp>
      <p:sp>
        <p:nvSpPr>
          <p:cNvPr id="150" name="Shape 150"/>
          <p:cNvSpPr>
            <a:spLocks noGrp="1"/>
          </p:cNvSpPr>
          <p:nvPr>
            <p:ph type="body" idx="1"/>
          </p:nvPr>
        </p:nvSpPr>
        <p:spPr>
          <a:xfrm>
            <a:off x="952500" y="2578100"/>
            <a:ext cx="11099800" cy="628650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/>
          <a:p>
            <a:r>
              <a:rPr dirty="0"/>
              <a:t>Let    be the “advantage,” so that</a:t>
            </a:r>
          </a:p>
          <a:p>
            <a:r>
              <a:rPr dirty="0"/>
              <a:t>Mosteller’s calculation:</a:t>
            </a:r>
          </a:p>
          <a:p>
            <a:endParaRPr dirty="0"/>
          </a:p>
          <a:p>
            <a:endParaRPr dirty="0"/>
          </a:p>
          <a:p>
            <a:endParaRPr lang="en-US" dirty="0" smtClean="0"/>
          </a:p>
          <a:p>
            <a:endParaRPr lang="en-US" dirty="0" smtClean="0"/>
          </a:p>
          <a:p>
            <a:r>
              <a:rPr dirty="0" smtClean="0"/>
              <a:t>Increased </a:t>
            </a:r>
            <a:r>
              <a:rPr dirty="0"/>
              <a:t>chance </a:t>
            </a:r>
            <a:r>
              <a:rPr lang="en-US" dirty="0" smtClean="0"/>
              <a:t>better team winning: </a:t>
            </a:r>
          </a:p>
          <a:p>
            <a:endParaRPr dirty="0"/>
          </a:p>
          <a:p>
            <a:endParaRPr dirty="0"/>
          </a:p>
          <a:p>
            <a:r>
              <a:rPr dirty="0"/>
              <a:t>For p=0.51, so that    = 0.01, this is 0.005</a:t>
            </a:r>
          </a:p>
        </p:txBody>
      </p:sp>
      <p:pic>
        <p:nvPicPr>
          <p:cNvPr id="154" name="s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52073" y="6801785"/>
            <a:ext cx="5613025" cy="102991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80623" y="2433097"/>
                <a:ext cx="357727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𝜖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623" y="2433097"/>
                <a:ext cx="357727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30525" y="2100861"/>
                <a:ext cx="2128275" cy="10371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𝑝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f>
                        <m:f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 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𝜖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25" y="2100861"/>
                <a:ext cx="2128275" cy="10371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603785" y="3833852"/>
            <a:ext cx="8473665" cy="2347510"/>
            <a:chOff x="1603785" y="3948152"/>
            <a:chExt cx="8473665" cy="23475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1603785" y="3948152"/>
                  <a:ext cx="8473665" cy="5539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𝑆</m:t>
                        </m:r>
                        <m:d>
                          <m:d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𝑝</m:t>
                            </m:r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,3</m:t>
                            </m:r>
                          </m:e>
                        </m:d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=</m:t>
                        </m:r>
                        <m:sSup>
                          <m:sSup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p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𝑝</m:t>
                            </m:r>
                          </m:e>
                          <m:sup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3</m:t>
                            </m:r>
                          </m:sup>
                        </m:s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+3 </m:t>
                        </m:r>
                        <m:sSup>
                          <m:sSup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p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𝑝</m:t>
                            </m:r>
                          </m:e>
                          <m:sup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1 −</m:t>
                            </m:r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𝑝</m:t>
                            </m:r>
                          </m:e>
                        </m:d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=</m:t>
                        </m:r>
                        <m:sSup>
                          <m:sSup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</m:ctrlPr>
                          </m:sSup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𝑝</m:t>
                            </m:r>
                          </m:e>
                          <m:sup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charset="0"/>
                                <a:ea typeface="+mn-ea"/>
                                <a:cs typeface="+mn-cs"/>
                                <a:sym typeface="Helvetica Light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(3 −2 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𝑝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)</m:t>
                        </m:r>
                      </m:oMath>
                    </m:oMathPara>
                  </a14:m>
                  <a:endPara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3785" y="3948152"/>
                  <a:ext cx="8473665" cy="55399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3083641" y="4520374"/>
                  <a:ext cx="4027834" cy="9385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600" b="0" u="none" strike="noStrike" cap="none" spc="0" normalizeH="0" baseline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ea typeface="+mn-ea"/>
                      <a:cs typeface="+mn-cs"/>
                      <a:sym typeface="Helvetica Light"/>
                    </a:rPr>
                    <a:t>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is-I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bg-BG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charset="0"/>
                                      <a:ea typeface="+mn-ea"/>
                                      <a:cs typeface="+mn-cs"/>
                                      <a:sym typeface="Helvetica Light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charset="0"/>
                                      <a:ea typeface="+mn-ea"/>
                                      <a:cs typeface="+mn-cs"/>
                                      <a:sym typeface="Helvetica Light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charset="0"/>
                                      <a:ea typeface="+mn-ea"/>
                                      <a:cs typeface="+mn-cs"/>
                                      <a:sym typeface="Helvetica Light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+</m:t>
                              </m:r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sup>
                      </m:sSup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(2 −2 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𝜖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a14:m>
                  <a:endParaRPr kumimoji="0" lang="en-US" sz="3600" b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641" y="4520374"/>
                  <a:ext cx="4027834" cy="93852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6505" b="-1558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083641" y="5512242"/>
                  <a:ext cx="3144643" cy="78342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r>
                    <a:rPr lang="en-US" dirty="0" smtClean="0"/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bg-BG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bg-BG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</a:rPr>
                        <m:t> </m:t>
                      </m:r>
                      <m:r>
                        <a:rPr lang="en-US" b="0" i="1" smtClean="0">
                          <a:latin typeface="Cambria Math" charset="0"/>
                        </a:rPr>
                        <m:t>𝜖</m:t>
                      </m:r>
                      <m:r>
                        <a:rPr lang="en-US" b="0" i="1" smtClean="0">
                          <a:latin typeface="Cambria Math" charset="0"/>
                        </a:rPr>
                        <m:t>−2 </m:t>
                      </m:r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𝜖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kumimoji="0" lang="en-US" sz="3600" b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n-ea"/>
                    <a:cs typeface="+mn-cs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3641" y="5512242"/>
                  <a:ext cx="3144643" cy="7834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8527" t="-1550" b="-2170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97458" y="8079349"/>
                <a:ext cx="357727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𝜖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458" y="8079349"/>
                <a:ext cx="357727" cy="5539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380082" y="254000"/>
            <a:ext cx="12567568" cy="2159000"/>
          </a:xfrm>
          <a:prstGeom prst="rect">
            <a:avLst/>
          </a:prstGeom>
        </p:spPr>
        <p:txBody>
          <a:bodyPr/>
          <a:lstStyle>
            <a:lvl1pPr>
              <a:defRPr sz="5200"/>
            </a:lvl1pPr>
          </a:lstStyle>
          <a:p>
            <a:r>
              <a:t>Amplification grows with series length</a:t>
            </a:r>
          </a:p>
        </p:txBody>
      </p:sp>
      <p:sp>
        <p:nvSpPr>
          <p:cNvPr id="159" name="Shape 159"/>
          <p:cNvSpPr/>
          <p:nvPr/>
        </p:nvSpPr>
        <p:spPr>
          <a:xfrm>
            <a:off x="837037" y="8909049"/>
            <a:ext cx="11330726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Exercise: calculate amplification factor for longer series lengths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1924050"/>
            <a:ext cx="10109200" cy="70764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What’s an appropriate </a:t>
            </a:r>
            <a:r>
              <a:rPr i="1"/>
              <a:t>p</a:t>
            </a:r>
            <a:r>
              <a:t>?</a:t>
            </a:r>
          </a:p>
        </p:txBody>
      </p:sp>
      <p:sp>
        <p:nvSpPr>
          <p:cNvPr id="162" name="Shape 16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 answer the central question, Mosteller aims to estimate a value of </a:t>
            </a:r>
            <a:r>
              <a:rPr i="1"/>
              <a:t>p</a:t>
            </a:r>
            <a:r>
              <a:t> based on historical World Series data</a:t>
            </a:r>
          </a:p>
          <a:p>
            <a:r>
              <a:t>Examine period from 1905 to 1951. During this time, there were 44 seven-game series, plus 4 nine-game series</a:t>
            </a:r>
          </a:p>
          <a:p>
            <a:r>
              <a:t>Each World Series has one team from each league</a:t>
            </a:r>
          </a:p>
          <a:p>
            <a:pPr marL="790222" lvl="1" indent="-345722">
              <a:spcBef>
                <a:spcPts val="800"/>
              </a:spcBef>
              <a:defRPr sz="2800"/>
            </a:pPr>
            <a:r>
              <a:t>National League (St. Louis Cardinals, S.F. Giants, </a:t>
            </a:r>
            <a:r>
              <a:rPr i="1"/>
              <a:t>etc.</a:t>
            </a:r>
            <a:r>
              <a:t>)</a:t>
            </a:r>
          </a:p>
          <a:p>
            <a:pPr marL="790222" lvl="1" indent="-345722">
              <a:spcBef>
                <a:spcPts val="800"/>
              </a:spcBef>
              <a:defRPr sz="2800"/>
            </a:pPr>
            <a:r>
              <a:t>American League (Boston Red Sox, New York Yankees, </a:t>
            </a:r>
            <a:r>
              <a:rPr i="1"/>
              <a:t>etc.</a:t>
            </a:r>
            <a: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A.L. versus N.L. comparison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800100" y="2032000"/>
            <a:ext cx="11099800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First observation: the A.L. team wins more frequently, winning 31 out of 48 </a:t>
            </a:r>
            <a:r>
              <a:rPr lang="en-US" dirty="0" smtClean="0"/>
              <a:t>series</a:t>
            </a:r>
            <a:endParaRPr dirty="0"/>
          </a:p>
          <a:p>
            <a:r>
              <a:rPr dirty="0"/>
              <a:t>Won 159 out of 275 games: 57.82%</a:t>
            </a:r>
          </a:p>
          <a:p>
            <a:r>
              <a:rPr dirty="0"/>
              <a:t>Has the A.L. team done significantly better than the N.L. team?</a:t>
            </a:r>
          </a:p>
          <a:p>
            <a:r>
              <a:rPr dirty="0" smtClean="0"/>
              <a:t>Assum</a:t>
            </a:r>
            <a:r>
              <a:rPr lang="en-US" dirty="0" smtClean="0"/>
              <a:t>e </a:t>
            </a:r>
            <a:r>
              <a:rPr dirty="0" smtClean="0"/>
              <a:t>null </a:t>
            </a:r>
            <a:r>
              <a:rPr dirty="0"/>
              <a:t>hypothesis of </a:t>
            </a:r>
          </a:p>
          <a:p>
            <a:r>
              <a:rPr dirty="0"/>
              <a:t>Probability of winning 31 </a:t>
            </a:r>
            <a:r>
              <a:rPr dirty="0" smtClean="0"/>
              <a:t>or </a:t>
            </a:r>
            <a:r>
              <a:rPr dirty="0"/>
              <a:t>more = 0.0297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59846" y="5882228"/>
                <a:ext cx="1348959" cy="10371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𝑝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 </m:t>
                      </m:r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1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846" y="5882228"/>
                <a:ext cx="1348959" cy="10371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Mosteller’s first estimation</a:t>
            </a:r>
          </a:p>
        </p:txBody>
      </p:sp>
      <p:sp>
        <p:nvSpPr>
          <p:cNvPr id="169" name="Shape 169"/>
          <p:cNvSpPr>
            <a:spLocks noGrp="1"/>
          </p:cNvSpPr>
          <p:nvPr>
            <p:ph type="body" sz="half" idx="1"/>
          </p:nvPr>
        </p:nvSpPr>
        <p:spPr>
          <a:xfrm>
            <a:off x="952500" y="2362200"/>
            <a:ext cx="11099801" cy="2646313"/>
          </a:xfrm>
          <a:prstGeom prst="rect">
            <a:avLst/>
          </a:prstGeom>
        </p:spPr>
        <p:txBody>
          <a:bodyPr/>
          <a:lstStyle/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/>
              <a:t>Assume that the better team has the same </a:t>
            </a:r>
            <a:r>
              <a:rPr i="1" dirty="0"/>
              <a:t>p</a:t>
            </a:r>
            <a:r>
              <a:rPr dirty="0"/>
              <a:t> each year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/>
              <a:t>Define </a:t>
            </a:r>
            <a:r>
              <a:rPr i="1" dirty="0"/>
              <a:t>q</a:t>
            </a:r>
            <a:r>
              <a:rPr dirty="0"/>
              <a:t> = 1 – </a:t>
            </a:r>
            <a:r>
              <a:rPr i="1" dirty="0"/>
              <a:t>p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/>
              <a:t>Analyze the 44 seven-game series:</a:t>
            </a:r>
          </a:p>
        </p:txBody>
      </p:sp>
      <p:pic>
        <p:nvPicPr>
          <p:cNvPr id="170" name="Screen Shot 2014-01-28 at 11.08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7684" y="5128468"/>
            <a:ext cx="10683666" cy="4339382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Shape 171"/>
          <p:cNvSpPr/>
          <p:nvPr/>
        </p:nvSpPr>
        <p:spPr>
          <a:xfrm>
            <a:off x="8528524" y="8077200"/>
            <a:ext cx="2514799" cy="15296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" name="Shape 172"/>
          <p:cNvSpPr/>
          <p:nvPr/>
        </p:nvSpPr>
        <p:spPr>
          <a:xfrm flipH="1" flipV="1">
            <a:off x="9745111" y="8160133"/>
            <a:ext cx="685800" cy="534307"/>
          </a:xfrm>
          <a:prstGeom prst="line">
            <a:avLst/>
          </a:prstGeom>
          <a:ln w="38100">
            <a:solidFill>
              <a:schemeClr val="accent6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10430911" y="8427287"/>
            <a:ext cx="2008498" cy="1118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solidFill>
                  <a:schemeClr val="accent6">
                    <a:lumOff val="-8741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200" dirty="0"/>
              <a:t>Where does this come from?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Combinations of games won</a:t>
            </a:r>
          </a:p>
        </p:txBody>
      </p:sp>
      <p:sp>
        <p:nvSpPr>
          <p:cNvPr id="176" name="Shape 176"/>
          <p:cNvSpPr>
            <a:spLocks noGrp="1"/>
          </p:cNvSpPr>
          <p:nvPr>
            <p:ph type="body" idx="1"/>
          </p:nvPr>
        </p:nvSpPr>
        <p:spPr>
          <a:xfrm>
            <a:off x="952501" y="2609851"/>
            <a:ext cx="10679826" cy="2708108"/>
          </a:xfrm>
          <a:prstGeom prst="rect">
            <a:avLst/>
          </a:prstGeom>
        </p:spPr>
        <p:txBody>
          <a:bodyPr anchor="t"/>
          <a:lstStyle/>
          <a:p>
            <a:r>
              <a:rPr dirty="0" smtClean="0"/>
              <a:t>Four combinations for better team to win in a 4</a:t>
            </a:r>
            <a:r>
              <a:rPr lang="en-US" dirty="0" smtClean="0"/>
              <a:t> </a:t>
            </a:r>
            <a:r>
              <a:rPr dirty="0" smtClean="0"/>
              <a:t>–</a:t>
            </a:r>
            <a:r>
              <a:rPr lang="en-US" dirty="0" smtClean="0"/>
              <a:t> </a:t>
            </a:r>
            <a:r>
              <a:rPr dirty="0" smtClean="0"/>
              <a:t>1 series</a:t>
            </a:r>
          </a:p>
          <a:p>
            <a:endParaRPr dirty="0" smtClean="0"/>
          </a:p>
          <a:p>
            <a:endParaRPr dirty="0"/>
          </a:p>
        </p:txBody>
      </p:sp>
      <p:sp>
        <p:nvSpPr>
          <p:cNvPr id="177" name="Shape 177"/>
          <p:cNvSpPr/>
          <p:nvPr/>
        </p:nvSpPr>
        <p:spPr>
          <a:xfrm>
            <a:off x="1372474" y="4262065"/>
            <a:ext cx="10259852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700" b="1">
                <a:latin typeface="+mj-lt"/>
                <a:ea typeface="+mj-ea"/>
                <a:cs typeface="+mj-cs"/>
                <a:sym typeface="Helvetica"/>
              </a:defRPr>
            </a:pPr>
            <a:r>
              <a:rPr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W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BBBB</a:t>
            </a:r>
            <a:r>
              <a:t>, 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</a:t>
            </a:r>
            <a:r>
              <a:rPr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W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BBB</a:t>
            </a:r>
            <a:r>
              <a:t>, 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BB</a:t>
            </a:r>
            <a:r>
              <a:rPr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W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BB</a:t>
            </a:r>
            <a:r>
              <a:t>, 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BBB</a:t>
            </a:r>
            <a:r>
              <a:rPr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W</a:t>
            </a:r>
            <a:r>
              <a:rPr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</a:t>
            </a:r>
          </a:p>
        </p:txBody>
      </p:sp>
      <p:sp>
        <p:nvSpPr>
          <p:cNvPr id="178" name="Shape 178"/>
          <p:cNvSpPr/>
          <p:nvPr/>
        </p:nvSpPr>
        <p:spPr>
          <a:xfrm>
            <a:off x="2753270" y="8191500"/>
            <a:ext cx="2215060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200" b="1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*****</a:t>
            </a:r>
            <a:r>
              <a:rPr dirty="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</a:t>
            </a:r>
          </a:p>
        </p:txBody>
      </p:sp>
      <p:sp>
        <p:nvSpPr>
          <p:cNvPr id="179" name="Shape 179"/>
          <p:cNvSpPr/>
          <p:nvPr/>
        </p:nvSpPr>
        <p:spPr>
          <a:xfrm flipH="1">
            <a:off x="4261842" y="7478020"/>
            <a:ext cx="1132037" cy="773398"/>
          </a:xfrm>
          <a:prstGeom prst="line">
            <a:avLst/>
          </a:prstGeom>
          <a:ln w="38100">
            <a:solidFill>
              <a:schemeClr val="accent6">
                <a:lumOff val="-8741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80" name="Shape 180"/>
          <p:cNvSpPr/>
          <p:nvPr/>
        </p:nvSpPr>
        <p:spPr>
          <a:xfrm>
            <a:off x="5270012" y="7118283"/>
            <a:ext cx="3652102" cy="924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  <a:defRPr sz="3000" b="1">
                <a:solidFill>
                  <a:schemeClr val="accent6">
                    <a:lumOff val="-8741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3 </a:t>
            </a:r>
            <a:r>
              <a:rPr dirty="0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</a:rPr>
              <a:t>B</a:t>
            </a:r>
            <a:r>
              <a:rPr dirty="0"/>
              <a:t>’s and 2 </a:t>
            </a:r>
            <a:r>
              <a:rPr dirty="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W</a:t>
            </a:r>
            <a:r>
              <a:rPr dirty="0"/>
              <a:t>’s in any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801799" y="8069581"/>
                <a:ext cx="3501984" cy="1063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is-I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0" lang="is-I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</m:ctrlPr>
                            </m:fPr>
                            <m:num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5</m:t>
                              </m:r>
                            </m:num>
                            <m:den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charset="0"/>
                                  <a:ea typeface="+mn-ea"/>
                                  <a:cs typeface="+mn-cs"/>
                                  <a:sym typeface="Helvetica Light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 </m:t>
                      </m:r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5!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2!3!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=10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799" y="8069581"/>
                <a:ext cx="3501984" cy="106375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879279" y="5554400"/>
            <a:ext cx="110079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l">
              <a:buFont typeface="Arial" charset="0"/>
              <a:buChar char="•"/>
            </a:pPr>
            <a:r>
              <a:rPr lang="en-US" b="1" dirty="0">
                <a:latin typeface="+mj-ea"/>
                <a:ea typeface="+mj-ea"/>
              </a:rPr>
              <a:t>How many ways are there for a better team to win a </a:t>
            </a:r>
            <a:r>
              <a:rPr lang="en-US" b="1" dirty="0" smtClean="0">
                <a:latin typeface="+mj-ea"/>
                <a:ea typeface="+mj-ea"/>
              </a:rPr>
              <a:t>4 – 2 </a:t>
            </a:r>
            <a:r>
              <a:rPr lang="en-US" b="1" dirty="0">
                <a:latin typeface="+mj-ea"/>
                <a:ea typeface="+mj-ea"/>
              </a:rPr>
              <a:t>series?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animBg="1"/>
      <p:bldP spid="179" grpId="0" animBg="1"/>
      <p:bldP spid="180" grpId="0" animBg="1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Mosteller’s full table</a:t>
            </a:r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xfrm>
            <a:off x="952500" y="6972300"/>
            <a:ext cx="11099801" cy="2159000"/>
          </a:xfrm>
          <a:prstGeom prst="rect">
            <a:avLst/>
          </a:prstGeom>
        </p:spPr>
        <p:txBody>
          <a:bodyPr/>
          <a:lstStyle/>
          <a:p>
            <a:pPr marL="426719" indent="-426719" defTabSz="560831">
              <a:spcBef>
                <a:spcPts val="2400"/>
              </a:spcBef>
              <a:defRPr sz="3455"/>
            </a:pPr>
            <a:r>
              <a:t>Can try choosing </a:t>
            </a:r>
            <a:r>
              <a:rPr i="1"/>
              <a:t>p</a:t>
            </a:r>
            <a:r>
              <a:t> to fit the observed frequencies</a:t>
            </a:r>
          </a:p>
          <a:p>
            <a:pPr marL="426719" indent="-426719" defTabSz="560831">
              <a:spcBef>
                <a:spcPts val="2400"/>
              </a:spcBef>
              <a:defRPr sz="3455"/>
            </a:pPr>
            <a:r>
              <a:t>Let’s just examine the 4–0 series, which occur 9/44 = 20.4% of the time</a:t>
            </a:r>
          </a:p>
        </p:txBody>
      </p:sp>
      <p:pic>
        <p:nvPicPr>
          <p:cNvPr id="185" name="Screen Shot 2014-01-28 at 11.08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9150" y="2213818"/>
            <a:ext cx="10965075" cy="44536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/>
          </p:cNvSpPr>
          <p:nvPr>
            <p:ph type="title"/>
          </p:nvPr>
        </p:nvSpPr>
        <p:spPr>
          <a:xfrm>
            <a:off x="437232" y="190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An estimate for </a:t>
            </a:r>
            <a:r>
              <a:rPr i="1"/>
              <a:t>p</a:t>
            </a:r>
          </a:p>
        </p:txBody>
      </p:sp>
      <p:pic>
        <p:nvPicPr>
          <p:cNvPr id="188" name="sp3_mostellar_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1808" y="1790700"/>
            <a:ext cx="10601184" cy="64262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189"/>
          <p:cNvSpPr/>
          <p:nvPr/>
        </p:nvSpPr>
        <p:spPr>
          <a:xfrm>
            <a:off x="2843795" y="8362950"/>
            <a:ext cx="731721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Looks like </a:t>
            </a:r>
            <a:r>
              <a:rPr i="1"/>
              <a:t>p</a:t>
            </a:r>
            <a:r>
              <a:t> = 0.65 is pretty good</a:t>
            </a:r>
          </a:p>
        </p:txBody>
      </p:sp>
      <p:sp>
        <p:nvSpPr>
          <p:cNvPr id="190" name="Shape 190"/>
          <p:cNvSpPr/>
          <p:nvPr/>
        </p:nvSpPr>
        <p:spPr>
          <a:xfrm>
            <a:off x="5118100" y="6781800"/>
            <a:ext cx="228600" cy="254000"/>
          </a:xfrm>
          <a:prstGeom prst="ellipse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title"/>
          </p:nvPr>
        </p:nvSpPr>
        <p:spPr>
          <a:xfrm>
            <a:off x="437232" y="127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In fact </a:t>
            </a:r>
            <a:r>
              <a:rPr i="1"/>
              <a:t>p </a:t>
            </a:r>
            <a:r>
              <a:t>= 0.65 fits all the data</a:t>
            </a:r>
          </a:p>
        </p:txBody>
      </p:sp>
      <p:pic>
        <p:nvPicPr>
          <p:cNvPr id="193" name="sp3_mostellar_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050" y="1612115"/>
            <a:ext cx="6705600" cy="4064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sp3_mostellar_1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0309" y="1631165"/>
            <a:ext cx="6600847" cy="4001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sp3_mostellar_2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1150" y="5681385"/>
            <a:ext cx="6667500" cy="4041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sp3_mostellar_3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14071" y="5651500"/>
            <a:ext cx="6768535" cy="4102934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hape 197"/>
          <p:cNvSpPr/>
          <p:nvPr/>
        </p:nvSpPr>
        <p:spPr>
          <a:xfrm>
            <a:off x="2724150" y="4705350"/>
            <a:ext cx="228600" cy="254000"/>
          </a:xfrm>
          <a:prstGeom prst="ellipse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98" name="Shape 198"/>
          <p:cNvSpPr/>
          <p:nvPr/>
        </p:nvSpPr>
        <p:spPr>
          <a:xfrm>
            <a:off x="3200400" y="6788150"/>
            <a:ext cx="228600" cy="254000"/>
          </a:xfrm>
          <a:prstGeom prst="ellipse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99" name="Shape 199"/>
          <p:cNvSpPr/>
          <p:nvPr/>
        </p:nvSpPr>
        <p:spPr>
          <a:xfrm>
            <a:off x="9023350" y="2317750"/>
            <a:ext cx="228600" cy="254000"/>
          </a:xfrm>
          <a:prstGeom prst="ellipse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00" name="Shape 200"/>
          <p:cNvSpPr/>
          <p:nvPr/>
        </p:nvSpPr>
        <p:spPr>
          <a:xfrm>
            <a:off x="8756650" y="6790365"/>
            <a:ext cx="228600" cy="254000"/>
          </a:xfrm>
          <a:prstGeom prst="ellipse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01" name="Shape 201"/>
          <p:cNvSpPr/>
          <p:nvPr/>
        </p:nvSpPr>
        <p:spPr>
          <a:xfrm>
            <a:off x="6714579" y="6744484"/>
            <a:ext cx="47418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5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P(3)</a:t>
            </a:r>
          </a:p>
        </p:txBody>
      </p:sp>
      <p:sp>
        <p:nvSpPr>
          <p:cNvPr id="2" name="Rectangle 1"/>
          <p:cNvSpPr/>
          <p:nvPr/>
        </p:nvSpPr>
        <p:spPr>
          <a:xfrm>
            <a:off x="6845300" y="6998485"/>
            <a:ext cx="457200" cy="29845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6354" y="3009900"/>
            <a:ext cx="171450" cy="13335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Mosteller’s three estimation </a:t>
            </a:r>
            <a:r>
              <a:rPr dirty="0" smtClean="0"/>
              <a:t>methods</a:t>
            </a:r>
            <a:endParaRPr dirty="0"/>
          </a:p>
        </p:txBody>
      </p:sp>
      <p:sp>
        <p:nvSpPr>
          <p:cNvPr id="204" name="Shape 20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Mosteller considers three methods of </a:t>
            </a:r>
            <a:r>
              <a:rPr dirty="0" smtClean="0"/>
              <a:t>systematically </a:t>
            </a:r>
            <a:r>
              <a:rPr dirty="0"/>
              <a:t>choosing </a:t>
            </a:r>
            <a:r>
              <a:rPr i="1" dirty="0"/>
              <a:t>p</a:t>
            </a:r>
            <a:r>
              <a:rPr dirty="0"/>
              <a:t>:</a:t>
            </a:r>
          </a:p>
          <a:p>
            <a:pPr marL="1270000" lvl="1" indent="-635000">
              <a:buSzPct val="100000"/>
              <a:buAutoNum type="arabicPeriod"/>
            </a:pPr>
            <a:r>
              <a:rPr dirty="0"/>
              <a:t>He makes the average number of games lost by the winning team match</a:t>
            </a:r>
          </a:p>
          <a:p>
            <a:pPr marL="1270000" lvl="1" indent="-635000">
              <a:buSzPct val="100000"/>
              <a:buAutoNum type="arabicPeriod"/>
            </a:pPr>
            <a:r>
              <a:rPr dirty="0"/>
              <a:t>He uses a maximum likelihood argument</a:t>
            </a:r>
          </a:p>
          <a:p>
            <a:pPr marL="1270000" lvl="1" indent="-635000">
              <a:buSzPct val="100000"/>
              <a:buAutoNum type="arabicPeriod"/>
            </a:pPr>
            <a:r>
              <a:rPr dirty="0"/>
              <a:t>He uses a     statistic</a:t>
            </a:r>
          </a:p>
          <a:p>
            <a:r>
              <a:rPr dirty="0"/>
              <a:t>We’ll examine the first two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4198" y="6691583"/>
                <a:ext cx="629852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𝜒</m:t>
                          </m:r>
                        </m:e>
                        <m:sup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198" y="6691583"/>
                <a:ext cx="629852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96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Average number of losing games</a:t>
            </a:r>
          </a:p>
        </p:txBody>
      </p:sp>
      <p:sp>
        <p:nvSpPr>
          <p:cNvPr id="208" name="Shape 208"/>
          <p:cNvSpPr>
            <a:spLocks noGrp="1"/>
          </p:cNvSpPr>
          <p:nvPr>
            <p:ph type="body" sz="half" idx="1"/>
          </p:nvPr>
        </p:nvSpPr>
        <p:spPr>
          <a:xfrm>
            <a:off x="536079" y="4197350"/>
            <a:ext cx="6276430" cy="5078562"/>
          </a:xfrm>
          <a:prstGeom prst="rect">
            <a:avLst/>
          </a:prstGeom>
        </p:spPr>
        <p:txBody>
          <a:bodyPr anchor="t"/>
          <a:lstStyle/>
          <a:p>
            <a:pPr marL="431165" indent="-431165" defTabSz="566674">
              <a:spcBef>
                <a:spcPts val="2500"/>
              </a:spcBef>
              <a:defRPr sz="3492"/>
            </a:pPr>
            <a:r>
              <a:rPr dirty="0"/>
              <a:t>After some manipulations,</a:t>
            </a:r>
          </a:p>
          <a:p>
            <a:pPr marL="0" indent="0" defTabSz="566674">
              <a:spcBef>
                <a:spcPts val="2500"/>
              </a:spcBef>
              <a:buNone/>
              <a:defRPr sz="3492"/>
            </a:pPr>
            <a:endParaRPr dirty="0"/>
          </a:p>
          <a:p>
            <a:pPr marL="431165" indent="-431165" defTabSz="566674">
              <a:spcBef>
                <a:spcPts val="2500"/>
              </a:spcBef>
              <a:defRPr sz="3492"/>
            </a:pPr>
            <a:r>
              <a:rPr dirty="0"/>
              <a:t>Problem: find value of </a:t>
            </a:r>
            <a:r>
              <a:rPr i="1" dirty="0"/>
              <a:t>p</a:t>
            </a:r>
            <a:r>
              <a:rPr dirty="0"/>
              <a:t> corresponding to the value in the data of </a:t>
            </a:r>
            <a:r>
              <a:rPr i="1" dirty="0"/>
              <a:t>A</a:t>
            </a:r>
            <a:r>
              <a:rPr dirty="0"/>
              <a:t> = 1.5455</a:t>
            </a:r>
          </a:p>
          <a:p>
            <a:pPr marL="431165" indent="-431165" defTabSz="566674">
              <a:spcBef>
                <a:spcPts val="2500"/>
              </a:spcBef>
              <a:defRPr sz="3492"/>
            </a:pPr>
            <a:r>
              <a:rPr dirty="0"/>
              <a:t>But the right hand side is a sixth order polynomial in </a:t>
            </a:r>
            <a:r>
              <a:rPr i="1" dirty="0"/>
              <a:t>p</a:t>
            </a:r>
          </a:p>
        </p:txBody>
      </p:sp>
      <p:pic>
        <p:nvPicPr>
          <p:cNvPr id="209" name="Screen Shot 2014-01-28 at 11.56.1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6450" y="2543968"/>
            <a:ext cx="8851900" cy="151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Screen Shot 2014-01-28 at 11.58.0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61666" y="5067300"/>
            <a:ext cx="3784601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509" y="4184650"/>
            <a:ext cx="6418417" cy="44827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/>
        </p:nvSpPr>
        <p:spPr>
          <a:xfrm>
            <a:off x="7538116" y="6653212"/>
            <a:ext cx="4739819" cy="2460474"/>
          </a:xfrm>
          <a:prstGeom prst="line">
            <a:avLst/>
          </a:prstGeom>
          <a:ln w="63500">
            <a:solidFill>
              <a:srgbClr val="D5A1E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4" name="Shape 214"/>
          <p:cNvSpPr>
            <a:spLocks noGrp="1"/>
          </p:cNvSpPr>
          <p:nvPr>
            <p:ph type="title"/>
          </p:nvPr>
        </p:nvSpPr>
        <p:spPr>
          <a:xfrm>
            <a:off x="322932" y="215900"/>
            <a:ext cx="12897768" cy="2159000"/>
          </a:xfrm>
          <a:prstGeom prst="rect">
            <a:avLst/>
          </a:prstGeom>
        </p:spPr>
        <p:txBody>
          <a:bodyPr/>
          <a:lstStyle/>
          <a:p>
            <a:r>
              <a:t>Root finding the old school way</a:t>
            </a:r>
          </a:p>
        </p:txBody>
      </p:sp>
      <p:sp>
        <p:nvSpPr>
          <p:cNvPr id="215" name="Shape 215"/>
          <p:cNvSpPr>
            <a:spLocks noGrp="1"/>
          </p:cNvSpPr>
          <p:nvPr>
            <p:ph type="body" sz="half" idx="1"/>
          </p:nvPr>
        </p:nvSpPr>
        <p:spPr>
          <a:xfrm>
            <a:off x="675927" y="2053679"/>
            <a:ext cx="6216205" cy="7398842"/>
          </a:xfrm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2400"/>
              </a:spcBef>
              <a:defRPr sz="3348"/>
            </a:pPr>
            <a:r>
              <a:rPr dirty="0"/>
              <a:t>Mosteller calculates the value of </a:t>
            </a:r>
            <a:r>
              <a:rPr i="1" dirty="0"/>
              <a:t>A</a:t>
            </a:r>
            <a:r>
              <a:rPr dirty="0"/>
              <a:t> for a number of different values of </a:t>
            </a:r>
            <a:r>
              <a:rPr i="1" dirty="0"/>
              <a:t>p</a:t>
            </a:r>
            <a:r>
              <a:rPr dirty="0"/>
              <a:t>: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  <a:endParaRPr dirty="0"/>
          </a:p>
          <a:p>
            <a:pPr marL="413384" indent="-413384" defTabSz="543305">
              <a:spcBef>
                <a:spcPts val="2400"/>
              </a:spcBef>
              <a:defRPr sz="3348"/>
            </a:pPr>
            <a:endParaRPr dirty="0"/>
          </a:p>
          <a:p>
            <a:pPr marL="413384" indent="-413384" defTabSz="543305">
              <a:spcBef>
                <a:spcPts val="2400"/>
              </a:spcBef>
              <a:defRPr sz="3348"/>
            </a:pPr>
            <a:endParaRPr dirty="0"/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rPr dirty="0"/>
              <a:t>He then linearly interpolates between the two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rPr dirty="0"/>
              <a:t>Similar to modern computer root-finding strategies (see “bisection search</a:t>
            </a:r>
            <a:r>
              <a:rPr dirty="0" smtClean="0"/>
              <a:t>”)</a:t>
            </a:r>
            <a:r>
              <a:rPr lang="en-US" baseline="30000" dirty="0" smtClean="0"/>
              <a:t>*</a:t>
            </a:r>
            <a:endParaRPr dirty="0"/>
          </a:p>
        </p:txBody>
      </p:sp>
      <p:pic>
        <p:nvPicPr>
          <p:cNvPr id="216" name="Screen Shot 2014-01-29 at 12.07.5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8379" y="3869778"/>
            <a:ext cx="4051301" cy="2222501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Shape 217"/>
          <p:cNvSpPr/>
          <p:nvPr/>
        </p:nvSpPr>
        <p:spPr>
          <a:xfrm>
            <a:off x="7136755" y="2636738"/>
            <a:ext cx="5519380" cy="2671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4258" y="276"/>
                  <a:pt x="8439" y="2472"/>
                  <a:pt x="12262" y="6441"/>
                </a:cubicBezTo>
                <a:cubicBezTo>
                  <a:pt x="15820" y="10134"/>
                  <a:pt x="18994" y="15288"/>
                  <a:pt x="21600" y="21600"/>
                </a:cubicBezTo>
              </a:path>
            </a:pathLst>
          </a:custGeom>
          <a:ln w="63500">
            <a:solidFill>
              <a:srgbClr val="D5A1E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8" name="Shape 218"/>
          <p:cNvSpPr/>
          <p:nvPr/>
        </p:nvSpPr>
        <p:spPr>
          <a:xfrm>
            <a:off x="7493000" y="2540000"/>
            <a:ext cx="253604" cy="254000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Shape 219"/>
          <p:cNvSpPr/>
          <p:nvPr/>
        </p:nvSpPr>
        <p:spPr>
          <a:xfrm>
            <a:off x="12153900" y="4775200"/>
            <a:ext cx="253604" cy="254000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Shape 220"/>
          <p:cNvSpPr/>
          <p:nvPr/>
        </p:nvSpPr>
        <p:spPr>
          <a:xfrm>
            <a:off x="9781223" y="3149600"/>
            <a:ext cx="253605" cy="254000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Shape 221"/>
          <p:cNvSpPr/>
          <p:nvPr/>
        </p:nvSpPr>
        <p:spPr>
          <a:xfrm>
            <a:off x="7192250" y="4089400"/>
            <a:ext cx="5533151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22" name="Shape 222"/>
          <p:cNvSpPr/>
          <p:nvPr/>
        </p:nvSpPr>
        <p:spPr>
          <a:xfrm>
            <a:off x="11013123" y="3839828"/>
            <a:ext cx="253605" cy="254001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" name="Shape 223"/>
          <p:cNvSpPr/>
          <p:nvPr/>
        </p:nvSpPr>
        <p:spPr>
          <a:xfrm>
            <a:off x="11444923" y="4157328"/>
            <a:ext cx="253605" cy="254001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7359622" y="2133599"/>
            <a:ext cx="520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0.5</a:t>
            </a:r>
          </a:p>
        </p:txBody>
      </p:sp>
      <p:sp>
        <p:nvSpPr>
          <p:cNvPr id="225" name="Shape 225"/>
          <p:cNvSpPr/>
          <p:nvPr/>
        </p:nvSpPr>
        <p:spPr>
          <a:xfrm>
            <a:off x="12020522" y="5054599"/>
            <a:ext cx="520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0.7</a:t>
            </a:r>
          </a:p>
        </p:txBody>
      </p:sp>
      <p:sp>
        <p:nvSpPr>
          <p:cNvPr id="226" name="Shape 226"/>
          <p:cNvSpPr/>
          <p:nvPr/>
        </p:nvSpPr>
        <p:spPr>
          <a:xfrm>
            <a:off x="9647845" y="2666999"/>
            <a:ext cx="52036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0.6</a:t>
            </a:r>
          </a:p>
        </p:txBody>
      </p:sp>
      <p:sp>
        <p:nvSpPr>
          <p:cNvPr id="227" name="Shape 227"/>
          <p:cNvSpPr/>
          <p:nvPr/>
        </p:nvSpPr>
        <p:spPr>
          <a:xfrm>
            <a:off x="10798519" y="3314699"/>
            <a:ext cx="68281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0.65</a:t>
            </a:r>
          </a:p>
        </p:txBody>
      </p:sp>
      <p:sp>
        <p:nvSpPr>
          <p:cNvPr id="228" name="Shape 228"/>
          <p:cNvSpPr/>
          <p:nvPr/>
        </p:nvSpPr>
        <p:spPr>
          <a:xfrm>
            <a:off x="10826567" y="4456397"/>
            <a:ext cx="10077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0.6667</a:t>
            </a:r>
          </a:p>
        </p:txBody>
      </p:sp>
      <p:sp>
        <p:nvSpPr>
          <p:cNvPr id="229" name="Shape 229"/>
          <p:cNvSpPr/>
          <p:nvPr/>
        </p:nvSpPr>
        <p:spPr>
          <a:xfrm>
            <a:off x="7876223" y="6760828"/>
            <a:ext cx="253605" cy="254001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" name="Shape 230"/>
          <p:cNvSpPr/>
          <p:nvPr/>
        </p:nvSpPr>
        <p:spPr>
          <a:xfrm>
            <a:off x="11787823" y="8805528"/>
            <a:ext cx="253605" cy="254001"/>
          </a:xfrm>
          <a:prstGeom prst="ellipse">
            <a:avLst/>
          </a:prstGeom>
          <a:solidFill>
            <a:schemeClr val="accent5">
              <a:hueOff val="-176146"/>
              <a:satOff val="3665"/>
              <a:lumOff val="-13986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1" name="Shape 231"/>
          <p:cNvSpPr/>
          <p:nvPr/>
        </p:nvSpPr>
        <p:spPr>
          <a:xfrm>
            <a:off x="7661619" y="6324599"/>
            <a:ext cx="68281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0.65</a:t>
            </a:r>
          </a:p>
        </p:txBody>
      </p:sp>
      <p:sp>
        <p:nvSpPr>
          <p:cNvPr id="232" name="Shape 232"/>
          <p:cNvSpPr/>
          <p:nvPr/>
        </p:nvSpPr>
        <p:spPr>
          <a:xfrm>
            <a:off x="7109913" y="4079858"/>
            <a:ext cx="142657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 b="1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A</a:t>
            </a:r>
            <a:r>
              <a:t> = 1.5455</a:t>
            </a:r>
          </a:p>
        </p:txBody>
      </p:sp>
      <p:sp>
        <p:nvSpPr>
          <p:cNvPr id="233" name="Shape 233"/>
          <p:cNvSpPr/>
          <p:nvPr/>
        </p:nvSpPr>
        <p:spPr>
          <a:xfrm>
            <a:off x="7192250" y="7518400"/>
            <a:ext cx="5533151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4" name="Shape 234"/>
          <p:cNvSpPr/>
          <p:nvPr/>
        </p:nvSpPr>
        <p:spPr>
          <a:xfrm>
            <a:off x="7109913" y="7498080"/>
            <a:ext cx="142657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 b="1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A </a:t>
            </a:r>
            <a:r>
              <a:t>= 1.5455</a:t>
            </a:r>
          </a:p>
        </p:txBody>
      </p:sp>
      <p:sp>
        <p:nvSpPr>
          <p:cNvPr id="235" name="Shape 235"/>
          <p:cNvSpPr/>
          <p:nvPr/>
        </p:nvSpPr>
        <p:spPr>
          <a:xfrm>
            <a:off x="11232967" y="9053797"/>
            <a:ext cx="10077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0.6667</a:t>
            </a:r>
          </a:p>
        </p:txBody>
      </p:sp>
      <p:sp>
        <p:nvSpPr>
          <p:cNvPr id="236" name="Shape 236"/>
          <p:cNvSpPr/>
          <p:nvPr/>
        </p:nvSpPr>
        <p:spPr>
          <a:xfrm>
            <a:off x="8526208" y="8254999"/>
            <a:ext cx="151903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p </a:t>
            </a:r>
            <a:r>
              <a:t>= 0.6542</a:t>
            </a:r>
          </a:p>
        </p:txBody>
      </p:sp>
      <p:sp>
        <p:nvSpPr>
          <p:cNvPr id="237" name="Shape 237"/>
          <p:cNvSpPr/>
          <p:nvPr/>
        </p:nvSpPr>
        <p:spPr>
          <a:xfrm flipV="1">
            <a:off x="8981512" y="7711742"/>
            <a:ext cx="227575" cy="590935"/>
          </a:xfrm>
          <a:prstGeom prst="line">
            <a:avLst/>
          </a:prstGeom>
          <a:ln w="25400">
            <a:solidFill>
              <a:schemeClr val="accent5">
                <a:hueOff val="-176146"/>
                <a:satOff val="3665"/>
                <a:lumOff val="-13986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6362" y="9138251"/>
            <a:ext cx="7386638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spc="0" normalizeH="0" baseline="30000" dirty="0" smtClean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*</a:t>
            </a:r>
            <a:r>
              <a:rPr kumimoji="0" lang="en-US" sz="2200" b="1" i="0" u="none" strike="noStrike" cap="none" spc="0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See APMTH 111:</a:t>
            </a:r>
            <a:r>
              <a:rPr kumimoji="0" lang="en-US" sz="2200" b="1" i="0" u="none" strike="noStrike" cap="none" spc="0" normalizeH="0" dirty="0" smtClean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Introduction to Scientific Computing</a:t>
            </a:r>
            <a:endParaRPr kumimoji="0" lang="en-US" sz="2200" b="1" i="0" u="none" strike="noStrike" cap="none" spc="0" normalizeH="0" baseline="0" dirty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2. Maximum likelihood</a:t>
            </a:r>
          </a:p>
        </p:txBody>
      </p:sp>
      <p:pic>
        <p:nvPicPr>
          <p:cNvPr id="240" name="Screen Shot 2014-01-29 at 12.24.0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7231" y="2879423"/>
            <a:ext cx="11978423" cy="4605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 of estimations of </a:t>
            </a:r>
            <a:r>
              <a:rPr i="1"/>
              <a:t>p</a:t>
            </a:r>
          </a:p>
        </p:txBody>
      </p:sp>
      <p:sp>
        <p:nvSpPr>
          <p:cNvPr id="243" name="Shape 243"/>
          <p:cNvSpPr>
            <a:spLocks noGrp="1"/>
          </p:cNvSpPr>
          <p:nvPr>
            <p:ph type="body" sz="half" idx="1"/>
          </p:nvPr>
        </p:nvSpPr>
        <p:spPr>
          <a:xfrm>
            <a:off x="952500" y="4789983"/>
            <a:ext cx="11099800" cy="4290517"/>
          </a:xfrm>
          <a:prstGeom prst="rect">
            <a:avLst/>
          </a:prstGeom>
        </p:spPr>
        <p:txBody>
          <a:bodyPr/>
          <a:lstStyle/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All three approaches give almost the same answer, which is very close to our initial guess of </a:t>
            </a:r>
            <a:r>
              <a:rPr i="1" dirty="0"/>
              <a:t>p</a:t>
            </a:r>
            <a:r>
              <a:rPr dirty="0"/>
              <a:t> = 0.65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Can now answer the original question of how often the better team wins:</a:t>
            </a:r>
          </a:p>
          <a:p>
            <a:pPr marL="404495" indent="-404495" defTabSz="531622">
              <a:spcBef>
                <a:spcPts val="2300"/>
              </a:spcBef>
              <a:defRPr sz="3276"/>
            </a:pPr>
            <a:endParaRPr dirty="0"/>
          </a:p>
          <a:p>
            <a:pPr marL="404495" indent="-404495" defTabSz="531622">
              <a:spcBef>
                <a:spcPts val="2300"/>
              </a:spcBef>
              <a:defRPr sz="3276"/>
            </a:pPr>
            <a:r>
              <a:rPr dirty="0"/>
              <a:t>This means that 20% of the time, the better team doesn’t win</a:t>
            </a:r>
          </a:p>
        </p:txBody>
      </p:sp>
      <p:pic>
        <p:nvPicPr>
          <p:cNvPr id="244" name="Screen Shot 2014-01-29 at 12.27.0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3800" y="2321718"/>
            <a:ext cx="8077200" cy="20828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747368" y="7228701"/>
                <a:ext cx="3510063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0.65, 7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=0.80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368" y="7228701"/>
                <a:ext cx="3510063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often does the A.L. have the better team?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Shape 248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52500" y="2901210"/>
                <a:ext cx="11099800" cy="6286500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rPr lang="en-US" dirty="0" smtClean="0"/>
                  <a:t>Recall that the A.L. team won 31 out of 48 times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be the proportion of series where the A.L. has the better team. Then</a:t>
                </a:r>
              </a:p>
              <a:p>
                <a:endParaRPr lang="en-US" dirty="0"/>
              </a:p>
              <a:p>
                <a:pPr>
                  <a:spcBef>
                    <a:spcPts val="300"/>
                  </a:spcBef>
                </a:pPr>
                <a:endParaRPr lang="en-US" dirty="0"/>
              </a:p>
              <a:p>
                <a:r>
                  <a:rPr lang="en-US" dirty="0"/>
                  <a:t>After some algebra, </a:t>
                </a:r>
                <a:endParaRPr dirty="0"/>
              </a:p>
            </p:txBody>
          </p:sp>
        </mc:Choice>
        <mc:Fallback xmlns="">
          <p:sp>
            <p:nvSpPr>
              <p:cNvPr id="248" name="Shape 24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2500" y="2901210"/>
                <a:ext cx="11099800" cy="6286500"/>
              </a:xfrm>
              <a:prstGeom prst="rect">
                <a:avLst/>
              </a:prstGeom>
              <a:blipFill rotWithShape="0">
                <a:blip r:embed="rId2"/>
                <a:stretch>
                  <a:fillRect l="-1373" t="-2328" r="-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9" name="Screen Shot 2014-01-29 at 12.46.50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76120" y="4899587"/>
            <a:ext cx="6313637" cy="12500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Screen Shot 2014-01-29 at 12.47.05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97403" y="7356326"/>
            <a:ext cx="3009994" cy="12381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/>
          </p:cNvSpPr>
          <p:nvPr>
            <p:ph type="title"/>
          </p:nvPr>
        </p:nvSpPr>
        <p:spPr>
          <a:xfrm>
            <a:off x="437232" y="-63500"/>
            <a:ext cx="12567568" cy="2159000"/>
          </a:xfrm>
          <a:prstGeom prst="rect">
            <a:avLst/>
          </a:prstGeom>
        </p:spPr>
        <p:txBody>
          <a:bodyPr/>
          <a:lstStyle/>
          <a:p>
            <a:r>
              <a:t>A key assumption in the analysis</a:t>
            </a:r>
          </a:p>
        </p:txBody>
      </p:sp>
      <p:sp>
        <p:nvSpPr>
          <p:cNvPr id="253" name="Shape 253"/>
          <p:cNvSpPr>
            <a:spLocks noGrp="1"/>
          </p:cNvSpPr>
          <p:nvPr>
            <p:ph type="body" idx="1"/>
          </p:nvPr>
        </p:nvSpPr>
        <p:spPr>
          <a:xfrm>
            <a:off x="952500" y="1949450"/>
            <a:ext cx="11099801" cy="7702104"/>
          </a:xfrm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Same </a:t>
            </a:r>
            <a:r>
              <a:rPr i="1" dirty="0"/>
              <a:t>p</a:t>
            </a:r>
            <a:r>
              <a:rPr dirty="0"/>
              <a:t> for all world series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More realistic to say that the better team will have a varying advantage. Sometimes one team may be much better, sometimes both teams may be almost equally matched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See Mosteller’s paper for a more advanced approach with varying </a:t>
            </a:r>
            <a:r>
              <a:rPr i="1" dirty="0"/>
              <a:t>p</a:t>
            </a:r>
          </a:p>
        </p:txBody>
      </p:sp>
      <p:sp>
        <p:nvSpPr>
          <p:cNvPr id="254" name="Shape 254"/>
          <p:cNvSpPr/>
          <p:nvPr/>
        </p:nvSpPr>
        <p:spPr>
          <a:xfrm>
            <a:off x="897607" y="4857750"/>
            <a:ext cx="5037386" cy="3189189"/>
          </a:xfrm>
          <a:prstGeom prst="roundRect">
            <a:avLst>
              <a:gd name="adj" fmla="val 8626"/>
            </a:avLst>
          </a:prstGeom>
          <a:solidFill>
            <a:srgbClr val="FFF6C2"/>
          </a:solidFill>
          <a:ln w="25400">
            <a:solidFill>
              <a:schemeClr val="accent3">
                <a:satOff val="18648"/>
                <a:lumOff val="5971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5" name="Shape 255"/>
          <p:cNvSpPr/>
          <p:nvPr/>
        </p:nvSpPr>
        <p:spPr>
          <a:xfrm>
            <a:off x="1050959" y="4952999"/>
            <a:ext cx="3424784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Scenario 1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p</a:t>
            </a:r>
            <a:r>
              <a:rPr dirty="0"/>
              <a:t>=0.7 for all games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S</a:t>
            </a:r>
            <a:r>
              <a:rPr dirty="0"/>
              <a:t>(0.7,7)=0.87</a:t>
            </a:r>
          </a:p>
        </p:txBody>
      </p:sp>
      <p:sp>
        <p:nvSpPr>
          <p:cNvPr id="256" name="Shape 256"/>
          <p:cNvSpPr/>
          <p:nvPr/>
        </p:nvSpPr>
        <p:spPr>
          <a:xfrm>
            <a:off x="7069807" y="4857750"/>
            <a:ext cx="5037386" cy="3189189"/>
          </a:xfrm>
          <a:prstGeom prst="roundRect">
            <a:avLst>
              <a:gd name="adj" fmla="val 8626"/>
            </a:avLst>
          </a:prstGeom>
          <a:solidFill>
            <a:srgbClr val="FFF6C2"/>
          </a:solidFill>
          <a:ln w="25400">
            <a:solidFill>
              <a:schemeClr val="accent3">
                <a:satOff val="18648"/>
                <a:lumOff val="5971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7" name="Shape 257"/>
          <p:cNvSpPr/>
          <p:nvPr/>
        </p:nvSpPr>
        <p:spPr>
          <a:xfrm>
            <a:off x="7268311" y="4972794"/>
            <a:ext cx="4856734" cy="269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Scenario 2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p</a:t>
            </a:r>
            <a:r>
              <a:rPr dirty="0"/>
              <a:t>=0.5 for half, </a:t>
            </a:r>
            <a:r>
              <a:rPr i="1" dirty="0"/>
              <a:t>p</a:t>
            </a:r>
            <a:r>
              <a:rPr dirty="0"/>
              <a:t>=0.9 for half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i="1" dirty="0"/>
              <a:t>S</a:t>
            </a:r>
            <a:r>
              <a:rPr dirty="0"/>
              <a:t>(0.5,7)=0.5, </a:t>
            </a:r>
            <a:r>
              <a:rPr i="1" dirty="0"/>
              <a:t>S</a:t>
            </a:r>
            <a:r>
              <a:rPr dirty="0"/>
              <a:t>(0.9,7)=1.00</a:t>
            </a:r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  <a:p>
            <a:pPr algn="l">
              <a:defRPr sz="28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Average </a:t>
            </a:r>
            <a:r>
              <a:rPr i="1" dirty="0"/>
              <a:t>S </a:t>
            </a:r>
            <a:r>
              <a:rPr dirty="0"/>
              <a:t>= 0.75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Tests of binomial assumptions</a:t>
            </a:r>
          </a:p>
        </p:txBody>
      </p:sp>
      <p:sp>
        <p:nvSpPr>
          <p:cNvPr id="260" name="Shape 260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11099800" cy="2874963"/>
          </a:xfrm>
          <a:prstGeom prst="rect">
            <a:avLst/>
          </a:prstGeom>
        </p:spPr>
        <p:txBody>
          <a:bodyPr/>
          <a:lstStyle/>
          <a:p>
            <a:pPr marL="417830" indent="-417830" defTabSz="549148">
              <a:spcBef>
                <a:spcPts val="2400"/>
              </a:spcBef>
              <a:defRPr sz="3384"/>
            </a:pPr>
            <a:r>
              <a:rPr dirty="0"/>
              <a:t>Mosteller acknowledges the limitations of assuming binomial trials with a fixed </a:t>
            </a:r>
            <a:r>
              <a:rPr i="1" dirty="0"/>
              <a:t>p</a:t>
            </a:r>
            <a:r>
              <a:rPr dirty="0"/>
              <a:t> throughout a series</a:t>
            </a:r>
          </a:p>
          <a:p>
            <a:pPr marL="417830" indent="-417830" defTabSz="549148">
              <a:spcBef>
                <a:spcPts val="2400"/>
              </a:spcBef>
              <a:defRPr sz="3384"/>
            </a:pPr>
            <a:r>
              <a:rPr dirty="0"/>
              <a:t>Addresses issues mentioned in class (home versus away games, “momentum” gained after winning)</a:t>
            </a:r>
          </a:p>
        </p:txBody>
      </p:sp>
      <p:sp>
        <p:nvSpPr>
          <p:cNvPr id="262" name="Shape 262"/>
          <p:cNvSpPr/>
          <p:nvPr/>
        </p:nvSpPr>
        <p:spPr>
          <a:xfrm>
            <a:off x="952500" y="5130800"/>
            <a:ext cx="11391900" cy="3474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417830" indent="-417830" algn="l" defTabSz="549148">
              <a:lnSpc>
                <a:spcPct val="90000"/>
              </a:lnSpc>
              <a:spcBef>
                <a:spcPts val="2400"/>
              </a:spcBef>
              <a:buSzPct val="75000"/>
              <a:buChar char="•"/>
              <a:defRPr sz="3384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In addition, more recent data shows a large increase in 4–3 games!</a:t>
            </a:r>
          </a:p>
          <a:p>
            <a:pPr marL="417830" indent="-417830" algn="l" defTabSz="549148">
              <a:lnSpc>
                <a:spcPct val="90000"/>
              </a:lnSpc>
              <a:spcBef>
                <a:spcPts val="2400"/>
              </a:spcBef>
              <a:buSzPct val="75000"/>
              <a:buChar char="•"/>
              <a:defRPr sz="3384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Why is this? Examine in the first computer lab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954213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60831">
              <a:defRPr sz="6144">
                <a:effectLst>
                  <a:outerShdw blurRad="85344" dist="36576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Different ways to model the world series</a:t>
            </a:r>
          </a:p>
        </p:txBody>
      </p:sp>
      <p:sp>
        <p:nvSpPr>
          <p:cNvPr id="265" name="Shape 2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46100" indent="-546100" defTabSz="502412">
              <a:spcBef>
                <a:spcPts val="2200"/>
              </a:spcBef>
              <a:buSzPct val="100000"/>
              <a:buAutoNum type="arabicPeriod"/>
              <a:defRPr sz="3096"/>
            </a:pPr>
            <a:r>
              <a:t>Make a physical simulation of the entire ballpark and every single play, modeling the way the ball moves through the air, and the expected movement of players.</a:t>
            </a:r>
          </a:p>
          <a:p>
            <a:pPr marL="546100" indent="-546100" defTabSz="502412">
              <a:spcBef>
                <a:spcPts val="2200"/>
              </a:spcBef>
              <a:buSzPct val="100000"/>
              <a:buAutoNum type="arabicPeriod"/>
              <a:defRPr sz="3096"/>
            </a:pPr>
            <a:r>
              <a:t>Compile detailed stats on each player and make a probabilistic simulation of every single ball played.</a:t>
            </a:r>
          </a:p>
          <a:p>
            <a:pPr marL="546100" indent="-546100" defTabSz="502412">
              <a:spcBef>
                <a:spcPts val="2200"/>
              </a:spcBef>
              <a:buSzPct val="100000"/>
              <a:buAutoNum type="arabicPeriod"/>
              <a:defRPr sz="3096"/>
            </a:pPr>
            <a:r>
              <a:t>Treat each game as a flip of an unequal coin with varying </a:t>
            </a:r>
            <a:r>
              <a:rPr i="1"/>
              <a:t>p</a:t>
            </a:r>
            <a:r>
              <a:t>, taking into account factors like home/away game, team strength, </a:t>
            </a:r>
            <a:r>
              <a:rPr i="1"/>
              <a:t>etc.</a:t>
            </a:r>
          </a:p>
          <a:p>
            <a:pPr marL="546100" indent="-546100" defTabSz="502412">
              <a:spcBef>
                <a:spcPts val="2200"/>
              </a:spcBef>
              <a:buSzPct val="100000"/>
              <a:buAutoNum type="arabicPeriod"/>
              <a:defRPr sz="3096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  <a:r>
              <a:t>Treat each game as a flip of an unequal coin with constant </a:t>
            </a:r>
            <a:r>
              <a:rPr i="1"/>
              <a:t>p.</a:t>
            </a:r>
            <a:r>
              <a:t> (Mosteller)</a:t>
            </a:r>
          </a:p>
          <a:p>
            <a:pPr marL="546100" indent="-546100" defTabSz="502412">
              <a:spcBef>
                <a:spcPts val="2200"/>
              </a:spcBef>
              <a:buSzPct val="100000"/>
              <a:buAutoNum type="arabicPeriod"/>
              <a:defRPr sz="3096"/>
            </a:pPr>
            <a:r>
              <a:t>A world series competition is just a single coin toss.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>
            <a:spLocks noGrp="1"/>
          </p:cNvSpPr>
          <p:nvPr>
            <p:ph type="title"/>
          </p:nvPr>
        </p:nvSpPr>
        <p:spPr>
          <a:xfrm>
            <a:off x="805532" y="2921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A variety of modeling choices</a:t>
            </a:r>
          </a:p>
        </p:txBody>
      </p:sp>
      <p:sp>
        <p:nvSpPr>
          <p:cNvPr id="268" name="Shape 268"/>
          <p:cNvSpPr/>
          <p:nvPr/>
        </p:nvSpPr>
        <p:spPr>
          <a:xfrm>
            <a:off x="1171722" y="5981700"/>
            <a:ext cx="82061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269" name="Shape 269"/>
          <p:cNvSpPr/>
          <p:nvPr/>
        </p:nvSpPr>
        <p:spPr>
          <a:xfrm>
            <a:off x="3711723" y="5981700"/>
            <a:ext cx="820614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270" name="Shape 270"/>
          <p:cNvSpPr/>
          <p:nvPr/>
        </p:nvSpPr>
        <p:spPr>
          <a:xfrm>
            <a:off x="6251723" y="5981700"/>
            <a:ext cx="820614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271" name="Shape 271"/>
          <p:cNvSpPr/>
          <p:nvPr/>
        </p:nvSpPr>
        <p:spPr>
          <a:xfrm>
            <a:off x="8791723" y="5981700"/>
            <a:ext cx="820614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272" name="Shape 272"/>
          <p:cNvSpPr/>
          <p:nvPr/>
        </p:nvSpPr>
        <p:spPr>
          <a:xfrm>
            <a:off x="11331723" y="5981700"/>
            <a:ext cx="820614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273" name="Shape 273"/>
          <p:cNvSpPr/>
          <p:nvPr/>
        </p:nvSpPr>
        <p:spPr>
          <a:xfrm>
            <a:off x="9844823" y="2967355"/>
            <a:ext cx="2029113" cy="1"/>
          </a:xfrm>
          <a:prstGeom prst="line">
            <a:avLst/>
          </a:prstGeom>
          <a:ln w="88900">
            <a:solidFill>
              <a:schemeClr val="accent2">
                <a:hueOff val="-2473792"/>
                <a:satOff val="-50209"/>
                <a:lumOff val="235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74" name="Shape 274"/>
          <p:cNvSpPr/>
          <p:nvPr/>
        </p:nvSpPr>
        <p:spPr>
          <a:xfrm flipH="1">
            <a:off x="1970823" y="3970655"/>
            <a:ext cx="2032000" cy="1"/>
          </a:xfrm>
          <a:prstGeom prst="line">
            <a:avLst/>
          </a:prstGeom>
          <a:ln w="889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75" name="Shape 275"/>
          <p:cNvSpPr/>
          <p:nvPr/>
        </p:nvSpPr>
        <p:spPr>
          <a:xfrm>
            <a:off x="1937079" y="3316605"/>
            <a:ext cx="2099488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Complexity</a:t>
            </a:r>
          </a:p>
        </p:txBody>
      </p:sp>
      <p:sp>
        <p:nvSpPr>
          <p:cNvPr id="276" name="Shape 276"/>
          <p:cNvSpPr/>
          <p:nvPr/>
        </p:nvSpPr>
        <p:spPr>
          <a:xfrm>
            <a:off x="9932372" y="2279649"/>
            <a:ext cx="1854015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2">
                    <a:hueOff val="-2473792"/>
                    <a:satOff val="-50209"/>
                    <a:lumOff val="23543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Simplicity</a:t>
            </a:r>
          </a:p>
        </p:txBody>
      </p:sp>
      <p:sp>
        <p:nvSpPr>
          <p:cNvPr id="277" name="Shape 277"/>
          <p:cNvSpPr/>
          <p:nvPr/>
        </p:nvSpPr>
        <p:spPr>
          <a:xfrm flipH="1">
            <a:off x="1970823" y="5145405"/>
            <a:ext cx="2032001" cy="1"/>
          </a:xfrm>
          <a:prstGeom prst="line">
            <a:avLst/>
          </a:prstGeom>
          <a:ln w="889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78" name="Shape 278"/>
          <p:cNvSpPr/>
          <p:nvPr/>
        </p:nvSpPr>
        <p:spPr>
          <a:xfrm>
            <a:off x="1136030" y="4135755"/>
            <a:ext cx="370158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2900" b="1">
                <a:solidFill>
                  <a:schemeClr val="accent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Too many unknown parameters</a:t>
            </a:r>
          </a:p>
        </p:txBody>
      </p:sp>
      <p:sp>
        <p:nvSpPr>
          <p:cNvPr id="279" name="Shape 279"/>
          <p:cNvSpPr/>
          <p:nvPr/>
        </p:nvSpPr>
        <p:spPr>
          <a:xfrm flipH="1" flipV="1">
            <a:off x="1970823" y="2844799"/>
            <a:ext cx="2032001" cy="1"/>
          </a:xfrm>
          <a:prstGeom prst="line">
            <a:avLst/>
          </a:prstGeom>
          <a:ln w="88900">
            <a:solidFill>
              <a:schemeClr val="accent2">
                <a:hueOff val="-2473792"/>
                <a:satOff val="-50209"/>
                <a:lumOff val="235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0" name="Shape 280"/>
          <p:cNvSpPr/>
          <p:nvPr/>
        </p:nvSpPr>
        <p:spPr>
          <a:xfrm>
            <a:off x="2100458" y="2203449"/>
            <a:ext cx="177273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2">
                    <a:hueOff val="-2473792"/>
                    <a:satOff val="-50209"/>
                    <a:lumOff val="23543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Accuracy</a:t>
            </a:r>
          </a:p>
        </p:txBody>
      </p:sp>
      <p:sp>
        <p:nvSpPr>
          <p:cNvPr id="281" name="Shape 281"/>
          <p:cNvSpPr/>
          <p:nvPr/>
        </p:nvSpPr>
        <p:spPr>
          <a:xfrm flipH="1">
            <a:off x="1970823" y="5970905"/>
            <a:ext cx="2032000" cy="1"/>
          </a:xfrm>
          <a:prstGeom prst="line">
            <a:avLst/>
          </a:prstGeom>
          <a:ln w="889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2" name="Shape 282"/>
          <p:cNvSpPr/>
          <p:nvPr/>
        </p:nvSpPr>
        <p:spPr>
          <a:xfrm>
            <a:off x="1136030" y="5329555"/>
            <a:ext cx="3701586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2900" b="1">
                <a:solidFill>
                  <a:schemeClr val="accent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Too difficult to solve</a:t>
            </a:r>
          </a:p>
        </p:txBody>
      </p:sp>
      <p:sp>
        <p:nvSpPr>
          <p:cNvPr id="283" name="Shape 283"/>
          <p:cNvSpPr/>
          <p:nvPr/>
        </p:nvSpPr>
        <p:spPr>
          <a:xfrm>
            <a:off x="9844823" y="3907155"/>
            <a:ext cx="2029113" cy="1"/>
          </a:xfrm>
          <a:prstGeom prst="line">
            <a:avLst/>
          </a:prstGeom>
          <a:ln w="88900">
            <a:solidFill>
              <a:schemeClr val="accent2">
                <a:hueOff val="-2473792"/>
                <a:satOff val="-50209"/>
                <a:lumOff val="235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4" name="Shape 284"/>
          <p:cNvSpPr/>
          <p:nvPr/>
        </p:nvSpPr>
        <p:spPr>
          <a:xfrm>
            <a:off x="9184982" y="3219449"/>
            <a:ext cx="3348795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2">
                    <a:hueOff val="-2473792"/>
                    <a:satOff val="-50209"/>
                    <a:lumOff val="23543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Easier to calculate</a:t>
            </a:r>
          </a:p>
        </p:txBody>
      </p:sp>
      <p:sp>
        <p:nvSpPr>
          <p:cNvPr id="285" name="Shape 285"/>
          <p:cNvSpPr/>
          <p:nvPr/>
        </p:nvSpPr>
        <p:spPr>
          <a:xfrm>
            <a:off x="9844823" y="4802188"/>
            <a:ext cx="2029113" cy="1"/>
          </a:xfrm>
          <a:prstGeom prst="line">
            <a:avLst/>
          </a:prstGeom>
          <a:ln w="889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6" name="Shape 286"/>
          <p:cNvSpPr/>
          <p:nvPr/>
        </p:nvSpPr>
        <p:spPr>
          <a:xfrm>
            <a:off x="9492139" y="4152582"/>
            <a:ext cx="273448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4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Not as realistic</a:t>
            </a:r>
          </a:p>
        </p:txBody>
      </p:sp>
      <p:sp>
        <p:nvSpPr>
          <p:cNvPr id="287" name="Shape 287"/>
          <p:cNvSpPr/>
          <p:nvPr/>
        </p:nvSpPr>
        <p:spPr>
          <a:xfrm>
            <a:off x="9844823" y="5856288"/>
            <a:ext cx="2029113" cy="1"/>
          </a:xfrm>
          <a:prstGeom prst="line">
            <a:avLst/>
          </a:prstGeom>
          <a:ln w="88900">
            <a:solidFill>
              <a:schemeClr val="accent2">
                <a:hueOff val="-2473792"/>
                <a:satOff val="-50209"/>
                <a:lumOff val="235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88" name="Shape 288"/>
          <p:cNvSpPr/>
          <p:nvPr/>
        </p:nvSpPr>
        <p:spPr>
          <a:xfrm>
            <a:off x="8868205" y="5168582"/>
            <a:ext cx="398235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 b="1">
                <a:solidFill>
                  <a:schemeClr val="accent2">
                    <a:hueOff val="-2473792"/>
                    <a:satOff val="-50209"/>
                    <a:lumOff val="23543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Provides more insight</a:t>
            </a:r>
          </a:p>
        </p:txBody>
      </p:sp>
      <p:sp>
        <p:nvSpPr>
          <p:cNvPr id="289" name="Shape 289"/>
          <p:cNvSpPr/>
          <p:nvPr/>
        </p:nvSpPr>
        <p:spPr>
          <a:xfrm>
            <a:off x="8398532" y="7298250"/>
            <a:ext cx="1888467" cy="66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2300" b="1">
                <a:solidFill>
                  <a:schemeClr val="accent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Mosteller’s choice</a:t>
            </a:r>
          </a:p>
        </p:txBody>
      </p:sp>
      <p:sp>
        <p:nvSpPr>
          <p:cNvPr id="290" name="Shape 290"/>
          <p:cNvSpPr/>
          <p:nvPr/>
        </p:nvSpPr>
        <p:spPr>
          <a:xfrm>
            <a:off x="1095302" y="7927339"/>
            <a:ext cx="11550796" cy="159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23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Choosing the right level of detail in a mathematical model is a crucial skill, and involves many trade-offs. It depends on what the purpose of the model is. Mosteller’s choice of model complexity is guided by his original question: “how often does the better team win?” The level of detail in his model is just enough to answer this question.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Break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Getting started with </a:t>
            </a:r>
            <a:r>
              <a:rPr lang="en-US" dirty="0" smtClean="0"/>
              <a:t>Matlab</a:t>
            </a:r>
            <a:endParaRPr dirty="0"/>
          </a:p>
        </p:txBody>
      </p:sp>
      <p:sp>
        <p:nvSpPr>
          <p:cNvPr id="295" name="Shape 295"/>
          <p:cNvSpPr>
            <a:spLocks noGrp="1"/>
          </p:cNvSpPr>
          <p:nvPr>
            <p:ph type="body" idx="1"/>
          </p:nvPr>
        </p:nvSpPr>
        <p:spPr>
          <a:xfrm>
            <a:off x="914400" y="2603500"/>
            <a:ext cx="12090400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Tips on learning for </a:t>
            </a:r>
            <a:r>
              <a:rPr dirty="0" smtClean="0"/>
              <a:t>beginners</a:t>
            </a:r>
            <a:r>
              <a:rPr dirty="0"/>
              <a:t>:</a:t>
            </a:r>
          </a:p>
          <a:p>
            <a:pPr lvl="1"/>
            <a:r>
              <a:rPr dirty="0"/>
              <a:t>There’s no substitute for trying it yourself</a:t>
            </a:r>
          </a:p>
          <a:p>
            <a:pPr lvl="1"/>
            <a:r>
              <a:rPr dirty="0"/>
              <a:t>There’s extensive online </a:t>
            </a:r>
            <a:r>
              <a:rPr dirty="0" smtClean="0"/>
              <a:t>documentation</a:t>
            </a:r>
            <a:r>
              <a:rPr lang="en-US" dirty="0" smtClean="0"/>
              <a:t>,e.g,</a:t>
            </a:r>
            <a:r>
              <a:rPr dirty="0" smtClean="0"/>
              <a:t>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://www.mathworks.com/help/matlab</a:t>
            </a:r>
            <a:r>
              <a:rPr lang="en-US" dirty="0" smtClean="0">
                <a:hlinkClick r:id="rId2"/>
              </a:rPr>
              <a:t>/</a:t>
            </a:r>
            <a:endParaRPr dirty="0" smtClean="0"/>
          </a:p>
          <a:p>
            <a:pPr lvl="1"/>
            <a:r>
              <a:rPr dirty="0" smtClean="0"/>
              <a:t>Come and see us</a:t>
            </a:r>
          </a:p>
          <a:p>
            <a:pPr lvl="1"/>
            <a:r>
              <a:rPr dirty="0" smtClean="0"/>
              <a:t>If </a:t>
            </a:r>
            <a:r>
              <a:rPr dirty="0"/>
              <a:t>stuck on a specific issue, try Googling it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Getting started with </a:t>
            </a:r>
            <a:r>
              <a:rPr lang="en-US" dirty="0" smtClean="0"/>
              <a:t>Matlab</a:t>
            </a:r>
            <a:endParaRPr dirty="0"/>
          </a:p>
        </p:txBody>
      </p:sp>
      <p:sp>
        <p:nvSpPr>
          <p:cNvPr id="298" name="Shape 29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0055" indent="-440055" defTabSz="578358">
              <a:spcBef>
                <a:spcPts val="2500"/>
              </a:spcBef>
              <a:defRPr sz="3564"/>
            </a:pPr>
            <a:r>
              <a:rPr lang="en-US" dirty="0" smtClean="0"/>
              <a:t>Download </a:t>
            </a:r>
            <a:r>
              <a:rPr lang="en-US" dirty="0"/>
              <a:t>and install: http://</a:t>
            </a:r>
            <a:r>
              <a:rPr lang="en-US" dirty="0" err="1"/>
              <a:t>downloads.fas.harvard.edu</a:t>
            </a:r>
            <a:r>
              <a:rPr lang="en-US" dirty="0"/>
              <a:t>/download</a:t>
            </a:r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rPr lang="en-US" dirty="0" err="1" smtClean="0"/>
              <a:t>Ziwei’s</a:t>
            </a:r>
            <a:r>
              <a:rPr lang="en-US" dirty="0" smtClean="0"/>
              <a:t> section on Monday (time TBD)</a:t>
            </a:r>
            <a:endParaRPr lang="en-US" dirty="0"/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rPr lang="en-US" dirty="0" err="1" smtClean="0"/>
              <a:t>Matlab</a:t>
            </a:r>
            <a:r>
              <a:rPr lang="en-US" dirty="0" smtClean="0"/>
              <a:t> </a:t>
            </a:r>
            <a:r>
              <a:rPr lang="en-US" dirty="0" err="1" smtClean="0"/>
              <a:t>Bootcamp</a:t>
            </a:r>
            <a:r>
              <a:rPr lang="en-US" dirty="0" smtClean="0"/>
              <a:t>, starting Monday evening (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wiki.harvard.edu/confluence/display/fasmatlab/MATLAB+Boot+Camp+Home)</a:t>
            </a:r>
            <a:endParaRPr lang="en-US" dirty="0" smtClean="0"/>
          </a:p>
          <a:p>
            <a:pPr marL="440055" indent="-440055" defTabSz="578358">
              <a:spcBef>
                <a:spcPts val="2500"/>
              </a:spcBef>
              <a:defRPr sz="3564"/>
            </a:pPr>
            <a:r>
              <a:rPr lang="en-US" dirty="0" err="1" smtClean="0"/>
              <a:t>Matlab</a:t>
            </a:r>
            <a:r>
              <a:rPr lang="en-US" dirty="0"/>
              <a:t> on-ramp (http://</a:t>
            </a:r>
            <a:r>
              <a:rPr lang="en-US" dirty="0" err="1" smtClean="0"/>
              <a:t>www.mathworks.com</a:t>
            </a:r>
            <a:r>
              <a:rPr lang="en-US" dirty="0" smtClean="0"/>
              <a:t>/academia/</a:t>
            </a:r>
            <a:r>
              <a:rPr lang="en-US" dirty="0" err="1" smtClean="0"/>
              <a:t>student_center</a:t>
            </a:r>
            <a:r>
              <a:rPr lang="en-US" dirty="0" smtClean="0"/>
              <a:t>/tutorials/</a:t>
            </a:r>
            <a:r>
              <a:rPr lang="en-US" dirty="0" err="1" smtClean="0"/>
              <a:t>mltutorial_launchpad.html</a:t>
            </a:r>
            <a:r>
              <a:rPr lang="en-US" dirty="0" smtClean="0"/>
              <a:t>)</a:t>
            </a:r>
            <a:endParaRPr lang="en-US" dirty="0"/>
          </a:p>
          <a:p>
            <a:pPr marL="440055" indent="-440055" defTabSz="578358">
              <a:spcBef>
                <a:spcPts val="2500"/>
              </a:spcBef>
              <a:defRPr sz="3564"/>
            </a:pPr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Computer </a:t>
            </a:r>
            <a:r>
              <a:rPr dirty="0" smtClean="0"/>
              <a:t>lab</a:t>
            </a:r>
            <a:r>
              <a:rPr lang="en-US" dirty="0" smtClean="0"/>
              <a:t> 0</a:t>
            </a:r>
            <a:endParaRPr dirty="0"/>
          </a:p>
        </p:txBody>
      </p:sp>
      <p:sp>
        <p:nvSpPr>
          <p:cNvPr id="301" name="Shape 30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2400"/>
              </a:spcBef>
              <a:defRPr sz="3420"/>
            </a:pPr>
            <a:r>
              <a:rPr lang="en-US" dirty="0" smtClean="0"/>
              <a:t>On your own or in </a:t>
            </a:r>
            <a:r>
              <a:rPr lang="en-US" dirty="0" err="1" smtClean="0"/>
              <a:t>Ziwei’s</a:t>
            </a:r>
            <a:r>
              <a:rPr lang="en-US" dirty="0" smtClean="0"/>
              <a:t> section on Monday</a:t>
            </a:r>
            <a:endParaRPr dirty="0" smtClean="0"/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rPr dirty="0" smtClean="0"/>
              <a:t>Set up </a:t>
            </a:r>
            <a:r>
              <a:rPr lang="en-US" dirty="0" smtClean="0"/>
              <a:t>Matlab </a:t>
            </a:r>
            <a:r>
              <a:rPr dirty="0" smtClean="0"/>
              <a:t>and learn basic commands</a:t>
            </a:r>
            <a:endParaRPr dirty="0"/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rPr dirty="0" smtClean="0"/>
              <a:t>Run </a:t>
            </a:r>
            <a:r>
              <a:rPr dirty="0"/>
              <a:t>a small program to simulate Mosteller’s </a:t>
            </a:r>
            <a:r>
              <a:rPr dirty="0" smtClean="0"/>
              <a:t>model</a:t>
            </a:r>
            <a:r>
              <a:rPr lang="en-US" dirty="0" smtClean="0"/>
              <a:t>.  We’ll give you the program but you need to explain what it does</a:t>
            </a:r>
            <a:r>
              <a:rPr dirty="0" smtClean="0"/>
              <a:t> </a:t>
            </a:r>
            <a:endParaRPr lang="en-US" dirty="0" smtClean="0"/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rPr dirty="0" smtClean="0"/>
              <a:t>Look </a:t>
            </a:r>
            <a:r>
              <a:rPr dirty="0"/>
              <a:t>at the output</a:t>
            </a:r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rPr dirty="0"/>
              <a:t>Try making some small modifications (</a:t>
            </a:r>
            <a:r>
              <a:rPr i="1" dirty="0"/>
              <a:t>e.g.</a:t>
            </a:r>
            <a:r>
              <a:rPr dirty="0"/>
              <a:t> varying </a:t>
            </a:r>
            <a:r>
              <a:rPr i="1" dirty="0"/>
              <a:t>p</a:t>
            </a:r>
            <a:r>
              <a:rPr dirty="0"/>
              <a:t> for each game)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" y="1703377"/>
            <a:ext cx="13004800" cy="7901367"/>
          </a:xfrm>
          <a:prstGeom prst="rect">
            <a:avLst/>
          </a:prstGeom>
        </p:spPr>
      </p:pic>
      <p:sp>
        <p:nvSpPr>
          <p:cNvPr id="6" name="Shape 300"/>
          <p:cNvSpPr>
            <a:spLocks noGrp="1"/>
          </p:cNvSpPr>
          <p:nvPr>
            <p:ph type="title"/>
          </p:nvPr>
        </p:nvSpPr>
        <p:spPr>
          <a:xfrm>
            <a:off x="267111" y="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Workspace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275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Hello World!</a:t>
            </a:r>
          </a:p>
        </p:txBody>
      </p:sp>
      <p:sp>
        <p:nvSpPr>
          <p:cNvPr id="305" name="Shape 305"/>
          <p:cNvSpPr/>
          <p:nvPr/>
        </p:nvSpPr>
        <p:spPr>
          <a:xfrm>
            <a:off x="883462" y="2567306"/>
            <a:ext cx="335989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Input </a:t>
            </a:r>
            <a:r>
              <a:rPr dirty="0" smtClean="0"/>
              <a:t>program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306" name="Shape 306"/>
          <p:cNvSpPr/>
          <p:nvPr/>
        </p:nvSpPr>
        <p:spPr>
          <a:xfrm>
            <a:off x="7333665" y="2571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Output</a:t>
            </a:r>
          </a:p>
        </p:txBody>
      </p:sp>
      <p:sp>
        <p:nvSpPr>
          <p:cNvPr id="308" name="Shape 308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09" name="Shape 309"/>
          <p:cNvSpPr/>
          <p:nvPr/>
        </p:nvSpPr>
        <p:spPr>
          <a:xfrm>
            <a:off x="97383" y="9212838"/>
            <a:ext cx="3622787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Example: </a:t>
            </a:r>
            <a:r>
              <a:rPr dirty="0" smtClean="0"/>
              <a:t>hello_world.</a:t>
            </a:r>
            <a:r>
              <a:rPr lang="en-US" dirty="0" smtClean="0"/>
              <a:t>m</a:t>
            </a:r>
            <a:endParaRPr dirty="0"/>
          </a:p>
        </p:txBody>
      </p:sp>
      <p:sp>
        <p:nvSpPr>
          <p:cNvPr id="310" name="Shape 310"/>
          <p:cNvSpPr/>
          <p:nvPr/>
        </p:nvSpPr>
        <p:spPr>
          <a:xfrm>
            <a:off x="7100439" y="9213849"/>
            <a:ext cx="582141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 u="sng">
                <a:latin typeface="+mj-lt"/>
                <a:ea typeface="+mj-ea"/>
                <a:cs typeface="+mj-cs"/>
                <a:sym typeface="Helvetica"/>
                <a:hlinkClick r:id="rId2"/>
              </a:defRPr>
            </a:lvl1pPr>
          </a:lstStyle>
          <a:p>
            <a:pPr>
              <a:defRPr u="none"/>
            </a:pPr>
            <a:r>
              <a:rPr u="sng" dirty="0">
                <a:hlinkClick r:id="rId2"/>
              </a:rPr>
              <a:t>http://en.wikipedia.org/wiki/Hello_world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3665" y="3681765"/>
            <a:ext cx="27238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Hello World!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137" y="3681765"/>
            <a:ext cx="57310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charset="0"/>
              </a:rPr>
              <a:t>disp</a:t>
            </a:r>
            <a:r>
              <a:rPr lang="en-US" dirty="0">
                <a:latin typeface="courier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" charset="0"/>
              </a:rPr>
              <a:t>'Hello World!'</a:t>
            </a:r>
            <a:r>
              <a:rPr lang="en-US" dirty="0">
                <a:latin typeface="courier" charset="0"/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t>Variables and basic math operations</a:t>
            </a:r>
          </a:p>
        </p:txBody>
      </p:sp>
      <p:sp>
        <p:nvSpPr>
          <p:cNvPr id="313" name="Shape 313"/>
          <p:cNvSpPr/>
          <p:nvPr/>
        </p:nvSpPr>
        <p:spPr>
          <a:xfrm>
            <a:off x="883462" y="2571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Input program</a:t>
            </a:r>
          </a:p>
        </p:txBody>
      </p:sp>
      <p:sp>
        <p:nvSpPr>
          <p:cNvPr id="314" name="Shape 314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15" name="Shape 315"/>
          <p:cNvSpPr/>
          <p:nvPr/>
        </p:nvSpPr>
        <p:spPr>
          <a:xfrm>
            <a:off x="7333665" y="2571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Output</a:t>
            </a:r>
          </a:p>
        </p:txBody>
      </p:sp>
      <p:sp>
        <p:nvSpPr>
          <p:cNvPr id="318" name="Shape 318"/>
          <p:cNvSpPr/>
          <p:nvPr/>
        </p:nvSpPr>
        <p:spPr>
          <a:xfrm>
            <a:off x="97383" y="9212838"/>
            <a:ext cx="325089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Example: </a:t>
            </a:r>
            <a:r>
              <a:rPr dirty="0" smtClean="0"/>
              <a:t>variables.</a:t>
            </a:r>
            <a:r>
              <a:rPr lang="en-US" dirty="0" smtClean="0"/>
              <a:t>m</a:t>
            </a:r>
            <a:endParaRPr dirty="0"/>
          </a:p>
        </p:txBody>
      </p:sp>
      <p:sp>
        <p:nvSpPr>
          <p:cNvPr id="319" name="Shape 319"/>
          <p:cNvSpPr/>
          <p:nvPr/>
        </p:nvSpPr>
        <p:spPr>
          <a:xfrm>
            <a:off x="6972355" y="7474049"/>
            <a:ext cx="5621983" cy="1525390"/>
          </a:xfrm>
          <a:prstGeom prst="roundRect">
            <a:avLst>
              <a:gd name="adj" fmla="val 18951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sz="24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Notes: </a:t>
            </a:r>
          </a:p>
          <a:p>
            <a:pPr marL="296333" indent="-296333" algn="l">
              <a:buSzPct val="75000"/>
              <a:buChar char="•"/>
              <a:defRPr sz="24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Comments in </a:t>
            </a:r>
            <a:r>
              <a:rPr lang="en-US" dirty="0" smtClean="0"/>
              <a:t>Matlab </a:t>
            </a:r>
            <a:r>
              <a:rPr dirty="0" smtClean="0"/>
              <a:t>start </a:t>
            </a:r>
            <a:r>
              <a:rPr dirty="0"/>
              <a:t>with a </a:t>
            </a:r>
            <a:r>
              <a:rPr dirty="0" smtClean="0"/>
              <a:t>“</a:t>
            </a:r>
            <a:r>
              <a:rPr lang="en-US" dirty="0" smtClean="0"/>
              <a:t>%</a:t>
            </a:r>
            <a:r>
              <a:rPr dirty="0" smtClean="0"/>
              <a:t>” </a:t>
            </a:r>
            <a:r>
              <a:rPr dirty="0"/>
              <a:t>symbol</a:t>
            </a:r>
          </a:p>
        </p:txBody>
      </p:sp>
      <p:sp>
        <p:nvSpPr>
          <p:cNvPr id="2" name="Rectangle 1"/>
          <p:cNvSpPr/>
          <p:nvPr/>
        </p:nvSpPr>
        <p:spPr>
          <a:xfrm>
            <a:off x="635590" y="3399989"/>
            <a:ext cx="593100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dirty="0" smtClean="0">
                <a:solidFill>
                  <a:srgbClr val="228B22"/>
                </a:solidFill>
                <a:latin typeface="courier" charset="0"/>
              </a:rPr>
              <a:t>%Create two variables </a:t>
            </a:r>
          </a:p>
          <a:p>
            <a:pPr algn="l"/>
            <a:r>
              <a:rPr lang="en-US" sz="2800" dirty="0" smtClean="0">
                <a:solidFill>
                  <a:srgbClr val="228B22"/>
                </a:solidFill>
                <a:latin typeface="courier" charset="0"/>
              </a:rPr>
              <a:t>% and do some arithmetic</a:t>
            </a:r>
          </a:p>
          <a:p>
            <a:pPr algn="l"/>
            <a:r>
              <a:rPr lang="is-IS" sz="2800" dirty="0" smtClean="0">
                <a:latin typeface="courier" charset="0"/>
              </a:rPr>
              <a:t>a = 1;</a:t>
            </a:r>
          </a:p>
          <a:p>
            <a:pPr algn="l"/>
            <a:r>
              <a:rPr lang="en-US" sz="2800" dirty="0" smtClean="0">
                <a:latin typeface="courier" charset="0"/>
              </a:rPr>
              <a:t>b = 2*a;</a:t>
            </a:r>
          </a:p>
          <a:p>
            <a:pPr algn="l"/>
            <a:r>
              <a:rPr lang="fi-FI" sz="2800" dirty="0" smtClean="0">
                <a:latin typeface="courier" charset="0"/>
              </a:rPr>
              <a:t>a = a+1;</a:t>
            </a:r>
          </a:p>
          <a:p>
            <a:pPr algn="l"/>
            <a:r>
              <a:rPr lang="fi-FI" sz="2800" dirty="0" smtClean="0">
                <a:latin typeface="courier" charset="0"/>
              </a:rPr>
              <a:t> </a:t>
            </a:r>
          </a:p>
          <a:p>
            <a:pPr algn="l"/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% </a:t>
            </a:r>
            <a:r>
              <a:rPr lang="fi-FI" sz="2800" dirty="0" err="1" smtClean="0">
                <a:solidFill>
                  <a:srgbClr val="228B22"/>
                </a:solidFill>
                <a:latin typeface="courier" charset="0"/>
              </a:rPr>
              <a:t>Print</a:t>
            </a:r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 </a:t>
            </a:r>
            <a:r>
              <a:rPr lang="fi-FI" sz="2800" dirty="0" err="1" smtClean="0">
                <a:solidFill>
                  <a:srgbClr val="228B22"/>
                </a:solidFill>
                <a:latin typeface="courier" charset="0"/>
              </a:rPr>
              <a:t>the</a:t>
            </a:r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 </a:t>
            </a:r>
            <a:r>
              <a:rPr lang="fi-FI" sz="2800" dirty="0" err="1" smtClean="0">
                <a:solidFill>
                  <a:srgbClr val="228B22"/>
                </a:solidFill>
                <a:latin typeface="courier" charset="0"/>
              </a:rPr>
              <a:t>contents</a:t>
            </a:r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 of </a:t>
            </a:r>
            <a:r>
              <a:rPr lang="fi-FI" sz="2800" dirty="0" err="1" smtClean="0">
                <a:solidFill>
                  <a:srgbClr val="228B22"/>
                </a:solidFill>
                <a:latin typeface="courier" charset="0"/>
              </a:rPr>
              <a:t>the</a:t>
            </a:r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 </a:t>
            </a:r>
          </a:p>
          <a:p>
            <a:pPr algn="l"/>
            <a:r>
              <a:rPr lang="fi-FI" sz="2800" dirty="0" smtClean="0">
                <a:solidFill>
                  <a:srgbClr val="228B22"/>
                </a:solidFill>
                <a:latin typeface="courier" charset="0"/>
              </a:rPr>
              <a:t>% </a:t>
            </a:r>
            <a:r>
              <a:rPr lang="fi-FI" sz="2800" dirty="0" err="1" smtClean="0">
                <a:solidFill>
                  <a:srgbClr val="228B22"/>
                </a:solidFill>
                <a:latin typeface="courier" charset="0"/>
              </a:rPr>
              <a:t>variables</a:t>
            </a:r>
            <a:endParaRPr lang="fi-FI" sz="2800" dirty="0" smtClean="0">
              <a:solidFill>
                <a:srgbClr val="228B22"/>
              </a:solidFill>
              <a:latin typeface="courier" charset="0"/>
            </a:endParaRPr>
          </a:p>
          <a:p>
            <a:pPr algn="l"/>
            <a:r>
              <a:rPr lang="fi-FI" sz="2800" dirty="0" smtClean="0">
                <a:latin typeface="courier" charset="0"/>
              </a:rPr>
              <a:t>a</a:t>
            </a:r>
          </a:p>
          <a:p>
            <a:pPr algn="l"/>
            <a:r>
              <a:rPr lang="fi-FI" sz="2800" dirty="0" smtClean="0">
                <a:latin typeface="courier" charset="0"/>
              </a:rPr>
              <a:t>b</a:t>
            </a:r>
            <a:endParaRPr lang="fi-FI" sz="2800" dirty="0">
              <a:latin typeface="courier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33665" y="3470076"/>
            <a:ext cx="185178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dirty="0"/>
              <a:t>a =    </a:t>
            </a:r>
            <a:endParaRPr lang="en-US" dirty="0" smtClean="0"/>
          </a:p>
          <a:p>
            <a:pPr algn="l"/>
            <a:r>
              <a:rPr lang="en-US" dirty="0"/>
              <a:t> </a:t>
            </a:r>
            <a:r>
              <a:rPr lang="en-US" dirty="0" smtClean="0"/>
              <a:t>          2</a:t>
            </a:r>
          </a:p>
          <a:p>
            <a:pPr algn="l"/>
            <a:r>
              <a:rPr lang="en-US" dirty="0" smtClean="0"/>
              <a:t>b </a:t>
            </a:r>
            <a:r>
              <a:rPr lang="en-US" dirty="0"/>
              <a:t>=     </a:t>
            </a:r>
            <a:endParaRPr lang="en-US" dirty="0" smtClean="0"/>
          </a:p>
          <a:p>
            <a:pPr algn="l"/>
            <a:r>
              <a:rPr lang="en-US" dirty="0"/>
              <a:t> </a:t>
            </a:r>
            <a:r>
              <a:rPr lang="en-US" dirty="0" smtClean="0"/>
              <a:t>          2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mtClean="0"/>
              <a:t>Arrays</a:t>
            </a:r>
            <a:endParaRPr/>
          </a:p>
        </p:txBody>
      </p:sp>
      <p:sp>
        <p:nvSpPr>
          <p:cNvPr id="348" name="Shape 348"/>
          <p:cNvSpPr/>
          <p:nvPr/>
        </p:nvSpPr>
        <p:spPr>
          <a:xfrm>
            <a:off x="883462" y="2167715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Input program</a:t>
            </a:r>
          </a:p>
        </p:txBody>
      </p:sp>
      <p:sp>
        <p:nvSpPr>
          <p:cNvPr id="349" name="Shape 349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50" name="Shape 350"/>
          <p:cNvSpPr/>
          <p:nvPr/>
        </p:nvSpPr>
        <p:spPr>
          <a:xfrm>
            <a:off x="7424568" y="2167714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Output</a:t>
            </a:r>
          </a:p>
        </p:txBody>
      </p:sp>
      <p:sp>
        <p:nvSpPr>
          <p:cNvPr id="353" name="Shape 353"/>
          <p:cNvSpPr/>
          <p:nvPr/>
        </p:nvSpPr>
        <p:spPr>
          <a:xfrm>
            <a:off x="97383" y="9212838"/>
            <a:ext cx="2842125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Example: </a:t>
            </a:r>
            <a:r>
              <a:rPr lang="en-US" dirty="0" smtClean="0"/>
              <a:t>arrays.m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460818" y="3056032"/>
            <a:ext cx="65024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%Create an array, append an item,</a:t>
            </a:r>
          </a:p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 and demonstrate various outputs</a:t>
            </a:r>
          </a:p>
          <a:p>
            <a:pPr algn="l"/>
            <a:r>
              <a:rPr lang="pt-BR" sz="2200" dirty="0">
                <a:latin typeface="courier" charset="0"/>
              </a:rPr>
              <a:t>a = [6,3,1,4];</a:t>
            </a:r>
          </a:p>
          <a:p>
            <a:pPr algn="l"/>
            <a:r>
              <a:rPr lang="is-IS" sz="2200" dirty="0">
                <a:latin typeface="courier" charset="0"/>
              </a:rPr>
              <a:t>b = 10;</a:t>
            </a:r>
          </a:p>
          <a:p>
            <a:pPr algn="l"/>
            <a:r>
              <a:rPr lang="pt-BR" sz="2200" dirty="0">
                <a:latin typeface="courier" charset="0"/>
              </a:rPr>
              <a:t>a = [a, </a:t>
            </a:r>
            <a:r>
              <a:rPr lang="pt-BR" sz="2200" dirty="0" err="1">
                <a:latin typeface="courier" charset="0"/>
              </a:rPr>
              <a:t>b</a:t>
            </a:r>
            <a:r>
              <a:rPr lang="pt-BR" sz="2200" dirty="0">
                <a:latin typeface="courier" charset="0"/>
              </a:rPr>
              <a:t>];</a:t>
            </a:r>
          </a:p>
          <a:p>
            <a:pPr algn="l"/>
            <a:r>
              <a:rPr lang="pt-BR" sz="2200" dirty="0">
                <a:latin typeface="courier" charset="0"/>
              </a:rPr>
              <a:t> </a:t>
            </a:r>
          </a:p>
          <a:p>
            <a:pPr algn="l"/>
            <a:r>
              <a:rPr lang="is-IS" sz="2200" dirty="0">
                <a:latin typeface="courier" charset="0"/>
              </a:rPr>
              <a:t>a(1)</a:t>
            </a:r>
          </a:p>
          <a:p>
            <a:pPr algn="l"/>
            <a:r>
              <a:rPr lang="is-IS" sz="2200" dirty="0">
                <a:latin typeface="courier" charset="0"/>
              </a:rPr>
              <a:t>a(1:3)</a:t>
            </a:r>
          </a:p>
          <a:p>
            <a:pPr algn="l"/>
            <a:r>
              <a:rPr lang="is-IS" sz="2200" dirty="0">
                <a:latin typeface="courier" charset="0"/>
              </a:rPr>
              <a:t> </a:t>
            </a:r>
          </a:p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%Create an matrix, append an array,</a:t>
            </a:r>
          </a:p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 and demonstrate various outputs</a:t>
            </a:r>
          </a:p>
          <a:p>
            <a:pPr algn="l"/>
            <a:r>
              <a:rPr lang="cs-CZ" sz="2200" dirty="0">
                <a:latin typeface="courier" charset="0"/>
              </a:rPr>
              <a:t>c = [1 2; 3 4];</a:t>
            </a:r>
          </a:p>
          <a:p>
            <a:pPr algn="l"/>
            <a:r>
              <a:rPr lang="pt-BR" sz="2200" dirty="0" err="1">
                <a:latin typeface="courier" charset="0"/>
              </a:rPr>
              <a:t>d</a:t>
            </a:r>
            <a:r>
              <a:rPr lang="pt-BR" sz="2200" dirty="0">
                <a:latin typeface="courier" charset="0"/>
              </a:rPr>
              <a:t> = [0 0];</a:t>
            </a:r>
          </a:p>
          <a:p>
            <a:pPr algn="l"/>
            <a:r>
              <a:rPr lang="pt-BR" sz="2200" dirty="0">
                <a:latin typeface="courier" charset="0"/>
              </a:rPr>
              <a:t> </a:t>
            </a:r>
          </a:p>
          <a:p>
            <a:pPr algn="l"/>
            <a:r>
              <a:rPr lang="fr-FR" sz="2200" dirty="0" err="1">
                <a:latin typeface="courier" charset="0"/>
              </a:rPr>
              <a:t>c_vert</a:t>
            </a:r>
            <a:r>
              <a:rPr lang="fr-FR" sz="2200" dirty="0">
                <a:latin typeface="courier" charset="0"/>
              </a:rPr>
              <a:t> = cat(1, c, d)</a:t>
            </a:r>
          </a:p>
          <a:p>
            <a:pPr algn="l"/>
            <a:r>
              <a:rPr lang="fr-FR" sz="2200" dirty="0" err="1">
                <a:latin typeface="courier" charset="0"/>
              </a:rPr>
              <a:t>c_horz</a:t>
            </a:r>
            <a:r>
              <a:rPr lang="fr-FR" sz="2200" dirty="0">
                <a:latin typeface="courier" charset="0"/>
              </a:rPr>
              <a:t> = cat(2, c, d')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6" r="-706" b="6690"/>
          <a:stretch/>
        </p:blipFill>
        <p:spPr>
          <a:xfrm>
            <a:off x="7329751" y="2958126"/>
            <a:ext cx="3111422" cy="62190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Conditions and “if” statements</a:t>
            </a:r>
          </a:p>
        </p:txBody>
      </p:sp>
      <p:sp>
        <p:nvSpPr>
          <p:cNvPr id="356" name="Shape 356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57" name="Shape 357"/>
          <p:cNvSpPr/>
          <p:nvPr/>
        </p:nvSpPr>
        <p:spPr>
          <a:xfrm>
            <a:off x="883462" y="210392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Input program</a:t>
            </a:r>
          </a:p>
        </p:txBody>
      </p:sp>
      <p:sp>
        <p:nvSpPr>
          <p:cNvPr id="358" name="Shape 358"/>
          <p:cNvSpPr/>
          <p:nvPr/>
        </p:nvSpPr>
        <p:spPr>
          <a:xfrm>
            <a:off x="7333665" y="210392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Output</a:t>
            </a:r>
          </a:p>
        </p:txBody>
      </p:sp>
      <p:sp>
        <p:nvSpPr>
          <p:cNvPr id="361" name="Shape 361"/>
          <p:cNvSpPr/>
          <p:nvPr/>
        </p:nvSpPr>
        <p:spPr>
          <a:xfrm>
            <a:off x="97383" y="9212838"/>
            <a:ext cx="346889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Example: </a:t>
            </a:r>
            <a:r>
              <a:rPr dirty="0" smtClean="0"/>
              <a:t>conditions.</a:t>
            </a:r>
            <a:r>
              <a:rPr lang="en-US" dirty="0" smtClean="0"/>
              <a:t>m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15081" y="2920204"/>
            <a:ext cx="625151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 clears all the previously defined </a:t>
            </a:r>
            <a:r>
              <a:rPr lang="en-US" sz="2200" dirty="0" smtClean="0">
                <a:solidFill>
                  <a:srgbClr val="228B22"/>
                </a:solidFill>
                <a:latin typeface="courier" charset="0"/>
              </a:rPr>
              <a:t>% variables</a:t>
            </a:r>
            <a:endParaRPr lang="en-US" sz="2200" dirty="0">
              <a:solidFill>
                <a:srgbClr val="228B22"/>
              </a:solidFill>
              <a:latin typeface="courier" charset="0"/>
            </a:endParaRPr>
          </a:p>
          <a:p>
            <a:pPr algn="l"/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% closes all previous figures</a:t>
            </a:r>
          </a:p>
          <a:p>
            <a:pPr algn="l"/>
            <a:r>
              <a:rPr lang="en-US" sz="2200" dirty="0">
                <a:latin typeface="courier" charset="0"/>
              </a:rPr>
              <a:t>clear </a:t>
            </a:r>
            <a:r>
              <a:rPr lang="en-US" sz="2200" dirty="0">
                <a:solidFill>
                  <a:srgbClr val="A020F0"/>
                </a:solidFill>
                <a:latin typeface="courier" charset="0"/>
              </a:rPr>
              <a:t>all</a:t>
            </a:r>
            <a:r>
              <a:rPr lang="en-US" sz="2200" dirty="0">
                <a:latin typeface="courier" charset="0"/>
              </a:rPr>
              <a:t>;</a:t>
            </a:r>
          </a:p>
          <a:p>
            <a:pPr algn="l"/>
            <a:r>
              <a:rPr lang="en-US" sz="2200" dirty="0">
                <a:latin typeface="courier" charset="0"/>
              </a:rPr>
              <a:t>close </a:t>
            </a:r>
            <a:r>
              <a:rPr lang="en-US" sz="2200" dirty="0">
                <a:solidFill>
                  <a:srgbClr val="A020F0"/>
                </a:solidFill>
                <a:latin typeface="courier" charset="0"/>
              </a:rPr>
              <a:t>all</a:t>
            </a:r>
            <a:r>
              <a:rPr lang="en-US" sz="2200" dirty="0">
                <a:latin typeface="courier" charset="0"/>
              </a:rPr>
              <a:t>;</a:t>
            </a:r>
          </a:p>
          <a:p>
            <a:pPr algn="l"/>
            <a:r>
              <a:rPr lang="en-US" sz="2200" dirty="0">
                <a:latin typeface="courier" charset="0"/>
              </a:rPr>
              <a:t> </a:t>
            </a:r>
          </a:p>
          <a:p>
            <a:pPr algn="l"/>
            <a:r>
              <a:rPr lang="en-US" sz="2200" dirty="0">
                <a:latin typeface="courier" charset="0"/>
              </a:rPr>
              <a:t>year = 2;</a:t>
            </a:r>
          </a:p>
          <a:p>
            <a:pPr algn="l"/>
            <a:r>
              <a:rPr lang="en-US" sz="2200" dirty="0">
                <a:latin typeface="courier" charset="0"/>
              </a:rPr>
              <a:t>name = </a:t>
            </a:r>
            <a:r>
              <a:rPr lang="en-US" sz="2200" dirty="0">
                <a:solidFill>
                  <a:srgbClr val="A020F0"/>
                </a:solidFill>
                <a:latin typeface="courier" charset="0"/>
              </a:rPr>
              <a:t>'Margo'</a:t>
            </a:r>
            <a:r>
              <a:rPr lang="en-US" sz="2200" dirty="0">
                <a:latin typeface="courier" charset="0"/>
              </a:rPr>
              <a:t>;</a:t>
            </a:r>
          </a:p>
          <a:p>
            <a:pPr algn="l"/>
            <a:r>
              <a:rPr lang="en-US" sz="2200" dirty="0">
                <a:latin typeface="courier" charset="0"/>
              </a:rPr>
              <a:t> </a:t>
            </a:r>
          </a:p>
          <a:p>
            <a:pPr algn="l"/>
            <a:r>
              <a:rPr lang="en-US" sz="2200" dirty="0" smtClean="0">
                <a:solidFill>
                  <a:srgbClr val="228B22"/>
                </a:solidFill>
                <a:latin typeface="courier" charset="0"/>
              </a:rPr>
              <a:t>% Do </a:t>
            </a:r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different things depending on </a:t>
            </a:r>
            <a:endParaRPr lang="en-US" sz="2200" dirty="0" smtClean="0">
              <a:solidFill>
                <a:srgbClr val="228B22"/>
              </a:solidFill>
              <a:latin typeface="courier" charset="0"/>
            </a:endParaRPr>
          </a:p>
          <a:p>
            <a:pPr algn="l"/>
            <a:r>
              <a:rPr lang="en-US" sz="2200" dirty="0" smtClean="0">
                <a:solidFill>
                  <a:srgbClr val="228B22"/>
                </a:solidFill>
                <a:latin typeface="courier" charset="0"/>
              </a:rPr>
              <a:t>% the </a:t>
            </a:r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condition</a:t>
            </a:r>
          </a:p>
          <a:p>
            <a:pPr algn="l"/>
            <a:r>
              <a:rPr lang="en-US" sz="2200" dirty="0">
                <a:solidFill>
                  <a:srgbClr val="0000FF"/>
                </a:solidFill>
                <a:latin typeface="courier" charset="0"/>
              </a:rPr>
              <a:t>if</a:t>
            </a:r>
            <a:r>
              <a:rPr lang="en-US" sz="2200" dirty="0">
                <a:latin typeface="courier" charset="0"/>
              </a:rPr>
              <a:t> </a:t>
            </a:r>
            <a:r>
              <a:rPr lang="en-US" sz="2200" dirty="0" err="1">
                <a:latin typeface="courier" charset="0"/>
              </a:rPr>
              <a:t>strcmp</a:t>
            </a:r>
            <a:r>
              <a:rPr lang="en-US" sz="2200" dirty="0">
                <a:latin typeface="courier" charset="0"/>
              </a:rPr>
              <a:t>(name, </a:t>
            </a:r>
            <a:r>
              <a:rPr lang="en-US" sz="2200" dirty="0">
                <a:solidFill>
                  <a:srgbClr val="A020F0"/>
                </a:solidFill>
                <a:latin typeface="courier" charset="0"/>
              </a:rPr>
              <a:t>'Eleanor'</a:t>
            </a:r>
            <a:r>
              <a:rPr lang="en-US" sz="2200" dirty="0">
                <a:latin typeface="courier" charset="0"/>
              </a:rPr>
              <a:t>) == 1</a:t>
            </a:r>
          </a:p>
          <a:p>
            <a:pPr algn="l"/>
            <a:r>
              <a:rPr lang="en-US" sz="2200" dirty="0">
                <a:latin typeface="courier" charset="0"/>
              </a:rPr>
              <a:t>    year = </a:t>
            </a:r>
            <a:r>
              <a:rPr lang="en-US" sz="2200" dirty="0" smtClean="0">
                <a:latin typeface="courier" charset="0"/>
              </a:rPr>
              <a:t>2014</a:t>
            </a:r>
            <a:endParaRPr lang="en-US" sz="2200" dirty="0">
              <a:latin typeface="courier" charset="0"/>
            </a:endParaRPr>
          </a:p>
          <a:p>
            <a:pPr algn="l"/>
            <a:r>
              <a:rPr lang="en-US" sz="2200" dirty="0" err="1">
                <a:solidFill>
                  <a:srgbClr val="0000FF"/>
                </a:solidFill>
                <a:latin typeface="courier" charset="0"/>
              </a:rPr>
              <a:t>elseif</a:t>
            </a:r>
            <a:r>
              <a:rPr lang="en-US" sz="2200" dirty="0">
                <a:latin typeface="courier" charset="0"/>
              </a:rPr>
              <a:t> </a:t>
            </a:r>
            <a:r>
              <a:rPr lang="en-US" sz="2200" dirty="0" err="1">
                <a:latin typeface="courier" charset="0"/>
              </a:rPr>
              <a:t>strcmp</a:t>
            </a:r>
            <a:r>
              <a:rPr lang="en-US" sz="2200" dirty="0">
                <a:latin typeface="courier" charset="0"/>
              </a:rPr>
              <a:t>(name, </a:t>
            </a:r>
            <a:r>
              <a:rPr lang="en-US" sz="2200" dirty="0">
                <a:solidFill>
                  <a:srgbClr val="A020F0"/>
                </a:solidFill>
                <a:latin typeface="courier" charset="0"/>
              </a:rPr>
              <a:t>'Sasha'</a:t>
            </a:r>
            <a:r>
              <a:rPr lang="en-US" sz="2200" dirty="0">
                <a:latin typeface="courier" charset="0"/>
              </a:rPr>
              <a:t>) == 1</a:t>
            </a:r>
          </a:p>
          <a:p>
            <a:pPr algn="l"/>
            <a:r>
              <a:rPr lang="en-US" sz="2200" dirty="0">
                <a:latin typeface="courier" charset="0"/>
              </a:rPr>
              <a:t>    year = </a:t>
            </a:r>
            <a:r>
              <a:rPr lang="en-US" sz="2200" dirty="0" smtClean="0">
                <a:latin typeface="courier" charset="0"/>
              </a:rPr>
              <a:t>2012</a:t>
            </a:r>
            <a:endParaRPr lang="en-US" sz="2200" dirty="0">
              <a:latin typeface="courier" charset="0"/>
            </a:endParaRPr>
          </a:p>
          <a:p>
            <a:pPr algn="l"/>
            <a:r>
              <a:rPr lang="en-US" sz="2200" dirty="0">
                <a:solidFill>
                  <a:srgbClr val="0000FF"/>
                </a:solidFill>
                <a:latin typeface="courier" charset="0"/>
              </a:rPr>
              <a:t>else</a:t>
            </a:r>
          </a:p>
          <a:p>
            <a:pPr algn="l"/>
            <a:r>
              <a:rPr lang="en-US" sz="2200" dirty="0">
                <a:latin typeface="courier" charset="0"/>
              </a:rPr>
              <a:t>    year = </a:t>
            </a:r>
            <a:r>
              <a:rPr lang="en-US" sz="2200" dirty="0" smtClean="0">
                <a:latin typeface="courier" charset="0"/>
              </a:rPr>
              <a:t>0</a:t>
            </a:r>
            <a:endParaRPr lang="en-US" sz="2200" dirty="0">
              <a:latin typeface="courier" charset="0"/>
            </a:endParaRPr>
          </a:p>
          <a:p>
            <a:pPr algn="l"/>
            <a:r>
              <a:rPr lang="en-US" sz="2200" dirty="0">
                <a:solidFill>
                  <a:srgbClr val="0000FF"/>
                </a:solidFill>
                <a:latin typeface="courier" charset="0"/>
              </a:rPr>
              <a:t>end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576" y="3076944"/>
            <a:ext cx="3196698" cy="2919819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Program flow and loops</a:t>
            </a:r>
          </a:p>
        </p:txBody>
      </p:sp>
      <p:sp>
        <p:nvSpPr>
          <p:cNvPr id="366" name="Shape 366"/>
          <p:cNvSpPr/>
          <p:nvPr/>
        </p:nvSpPr>
        <p:spPr>
          <a:xfrm>
            <a:off x="883462" y="2040125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Input program</a:t>
            </a:r>
          </a:p>
        </p:txBody>
      </p:sp>
      <p:sp>
        <p:nvSpPr>
          <p:cNvPr id="367" name="Shape 367"/>
          <p:cNvSpPr/>
          <p:nvPr/>
        </p:nvSpPr>
        <p:spPr>
          <a:xfrm>
            <a:off x="7333665" y="2040125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Output</a:t>
            </a:r>
          </a:p>
        </p:txBody>
      </p:sp>
      <p:sp>
        <p:nvSpPr>
          <p:cNvPr id="368" name="Shape 368"/>
          <p:cNvSpPr/>
          <p:nvPr/>
        </p:nvSpPr>
        <p:spPr>
          <a:xfrm flipV="1">
            <a:off x="631141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70" name="Shape 370"/>
          <p:cNvSpPr/>
          <p:nvPr/>
        </p:nvSpPr>
        <p:spPr>
          <a:xfrm>
            <a:off x="97383" y="9212838"/>
            <a:ext cx="2734723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Example</a:t>
            </a:r>
            <a:r>
              <a:rPr/>
              <a:t>: </a:t>
            </a:r>
            <a:r>
              <a:rPr smtClean="0"/>
              <a:t>loops.</a:t>
            </a:r>
            <a:r>
              <a:rPr lang="en-US" smtClean="0"/>
              <a:t>m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31265" y="2709091"/>
            <a:ext cx="65024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2200" dirty="0" smtClean="0">
                <a:solidFill>
                  <a:srgbClr val="228B22"/>
                </a:solidFill>
                <a:latin typeface="courier" charset="0"/>
              </a:rPr>
              <a:t>%</a:t>
            </a:r>
            <a:r>
              <a:rPr lang="en-US" sz="2200" dirty="0">
                <a:solidFill>
                  <a:srgbClr val="228B22"/>
                </a:solidFill>
                <a:latin typeface="courier" charset="0"/>
              </a:rPr>
              <a:t>create an array 1, 2, ..., 10</a:t>
            </a:r>
          </a:p>
          <a:p>
            <a:pPr algn="l"/>
            <a:r>
              <a:rPr lang="is-IS" sz="2200" dirty="0">
                <a:latin typeface="courier" charset="0"/>
              </a:rPr>
              <a:t>N = 10;</a:t>
            </a:r>
          </a:p>
          <a:p>
            <a:pPr algn="l"/>
            <a:r>
              <a:rPr lang="nb-NO" sz="2200" dirty="0">
                <a:solidFill>
                  <a:srgbClr val="0000FF"/>
                </a:solidFill>
                <a:latin typeface="courier" charset="0"/>
              </a:rPr>
              <a:t>for</a:t>
            </a:r>
            <a:r>
              <a:rPr lang="nb-NO" sz="2200" dirty="0">
                <a:latin typeface="courier" charset="0"/>
              </a:rPr>
              <a:t> i = 1:N</a:t>
            </a:r>
          </a:p>
          <a:p>
            <a:pPr algn="l"/>
            <a:r>
              <a:rPr lang="ro-RO" sz="2200" dirty="0">
                <a:latin typeface="courier" charset="0"/>
              </a:rPr>
              <a:t>    a(i) = i;</a:t>
            </a:r>
          </a:p>
          <a:p>
            <a:pPr algn="l"/>
            <a:r>
              <a:rPr lang="ro-RO" sz="2200" dirty="0" err="1">
                <a:solidFill>
                  <a:srgbClr val="0000FF"/>
                </a:solidFill>
                <a:latin typeface="courier" charset="0"/>
              </a:rPr>
              <a:t>end</a:t>
            </a:r>
            <a:endParaRPr lang="ro-RO" sz="2200" dirty="0">
              <a:solidFill>
                <a:srgbClr val="0000FF"/>
              </a:solidFill>
              <a:latin typeface="courier" charset="0"/>
            </a:endParaRPr>
          </a:p>
          <a:p>
            <a:pPr algn="l"/>
            <a:r>
              <a:rPr lang="ro-RO" sz="2200" dirty="0">
                <a:solidFill>
                  <a:srgbClr val="0000FF"/>
                </a:solidFill>
                <a:latin typeface="courier" charset="0"/>
              </a:rPr>
              <a:t> </a:t>
            </a:r>
          </a:p>
          <a:p>
            <a:pPr algn="l"/>
            <a:r>
              <a:rPr lang="ro-RO" sz="2200" dirty="0">
                <a:solidFill>
                  <a:srgbClr val="228B22"/>
                </a:solidFill>
                <a:latin typeface="courier" charset="0"/>
              </a:rPr>
              <a:t>%do it </a:t>
            </a:r>
            <a:r>
              <a:rPr lang="ro-RO" sz="2200" dirty="0" err="1">
                <a:solidFill>
                  <a:srgbClr val="228B22"/>
                </a:solidFill>
                <a:latin typeface="courier" charset="0"/>
              </a:rPr>
              <a:t>another</a:t>
            </a:r>
            <a:r>
              <a:rPr lang="ro-RO" sz="2200" dirty="0">
                <a:solidFill>
                  <a:srgbClr val="228B22"/>
                </a:solidFill>
                <a:latin typeface="courier" charset="0"/>
              </a:rPr>
              <a:t> </a:t>
            </a:r>
            <a:r>
              <a:rPr lang="ro-RO" sz="2200" dirty="0" err="1">
                <a:solidFill>
                  <a:srgbClr val="228B22"/>
                </a:solidFill>
                <a:latin typeface="courier" charset="0"/>
              </a:rPr>
              <a:t>way</a:t>
            </a:r>
            <a:endParaRPr lang="ro-RO" sz="2200" dirty="0">
              <a:solidFill>
                <a:srgbClr val="228B22"/>
              </a:solidFill>
              <a:latin typeface="courier" charset="0"/>
            </a:endParaRPr>
          </a:p>
          <a:p>
            <a:pPr algn="l"/>
            <a:r>
              <a:rPr lang="is-IS" sz="2200" dirty="0">
                <a:latin typeface="courier" charset="0"/>
              </a:rPr>
              <a:t>i = 1;</a:t>
            </a:r>
          </a:p>
          <a:p>
            <a:pPr algn="l"/>
            <a:r>
              <a:rPr lang="en-US" sz="2200" dirty="0">
                <a:solidFill>
                  <a:srgbClr val="0000FF"/>
                </a:solidFill>
                <a:latin typeface="courier" charset="0"/>
              </a:rPr>
              <a:t>while</a:t>
            </a:r>
            <a:r>
              <a:rPr lang="en-US" sz="2200" dirty="0">
                <a:latin typeface="courier" charset="0"/>
              </a:rPr>
              <a:t> </a:t>
            </a:r>
            <a:r>
              <a:rPr lang="en-US" sz="2200" dirty="0" err="1">
                <a:latin typeface="courier" charset="0"/>
              </a:rPr>
              <a:t>i</a:t>
            </a:r>
            <a:r>
              <a:rPr lang="en-US" sz="2200" dirty="0">
                <a:latin typeface="courier" charset="0"/>
              </a:rPr>
              <a:t> &lt;= 10</a:t>
            </a:r>
          </a:p>
          <a:p>
            <a:pPr algn="l"/>
            <a:r>
              <a:rPr lang="ro-RO" sz="2200" dirty="0">
                <a:latin typeface="courier" charset="0"/>
              </a:rPr>
              <a:t>    b(i) = i;</a:t>
            </a:r>
          </a:p>
          <a:p>
            <a:pPr algn="l"/>
            <a:r>
              <a:rPr lang="de-DE" sz="2200" dirty="0">
                <a:latin typeface="courier" charset="0"/>
              </a:rPr>
              <a:t>    i = i + 1;</a:t>
            </a:r>
          </a:p>
          <a:p>
            <a:pPr algn="l"/>
            <a:r>
              <a:rPr lang="de-DE" sz="2200" dirty="0">
                <a:solidFill>
                  <a:srgbClr val="0000FF"/>
                </a:solidFill>
                <a:latin typeface="courier" charset="0"/>
              </a:rPr>
              <a:t>end</a:t>
            </a:r>
          </a:p>
          <a:p>
            <a:pPr algn="l"/>
            <a:r>
              <a:rPr lang="de-DE" sz="2200" dirty="0">
                <a:solidFill>
                  <a:srgbClr val="0000FF"/>
                </a:solidFill>
                <a:latin typeface="courier" charset="0"/>
              </a:rPr>
              <a:t> </a:t>
            </a:r>
          </a:p>
          <a:p>
            <a:pPr algn="l"/>
            <a:r>
              <a:rPr lang="de-DE" sz="2200" dirty="0">
                <a:solidFill>
                  <a:srgbClr val="228B22"/>
                </a:solidFill>
                <a:latin typeface="courier" charset="0"/>
              </a:rPr>
              <a:t>%do </a:t>
            </a:r>
            <a:r>
              <a:rPr lang="de-DE" sz="2200" dirty="0" err="1">
                <a:solidFill>
                  <a:srgbClr val="228B22"/>
                </a:solidFill>
                <a:latin typeface="courier" charset="0"/>
              </a:rPr>
              <a:t>it</a:t>
            </a:r>
            <a:r>
              <a:rPr lang="de-DE" sz="2200" dirty="0">
                <a:solidFill>
                  <a:srgbClr val="228B22"/>
                </a:solidFill>
                <a:latin typeface="courier" charset="0"/>
              </a:rPr>
              <a:t> </a:t>
            </a:r>
            <a:r>
              <a:rPr lang="de-DE" sz="2200" dirty="0" err="1">
                <a:solidFill>
                  <a:srgbClr val="228B22"/>
                </a:solidFill>
                <a:latin typeface="courier" charset="0"/>
              </a:rPr>
              <a:t>without</a:t>
            </a:r>
            <a:r>
              <a:rPr lang="de-DE" sz="2200" dirty="0">
                <a:solidFill>
                  <a:srgbClr val="228B22"/>
                </a:solidFill>
                <a:latin typeface="courier" charset="0"/>
              </a:rPr>
              <a:t> a </a:t>
            </a:r>
            <a:r>
              <a:rPr lang="de-DE" sz="2200" dirty="0" err="1">
                <a:solidFill>
                  <a:srgbClr val="228B22"/>
                </a:solidFill>
                <a:latin typeface="courier" charset="0"/>
              </a:rPr>
              <a:t>loop</a:t>
            </a:r>
            <a:endParaRPr lang="de-DE" sz="2200" dirty="0">
              <a:solidFill>
                <a:srgbClr val="228B22"/>
              </a:solidFill>
              <a:latin typeface="courier" charset="0"/>
            </a:endParaRPr>
          </a:p>
          <a:p>
            <a:pPr algn="l"/>
            <a:r>
              <a:rPr lang="is-IS" sz="2200" dirty="0">
                <a:latin typeface="courier" charset="0"/>
              </a:rPr>
              <a:t>c = 1:N;</a:t>
            </a:r>
          </a:p>
          <a:p>
            <a:pPr algn="l"/>
            <a:r>
              <a:rPr lang="is-IS" sz="2200" dirty="0">
                <a:latin typeface="courier" charset="0"/>
              </a:rPr>
              <a:t> </a:t>
            </a:r>
          </a:p>
          <a:p>
            <a:pPr algn="l"/>
            <a:r>
              <a:rPr lang="is-IS" sz="2200" dirty="0">
                <a:latin typeface="courier" charset="0"/>
              </a:rPr>
              <a:t>a</a:t>
            </a:r>
          </a:p>
          <a:p>
            <a:pPr algn="l"/>
            <a:r>
              <a:rPr lang="is-IS" sz="2200" dirty="0">
                <a:latin typeface="courier" charset="0"/>
              </a:rPr>
              <a:t>b</a:t>
            </a:r>
          </a:p>
          <a:p>
            <a:pPr algn="l"/>
            <a:r>
              <a:rPr lang="is-IS" sz="2200" dirty="0">
                <a:latin typeface="courier" charset="0"/>
              </a:rPr>
              <a:t>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31" y="3111204"/>
            <a:ext cx="6591300" cy="33909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Next week: epidemiology</a:t>
            </a:r>
          </a:p>
        </p:txBody>
      </p:sp>
      <p:sp>
        <p:nvSpPr>
          <p:cNvPr id="407" name="Shape 40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Using search engine queries to detect flu epidemics</a:t>
            </a:r>
          </a:p>
          <a:p>
            <a:r>
              <a:rPr dirty="0"/>
              <a:t>Paper will be posted on Canvas site, and will be discussed on </a:t>
            </a:r>
            <a:r>
              <a:rPr lang="en-US" dirty="0" smtClean="0"/>
              <a:t>Tuesday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</TotalTime>
  <Words>1681</Words>
  <Application>Microsoft Macintosh PowerPoint</Application>
  <PresentationFormat>Custom</PresentationFormat>
  <Paragraphs>292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Avenir Roman</vt:lpstr>
      <vt:lpstr>Cambria Math</vt:lpstr>
      <vt:lpstr>courier</vt:lpstr>
      <vt:lpstr>Gill Sans</vt:lpstr>
      <vt:lpstr>Helvetica</vt:lpstr>
      <vt:lpstr>Helvetica Light</vt:lpstr>
      <vt:lpstr>Arial</vt:lpstr>
      <vt:lpstr>White</vt:lpstr>
      <vt:lpstr>Applied Math 50: Overview</vt:lpstr>
      <vt:lpstr>Quick detour</vt:lpstr>
      <vt:lpstr>But … 2016?</vt:lpstr>
      <vt:lpstr>Mosteller’s World Series model</vt:lpstr>
      <vt:lpstr>Mosteller’s World Series model</vt:lpstr>
      <vt:lpstr>Binomial trials</vt:lpstr>
      <vt:lpstr> Success probability</vt:lpstr>
      <vt:lpstr>Amplification factor</vt:lpstr>
      <vt:lpstr>Amplification grows with series length</vt:lpstr>
      <vt:lpstr>What’s an appropriate p?</vt:lpstr>
      <vt:lpstr>A.L. versus N.L. comparison</vt:lpstr>
      <vt:lpstr>Mosteller’s first estimation</vt:lpstr>
      <vt:lpstr>Combinations of games won</vt:lpstr>
      <vt:lpstr>Mosteller’s full table</vt:lpstr>
      <vt:lpstr>An estimate for p</vt:lpstr>
      <vt:lpstr>In fact p = 0.65 fits all the data</vt:lpstr>
      <vt:lpstr>Mosteller’s three estimation methods</vt:lpstr>
      <vt:lpstr>Average number of losing games</vt:lpstr>
      <vt:lpstr>Root finding the old school way</vt:lpstr>
      <vt:lpstr>PowerPoint Presentation</vt:lpstr>
      <vt:lpstr>Summary of estimations of p</vt:lpstr>
      <vt:lpstr>How often does the A.L. have the better team?</vt:lpstr>
      <vt:lpstr>A key assumption in the analysis</vt:lpstr>
      <vt:lpstr>Tests of binomial assumptions</vt:lpstr>
      <vt:lpstr>Different ways to model the world series</vt:lpstr>
      <vt:lpstr>A variety of modeling choices</vt:lpstr>
      <vt:lpstr>Break</vt:lpstr>
      <vt:lpstr>Getting started with Matlab</vt:lpstr>
      <vt:lpstr>Getting started with Matlab</vt:lpstr>
      <vt:lpstr>Computer lab 0</vt:lpstr>
      <vt:lpstr>Workspace</vt:lpstr>
      <vt:lpstr>Hello World!</vt:lpstr>
      <vt:lpstr>Variables and basic math operations</vt:lpstr>
      <vt:lpstr>Arrays</vt:lpstr>
      <vt:lpstr>Conditions and “if” statements</vt:lpstr>
      <vt:lpstr>Program flow and loops</vt:lpstr>
      <vt:lpstr>Next week: epidemiology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Math 50: Overview</dc:title>
  <cp:lastModifiedBy>Microsoft Office User</cp:lastModifiedBy>
  <cp:revision>34</cp:revision>
  <dcterms:modified xsi:type="dcterms:W3CDTF">2017-01-31T10:15:52Z</dcterms:modified>
</cp:coreProperties>
</file>