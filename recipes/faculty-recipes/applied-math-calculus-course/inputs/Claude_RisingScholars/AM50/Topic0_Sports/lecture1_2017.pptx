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Lst>
  <p:sldSz cx="13004800" cy="9753600"/>
  <p:notesSz cx="6858000" cy="9144000"/>
  <p:defaultTextStyle>
    <a:defPPr>
      <a:defRPr lang="en-US"/>
    </a:defPPr>
    <a:lvl1pPr algn="ctr" defTabSz="584200" rtl="0" fontAlgn="base" hangingPunct="0">
      <a:spcBef>
        <a:spcPct val="0"/>
      </a:spcBef>
      <a:spcAft>
        <a:spcPct val="0"/>
      </a:spcAft>
      <a:defRPr sz="3600" kern="1200">
        <a:solidFill>
          <a:srgbClr val="000000"/>
        </a:solidFill>
        <a:latin typeface="Helvetica Light" charset="0"/>
        <a:ea typeface="Helvetica Light" charset="0"/>
        <a:cs typeface="Helvetica Light" charset="0"/>
        <a:sym typeface="Helvetica Light" charset="0"/>
      </a:defRPr>
    </a:lvl1pPr>
    <a:lvl2pPr indent="228600" algn="ctr" defTabSz="584200" rtl="0" fontAlgn="base" hangingPunct="0">
      <a:spcBef>
        <a:spcPct val="0"/>
      </a:spcBef>
      <a:spcAft>
        <a:spcPct val="0"/>
      </a:spcAft>
      <a:defRPr sz="3600" kern="1200">
        <a:solidFill>
          <a:srgbClr val="000000"/>
        </a:solidFill>
        <a:latin typeface="Helvetica Light" charset="0"/>
        <a:ea typeface="Helvetica Light" charset="0"/>
        <a:cs typeface="Helvetica Light" charset="0"/>
        <a:sym typeface="Helvetica Light" charset="0"/>
      </a:defRPr>
    </a:lvl2pPr>
    <a:lvl3pPr indent="457200" algn="ctr" defTabSz="584200" rtl="0" fontAlgn="base" hangingPunct="0">
      <a:spcBef>
        <a:spcPct val="0"/>
      </a:spcBef>
      <a:spcAft>
        <a:spcPct val="0"/>
      </a:spcAft>
      <a:defRPr sz="3600" kern="1200">
        <a:solidFill>
          <a:srgbClr val="000000"/>
        </a:solidFill>
        <a:latin typeface="Helvetica Light" charset="0"/>
        <a:ea typeface="Helvetica Light" charset="0"/>
        <a:cs typeface="Helvetica Light" charset="0"/>
        <a:sym typeface="Helvetica Light" charset="0"/>
      </a:defRPr>
    </a:lvl3pPr>
    <a:lvl4pPr indent="685800" algn="ctr" defTabSz="584200" rtl="0" fontAlgn="base" hangingPunct="0">
      <a:spcBef>
        <a:spcPct val="0"/>
      </a:spcBef>
      <a:spcAft>
        <a:spcPct val="0"/>
      </a:spcAft>
      <a:defRPr sz="3600" kern="1200">
        <a:solidFill>
          <a:srgbClr val="000000"/>
        </a:solidFill>
        <a:latin typeface="Helvetica Light" charset="0"/>
        <a:ea typeface="Helvetica Light" charset="0"/>
        <a:cs typeface="Helvetica Light" charset="0"/>
        <a:sym typeface="Helvetica Light" charset="0"/>
      </a:defRPr>
    </a:lvl4pPr>
    <a:lvl5pPr indent="914400" algn="ctr" defTabSz="584200" rtl="0" fontAlgn="base" hangingPunct="0">
      <a:spcBef>
        <a:spcPct val="0"/>
      </a:spcBef>
      <a:spcAft>
        <a:spcPct val="0"/>
      </a:spcAft>
      <a:defRPr sz="3600" kern="1200">
        <a:solidFill>
          <a:srgbClr val="000000"/>
        </a:solidFill>
        <a:latin typeface="Helvetica Light" charset="0"/>
        <a:ea typeface="Helvetica Light" charset="0"/>
        <a:cs typeface="Helvetica Light" charset="0"/>
        <a:sym typeface="Helvetica Light" charset="0"/>
      </a:defRPr>
    </a:lvl5pPr>
    <a:lvl6pPr marL="2286000" algn="l" defTabSz="914400" rtl="0" eaLnBrk="1" latinLnBrk="0" hangingPunct="1">
      <a:defRPr sz="3600" kern="1200">
        <a:solidFill>
          <a:srgbClr val="000000"/>
        </a:solidFill>
        <a:latin typeface="Helvetica Light" charset="0"/>
        <a:ea typeface="Helvetica Light" charset="0"/>
        <a:cs typeface="Helvetica Light" charset="0"/>
        <a:sym typeface="Helvetica Light" charset="0"/>
      </a:defRPr>
    </a:lvl6pPr>
    <a:lvl7pPr marL="2743200" algn="l" defTabSz="914400" rtl="0" eaLnBrk="1" latinLnBrk="0" hangingPunct="1">
      <a:defRPr sz="3600" kern="1200">
        <a:solidFill>
          <a:srgbClr val="000000"/>
        </a:solidFill>
        <a:latin typeface="Helvetica Light" charset="0"/>
        <a:ea typeface="Helvetica Light" charset="0"/>
        <a:cs typeface="Helvetica Light" charset="0"/>
        <a:sym typeface="Helvetica Light" charset="0"/>
      </a:defRPr>
    </a:lvl7pPr>
    <a:lvl8pPr marL="3200400" algn="l" defTabSz="914400" rtl="0" eaLnBrk="1" latinLnBrk="0" hangingPunct="1">
      <a:defRPr sz="3600" kern="1200">
        <a:solidFill>
          <a:srgbClr val="000000"/>
        </a:solidFill>
        <a:latin typeface="Helvetica Light" charset="0"/>
        <a:ea typeface="Helvetica Light" charset="0"/>
        <a:cs typeface="Helvetica Light" charset="0"/>
        <a:sym typeface="Helvetica Light" charset="0"/>
      </a:defRPr>
    </a:lvl8pPr>
    <a:lvl9pPr marL="3657600" algn="l" defTabSz="914400" rtl="0" eaLnBrk="1" latinLnBrk="0" hangingPunct="1">
      <a:defRPr sz="3600" kern="1200">
        <a:solidFill>
          <a:srgbClr val="000000"/>
        </a:solidFill>
        <a:latin typeface="Helvetica Light" charset="0"/>
        <a:ea typeface="Helvetica Light" charset="0"/>
        <a:cs typeface="Helvetica Light" charset="0"/>
        <a:sym typeface="Helvetica Light"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366"/>
    <p:restoredTop sz="95000"/>
  </p:normalViewPr>
  <p:slideViewPr>
    <p:cSldViewPr>
      <p:cViewPr varScale="1">
        <p:scale>
          <a:sx n="62" d="100"/>
          <a:sy n="62" d="100"/>
        </p:scale>
        <p:origin x="208" y="288"/>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p:cNvSpPr>
          <p:nvPr>
            <p:ph type="sldImg"/>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val="1"/>
            </a:ext>
          </a:extLst>
        </p:spPr>
      </p:sp>
      <p:sp>
        <p:nvSpPr>
          <p:cNvPr id="2050" name="Rectangle 2"/>
          <p:cNvSpPr>
            <a:spLocks noGrp="1"/>
          </p:cNvSpPr>
          <p:nvPr>
            <p:ph type="body" sz="quarter" idx="1"/>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sym typeface="Avenir Roman" charset="0"/>
              </a:rPr>
              <a:t>Click to edit Master text styles</a:t>
            </a:r>
          </a:p>
          <a:p>
            <a:pPr lvl="1"/>
            <a:r>
              <a:rPr lang="en-US" altLang="en-US">
                <a:sym typeface="Avenir Roman" charset="0"/>
              </a:rPr>
              <a:t>Second level</a:t>
            </a:r>
          </a:p>
          <a:p>
            <a:pPr lvl="2"/>
            <a:r>
              <a:rPr lang="en-US" altLang="en-US">
                <a:sym typeface="Avenir Roman" charset="0"/>
              </a:rPr>
              <a:t>Third level</a:t>
            </a:r>
          </a:p>
          <a:p>
            <a:pPr lvl="3"/>
            <a:r>
              <a:rPr lang="en-US" altLang="en-US">
                <a:sym typeface="Avenir Roman" charset="0"/>
              </a:rPr>
              <a:t>Fourth level</a:t>
            </a:r>
          </a:p>
          <a:p>
            <a:pPr lvl="4"/>
            <a:r>
              <a:rPr lang="en-US" altLang="en-US">
                <a:sym typeface="Avenir Roman" charset="0"/>
              </a:rPr>
              <a:t>Fifth level</a:t>
            </a:r>
          </a:p>
        </p:txBody>
      </p:sp>
    </p:spTree>
    <p:extLst>
      <p:ext uri="{BB962C8B-B14F-4D97-AF65-F5344CB8AC3E}">
        <p14:creationId xmlns:p14="http://schemas.microsoft.com/office/powerpoint/2010/main" val="1323117528"/>
      </p:ext>
    </p:extLst>
  </p:cSld>
  <p:clrMap bg1="lt1" tx1="dk1" bg2="lt2" tx2="dk2" accent1="accent1" accent2="accent2" accent3="accent3" accent4="accent4" accent5="accent5" accent6="accent6" hlink="hlink" folHlink="folHlink"/>
  <p:notesStyle>
    <a:lvl1pPr algn="l" defTabSz="457200" rtl="0" fontAlgn="base" hangingPunct="0">
      <a:lnSpc>
        <a:spcPct val="125000"/>
      </a:lnSpc>
      <a:spcBef>
        <a:spcPct val="0"/>
      </a:spcBef>
      <a:spcAft>
        <a:spcPct val="0"/>
      </a:spcAft>
      <a:defRPr sz="2400" kern="1200">
        <a:solidFill>
          <a:srgbClr val="000000"/>
        </a:solidFill>
        <a:latin typeface="Avenir Roman" charset="0"/>
        <a:ea typeface="Avenir Roman" charset="0"/>
        <a:cs typeface="Avenir Roman" charset="0"/>
        <a:sym typeface="Avenir Roman" charset="0"/>
      </a:defRPr>
    </a:lvl1pPr>
    <a:lvl2pPr indent="228600" algn="l" defTabSz="457200" rtl="0" fontAlgn="base" hangingPunct="0">
      <a:lnSpc>
        <a:spcPct val="125000"/>
      </a:lnSpc>
      <a:spcBef>
        <a:spcPct val="0"/>
      </a:spcBef>
      <a:spcAft>
        <a:spcPct val="0"/>
      </a:spcAft>
      <a:defRPr sz="2400" kern="1200">
        <a:solidFill>
          <a:srgbClr val="000000"/>
        </a:solidFill>
        <a:latin typeface="Avenir Roman" charset="0"/>
        <a:ea typeface="Avenir Roman" charset="0"/>
        <a:cs typeface="Avenir Roman" charset="0"/>
        <a:sym typeface="Avenir Roman" charset="0"/>
      </a:defRPr>
    </a:lvl2pPr>
    <a:lvl3pPr indent="457200" algn="l" defTabSz="457200" rtl="0" fontAlgn="base" hangingPunct="0">
      <a:lnSpc>
        <a:spcPct val="125000"/>
      </a:lnSpc>
      <a:spcBef>
        <a:spcPct val="0"/>
      </a:spcBef>
      <a:spcAft>
        <a:spcPct val="0"/>
      </a:spcAft>
      <a:defRPr sz="2400" kern="1200">
        <a:solidFill>
          <a:srgbClr val="000000"/>
        </a:solidFill>
        <a:latin typeface="Avenir Roman" charset="0"/>
        <a:ea typeface="Avenir Roman" charset="0"/>
        <a:cs typeface="Avenir Roman" charset="0"/>
        <a:sym typeface="Avenir Roman" charset="0"/>
      </a:defRPr>
    </a:lvl3pPr>
    <a:lvl4pPr indent="685800" algn="l" defTabSz="457200" rtl="0" fontAlgn="base" hangingPunct="0">
      <a:lnSpc>
        <a:spcPct val="125000"/>
      </a:lnSpc>
      <a:spcBef>
        <a:spcPct val="0"/>
      </a:spcBef>
      <a:spcAft>
        <a:spcPct val="0"/>
      </a:spcAft>
      <a:defRPr sz="2400" kern="1200">
        <a:solidFill>
          <a:srgbClr val="000000"/>
        </a:solidFill>
        <a:latin typeface="Avenir Roman" charset="0"/>
        <a:ea typeface="Avenir Roman" charset="0"/>
        <a:cs typeface="Avenir Roman" charset="0"/>
        <a:sym typeface="Avenir Roman" charset="0"/>
      </a:defRPr>
    </a:lvl4pPr>
    <a:lvl5pPr indent="914400" algn="l" defTabSz="457200" rtl="0" fontAlgn="base" hangingPunct="0">
      <a:lnSpc>
        <a:spcPct val="125000"/>
      </a:lnSpc>
      <a:spcBef>
        <a:spcPct val="0"/>
      </a:spcBef>
      <a:spcAft>
        <a:spcPct val="0"/>
      </a:spcAft>
      <a:defRPr sz="2400" kern="1200">
        <a:solidFill>
          <a:srgbClr val="000000"/>
        </a:solidFill>
        <a:latin typeface="Avenir Roman" charset="0"/>
        <a:ea typeface="Avenir Roman" charset="0"/>
        <a:cs typeface="Avenir Roman" charset="0"/>
        <a:sym typeface="Avenir Roman"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3793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1597025"/>
            <a:ext cx="9753600" cy="3395663"/>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625600" y="5122863"/>
            <a:ext cx="9753600" cy="23542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Slide Number Placeholder 3"/>
          <p:cNvSpPr>
            <a:spLocks noGrp="1"/>
          </p:cNvSpPr>
          <p:nvPr>
            <p:ph type="sldNum" sz="quarter" idx="10"/>
          </p:nvPr>
        </p:nvSpPr>
        <p:spPr/>
        <p:txBody>
          <a:bodyPr/>
          <a:lstStyle>
            <a:lvl1pPr>
              <a:defRPr/>
            </a:lvl1pPr>
          </a:lstStyle>
          <a:p>
            <a:fld id="{C2E53B18-0A23-B64E-83FF-B7D9006B4C01}" type="slidenum">
              <a:rPr lang="en-US" altLang="en-US"/>
              <a:pPr/>
              <a:t>‹#›</a:t>
            </a:fld>
            <a:endParaRPr lang="en-US" altLang="en-US"/>
          </a:p>
        </p:txBody>
      </p:sp>
    </p:spTree>
    <p:extLst>
      <p:ext uri="{BB962C8B-B14F-4D97-AF65-F5344CB8AC3E}">
        <p14:creationId xmlns:p14="http://schemas.microsoft.com/office/powerpoint/2010/main" val="443128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AEF41B89-285A-5E46-9961-11DCB9951F6E}" type="slidenum">
              <a:rPr lang="en-US" altLang="en-US"/>
              <a:pPr/>
              <a:t>‹#›</a:t>
            </a:fld>
            <a:endParaRPr lang="en-US" altLang="en-US"/>
          </a:p>
        </p:txBody>
      </p:sp>
    </p:spTree>
    <p:extLst>
      <p:ext uri="{BB962C8B-B14F-4D97-AF65-F5344CB8AC3E}">
        <p14:creationId xmlns:p14="http://schemas.microsoft.com/office/powerpoint/2010/main" val="18591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7413" y="2432050"/>
            <a:ext cx="11217275" cy="4056063"/>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87413" y="6527800"/>
            <a:ext cx="11217275" cy="2133600"/>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6BF7E6AE-985A-E340-8776-97496B3C85BD}" type="slidenum">
              <a:rPr lang="en-US" altLang="en-US"/>
              <a:pPr/>
              <a:t>‹#›</a:t>
            </a:fld>
            <a:endParaRPr lang="en-US" altLang="en-US"/>
          </a:p>
        </p:txBody>
      </p:sp>
    </p:spTree>
    <p:extLst>
      <p:ext uri="{BB962C8B-B14F-4D97-AF65-F5344CB8AC3E}">
        <p14:creationId xmlns:p14="http://schemas.microsoft.com/office/powerpoint/2010/main" val="9950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52500" y="2603500"/>
            <a:ext cx="5473700" cy="628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78600" y="2603500"/>
            <a:ext cx="5473700" cy="628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fld id="{F27CE7E6-E5E6-0046-BA0D-1B40C6D2CC53}" type="slidenum">
              <a:rPr lang="en-US" altLang="en-US"/>
              <a:pPr/>
              <a:t>‹#›</a:t>
            </a:fld>
            <a:endParaRPr lang="en-US" altLang="en-US"/>
          </a:p>
        </p:txBody>
      </p:sp>
    </p:spTree>
    <p:extLst>
      <p:ext uri="{BB962C8B-B14F-4D97-AF65-F5344CB8AC3E}">
        <p14:creationId xmlns:p14="http://schemas.microsoft.com/office/powerpoint/2010/main" val="1648039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5350" y="519113"/>
            <a:ext cx="11217275" cy="188595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95350" y="2390775"/>
            <a:ext cx="5502275"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95350" y="3562350"/>
            <a:ext cx="5502275" cy="5240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83363" y="2390775"/>
            <a:ext cx="5529262" cy="11715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83363" y="3562350"/>
            <a:ext cx="5529262" cy="5240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fld id="{F43C4C0C-DB58-2E4A-9789-5C4DA247222B}" type="slidenum">
              <a:rPr lang="en-US" altLang="en-US"/>
              <a:pPr/>
              <a:t>‹#›</a:t>
            </a:fld>
            <a:endParaRPr lang="en-US" altLang="en-US"/>
          </a:p>
        </p:txBody>
      </p:sp>
    </p:spTree>
    <p:extLst>
      <p:ext uri="{BB962C8B-B14F-4D97-AF65-F5344CB8AC3E}">
        <p14:creationId xmlns:p14="http://schemas.microsoft.com/office/powerpoint/2010/main" val="352570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D69C4549-8879-AA46-BFB3-298B92233884}" type="slidenum">
              <a:rPr lang="en-US" altLang="en-US"/>
              <a:pPr/>
              <a:t>‹#›</a:t>
            </a:fld>
            <a:endParaRPr lang="en-US" altLang="en-US"/>
          </a:p>
        </p:txBody>
      </p:sp>
    </p:spTree>
    <p:extLst>
      <p:ext uri="{BB962C8B-B14F-4D97-AF65-F5344CB8AC3E}">
        <p14:creationId xmlns:p14="http://schemas.microsoft.com/office/powerpoint/2010/main" val="74585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7A7F38D1-A623-F94C-80EB-C244C47F9530}" type="slidenum">
              <a:rPr lang="en-US" altLang="en-US"/>
              <a:pPr/>
              <a:t>‹#›</a:t>
            </a:fld>
            <a:endParaRPr lang="en-US" altLang="en-US"/>
          </a:p>
        </p:txBody>
      </p:sp>
    </p:spTree>
    <p:extLst>
      <p:ext uri="{BB962C8B-B14F-4D97-AF65-F5344CB8AC3E}">
        <p14:creationId xmlns:p14="http://schemas.microsoft.com/office/powerpoint/2010/main" val="668768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529263" y="1404938"/>
            <a:ext cx="6583362" cy="6931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54D9035E-66E8-504C-84C9-623506B4445E}" type="slidenum">
              <a:rPr lang="en-US" altLang="en-US"/>
              <a:pPr/>
              <a:t>‹#›</a:t>
            </a:fld>
            <a:endParaRPr lang="en-US" altLang="en-US"/>
          </a:p>
        </p:txBody>
      </p:sp>
    </p:spTree>
    <p:extLst>
      <p:ext uri="{BB962C8B-B14F-4D97-AF65-F5344CB8AC3E}">
        <p14:creationId xmlns:p14="http://schemas.microsoft.com/office/powerpoint/2010/main" val="62771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5350" y="650875"/>
            <a:ext cx="4194175" cy="2274888"/>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529263" y="1404938"/>
            <a:ext cx="6583362" cy="69310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95350" y="2925763"/>
            <a:ext cx="4194175" cy="54213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23D3BA1D-B0DD-424B-8339-A8AAA577F688}" type="slidenum">
              <a:rPr lang="en-US" altLang="en-US"/>
              <a:pPr/>
              <a:t>‹#›</a:t>
            </a:fld>
            <a:endParaRPr lang="en-US" altLang="en-US"/>
          </a:p>
        </p:txBody>
      </p:sp>
    </p:spTree>
    <p:extLst>
      <p:ext uri="{BB962C8B-B14F-4D97-AF65-F5344CB8AC3E}">
        <p14:creationId xmlns:p14="http://schemas.microsoft.com/office/powerpoint/2010/main" val="579440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C01CF464-1390-8443-BF16-E691F4B14E70}" type="slidenum">
              <a:rPr lang="en-US" altLang="en-US"/>
              <a:pPr/>
              <a:t>‹#›</a:t>
            </a:fld>
            <a:endParaRPr lang="en-US" altLang="en-US"/>
          </a:p>
        </p:txBody>
      </p:sp>
    </p:spTree>
    <p:extLst>
      <p:ext uri="{BB962C8B-B14F-4D97-AF65-F5344CB8AC3E}">
        <p14:creationId xmlns:p14="http://schemas.microsoft.com/office/powerpoint/2010/main" val="1967930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350" y="444500"/>
            <a:ext cx="2774950" cy="84455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52500" y="444500"/>
            <a:ext cx="8172450" cy="84455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530B23D3-5586-9646-8632-6D95D8776316}" type="slidenum">
              <a:rPr lang="en-US" altLang="en-US"/>
              <a:pPr/>
              <a:t>‹#›</a:t>
            </a:fld>
            <a:endParaRPr lang="en-US" altLang="en-US"/>
          </a:p>
        </p:txBody>
      </p:sp>
    </p:spTree>
    <p:extLst>
      <p:ext uri="{BB962C8B-B14F-4D97-AF65-F5344CB8AC3E}">
        <p14:creationId xmlns:p14="http://schemas.microsoft.com/office/powerpoint/2010/main" val="161329128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952500" y="444500"/>
            <a:ext cx="11099800"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val="1"/>
            </a:ext>
          </a:extLst>
        </p:spPr>
        <p:txBody>
          <a:bodyPr vert="horz" wrap="square" lIns="50800" tIns="50800" rIns="50800" bIns="50800" numCol="1" anchor="ctr" anchorCtr="0" compatLnSpc="1">
            <a:prstTxWarp prst="textNoShape">
              <a:avLst/>
            </a:prstTxWarp>
          </a:bodyPr>
          <a:lstStyle/>
          <a:p>
            <a:pPr lvl="0"/>
            <a:r>
              <a:rPr lang="en-US" altLang="en-US">
                <a:sym typeface="Helvetica" charset="0"/>
              </a:rPr>
              <a:t>Click to edit Master title style</a:t>
            </a:r>
          </a:p>
        </p:txBody>
      </p:sp>
      <p:sp>
        <p:nvSpPr>
          <p:cNvPr id="1026" name="Rectangle 2"/>
          <p:cNvSpPr>
            <a:spLocks noGrp="1"/>
          </p:cNvSpPr>
          <p:nvPr>
            <p:ph type="body" idx="1"/>
          </p:nvPr>
        </p:nvSpPr>
        <p:spPr bwMode="auto">
          <a:xfrm>
            <a:off x="952500" y="2603500"/>
            <a:ext cx="11099800" cy="628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val="1"/>
            </a:ext>
          </a:extLst>
        </p:spPr>
        <p:txBody>
          <a:bodyPr vert="horz" wrap="square" lIns="50800" tIns="50800" rIns="50800" bIns="50800" numCol="1" anchor="ctr" anchorCtr="0" compatLnSpc="1">
            <a:prstTxWarp prst="textNoShape">
              <a:avLst/>
            </a:prstTxWarp>
          </a:bodyPr>
          <a:lstStyle/>
          <a:p>
            <a:pPr lvl="0"/>
            <a:r>
              <a:rPr lang="en-US" altLang="en-US">
                <a:sym typeface="Helvetica" charset="0"/>
              </a:rPr>
              <a:t>Click to edit Master text styles</a:t>
            </a:r>
          </a:p>
          <a:p>
            <a:pPr lvl="1"/>
            <a:r>
              <a:rPr lang="en-US" altLang="en-US">
                <a:sym typeface="Helvetica" charset="0"/>
              </a:rPr>
              <a:t>Second level</a:t>
            </a:r>
          </a:p>
          <a:p>
            <a:pPr lvl="2"/>
            <a:r>
              <a:rPr lang="en-US" altLang="en-US">
                <a:sym typeface="Helvetica" charset="0"/>
              </a:rPr>
              <a:t>Third level</a:t>
            </a:r>
          </a:p>
          <a:p>
            <a:pPr lvl="3"/>
            <a:r>
              <a:rPr lang="en-US" altLang="en-US">
                <a:sym typeface="Helvetica" charset="0"/>
              </a:rPr>
              <a:t>Fourth level</a:t>
            </a:r>
          </a:p>
          <a:p>
            <a:pPr lvl="4"/>
            <a:r>
              <a:rPr lang="en-US" altLang="en-US">
                <a:sym typeface="Helvetica" charset="0"/>
              </a:rPr>
              <a:t>Fifth level</a:t>
            </a:r>
          </a:p>
        </p:txBody>
      </p:sp>
      <p:sp>
        <p:nvSpPr>
          <p:cNvPr id="1027" name="Rectangle 3"/>
          <p:cNvSpPr>
            <a:spLocks noGrp="1"/>
          </p:cNvSpPr>
          <p:nvPr>
            <p:ph type="sldNum" sz="quarter" idx="2"/>
          </p:nvPr>
        </p:nvSpPr>
        <p:spPr bwMode="auto">
          <a:xfrm>
            <a:off x="6310313" y="9251950"/>
            <a:ext cx="369887"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val="1"/>
            </a:ext>
          </a:extLst>
        </p:spPr>
        <p:txBody>
          <a:bodyPr vert="horz" wrap="none" lIns="50800" tIns="50800" rIns="50800" bIns="50800" numCol="1" anchor="t" anchorCtr="0" compatLnSpc="1">
            <a:prstTxWarp prst="textNoShape">
              <a:avLst/>
            </a:prstTxWarp>
          </a:bodyPr>
          <a:lstStyle>
            <a:lvl1pPr>
              <a:defRPr sz="1800"/>
            </a:lvl1pPr>
          </a:lstStyle>
          <a:p>
            <a:fld id="{6C0C0E17-7BBC-AB43-86B4-DBCF866E28E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84200" rtl="0" fontAlgn="base" hangingPunct="0">
        <a:spcBef>
          <a:spcPct val="0"/>
        </a:spcBef>
        <a:spcAft>
          <a:spcPct val="0"/>
        </a:spcAft>
        <a:defRPr sz="6400" b="1" kern="1200">
          <a:solidFill>
            <a:srgbClr val="164F86"/>
          </a:solidFill>
          <a:effectLst>
            <a:outerShdw blurRad="38100" dist="38100" dir="2700000" algn="tl">
              <a:srgbClr val="C0C0C0"/>
            </a:outerShdw>
          </a:effectLst>
          <a:latin typeface="+mj-lt"/>
          <a:ea typeface="+mj-ea"/>
          <a:cs typeface="+mj-cs"/>
          <a:sym typeface="Helvetica" charset="0"/>
        </a:defRPr>
      </a:lvl1pPr>
      <a:lvl2pPr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2pPr>
      <a:lvl3pPr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3pPr>
      <a:lvl4pPr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4pPr>
      <a:lvl5pPr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5pPr>
      <a:lvl6pPr marL="457200"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6pPr>
      <a:lvl7pPr marL="914400"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7pPr>
      <a:lvl8pPr marL="1371600"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8pPr>
      <a:lvl9pPr marL="1828800" algn="ctr" defTabSz="584200" rtl="0" fontAlgn="base" hangingPunct="0">
        <a:spcBef>
          <a:spcPct val="0"/>
        </a:spcBef>
        <a:spcAft>
          <a:spcPct val="0"/>
        </a:spcAft>
        <a:defRPr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defRPr>
      </a:lvl9pPr>
    </p:titleStyle>
    <p:bodyStyle>
      <a:lvl1pPr marL="444500" indent="-444500" algn="l" defTabSz="584200" rtl="0" fontAlgn="base" hangingPunct="0">
        <a:lnSpc>
          <a:spcPct val="90000"/>
        </a:lnSpc>
        <a:spcBef>
          <a:spcPts val="2600"/>
        </a:spcBef>
        <a:spcAft>
          <a:spcPct val="0"/>
        </a:spcAft>
        <a:buSzPct val="75000"/>
        <a:buChar char="•"/>
        <a:defRPr sz="3600" b="1" kern="1200">
          <a:solidFill>
            <a:srgbClr val="000000"/>
          </a:solidFill>
          <a:latin typeface="+mn-lt"/>
          <a:ea typeface="+mn-ea"/>
          <a:cs typeface="+mn-cs"/>
          <a:sym typeface="Helvetica" charset="0"/>
        </a:defRPr>
      </a:lvl1pPr>
      <a:lvl2pPr marL="889000" indent="-444500" algn="l" defTabSz="584200" rtl="0" fontAlgn="base" hangingPunct="0">
        <a:lnSpc>
          <a:spcPct val="90000"/>
        </a:lnSpc>
        <a:spcBef>
          <a:spcPts val="2600"/>
        </a:spcBef>
        <a:spcAft>
          <a:spcPct val="0"/>
        </a:spcAft>
        <a:buSzPct val="75000"/>
        <a:buChar char="•"/>
        <a:defRPr sz="3600" b="1" kern="1200">
          <a:solidFill>
            <a:srgbClr val="000000"/>
          </a:solidFill>
          <a:latin typeface="+mn-lt"/>
          <a:ea typeface="+mn-ea"/>
          <a:cs typeface="+mn-cs"/>
          <a:sym typeface="Helvetica" charset="0"/>
        </a:defRPr>
      </a:lvl2pPr>
      <a:lvl3pPr marL="1333500" indent="-444500" algn="l" defTabSz="584200" rtl="0" fontAlgn="base" hangingPunct="0">
        <a:lnSpc>
          <a:spcPct val="90000"/>
        </a:lnSpc>
        <a:spcBef>
          <a:spcPts val="2600"/>
        </a:spcBef>
        <a:spcAft>
          <a:spcPct val="0"/>
        </a:spcAft>
        <a:buSzPct val="75000"/>
        <a:buChar char="•"/>
        <a:defRPr sz="3600" b="1" kern="1200">
          <a:solidFill>
            <a:srgbClr val="000000"/>
          </a:solidFill>
          <a:latin typeface="+mn-lt"/>
          <a:ea typeface="+mn-ea"/>
          <a:cs typeface="+mn-cs"/>
          <a:sym typeface="Helvetica" charset="0"/>
        </a:defRPr>
      </a:lvl3pPr>
      <a:lvl4pPr marL="1778000" indent="-444500" algn="l" defTabSz="584200" rtl="0" fontAlgn="base" hangingPunct="0">
        <a:lnSpc>
          <a:spcPct val="90000"/>
        </a:lnSpc>
        <a:spcBef>
          <a:spcPts val="2600"/>
        </a:spcBef>
        <a:spcAft>
          <a:spcPct val="0"/>
        </a:spcAft>
        <a:buSzPct val="75000"/>
        <a:buChar char="•"/>
        <a:defRPr sz="3600" b="1" kern="1200">
          <a:solidFill>
            <a:srgbClr val="000000"/>
          </a:solidFill>
          <a:latin typeface="+mn-lt"/>
          <a:ea typeface="+mn-ea"/>
          <a:cs typeface="+mn-cs"/>
          <a:sym typeface="Helvetica" charset="0"/>
        </a:defRPr>
      </a:lvl4pPr>
      <a:lvl5pPr marL="2222500" indent="-444500" algn="l" defTabSz="584200" rtl="0" fontAlgn="base" hangingPunct="0">
        <a:lnSpc>
          <a:spcPct val="90000"/>
        </a:lnSpc>
        <a:spcBef>
          <a:spcPts val="2600"/>
        </a:spcBef>
        <a:spcAft>
          <a:spcPct val="0"/>
        </a:spcAft>
        <a:buSzPct val="75000"/>
        <a:buChar char="•"/>
        <a:defRPr sz="3600" b="1" kern="1200">
          <a:solidFill>
            <a:srgbClr val="000000"/>
          </a:solidFill>
          <a:latin typeface="+mn-lt"/>
          <a:ea typeface="+mn-ea"/>
          <a:cs typeface="+mn-cs"/>
          <a:sym typeface="Helvetic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levine@seas.harvard.edu" TargetMode="External"/><Relationship Id="rId4" Type="http://schemas.openxmlformats.org/officeDocument/2006/relationships/hyperlink" Target="mailto:ziweiqiu@g.harvard.edu"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dam.brown.edu/documents/WhatisAppliedMathematicsPresentation_000.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 Id="rId3" Type="http://schemas.openxmlformats.org/officeDocument/2006/relationships/image" Target="../media/image1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jpeg"/><Relationship Id="rId5" Type="http://schemas.openxmlformats.org/officeDocument/2006/relationships/image" Target="../media/image21.jpeg"/><Relationship Id="rId1" Type="http://schemas.openxmlformats.org/officeDocument/2006/relationships/slideLayout" Target="../slideLayouts/slideLayout2.xml"/><Relationship Id="rId2"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4" Type="http://schemas.openxmlformats.org/officeDocument/2006/relationships/image" Target="../media/image24.jpeg"/><Relationship Id="rId1" Type="http://schemas.openxmlformats.org/officeDocument/2006/relationships/slideLayout" Target="../slideLayouts/slideLayout2.xml"/><Relationship Id="rId2"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jpe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4" Type="http://schemas.openxmlformats.org/officeDocument/2006/relationships/image" Target="../media/image29.jpeg"/><Relationship Id="rId5"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image" Target="../media/image2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ki.harvard.edu/confluence/display/fasmatlab/MATLAB+Boot+Camp+Hom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jpeg"/><Relationship Id="rId5" Type="http://schemas.openxmlformats.org/officeDocument/2006/relationships/image" Target="../media/image40.jpeg"/><Relationship Id="rId1" Type="http://schemas.openxmlformats.org/officeDocument/2006/relationships/slideLayout" Target="../slideLayouts/slideLayout2.xml"/><Relationship Id="rId2" Type="http://schemas.openxmlformats.org/officeDocument/2006/relationships/image" Target="../media/image3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jpeg"/><Relationship Id="rId4" Type="http://schemas.openxmlformats.org/officeDocument/2006/relationships/image" Target="../media/image46.jpeg"/><Relationship Id="rId5" Type="http://schemas.openxmlformats.org/officeDocument/2006/relationships/image" Target="../media/image47.png"/><Relationship Id="rId6" Type="http://schemas.openxmlformats.org/officeDocument/2006/relationships/image" Target="../media/image48.jpeg"/><Relationship Id="rId7" Type="http://schemas.openxmlformats.org/officeDocument/2006/relationships/image" Target="../media/image1.png"/><Relationship Id="rId8" Type="http://schemas.openxmlformats.org/officeDocument/2006/relationships/image" Target="../media/image49.jpeg"/><Relationship Id="rId9" Type="http://schemas.openxmlformats.org/officeDocument/2006/relationships/image" Target="../media/image50.jpeg"/><Relationship Id="rId10" Type="http://schemas.openxmlformats.org/officeDocument/2006/relationships/image" Target="../media/image51.jpeg"/><Relationship Id="rId11" Type="http://schemas.openxmlformats.org/officeDocument/2006/relationships/image" Target="../media/image52.jpeg"/><Relationship Id="rId1" Type="http://schemas.openxmlformats.org/officeDocument/2006/relationships/slideLayout" Target="../slideLayouts/slideLayout2.xml"/><Relationship Id="rId2"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4" Type="http://schemas.openxmlformats.org/officeDocument/2006/relationships/image" Target="../media/image56.png"/><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100.png"/><Relationship Id="rId4" Type="http://schemas.openxmlformats.org/officeDocument/2006/relationships/image" Target="../media/image110.png"/><Relationship Id="rId1" Type="http://schemas.openxmlformats.org/officeDocument/2006/relationships/slideLayout" Target="../slideLayouts/slideLayout2.xml"/><Relationship Id="rId2" Type="http://schemas.openxmlformats.org/officeDocument/2006/relationships/image" Target="../media/image5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Grp="1" noChangeArrowheads="1"/>
          </p:cNvSpPr>
          <p:nvPr>
            <p:ph type="ctrTitle"/>
          </p:nvPr>
        </p:nvSpPr>
        <p:spPr>
          <a:xfrm>
            <a:off x="1392238" y="1760538"/>
            <a:ext cx="10464800" cy="3302000"/>
          </a:xfrm>
        </p:spPr>
        <p:txBody>
          <a:bodyPr/>
          <a:lstStyle/>
          <a:p>
            <a:r>
              <a:rPr lang="en-US" altLang="en-US" sz="6400"/>
              <a:t>Applied Math 50:</a:t>
            </a:r>
            <a:br>
              <a:rPr lang="en-US" altLang="en-US" sz="6400"/>
            </a:br>
            <a:r>
              <a:rPr lang="en-US" altLang="en-US" sz="6400"/>
              <a:t>Introduction to Applied Mathematics</a:t>
            </a:r>
          </a:p>
        </p:txBody>
      </p:sp>
      <p:sp>
        <p:nvSpPr>
          <p:cNvPr id="3074" name="Rectangle 2"/>
          <p:cNvSpPr>
            <a:spLocks noGrp="1" noChangeArrowheads="1"/>
          </p:cNvSpPr>
          <p:nvPr>
            <p:ph type="subTitle" sz="quarter" idx="1"/>
          </p:nvPr>
        </p:nvSpPr>
        <p:spPr>
          <a:xfrm>
            <a:off x="971550" y="5967413"/>
            <a:ext cx="5759450" cy="1692275"/>
          </a:xfrm>
        </p:spPr>
        <p:txBody>
          <a:bodyPr anchor="t"/>
          <a:lstStyle/>
          <a:p>
            <a:pPr defTabSz="547688">
              <a:lnSpc>
                <a:spcPct val="100000"/>
              </a:lnSpc>
              <a:spcBef>
                <a:spcPct val="0"/>
              </a:spcBef>
              <a:buSzTx/>
            </a:pPr>
            <a:r>
              <a:rPr lang="en-US" altLang="en-US" sz="3300" dirty="0" smtClean="0"/>
              <a:t>Margo Levine</a:t>
            </a:r>
          </a:p>
          <a:p>
            <a:pPr defTabSz="547688">
              <a:lnSpc>
                <a:spcPct val="100000"/>
              </a:lnSpc>
              <a:spcBef>
                <a:spcPct val="0"/>
              </a:spcBef>
              <a:buSzTx/>
            </a:pPr>
            <a:r>
              <a:rPr lang="en-US" altLang="en-US" sz="3300" dirty="0" smtClean="0"/>
              <a:t>Pierce </a:t>
            </a:r>
            <a:r>
              <a:rPr lang="en-US" altLang="en-US" sz="3300" smtClean="0"/>
              <a:t>Hall 207A</a:t>
            </a:r>
            <a:endParaRPr lang="en-US" altLang="en-US" sz="3300" dirty="0"/>
          </a:p>
          <a:p>
            <a:pPr defTabSz="547688">
              <a:lnSpc>
                <a:spcPct val="100000"/>
              </a:lnSpc>
              <a:spcBef>
                <a:spcPct val="0"/>
              </a:spcBef>
              <a:buSzTx/>
            </a:pPr>
            <a:r>
              <a:rPr lang="en-US" altLang="en-US" sz="3300" u="sng" dirty="0" smtClean="0">
                <a:hlinkClick r:id="rId3"/>
              </a:rPr>
              <a:t>mlevine@seas.harvard.edu</a:t>
            </a:r>
            <a:endParaRPr lang="en-US" altLang="en-US" sz="3300" u="sng" dirty="0" smtClean="0"/>
          </a:p>
          <a:p>
            <a:pPr defTabSz="547688">
              <a:lnSpc>
                <a:spcPct val="100000"/>
              </a:lnSpc>
              <a:spcBef>
                <a:spcPct val="0"/>
              </a:spcBef>
              <a:buSzTx/>
            </a:pPr>
            <a:endParaRPr lang="en-US" altLang="en-US" sz="3300" dirty="0"/>
          </a:p>
        </p:txBody>
      </p:sp>
      <p:sp>
        <p:nvSpPr>
          <p:cNvPr id="3075" name="Rectangle 3"/>
          <p:cNvSpPr>
            <a:spLocks/>
          </p:cNvSpPr>
          <p:nvPr/>
        </p:nvSpPr>
        <p:spPr bwMode="auto">
          <a:xfrm>
            <a:off x="7285038" y="6000750"/>
            <a:ext cx="4746625"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lstStyle>
            <a:lvl1pPr defTabSz="542925">
              <a:defRPr sz="3600">
                <a:solidFill>
                  <a:srgbClr val="000000"/>
                </a:solidFill>
                <a:latin typeface="Helvetica Light" charset="0"/>
                <a:ea typeface="Helvetica Light" charset="0"/>
                <a:cs typeface="Helvetica Light" charset="0"/>
                <a:sym typeface="Helvetica Light" charset="0"/>
              </a:defRPr>
            </a:lvl1pPr>
            <a:lvl2pPr defTabSz="542925">
              <a:defRPr sz="3600">
                <a:solidFill>
                  <a:srgbClr val="000000"/>
                </a:solidFill>
                <a:latin typeface="Helvetica Light" charset="0"/>
                <a:ea typeface="Helvetica Light" charset="0"/>
                <a:cs typeface="Helvetica Light" charset="0"/>
                <a:sym typeface="Helvetica Light" charset="0"/>
              </a:defRPr>
            </a:lvl2pPr>
            <a:lvl3pPr defTabSz="542925">
              <a:defRPr sz="3600">
                <a:solidFill>
                  <a:srgbClr val="000000"/>
                </a:solidFill>
                <a:latin typeface="Helvetica Light" charset="0"/>
                <a:ea typeface="Helvetica Light" charset="0"/>
                <a:cs typeface="Helvetica Light" charset="0"/>
                <a:sym typeface="Helvetica Light" charset="0"/>
              </a:defRPr>
            </a:lvl3pPr>
            <a:lvl4pPr defTabSz="542925">
              <a:defRPr sz="3600">
                <a:solidFill>
                  <a:srgbClr val="000000"/>
                </a:solidFill>
                <a:latin typeface="Helvetica Light" charset="0"/>
                <a:ea typeface="Helvetica Light" charset="0"/>
                <a:cs typeface="Helvetica Light" charset="0"/>
                <a:sym typeface="Helvetica Light" charset="0"/>
              </a:defRPr>
            </a:lvl4pPr>
            <a:lvl5pPr defTabSz="542925">
              <a:defRPr sz="3600">
                <a:solidFill>
                  <a:srgbClr val="000000"/>
                </a:solidFill>
                <a:latin typeface="Helvetica Light" charset="0"/>
                <a:ea typeface="Helvetica Light" charset="0"/>
                <a:cs typeface="Helvetica Light" charset="0"/>
                <a:sym typeface="Helvetica Light" charset="0"/>
              </a:defRPr>
            </a:lvl5pPr>
            <a:lvl6pPr marL="457200" indent="914400" algn="ctr" defTabSz="542925"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6pPr>
            <a:lvl7pPr marL="914400" indent="914400" algn="ctr" defTabSz="542925"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7pPr>
            <a:lvl8pPr marL="1371600" indent="914400" algn="ctr" defTabSz="542925"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8pPr>
            <a:lvl9pPr marL="1828800" indent="914400" algn="ctr" defTabSz="542925"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9pPr>
          </a:lstStyle>
          <a:p>
            <a:r>
              <a:rPr lang="en-US" altLang="en-US" sz="2800" b="1" dirty="0" err="1" smtClean="0">
                <a:latin typeface="Helvetica" charset="0"/>
                <a:ea typeface="Helvetica" charset="0"/>
                <a:cs typeface="Helvetica" charset="0"/>
                <a:sym typeface="Helvetica" charset="0"/>
              </a:rPr>
              <a:t>Ziwei</a:t>
            </a:r>
            <a:r>
              <a:rPr lang="en-US" altLang="en-US" sz="2800" b="1" dirty="0" smtClean="0">
                <a:latin typeface="Helvetica" charset="0"/>
                <a:ea typeface="Helvetica" charset="0"/>
                <a:cs typeface="Helvetica" charset="0"/>
                <a:sym typeface="Helvetica" charset="0"/>
              </a:rPr>
              <a:t> </a:t>
            </a:r>
            <a:r>
              <a:rPr lang="en-US" altLang="en-US" sz="2800" b="1" dirty="0" err="1" smtClean="0">
                <a:latin typeface="Helvetica" charset="0"/>
                <a:ea typeface="Helvetica" charset="0"/>
                <a:cs typeface="Helvetica" charset="0"/>
                <a:sym typeface="Helvetica" charset="0"/>
              </a:rPr>
              <a:t>Qiu</a:t>
            </a:r>
            <a:r>
              <a:rPr lang="en-US" altLang="en-US" sz="2800" b="1" dirty="0" smtClean="0">
                <a:latin typeface="Helvetica" charset="0"/>
                <a:ea typeface="Helvetica" charset="0"/>
                <a:cs typeface="Helvetica" charset="0"/>
                <a:sym typeface="Helvetica" charset="0"/>
              </a:rPr>
              <a:t>(TF</a:t>
            </a:r>
            <a:r>
              <a:rPr lang="en-US" altLang="en-US" sz="2800" b="1" dirty="0">
                <a:latin typeface="Helvetica" charset="0"/>
                <a:ea typeface="Helvetica" charset="0"/>
                <a:cs typeface="Helvetica" charset="0"/>
                <a:sym typeface="Helvetica" charset="0"/>
              </a:rPr>
              <a:t>)</a:t>
            </a:r>
          </a:p>
          <a:p>
            <a:endParaRPr lang="en-US" altLang="en-US" sz="2800" b="1" dirty="0">
              <a:latin typeface="Helvetica" charset="0"/>
              <a:ea typeface="Helvetica" charset="0"/>
              <a:cs typeface="Helvetica" charset="0"/>
              <a:sym typeface="Helvetica" charset="0"/>
            </a:endParaRPr>
          </a:p>
          <a:p>
            <a:r>
              <a:rPr lang="en-US" sz="2800" b="1" dirty="0" smtClean="0">
                <a:hlinkClick r:id="rId4"/>
              </a:rPr>
              <a:t>ziweiqiu@g.harvard.edu</a:t>
            </a:r>
            <a:endParaRPr lang="en-US" sz="2800" b="1" dirty="0" smtClean="0"/>
          </a:p>
          <a:p>
            <a:endParaRPr lang="en-US" sz="2800" b="1" dirty="0" smtClean="0"/>
          </a:p>
          <a:p>
            <a:endParaRPr lang="en-US" altLang="en-US" sz="2800" b="1" dirty="0">
              <a:latin typeface="Helvetica" charset="0"/>
              <a:ea typeface="Helvetica" charset="0"/>
              <a:cs typeface="Helvetica" charset="0"/>
              <a:sym typeface="Helvetica" charset="0"/>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436563" y="444500"/>
            <a:ext cx="12130087" cy="2159000"/>
          </a:xfrm>
        </p:spPr>
        <p:txBody>
          <a:bodyPr/>
          <a:lstStyle/>
          <a:p>
            <a:r>
              <a:rPr lang="en-US" altLang="en-US"/>
              <a:t>Overview of today</a:t>
            </a:r>
          </a:p>
        </p:txBody>
      </p:sp>
      <p:sp>
        <p:nvSpPr>
          <p:cNvPr id="4098" name="Rectangle 2"/>
          <p:cNvSpPr>
            <a:spLocks noGrp="1" noChangeArrowheads="1"/>
          </p:cNvSpPr>
          <p:nvPr>
            <p:ph type="body" idx="1"/>
          </p:nvPr>
        </p:nvSpPr>
        <p:spPr/>
        <p:txBody>
          <a:bodyPr/>
          <a:lstStyle/>
          <a:p>
            <a:pPr marL="635000" indent="-635000">
              <a:buSzPct val="100000"/>
              <a:buFontTx/>
              <a:buAutoNum type="arabicPeriod"/>
            </a:pPr>
            <a:r>
              <a:rPr lang="en-US" altLang="en-US"/>
              <a:t>What is applied mathematics and why should you take this course?</a:t>
            </a:r>
          </a:p>
          <a:p>
            <a:pPr marL="635000" indent="-635000">
              <a:buSzPct val="100000"/>
              <a:buFontTx/>
              <a:buAutoNum type="arabicPeriod"/>
            </a:pPr>
            <a:r>
              <a:rPr lang="en-US" altLang="en-US"/>
              <a:t>Course organization</a:t>
            </a:r>
          </a:p>
          <a:p>
            <a:pPr marL="635000" indent="-635000">
              <a:buSzPct val="100000"/>
              <a:buFontTx/>
              <a:buAutoNum type="arabicPeriod"/>
            </a:pPr>
            <a:r>
              <a:rPr lang="en-US" altLang="en-US"/>
              <a:t>Topic for the first week: a simple mathematical model for sport competitions</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36563" y="444500"/>
            <a:ext cx="12130087" cy="2159000"/>
          </a:xfrm>
        </p:spPr>
        <p:txBody>
          <a:bodyPr/>
          <a:lstStyle/>
          <a:p>
            <a:r>
              <a:rPr lang="en-US" altLang="en-US"/>
              <a:t>History of AM50</a:t>
            </a:r>
          </a:p>
        </p:txBody>
      </p:sp>
      <p:sp>
        <p:nvSpPr>
          <p:cNvPr id="5122" name="Rectangle 2"/>
          <p:cNvSpPr>
            <a:spLocks noGrp="1" noChangeArrowheads="1"/>
          </p:cNvSpPr>
          <p:nvPr>
            <p:ph type="body" idx="1"/>
          </p:nvPr>
        </p:nvSpPr>
        <p:spPr/>
        <p:txBody>
          <a:bodyPr/>
          <a:lstStyle/>
          <a:p>
            <a:r>
              <a:rPr lang="en-US" altLang="en-US"/>
              <a:t>Started in 2009</a:t>
            </a:r>
          </a:p>
          <a:p>
            <a:r>
              <a:rPr lang="en-US" altLang="en-US"/>
              <a:t>Most applied math courses focus primarily on techniques and methods (Math 1b, Applied Math 21a, </a:t>
            </a:r>
            <a:r>
              <a:rPr lang="en-US" altLang="en-US" i="1"/>
              <a:t>etc.</a:t>
            </a:r>
            <a:r>
              <a:rPr lang="en-US" altLang="en-US"/>
              <a:t>)</a:t>
            </a:r>
          </a:p>
          <a:p>
            <a:r>
              <a:rPr lang="en-US" altLang="en-US"/>
              <a:t>This course has been designed to provide a broader overview of what it means to study applied mathematics, by showing through examples about how simple mathematical ideas have had a large impact</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xfrm>
            <a:off x="-1631950" y="25400"/>
            <a:ext cx="12128500" cy="2159000"/>
          </a:xfrm>
        </p:spPr>
        <p:txBody>
          <a:bodyPr/>
          <a:lstStyle/>
          <a:p>
            <a:r>
              <a:rPr lang="en-US" altLang="en-US"/>
              <a:t>Isn’t applied math …</a:t>
            </a:r>
          </a:p>
        </p:txBody>
      </p:sp>
      <p:sp>
        <p:nvSpPr>
          <p:cNvPr id="6146" name="Rectangle 2"/>
          <p:cNvSpPr>
            <a:spLocks/>
          </p:cNvSpPr>
          <p:nvPr/>
        </p:nvSpPr>
        <p:spPr bwMode="auto">
          <a:xfrm>
            <a:off x="436563" y="1714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kind of like engineering?</a:t>
            </a:r>
          </a:p>
        </p:txBody>
      </p:sp>
      <p:sp>
        <p:nvSpPr>
          <p:cNvPr id="6147" name="Rectangle 3"/>
          <p:cNvSpPr>
            <a:spLocks/>
          </p:cNvSpPr>
          <p:nvPr/>
        </p:nvSpPr>
        <p:spPr bwMode="auto">
          <a:xfrm>
            <a:off x="879475" y="3827463"/>
            <a:ext cx="91614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900" b="1">
                <a:solidFill>
                  <a:srgbClr val="53585F"/>
                </a:solidFill>
                <a:latin typeface="Helvetica" charset="0"/>
                <a:ea typeface="Helvetica" charset="0"/>
                <a:cs typeface="Helvetica" charset="0"/>
                <a:sym typeface="Helvetica" charset="0"/>
              </a:rPr>
              <a:t>Both seem interested in solving practical problems.</a:t>
            </a:r>
          </a:p>
        </p:txBody>
      </p:sp>
      <p:sp>
        <p:nvSpPr>
          <p:cNvPr id="6148" name="Rectangle 4"/>
          <p:cNvSpPr>
            <a:spLocks/>
          </p:cNvSpPr>
          <p:nvPr/>
        </p:nvSpPr>
        <p:spPr bwMode="auto">
          <a:xfrm>
            <a:off x="1082675" y="4818063"/>
            <a:ext cx="72564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900" b="1">
                <a:solidFill>
                  <a:srgbClr val="53585F"/>
                </a:solidFill>
                <a:latin typeface="Helvetica" charset="0"/>
                <a:ea typeface="Helvetica" charset="0"/>
                <a:cs typeface="Helvetica" charset="0"/>
                <a:sym typeface="Helvetica" charset="0"/>
              </a:rPr>
              <a:t>Both use math and computer simulation.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dissolve">
                                      <p:cBhvr>
                                        <p:cTn id="7" dur="500"/>
                                        <p:tgtEl>
                                          <p:spTgt spid="6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dissolve">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1631950" y="25400"/>
            <a:ext cx="12128500" cy="2159000"/>
          </a:xfrm>
        </p:spPr>
        <p:txBody>
          <a:bodyPr/>
          <a:lstStyle/>
          <a:p>
            <a:r>
              <a:rPr lang="en-US" altLang="en-US"/>
              <a:t>Isn’t applied math …</a:t>
            </a:r>
          </a:p>
        </p:txBody>
      </p:sp>
      <p:sp>
        <p:nvSpPr>
          <p:cNvPr id="7170" name="Rectangle 2"/>
          <p:cNvSpPr>
            <a:spLocks/>
          </p:cNvSpPr>
          <p:nvPr/>
        </p:nvSpPr>
        <p:spPr bwMode="auto">
          <a:xfrm>
            <a:off x="436563" y="1714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kind of like engineering?</a:t>
            </a:r>
          </a:p>
        </p:txBody>
      </p:sp>
      <p:sp>
        <p:nvSpPr>
          <p:cNvPr id="7171" name="Rectangle 3"/>
          <p:cNvSpPr>
            <a:spLocks/>
          </p:cNvSpPr>
          <p:nvPr/>
        </p:nvSpPr>
        <p:spPr bwMode="auto">
          <a:xfrm>
            <a:off x="436563" y="3513138"/>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kind of like physics?</a:t>
            </a:r>
          </a:p>
        </p:txBody>
      </p:sp>
      <p:sp>
        <p:nvSpPr>
          <p:cNvPr id="7172" name="Rectangle 4"/>
          <p:cNvSpPr>
            <a:spLocks/>
          </p:cNvSpPr>
          <p:nvPr/>
        </p:nvSpPr>
        <p:spPr bwMode="auto">
          <a:xfrm>
            <a:off x="382588" y="5478463"/>
            <a:ext cx="9977437"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900" b="1">
                <a:solidFill>
                  <a:srgbClr val="53585F"/>
                </a:solidFill>
                <a:latin typeface="Helvetica" charset="0"/>
                <a:ea typeface="Helvetica" charset="0"/>
                <a:cs typeface="Helvetica" charset="0"/>
                <a:sym typeface="Helvetica" charset="0"/>
              </a:rPr>
              <a:t>Both are interested in understanding the physical world.</a:t>
            </a:r>
          </a:p>
        </p:txBody>
      </p:sp>
      <p:sp>
        <p:nvSpPr>
          <p:cNvPr id="7173" name="Rectangle 5"/>
          <p:cNvSpPr>
            <a:spLocks/>
          </p:cNvSpPr>
          <p:nvPr/>
        </p:nvSpPr>
        <p:spPr bwMode="auto">
          <a:xfrm>
            <a:off x="949325" y="6311900"/>
            <a:ext cx="1067435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r>
              <a:rPr lang="en-US" altLang="en-US" sz="2900" b="1">
                <a:solidFill>
                  <a:srgbClr val="53585F"/>
                </a:solidFill>
                <a:latin typeface="Helvetica" charset="0"/>
                <a:ea typeface="Helvetica" charset="0"/>
                <a:cs typeface="Helvetica" charset="0"/>
                <a:sym typeface="Helvetica" charset="0"/>
              </a:rPr>
              <a:t>You can take courses in mechanics (</a:t>
            </a:r>
            <a:r>
              <a:rPr lang="en-US" altLang="en-US" sz="2900" b="1" i="1">
                <a:solidFill>
                  <a:srgbClr val="53585F"/>
                </a:solidFill>
                <a:latin typeface="Helvetica" charset="0"/>
                <a:ea typeface="Helvetica" charset="0"/>
                <a:cs typeface="Helvetica" charset="0"/>
                <a:sym typeface="Helvetica" charset="0"/>
              </a:rPr>
              <a:t>e.g.</a:t>
            </a:r>
            <a:r>
              <a:rPr lang="en-US" altLang="en-US" sz="2900" b="1">
                <a:solidFill>
                  <a:srgbClr val="53585F"/>
                </a:solidFill>
                <a:latin typeface="Helvetica" charset="0"/>
                <a:ea typeface="Helvetica" charset="0"/>
                <a:cs typeface="Helvetica" charset="0"/>
                <a:sym typeface="Helvetica" charset="0"/>
              </a:rPr>
              <a:t> Newton’s laws) in physics and math departments.</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dissolve">
                                      <p:cBhvr>
                                        <p:cTn id="7" dur="500"/>
                                        <p:tgtEl>
                                          <p:spTgt spid="7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73"/>
                                        </p:tgtEl>
                                        <p:attrNameLst>
                                          <p:attrName>style.visibility</p:attrName>
                                        </p:attrNameLst>
                                      </p:cBhvr>
                                      <p:to>
                                        <p:strVal val="visible"/>
                                      </p:to>
                                    </p:set>
                                    <p:animEffect transition="in" filter="dissolve">
                                      <p:cBhvr>
                                        <p:cTn id="12"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utoUpdateAnimBg="0"/>
      <p:bldP spid="717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1631950" y="25400"/>
            <a:ext cx="12128500" cy="2159000"/>
          </a:xfrm>
        </p:spPr>
        <p:txBody>
          <a:bodyPr/>
          <a:lstStyle/>
          <a:p>
            <a:r>
              <a:rPr lang="en-US" altLang="en-US"/>
              <a:t>Isn’t applied math …</a:t>
            </a:r>
          </a:p>
        </p:txBody>
      </p:sp>
      <p:sp>
        <p:nvSpPr>
          <p:cNvPr id="8194" name="Rectangle 2"/>
          <p:cNvSpPr>
            <a:spLocks/>
          </p:cNvSpPr>
          <p:nvPr/>
        </p:nvSpPr>
        <p:spPr bwMode="auto">
          <a:xfrm>
            <a:off x="436563" y="1714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kind of like engineering?</a:t>
            </a:r>
          </a:p>
        </p:txBody>
      </p:sp>
      <p:sp>
        <p:nvSpPr>
          <p:cNvPr id="8195" name="Rectangle 3"/>
          <p:cNvSpPr>
            <a:spLocks/>
          </p:cNvSpPr>
          <p:nvPr/>
        </p:nvSpPr>
        <p:spPr bwMode="auto">
          <a:xfrm>
            <a:off x="436563" y="3513138"/>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kind of like physics?</a:t>
            </a:r>
          </a:p>
        </p:txBody>
      </p:sp>
      <p:sp>
        <p:nvSpPr>
          <p:cNvPr id="8196" name="Rectangle 4"/>
          <p:cNvSpPr>
            <a:spLocks/>
          </p:cNvSpPr>
          <p:nvPr/>
        </p:nvSpPr>
        <p:spPr bwMode="auto">
          <a:xfrm>
            <a:off x="436563" y="5311775"/>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 a subset of math?</a:t>
            </a:r>
          </a:p>
        </p:txBody>
      </p:sp>
      <p:sp>
        <p:nvSpPr>
          <p:cNvPr id="8197" name="Rectangle 5"/>
          <p:cNvSpPr>
            <a:spLocks/>
          </p:cNvSpPr>
          <p:nvPr/>
        </p:nvSpPr>
        <p:spPr bwMode="auto">
          <a:xfrm>
            <a:off x="1328738" y="7289800"/>
            <a:ext cx="8301037"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gn="l"/>
            <a:r>
              <a:rPr lang="en-US" altLang="en-US" sz="2900" b="1">
                <a:solidFill>
                  <a:srgbClr val="53585F"/>
                </a:solidFill>
                <a:latin typeface="Helvetica" charset="0"/>
                <a:ea typeface="Helvetica" charset="0"/>
                <a:cs typeface="Helvetica" charset="0"/>
                <a:sym typeface="Helvetica" charset="0"/>
              </a:rPr>
              <a:t>Why make a distinction at all?</a:t>
            </a:r>
          </a:p>
          <a:p>
            <a:pPr algn="l"/>
            <a:r>
              <a:rPr lang="en-US" altLang="en-US" sz="2900" b="1">
                <a:solidFill>
                  <a:srgbClr val="53585F"/>
                </a:solidFill>
                <a:latin typeface="Helvetica" charset="0"/>
                <a:ea typeface="Helvetica" charset="0"/>
                <a:cs typeface="Helvetica" charset="0"/>
                <a:sym typeface="Helvetica" charset="0"/>
              </a:rPr>
              <a:t>Many universities just have math departments.</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dissolve">
                                      <p:cBhvr>
                                        <p:cTn id="7" dur="500"/>
                                        <p:tgtEl>
                                          <p:spTgt spid="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436563" y="-38100"/>
            <a:ext cx="12130087" cy="2159000"/>
          </a:xfrm>
        </p:spPr>
        <p:txBody>
          <a:bodyPr/>
          <a:lstStyle/>
          <a:p>
            <a:r>
              <a:rPr lang="en-US" altLang="en-US"/>
              <a:t>Quotes</a:t>
            </a:r>
          </a:p>
        </p:txBody>
      </p:sp>
      <p:sp>
        <p:nvSpPr>
          <p:cNvPr id="9218" name="Rectangle 2"/>
          <p:cNvSpPr>
            <a:spLocks/>
          </p:cNvSpPr>
          <p:nvPr/>
        </p:nvSpPr>
        <p:spPr bwMode="auto">
          <a:xfrm>
            <a:off x="1416050" y="1716088"/>
            <a:ext cx="10171113" cy="833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700" b="1" i="1">
                <a:latin typeface="Helvetica" charset="0"/>
                <a:ea typeface="Helvetica" charset="0"/>
                <a:cs typeface="Helvetica" charset="0"/>
                <a:sym typeface="Helvetica" charset="0"/>
              </a:rPr>
              <a:t>“I describe applied mathematics as the bridge connecting pure mathematics with science and technology.”</a:t>
            </a:r>
          </a:p>
        </p:txBody>
      </p:sp>
      <p:sp>
        <p:nvSpPr>
          <p:cNvPr id="9219" name="Rectangle 3"/>
          <p:cNvSpPr>
            <a:spLocks/>
          </p:cNvSpPr>
          <p:nvPr/>
        </p:nvSpPr>
        <p:spPr bwMode="auto">
          <a:xfrm>
            <a:off x="9255125" y="2544763"/>
            <a:ext cx="30480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r"/>
            <a:r>
              <a:rPr lang="en-US" altLang="en-US" sz="2700" b="1">
                <a:latin typeface="Helvetica" charset="0"/>
                <a:ea typeface="Helvetica" charset="0"/>
                <a:cs typeface="Helvetica" charset="0"/>
                <a:sym typeface="Helvetica" charset="0"/>
              </a:rPr>
              <a:t>W. Prager, 1972</a:t>
            </a:r>
          </a:p>
        </p:txBody>
      </p:sp>
      <p:sp>
        <p:nvSpPr>
          <p:cNvPr id="9220" name="Rectangle 4"/>
          <p:cNvSpPr>
            <a:spLocks/>
          </p:cNvSpPr>
          <p:nvPr/>
        </p:nvSpPr>
        <p:spPr bwMode="auto">
          <a:xfrm>
            <a:off x="1416050" y="3289300"/>
            <a:ext cx="10171113" cy="278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700" b="1" i="1" dirty="0">
                <a:latin typeface="Helvetica" charset="0"/>
                <a:ea typeface="Helvetica" charset="0"/>
                <a:cs typeface="Helvetica" charset="0"/>
                <a:sym typeface="Helvetica" charset="0"/>
              </a:rPr>
              <a:t>“One should not judge applied mathematicians by their contributions to mathematics any more than one judges historians by their contributions to history. Much creative effort goes into interpretation. To try to use mathematical ideas on problems which at first sight seem too complex or obscurely stated to fit any pattern is, for many people, an exciting challenge and it is this which I feel to be the essence of applied mathematics.”</a:t>
            </a:r>
          </a:p>
        </p:txBody>
      </p:sp>
      <p:sp>
        <p:nvSpPr>
          <p:cNvPr id="9221" name="Rectangle 5"/>
          <p:cNvSpPr>
            <a:spLocks/>
          </p:cNvSpPr>
          <p:nvPr/>
        </p:nvSpPr>
        <p:spPr bwMode="auto">
          <a:xfrm>
            <a:off x="9255125" y="6167438"/>
            <a:ext cx="30480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r"/>
            <a:r>
              <a:rPr lang="en-US" altLang="en-US" sz="2700" b="1">
                <a:latin typeface="Helvetica" charset="0"/>
                <a:ea typeface="Helvetica" charset="0"/>
                <a:cs typeface="Helvetica" charset="0"/>
                <a:sym typeface="Helvetica" charset="0"/>
              </a:rPr>
              <a:t>R. Brockett, 1972</a:t>
            </a:r>
          </a:p>
        </p:txBody>
      </p:sp>
      <p:sp>
        <p:nvSpPr>
          <p:cNvPr id="9222" name="Rectangle 6"/>
          <p:cNvSpPr>
            <a:spLocks/>
          </p:cNvSpPr>
          <p:nvPr/>
        </p:nvSpPr>
        <p:spPr bwMode="auto">
          <a:xfrm>
            <a:off x="1416050" y="7116763"/>
            <a:ext cx="10171113" cy="180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700" b="1" i="1" dirty="0">
                <a:latin typeface="Helvetica" charset="0"/>
                <a:ea typeface="Helvetica" charset="0"/>
                <a:cs typeface="Helvetica" charset="0"/>
                <a:sym typeface="Helvetica" charset="0"/>
              </a:rPr>
              <a:t>“The miracle of the appropriateness of the language of mathematics for the formulation of the laws of physics is a wonderful gift for which we neither understand nor deserve. We should be grateful for it, and hope that it will remain valid … to wide branches of learning.”</a:t>
            </a:r>
          </a:p>
        </p:txBody>
      </p:sp>
      <p:sp>
        <p:nvSpPr>
          <p:cNvPr id="9223" name="Rectangle 7"/>
          <p:cNvSpPr>
            <a:spLocks/>
          </p:cNvSpPr>
          <p:nvPr/>
        </p:nvSpPr>
        <p:spPr bwMode="auto">
          <a:xfrm>
            <a:off x="9245600" y="8886825"/>
            <a:ext cx="30480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r"/>
            <a:r>
              <a:rPr lang="en-US" altLang="en-US" sz="2700" b="1">
                <a:latin typeface="Helvetica" charset="0"/>
                <a:ea typeface="Helvetica" charset="0"/>
                <a:cs typeface="Helvetica" charset="0"/>
                <a:sym typeface="Helvetica" charset="0"/>
              </a:rPr>
              <a:t>E. </a:t>
            </a:r>
            <a:r>
              <a:rPr lang="en-US" altLang="en-US" sz="2700" b="1" dirty="0">
                <a:latin typeface="Helvetica" charset="0"/>
                <a:ea typeface="Helvetica" charset="0"/>
                <a:cs typeface="Helvetica" charset="0"/>
                <a:sym typeface="Helvetica" charset="0"/>
              </a:rPr>
              <a:t>Wigner, 1960</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436563" y="444500"/>
            <a:ext cx="12130087" cy="2159000"/>
          </a:xfrm>
        </p:spPr>
        <p:txBody>
          <a:bodyPr/>
          <a:lstStyle/>
          <a:p>
            <a:r>
              <a:rPr lang="en-US" altLang="en-US"/>
              <a:t>Summary</a:t>
            </a:r>
          </a:p>
        </p:txBody>
      </p:sp>
      <p:sp>
        <p:nvSpPr>
          <p:cNvPr id="10242" name="Rectangle 2"/>
          <p:cNvSpPr>
            <a:spLocks noGrp="1" noChangeArrowheads="1"/>
          </p:cNvSpPr>
          <p:nvPr>
            <p:ph type="body" idx="1"/>
          </p:nvPr>
        </p:nvSpPr>
        <p:spPr>
          <a:xfrm>
            <a:off x="952500" y="2305050"/>
            <a:ext cx="11099800" cy="6286500"/>
          </a:xfrm>
        </p:spPr>
        <p:txBody>
          <a:bodyPr/>
          <a:lstStyle/>
          <a:p>
            <a:pPr marL="373063" indent="-373063" defTabSz="490538">
              <a:spcBef>
                <a:spcPts val="2100"/>
              </a:spcBef>
            </a:pPr>
            <a:r>
              <a:rPr lang="en-US" altLang="en-US" sz="3000" dirty="0"/>
              <a:t>Applied Mathematics is an inherently interdisciplinary subject, which covers a wide spectrum of scientific activities. It is the mathematics dealing with problems arising in the physical, life and social sciences as well as in engineering, and provides a broad qualitative and quantitative background for use in these fields.</a:t>
            </a:r>
          </a:p>
          <a:p>
            <a:pPr marL="373063" indent="-373063" defTabSz="490538">
              <a:spcBef>
                <a:spcPts val="2100"/>
              </a:spcBef>
            </a:pPr>
            <a:r>
              <a:rPr lang="en-US" altLang="en-US" sz="3000" dirty="0"/>
              <a:t>The methods of mathematical modeling and analysis provide a unification and mutual enrichment of ideas from many different areas, and a deeper understanding of the fields to which it is applied. Applied Mathematics draws upon concepts and methods of mathematics from the fields of application and in turn, brings ideas, techniques and scientific knowledge back to influence the development of </a:t>
            </a:r>
            <a:r>
              <a:rPr lang="en-US" altLang="en-US" sz="3000" dirty="0" smtClean="0"/>
              <a:t>mathematics.</a:t>
            </a:r>
            <a:endParaRPr lang="en-US" altLang="en-US" sz="3000" dirty="0"/>
          </a:p>
        </p:txBody>
      </p:sp>
      <p:sp>
        <p:nvSpPr>
          <p:cNvPr id="10243" name="Rectangle 3"/>
          <p:cNvSpPr>
            <a:spLocks/>
          </p:cNvSpPr>
          <p:nvPr/>
        </p:nvSpPr>
        <p:spPr bwMode="auto">
          <a:xfrm>
            <a:off x="139700" y="8991600"/>
            <a:ext cx="12306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300" b="1" u="sng">
                <a:solidFill>
                  <a:schemeClr val="accent1"/>
                </a:solidFill>
                <a:latin typeface="Helvetica" charset="0"/>
                <a:ea typeface="Helvetica" charset="0"/>
                <a:cs typeface="Helvetica" charset="0"/>
                <a:sym typeface="Helvetica" charset="0"/>
                <a:hlinkClick r:id="rId2"/>
              </a:rPr>
              <a:t>http://www.dam.brown.edu/documents/WhatisAppliedMathematicsPresentation_000.pdf</a:t>
            </a:r>
            <a:endParaRPr lang="en-US" altLang="en-US" sz="2300" b="1">
              <a:solidFill>
                <a:schemeClr val="accent1"/>
              </a:solidFill>
              <a:latin typeface="Helvetica" charset="0"/>
              <a:ea typeface="Helvetica" charset="0"/>
              <a:cs typeface="Helvetica" charset="0"/>
              <a:sym typeface="Helvetica" charset="0"/>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1266" name="Picture 2" descr="pasted-image.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0850" y="5961063"/>
            <a:ext cx="3278188" cy="327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1267" name="Picture 3" descr="Screen Shot 2014-01-26 at 6.01.37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6600" y="1827213"/>
            <a:ext cx="9982200" cy="374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1268" name="Rectangle 4"/>
          <p:cNvSpPr>
            <a:spLocks/>
          </p:cNvSpPr>
          <p:nvPr/>
        </p:nvSpPr>
        <p:spPr bwMode="auto">
          <a:xfrm>
            <a:off x="10820400" y="2801938"/>
            <a:ext cx="2011363" cy="179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dirty="0">
                <a:latin typeface="Helvetica" charset="0"/>
                <a:ea typeface="Helvetica" charset="0"/>
                <a:cs typeface="Helvetica" charset="0"/>
                <a:sym typeface="Helvetica" charset="0"/>
              </a:rPr>
              <a:t>Ten year plot of Dow Jones Industrial Average</a:t>
            </a:r>
          </a:p>
        </p:txBody>
      </p:sp>
      <p:sp>
        <p:nvSpPr>
          <p:cNvPr id="11269" name="Rectangle 5"/>
          <p:cNvSpPr>
            <a:spLocks/>
          </p:cNvSpPr>
          <p:nvPr/>
        </p:nvSpPr>
        <p:spPr bwMode="auto">
          <a:xfrm>
            <a:off x="3530600" y="6765925"/>
            <a:ext cx="2011363" cy="146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dirty="0">
                <a:latin typeface="Helvetica" charset="0"/>
                <a:ea typeface="Helvetica" charset="0"/>
                <a:cs typeface="Helvetica" charset="0"/>
                <a:sym typeface="Helvetica" charset="0"/>
              </a:rPr>
              <a:t>Random motion of a diffusing particle</a:t>
            </a:r>
          </a:p>
        </p:txBody>
      </p:sp>
      <p:pic>
        <p:nvPicPr>
          <p:cNvPr id="11270" name="Picture 6" descr="dropped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21400" y="6010275"/>
            <a:ext cx="4902200" cy="317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1271" name="Picture 7" descr="File-Karl_Pearson_2.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691813" y="6272213"/>
            <a:ext cx="2012950" cy="245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11272" name="Group 8"/>
          <p:cNvGrpSpPr>
            <a:grpSpLocks/>
          </p:cNvGrpSpPr>
          <p:nvPr/>
        </p:nvGrpSpPr>
        <p:grpSpPr bwMode="auto">
          <a:xfrm>
            <a:off x="2463800" y="3378200"/>
            <a:ext cx="6438900" cy="3848100"/>
            <a:chOff x="0" y="0"/>
            <a:chExt cx="6438900" cy="3848100"/>
          </a:xfrm>
        </p:grpSpPr>
        <p:sp>
          <p:nvSpPr>
            <p:cNvPr id="11273" name="Oval 9"/>
            <p:cNvSpPr>
              <a:spLocks/>
            </p:cNvSpPr>
            <p:nvPr/>
          </p:nvSpPr>
          <p:spPr bwMode="auto">
            <a:xfrm>
              <a:off x="6286500" y="0"/>
              <a:ext cx="152400" cy="152400"/>
            </a:xfrm>
            <a:prstGeom prst="ellipse">
              <a:avLst/>
            </a:prstGeom>
            <a:solidFill>
              <a:srgbClr val="C82506"/>
            </a:solidFill>
            <a:ln>
              <a:noFill/>
            </a:ln>
            <a:effectLst>
              <a:outerShdw blurRad="38100" dist="25400" dir="5400000" algn="ctr" rotWithShape="0">
                <a:srgbClr val="000000">
                  <a:alpha val="50000"/>
                </a:srgbClr>
              </a:outerShdw>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Lst>
          </p:spPr>
          <p:txBody>
            <a:bodyPr lIns="50800" tIns="50800" rIns="50800" bIns="50800" anchor="ctr"/>
            <a:lstStyle/>
            <a:p>
              <a:endParaRPr lang="en-US" altLang="en-US" sz="2400">
                <a:solidFill>
                  <a:srgbClr val="FFFFFF"/>
                </a:solidFill>
              </a:endParaRPr>
            </a:p>
          </p:txBody>
        </p:sp>
        <p:sp>
          <p:nvSpPr>
            <p:cNvPr id="11274" name="Oval 10"/>
            <p:cNvSpPr>
              <a:spLocks/>
            </p:cNvSpPr>
            <p:nvPr/>
          </p:nvSpPr>
          <p:spPr bwMode="auto">
            <a:xfrm>
              <a:off x="0" y="3695700"/>
              <a:ext cx="152400" cy="152400"/>
            </a:xfrm>
            <a:prstGeom prst="ellipse">
              <a:avLst/>
            </a:prstGeom>
            <a:solidFill>
              <a:srgbClr val="C82506"/>
            </a:solidFill>
            <a:ln>
              <a:noFill/>
            </a:ln>
            <a:effectLst>
              <a:outerShdw blurRad="38100" dist="25400" dir="5400000" algn="ctr" rotWithShape="0">
                <a:srgbClr val="000000">
                  <a:alpha val="50000"/>
                </a:srgbClr>
              </a:outerShdw>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Lst>
          </p:spPr>
          <p:txBody>
            <a:bodyPr lIns="50800" tIns="50800" rIns="50800" bIns="50800" anchor="ctr"/>
            <a:lstStyle/>
            <a:p>
              <a:endParaRPr lang="en-US" altLang="en-US" sz="2400">
                <a:solidFill>
                  <a:srgbClr val="FFFFFF"/>
                </a:solidFill>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272"/>
                                        </p:tgtEl>
                                        <p:attrNameLst>
                                          <p:attrName>style.visibility</p:attrName>
                                        </p:attrNameLst>
                                      </p:cBhvr>
                                      <p:to>
                                        <p:strVal val="visible"/>
                                      </p:to>
                                    </p:set>
                                    <p:animEffect transition="in" filter="dissolve">
                                      <p:cBhvr>
                                        <p:cTn id="7"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9300" y="1292225"/>
            <a:ext cx="8737600" cy="291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2290" name="Rectangle 2"/>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2291" name="Picture 3" descr="File-Einstein1921_by_F_Schmutzer_4.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26600" y="1657350"/>
            <a:ext cx="2012950" cy="251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2292" name="Picture 4" descr="dropped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51100" y="4340225"/>
            <a:ext cx="4838700" cy="5286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2293" name="Picture 5" descr="File-LouisBacheli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282113" y="4686300"/>
            <a:ext cx="2168525" cy="3208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2294" name="Picture 6" descr="droppedImage.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267700" y="7734300"/>
            <a:ext cx="3698875"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dirty="0">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3314" name="Picture 2"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2476500"/>
            <a:ext cx="6642100" cy="320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3315" name="Picture 3" descr="droppedImag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13700" y="4229100"/>
            <a:ext cx="3897313"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3316" name="Picture 4" descr="dropped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826375" y="2476500"/>
            <a:ext cx="4271963" cy="170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17" name="Rectangle 5"/>
          <p:cNvSpPr>
            <a:spLocks/>
          </p:cNvSpPr>
          <p:nvPr/>
        </p:nvSpPr>
        <p:spPr bwMode="auto">
          <a:xfrm>
            <a:off x="1533525" y="6129338"/>
            <a:ext cx="4286250" cy="145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3400" b="1">
                <a:solidFill>
                  <a:srgbClr val="773F9B"/>
                </a:solidFill>
                <a:latin typeface="Helvetica" charset="0"/>
                <a:ea typeface="Helvetica" charset="0"/>
                <a:cs typeface="Helvetica" charset="0"/>
                <a:sym typeface="Helvetica" charset="0"/>
              </a:rPr>
              <a:t>Bachelier’s solution motivated by stock price variations</a:t>
            </a:r>
          </a:p>
        </p:txBody>
      </p:sp>
      <p:sp>
        <p:nvSpPr>
          <p:cNvPr id="13318" name="Rectangle 6"/>
          <p:cNvSpPr>
            <a:spLocks/>
          </p:cNvSpPr>
          <p:nvPr/>
        </p:nvSpPr>
        <p:spPr bwMode="auto">
          <a:xfrm>
            <a:off x="7589838" y="6129338"/>
            <a:ext cx="4554537" cy="145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3400" b="1" dirty="0">
                <a:solidFill>
                  <a:srgbClr val="773F9B"/>
                </a:solidFill>
                <a:latin typeface="Helvetica" charset="0"/>
                <a:ea typeface="Helvetica" charset="0"/>
                <a:cs typeface="Helvetica" charset="0"/>
                <a:sym typeface="Helvetica" charset="0"/>
              </a:rPr>
              <a:t>Einstein’s solution motivated by random particle motion</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4338" name="Picture 2" descr="50503_1600x1200-wallpaper-cb133305521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8800" y="2671763"/>
            <a:ext cx="5578475" cy="4184650"/>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4339" name="Picture 3" descr="2910278673_c3191b8f1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665413"/>
            <a:ext cx="6262688" cy="4195762"/>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4340" name="Rectangle 4"/>
          <p:cNvSpPr>
            <a:spLocks/>
          </p:cNvSpPr>
          <p:nvPr/>
        </p:nvSpPr>
        <p:spPr bwMode="auto">
          <a:xfrm>
            <a:off x="1492250" y="7345363"/>
            <a:ext cx="3709988" cy="80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Drainage network in Baja California salt flat</a:t>
            </a:r>
          </a:p>
        </p:txBody>
      </p:sp>
      <p:sp>
        <p:nvSpPr>
          <p:cNvPr id="14341" name="Rectangle 5"/>
          <p:cNvSpPr>
            <a:spLocks/>
          </p:cNvSpPr>
          <p:nvPr/>
        </p:nvSpPr>
        <p:spPr bwMode="auto">
          <a:xfrm>
            <a:off x="7912100" y="7510463"/>
            <a:ext cx="37084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Tree branches</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5362" name="Picture 2" descr="pasted-image.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725" y="2533650"/>
            <a:ext cx="6910388" cy="488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5363" name="Picture 3" descr="pasted-image.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48538" y="2825750"/>
            <a:ext cx="5461000" cy="410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5364" name="Rectangle 4"/>
          <p:cNvSpPr>
            <a:spLocks/>
          </p:cNvSpPr>
          <p:nvPr/>
        </p:nvSpPr>
        <p:spPr bwMode="auto">
          <a:xfrm>
            <a:off x="1282700" y="7383463"/>
            <a:ext cx="4356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Highways in Czech Republic</a:t>
            </a:r>
          </a:p>
        </p:txBody>
      </p:sp>
      <p:sp>
        <p:nvSpPr>
          <p:cNvPr id="15365" name="Rectangle 5"/>
          <p:cNvSpPr>
            <a:spLocks/>
          </p:cNvSpPr>
          <p:nvPr/>
        </p:nvSpPr>
        <p:spPr bwMode="auto">
          <a:xfrm>
            <a:off x="7900988" y="7383463"/>
            <a:ext cx="43561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Leaf veins</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6386" name="Picture 2" descr="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41280" y="5638800"/>
            <a:ext cx="3807619" cy="2538413"/>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6387" name="Rectangle 3"/>
          <p:cNvSpPr>
            <a:spLocks/>
          </p:cNvSpPr>
          <p:nvPr/>
        </p:nvSpPr>
        <p:spPr bwMode="auto">
          <a:xfrm>
            <a:off x="6566654" y="8391524"/>
            <a:ext cx="4633913" cy="10054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Polygonal basalt columns</a:t>
            </a:r>
          </a:p>
          <a:p>
            <a:pPr>
              <a:lnSpc>
                <a:spcPct val="90000"/>
              </a:lnSpc>
            </a:pPr>
            <a:r>
              <a:rPr lang="en-US" altLang="en-US" sz="2400" b="1" i="1" dirty="0">
                <a:latin typeface="Helvetica" charset="0"/>
                <a:ea typeface="Helvetica" charset="0"/>
                <a:cs typeface="Helvetica" charset="0"/>
                <a:sym typeface="Helvetica" charset="0"/>
              </a:rPr>
              <a:t>Giants Causeway, Northern Island</a:t>
            </a:r>
          </a:p>
        </p:txBody>
      </p:sp>
      <p:pic>
        <p:nvPicPr>
          <p:cNvPr id="16388" name="Picture 4" descr="Screen Shot 2014-01-26 at 5.01.51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59655" y="5638800"/>
            <a:ext cx="2601873" cy="2538413"/>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6389" name="Picture 5" descr="Beach-Foam-micketo-29583607-500-405.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45361" y="2086243"/>
            <a:ext cx="3132119" cy="2535592"/>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6390" name="Picture 6" descr="peculiar-stones-fs.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41280" y="2083422"/>
            <a:ext cx="3871079" cy="2538413"/>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6391" name="Rectangle 7"/>
          <p:cNvSpPr>
            <a:spLocks/>
          </p:cNvSpPr>
          <p:nvPr/>
        </p:nvSpPr>
        <p:spPr bwMode="auto">
          <a:xfrm>
            <a:off x="1765300" y="4647235"/>
            <a:ext cx="2065338" cy="4174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Soap foam</a:t>
            </a:r>
          </a:p>
        </p:txBody>
      </p:sp>
      <p:sp>
        <p:nvSpPr>
          <p:cNvPr id="16392" name="Rectangle 8"/>
          <p:cNvSpPr>
            <a:spLocks/>
          </p:cNvSpPr>
          <p:nvPr/>
        </p:nvSpPr>
        <p:spPr bwMode="auto">
          <a:xfrm>
            <a:off x="6294438" y="4621835"/>
            <a:ext cx="5126037" cy="712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a:latin typeface="Helvetica" charset="0"/>
                <a:ea typeface="Helvetica" charset="0"/>
                <a:cs typeface="Helvetica" charset="0"/>
                <a:sym typeface="Helvetica" charset="0"/>
              </a:rPr>
              <a:t>Stone polygons</a:t>
            </a:r>
          </a:p>
          <a:p>
            <a:pPr>
              <a:lnSpc>
                <a:spcPct val="90000"/>
              </a:lnSpc>
            </a:pPr>
            <a:r>
              <a:rPr lang="en-US" altLang="en-US" sz="2400" b="1" i="1">
                <a:latin typeface="Helvetica" charset="0"/>
                <a:ea typeface="Helvetica" charset="0"/>
                <a:cs typeface="Helvetica" charset="0"/>
                <a:sym typeface="Helvetica" charset="0"/>
              </a:rPr>
              <a:t>common in regions of permafrost</a:t>
            </a:r>
          </a:p>
        </p:txBody>
      </p:sp>
      <p:sp>
        <p:nvSpPr>
          <p:cNvPr id="16393" name="Rectangle 9"/>
          <p:cNvSpPr>
            <a:spLocks/>
          </p:cNvSpPr>
          <p:nvPr/>
        </p:nvSpPr>
        <p:spPr bwMode="auto">
          <a:xfrm>
            <a:off x="1435854" y="8556624"/>
            <a:ext cx="2776538" cy="712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pPr>
            <a:r>
              <a:rPr lang="en-US" altLang="en-US" sz="2400" b="1" dirty="0">
                <a:latin typeface="Helvetica" charset="0"/>
                <a:ea typeface="Helvetica" charset="0"/>
                <a:cs typeface="Helvetica" charset="0"/>
                <a:sym typeface="Helvetica" charset="0"/>
              </a:rPr>
              <a:t>Cell boundaries in fruit fly wing</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5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Common patterns, common processes</a:t>
            </a:r>
          </a:p>
        </p:txBody>
      </p:sp>
      <p:pic>
        <p:nvPicPr>
          <p:cNvPr id="17410" name="Picture 2" descr="pasted-image.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7288" y="4125913"/>
            <a:ext cx="4745037" cy="310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7411" name="Picture 3" descr="pasted-image.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2825" y="2135188"/>
            <a:ext cx="2492375"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17412" name="Group 4"/>
          <p:cNvGrpSpPr>
            <a:grpSpLocks/>
          </p:cNvGrpSpPr>
          <p:nvPr/>
        </p:nvGrpSpPr>
        <p:grpSpPr bwMode="auto">
          <a:xfrm>
            <a:off x="6942138" y="2217738"/>
            <a:ext cx="5186362" cy="5795962"/>
            <a:chOff x="0" y="0"/>
            <a:chExt cx="5185682" cy="5794921"/>
          </a:xfrm>
        </p:grpSpPr>
        <p:pic>
          <p:nvPicPr>
            <p:cNvPr id="17413" name="Picture 5" descr="hydrogen_orbitals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185682" cy="4707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7414" name="Rectangle 6"/>
            <p:cNvSpPr>
              <a:spLocks/>
            </p:cNvSpPr>
            <p:nvPr/>
          </p:nvSpPr>
          <p:spPr bwMode="auto">
            <a:xfrm>
              <a:off x="396936" y="4905920"/>
              <a:ext cx="4391810" cy="889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r>
                <a:rPr lang="en-US" altLang="en-US" sz="2600" b="1">
                  <a:latin typeface="Helvetica" charset="0"/>
                  <a:ea typeface="Helvetica" charset="0"/>
                  <a:cs typeface="Helvetica" charset="0"/>
                  <a:sym typeface="Helvetica" charset="0"/>
                </a:rPr>
                <a:t>Electron orbitals of a hydrogen atom</a:t>
              </a:r>
            </a:p>
          </p:txBody>
        </p:sp>
      </p:grpSp>
      <p:sp>
        <p:nvSpPr>
          <p:cNvPr id="17415" name="Rectangle 7"/>
          <p:cNvSpPr>
            <a:spLocks/>
          </p:cNvSpPr>
          <p:nvPr/>
        </p:nvSpPr>
        <p:spPr bwMode="auto">
          <a:xfrm>
            <a:off x="1593850" y="7124700"/>
            <a:ext cx="387032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r>
              <a:rPr lang="en-US" altLang="en-US" sz="2600" b="1">
                <a:latin typeface="Helvetica" charset="0"/>
                <a:ea typeface="Helvetica" charset="0"/>
                <a:cs typeface="Helvetica" charset="0"/>
                <a:sym typeface="Helvetica" charset="0"/>
              </a:rPr>
              <a:t>Oscillation modes of a drum surface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dissolve">
                                      <p:cBhvr>
                                        <p:cTn id="7"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p:cNvSpPr>
          <p:nvPr/>
        </p:nvSpPr>
        <p:spPr bwMode="auto">
          <a:xfrm>
            <a:off x="436563" y="3048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nSpc>
                <a:spcPct val="80000"/>
              </a:lnSpc>
            </a:pPr>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Applied mathematics:</a:t>
            </a:r>
          </a:p>
          <a:p>
            <a:pPr>
              <a:lnSpc>
                <a:spcPct val="80000"/>
              </a:lnSpc>
            </a:pPr>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a centuries-old approach</a:t>
            </a:r>
          </a:p>
        </p:txBody>
      </p:sp>
      <p:pic>
        <p:nvPicPr>
          <p:cNvPr id="18434" name="Picture 2" descr="past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9813" y="2687638"/>
            <a:ext cx="2220912" cy="298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8435" name="Picture 3" descr="pasted-image.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9813" y="6042025"/>
            <a:ext cx="2220912" cy="305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8436" name="Rectangle 4"/>
          <p:cNvSpPr>
            <a:spLocks/>
          </p:cNvSpPr>
          <p:nvPr/>
        </p:nvSpPr>
        <p:spPr bwMode="auto">
          <a:xfrm>
            <a:off x="3673475" y="2732088"/>
            <a:ext cx="7575550" cy="281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lnSpc>
                <a:spcPct val="90000"/>
              </a:lnSpc>
            </a:pPr>
            <a:r>
              <a:rPr lang="en-US" altLang="en-US" b="1">
                <a:solidFill>
                  <a:srgbClr val="773F9B"/>
                </a:solidFill>
                <a:latin typeface="Helvetica" charset="0"/>
                <a:ea typeface="Helvetica" charset="0"/>
                <a:cs typeface="Helvetica" charset="0"/>
                <a:sym typeface="Helvetica" charset="0"/>
              </a:rPr>
              <a:t>Lord Rayleigh (1842–1919)</a:t>
            </a:r>
          </a:p>
          <a:p>
            <a:pPr algn="l">
              <a:lnSpc>
                <a:spcPct val="90000"/>
              </a:lnSpc>
            </a:pPr>
            <a:r>
              <a:rPr lang="en-US" altLang="en-US" sz="3200" b="1">
                <a:latin typeface="Helvetica" charset="0"/>
                <a:ea typeface="Helvetica" charset="0"/>
                <a:cs typeface="Helvetica" charset="0"/>
                <a:sym typeface="Helvetica" charset="0"/>
              </a:rPr>
              <a:t>Professor of Natural Philosophy at the University of Cambridge (1874–1884). Made major mathematical contributions to fluid dynamics, physics, and acoustics.</a:t>
            </a:r>
          </a:p>
        </p:txBody>
      </p:sp>
      <p:sp>
        <p:nvSpPr>
          <p:cNvPr id="18437" name="Rectangle 5"/>
          <p:cNvSpPr>
            <a:spLocks/>
          </p:cNvSpPr>
          <p:nvPr/>
        </p:nvSpPr>
        <p:spPr bwMode="auto">
          <a:xfrm>
            <a:off x="3673475" y="6278563"/>
            <a:ext cx="8540750" cy="257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r>
              <a:rPr lang="en-US" altLang="en-US" b="1">
                <a:solidFill>
                  <a:srgbClr val="773F9B"/>
                </a:solidFill>
                <a:latin typeface="Helvetica" charset="0"/>
                <a:ea typeface="Helvetica" charset="0"/>
                <a:cs typeface="Helvetica" charset="0"/>
                <a:sym typeface="Helvetica" charset="0"/>
              </a:rPr>
              <a:t>Isaac Newton (1642–1727)</a:t>
            </a:r>
          </a:p>
          <a:p>
            <a:pPr algn="l"/>
            <a:r>
              <a:rPr lang="en-US" altLang="en-US" sz="3200" b="1">
                <a:latin typeface="Helvetica" charset="0"/>
                <a:ea typeface="Helvetica" charset="0"/>
                <a:cs typeface="Helvetica" charset="0"/>
                <a:sym typeface="Helvetica" charset="0"/>
              </a:rPr>
              <a:t>Laid the mathematical foundations of classical mechanics through </a:t>
            </a:r>
            <a:r>
              <a:rPr lang="en-US" altLang="en-US" sz="3200" b="1" i="1">
                <a:latin typeface="Helvetica" charset="0"/>
                <a:ea typeface="Helvetica" charset="0"/>
                <a:cs typeface="Helvetica" charset="0"/>
                <a:sym typeface="Helvetica" charset="0"/>
              </a:rPr>
              <a:t>Philosophiæ Naturalis Principia Mathematica</a:t>
            </a:r>
            <a:r>
              <a:rPr lang="en-US" altLang="en-US" sz="3200" b="1">
                <a:latin typeface="Helvetica" charset="0"/>
                <a:ea typeface="Helvetica" charset="0"/>
                <a:cs typeface="Helvetica" charset="0"/>
                <a:sym typeface="Helvetica" charset="0"/>
              </a:rPr>
              <a:t> published in 1687</a:t>
            </a: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p:nvPr>
        </p:nvSpPr>
        <p:spPr>
          <a:xfrm>
            <a:off x="436563" y="63500"/>
            <a:ext cx="12130087" cy="2159000"/>
          </a:xfrm>
        </p:spPr>
        <p:txBody>
          <a:bodyPr/>
          <a:lstStyle/>
          <a:p>
            <a:r>
              <a:rPr lang="en-US" altLang="en-US" dirty="0"/>
              <a:t>21st century applied </a:t>
            </a:r>
            <a:r>
              <a:rPr lang="en-US" altLang="en-US" dirty="0" smtClean="0"/>
              <a:t>math</a:t>
            </a:r>
            <a:endParaRPr lang="en-US" altLang="en-US" dirty="0"/>
          </a:p>
        </p:txBody>
      </p:sp>
      <p:sp>
        <p:nvSpPr>
          <p:cNvPr id="21506" name="Rectangle 2"/>
          <p:cNvSpPr>
            <a:spLocks noGrp="1" noChangeArrowheads="1"/>
          </p:cNvSpPr>
          <p:nvPr>
            <p:ph type="body" idx="1"/>
          </p:nvPr>
        </p:nvSpPr>
        <p:spPr>
          <a:xfrm>
            <a:off x="549275" y="3976688"/>
            <a:ext cx="11904663" cy="5280025"/>
          </a:xfrm>
        </p:spPr>
        <p:txBody>
          <a:bodyPr/>
          <a:lstStyle/>
          <a:p>
            <a:pPr marL="390525" indent="-390525" defTabSz="512763">
              <a:spcBef>
                <a:spcPts val="2200"/>
              </a:spcBef>
            </a:pPr>
            <a:r>
              <a:rPr lang="en-US" altLang="en-US" sz="3100" dirty="0"/>
              <a:t>21st century science and technology: immense and highly specialized</a:t>
            </a:r>
          </a:p>
          <a:p>
            <a:pPr marL="390525" indent="-390525" defTabSz="512763">
              <a:spcBef>
                <a:spcPts val="2200"/>
              </a:spcBef>
            </a:pPr>
            <a:r>
              <a:rPr lang="en-US" altLang="en-US" sz="3100" dirty="0"/>
              <a:t>Mathematics underpins almost every field; there is a great need for people who can apply mathematics to important practical issues</a:t>
            </a:r>
          </a:p>
          <a:p>
            <a:pPr marL="390525" indent="-390525" defTabSz="512763">
              <a:spcBef>
                <a:spcPts val="2200"/>
              </a:spcBef>
            </a:pPr>
            <a:r>
              <a:rPr lang="en-US" altLang="en-US" sz="3100" dirty="0"/>
              <a:t>Many applied mathematicians have careers spanning multiple disparate fields</a:t>
            </a:r>
          </a:p>
          <a:p>
            <a:pPr marL="390525" indent="-390525" defTabSz="512763">
              <a:spcBef>
                <a:spcPts val="2200"/>
              </a:spcBef>
            </a:pPr>
            <a:r>
              <a:rPr lang="en-US" altLang="en-US" sz="3100" dirty="0"/>
              <a:t>An excellent discipline if you’re interested in everything, and want to understand the deep connections between fields</a:t>
            </a:r>
          </a:p>
        </p:txBody>
      </p:sp>
      <p:pic>
        <p:nvPicPr>
          <p:cNvPr id="21507" name="Picture 3" descr="pasted-image.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6888" y="1795463"/>
            <a:ext cx="2959100" cy="196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21508" name="Picture 4" descr="pasted-image.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29413" y="1795463"/>
            <a:ext cx="1958975" cy="196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21509" name="Picture 5" descr="s_m01_RTR3DOV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1795463"/>
            <a:ext cx="2786063" cy="196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21510" name="Picture 6" descr="Example-of-social-network-graph-in-maps-by-linkedin.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032875" y="1795463"/>
            <a:ext cx="3379788" cy="196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p:nvPr>
        </p:nvSpPr>
        <p:spPr>
          <a:xfrm>
            <a:off x="1270000" y="3225800"/>
            <a:ext cx="10464800" cy="3302000"/>
          </a:xfrm>
        </p:spPr>
        <p:txBody>
          <a:bodyPr/>
          <a:lstStyle/>
          <a:p>
            <a:r>
              <a:rPr lang="en-US" altLang="en-US"/>
              <a:t>2. Course organization</a:t>
            </a: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xfrm>
            <a:off x="436563" y="444500"/>
            <a:ext cx="12130087" cy="2159000"/>
          </a:xfrm>
        </p:spPr>
        <p:txBody>
          <a:bodyPr/>
          <a:lstStyle/>
          <a:p>
            <a:r>
              <a:rPr lang="en-US" altLang="en-US" dirty="0"/>
              <a:t>AM50: </a:t>
            </a:r>
            <a:r>
              <a:rPr lang="en-US" altLang="en-US" dirty="0" smtClean="0"/>
              <a:t>Course objectives</a:t>
            </a:r>
            <a:endParaRPr lang="en-US" altLang="en-US" dirty="0"/>
          </a:p>
        </p:txBody>
      </p:sp>
      <p:sp>
        <p:nvSpPr>
          <p:cNvPr id="23554" name="Rectangle 2"/>
          <p:cNvSpPr>
            <a:spLocks noGrp="1" noChangeArrowheads="1"/>
          </p:cNvSpPr>
          <p:nvPr>
            <p:ph type="body" idx="1"/>
          </p:nvPr>
        </p:nvSpPr>
        <p:spPr>
          <a:xfrm>
            <a:off x="952500" y="2609850"/>
            <a:ext cx="11099800" cy="6286500"/>
          </a:xfrm>
        </p:spPr>
        <p:txBody>
          <a:bodyPr/>
          <a:lstStyle/>
          <a:p>
            <a:r>
              <a:rPr lang="en-US" altLang="en-US" dirty="0"/>
              <a:t>Expose you to a wide variety of topics where applied math is used</a:t>
            </a:r>
          </a:p>
          <a:p>
            <a:r>
              <a:rPr lang="en-US" altLang="en-US" dirty="0"/>
              <a:t>Through reading great mathematical papers, show how simple mathematical models can large impact on different fields of human inquiry</a:t>
            </a:r>
          </a:p>
          <a:p>
            <a:r>
              <a:rPr lang="en-US" altLang="en-US" dirty="0"/>
              <a:t>Learn practical skills:</a:t>
            </a:r>
          </a:p>
          <a:p>
            <a:pPr marL="850900" lvl="1" indent="-406400">
              <a:spcBef>
                <a:spcPts val="1000"/>
              </a:spcBef>
            </a:pPr>
            <a:r>
              <a:rPr lang="en-US" altLang="en-US" sz="3300" dirty="0"/>
              <a:t>Reading </a:t>
            </a:r>
            <a:r>
              <a:rPr lang="en-US" altLang="en-US" sz="3300" dirty="0" smtClean="0"/>
              <a:t>for main points in math </a:t>
            </a:r>
            <a:r>
              <a:rPr lang="en-US" altLang="en-US" sz="3300" dirty="0"/>
              <a:t>papers</a:t>
            </a:r>
          </a:p>
          <a:p>
            <a:pPr marL="850900" lvl="1" indent="-406400">
              <a:spcBef>
                <a:spcPts val="1000"/>
              </a:spcBef>
            </a:pPr>
            <a:r>
              <a:rPr lang="en-US" altLang="en-US" sz="3300" dirty="0"/>
              <a:t>Programming </a:t>
            </a:r>
            <a:r>
              <a:rPr lang="en-US" altLang="en-US" sz="3300" dirty="0" smtClean="0"/>
              <a:t>in </a:t>
            </a:r>
            <a:r>
              <a:rPr lang="en-US" altLang="en-US" sz="3300" dirty="0" err="1" smtClean="0"/>
              <a:t>Matlab</a:t>
            </a:r>
            <a:endParaRPr lang="en-US" altLang="en-US" sz="3300" dirty="0"/>
          </a:p>
          <a:p>
            <a:pPr marL="850900" lvl="1" indent="-406400">
              <a:spcBef>
                <a:spcPts val="1000"/>
              </a:spcBef>
            </a:pPr>
            <a:r>
              <a:rPr lang="en-US" altLang="en-US" sz="3300" dirty="0" smtClean="0"/>
              <a:t>Communicating mathematical ideas through oral and written presentations</a:t>
            </a:r>
          </a:p>
          <a:p>
            <a:pPr marL="850900" lvl="1" indent="-406400">
              <a:spcBef>
                <a:spcPts val="1000"/>
              </a:spcBef>
            </a:pPr>
            <a:r>
              <a:rPr lang="en-US" altLang="en-US" sz="3300" dirty="0" smtClean="0"/>
              <a:t>Working in a group</a:t>
            </a:r>
            <a:endParaRPr lang="en-US" altLang="en-US" sz="3300" dirty="0"/>
          </a:p>
        </p:txBody>
      </p:sp>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Grp="1" noChangeArrowheads="1"/>
          </p:cNvSpPr>
          <p:nvPr>
            <p:ph type="title"/>
          </p:nvPr>
        </p:nvSpPr>
        <p:spPr>
          <a:xfrm>
            <a:off x="436563" y="444500"/>
            <a:ext cx="12130087" cy="2159000"/>
          </a:xfrm>
        </p:spPr>
        <p:txBody>
          <a:bodyPr/>
          <a:lstStyle/>
          <a:p>
            <a:r>
              <a:rPr lang="en-US" altLang="en-US" dirty="0" smtClean="0"/>
              <a:t>Prerequisites</a:t>
            </a:r>
            <a:endParaRPr lang="en-US" altLang="en-US" dirty="0"/>
          </a:p>
        </p:txBody>
      </p:sp>
      <p:sp>
        <p:nvSpPr>
          <p:cNvPr id="24578" name="Rectangle 2"/>
          <p:cNvSpPr>
            <a:spLocks noGrp="1" noChangeArrowheads="1"/>
          </p:cNvSpPr>
          <p:nvPr>
            <p:ph type="body" idx="1"/>
          </p:nvPr>
        </p:nvSpPr>
        <p:spPr/>
        <p:txBody>
          <a:bodyPr/>
          <a:lstStyle/>
          <a:p>
            <a:r>
              <a:rPr lang="en-US" altLang="en-US" dirty="0"/>
              <a:t>Syllabus lists AM21a (possibly taken concurrently) as a </a:t>
            </a:r>
            <a:r>
              <a:rPr lang="en-US" altLang="en-US" dirty="0" smtClean="0"/>
              <a:t>prerequisite</a:t>
            </a:r>
            <a:endParaRPr lang="en-US" altLang="en-US" dirty="0"/>
          </a:p>
          <a:p>
            <a:r>
              <a:rPr lang="en-US" altLang="en-US" dirty="0"/>
              <a:t>Same </a:t>
            </a:r>
            <a:r>
              <a:rPr lang="en-US" altLang="en-US" dirty="0" smtClean="0"/>
              <a:t>prerequisite </a:t>
            </a:r>
            <a:r>
              <a:rPr lang="en-US" altLang="en-US" dirty="0"/>
              <a:t>as previous years</a:t>
            </a:r>
          </a:p>
          <a:p>
            <a:r>
              <a:rPr lang="en-US" altLang="en-US" dirty="0"/>
              <a:t>Some ideas from AM21a but not many; in previous years students doing 1b have been fine</a:t>
            </a:r>
          </a:p>
          <a:p>
            <a:r>
              <a:rPr lang="en-US" altLang="en-US" dirty="0"/>
              <a:t>Course mainly aimed at freshmen and </a:t>
            </a:r>
            <a:r>
              <a:rPr lang="en-US" altLang="en-US" dirty="0" smtClean="0"/>
              <a:t>sophomores</a:t>
            </a:r>
          </a:p>
          <a:p>
            <a:r>
              <a:rPr lang="en-US" altLang="en-US" dirty="0" smtClean="0">
                <a:solidFill>
                  <a:srgbClr val="FF0000"/>
                </a:solidFill>
              </a:rPr>
              <a:t>Programming experience is NOT a prerequisite</a:t>
            </a:r>
            <a:endParaRPr lang="en-US" altLang="en-US" dirty="0">
              <a:solidFill>
                <a:srgbClr val="FF0000"/>
              </a:solidFill>
            </a:endParaRP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p:nvPr>
        </p:nvSpPr>
        <p:spPr>
          <a:xfrm>
            <a:off x="436563" y="444500"/>
            <a:ext cx="12130087" cy="2159000"/>
          </a:xfrm>
        </p:spPr>
        <p:txBody>
          <a:bodyPr/>
          <a:lstStyle/>
          <a:p>
            <a:r>
              <a:rPr lang="en-US" altLang="en-US"/>
              <a:t>Course layout</a:t>
            </a:r>
          </a:p>
        </p:txBody>
      </p:sp>
      <p:sp>
        <p:nvSpPr>
          <p:cNvPr id="25602" name="Rectangle 2"/>
          <p:cNvSpPr>
            <a:spLocks/>
          </p:cNvSpPr>
          <p:nvPr/>
        </p:nvSpPr>
        <p:spPr bwMode="auto">
          <a:xfrm>
            <a:off x="795264" y="2635702"/>
            <a:ext cx="1320874" cy="6242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gn="r">
              <a:lnSpc>
                <a:spcPct val="190000"/>
              </a:lnSpc>
            </a:pPr>
            <a:r>
              <a:rPr lang="en-US" altLang="en-US" sz="3000" b="1" dirty="0">
                <a:latin typeface="Helvetica" charset="0"/>
                <a:ea typeface="Helvetica" charset="0"/>
                <a:cs typeface="Helvetica" charset="0"/>
                <a:sym typeface="Helvetica" charset="0"/>
              </a:rPr>
              <a:t>Jan </a:t>
            </a:r>
            <a:r>
              <a:rPr lang="en-US" altLang="en-US" sz="3000" b="1" dirty="0" smtClean="0">
                <a:latin typeface="Helvetica" charset="0"/>
                <a:ea typeface="Helvetica" charset="0"/>
                <a:cs typeface="Helvetica" charset="0"/>
                <a:sym typeface="Helvetica" charset="0"/>
              </a:rPr>
              <a:t>24</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smtClean="0">
                <a:latin typeface="Helvetica" charset="0"/>
                <a:ea typeface="Helvetica" charset="0"/>
                <a:cs typeface="Helvetica" charset="0"/>
                <a:sym typeface="Helvetica" charset="0"/>
              </a:rPr>
              <a:t>Jan 31</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a:latin typeface="Helvetica" charset="0"/>
                <a:ea typeface="Helvetica" charset="0"/>
                <a:cs typeface="Helvetica" charset="0"/>
                <a:sym typeface="Helvetica" charset="0"/>
              </a:rPr>
              <a:t>Feb </a:t>
            </a:r>
            <a:r>
              <a:rPr lang="en-US" altLang="en-US" sz="3000" b="1" dirty="0" smtClean="0">
                <a:latin typeface="Helvetica" charset="0"/>
                <a:ea typeface="Helvetica" charset="0"/>
                <a:cs typeface="Helvetica" charset="0"/>
                <a:sym typeface="Helvetica" charset="0"/>
              </a:rPr>
              <a:t>7</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a:latin typeface="Helvetica" charset="0"/>
                <a:ea typeface="Helvetica" charset="0"/>
                <a:cs typeface="Helvetica" charset="0"/>
                <a:sym typeface="Helvetica" charset="0"/>
              </a:rPr>
              <a:t>Feb </a:t>
            </a:r>
            <a:r>
              <a:rPr lang="en-US" altLang="en-US" sz="3000" b="1" dirty="0" smtClean="0">
                <a:latin typeface="Helvetica" charset="0"/>
                <a:ea typeface="Helvetica" charset="0"/>
                <a:cs typeface="Helvetica" charset="0"/>
                <a:sym typeface="Helvetica" charset="0"/>
              </a:rPr>
              <a:t>14</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a:latin typeface="Helvetica" charset="0"/>
                <a:ea typeface="Helvetica" charset="0"/>
                <a:cs typeface="Helvetica" charset="0"/>
                <a:sym typeface="Helvetica" charset="0"/>
              </a:rPr>
              <a:t>Feb </a:t>
            </a:r>
            <a:r>
              <a:rPr lang="en-US" altLang="en-US" sz="3000" b="1" dirty="0" smtClean="0">
                <a:latin typeface="Helvetica" charset="0"/>
                <a:ea typeface="Helvetica" charset="0"/>
                <a:cs typeface="Helvetica" charset="0"/>
                <a:sym typeface="Helvetica" charset="0"/>
              </a:rPr>
              <a:t>21</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a:latin typeface="Helvetica" charset="0"/>
                <a:ea typeface="Helvetica" charset="0"/>
                <a:cs typeface="Helvetica" charset="0"/>
                <a:sym typeface="Helvetica" charset="0"/>
              </a:rPr>
              <a:t>Feb </a:t>
            </a:r>
            <a:r>
              <a:rPr lang="en-US" altLang="en-US" sz="3000" b="1" dirty="0" smtClean="0">
                <a:latin typeface="Helvetica" charset="0"/>
                <a:ea typeface="Helvetica" charset="0"/>
                <a:cs typeface="Helvetica" charset="0"/>
                <a:sym typeface="Helvetica" charset="0"/>
              </a:rPr>
              <a:t>28</a:t>
            </a:r>
            <a:endParaRPr lang="en-US" altLang="en-US" sz="3000" b="1" dirty="0">
              <a:latin typeface="Helvetica" charset="0"/>
              <a:ea typeface="Helvetica" charset="0"/>
              <a:cs typeface="Helvetica" charset="0"/>
              <a:sym typeface="Helvetica" charset="0"/>
            </a:endParaRPr>
          </a:p>
          <a:p>
            <a:pPr algn="r">
              <a:lnSpc>
                <a:spcPct val="190000"/>
              </a:lnSpc>
            </a:pPr>
            <a:r>
              <a:rPr lang="en-US" altLang="en-US" sz="3000" b="1" dirty="0">
                <a:latin typeface="Helvetica" charset="0"/>
                <a:ea typeface="Helvetica" charset="0"/>
                <a:cs typeface="Helvetica" charset="0"/>
                <a:sym typeface="Helvetica" charset="0"/>
              </a:rPr>
              <a:t>Mar 7</a:t>
            </a:r>
          </a:p>
        </p:txBody>
      </p:sp>
      <p:sp>
        <p:nvSpPr>
          <p:cNvPr id="25603" name="Rectangle 3"/>
          <p:cNvSpPr>
            <a:spLocks/>
          </p:cNvSpPr>
          <p:nvPr/>
        </p:nvSpPr>
        <p:spPr bwMode="auto">
          <a:xfrm>
            <a:off x="6937375" y="2871788"/>
            <a:ext cx="1427163" cy="577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gn="r">
              <a:lnSpc>
                <a:spcPct val="190000"/>
              </a:lnSpc>
            </a:pPr>
            <a:r>
              <a:rPr lang="en-US" altLang="en-US" sz="3000" b="1">
                <a:latin typeface="Helvetica" charset="0"/>
                <a:ea typeface="Helvetica" charset="0"/>
                <a:cs typeface="Helvetica" charset="0"/>
                <a:sym typeface="Helvetica" charset="0"/>
              </a:rPr>
              <a:t>Mar 14</a:t>
            </a:r>
          </a:p>
          <a:p>
            <a:pPr algn="r">
              <a:lnSpc>
                <a:spcPct val="190000"/>
              </a:lnSpc>
            </a:pPr>
            <a:r>
              <a:rPr lang="en-US" altLang="en-US" sz="3000" b="1">
                <a:latin typeface="Helvetica" charset="0"/>
                <a:ea typeface="Helvetica" charset="0"/>
                <a:cs typeface="Helvetica" charset="0"/>
                <a:sym typeface="Helvetica" charset="0"/>
              </a:rPr>
              <a:t>Mar 21</a:t>
            </a:r>
          </a:p>
          <a:p>
            <a:pPr algn="r">
              <a:lnSpc>
                <a:spcPct val="190000"/>
              </a:lnSpc>
            </a:pPr>
            <a:r>
              <a:rPr lang="en-US" altLang="en-US" sz="3000" b="1">
                <a:latin typeface="Helvetica" charset="0"/>
                <a:ea typeface="Helvetica" charset="0"/>
                <a:cs typeface="Helvetica" charset="0"/>
                <a:sym typeface="Helvetica" charset="0"/>
              </a:rPr>
              <a:t>Mar 28</a:t>
            </a:r>
          </a:p>
          <a:p>
            <a:pPr algn="r">
              <a:lnSpc>
                <a:spcPct val="190000"/>
              </a:lnSpc>
            </a:pPr>
            <a:r>
              <a:rPr lang="en-US" altLang="en-US" sz="3000" b="1">
                <a:latin typeface="Helvetica" charset="0"/>
                <a:ea typeface="Helvetica" charset="0"/>
                <a:cs typeface="Helvetica" charset="0"/>
                <a:sym typeface="Helvetica" charset="0"/>
              </a:rPr>
              <a:t>Apr 4</a:t>
            </a:r>
          </a:p>
          <a:p>
            <a:pPr algn="r">
              <a:lnSpc>
                <a:spcPct val="190000"/>
              </a:lnSpc>
            </a:pPr>
            <a:r>
              <a:rPr lang="en-US" altLang="en-US" sz="3000" b="1">
                <a:latin typeface="Helvetica" charset="0"/>
                <a:ea typeface="Helvetica" charset="0"/>
                <a:cs typeface="Helvetica" charset="0"/>
                <a:sym typeface="Helvetica" charset="0"/>
              </a:rPr>
              <a:t>Apr 11</a:t>
            </a:r>
          </a:p>
          <a:p>
            <a:pPr algn="r">
              <a:lnSpc>
                <a:spcPct val="190000"/>
              </a:lnSpc>
            </a:pPr>
            <a:r>
              <a:rPr lang="en-US" altLang="en-US" sz="3000" b="1">
                <a:latin typeface="Helvetica" charset="0"/>
                <a:ea typeface="Helvetica" charset="0"/>
                <a:cs typeface="Helvetica" charset="0"/>
                <a:sym typeface="Helvetica" charset="0"/>
              </a:rPr>
              <a:t>Apr 18</a:t>
            </a:r>
          </a:p>
          <a:p>
            <a:pPr algn="r">
              <a:lnSpc>
                <a:spcPct val="190000"/>
              </a:lnSpc>
            </a:pPr>
            <a:r>
              <a:rPr lang="en-US" altLang="en-US" sz="3000" b="1">
                <a:latin typeface="Helvetica" charset="0"/>
                <a:ea typeface="Helvetica" charset="0"/>
                <a:cs typeface="Helvetica" charset="0"/>
                <a:sym typeface="Helvetica" charset="0"/>
              </a:rPr>
              <a:t>Apr 25</a:t>
            </a:r>
          </a:p>
        </p:txBody>
      </p:sp>
      <p:sp>
        <p:nvSpPr>
          <p:cNvPr id="25604" name="Rectangle 4"/>
          <p:cNvSpPr>
            <a:spLocks/>
          </p:cNvSpPr>
          <p:nvPr/>
        </p:nvSpPr>
        <p:spPr bwMode="auto">
          <a:xfrm>
            <a:off x="2505075" y="3724275"/>
            <a:ext cx="3413125" cy="123190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Topic 1:</a:t>
            </a:r>
          </a:p>
          <a:p>
            <a:r>
              <a:rPr lang="en-US" altLang="en-US" sz="3000" b="1">
                <a:latin typeface="Helvetica" charset="0"/>
                <a:ea typeface="Helvetica" charset="0"/>
                <a:cs typeface="Helvetica" charset="0"/>
                <a:sym typeface="Helvetica" charset="0"/>
              </a:rPr>
              <a:t>Epidemiology</a:t>
            </a:r>
          </a:p>
        </p:txBody>
      </p:sp>
      <p:sp>
        <p:nvSpPr>
          <p:cNvPr id="25605" name="Rectangle 5"/>
          <p:cNvSpPr>
            <a:spLocks/>
          </p:cNvSpPr>
          <p:nvPr/>
        </p:nvSpPr>
        <p:spPr bwMode="auto">
          <a:xfrm>
            <a:off x="2505075" y="5561013"/>
            <a:ext cx="3413125" cy="123190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Topic 2:</a:t>
            </a:r>
          </a:p>
          <a:p>
            <a:r>
              <a:rPr lang="en-US" altLang="en-US" sz="3000" b="1">
                <a:latin typeface="Helvetica" charset="0"/>
                <a:ea typeface="Helvetica" charset="0"/>
                <a:cs typeface="Helvetica" charset="0"/>
                <a:sym typeface="Helvetica" charset="0"/>
              </a:rPr>
              <a:t>Imaging</a:t>
            </a:r>
          </a:p>
        </p:txBody>
      </p:sp>
      <p:sp>
        <p:nvSpPr>
          <p:cNvPr id="25606" name="Rectangle 6"/>
          <p:cNvSpPr>
            <a:spLocks/>
          </p:cNvSpPr>
          <p:nvPr/>
        </p:nvSpPr>
        <p:spPr bwMode="auto">
          <a:xfrm>
            <a:off x="2505075" y="7397750"/>
            <a:ext cx="3413125" cy="1230313"/>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Topic 3:</a:t>
            </a:r>
          </a:p>
          <a:p>
            <a:r>
              <a:rPr lang="en-US" altLang="en-US" sz="3000" b="1">
                <a:latin typeface="Helvetica" charset="0"/>
                <a:ea typeface="Helvetica" charset="0"/>
                <a:cs typeface="Helvetica" charset="0"/>
                <a:sym typeface="Helvetica" charset="0"/>
              </a:rPr>
              <a:t>Random walks</a:t>
            </a:r>
          </a:p>
        </p:txBody>
      </p:sp>
      <p:sp>
        <p:nvSpPr>
          <p:cNvPr id="25607" name="Rectangle 7"/>
          <p:cNvSpPr>
            <a:spLocks/>
          </p:cNvSpPr>
          <p:nvPr/>
        </p:nvSpPr>
        <p:spPr bwMode="auto">
          <a:xfrm>
            <a:off x="8829675" y="2716213"/>
            <a:ext cx="3413125" cy="57785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Spring Break</a:t>
            </a:r>
          </a:p>
        </p:txBody>
      </p:sp>
      <p:sp>
        <p:nvSpPr>
          <p:cNvPr id="25608" name="Rectangle 8"/>
          <p:cNvSpPr>
            <a:spLocks/>
          </p:cNvSpPr>
          <p:nvPr/>
        </p:nvSpPr>
        <p:spPr bwMode="auto">
          <a:xfrm>
            <a:off x="8829675" y="3724275"/>
            <a:ext cx="3413125" cy="123190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Topic 4:</a:t>
            </a:r>
          </a:p>
          <a:p>
            <a:r>
              <a:rPr lang="en-US" altLang="en-US" sz="3000" b="1">
                <a:latin typeface="Helvetica" charset="0"/>
                <a:ea typeface="Helvetica" charset="0"/>
                <a:cs typeface="Helvetica" charset="0"/>
                <a:sym typeface="Helvetica" charset="0"/>
              </a:rPr>
              <a:t>Information theory</a:t>
            </a:r>
          </a:p>
        </p:txBody>
      </p:sp>
      <p:sp>
        <p:nvSpPr>
          <p:cNvPr id="25609" name="Rectangle 9"/>
          <p:cNvSpPr>
            <a:spLocks/>
          </p:cNvSpPr>
          <p:nvPr/>
        </p:nvSpPr>
        <p:spPr bwMode="auto">
          <a:xfrm>
            <a:off x="8829675" y="5561013"/>
            <a:ext cx="3413125" cy="123190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Topic 5:</a:t>
            </a:r>
          </a:p>
          <a:p>
            <a:r>
              <a:rPr lang="en-US" altLang="en-US" sz="3000" b="1">
                <a:latin typeface="Helvetica" charset="0"/>
                <a:ea typeface="Helvetica" charset="0"/>
                <a:cs typeface="Helvetica" charset="0"/>
                <a:sym typeface="Helvetica" charset="0"/>
              </a:rPr>
              <a:t>Game theory</a:t>
            </a:r>
          </a:p>
        </p:txBody>
      </p:sp>
      <p:sp>
        <p:nvSpPr>
          <p:cNvPr id="25610" name="Rectangle 10"/>
          <p:cNvSpPr>
            <a:spLocks/>
          </p:cNvSpPr>
          <p:nvPr/>
        </p:nvSpPr>
        <p:spPr bwMode="auto">
          <a:xfrm>
            <a:off x="8829675" y="7397750"/>
            <a:ext cx="3413125" cy="1230313"/>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dirty="0">
                <a:latin typeface="Helvetica" charset="0"/>
                <a:ea typeface="Helvetica" charset="0"/>
                <a:cs typeface="Helvetica" charset="0"/>
                <a:sym typeface="Helvetica" charset="0"/>
              </a:rPr>
              <a:t>Topic 6:</a:t>
            </a:r>
          </a:p>
          <a:p>
            <a:r>
              <a:rPr lang="en-US" altLang="en-US" sz="3000" b="1" dirty="0" smtClean="0">
                <a:latin typeface="Helvetica" charset="0"/>
                <a:ea typeface="Helvetica" charset="0"/>
                <a:cs typeface="Helvetica" charset="0"/>
                <a:sym typeface="Helvetica" charset="0"/>
              </a:rPr>
              <a:t>Chaos or Projects</a:t>
            </a:r>
            <a:endParaRPr lang="en-US" altLang="en-US" sz="3000" b="1" dirty="0">
              <a:latin typeface="Helvetica" charset="0"/>
              <a:ea typeface="Helvetica" charset="0"/>
              <a:cs typeface="Helvetica" charset="0"/>
              <a:sym typeface="Helvetica" charset="0"/>
            </a:endParaRPr>
          </a:p>
        </p:txBody>
      </p:sp>
      <p:sp>
        <p:nvSpPr>
          <p:cNvPr id="25611" name="Rectangle 11"/>
          <p:cNvSpPr>
            <a:spLocks/>
          </p:cNvSpPr>
          <p:nvPr/>
        </p:nvSpPr>
        <p:spPr bwMode="auto">
          <a:xfrm>
            <a:off x="2505075" y="2716213"/>
            <a:ext cx="3413125" cy="577850"/>
          </a:xfrm>
          <a:prstGeom prst="rect">
            <a:avLst/>
          </a:prstGeom>
          <a:solidFill>
            <a:srgbClr val="FFFBA8"/>
          </a:solidFill>
          <a:ln w="9525"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latin typeface="Helvetica" charset="0"/>
                <a:ea typeface="Helvetica" charset="0"/>
                <a:cs typeface="Helvetica" charset="0"/>
                <a:sym typeface="Helvetica" charset="0"/>
              </a:rPr>
              <a:t>Introduction</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Grp="1" noChangeArrowheads="1"/>
          </p:cNvSpPr>
          <p:nvPr>
            <p:ph type="title"/>
          </p:nvPr>
        </p:nvSpPr>
        <p:spPr>
          <a:xfrm>
            <a:off x="436563" y="444500"/>
            <a:ext cx="12130087" cy="2159000"/>
          </a:xfrm>
        </p:spPr>
        <p:txBody>
          <a:bodyPr/>
          <a:lstStyle/>
          <a:p>
            <a:r>
              <a:rPr lang="en-US" altLang="en-US"/>
              <a:t>Each topic will include:</a:t>
            </a:r>
          </a:p>
        </p:txBody>
      </p:sp>
      <p:sp>
        <p:nvSpPr>
          <p:cNvPr id="26626" name="Rectangle 2"/>
          <p:cNvSpPr>
            <a:spLocks noGrp="1" noChangeArrowheads="1"/>
          </p:cNvSpPr>
          <p:nvPr>
            <p:ph type="body" idx="1"/>
          </p:nvPr>
        </p:nvSpPr>
        <p:spPr>
          <a:xfrm>
            <a:off x="1016000" y="1981200"/>
            <a:ext cx="11099800" cy="7391400"/>
          </a:xfrm>
        </p:spPr>
        <p:txBody>
          <a:bodyPr/>
          <a:lstStyle/>
          <a:p>
            <a:pPr marL="285750" indent="-285750">
              <a:buFont typeface="Arial" charset="0"/>
              <a:buChar char="•"/>
            </a:pPr>
            <a:r>
              <a:rPr lang="en-US" altLang="en-US" sz="3200" dirty="0" smtClean="0"/>
              <a:t>Class 1:  introductory class where a new topic will be presented via a discussion of a math paper.  </a:t>
            </a:r>
          </a:p>
          <a:p>
            <a:pPr marL="285750" indent="-285750">
              <a:buFont typeface="Arial" charset="0"/>
              <a:buChar char="•"/>
            </a:pPr>
            <a:r>
              <a:rPr lang="en-US" altLang="en-US" sz="3200" dirty="0" smtClean="0"/>
              <a:t>Class 2: the topic will be explored in more detail.  This class will usually include a short modeling activity, which will be done in small groups.</a:t>
            </a:r>
          </a:p>
          <a:p>
            <a:pPr marL="285750" indent="-285750">
              <a:buFont typeface="Arial" charset="0"/>
              <a:buChar char="•"/>
            </a:pPr>
            <a:r>
              <a:rPr lang="en-US" altLang="en-US" sz="3200" dirty="0" smtClean="0"/>
              <a:t>Class 3: a lab where ideas from the paper are simulated in </a:t>
            </a:r>
            <a:r>
              <a:rPr lang="en-US" altLang="en-US" sz="3200" dirty="0" err="1" smtClean="0"/>
              <a:t>Matlab</a:t>
            </a:r>
            <a:r>
              <a:rPr lang="en-US" altLang="en-US" sz="3200" dirty="0" smtClean="0"/>
              <a:t>.</a:t>
            </a:r>
          </a:p>
          <a:p>
            <a:pPr marL="285750" indent="-285750">
              <a:buFont typeface="Arial" charset="0"/>
              <a:buChar char="•"/>
            </a:pPr>
            <a:r>
              <a:rPr lang="en-US" altLang="en-US" sz="3200" dirty="0" smtClean="0"/>
              <a:t>Class 4: student presentations of papers, peer critiques of presentations</a:t>
            </a:r>
            <a:endParaRPr lang="en-US" altLang="en-US" sz="3200" dirty="0"/>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xfrm>
            <a:off x="436563" y="444500"/>
            <a:ext cx="12130087" cy="2159000"/>
          </a:xfrm>
        </p:spPr>
        <p:txBody>
          <a:bodyPr/>
          <a:lstStyle/>
          <a:p>
            <a:r>
              <a:rPr lang="en-US" altLang="en-US"/>
              <a:t>General two-week topic schedule</a:t>
            </a:r>
          </a:p>
        </p:txBody>
      </p:sp>
      <p:sp>
        <p:nvSpPr>
          <p:cNvPr id="27650" name="AutoShape 2"/>
          <p:cNvSpPr>
            <a:spLocks/>
          </p:cNvSpPr>
          <p:nvPr/>
        </p:nvSpPr>
        <p:spPr bwMode="auto">
          <a:xfrm>
            <a:off x="2606675"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Mon</a:t>
            </a:r>
          </a:p>
        </p:txBody>
      </p:sp>
      <p:sp>
        <p:nvSpPr>
          <p:cNvPr id="27651" name="AutoShape 3"/>
          <p:cNvSpPr>
            <a:spLocks/>
          </p:cNvSpPr>
          <p:nvPr/>
        </p:nvSpPr>
        <p:spPr bwMode="auto">
          <a:xfrm>
            <a:off x="4191000"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Tue</a:t>
            </a:r>
          </a:p>
        </p:txBody>
      </p:sp>
      <p:sp>
        <p:nvSpPr>
          <p:cNvPr id="27652" name="AutoShape 4"/>
          <p:cNvSpPr>
            <a:spLocks/>
          </p:cNvSpPr>
          <p:nvPr/>
        </p:nvSpPr>
        <p:spPr bwMode="auto">
          <a:xfrm>
            <a:off x="5773737" y="4202113"/>
            <a:ext cx="1147763"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Wed</a:t>
            </a:r>
          </a:p>
        </p:txBody>
      </p:sp>
      <p:sp>
        <p:nvSpPr>
          <p:cNvPr id="27653" name="AutoShape 5"/>
          <p:cNvSpPr>
            <a:spLocks/>
          </p:cNvSpPr>
          <p:nvPr/>
        </p:nvSpPr>
        <p:spPr bwMode="auto">
          <a:xfrm>
            <a:off x="7356475"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Thu</a:t>
            </a:r>
          </a:p>
        </p:txBody>
      </p:sp>
      <p:sp>
        <p:nvSpPr>
          <p:cNvPr id="27654" name="AutoShape 6"/>
          <p:cNvSpPr>
            <a:spLocks/>
          </p:cNvSpPr>
          <p:nvPr/>
        </p:nvSpPr>
        <p:spPr bwMode="auto">
          <a:xfrm>
            <a:off x="8940800"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Fri</a:t>
            </a:r>
          </a:p>
        </p:txBody>
      </p:sp>
      <p:sp>
        <p:nvSpPr>
          <p:cNvPr id="27657" name="AutoShape 9"/>
          <p:cNvSpPr>
            <a:spLocks/>
          </p:cNvSpPr>
          <p:nvPr/>
        </p:nvSpPr>
        <p:spPr bwMode="auto">
          <a:xfrm>
            <a:off x="2606675" y="7351215"/>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Mon</a:t>
            </a:r>
          </a:p>
        </p:txBody>
      </p:sp>
      <p:sp>
        <p:nvSpPr>
          <p:cNvPr id="27658" name="AutoShape 10"/>
          <p:cNvSpPr>
            <a:spLocks/>
          </p:cNvSpPr>
          <p:nvPr/>
        </p:nvSpPr>
        <p:spPr bwMode="auto">
          <a:xfrm>
            <a:off x="4191000" y="7351215"/>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Tue</a:t>
            </a:r>
          </a:p>
        </p:txBody>
      </p:sp>
      <p:sp>
        <p:nvSpPr>
          <p:cNvPr id="27659" name="AutoShape 11"/>
          <p:cNvSpPr>
            <a:spLocks/>
          </p:cNvSpPr>
          <p:nvPr/>
        </p:nvSpPr>
        <p:spPr bwMode="auto">
          <a:xfrm>
            <a:off x="5773737" y="7351215"/>
            <a:ext cx="1147763"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Wed</a:t>
            </a:r>
          </a:p>
        </p:txBody>
      </p:sp>
      <p:sp>
        <p:nvSpPr>
          <p:cNvPr id="27660" name="AutoShape 12"/>
          <p:cNvSpPr>
            <a:spLocks/>
          </p:cNvSpPr>
          <p:nvPr/>
        </p:nvSpPr>
        <p:spPr bwMode="auto">
          <a:xfrm>
            <a:off x="7356475" y="7351215"/>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Thu</a:t>
            </a:r>
          </a:p>
        </p:txBody>
      </p:sp>
      <p:sp>
        <p:nvSpPr>
          <p:cNvPr id="27661" name="AutoShape 13"/>
          <p:cNvSpPr>
            <a:spLocks/>
          </p:cNvSpPr>
          <p:nvPr/>
        </p:nvSpPr>
        <p:spPr bwMode="auto">
          <a:xfrm>
            <a:off x="8940800" y="7351215"/>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Fri</a:t>
            </a:r>
          </a:p>
        </p:txBody>
      </p:sp>
      <p:sp>
        <p:nvSpPr>
          <p:cNvPr id="27664" name="AutoShape 16"/>
          <p:cNvSpPr>
            <a:spLocks/>
          </p:cNvSpPr>
          <p:nvPr/>
        </p:nvSpPr>
        <p:spPr bwMode="auto">
          <a:xfrm>
            <a:off x="8940800" y="8973938"/>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smtClean="0">
                <a:latin typeface="Helvetica" charset="0"/>
                <a:ea typeface="Helvetica" charset="0"/>
                <a:cs typeface="Helvetica" charset="0"/>
                <a:sym typeface="Helvetica" charset="0"/>
              </a:rPr>
              <a:t>Fri</a:t>
            </a:r>
            <a:endParaRPr lang="en-US" altLang="en-US" sz="2400" b="1">
              <a:latin typeface="Helvetica" charset="0"/>
              <a:ea typeface="Helvetica" charset="0"/>
              <a:cs typeface="Helvetica" charset="0"/>
              <a:sym typeface="Helvetica" charset="0"/>
            </a:endParaRPr>
          </a:p>
        </p:txBody>
      </p:sp>
      <p:sp>
        <p:nvSpPr>
          <p:cNvPr id="27665" name="Line 17"/>
          <p:cNvSpPr>
            <a:spLocks noChangeShapeType="1"/>
          </p:cNvSpPr>
          <p:nvPr/>
        </p:nvSpPr>
        <p:spPr bwMode="auto">
          <a:xfrm>
            <a:off x="1947067" y="3365501"/>
            <a:ext cx="2639220" cy="709612"/>
          </a:xfrm>
          <a:prstGeom prst="line">
            <a:avLst/>
          </a:prstGeom>
          <a:noFill/>
          <a:ln w="38100" cap="flat" cmpd="sng">
            <a:solidFill>
              <a:srgbClr val="773F9B"/>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66" name="Line 18"/>
          <p:cNvSpPr>
            <a:spLocks noChangeShapeType="1"/>
          </p:cNvSpPr>
          <p:nvPr/>
        </p:nvSpPr>
        <p:spPr bwMode="auto">
          <a:xfrm>
            <a:off x="7013574" y="3476107"/>
            <a:ext cx="990600" cy="673619"/>
          </a:xfrm>
          <a:prstGeom prst="line">
            <a:avLst/>
          </a:prstGeom>
          <a:noFill/>
          <a:ln w="38100" cap="flat" cmpd="sng">
            <a:solidFill>
              <a:schemeClr val="accent1"/>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67" name="Line 19"/>
          <p:cNvSpPr>
            <a:spLocks noChangeShapeType="1"/>
          </p:cNvSpPr>
          <p:nvPr/>
        </p:nvSpPr>
        <p:spPr bwMode="auto">
          <a:xfrm>
            <a:off x="4191001" y="3908423"/>
            <a:ext cx="5897561" cy="1"/>
          </a:xfrm>
          <a:prstGeom prst="line">
            <a:avLst/>
          </a:prstGeom>
          <a:noFill/>
          <a:ln w="38100" cap="flat" cmpd="sng">
            <a:solidFill>
              <a:srgbClr val="C82506"/>
            </a:solidFill>
            <a:prstDash val="solid"/>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68" name="Line 20"/>
          <p:cNvSpPr>
            <a:spLocks noChangeShapeType="1"/>
          </p:cNvSpPr>
          <p:nvPr/>
        </p:nvSpPr>
        <p:spPr bwMode="auto">
          <a:xfrm flipH="1">
            <a:off x="9434512" y="3253393"/>
            <a:ext cx="1555750" cy="547281"/>
          </a:xfrm>
          <a:prstGeom prst="line">
            <a:avLst/>
          </a:prstGeom>
          <a:noFill/>
          <a:ln w="38100" cap="flat" cmpd="sng">
            <a:solidFill>
              <a:srgbClr val="C82506"/>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69" name="Rectangle 21"/>
          <p:cNvSpPr>
            <a:spLocks/>
          </p:cNvSpPr>
          <p:nvPr/>
        </p:nvSpPr>
        <p:spPr bwMode="auto">
          <a:xfrm>
            <a:off x="111917" y="2825365"/>
            <a:ext cx="1998663"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a:solidFill>
                  <a:srgbClr val="773F9B"/>
                </a:solidFill>
                <a:latin typeface="Helvetica" charset="0"/>
                <a:ea typeface="Helvetica" charset="0"/>
                <a:cs typeface="Helvetica" charset="0"/>
                <a:sym typeface="Helvetica" charset="0"/>
              </a:rPr>
              <a:t>Introduce new topic</a:t>
            </a:r>
          </a:p>
        </p:txBody>
      </p:sp>
      <p:sp>
        <p:nvSpPr>
          <p:cNvPr id="27670" name="Rectangle 22"/>
          <p:cNvSpPr>
            <a:spLocks/>
          </p:cNvSpPr>
          <p:nvPr/>
        </p:nvSpPr>
        <p:spPr bwMode="auto">
          <a:xfrm>
            <a:off x="4496989" y="2818791"/>
            <a:ext cx="3705225"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a:solidFill>
                  <a:schemeClr val="accent1"/>
                </a:solidFill>
                <a:latin typeface="Helvetica" charset="0"/>
                <a:ea typeface="Helvetica" charset="0"/>
                <a:cs typeface="Helvetica" charset="0"/>
                <a:sym typeface="Helvetica" charset="0"/>
              </a:rPr>
              <a:t>Modeling/discussion</a:t>
            </a:r>
          </a:p>
        </p:txBody>
      </p:sp>
      <p:sp>
        <p:nvSpPr>
          <p:cNvPr id="27672" name="Line 24"/>
          <p:cNvSpPr>
            <a:spLocks noChangeShapeType="1"/>
          </p:cNvSpPr>
          <p:nvPr/>
        </p:nvSpPr>
        <p:spPr bwMode="auto">
          <a:xfrm flipV="1">
            <a:off x="4368800" y="7162103"/>
            <a:ext cx="5719762" cy="31949"/>
          </a:xfrm>
          <a:prstGeom prst="line">
            <a:avLst/>
          </a:prstGeom>
          <a:noFill/>
          <a:ln w="38100" cap="flat" cmpd="sng">
            <a:solidFill>
              <a:srgbClr val="C82506"/>
            </a:solidFill>
            <a:prstDash val="solid"/>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73" name="Line 25"/>
          <p:cNvSpPr>
            <a:spLocks noChangeShapeType="1"/>
          </p:cNvSpPr>
          <p:nvPr/>
        </p:nvSpPr>
        <p:spPr bwMode="auto">
          <a:xfrm flipV="1">
            <a:off x="7013574" y="7286721"/>
            <a:ext cx="78581" cy="1019079"/>
          </a:xfrm>
          <a:prstGeom prst="line">
            <a:avLst/>
          </a:prstGeom>
          <a:noFill/>
          <a:ln w="38100" cap="flat" cmpd="sng">
            <a:solidFill>
              <a:srgbClr val="C82506"/>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74" name="Rectangle 26"/>
          <p:cNvSpPr>
            <a:spLocks/>
          </p:cNvSpPr>
          <p:nvPr/>
        </p:nvSpPr>
        <p:spPr bwMode="auto">
          <a:xfrm>
            <a:off x="5831680" y="8398469"/>
            <a:ext cx="2520950"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smtClean="0">
                <a:solidFill>
                  <a:srgbClr val="C82506"/>
                </a:solidFill>
                <a:latin typeface="Helvetica" charset="0"/>
                <a:ea typeface="Helvetica" charset="0"/>
                <a:cs typeface="Helvetica" charset="0"/>
                <a:sym typeface="Helvetica" charset="0"/>
              </a:rPr>
              <a:t>office </a:t>
            </a:r>
            <a:r>
              <a:rPr lang="en-US" altLang="en-US" sz="2600" b="1" dirty="0">
                <a:solidFill>
                  <a:srgbClr val="C82506"/>
                </a:solidFill>
                <a:latin typeface="Helvetica" charset="0"/>
                <a:ea typeface="Helvetica" charset="0"/>
                <a:cs typeface="Helvetica" charset="0"/>
                <a:sym typeface="Helvetica" charset="0"/>
              </a:rPr>
              <a:t>hours</a:t>
            </a:r>
          </a:p>
        </p:txBody>
      </p:sp>
      <p:sp>
        <p:nvSpPr>
          <p:cNvPr id="27675" name="Line 27"/>
          <p:cNvSpPr>
            <a:spLocks noChangeShapeType="1"/>
          </p:cNvSpPr>
          <p:nvPr/>
        </p:nvSpPr>
        <p:spPr bwMode="auto">
          <a:xfrm>
            <a:off x="7281066" y="6133601"/>
            <a:ext cx="481807" cy="1217614"/>
          </a:xfrm>
          <a:prstGeom prst="line">
            <a:avLst/>
          </a:prstGeom>
          <a:noFill/>
          <a:ln w="381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76" name="Rectangle 28"/>
          <p:cNvSpPr>
            <a:spLocks/>
          </p:cNvSpPr>
          <p:nvPr/>
        </p:nvSpPr>
        <p:spPr bwMode="auto">
          <a:xfrm>
            <a:off x="5603874" y="5307993"/>
            <a:ext cx="3057525" cy="742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a:solidFill>
                  <a:schemeClr val="accent2"/>
                </a:solidFill>
                <a:latin typeface="Helvetica" charset="0"/>
                <a:ea typeface="Helvetica" charset="0"/>
                <a:cs typeface="Helvetica" charset="0"/>
                <a:sym typeface="Helvetica" charset="0"/>
              </a:rPr>
              <a:t>Student presentations</a:t>
            </a:r>
          </a:p>
        </p:txBody>
      </p:sp>
      <p:sp>
        <p:nvSpPr>
          <p:cNvPr id="27677" name="Line 29"/>
          <p:cNvSpPr>
            <a:spLocks noChangeShapeType="1"/>
          </p:cNvSpPr>
          <p:nvPr/>
        </p:nvSpPr>
        <p:spPr bwMode="auto">
          <a:xfrm flipH="1">
            <a:off x="4749799" y="6133602"/>
            <a:ext cx="1" cy="977992"/>
          </a:xfrm>
          <a:prstGeom prst="line">
            <a:avLst/>
          </a:prstGeom>
          <a:noFill/>
          <a:ln w="38100" cap="flat" cmpd="sng">
            <a:solidFill>
              <a:schemeClr val="accent1"/>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dirty="0"/>
          </a:p>
        </p:txBody>
      </p:sp>
      <p:sp>
        <p:nvSpPr>
          <p:cNvPr id="27678" name="Rectangle 30"/>
          <p:cNvSpPr>
            <a:spLocks/>
          </p:cNvSpPr>
          <p:nvPr/>
        </p:nvSpPr>
        <p:spPr bwMode="auto">
          <a:xfrm>
            <a:off x="3750467" y="5333247"/>
            <a:ext cx="1998663" cy="742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smtClean="0">
                <a:solidFill>
                  <a:schemeClr val="accent1"/>
                </a:solidFill>
                <a:latin typeface="Helvetica" charset="0"/>
                <a:ea typeface="Helvetica" charset="0"/>
                <a:cs typeface="Helvetica" charset="0"/>
                <a:sym typeface="Helvetica" charset="0"/>
              </a:rPr>
              <a:t>Computer lab</a:t>
            </a:r>
            <a:endParaRPr lang="en-US" altLang="en-US" sz="2600" b="1" dirty="0">
              <a:solidFill>
                <a:schemeClr val="accent1"/>
              </a:solidFill>
              <a:latin typeface="Helvetica" charset="0"/>
              <a:ea typeface="Helvetica" charset="0"/>
              <a:cs typeface="Helvetica" charset="0"/>
              <a:sym typeface="Helvetica" charset="0"/>
            </a:endParaRPr>
          </a:p>
        </p:txBody>
      </p:sp>
      <p:sp>
        <p:nvSpPr>
          <p:cNvPr id="27679" name="Line 31"/>
          <p:cNvSpPr>
            <a:spLocks noChangeShapeType="1"/>
          </p:cNvSpPr>
          <p:nvPr/>
        </p:nvSpPr>
        <p:spPr bwMode="auto">
          <a:xfrm flipH="1">
            <a:off x="10277474" y="7622976"/>
            <a:ext cx="2068513" cy="1350962"/>
          </a:xfrm>
          <a:prstGeom prst="line">
            <a:avLst/>
          </a:prstGeom>
          <a:noFill/>
          <a:ln w="38100" cap="flat" cmpd="sng">
            <a:solidFill>
              <a:srgbClr val="DE6A1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680" name="Rectangle 32"/>
          <p:cNvSpPr>
            <a:spLocks/>
          </p:cNvSpPr>
          <p:nvPr/>
        </p:nvSpPr>
        <p:spPr bwMode="auto">
          <a:xfrm>
            <a:off x="10382249" y="6804711"/>
            <a:ext cx="3011488" cy="742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dirty="0">
                <a:solidFill>
                  <a:srgbClr val="DE6A10"/>
                </a:solidFill>
                <a:latin typeface="Helvetica" charset="0"/>
                <a:ea typeface="Helvetica" charset="0"/>
                <a:cs typeface="Helvetica" charset="0"/>
                <a:sym typeface="Helvetica" charset="0"/>
              </a:rPr>
              <a:t>Homework assignment due</a:t>
            </a:r>
          </a:p>
        </p:txBody>
      </p:sp>
      <p:sp>
        <p:nvSpPr>
          <p:cNvPr id="27681" name="Rectangle 33"/>
          <p:cNvSpPr>
            <a:spLocks/>
          </p:cNvSpPr>
          <p:nvPr/>
        </p:nvSpPr>
        <p:spPr bwMode="auto">
          <a:xfrm>
            <a:off x="8693149" y="5209174"/>
            <a:ext cx="3011488"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a:solidFill>
                  <a:srgbClr val="DE6A10"/>
                </a:solidFill>
                <a:latin typeface="Helvetica" charset="0"/>
                <a:ea typeface="Helvetica" charset="0"/>
                <a:cs typeface="Helvetica" charset="0"/>
                <a:sym typeface="Helvetica" charset="0"/>
              </a:rPr>
              <a:t>Lab assignment due</a:t>
            </a:r>
          </a:p>
        </p:txBody>
      </p:sp>
      <p:sp>
        <p:nvSpPr>
          <p:cNvPr id="27682" name="Line 34"/>
          <p:cNvSpPr>
            <a:spLocks noChangeShapeType="1"/>
          </p:cNvSpPr>
          <p:nvPr/>
        </p:nvSpPr>
        <p:spPr bwMode="auto">
          <a:xfrm flipH="1">
            <a:off x="9782968" y="6133601"/>
            <a:ext cx="284165" cy="935831"/>
          </a:xfrm>
          <a:prstGeom prst="line">
            <a:avLst/>
          </a:prstGeom>
          <a:noFill/>
          <a:ln w="38100" cap="flat" cmpd="sng">
            <a:solidFill>
              <a:srgbClr val="DE6A1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36" name="Rectangle 26"/>
          <p:cNvSpPr>
            <a:spLocks/>
          </p:cNvSpPr>
          <p:nvPr/>
        </p:nvSpPr>
        <p:spPr bwMode="auto">
          <a:xfrm>
            <a:off x="9856786" y="2835072"/>
            <a:ext cx="2520950"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smtClean="0">
                <a:solidFill>
                  <a:srgbClr val="C82506"/>
                </a:solidFill>
                <a:latin typeface="Helvetica" charset="0"/>
                <a:ea typeface="Helvetica" charset="0"/>
                <a:cs typeface="Helvetica" charset="0"/>
                <a:sym typeface="Helvetica" charset="0"/>
              </a:rPr>
              <a:t>office </a:t>
            </a:r>
            <a:r>
              <a:rPr lang="en-US" altLang="en-US" sz="2600" b="1" dirty="0">
                <a:solidFill>
                  <a:srgbClr val="C82506"/>
                </a:solidFill>
                <a:latin typeface="Helvetica" charset="0"/>
                <a:ea typeface="Helvetica" charset="0"/>
                <a:cs typeface="Helvetica" charset="0"/>
                <a:sym typeface="Helvetica" charset="0"/>
              </a:rPr>
              <a:t>hours</a:t>
            </a:r>
          </a:p>
        </p:txBody>
      </p:sp>
      <p:sp>
        <p:nvSpPr>
          <p:cNvPr id="37" name="Line 18"/>
          <p:cNvSpPr>
            <a:spLocks noChangeShapeType="1"/>
          </p:cNvSpPr>
          <p:nvPr/>
        </p:nvSpPr>
        <p:spPr bwMode="auto">
          <a:xfrm>
            <a:off x="758031" y="6531679"/>
            <a:ext cx="1710532" cy="1049723"/>
          </a:xfrm>
          <a:prstGeom prst="line">
            <a:avLst/>
          </a:prstGeom>
          <a:noFill/>
          <a:ln w="38100" cap="flat" cmpd="sng">
            <a:solidFill>
              <a:schemeClr val="accent1"/>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38" name="Rectangle 22"/>
          <p:cNvSpPr>
            <a:spLocks/>
          </p:cNvSpPr>
          <p:nvPr/>
        </p:nvSpPr>
        <p:spPr bwMode="auto">
          <a:xfrm>
            <a:off x="-51596" y="5401304"/>
            <a:ext cx="1998663" cy="10628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dirty="0" err="1" smtClean="0">
                <a:solidFill>
                  <a:schemeClr val="accent1"/>
                </a:solidFill>
                <a:latin typeface="Helvetica" charset="0"/>
                <a:ea typeface="Helvetica" charset="0"/>
                <a:cs typeface="Helvetica" charset="0"/>
                <a:sym typeface="Helvetica" charset="0"/>
              </a:rPr>
              <a:t>Matlab</a:t>
            </a:r>
            <a:r>
              <a:rPr lang="en-US" altLang="en-US" sz="2600" b="1" dirty="0" smtClean="0">
                <a:solidFill>
                  <a:schemeClr val="accent1"/>
                </a:solidFill>
                <a:latin typeface="Helvetica" charset="0"/>
                <a:ea typeface="Helvetica" charset="0"/>
                <a:cs typeface="Helvetica" charset="0"/>
                <a:sym typeface="Helvetica" charset="0"/>
              </a:rPr>
              <a:t> section with </a:t>
            </a:r>
            <a:r>
              <a:rPr lang="en-US" altLang="en-US" sz="2600" b="1" dirty="0" err="1" smtClean="0">
                <a:solidFill>
                  <a:schemeClr val="accent1"/>
                </a:solidFill>
                <a:latin typeface="Helvetica" charset="0"/>
                <a:ea typeface="Helvetica" charset="0"/>
                <a:cs typeface="Helvetica" charset="0"/>
                <a:sym typeface="Helvetica" charset="0"/>
              </a:rPr>
              <a:t>Ziwei</a:t>
            </a:r>
            <a:endParaRPr lang="en-US" altLang="en-US" sz="2600" b="1" dirty="0">
              <a:solidFill>
                <a:schemeClr val="accent1"/>
              </a:solidFill>
              <a:latin typeface="Helvetica" charset="0"/>
              <a:ea typeface="Helvetica" charset="0"/>
              <a:cs typeface="Helvetica" charset="0"/>
              <a:sym typeface="Helvetica" charset="0"/>
            </a:endParaRPr>
          </a:p>
        </p:txBody>
      </p:sp>
      <p:sp>
        <p:nvSpPr>
          <p:cNvPr id="39" name="Line 18"/>
          <p:cNvSpPr>
            <a:spLocks noChangeShapeType="1"/>
          </p:cNvSpPr>
          <p:nvPr/>
        </p:nvSpPr>
        <p:spPr bwMode="auto">
          <a:xfrm flipV="1">
            <a:off x="1549400" y="5060067"/>
            <a:ext cx="1057275" cy="502533"/>
          </a:xfrm>
          <a:prstGeom prst="line">
            <a:avLst/>
          </a:prstGeom>
          <a:noFill/>
          <a:ln w="38100" cap="flat" cmpd="sng">
            <a:solidFill>
              <a:schemeClr val="accent1"/>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436563" y="444500"/>
            <a:ext cx="12130087" cy="2159000"/>
          </a:xfrm>
        </p:spPr>
        <p:txBody>
          <a:bodyPr/>
          <a:lstStyle/>
          <a:p>
            <a:r>
              <a:rPr lang="en-US" altLang="en-US"/>
              <a:t>Introductory week</a:t>
            </a:r>
          </a:p>
        </p:txBody>
      </p:sp>
      <p:sp>
        <p:nvSpPr>
          <p:cNvPr id="28675" name="AutoShape 3"/>
          <p:cNvSpPr>
            <a:spLocks/>
          </p:cNvSpPr>
          <p:nvPr/>
        </p:nvSpPr>
        <p:spPr bwMode="auto">
          <a:xfrm>
            <a:off x="1289049"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Mon</a:t>
            </a:r>
          </a:p>
        </p:txBody>
      </p:sp>
      <p:sp>
        <p:nvSpPr>
          <p:cNvPr id="28676" name="AutoShape 4"/>
          <p:cNvSpPr>
            <a:spLocks/>
          </p:cNvSpPr>
          <p:nvPr/>
        </p:nvSpPr>
        <p:spPr bwMode="auto">
          <a:xfrm>
            <a:off x="2873374"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Tue</a:t>
            </a:r>
          </a:p>
        </p:txBody>
      </p:sp>
      <p:sp>
        <p:nvSpPr>
          <p:cNvPr id="28677" name="AutoShape 5"/>
          <p:cNvSpPr>
            <a:spLocks/>
          </p:cNvSpPr>
          <p:nvPr/>
        </p:nvSpPr>
        <p:spPr bwMode="auto">
          <a:xfrm>
            <a:off x="4456111" y="4202113"/>
            <a:ext cx="1147763"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Wed</a:t>
            </a:r>
          </a:p>
        </p:txBody>
      </p:sp>
      <p:sp>
        <p:nvSpPr>
          <p:cNvPr id="28678" name="AutoShape 6"/>
          <p:cNvSpPr>
            <a:spLocks/>
          </p:cNvSpPr>
          <p:nvPr/>
        </p:nvSpPr>
        <p:spPr bwMode="auto">
          <a:xfrm>
            <a:off x="6038849"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Thu</a:t>
            </a:r>
          </a:p>
        </p:txBody>
      </p:sp>
      <p:sp>
        <p:nvSpPr>
          <p:cNvPr id="28679" name="AutoShape 7"/>
          <p:cNvSpPr>
            <a:spLocks/>
          </p:cNvSpPr>
          <p:nvPr/>
        </p:nvSpPr>
        <p:spPr bwMode="auto">
          <a:xfrm>
            <a:off x="7623174" y="4202113"/>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Fri</a:t>
            </a:r>
          </a:p>
        </p:txBody>
      </p:sp>
      <p:sp>
        <p:nvSpPr>
          <p:cNvPr id="28682" name="AutoShape 10"/>
          <p:cNvSpPr>
            <a:spLocks/>
          </p:cNvSpPr>
          <p:nvPr/>
        </p:nvSpPr>
        <p:spPr bwMode="auto">
          <a:xfrm>
            <a:off x="1346199" y="6248400"/>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dirty="0">
                <a:latin typeface="Helvetica" charset="0"/>
                <a:ea typeface="Helvetica" charset="0"/>
                <a:cs typeface="Helvetica" charset="0"/>
                <a:sym typeface="Helvetica" charset="0"/>
              </a:rPr>
              <a:t>Mon</a:t>
            </a:r>
          </a:p>
        </p:txBody>
      </p:sp>
      <p:sp>
        <p:nvSpPr>
          <p:cNvPr id="28683" name="Line 11"/>
          <p:cNvSpPr>
            <a:spLocks noChangeShapeType="1"/>
          </p:cNvSpPr>
          <p:nvPr/>
        </p:nvSpPr>
        <p:spPr bwMode="auto">
          <a:xfrm>
            <a:off x="2300286" y="3357563"/>
            <a:ext cx="1150937" cy="717550"/>
          </a:xfrm>
          <a:prstGeom prst="line">
            <a:avLst/>
          </a:prstGeom>
          <a:noFill/>
          <a:ln w="38100" cap="flat" cmpd="sng">
            <a:solidFill>
              <a:srgbClr val="773F9B"/>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8684" name="Line 12"/>
          <p:cNvSpPr>
            <a:spLocks noChangeShapeType="1"/>
          </p:cNvSpPr>
          <p:nvPr/>
        </p:nvSpPr>
        <p:spPr bwMode="auto">
          <a:xfrm flipH="1">
            <a:off x="4948236" y="3290888"/>
            <a:ext cx="249238" cy="784225"/>
          </a:xfrm>
          <a:prstGeom prst="line">
            <a:avLst/>
          </a:prstGeom>
          <a:noFill/>
          <a:ln w="38100" cap="flat" cmpd="sng">
            <a:solidFill>
              <a:schemeClr val="accent1"/>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8687" name="Rectangle 15"/>
          <p:cNvSpPr>
            <a:spLocks/>
          </p:cNvSpPr>
          <p:nvPr/>
        </p:nvSpPr>
        <p:spPr bwMode="auto">
          <a:xfrm>
            <a:off x="1150936" y="2233613"/>
            <a:ext cx="1998663"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a:solidFill>
                  <a:srgbClr val="773F9B"/>
                </a:solidFill>
                <a:latin typeface="Helvetica" charset="0"/>
                <a:ea typeface="Helvetica" charset="0"/>
                <a:cs typeface="Helvetica" charset="0"/>
                <a:sym typeface="Helvetica" charset="0"/>
              </a:rPr>
              <a:t>Today’s intro lecture</a:t>
            </a:r>
          </a:p>
        </p:txBody>
      </p:sp>
      <p:sp>
        <p:nvSpPr>
          <p:cNvPr id="28688" name="Rectangle 16"/>
          <p:cNvSpPr>
            <a:spLocks/>
          </p:cNvSpPr>
          <p:nvPr/>
        </p:nvSpPr>
        <p:spPr bwMode="auto">
          <a:xfrm>
            <a:off x="3221830" y="2563610"/>
            <a:ext cx="3465513"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a:solidFill>
                  <a:schemeClr val="accent1"/>
                </a:solidFill>
                <a:latin typeface="Helvetica" charset="0"/>
                <a:ea typeface="Helvetica" charset="0"/>
                <a:cs typeface="Helvetica" charset="0"/>
                <a:sym typeface="Helvetica" charset="0"/>
              </a:rPr>
              <a:t>Modeling/discussion</a:t>
            </a:r>
          </a:p>
        </p:txBody>
      </p:sp>
      <p:sp>
        <p:nvSpPr>
          <p:cNvPr id="28689" name="Rectangle 17"/>
          <p:cNvSpPr>
            <a:spLocks/>
          </p:cNvSpPr>
          <p:nvPr/>
        </p:nvSpPr>
        <p:spPr bwMode="auto">
          <a:xfrm>
            <a:off x="1067592" y="7984381"/>
            <a:ext cx="8189912" cy="20969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dirty="0" err="1" smtClean="0">
                <a:solidFill>
                  <a:srgbClr val="C82506"/>
                </a:solidFill>
                <a:latin typeface="Helvetica" charset="0"/>
                <a:ea typeface="Helvetica" charset="0"/>
                <a:cs typeface="Helvetica" charset="0"/>
                <a:sym typeface="Helvetica" charset="0"/>
              </a:rPr>
              <a:t>Matlab</a:t>
            </a:r>
            <a:r>
              <a:rPr lang="en-US" altLang="en-US" sz="2600" b="1" dirty="0" smtClean="0">
                <a:solidFill>
                  <a:srgbClr val="C82506"/>
                </a:solidFill>
                <a:latin typeface="Helvetica" charset="0"/>
                <a:ea typeface="Helvetica" charset="0"/>
                <a:cs typeface="Helvetica" charset="0"/>
                <a:sym typeface="Helvetica" charset="0"/>
              </a:rPr>
              <a:t> </a:t>
            </a:r>
            <a:r>
              <a:rPr lang="en-US" altLang="en-US" sz="2600" b="1" dirty="0" err="1" smtClean="0">
                <a:solidFill>
                  <a:srgbClr val="C82506"/>
                </a:solidFill>
                <a:latin typeface="Helvetica" charset="0"/>
                <a:ea typeface="Helvetica" charset="0"/>
                <a:cs typeface="Helvetica" charset="0"/>
                <a:sym typeface="Helvetica" charset="0"/>
              </a:rPr>
              <a:t>bootcamp</a:t>
            </a:r>
            <a:endParaRPr lang="en-US" altLang="en-US" sz="2600" b="1" dirty="0" smtClean="0">
              <a:solidFill>
                <a:srgbClr val="C82506"/>
              </a:solidFill>
              <a:latin typeface="Helvetica" charset="0"/>
              <a:ea typeface="Helvetica" charset="0"/>
              <a:cs typeface="Helvetica" charset="0"/>
              <a:sym typeface="Helvetica" charset="0"/>
            </a:endParaRPr>
          </a:p>
          <a:p>
            <a:pPr>
              <a:lnSpc>
                <a:spcPct val="80000"/>
              </a:lnSpc>
            </a:pPr>
            <a:r>
              <a:rPr lang="en-US" sz="2800" dirty="0" smtClean="0">
                <a:hlinkClick r:id="rId2"/>
              </a:rPr>
              <a:t>https://wiki.harvard.edu/confluence/display/fasmatlab/MATLAB+Boot+Camp+Home</a:t>
            </a:r>
            <a:endParaRPr lang="en-US" sz="2800" dirty="0" smtClean="0"/>
          </a:p>
          <a:p>
            <a:pPr>
              <a:lnSpc>
                <a:spcPct val="80000"/>
              </a:lnSpc>
            </a:pPr>
            <a:endParaRPr lang="en-US" sz="2800" dirty="0" smtClean="0"/>
          </a:p>
          <a:p>
            <a:pPr>
              <a:lnSpc>
                <a:spcPct val="80000"/>
              </a:lnSpc>
            </a:pPr>
            <a:endParaRPr lang="en-US" altLang="en-US" sz="2600" b="1" dirty="0" smtClean="0">
              <a:solidFill>
                <a:srgbClr val="C82506"/>
              </a:solidFill>
              <a:latin typeface="Helvetica" charset="0"/>
              <a:ea typeface="Helvetica" charset="0"/>
              <a:cs typeface="Helvetica" charset="0"/>
              <a:sym typeface="Helvetica" charset="0"/>
            </a:endParaRPr>
          </a:p>
          <a:p>
            <a:pPr>
              <a:lnSpc>
                <a:spcPct val="80000"/>
              </a:lnSpc>
            </a:pPr>
            <a:endParaRPr lang="en-US" altLang="en-US" sz="2600" b="1" dirty="0">
              <a:solidFill>
                <a:srgbClr val="C82506"/>
              </a:solidFill>
              <a:latin typeface="Helvetica" charset="0"/>
              <a:ea typeface="Helvetica" charset="0"/>
              <a:cs typeface="Helvetica" charset="0"/>
              <a:sym typeface="Helvetica" charset="0"/>
            </a:endParaRPr>
          </a:p>
        </p:txBody>
      </p:sp>
      <p:sp>
        <p:nvSpPr>
          <p:cNvPr id="21" name="AutoShape 7"/>
          <p:cNvSpPr>
            <a:spLocks/>
          </p:cNvSpPr>
          <p:nvPr/>
        </p:nvSpPr>
        <p:spPr bwMode="auto">
          <a:xfrm>
            <a:off x="7677943" y="6248399"/>
            <a:ext cx="1147762" cy="611187"/>
          </a:xfrm>
          <a:prstGeom prst="roundRect">
            <a:avLst>
              <a:gd name="adj" fmla="val 19417"/>
            </a:avLst>
          </a:prstGeom>
          <a:solidFill>
            <a:srgbClr val="F3F28F"/>
          </a:solidFill>
          <a:ln w="12700" cap="flat" cmpd="sng">
            <a:solidFill>
              <a:srgbClr val="F5D328"/>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2400" b="1">
                <a:latin typeface="Helvetica" charset="0"/>
                <a:ea typeface="Helvetica" charset="0"/>
                <a:cs typeface="Helvetica" charset="0"/>
                <a:sym typeface="Helvetica" charset="0"/>
              </a:rPr>
              <a:t>Fri</a:t>
            </a:r>
          </a:p>
        </p:txBody>
      </p:sp>
      <p:sp>
        <p:nvSpPr>
          <p:cNvPr id="22" name="Rectangle 33"/>
          <p:cNvSpPr>
            <a:spLocks/>
          </p:cNvSpPr>
          <p:nvPr/>
        </p:nvSpPr>
        <p:spPr bwMode="auto">
          <a:xfrm>
            <a:off x="9586912" y="7624155"/>
            <a:ext cx="3011488"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smtClean="0">
                <a:solidFill>
                  <a:srgbClr val="DE6A10"/>
                </a:solidFill>
                <a:latin typeface="Helvetica" charset="0"/>
                <a:ea typeface="Helvetica" charset="0"/>
                <a:cs typeface="Helvetica" charset="0"/>
                <a:sym typeface="Helvetica" charset="0"/>
              </a:rPr>
              <a:t>HW 0, Lab 0 due</a:t>
            </a:r>
            <a:endParaRPr lang="en-US" altLang="en-US" sz="2600" b="1" dirty="0">
              <a:solidFill>
                <a:srgbClr val="DE6A10"/>
              </a:solidFill>
              <a:latin typeface="Helvetica" charset="0"/>
              <a:ea typeface="Helvetica" charset="0"/>
              <a:cs typeface="Helvetica" charset="0"/>
              <a:sym typeface="Helvetica" charset="0"/>
            </a:endParaRPr>
          </a:p>
        </p:txBody>
      </p:sp>
      <p:sp>
        <p:nvSpPr>
          <p:cNvPr id="23" name="Line 34"/>
          <p:cNvSpPr>
            <a:spLocks noChangeShapeType="1"/>
          </p:cNvSpPr>
          <p:nvPr/>
        </p:nvSpPr>
        <p:spPr bwMode="auto">
          <a:xfrm flipH="1" flipV="1">
            <a:off x="8869360" y="6935990"/>
            <a:ext cx="776289" cy="688352"/>
          </a:xfrm>
          <a:prstGeom prst="line">
            <a:avLst/>
          </a:prstGeom>
          <a:noFill/>
          <a:ln w="38100" cap="flat" cmpd="sng">
            <a:solidFill>
              <a:srgbClr val="DE6A1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4" name="Line 18"/>
          <p:cNvSpPr>
            <a:spLocks noChangeShapeType="1"/>
          </p:cNvSpPr>
          <p:nvPr/>
        </p:nvSpPr>
        <p:spPr bwMode="auto">
          <a:xfrm flipH="1" flipV="1">
            <a:off x="2605084" y="6859586"/>
            <a:ext cx="2343151" cy="989014"/>
          </a:xfrm>
          <a:prstGeom prst="line">
            <a:avLst/>
          </a:pr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5" name="Rectangle 33"/>
          <p:cNvSpPr>
            <a:spLocks/>
          </p:cNvSpPr>
          <p:nvPr/>
        </p:nvSpPr>
        <p:spPr bwMode="auto">
          <a:xfrm>
            <a:off x="3691728" y="5866350"/>
            <a:ext cx="3011488"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dirty="0" smtClean="0">
                <a:solidFill>
                  <a:srgbClr val="DE6A10"/>
                </a:solidFill>
                <a:latin typeface="Helvetica" charset="0"/>
                <a:ea typeface="Helvetica" charset="0"/>
                <a:cs typeface="Helvetica" charset="0"/>
                <a:sym typeface="Helvetica" charset="0"/>
              </a:rPr>
              <a:t>Lab 0 with </a:t>
            </a:r>
            <a:r>
              <a:rPr lang="en-US" altLang="en-US" sz="2600" b="1" dirty="0" err="1" smtClean="0">
                <a:solidFill>
                  <a:srgbClr val="DE6A10"/>
                </a:solidFill>
                <a:latin typeface="Helvetica" charset="0"/>
                <a:ea typeface="Helvetica" charset="0"/>
                <a:cs typeface="Helvetica" charset="0"/>
                <a:sym typeface="Helvetica" charset="0"/>
              </a:rPr>
              <a:t>Ziwei</a:t>
            </a:r>
            <a:endParaRPr lang="en-US" altLang="en-US" sz="2600" b="1" dirty="0">
              <a:solidFill>
                <a:srgbClr val="DE6A10"/>
              </a:solidFill>
              <a:latin typeface="Helvetica" charset="0"/>
              <a:ea typeface="Helvetica" charset="0"/>
              <a:cs typeface="Helvetica" charset="0"/>
              <a:sym typeface="Helvetica" charset="0"/>
            </a:endParaRPr>
          </a:p>
        </p:txBody>
      </p:sp>
      <p:sp>
        <p:nvSpPr>
          <p:cNvPr id="26" name="Line 34"/>
          <p:cNvSpPr>
            <a:spLocks noChangeShapeType="1"/>
          </p:cNvSpPr>
          <p:nvPr/>
        </p:nvSpPr>
        <p:spPr bwMode="auto">
          <a:xfrm flipH="1">
            <a:off x="2592385" y="6121586"/>
            <a:ext cx="1243016" cy="166736"/>
          </a:xfrm>
          <a:prstGeom prst="line">
            <a:avLst/>
          </a:prstGeom>
          <a:noFill/>
          <a:ln w="38100" cap="flat" cmpd="sng">
            <a:solidFill>
              <a:srgbClr val="DE6A1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27" name="Rectangle 33"/>
          <p:cNvSpPr>
            <a:spLocks/>
          </p:cNvSpPr>
          <p:nvPr/>
        </p:nvSpPr>
        <p:spPr bwMode="auto">
          <a:xfrm>
            <a:off x="8770936" y="3155349"/>
            <a:ext cx="3011488" cy="7427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dirty="0" smtClean="0">
                <a:solidFill>
                  <a:srgbClr val="00B050"/>
                </a:solidFill>
                <a:latin typeface="Helvetica" charset="0"/>
                <a:ea typeface="Helvetica" charset="0"/>
                <a:cs typeface="Helvetica" charset="0"/>
                <a:sym typeface="Helvetica" charset="0"/>
              </a:rPr>
              <a:t>HW 0, Lab 0 posted</a:t>
            </a:r>
            <a:endParaRPr lang="en-US" altLang="en-US" sz="2600" b="1" dirty="0">
              <a:solidFill>
                <a:srgbClr val="00B050"/>
              </a:solidFill>
              <a:latin typeface="Helvetica" charset="0"/>
              <a:ea typeface="Helvetica" charset="0"/>
              <a:cs typeface="Helvetica" charset="0"/>
              <a:sym typeface="Helvetica" charset="0"/>
            </a:endParaRPr>
          </a:p>
        </p:txBody>
      </p:sp>
      <p:sp>
        <p:nvSpPr>
          <p:cNvPr id="28" name="Line 34"/>
          <p:cNvSpPr>
            <a:spLocks noChangeShapeType="1"/>
          </p:cNvSpPr>
          <p:nvPr/>
        </p:nvSpPr>
        <p:spPr bwMode="auto">
          <a:xfrm flipH="1">
            <a:off x="8869360" y="4033895"/>
            <a:ext cx="1366840" cy="552385"/>
          </a:xfrm>
          <a:prstGeom prst="line">
            <a:avLst/>
          </a:prstGeom>
          <a:noFill/>
          <a:ln w="38100" cap="flat" cmpd="sng">
            <a:solidFill>
              <a:srgbClr val="00B050"/>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xfrm>
            <a:off x="436563" y="330200"/>
            <a:ext cx="12130087" cy="2159000"/>
          </a:xfrm>
        </p:spPr>
        <p:txBody>
          <a:bodyPr/>
          <a:lstStyle/>
          <a:p>
            <a:r>
              <a:rPr lang="en-US" altLang="en-US" dirty="0" err="1"/>
              <a:t>Homeworks</a:t>
            </a:r>
            <a:r>
              <a:rPr lang="en-US" altLang="en-US" dirty="0"/>
              <a:t>/labs: some programming in </a:t>
            </a:r>
            <a:r>
              <a:rPr lang="en-US" altLang="en-US" dirty="0" err="1" smtClean="0"/>
              <a:t>Matlab</a:t>
            </a:r>
            <a:endParaRPr lang="en-US" altLang="en-US" dirty="0"/>
          </a:p>
        </p:txBody>
      </p:sp>
      <p:sp>
        <p:nvSpPr>
          <p:cNvPr id="29698" name="Rectangle 2"/>
          <p:cNvSpPr>
            <a:spLocks noGrp="1" noChangeArrowheads="1"/>
          </p:cNvSpPr>
          <p:nvPr>
            <p:ph type="body" idx="1"/>
          </p:nvPr>
        </p:nvSpPr>
        <p:spPr>
          <a:xfrm>
            <a:off x="952500" y="2581275"/>
            <a:ext cx="11099800" cy="5729288"/>
          </a:xfrm>
        </p:spPr>
        <p:txBody>
          <a:bodyPr/>
          <a:lstStyle/>
          <a:p>
            <a:pPr marL="422275" indent="-422275" defTabSz="554038">
              <a:spcBef>
                <a:spcPts val="2400"/>
              </a:spcBef>
              <a:buFont typeface="Arial" charset="0"/>
              <a:buChar char="•"/>
            </a:pPr>
            <a:r>
              <a:rPr lang="en-US" altLang="en-US" sz="3200" dirty="0" smtClean="0"/>
              <a:t>Computer programming is a great way to develop and test mathematical models</a:t>
            </a:r>
          </a:p>
          <a:p>
            <a:pPr marL="422275" indent="-422275" defTabSz="554038">
              <a:spcBef>
                <a:spcPts val="2400"/>
              </a:spcBef>
              <a:buFont typeface="Arial" charset="0"/>
              <a:buChar char="•"/>
            </a:pPr>
            <a:r>
              <a:rPr lang="en-US" altLang="en-US" sz="3200" dirty="0" smtClean="0"/>
              <a:t>We will make use of </a:t>
            </a:r>
            <a:r>
              <a:rPr lang="en-US" altLang="en-US" sz="3200" dirty="0" err="1" smtClean="0"/>
              <a:t>Matlab</a:t>
            </a:r>
            <a:r>
              <a:rPr lang="en-US" altLang="en-US" sz="3200" dirty="0" smtClean="0"/>
              <a:t> in this course</a:t>
            </a:r>
          </a:p>
          <a:p>
            <a:pPr marL="422275" indent="-422275" defTabSz="554038">
              <a:spcBef>
                <a:spcPts val="2400"/>
              </a:spcBef>
              <a:buFont typeface="Arial" charset="0"/>
              <a:buChar char="•"/>
            </a:pPr>
            <a:r>
              <a:rPr lang="en-US" altLang="en-US" sz="3200" dirty="0" smtClean="0"/>
              <a:t>We strongly encourage absolute beginners to take the course, and we will help as much as possible</a:t>
            </a:r>
          </a:p>
          <a:p>
            <a:pPr marL="422275" indent="-422275" defTabSz="554038">
              <a:spcBef>
                <a:spcPts val="2400"/>
              </a:spcBef>
              <a:buFont typeface="Arial" charset="0"/>
              <a:buChar char="•"/>
            </a:pPr>
            <a:r>
              <a:rPr lang="en-US" altLang="en-US" sz="3200" dirty="0" smtClean="0"/>
              <a:t>Why </a:t>
            </a:r>
            <a:r>
              <a:rPr lang="en-US" altLang="en-US" sz="3200" dirty="0" err="1" smtClean="0"/>
              <a:t>Matlab</a:t>
            </a:r>
            <a:r>
              <a:rPr lang="en-US" altLang="en-US" sz="3200" dirty="0" smtClean="0"/>
              <a:t>?  Used by many courses at Harvard, used by applied mathematicians and scientists, well-supported at Harvard</a:t>
            </a:r>
          </a:p>
        </p:txBody>
      </p:sp>
      <p:sp>
        <p:nvSpPr>
          <p:cNvPr id="29699" name="Rectangle 3"/>
          <p:cNvSpPr>
            <a:spLocks/>
          </p:cNvSpPr>
          <p:nvPr/>
        </p:nvSpPr>
        <p:spPr bwMode="auto">
          <a:xfrm>
            <a:off x="2092325" y="8826500"/>
            <a:ext cx="8818563"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r>
              <a:rPr lang="en-US" altLang="en-US" sz="2300" b="1" dirty="0">
                <a:latin typeface="Helvetica" charset="0"/>
                <a:ea typeface="Helvetica" charset="0"/>
                <a:cs typeface="Helvetica" charset="0"/>
                <a:sym typeface="Helvetica" charset="0"/>
              </a:rPr>
              <a:t>Note: for AM concentrators, this course counts toward the </a:t>
            </a:r>
            <a:r>
              <a:rPr lang="en-US" altLang="en-US" sz="2300" b="1" dirty="0">
                <a:solidFill>
                  <a:srgbClr val="773F9B"/>
                </a:solidFill>
                <a:latin typeface="Helvetica" charset="0"/>
                <a:ea typeface="Helvetica" charset="0"/>
                <a:cs typeface="Helvetica" charset="0"/>
                <a:sym typeface="Helvetica" charset="0"/>
              </a:rPr>
              <a:t>modeling</a:t>
            </a:r>
            <a:r>
              <a:rPr lang="en-US" altLang="en-US" sz="2300" b="1" dirty="0">
                <a:latin typeface="Helvetica" charset="0"/>
                <a:ea typeface="Helvetica" charset="0"/>
                <a:cs typeface="Helvetica" charset="0"/>
                <a:sym typeface="Helvetica" charset="0"/>
              </a:rPr>
              <a:t> requirement, not the </a:t>
            </a:r>
            <a:r>
              <a:rPr lang="en-US" altLang="en-US" sz="2300" b="1" dirty="0">
                <a:solidFill>
                  <a:srgbClr val="773F9B"/>
                </a:solidFill>
                <a:latin typeface="Helvetica" charset="0"/>
                <a:ea typeface="Helvetica" charset="0"/>
                <a:cs typeface="Helvetica" charset="0"/>
                <a:sym typeface="Helvetica" charset="0"/>
              </a:rPr>
              <a:t>computing</a:t>
            </a:r>
            <a:r>
              <a:rPr lang="en-US" altLang="en-US" sz="2300" b="1" dirty="0">
                <a:latin typeface="Helvetica" charset="0"/>
                <a:ea typeface="Helvetica" charset="0"/>
                <a:cs typeface="Helvetica" charset="0"/>
                <a:sym typeface="Helvetica" charset="0"/>
              </a:rPr>
              <a:t> requirement</a:t>
            </a:r>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p:nvPr>
        </p:nvSpPr>
        <p:spPr>
          <a:xfrm>
            <a:off x="436563" y="444500"/>
            <a:ext cx="12130087" cy="2159000"/>
          </a:xfrm>
        </p:spPr>
        <p:txBody>
          <a:bodyPr/>
          <a:lstStyle/>
          <a:p>
            <a:r>
              <a:rPr lang="en-US" altLang="en-US"/>
              <a:t>Collaboration policy</a:t>
            </a:r>
          </a:p>
        </p:txBody>
      </p:sp>
      <p:sp>
        <p:nvSpPr>
          <p:cNvPr id="30722" name="Rectangle 2"/>
          <p:cNvSpPr>
            <a:spLocks noGrp="1" noChangeArrowheads="1"/>
          </p:cNvSpPr>
          <p:nvPr>
            <p:ph type="body" idx="1"/>
          </p:nvPr>
        </p:nvSpPr>
        <p:spPr/>
        <p:txBody>
          <a:bodyPr/>
          <a:lstStyle/>
          <a:p>
            <a:r>
              <a:rPr lang="en-US" altLang="en-US" dirty="0"/>
              <a:t>Collaboration on the homework and labs is encouraged, but each student must write solutions </a:t>
            </a:r>
            <a:r>
              <a:rPr lang="en-US" altLang="en-US" i="1" dirty="0"/>
              <a:t>in </a:t>
            </a:r>
            <a:r>
              <a:rPr lang="en-US" altLang="en-US" i="1" dirty="0" smtClean="0"/>
              <a:t>their own </a:t>
            </a:r>
            <a:r>
              <a:rPr lang="en-US" altLang="en-US" i="1" dirty="0"/>
              <a:t>words</a:t>
            </a:r>
            <a:endParaRPr lang="en-US" altLang="en-US" dirty="0"/>
          </a:p>
          <a:p>
            <a:r>
              <a:rPr lang="en-US" altLang="en-US" dirty="0"/>
              <a:t>If you end up copying verbatim large sections of text, equations, or code from a friend, that’s not okay</a:t>
            </a:r>
          </a:p>
          <a:p>
            <a:r>
              <a:rPr lang="en-US" altLang="en-US" dirty="0"/>
              <a:t>Full academic integrity policy on website.</a:t>
            </a:r>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p:nvPr>
        </p:nvSpPr>
        <p:spPr>
          <a:xfrm>
            <a:off x="436563" y="444500"/>
            <a:ext cx="12130087" cy="2159000"/>
          </a:xfrm>
        </p:spPr>
        <p:txBody>
          <a:bodyPr/>
          <a:lstStyle/>
          <a:p>
            <a:r>
              <a:rPr lang="en-US" altLang="en-US"/>
              <a:t>Writing Mathematics</a:t>
            </a:r>
          </a:p>
        </p:txBody>
      </p:sp>
      <p:sp>
        <p:nvSpPr>
          <p:cNvPr id="31746" name="Rectangle 2"/>
          <p:cNvSpPr>
            <a:spLocks noGrp="1" noChangeArrowheads="1"/>
          </p:cNvSpPr>
          <p:nvPr>
            <p:ph type="body" sz="half" idx="1"/>
          </p:nvPr>
        </p:nvSpPr>
        <p:spPr>
          <a:xfrm>
            <a:off x="6286500" y="2317750"/>
            <a:ext cx="6197600" cy="6286500"/>
          </a:xfrm>
        </p:spPr>
        <p:txBody>
          <a:bodyPr/>
          <a:lstStyle/>
          <a:p>
            <a:pPr marL="417513" indent="-417513" defTabSz="547688">
              <a:spcBef>
                <a:spcPts val="2400"/>
              </a:spcBef>
            </a:pPr>
            <a:r>
              <a:rPr lang="en-US" altLang="en-US" sz="3300"/>
              <a:t>If you look at any good science textbook, you’ll see there’s a standard way of writing mathematical equations</a:t>
            </a:r>
          </a:p>
          <a:p>
            <a:pPr marL="417513" indent="-417513" defTabSz="547688">
              <a:spcBef>
                <a:spcPts val="2400"/>
              </a:spcBef>
            </a:pPr>
            <a:r>
              <a:rPr lang="en-US" altLang="en-US" sz="3300"/>
              <a:t>Equations should form part of full sentences, and should go with the flow of text</a:t>
            </a:r>
          </a:p>
          <a:p>
            <a:pPr marL="417513" indent="-417513" defTabSz="547688">
              <a:spcBef>
                <a:spcPts val="2400"/>
              </a:spcBef>
            </a:pPr>
            <a:r>
              <a:rPr lang="en-US" altLang="en-US" sz="3300"/>
              <a:t>We strongly encourage you to practice this in AM50</a:t>
            </a:r>
          </a:p>
        </p:txBody>
      </p:sp>
      <p:pic>
        <p:nvPicPr>
          <p:cNvPr id="31747" name="Picture 3" descr="sampl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21467514">
            <a:off x="309563" y="2759075"/>
            <a:ext cx="5813425" cy="474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1748" name="Rectangle 4"/>
          <p:cNvSpPr>
            <a:spLocks/>
          </p:cNvSpPr>
          <p:nvPr/>
        </p:nvSpPr>
        <p:spPr bwMode="auto">
          <a:xfrm>
            <a:off x="1516063" y="7632700"/>
            <a:ext cx="3402012"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r>
              <a:rPr lang="en-US" altLang="en-US" sz="2100" b="1">
                <a:latin typeface="Helvetica" charset="0"/>
                <a:ea typeface="Helvetica" charset="0"/>
                <a:cs typeface="Helvetica" charset="0"/>
                <a:sym typeface="Helvetica" charset="0"/>
              </a:rPr>
              <a:t>Sample from </a:t>
            </a:r>
            <a:r>
              <a:rPr lang="en-US" altLang="en-US" sz="2100" b="1" i="1">
                <a:latin typeface="Helvetica" charset="0"/>
                <a:ea typeface="Helvetica" charset="0"/>
                <a:cs typeface="Helvetica" charset="0"/>
                <a:sym typeface="Helvetica" charset="0"/>
              </a:rPr>
              <a:t>Introduction to Analysis</a:t>
            </a:r>
            <a:r>
              <a:rPr lang="en-US" altLang="en-US" sz="2100" b="1">
                <a:latin typeface="Helvetica" charset="0"/>
                <a:ea typeface="Helvetica" charset="0"/>
                <a:cs typeface="Helvetica" charset="0"/>
                <a:sym typeface="Helvetica" charset="0"/>
              </a:rPr>
              <a:t> by K. Ross</a:t>
            </a:r>
          </a:p>
        </p:txBody>
      </p:sp>
      <p:sp>
        <p:nvSpPr>
          <p:cNvPr id="31749" name="Rectangle 5"/>
          <p:cNvSpPr>
            <a:spLocks/>
          </p:cNvSpPr>
          <p:nvPr/>
        </p:nvSpPr>
        <p:spPr bwMode="auto">
          <a:xfrm>
            <a:off x="508000" y="2654300"/>
            <a:ext cx="5529263" cy="4719638"/>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solidFill>
                <a:srgbClr val="FFFFFF"/>
              </a:solidFill>
            </a:endParaRP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AutoShape 1"/>
          <p:cNvSpPr>
            <a:spLocks/>
          </p:cNvSpPr>
          <p:nvPr/>
        </p:nvSpPr>
        <p:spPr bwMode="auto">
          <a:xfrm>
            <a:off x="6554788" y="6211888"/>
            <a:ext cx="6202362" cy="2949575"/>
          </a:xfrm>
          <a:prstGeom prst="roundRect">
            <a:avLst>
              <a:gd name="adj" fmla="val 10296"/>
            </a:avLst>
          </a:prstGeom>
          <a:solidFill>
            <a:srgbClr val="FFFFFF"/>
          </a:solidFill>
          <a:ln w="38100" cap="flat" cmpd="sng">
            <a:solidFill>
              <a:srgbClr val="A6AAA9"/>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endParaRPr lang="en-US" altLang="en-US" sz="2400">
              <a:solidFill>
                <a:srgbClr val="FFFFFF"/>
              </a:solidFill>
            </a:endParaRPr>
          </a:p>
        </p:txBody>
      </p:sp>
      <p:sp>
        <p:nvSpPr>
          <p:cNvPr id="32770" name="AutoShape 2"/>
          <p:cNvSpPr>
            <a:spLocks/>
          </p:cNvSpPr>
          <p:nvPr/>
        </p:nvSpPr>
        <p:spPr bwMode="auto">
          <a:xfrm>
            <a:off x="6554788" y="2324100"/>
            <a:ext cx="6202362" cy="2949575"/>
          </a:xfrm>
          <a:prstGeom prst="roundRect">
            <a:avLst>
              <a:gd name="adj" fmla="val 10296"/>
            </a:avLst>
          </a:prstGeom>
          <a:solidFill>
            <a:srgbClr val="FFFFFF"/>
          </a:solidFill>
          <a:ln w="38100" cap="flat" cmpd="sng">
            <a:solidFill>
              <a:srgbClr val="A6AAA9"/>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endParaRPr lang="en-US" altLang="en-US" sz="2400">
              <a:solidFill>
                <a:srgbClr val="FFFFFF"/>
              </a:solidFill>
            </a:endParaRPr>
          </a:p>
        </p:txBody>
      </p:sp>
      <p:sp>
        <p:nvSpPr>
          <p:cNvPr id="32771" name="Rectangle 3"/>
          <p:cNvSpPr>
            <a:spLocks noGrp="1" noChangeArrowheads="1"/>
          </p:cNvSpPr>
          <p:nvPr>
            <p:ph type="title"/>
          </p:nvPr>
        </p:nvSpPr>
        <p:spPr>
          <a:xfrm>
            <a:off x="436563" y="444500"/>
            <a:ext cx="12130087" cy="2159000"/>
          </a:xfrm>
        </p:spPr>
        <p:txBody>
          <a:bodyPr/>
          <a:lstStyle/>
          <a:p>
            <a:r>
              <a:rPr lang="en-US" altLang="en-US"/>
              <a:t>Writing Mathematics</a:t>
            </a:r>
          </a:p>
        </p:txBody>
      </p:sp>
      <p:sp>
        <p:nvSpPr>
          <p:cNvPr id="32772" name="Rectangle 4"/>
          <p:cNvSpPr>
            <a:spLocks noGrp="1" noChangeArrowheads="1"/>
          </p:cNvSpPr>
          <p:nvPr>
            <p:ph type="body" sz="half" idx="1"/>
          </p:nvPr>
        </p:nvSpPr>
        <p:spPr>
          <a:xfrm>
            <a:off x="431800" y="2455863"/>
            <a:ext cx="5988050" cy="6592887"/>
          </a:xfrm>
        </p:spPr>
        <p:txBody>
          <a:bodyPr/>
          <a:lstStyle/>
          <a:p>
            <a:pPr marL="422275" indent="-422275" defTabSz="554038">
              <a:spcBef>
                <a:spcPts val="2400"/>
              </a:spcBef>
            </a:pPr>
            <a:r>
              <a:rPr lang="en-US" altLang="en-US" sz="3400" dirty="0" err="1"/>
              <a:t>LaTeX</a:t>
            </a:r>
            <a:r>
              <a:rPr lang="en-US" altLang="en-US" sz="3400" dirty="0"/>
              <a:t> is a free software package that is widely used for typesetting high-quality scientific documents</a:t>
            </a:r>
          </a:p>
          <a:p>
            <a:pPr marL="422275" indent="-422275" defTabSz="554038">
              <a:spcBef>
                <a:spcPts val="2400"/>
              </a:spcBef>
            </a:pPr>
            <a:r>
              <a:rPr lang="en-US" altLang="en-US" sz="3400" dirty="0"/>
              <a:t>It is exceptionally good for typesetting mathematical equations</a:t>
            </a:r>
          </a:p>
          <a:p>
            <a:pPr marL="422275" indent="-422275" defTabSz="554038">
              <a:spcBef>
                <a:spcPts val="2400"/>
              </a:spcBef>
            </a:pPr>
            <a:r>
              <a:rPr lang="en-US" altLang="en-US" sz="3400" dirty="0"/>
              <a:t>We encourage you to try it</a:t>
            </a:r>
          </a:p>
          <a:p>
            <a:pPr marL="422275" indent="-422275" defTabSz="554038">
              <a:spcBef>
                <a:spcPts val="2400"/>
              </a:spcBef>
            </a:pPr>
            <a:r>
              <a:rPr lang="en-US" altLang="en-US" sz="3400" dirty="0" smtClean="0"/>
              <a:t>Links will be </a:t>
            </a:r>
            <a:r>
              <a:rPr lang="en-US" altLang="en-US" sz="3400" dirty="0"/>
              <a:t>posted on the website</a:t>
            </a:r>
          </a:p>
        </p:txBody>
      </p:sp>
      <p:pic>
        <p:nvPicPr>
          <p:cNvPr id="32773" name="Picture 5" descr="lsamp.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85013" y="6823075"/>
            <a:ext cx="5264150" cy="172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2774" name="Rectangle 6"/>
          <p:cNvSpPr>
            <a:spLocks/>
          </p:cNvSpPr>
          <p:nvPr/>
        </p:nvSpPr>
        <p:spPr bwMode="auto">
          <a:xfrm>
            <a:off x="6664325" y="2679700"/>
            <a:ext cx="6105525" cy="238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lvl1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1pPr>
            <a:lvl2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2pPr>
            <a:lvl3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3pPr>
            <a:lvl4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4pPr>
            <a:lvl5pPr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5pPr>
            <a:lvl6pPr marL="457200" indent="914400" algn="ctr" defTabSz="45720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6pPr>
            <a:lvl7pPr marL="914400" indent="914400" algn="ctr" defTabSz="45720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7pPr>
            <a:lvl8pPr marL="1371600" indent="914400" algn="ctr" defTabSz="45720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8pPr>
            <a:lvl9pPr marL="1828800" indent="914400" algn="ctr" defTabSz="45720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600">
                <a:solidFill>
                  <a:srgbClr val="000000"/>
                </a:solidFill>
                <a:latin typeface="Helvetica Light" charset="0"/>
                <a:ea typeface="Helvetica Light" charset="0"/>
                <a:cs typeface="Helvetica Light" charset="0"/>
                <a:sym typeface="Helvetica Light" charset="0"/>
              </a:defRPr>
            </a:lvl9pPr>
          </a:lstStyle>
          <a:p>
            <a:pPr algn="l"/>
            <a:r>
              <a:rPr lang="en-US" altLang="en-US" sz="1700" b="1">
                <a:solidFill>
                  <a:schemeClr val="accent1"/>
                </a:solidFill>
                <a:latin typeface="Menlo" charset="0"/>
                <a:ea typeface="Menlo" charset="0"/>
                <a:cs typeface="Menlo" charset="0"/>
                <a:sym typeface="Menlo" charset="0"/>
              </a:rPr>
              <a:t>\documentclass[</a:t>
            </a:r>
            <a:r>
              <a:rPr lang="en-US" altLang="en-US" sz="1700" b="1">
                <a:solidFill>
                  <a:srgbClr val="773F9B"/>
                </a:solidFill>
                <a:latin typeface="Menlo" charset="0"/>
                <a:ea typeface="Menlo" charset="0"/>
                <a:cs typeface="Menlo" charset="0"/>
                <a:sym typeface="Menlo" charset="0"/>
              </a:rPr>
              <a:t>12pt</a:t>
            </a:r>
            <a:r>
              <a:rPr lang="en-US" altLang="en-US" sz="1700" b="1">
                <a:solidFill>
                  <a:schemeClr val="accent1"/>
                </a:solidFill>
                <a:latin typeface="Menlo" charset="0"/>
                <a:ea typeface="Menlo" charset="0"/>
                <a:cs typeface="Menlo" charset="0"/>
                <a:sym typeface="Menlo" charset="0"/>
              </a:rPr>
              <a:t>]{</a:t>
            </a:r>
            <a:r>
              <a:rPr lang="en-US" altLang="en-US" sz="1700" b="1">
                <a:solidFill>
                  <a:srgbClr val="C82506"/>
                </a:solidFill>
                <a:latin typeface="Menlo" charset="0"/>
                <a:ea typeface="Menlo" charset="0"/>
                <a:cs typeface="Menlo" charset="0"/>
                <a:sym typeface="Menlo" charset="0"/>
              </a:rPr>
              <a:t>article</a:t>
            </a:r>
            <a:r>
              <a:rPr lang="en-US" altLang="en-US" sz="1700" b="1">
                <a:solidFill>
                  <a:schemeClr val="accent1"/>
                </a:solidFill>
                <a:latin typeface="Menlo" charset="0"/>
                <a:ea typeface="Menlo" charset="0"/>
                <a:cs typeface="Menlo" charset="0"/>
                <a:sym typeface="Menlo" charset="0"/>
              </a:rPr>
              <a:t>}</a:t>
            </a:r>
          </a:p>
          <a:p>
            <a:pPr algn="l"/>
            <a:endParaRPr lang="en-US" altLang="en-US" sz="1700" b="1">
              <a:solidFill>
                <a:schemeClr val="accent1"/>
              </a:solidFill>
              <a:latin typeface="Menlo" charset="0"/>
              <a:ea typeface="Menlo" charset="0"/>
              <a:cs typeface="Menlo" charset="0"/>
              <a:sym typeface="Menlo" charset="0"/>
            </a:endParaRPr>
          </a:p>
          <a:p>
            <a:pPr algn="l"/>
            <a:r>
              <a:rPr lang="en-US" altLang="en-US" sz="1700" b="1">
                <a:solidFill>
                  <a:schemeClr val="accent1"/>
                </a:solidFill>
                <a:latin typeface="Menlo" charset="0"/>
                <a:ea typeface="Menlo" charset="0"/>
                <a:cs typeface="Menlo" charset="0"/>
                <a:sym typeface="Menlo" charset="0"/>
              </a:rPr>
              <a:t>\begin{</a:t>
            </a:r>
            <a:r>
              <a:rPr lang="en-US" altLang="en-US" sz="1700" b="1">
                <a:solidFill>
                  <a:srgbClr val="C82506"/>
                </a:solidFill>
                <a:latin typeface="Menlo" charset="0"/>
                <a:ea typeface="Menlo" charset="0"/>
                <a:cs typeface="Menlo" charset="0"/>
                <a:sym typeface="Menlo" charset="0"/>
              </a:rPr>
              <a:t>document</a:t>
            </a:r>
            <a:r>
              <a:rPr lang="en-US" altLang="en-US" sz="1700" b="1">
                <a:solidFill>
                  <a:schemeClr val="accent1"/>
                </a:solidFill>
                <a:latin typeface="Menlo" charset="0"/>
                <a:ea typeface="Menlo" charset="0"/>
                <a:cs typeface="Menlo" charset="0"/>
                <a:sym typeface="Menlo" charset="0"/>
              </a:rPr>
              <a:t>}</a:t>
            </a:r>
          </a:p>
          <a:p>
            <a:pPr algn="l"/>
            <a:r>
              <a:rPr lang="en-US" altLang="en-US" sz="1700" b="1">
                <a:latin typeface="Menlo" charset="0"/>
                <a:ea typeface="Menlo" charset="0"/>
                <a:cs typeface="Menlo" charset="0"/>
                <a:sym typeface="Menlo" charset="0"/>
              </a:rPr>
              <a:t>The geometric series summation formula is</a:t>
            </a:r>
          </a:p>
          <a:p>
            <a:pPr algn="l"/>
            <a:r>
              <a:rPr lang="en-US" altLang="en-US" sz="1700" b="1">
                <a:solidFill>
                  <a:schemeClr val="accent1"/>
                </a:solidFill>
                <a:latin typeface="Menlo" charset="0"/>
                <a:ea typeface="Menlo" charset="0"/>
                <a:cs typeface="Menlo" charset="0"/>
                <a:sym typeface="Menlo" charset="0"/>
              </a:rPr>
              <a:t>\begin{</a:t>
            </a:r>
            <a:r>
              <a:rPr lang="en-US" altLang="en-US" sz="1700" b="1">
                <a:solidFill>
                  <a:srgbClr val="C82506"/>
                </a:solidFill>
                <a:latin typeface="Menlo" charset="0"/>
                <a:ea typeface="Menlo" charset="0"/>
                <a:cs typeface="Menlo" charset="0"/>
                <a:sym typeface="Menlo" charset="0"/>
              </a:rPr>
              <a:t>equation</a:t>
            </a:r>
            <a:r>
              <a:rPr lang="en-US" altLang="en-US" sz="1700" b="1">
                <a:solidFill>
                  <a:schemeClr val="accent1"/>
                </a:solidFill>
                <a:latin typeface="Menlo" charset="0"/>
                <a:ea typeface="Menlo" charset="0"/>
                <a:cs typeface="Menlo" charset="0"/>
                <a:sym typeface="Menlo" charset="0"/>
              </a:rPr>
              <a:t>}</a:t>
            </a:r>
          </a:p>
          <a:p>
            <a:pPr algn="l"/>
            <a:r>
              <a:rPr lang="en-US" altLang="en-US" sz="1700" b="1">
                <a:solidFill>
                  <a:schemeClr val="accent1"/>
                </a:solidFill>
                <a:latin typeface="Menlo" charset="0"/>
                <a:ea typeface="Menlo" charset="0"/>
                <a:cs typeface="Menlo" charset="0"/>
                <a:sym typeface="Menlo" charset="0"/>
              </a:rPr>
              <a:t>  </a:t>
            </a:r>
            <a:r>
              <a:rPr lang="en-US" altLang="en-US" sz="1700" b="1">
                <a:solidFill>
                  <a:srgbClr val="C82506"/>
                </a:solidFill>
                <a:latin typeface="Menlo" charset="0"/>
                <a:ea typeface="Menlo" charset="0"/>
                <a:cs typeface="Menlo" charset="0"/>
                <a:sym typeface="Menlo" charset="0"/>
              </a:rPr>
              <a:t>\sum_{n=0}^\infty a^n = \frac{1}{1-a}</a:t>
            </a:r>
            <a:endParaRPr lang="en-US" altLang="en-US" sz="1700" b="1">
              <a:solidFill>
                <a:schemeClr val="accent1"/>
              </a:solidFill>
              <a:latin typeface="Menlo" charset="0"/>
              <a:ea typeface="Menlo" charset="0"/>
              <a:cs typeface="Menlo" charset="0"/>
              <a:sym typeface="Menlo" charset="0"/>
            </a:endParaRPr>
          </a:p>
          <a:p>
            <a:pPr algn="l"/>
            <a:r>
              <a:rPr lang="en-US" altLang="en-US" sz="1700" b="1">
                <a:solidFill>
                  <a:schemeClr val="accent1"/>
                </a:solidFill>
                <a:latin typeface="Menlo" charset="0"/>
                <a:ea typeface="Menlo" charset="0"/>
                <a:cs typeface="Menlo" charset="0"/>
                <a:sym typeface="Menlo" charset="0"/>
              </a:rPr>
              <a:t>\end{</a:t>
            </a:r>
            <a:r>
              <a:rPr lang="en-US" altLang="en-US" sz="1700" b="1">
                <a:solidFill>
                  <a:srgbClr val="C82506"/>
                </a:solidFill>
                <a:latin typeface="Menlo" charset="0"/>
                <a:ea typeface="Menlo" charset="0"/>
                <a:cs typeface="Menlo" charset="0"/>
                <a:sym typeface="Menlo" charset="0"/>
              </a:rPr>
              <a:t>equation</a:t>
            </a:r>
            <a:r>
              <a:rPr lang="en-US" altLang="en-US" sz="1700" b="1">
                <a:solidFill>
                  <a:schemeClr val="accent1"/>
                </a:solidFill>
                <a:latin typeface="Menlo" charset="0"/>
                <a:ea typeface="Menlo" charset="0"/>
                <a:cs typeface="Menlo" charset="0"/>
                <a:sym typeface="Menlo" charset="0"/>
              </a:rPr>
              <a:t>}</a:t>
            </a:r>
          </a:p>
          <a:p>
            <a:pPr algn="l"/>
            <a:r>
              <a:rPr lang="en-US" altLang="en-US" sz="1700" b="1">
                <a:latin typeface="Menlo" charset="0"/>
                <a:ea typeface="Menlo" charset="0"/>
                <a:cs typeface="Menlo" charset="0"/>
                <a:sym typeface="Menlo" charset="0"/>
              </a:rPr>
              <a:t>where </a:t>
            </a:r>
            <a:r>
              <a:rPr lang="en-US" altLang="en-US" sz="1700" b="1">
                <a:solidFill>
                  <a:srgbClr val="C82506"/>
                </a:solidFill>
                <a:latin typeface="Menlo" charset="0"/>
                <a:ea typeface="Menlo" charset="0"/>
                <a:cs typeface="Menlo" charset="0"/>
                <a:sym typeface="Menlo" charset="0"/>
              </a:rPr>
              <a:t>$a$</a:t>
            </a:r>
            <a:r>
              <a:rPr lang="en-US" altLang="en-US" sz="1700" b="1">
                <a:latin typeface="Menlo" charset="0"/>
                <a:ea typeface="Menlo" charset="0"/>
                <a:cs typeface="Menlo" charset="0"/>
                <a:sym typeface="Menlo" charset="0"/>
              </a:rPr>
              <a:t> is a real number satisfying </a:t>
            </a:r>
            <a:r>
              <a:rPr lang="en-US" altLang="en-US" sz="1700" b="1">
                <a:solidFill>
                  <a:srgbClr val="C82506"/>
                </a:solidFill>
                <a:latin typeface="Menlo" charset="0"/>
                <a:ea typeface="Menlo" charset="0"/>
                <a:cs typeface="Menlo" charset="0"/>
                <a:sym typeface="Menlo" charset="0"/>
              </a:rPr>
              <a:t>$|a|&lt;1$</a:t>
            </a:r>
            <a:r>
              <a:rPr lang="en-US" altLang="en-US" sz="1700" b="1">
                <a:latin typeface="Menlo" charset="0"/>
                <a:ea typeface="Menlo" charset="0"/>
                <a:cs typeface="Menlo" charset="0"/>
                <a:sym typeface="Menlo" charset="0"/>
              </a:rPr>
              <a:t>.</a:t>
            </a:r>
          </a:p>
          <a:p>
            <a:pPr algn="l"/>
            <a:r>
              <a:rPr lang="en-US" altLang="en-US" sz="1700" b="1">
                <a:solidFill>
                  <a:schemeClr val="accent1"/>
                </a:solidFill>
                <a:latin typeface="Menlo" charset="0"/>
                <a:ea typeface="Menlo" charset="0"/>
                <a:cs typeface="Menlo" charset="0"/>
                <a:sym typeface="Menlo" charset="0"/>
              </a:rPr>
              <a:t>\end{</a:t>
            </a:r>
            <a:r>
              <a:rPr lang="en-US" altLang="en-US" sz="1700" b="1">
                <a:solidFill>
                  <a:srgbClr val="C82506"/>
                </a:solidFill>
                <a:latin typeface="Menlo" charset="0"/>
                <a:ea typeface="Menlo" charset="0"/>
                <a:cs typeface="Menlo" charset="0"/>
                <a:sym typeface="Menlo" charset="0"/>
              </a:rPr>
              <a:t>document</a:t>
            </a:r>
            <a:r>
              <a:rPr lang="en-US" altLang="en-US" sz="1700" b="1">
                <a:solidFill>
                  <a:schemeClr val="accent1"/>
                </a:solidFill>
                <a:latin typeface="Menlo" charset="0"/>
                <a:ea typeface="Menlo" charset="0"/>
                <a:cs typeface="Menlo" charset="0"/>
                <a:sym typeface="Menlo" charset="0"/>
              </a:rPr>
              <a:t>}</a:t>
            </a:r>
          </a:p>
        </p:txBody>
      </p:sp>
      <p:sp>
        <p:nvSpPr>
          <p:cNvPr id="32775" name="Rectangle 7"/>
          <p:cNvSpPr>
            <a:spLocks/>
          </p:cNvSpPr>
          <p:nvPr/>
        </p:nvSpPr>
        <p:spPr bwMode="auto">
          <a:xfrm>
            <a:off x="7531100" y="5341938"/>
            <a:ext cx="424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300" b="1">
                <a:latin typeface="Helvetica" charset="0"/>
                <a:ea typeface="Helvetica" charset="0"/>
                <a:cs typeface="Helvetica" charset="0"/>
                <a:sym typeface="Helvetica" charset="0"/>
              </a:rPr>
              <a:t>Input file of LaTeX commands</a:t>
            </a:r>
          </a:p>
        </p:txBody>
      </p:sp>
      <p:sp>
        <p:nvSpPr>
          <p:cNvPr id="32776" name="Rectangle 8"/>
          <p:cNvSpPr>
            <a:spLocks/>
          </p:cNvSpPr>
          <p:nvPr/>
        </p:nvSpPr>
        <p:spPr bwMode="auto">
          <a:xfrm>
            <a:off x="8559800" y="9215438"/>
            <a:ext cx="2190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2300" b="1">
                <a:latin typeface="Helvetica" charset="0"/>
                <a:ea typeface="Helvetica" charset="0"/>
                <a:cs typeface="Helvetica" charset="0"/>
                <a:sym typeface="Helvetica" charset="0"/>
              </a:rPr>
              <a:t>PDF output file</a:t>
            </a:r>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436563" y="444500"/>
            <a:ext cx="4378325" cy="2159000"/>
          </a:xfrm>
        </p:spPr>
        <p:txBody>
          <a:bodyPr/>
          <a:lstStyle/>
          <a:p>
            <a:pPr defTabSz="414338"/>
            <a:r>
              <a:rPr lang="en-US" altLang="en-US" sz="4500"/>
              <a:t>Course discussion on Piazza</a:t>
            </a:r>
          </a:p>
        </p:txBody>
      </p:sp>
      <p:sp>
        <p:nvSpPr>
          <p:cNvPr id="33794" name="Rectangle 2"/>
          <p:cNvSpPr>
            <a:spLocks noGrp="1" noChangeArrowheads="1"/>
          </p:cNvSpPr>
          <p:nvPr>
            <p:ph type="body" sz="half" idx="1"/>
          </p:nvPr>
        </p:nvSpPr>
        <p:spPr>
          <a:xfrm>
            <a:off x="406400" y="2609850"/>
            <a:ext cx="4059238" cy="6286500"/>
          </a:xfrm>
        </p:spPr>
        <p:txBody>
          <a:bodyPr/>
          <a:lstStyle/>
          <a:p>
            <a:r>
              <a:rPr lang="en-US" altLang="en-US"/>
              <a:t>We will use Piazza for online discussion</a:t>
            </a:r>
          </a:p>
          <a:p>
            <a:r>
              <a:rPr lang="en-US" altLang="en-US"/>
              <a:t>Sign-up link will be posted on website</a:t>
            </a:r>
          </a:p>
          <a:p>
            <a:r>
              <a:rPr lang="en-US" altLang="en-US"/>
              <a:t>Enrolled students will receive a sign-up email</a:t>
            </a:r>
          </a:p>
        </p:txBody>
      </p:sp>
      <p:pic>
        <p:nvPicPr>
          <p:cNvPr id="33795" name="Picture 3" descr="Screen Shot 2015-01-26 at 11.25.56 A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92700" y="1246188"/>
            <a:ext cx="7677150" cy="7307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436563" y="444500"/>
            <a:ext cx="12130087" cy="2159000"/>
          </a:xfrm>
        </p:spPr>
        <p:txBody>
          <a:bodyPr/>
          <a:lstStyle/>
          <a:p>
            <a:r>
              <a:rPr lang="en-US" altLang="en-US" dirty="0"/>
              <a:t>Paper </a:t>
            </a:r>
            <a:r>
              <a:rPr lang="en-US" altLang="en-US" dirty="0" smtClean="0"/>
              <a:t>presentations</a:t>
            </a:r>
            <a:endParaRPr lang="en-US" altLang="en-US" dirty="0"/>
          </a:p>
        </p:txBody>
      </p:sp>
      <p:sp>
        <p:nvSpPr>
          <p:cNvPr id="34818" name="Rectangle 2"/>
          <p:cNvSpPr>
            <a:spLocks noGrp="1" noChangeArrowheads="1"/>
          </p:cNvSpPr>
          <p:nvPr>
            <p:ph type="body" idx="1"/>
          </p:nvPr>
        </p:nvSpPr>
        <p:spPr>
          <a:xfrm>
            <a:off x="952500" y="2603500"/>
            <a:ext cx="12052300" cy="6921500"/>
          </a:xfrm>
        </p:spPr>
        <p:txBody>
          <a:bodyPr/>
          <a:lstStyle/>
          <a:p>
            <a:pPr marL="285750" indent="-285750">
              <a:buFont typeface="Arial" charset="0"/>
              <a:buChar char="•"/>
            </a:pPr>
            <a:r>
              <a:rPr lang="en-US" altLang="en-US" dirty="0" smtClean="0"/>
              <a:t>Twice during the semester, each student will give roughly ten-minute presentation about a mathematical paper.</a:t>
            </a:r>
          </a:p>
          <a:p>
            <a:pPr marL="285750" indent="-285750">
              <a:buFont typeface="Arial" charset="0"/>
              <a:buChar char="•"/>
            </a:pPr>
            <a:r>
              <a:rPr lang="en-US" altLang="en-US" dirty="0" smtClean="0"/>
              <a:t>The presentations can be done in pairs</a:t>
            </a:r>
          </a:p>
          <a:p>
            <a:pPr marL="285750" indent="-285750">
              <a:buFont typeface="Arial" charset="0"/>
              <a:buChar char="•"/>
            </a:pPr>
            <a:r>
              <a:rPr lang="en-US" altLang="en-US" dirty="0" smtClean="0"/>
              <a:t>Your classmates will give you verbal/written feedback, which you can reflect on as you work on your second presentation.</a:t>
            </a:r>
          </a:p>
          <a:p>
            <a:pPr marL="285750" indent="-285750">
              <a:buFont typeface="Arial" charset="0"/>
              <a:buChar char="•"/>
            </a:pPr>
            <a:r>
              <a:rPr lang="en-US" altLang="en-US" dirty="0" smtClean="0"/>
              <a:t>We have a database of papers related to each topic that you can choose from, or you can find a paper yourself</a:t>
            </a:r>
          </a:p>
          <a:p>
            <a:pPr marL="285750" indent="-285750">
              <a:buFont typeface="Arial" charset="0"/>
              <a:buChar char="•"/>
            </a:pPr>
            <a:r>
              <a:rPr lang="en-US" altLang="en-US" dirty="0" smtClean="0"/>
              <a:t>We’ll announce exact length/format once we have accurate enrollment numbers</a:t>
            </a:r>
            <a:endParaRPr lang="en-US" altLang="en-US" dirty="0"/>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Grp="1" noChangeArrowheads="1"/>
          </p:cNvSpPr>
          <p:nvPr>
            <p:ph type="title"/>
          </p:nvPr>
        </p:nvSpPr>
        <p:spPr>
          <a:xfrm>
            <a:off x="436563" y="444500"/>
            <a:ext cx="12130087" cy="2159000"/>
          </a:xfrm>
        </p:spPr>
        <p:txBody>
          <a:bodyPr/>
          <a:lstStyle/>
          <a:p>
            <a:r>
              <a:rPr lang="en-US" altLang="en-US"/>
              <a:t>Final project</a:t>
            </a:r>
          </a:p>
        </p:txBody>
      </p:sp>
      <p:sp>
        <p:nvSpPr>
          <p:cNvPr id="35842" name="Rectangle 2"/>
          <p:cNvSpPr>
            <a:spLocks noGrp="1" noChangeArrowheads="1"/>
          </p:cNvSpPr>
          <p:nvPr>
            <p:ph type="body" idx="1"/>
          </p:nvPr>
        </p:nvSpPr>
        <p:spPr/>
        <p:txBody>
          <a:bodyPr/>
          <a:lstStyle/>
          <a:p>
            <a:r>
              <a:rPr lang="en-US" altLang="en-US" dirty="0"/>
              <a:t>The final project will involve developing and testing a mathematical model</a:t>
            </a:r>
          </a:p>
          <a:p>
            <a:r>
              <a:rPr lang="en-US" altLang="en-US" dirty="0"/>
              <a:t>Students can work in pairs</a:t>
            </a:r>
          </a:p>
          <a:p>
            <a:r>
              <a:rPr lang="en-US" altLang="en-US" dirty="0"/>
              <a:t>We’ll start discussing project ideas before Spring Break</a:t>
            </a:r>
          </a:p>
          <a:p>
            <a:r>
              <a:rPr lang="en-US" altLang="en-US" dirty="0"/>
              <a:t>Will be due at the end of the semester</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Grp="1" noChangeArrowheads="1"/>
          </p:cNvSpPr>
          <p:nvPr>
            <p:ph type="title"/>
          </p:nvPr>
        </p:nvSpPr>
        <p:spPr>
          <a:xfrm>
            <a:off x="436563" y="444500"/>
            <a:ext cx="12130087" cy="2159000"/>
          </a:xfrm>
        </p:spPr>
        <p:txBody>
          <a:bodyPr/>
          <a:lstStyle/>
          <a:p>
            <a:r>
              <a:rPr lang="en-US" altLang="en-US"/>
              <a:t>Grading</a:t>
            </a:r>
          </a:p>
        </p:txBody>
      </p:sp>
      <p:sp>
        <p:nvSpPr>
          <p:cNvPr id="36866" name="Rectangle 2"/>
          <p:cNvSpPr>
            <a:spLocks noGrp="1" noChangeArrowheads="1"/>
          </p:cNvSpPr>
          <p:nvPr>
            <p:ph type="body" idx="1"/>
          </p:nvPr>
        </p:nvSpPr>
        <p:spPr>
          <a:xfrm>
            <a:off x="952500" y="2247900"/>
            <a:ext cx="11099800" cy="6286500"/>
          </a:xfrm>
        </p:spPr>
        <p:txBody>
          <a:bodyPr/>
          <a:lstStyle/>
          <a:p>
            <a:pPr marL="0" indent="0">
              <a:buSzTx/>
              <a:buFontTx/>
              <a:buNone/>
            </a:pPr>
            <a:r>
              <a:rPr lang="en-US" altLang="en-US" sz="3800" dirty="0" smtClean="0"/>
              <a:t>15% </a:t>
            </a:r>
            <a:r>
              <a:rPr lang="en-US" altLang="en-US" sz="3800" dirty="0"/>
              <a:t>: </a:t>
            </a:r>
            <a:r>
              <a:rPr lang="en-US" altLang="en-US" sz="3800" dirty="0" smtClean="0"/>
              <a:t>Participation</a:t>
            </a:r>
            <a:endParaRPr lang="en-US" altLang="en-US" sz="3800" dirty="0"/>
          </a:p>
          <a:p>
            <a:pPr marL="0" indent="0">
              <a:buSzTx/>
              <a:buFontTx/>
              <a:buNone/>
            </a:pPr>
            <a:endParaRPr lang="en-US" altLang="en-US" sz="3800" dirty="0"/>
          </a:p>
          <a:p>
            <a:pPr marL="0" indent="0">
              <a:buSzTx/>
              <a:buFontTx/>
              <a:buNone/>
            </a:pPr>
            <a:r>
              <a:rPr lang="en-US" altLang="en-US" sz="3800" dirty="0" smtClean="0"/>
              <a:t>15% </a:t>
            </a:r>
            <a:r>
              <a:rPr lang="en-US" altLang="en-US" sz="3800" dirty="0"/>
              <a:t>: Paper </a:t>
            </a:r>
            <a:r>
              <a:rPr lang="en-US" altLang="en-US" sz="3800" dirty="0" smtClean="0"/>
              <a:t>presentations </a:t>
            </a:r>
            <a:r>
              <a:rPr lang="en-US" altLang="en-US" sz="3800" dirty="0"/>
              <a:t>in class</a:t>
            </a:r>
          </a:p>
          <a:p>
            <a:pPr marL="0" indent="0">
              <a:buSzTx/>
              <a:buFontTx/>
              <a:buNone/>
            </a:pPr>
            <a:r>
              <a:rPr lang="en-US" altLang="en-US" sz="3800" dirty="0" smtClean="0"/>
              <a:t>40</a:t>
            </a:r>
            <a:r>
              <a:rPr lang="en-US" altLang="en-US" sz="3800" dirty="0"/>
              <a:t>% </a:t>
            </a:r>
            <a:r>
              <a:rPr lang="en-US" altLang="en-US" sz="3800"/>
              <a:t>: </a:t>
            </a:r>
            <a:r>
              <a:rPr lang="en-US" altLang="en-US" sz="3800" smtClean="0"/>
              <a:t>Homework </a:t>
            </a:r>
            <a:r>
              <a:rPr lang="en-US" altLang="en-US" sz="3800" dirty="0"/>
              <a:t>/ computer lab assignments</a:t>
            </a:r>
          </a:p>
          <a:p>
            <a:pPr marL="0" indent="0">
              <a:buSzTx/>
              <a:buFontTx/>
              <a:buNone/>
            </a:pPr>
            <a:endParaRPr lang="en-US" altLang="en-US" sz="3800" dirty="0"/>
          </a:p>
          <a:p>
            <a:pPr marL="0" indent="0">
              <a:buSzTx/>
              <a:buFontTx/>
              <a:buNone/>
            </a:pPr>
            <a:r>
              <a:rPr lang="en-US" altLang="en-US" sz="3800" dirty="0" smtClean="0"/>
              <a:t>30</a:t>
            </a:r>
            <a:r>
              <a:rPr lang="en-US" altLang="en-US" sz="3800" dirty="0"/>
              <a:t>% : Final modeling project</a:t>
            </a:r>
          </a:p>
        </p:txBody>
      </p:sp>
      <p:sp>
        <p:nvSpPr>
          <p:cNvPr id="36868" name="Rectangle 4"/>
          <p:cNvSpPr>
            <a:spLocks/>
          </p:cNvSpPr>
          <p:nvPr/>
        </p:nvSpPr>
        <p:spPr bwMode="auto">
          <a:xfrm>
            <a:off x="2362200" y="6456938"/>
            <a:ext cx="8913813" cy="4719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r>
              <a:rPr lang="en-US" altLang="en-US" sz="2400" b="1" dirty="0" smtClean="0">
                <a:latin typeface="Helvetica" charset="0"/>
                <a:ea typeface="Helvetica" charset="0"/>
                <a:cs typeface="Helvetica" charset="0"/>
                <a:sym typeface="Helvetica" charset="0"/>
              </a:rPr>
              <a:t>Can drop one homework OR one lab</a:t>
            </a:r>
            <a:endParaRPr lang="en-US" altLang="en-US" sz="2400" b="1" dirty="0">
              <a:latin typeface="Helvetica" charset="0"/>
              <a:ea typeface="Helvetica" charset="0"/>
              <a:cs typeface="Helvetica" charset="0"/>
              <a:sym typeface="Helvetica" charset="0"/>
            </a:endParaRPr>
          </a:p>
        </p:txBody>
      </p:sp>
      <p:sp>
        <p:nvSpPr>
          <p:cNvPr id="6" name="Rectangle 4"/>
          <p:cNvSpPr>
            <a:spLocks/>
          </p:cNvSpPr>
          <p:nvPr/>
        </p:nvSpPr>
        <p:spPr bwMode="auto">
          <a:xfrm>
            <a:off x="2362200" y="3578344"/>
            <a:ext cx="8913813" cy="841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r>
              <a:rPr lang="en-US" altLang="en-US" sz="2400" b="1" dirty="0" smtClean="0">
                <a:latin typeface="Helvetica" charset="0"/>
                <a:ea typeface="Helvetica" charset="0"/>
                <a:cs typeface="Helvetica" charset="0"/>
                <a:sym typeface="Helvetica" charset="0"/>
              </a:rPr>
              <a:t>Engagement in class activities, student critiques of presentations, contributing to learning community</a:t>
            </a:r>
            <a:endParaRPr lang="en-US" altLang="en-US" sz="2400" b="1" dirty="0">
              <a:latin typeface="Helvetica" charset="0"/>
              <a:ea typeface="Helvetica" charset="0"/>
              <a:cs typeface="Helvetica" charset="0"/>
              <a:sym typeface="Helvetica" charset="0"/>
            </a:endParaRPr>
          </a:p>
        </p:txBody>
      </p:sp>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p:nvPr>
        </p:nvSpPr>
        <p:spPr>
          <a:xfrm>
            <a:off x="1270000" y="3225800"/>
            <a:ext cx="10464800" cy="3302000"/>
          </a:xfrm>
        </p:spPr>
        <p:txBody>
          <a:bodyPr/>
          <a:lstStyle/>
          <a:p>
            <a:r>
              <a:rPr lang="en-US" altLang="en-US"/>
              <a:t>3. A simple mathematical model for sport competitions</a:t>
            </a:r>
          </a:p>
        </p:txBody>
      </p:sp>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1" descr="David-ortiz-batters-box.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1013" y="-28575"/>
            <a:ext cx="14717713" cy="981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8914" name="Rectangle 2"/>
          <p:cNvSpPr>
            <a:spLocks/>
          </p:cNvSpPr>
          <p:nvPr/>
        </p:nvSpPr>
        <p:spPr bwMode="auto">
          <a:xfrm>
            <a:off x="436563" y="-889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6400" b="1">
                <a:solidFill>
                  <a:srgbClr val="F5D328"/>
                </a:solidFill>
                <a:effectLst>
                  <a:outerShdw blurRad="38100" dist="38100" dir="2700000" algn="tl">
                    <a:srgbClr val="C0C0C0"/>
                  </a:outerShdw>
                </a:effectLst>
                <a:latin typeface="Helvetica" charset="0"/>
                <a:ea typeface="Helvetica" charset="0"/>
                <a:cs typeface="Helvetica" charset="0"/>
                <a:sym typeface="Helvetica" charset="0"/>
              </a:rPr>
              <a:t>2004 World Series: Go </a:t>
            </a:r>
            <a:r>
              <a:rPr lang="en-US" altLang="en-US" sz="6400" b="1">
                <a:solidFill>
                  <a:srgbClr val="C82506"/>
                </a:solidFill>
                <a:effectLst>
                  <a:outerShdw blurRad="38100" dist="38100" dir="2700000" algn="tl">
                    <a:srgbClr val="C0C0C0"/>
                  </a:outerShdw>
                </a:effectLst>
                <a:latin typeface="Helvetica" charset="0"/>
                <a:ea typeface="Helvetica" charset="0"/>
                <a:cs typeface="Helvetica" charset="0"/>
                <a:sym typeface="Helvetica" charset="0"/>
              </a:rPr>
              <a:t>SOX!</a:t>
            </a:r>
            <a:endParaRPr lang="en-US" altLang="en-US" sz="6400" b="1">
              <a:solidFill>
                <a:srgbClr val="F5D328"/>
              </a:solidFill>
              <a:effectLst>
                <a:outerShdw blurRad="38100" dist="38100" dir="2700000" algn="tl">
                  <a:srgbClr val="C0C0C0"/>
                </a:outerShdw>
              </a:effectLst>
              <a:latin typeface="Helvetica" charset="0"/>
              <a:ea typeface="Helvetica" charset="0"/>
              <a:cs typeface="Helvetica" charset="0"/>
              <a:sym typeface="Helvetica" charset="0"/>
            </a:endParaRPr>
          </a:p>
        </p:txBody>
      </p:sp>
      <p:sp>
        <p:nvSpPr>
          <p:cNvPr id="38915" name="AutoShape 3"/>
          <p:cNvSpPr>
            <a:spLocks/>
          </p:cNvSpPr>
          <p:nvPr/>
        </p:nvSpPr>
        <p:spPr bwMode="auto">
          <a:xfrm>
            <a:off x="5980113" y="7669213"/>
            <a:ext cx="6667500" cy="1627187"/>
          </a:xfrm>
          <a:prstGeom prst="roundRect">
            <a:avLst>
              <a:gd name="adj" fmla="val 11718"/>
            </a:avLst>
          </a:prstGeom>
          <a:solidFill>
            <a:srgbClr val="773F9B"/>
          </a:solidFill>
          <a:ln w="12700" cap="flat" cmpd="sng">
            <a:solidFill>
              <a:srgbClr val="5F327C"/>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r>
              <a:rPr lang="en-US" altLang="en-US" sz="3000" b="1">
                <a:solidFill>
                  <a:srgbClr val="FFFFFF"/>
                </a:solidFill>
                <a:latin typeface="Helvetica" charset="0"/>
                <a:ea typeface="Helvetica" charset="0"/>
                <a:cs typeface="Helvetica" charset="0"/>
                <a:sym typeface="Helvetica" charset="0"/>
              </a:rPr>
              <a:t>Isn’t there a lot of luck in this game?</a:t>
            </a:r>
          </a:p>
          <a:p>
            <a:r>
              <a:rPr lang="en-US" altLang="en-US" sz="3000" b="1">
                <a:solidFill>
                  <a:srgbClr val="FFFFFF"/>
                </a:solidFill>
                <a:latin typeface="Helvetica" charset="0"/>
                <a:ea typeface="Helvetica" charset="0"/>
                <a:cs typeface="Helvetica" charset="0"/>
                <a:sym typeface="Helvetica" charset="0"/>
              </a:rPr>
              <a:t>Did the better team really win?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dissolve">
                                      <p:cBhvr>
                                        <p:cTn id="7"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Grp="1" noChangeArrowheads="1"/>
          </p:cNvSpPr>
          <p:nvPr>
            <p:ph type="title"/>
          </p:nvPr>
        </p:nvSpPr>
        <p:spPr>
          <a:xfrm>
            <a:off x="436563" y="444500"/>
            <a:ext cx="12130087" cy="2159000"/>
          </a:xfrm>
        </p:spPr>
        <p:txBody>
          <a:bodyPr/>
          <a:lstStyle/>
          <a:p>
            <a:r>
              <a:rPr lang="en-US" altLang="en-US"/>
              <a:t>Mosteller’s model</a:t>
            </a:r>
          </a:p>
        </p:txBody>
      </p:sp>
      <p:sp>
        <p:nvSpPr>
          <p:cNvPr id="39938" name="Rectangle 2"/>
          <p:cNvSpPr>
            <a:spLocks noGrp="1" noChangeArrowheads="1"/>
          </p:cNvSpPr>
          <p:nvPr>
            <p:ph type="body" sz="quarter" idx="1"/>
          </p:nvPr>
        </p:nvSpPr>
        <p:spPr>
          <a:xfrm>
            <a:off x="4767263" y="2216150"/>
            <a:ext cx="7921625" cy="3135313"/>
          </a:xfrm>
        </p:spPr>
        <p:txBody>
          <a:bodyPr/>
          <a:lstStyle/>
          <a:p>
            <a:pPr marL="0" indent="0" defTabSz="536575">
              <a:spcBef>
                <a:spcPts val="2300"/>
              </a:spcBef>
              <a:buSzTx/>
              <a:buFontTx/>
              <a:buNone/>
            </a:pPr>
            <a:r>
              <a:rPr lang="en-US" altLang="en-US" sz="3300"/>
              <a:t>Charles Frederick Mosteller (1916–2006)</a:t>
            </a:r>
          </a:p>
          <a:p>
            <a:pPr marL="0" indent="0" defTabSz="536575">
              <a:spcBef>
                <a:spcPts val="2300"/>
              </a:spcBef>
              <a:buSzTx/>
              <a:buFontTx/>
              <a:buNone/>
            </a:pPr>
            <a:r>
              <a:rPr lang="en-US" altLang="en-US" sz="3300"/>
              <a:t>Famous 20th century statistician, chair of the Harvard Statistics department (1957–1971), and avid Red Sox fan</a:t>
            </a:r>
          </a:p>
        </p:txBody>
      </p:sp>
      <p:pic>
        <p:nvPicPr>
          <p:cNvPr id="39939" name="Picture 3"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400" y="5392738"/>
            <a:ext cx="7594600" cy="3776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39940" name="Picture 4" descr="mosteller_high.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4988" y="2116138"/>
            <a:ext cx="3629025" cy="362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39941" name="Rectangle 5"/>
          <p:cNvSpPr>
            <a:spLocks/>
          </p:cNvSpPr>
          <p:nvPr/>
        </p:nvSpPr>
        <p:spPr bwMode="auto">
          <a:xfrm>
            <a:off x="8132763" y="6203950"/>
            <a:ext cx="4298950" cy="313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lnSpc>
                <a:spcPct val="90000"/>
              </a:lnSpc>
              <a:spcBef>
                <a:spcPts val="2600"/>
              </a:spcBef>
            </a:pPr>
            <a:r>
              <a:rPr lang="en-US" altLang="en-US" b="1">
                <a:latin typeface="Helvetica" charset="0"/>
                <a:ea typeface="Helvetica" charset="0"/>
                <a:cs typeface="Helvetica" charset="0"/>
                <a:sym typeface="Helvetica" charset="0"/>
              </a:rPr>
              <a:t>Wrote paper in 1952 analyzing the baseball world series (available on course website)</a:t>
            </a:r>
          </a:p>
        </p:txBody>
      </p:sp>
      <p:sp>
        <p:nvSpPr>
          <p:cNvPr id="39942" name="Rectangle 6"/>
          <p:cNvSpPr>
            <a:spLocks/>
          </p:cNvSpPr>
          <p:nvPr/>
        </p:nvSpPr>
        <p:spPr bwMode="auto">
          <a:xfrm>
            <a:off x="546100" y="6146800"/>
            <a:ext cx="7004050" cy="4195763"/>
          </a:xfrm>
          <a:prstGeom prst="rect">
            <a:avLst/>
          </a:prstGeom>
          <a:noFill/>
          <a:ln w="12700" cap="flat" cmpd="sng">
            <a:solidFill>
              <a:srgbClr val="000000"/>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solidFill>
                <a:srgbClr val="FFFFFF"/>
              </a:solidFill>
            </a:endParaRPr>
          </a:p>
        </p:txBody>
      </p:sp>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p:cNvSpPr>
          <p:nvPr/>
        </p:nvSpPr>
        <p:spPr bwMode="auto">
          <a:xfrm>
            <a:off x="436563" y="63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Basic idea</a:t>
            </a:r>
          </a:p>
        </p:txBody>
      </p:sp>
      <p:sp>
        <p:nvSpPr>
          <p:cNvPr id="40962" name="Rectangle 2"/>
          <p:cNvSpPr>
            <a:spLocks/>
          </p:cNvSpPr>
          <p:nvPr/>
        </p:nvSpPr>
        <p:spPr bwMode="auto">
          <a:xfrm>
            <a:off x="608013" y="1365250"/>
            <a:ext cx="11787187" cy="544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lvl1pPr marL="355600" indent="-355600">
              <a:defRPr sz="3600">
                <a:solidFill>
                  <a:srgbClr val="000000"/>
                </a:solidFill>
                <a:latin typeface="Helvetica Light" charset="0"/>
                <a:ea typeface="Helvetica Light" charset="0"/>
                <a:cs typeface="Helvetica Light" charset="0"/>
                <a:sym typeface="Helvetica Light" charset="0"/>
              </a:defRPr>
            </a:lvl1pPr>
            <a:lvl2pPr>
              <a:defRPr sz="3600">
                <a:solidFill>
                  <a:srgbClr val="000000"/>
                </a:solidFill>
                <a:latin typeface="Helvetica Light" charset="0"/>
                <a:ea typeface="Helvetica Light" charset="0"/>
                <a:cs typeface="Helvetica Light" charset="0"/>
                <a:sym typeface="Helvetica Light" charset="0"/>
              </a:defRPr>
            </a:lvl2pPr>
            <a:lvl3pPr>
              <a:defRPr sz="3600">
                <a:solidFill>
                  <a:srgbClr val="000000"/>
                </a:solidFill>
                <a:latin typeface="Helvetica Light" charset="0"/>
                <a:ea typeface="Helvetica Light" charset="0"/>
                <a:cs typeface="Helvetica Light" charset="0"/>
                <a:sym typeface="Helvetica Light" charset="0"/>
              </a:defRPr>
            </a:lvl3pPr>
            <a:lvl4pPr>
              <a:defRPr sz="3600">
                <a:solidFill>
                  <a:srgbClr val="000000"/>
                </a:solidFill>
                <a:latin typeface="Helvetica Light" charset="0"/>
                <a:ea typeface="Helvetica Light" charset="0"/>
                <a:cs typeface="Helvetica Light" charset="0"/>
                <a:sym typeface="Helvetica Light" charset="0"/>
              </a:defRPr>
            </a:lvl4pPr>
            <a:lvl5pPr>
              <a:defRPr sz="3600">
                <a:solidFill>
                  <a:srgbClr val="000000"/>
                </a:solidFill>
                <a:latin typeface="Helvetica Light" charset="0"/>
                <a:ea typeface="Helvetica Light" charset="0"/>
                <a:cs typeface="Helvetica Light" charset="0"/>
                <a:sym typeface="Helvetica Light" charset="0"/>
              </a:defRPr>
            </a:lvl5pPr>
            <a:lvl6pPr marL="4572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6pPr>
            <a:lvl7pPr marL="9144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7pPr>
            <a:lvl8pPr marL="13716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8pPr>
            <a:lvl9pPr marL="18288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9pPr>
          </a:lstStyle>
          <a:p>
            <a:pPr algn="l">
              <a:lnSpc>
                <a:spcPct val="90000"/>
              </a:lnSpc>
              <a:spcBef>
                <a:spcPts val="2600"/>
              </a:spcBef>
            </a:pPr>
            <a:r>
              <a:rPr lang="en-US" altLang="en-US" b="1" dirty="0">
                <a:latin typeface="Helvetica" charset="0"/>
                <a:ea typeface="Helvetica" charset="0"/>
                <a:cs typeface="Helvetica" charset="0"/>
                <a:sym typeface="Helvetica" charset="0"/>
              </a:rPr>
              <a:t>Many sporting events have “play-offs”, designed to find out who is the better team:</a:t>
            </a:r>
          </a:p>
          <a:p>
            <a:pPr algn="l">
              <a:lnSpc>
                <a:spcPct val="90000"/>
              </a:lnSpc>
              <a:spcBef>
                <a:spcPts val="2600"/>
              </a:spcBef>
              <a:buSzPct val="75000"/>
              <a:buFontTx/>
              <a:buChar char="•"/>
            </a:pPr>
            <a:r>
              <a:rPr lang="en-US" altLang="en-US" b="1" dirty="0">
                <a:latin typeface="Helvetica" charset="0"/>
                <a:ea typeface="Helvetica" charset="0"/>
                <a:cs typeface="Helvetica" charset="0"/>
                <a:sym typeface="Helvetica" charset="0"/>
              </a:rPr>
              <a:t>Football (</a:t>
            </a:r>
            <a:r>
              <a:rPr lang="en-US" altLang="en-US" b="1" dirty="0" err="1">
                <a:latin typeface="Helvetica" charset="0"/>
                <a:ea typeface="Helvetica" charset="0"/>
                <a:cs typeface="Helvetica" charset="0"/>
                <a:sym typeface="Helvetica" charset="0"/>
              </a:rPr>
              <a:t>Superbowl</a:t>
            </a:r>
            <a:r>
              <a:rPr lang="en-US" altLang="en-US" b="1" dirty="0">
                <a:latin typeface="Helvetica" charset="0"/>
                <a:ea typeface="Helvetica" charset="0"/>
                <a:cs typeface="Helvetica" charset="0"/>
                <a:sym typeface="Helvetica" charset="0"/>
              </a:rPr>
              <a:t>) — play one game</a:t>
            </a:r>
          </a:p>
          <a:p>
            <a:pPr algn="l">
              <a:lnSpc>
                <a:spcPct val="90000"/>
              </a:lnSpc>
              <a:spcBef>
                <a:spcPts val="2600"/>
              </a:spcBef>
              <a:buSzPct val="75000"/>
              <a:buFontTx/>
              <a:buChar char="•"/>
            </a:pPr>
            <a:r>
              <a:rPr lang="en-US" altLang="en-US" b="1" dirty="0">
                <a:latin typeface="Helvetica" charset="0"/>
                <a:ea typeface="Helvetica" charset="0"/>
                <a:cs typeface="Helvetica" charset="0"/>
                <a:sym typeface="Helvetica" charset="0"/>
              </a:rPr>
              <a:t>Baseball (World Series) — best out of 7 games</a:t>
            </a:r>
          </a:p>
          <a:p>
            <a:pPr algn="l">
              <a:lnSpc>
                <a:spcPct val="90000"/>
              </a:lnSpc>
              <a:spcBef>
                <a:spcPts val="2600"/>
              </a:spcBef>
              <a:buSzPct val="75000"/>
              <a:buFontTx/>
              <a:buChar char="•"/>
            </a:pPr>
            <a:r>
              <a:rPr lang="en-US" altLang="en-US" b="1" dirty="0">
                <a:latin typeface="Helvetica" charset="0"/>
                <a:ea typeface="Helvetica" charset="0"/>
                <a:cs typeface="Helvetica" charset="0"/>
                <a:sym typeface="Helvetica" charset="0"/>
              </a:rPr>
              <a:t>Tennis — 3 or 5 sets in a match</a:t>
            </a:r>
          </a:p>
          <a:p>
            <a:pPr algn="l">
              <a:lnSpc>
                <a:spcPct val="90000"/>
              </a:lnSpc>
              <a:spcBef>
                <a:spcPts val="2600"/>
              </a:spcBef>
              <a:buSzPct val="75000"/>
              <a:buFontTx/>
              <a:buChar char="•"/>
            </a:pPr>
            <a:r>
              <a:rPr lang="en-US" altLang="en-US" b="1" dirty="0">
                <a:latin typeface="Helvetica" charset="0"/>
                <a:ea typeface="Helvetica" charset="0"/>
                <a:cs typeface="Helvetica" charset="0"/>
                <a:sym typeface="Helvetica" charset="0"/>
              </a:rPr>
              <a:t>Snooker (World Championship) — 35 frames in final</a:t>
            </a:r>
          </a:p>
        </p:txBody>
      </p:sp>
      <p:pic>
        <p:nvPicPr>
          <p:cNvPr id="40963" name="Picture 3" descr="pasted-image.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93175" y="6902450"/>
            <a:ext cx="3784600" cy="2535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0964" name="Picture 4" descr="pasted-image.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26250" y="6900863"/>
            <a:ext cx="1733550" cy="2538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0965" name="Picture 5" descr="pasted-image.t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51300" y="6900863"/>
            <a:ext cx="2441575" cy="254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0966" name="Picture 6" descr="pasted-image.t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25438" y="6900863"/>
            <a:ext cx="3390900" cy="254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p:cNvSpPr>
            <a:spLocks/>
          </p:cNvSpPr>
          <p:nvPr/>
        </p:nvSpPr>
        <p:spPr bwMode="auto">
          <a:xfrm>
            <a:off x="436563" y="4445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Mosteller’s question</a:t>
            </a:r>
          </a:p>
        </p:txBody>
      </p:sp>
      <p:pic>
        <p:nvPicPr>
          <p:cNvPr id="41986" name="Picture 2"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5100" y="5092700"/>
            <a:ext cx="10333038" cy="315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1987" name="Picture 3" descr="droppedImag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1993900"/>
            <a:ext cx="10056813" cy="321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1988" name="AutoShape 4"/>
          <p:cNvSpPr>
            <a:spLocks/>
          </p:cNvSpPr>
          <p:nvPr/>
        </p:nvSpPr>
        <p:spPr bwMode="auto">
          <a:xfrm>
            <a:off x="5656263" y="2573338"/>
            <a:ext cx="2185987" cy="396875"/>
          </a:xfrm>
          <a:prstGeom prst="roundRect">
            <a:avLst>
              <a:gd name="adj" fmla="val 42648"/>
            </a:avLst>
          </a:prstGeom>
          <a:noFill/>
          <a:ln w="50800" cap="flat" cmpd="sng">
            <a:solidFill>
              <a:srgbClr val="F5D328"/>
            </a:solidFill>
            <a:prstDash val="solid"/>
            <a:miter lim="400000"/>
            <a:headEnd type="none" w="med" len="med"/>
            <a:tailEnd type="none" w="med" len="med"/>
          </a:ln>
          <a:effectLst>
            <a:outerShdw blurRad="38100" dist="25400" dir="5400000" algn="ctr" rotWithShape="0">
              <a:srgbClr val="A6AAA9">
                <a:alpha val="50000"/>
              </a:srgbClr>
            </a:outerShdw>
          </a:effectLst>
          <a:extLst>
            <a:ext uri="{909E8E84-426E-40DD-AFC4-6F175D3DCCD1}">
              <a14:hiddenFill xmlns:a14="http://schemas.microsoft.com/office/drawing/2010/main">
                <a:solidFill>
                  <a:srgbClr val="FFFFFF"/>
                </a:solidFill>
              </a14:hiddenFill>
            </a:ext>
          </a:extLst>
        </p:spPr>
        <p:txBody>
          <a:bodyPr lIns="50800" tIns="50800" rIns="50800" bIns="50800" anchor="ctr"/>
          <a:lstStyle/>
          <a:p>
            <a:endParaRPr lang="en-US" altLang="en-US" sz="2400">
              <a:solidFill>
                <a:srgbClr val="FFFFFF"/>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dissolve">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p:cNvSpPr>
            <a:spLocks noGrp="1" noChangeArrowheads="1"/>
          </p:cNvSpPr>
          <p:nvPr>
            <p:ph type="title"/>
          </p:nvPr>
        </p:nvSpPr>
        <p:spPr>
          <a:xfrm>
            <a:off x="436563" y="444500"/>
            <a:ext cx="12130087" cy="2159000"/>
          </a:xfrm>
        </p:spPr>
        <p:txBody>
          <a:bodyPr/>
          <a:lstStyle/>
          <a:p>
            <a:r>
              <a:rPr lang="en-US" altLang="en-US"/>
              <a:t>Simple model for the World Series</a:t>
            </a:r>
          </a:p>
        </p:txBody>
      </p:sp>
      <p:sp>
        <p:nvSpPr>
          <p:cNvPr id="43010" name="Rectangle 2"/>
          <p:cNvSpPr>
            <a:spLocks noGrp="1" noChangeArrowheads="1"/>
          </p:cNvSpPr>
          <p:nvPr>
            <p:ph type="body" sz="half" idx="1"/>
          </p:nvPr>
        </p:nvSpPr>
        <p:spPr>
          <a:xfrm>
            <a:off x="952500" y="5907088"/>
            <a:ext cx="11099800" cy="3071812"/>
          </a:xfrm>
        </p:spPr>
        <p:txBody>
          <a:bodyPr/>
          <a:lstStyle/>
          <a:p>
            <a:r>
              <a:rPr lang="en-US" altLang="en-US" dirty="0"/>
              <a:t>Assume probability for a given team to win is </a:t>
            </a:r>
            <a:r>
              <a:rPr lang="en-US" altLang="en-US" i="1" dirty="0"/>
              <a:t>p</a:t>
            </a:r>
            <a:endParaRPr lang="en-US" altLang="en-US" dirty="0"/>
          </a:p>
          <a:p>
            <a:r>
              <a:rPr lang="en-US" altLang="en-US" dirty="0"/>
              <a:t>Assume probability is constant throughout the series</a:t>
            </a:r>
          </a:p>
        </p:txBody>
      </p:sp>
      <p:pic>
        <p:nvPicPr>
          <p:cNvPr id="43011" name="Picture 3" descr="dropped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2489200"/>
            <a:ext cx="10580687" cy="319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3012" name="Rectangle 4"/>
          <p:cNvSpPr>
            <a:spLocks/>
          </p:cNvSpPr>
          <p:nvPr/>
        </p:nvSpPr>
        <p:spPr bwMode="auto">
          <a:xfrm>
            <a:off x="2844800" y="5257800"/>
            <a:ext cx="8816975" cy="506413"/>
          </a:xfrm>
          <a:prstGeom prst="rect">
            <a:avLst/>
          </a:prstGeom>
          <a:solidFill>
            <a:srgbClr val="FFFFFF"/>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solidFill>
                <a:srgbClr val="FFFFFF"/>
              </a:solidFill>
            </a:endParaRPr>
          </a:p>
        </p:txBody>
      </p:sp>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AutoShape 1"/>
          <p:cNvSpPr>
            <a:spLocks/>
          </p:cNvSpPr>
          <p:nvPr/>
        </p:nvSpPr>
        <p:spPr bwMode="auto">
          <a:xfrm>
            <a:off x="477838" y="2333625"/>
            <a:ext cx="5327650" cy="3444875"/>
          </a:xfrm>
          <a:prstGeom prst="roundRect">
            <a:avLst>
              <a:gd name="adj" fmla="val 12199"/>
            </a:avLst>
          </a:prstGeom>
          <a:solidFill>
            <a:srgbClr val="FFFFFF"/>
          </a:solidFill>
          <a:ln w="38100" cap="flat" cmpd="sng">
            <a:solidFill>
              <a:srgbClr val="A6AAA9"/>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endParaRPr lang="en-US" altLang="en-US" sz="2400">
              <a:solidFill>
                <a:srgbClr val="FFFFFF"/>
              </a:solidFill>
            </a:endParaRPr>
          </a:p>
        </p:txBody>
      </p:sp>
      <p:pic>
        <p:nvPicPr>
          <p:cNvPr id="44034" name="Picture 2" descr="Unknown-3.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6300" y="4065588"/>
            <a:ext cx="2116138"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4035" name="Picture 3" descr="Unknown-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9750" y="4249738"/>
            <a:ext cx="1728788" cy="125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4036" name="Rectangle 4"/>
          <p:cNvSpPr>
            <a:spLocks/>
          </p:cNvSpPr>
          <p:nvPr/>
        </p:nvSpPr>
        <p:spPr bwMode="auto">
          <a:xfrm>
            <a:off x="436563" y="-355600"/>
            <a:ext cx="12130087" cy="215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r>
              <a:rPr lang="en-US" altLang="en-US" sz="6400" b="1">
                <a:solidFill>
                  <a:srgbClr val="164F86"/>
                </a:solidFill>
                <a:effectLst>
                  <a:outerShdw blurRad="38100" dist="38100" dir="2700000" algn="tl">
                    <a:srgbClr val="C0C0C0"/>
                  </a:outerShdw>
                </a:effectLst>
                <a:latin typeface="Helvetica" charset="0"/>
                <a:ea typeface="Helvetica" charset="0"/>
                <a:cs typeface="Helvetica" charset="0"/>
                <a:sym typeface="Helvetica" charset="0"/>
              </a:rPr>
              <a:t>Simple model</a:t>
            </a:r>
          </a:p>
        </p:txBody>
      </p:sp>
      <p:pic>
        <p:nvPicPr>
          <p:cNvPr id="44037" name="Picture 5" descr="Unknown-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1200" y="2628900"/>
            <a:ext cx="1670050" cy="125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4038" name="Rectangle 6"/>
          <p:cNvSpPr>
            <a:spLocks/>
          </p:cNvSpPr>
          <p:nvPr/>
        </p:nvSpPr>
        <p:spPr bwMode="auto">
          <a:xfrm>
            <a:off x="593725" y="1131888"/>
            <a:ext cx="12157075"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gn="l">
              <a:lnSpc>
                <a:spcPct val="90000"/>
              </a:lnSpc>
              <a:spcBef>
                <a:spcPts val="2600"/>
              </a:spcBef>
            </a:pPr>
            <a:r>
              <a:rPr lang="en-US" altLang="en-US" b="1">
                <a:latin typeface="Helvetica" charset="0"/>
                <a:ea typeface="Helvetica" charset="0"/>
                <a:cs typeface="Helvetica" charset="0"/>
                <a:sym typeface="Helvetica" charset="0"/>
              </a:rPr>
              <a:t>Over a series, playing baseball is like flipping an unfair coin:</a:t>
            </a:r>
          </a:p>
        </p:txBody>
      </p:sp>
      <p:pic>
        <p:nvPicPr>
          <p:cNvPr id="44039" name="Picture 7" descr="671.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41750" y="2425700"/>
            <a:ext cx="1798638" cy="175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4040" name="Picture 8" descr="johnny-damon.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09825" y="2425700"/>
            <a:ext cx="1463675" cy="175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4041" name="AutoShape 9" descr="tile_paper_medgray.jpeg"/>
          <p:cNvSpPr>
            <a:spLocks/>
          </p:cNvSpPr>
          <p:nvPr/>
        </p:nvSpPr>
        <p:spPr bwMode="auto">
          <a:xfrm rot="5400000">
            <a:off x="5422107" y="6282531"/>
            <a:ext cx="2159000" cy="1093787"/>
          </a:xfrm>
          <a:prstGeom prst="rightArrow">
            <a:avLst>
              <a:gd name="adj1" fmla="val 47250"/>
              <a:gd name="adj2" fmla="val 65376"/>
            </a:avLst>
          </a:prstGeom>
          <a:blipFill dpi="0" rotWithShape="0">
            <a:blip r:embed="rId7"/>
            <a:srcRect/>
            <a:tile tx="0" ty="0" sx="100000" sy="100000" flip="none" algn="tl"/>
          </a:blipFill>
          <a:ln>
            <a:noFill/>
          </a:ln>
          <a:effectLst>
            <a:outerShdw blurRad="38100" dist="25400" dir="5400000" algn="ctr" rotWithShape="0">
              <a:srgbClr val="000000">
                <a:alpha val="50000"/>
              </a:srgbClr>
            </a:outerShdw>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Lst>
        </p:spPr>
        <p:txBody>
          <a:bodyPr lIns="50800" tIns="50800" rIns="50800" bIns="50800" anchor="ctr"/>
          <a:lstStyle/>
          <a:p>
            <a:endParaRPr lang="en-US" altLang="en-US" sz="2400">
              <a:solidFill>
                <a:srgbClr val="FFFFFF"/>
              </a:solidFill>
            </a:endParaRPr>
          </a:p>
        </p:txBody>
      </p:sp>
      <p:sp>
        <p:nvSpPr>
          <p:cNvPr id="44042" name="Rectangle 10"/>
          <p:cNvSpPr>
            <a:spLocks/>
          </p:cNvSpPr>
          <p:nvPr/>
        </p:nvSpPr>
        <p:spPr bwMode="auto">
          <a:xfrm>
            <a:off x="4222750" y="8067117"/>
            <a:ext cx="4899025" cy="601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gn="l">
              <a:lnSpc>
                <a:spcPct val="90000"/>
              </a:lnSpc>
              <a:spcBef>
                <a:spcPts val="2600"/>
              </a:spcBef>
            </a:pPr>
            <a:r>
              <a:rPr lang="en-US" altLang="en-US" b="1">
                <a:latin typeface="Helvetica" charset="0"/>
                <a:ea typeface="Helvetica" charset="0"/>
                <a:cs typeface="Helvetica" charset="0"/>
                <a:sym typeface="Helvetica" charset="0"/>
              </a:rPr>
              <a:t>Win with probability </a:t>
            </a:r>
            <a:r>
              <a:rPr lang="en-US" altLang="en-US" b="1" i="1">
                <a:latin typeface="Helvetica" charset="0"/>
                <a:ea typeface="Helvetica" charset="0"/>
                <a:cs typeface="Helvetica" charset="0"/>
                <a:sym typeface="Helvetica" charset="0"/>
              </a:rPr>
              <a:t>p</a:t>
            </a:r>
            <a:endParaRPr lang="en-US" altLang="en-US" b="1">
              <a:latin typeface="Helvetica" charset="0"/>
              <a:ea typeface="Helvetica" charset="0"/>
              <a:cs typeface="Helvetica" charset="0"/>
              <a:sym typeface="Helvetica" charset="0"/>
            </a:endParaRPr>
          </a:p>
        </p:txBody>
      </p:sp>
      <p:sp>
        <p:nvSpPr>
          <p:cNvPr id="44043" name="Rectangle 11"/>
          <p:cNvSpPr>
            <a:spLocks/>
          </p:cNvSpPr>
          <p:nvPr/>
        </p:nvSpPr>
        <p:spPr bwMode="auto">
          <a:xfrm>
            <a:off x="9639300" y="7910513"/>
            <a:ext cx="2638425" cy="1571625"/>
          </a:xfrm>
          <a:prstGeom prst="rect">
            <a:avLst/>
          </a:prstGeom>
          <a:solidFill>
            <a:srgbClr val="D5E6F9"/>
          </a:solidFill>
          <a:ln w="12700" cap="flat" cmpd="sng">
            <a:solidFill>
              <a:schemeClr val="accent1"/>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spAutoFit/>
          </a:bodyPr>
          <a:lstStyle/>
          <a:p>
            <a:pPr>
              <a:lnSpc>
                <a:spcPct val="90000"/>
              </a:lnSpc>
              <a:spcBef>
                <a:spcPts val="2600"/>
              </a:spcBef>
            </a:pPr>
            <a:r>
              <a:rPr lang="en-US" altLang="en-US" sz="3400" b="1">
                <a:latin typeface="Helvetica" charset="0"/>
                <a:ea typeface="Helvetica" charset="0"/>
                <a:cs typeface="Helvetica" charset="0"/>
                <a:sym typeface="Helvetica" charset="0"/>
              </a:rPr>
              <a:t>Is that reasonable?</a:t>
            </a:r>
          </a:p>
        </p:txBody>
      </p:sp>
      <p:sp>
        <p:nvSpPr>
          <p:cNvPr id="44044" name="AutoShape 12"/>
          <p:cNvSpPr>
            <a:spLocks/>
          </p:cNvSpPr>
          <p:nvPr/>
        </p:nvSpPr>
        <p:spPr bwMode="auto">
          <a:xfrm>
            <a:off x="7197725" y="2333625"/>
            <a:ext cx="5327650" cy="3444875"/>
          </a:xfrm>
          <a:prstGeom prst="roundRect">
            <a:avLst>
              <a:gd name="adj" fmla="val 12199"/>
            </a:avLst>
          </a:prstGeom>
          <a:solidFill>
            <a:srgbClr val="FFFFFF"/>
          </a:solidFill>
          <a:ln w="38100" cap="flat" cmpd="sng">
            <a:solidFill>
              <a:srgbClr val="A6AAA9"/>
            </a:solidFill>
            <a:prstDash val="solid"/>
            <a:miter lim="400000"/>
            <a:headEnd type="none" w="med" len="med"/>
            <a:tailEnd type="none" w="med" len="med"/>
          </a:ln>
          <a:effectLst>
            <a:outerShdw blurRad="38100" dist="25400" dir="5400000" algn="ctr" rotWithShape="0">
              <a:srgbClr val="000000">
                <a:alpha val="50000"/>
              </a:srgbClr>
            </a:outerShdw>
          </a:effectLst>
        </p:spPr>
        <p:txBody>
          <a:bodyPr lIns="50800" tIns="50800" rIns="50800" bIns="50800" anchor="ctr"/>
          <a:lstStyle/>
          <a:p>
            <a:endParaRPr lang="en-US" altLang="en-US" sz="2400">
              <a:solidFill>
                <a:srgbClr val="FFFFFF"/>
              </a:solidFill>
            </a:endParaRPr>
          </a:p>
        </p:txBody>
      </p:sp>
      <p:pic>
        <p:nvPicPr>
          <p:cNvPr id="44045" name="Picture 13" descr="yankees-ball-logo.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391400" y="2439988"/>
            <a:ext cx="1730375" cy="172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4046" name="Picture 14" descr="New+York+Yankees+v+Baltimore+Orioles+NNthcV7tFBvl.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931400" y="2546350"/>
            <a:ext cx="2282825" cy="151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4047" name="Picture 15" descr="Unknown-4.jpg"/>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8845550" y="3998913"/>
            <a:ext cx="1214438" cy="166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4048" name="Picture 16" descr="hideki-matsui.jpg"/>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0310813" y="4040188"/>
            <a:ext cx="1905000" cy="156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4049" name="Rectangle 17"/>
          <p:cNvSpPr>
            <a:spLocks/>
          </p:cNvSpPr>
          <p:nvPr/>
        </p:nvSpPr>
        <p:spPr bwMode="auto">
          <a:xfrm>
            <a:off x="6061075" y="3694113"/>
            <a:ext cx="881063"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90000"/>
              </a:lnSpc>
              <a:spcBef>
                <a:spcPts val="2600"/>
              </a:spcBef>
            </a:pPr>
            <a:r>
              <a:rPr lang="en-US" altLang="en-US" sz="4100" b="1">
                <a:latin typeface="Helvetica" charset="0"/>
                <a:ea typeface="Helvetica" charset="0"/>
                <a:cs typeface="Helvetica" charset="0"/>
                <a:sym typeface="Helvetica" charset="0"/>
              </a:rPr>
              <a:t>vs.</a:t>
            </a:r>
          </a:p>
        </p:txBody>
      </p:sp>
      <p:sp>
        <p:nvSpPr>
          <p:cNvPr id="44050" name="Rectangle 18"/>
          <p:cNvSpPr>
            <a:spLocks/>
          </p:cNvSpPr>
          <p:nvPr/>
        </p:nvSpPr>
        <p:spPr bwMode="auto">
          <a:xfrm rot="5400000">
            <a:off x="5623718" y="6701632"/>
            <a:ext cx="1757363"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gn="l">
              <a:lnSpc>
                <a:spcPct val="90000"/>
              </a:lnSpc>
              <a:spcBef>
                <a:spcPts val="2600"/>
              </a:spcBef>
            </a:pPr>
            <a:r>
              <a:rPr lang="en-US" altLang="en-US" sz="2900" b="1">
                <a:solidFill>
                  <a:srgbClr val="FFFFFF"/>
                </a:solidFill>
                <a:latin typeface="Helvetica" charset="0"/>
                <a:ea typeface="Helvetica" charset="0"/>
                <a:cs typeface="Helvetica" charset="0"/>
                <a:sym typeface="Helvetica" charset="0"/>
              </a:rPr>
              <a:t>Simplify</a:t>
            </a:r>
          </a:p>
        </p:txBody>
      </p:sp>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p:cNvSpPr>
            <a:spLocks noGrp="1" noChangeArrowheads="1"/>
          </p:cNvSpPr>
          <p:nvPr>
            <p:ph type="title"/>
          </p:nvPr>
        </p:nvSpPr>
        <p:spPr>
          <a:xfrm>
            <a:off x="436563" y="444500"/>
            <a:ext cx="12130087" cy="2159000"/>
          </a:xfrm>
        </p:spPr>
        <p:txBody>
          <a:bodyPr/>
          <a:lstStyle/>
          <a:p>
            <a:r>
              <a:rPr lang="en-US" altLang="en-US"/>
              <a:t>Mosteller’s model</a:t>
            </a:r>
          </a:p>
        </p:txBody>
      </p:sp>
      <p:sp>
        <p:nvSpPr>
          <p:cNvPr id="45058" name="Rectangle 2"/>
          <p:cNvSpPr>
            <a:spLocks noGrp="1" noChangeArrowheads="1"/>
          </p:cNvSpPr>
          <p:nvPr>
            <p:ph type="body" idx="1"/>
          </p:nvPr>
        </p:nvSpPr>
        <p:spPr>
          <a:xfrm>
            <a:off x="952500" y="2609850"/>
            <a:ext cx="11099800" cy="6286500"/>
          </a:xfrm>
        </p:spPr>
        <p:txBody>
          <a:bodyPr/>
          <a:lstStyle/>
          <a:p>
            <a:pPr marL="400050" indent="-400050" defTabSz="525463">
              <a:spcBef>
                <a:spcPts val="2300"/>
              </a:spcBef>
            </a:pPr>
            <a:r>
              <a:rPr lang="en-US" altLang="en-US" sz="3200" dirty="0"/>
              <a:t>Assume outcome of each game is the same as flipping an unfair coin</a:t>
            </a:r>
          </a:p>
          <a:p>
            <a:pPr marL="400050" indent="-400050" defTabSz="525463">
              <a:spcBef>
                <a:spcPts val="2300"/>
              </a:spcBef>
            </a:pPr>
            <a:r>
              <a:rPr lang="en-US" altLang="en-US" sz="3200" dirty="0"/>
              <a:t>The better team is the one with the higher probability of winning a single coin flip</a:t>
            </a:r>
          </a:p>
          <a:p>
            <a:pPr marL="400050" indent="-400050" defTabSz="525463">
              <a:spcBef>
                <a:spcPts val="2300"/>
              </a:spcBef>
            </a:pPr>
            <a:r>
              <a:rPr lang="en-US" altLang="en-US" sz="3200" dirty="0"/>
              <a:t>The point of playing a “series” is that you would like to amplify the chance the better team wins</a:t>
            </a:r>
          </a:p>
          <a:p>
            <a:pPr marL="400050" indent="-400050" defTabSz="525463">
              <a:spcBef>
                <a:spcPts val="2300"/>
              </a:spcBef>
            </a:pPr>
            <a:r>
              <a:rPr lang="en-US" altLang="en-US" sz="3200" dirty="0"/>
              <a:t>Intuitively, it seems clear that the more games you play, the more it will amplify the advantage of the better team</a:t>
            </a:r>
          </a:p>
          <a:p>
            <a:pPr marL="400050" indent="-400050" defTabSz="525463">
              <a:spcBef>
                <a:spcPts val="2300"/>
              </a:spcBef>
            </a:pPr>
            <a:r>
              <a:rPr lang="en-US" altLang="en-US" sz="3200" dirty="0"/>
              <a:t>But how good is it? What is the chance a better team will win a 1/3/5/7 game series?</a:t>
            </a:r>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a:spLocks noGrp="1" noChangeArrowheads="1"/>
          </p:cNvSpPr>
          <p:nvPr>
            <p:ph type="title"/>
          </p:nvPr>
        </p:nvSpPr>
        <p:spPr>
          <a:xfrm>
            <a:off x="436563" y="444500"/>
            <a:ext cx="12130087" cy="2159000"/>
          </a:xfrm>
        </p:spPr>
        <p:txBody>
          <a:bodyPr/>
          <a:lstStyle/>
          <a:p>
            <a:r>
              <a:rPr lang="en-US" altLang="en-US"/>
              <a:t>Binomial trials</a:t>
            </a:r>
          </a:p>
        </p:txBody>
      </p:sp>
      <p:sp>
        <p:nvSpPr>
          <p:cNvPr id="46082" name="Rectangle 2"/>
          <p:cNvSpPr>
            <a:spLocks noGrp="1" noChangeArrowheads="1"/>
          </p:cNvSpPr>
          <p:nvPr>
            <p:ph type="body" sz="quarter" idx="1"/>
          </p:nvPr>
        </p:nvSpPr>
        <p:spPr>
          <a:xfrm>
            <a:off x="952500" y="2146300"/>
            <a:ext cx="11099800" cy="1954213"/>
          </a:xfrm>
        </p:spPr>
        <p:txBody>
          <a:bodyPr/>
          <a:lstStyle/>
          <a:p>
            <a:r>
              <a:rPr lang="en-US" altLang="en-US" dirty="0"/>
              <a:t>Suppose you are given a coin, and the probability of getting a head is </a:t>
            </a:r>
            <a:r>
              <a:rPr lang="en-US" altLang="en-US" i="1" dirty="0"/>
              <a:t>p</a:t>
            </a:r>
            <a:r>
              <a:rPr lang="en-US" altLang="en-US" dirty="0"/>
              <a:t>. What is the probability of getting </a:t>
            </a:r>
            <a:r>
              <a:rPr lang="en-US" altLang="en-US" i="1" dirty="0"/>
              <a:t>m</a:t>
            </a:r>
            <a:r>
              <a:rPr lang="en-US" altLang="en-US" dirty="0"/>
              <a:t> heads out of </a:t>
            </a:r>
            <a:r>
              <a:rPr lang="en-US" altLang="en-US" i="1" dirty="0"/>
              <a:t>N</a:t>
            </a:r>
            <a:r>
              <a:rPr lang="en-US" altLang="en-US" dirty="0"/>
              <a:t> trials?</a:t>
            </a:r>
          </a:p>
        </p:txBody>
      </p:sp>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
          <p:cNvSpPr>
            <a:spLocks noGrp="1" noChangeArrowheads="1"/>
          </p:cNvSpPr>
          <p:nvPr>
            <p:ph type="title"/>
          </p:nvPr>
        </p:nvSpPr>
        <p:spPr>
          <a:xfrm>
            <a:off x="436563" y="444500"/>
            <a:ext cx="12130087" cy="2159000"/>
          </a:xfrm>
        </p:spPr>
        <p:txBody>
          <a:bodyPr/>
          <a:lstStyle/>
          <a:p>
            <a:r>
              <a:rPr lang="en-US" altLang="en-US" dirty="0"/>
              <a:t>Binomial trials</a:t>
            </a:r>
          </a:p>
        </p:txBody>
      </p:sp>
      <mc:AlternateContent xmlns:mc="http://schemas.openxmlformats.org/markup-compatibility/2006" xmlns:a14="http://schemas.microsoft.com/office/drawing/2010/main">
        <mc:Choice Requires="a14">
          <p:sp>
            <p:nvSpPr>
              <p:cNvPr id="47106" name="Rectangle 2"/>
              <p:cNvSpPr>
                <a:spLocks noGrp="1" noChangeArrowheads="1"/>
              </p:cNvSpPr>
              <p:nvPr>
                <p:ph type="body" idx="1"/>
              </p:nvPr>
            </p:nvSpPr>
            <p:spPr>
              <a:xfrm>
                <a:off x="825500" y="2476500"/>
                <a:ext cx="11352213" cy="6286500"/>
              </a:xfrm>
            </p:spPr>
            <p:txBody>
              <a:bodyPr/>
              <a:lstStyle/>
              <a:p>
                <a:r>
                  <a:rPr lang="en-US" altLang="en-US" dirty="0"/>
                  <a:t>Consider </a:t>
                </a:r>
                <a:r>
                  <a:rPr lang="en-US" altLang="en-US" i="1" dirty="0"/>
                  <a:t>N</a:t>
                </a:r>
                <a:r>
                  <a:rPr lang="en-US" altLang="en-US" dirty="0"/>
                  <a:t> = 3</a:t>
                </a:r>
              </a:p>
              <a:p>
                <a:r>
                  <a:rPr lang="en-US" altLang="en-US" dirty="0" smtClean="0"/>
                  <a:t>8 possible ordered </a:t>
                </a:r>
                <a:r>
                  <a:rPr lang="en-US" altLang="en-US" dirty="0"/>
                  <a:t>outcomes of 3 coin flips:</a:t>
                </a:r>
              </a:p>
              <a:p>
                <a:endParaRPr lang="en-US" altLang="en-US" dirty="0"/>
              </a:p>
              <a:p>
                <a:endParaRPr lang="en-US" altLang="en-US" dirty="0"/>
              </a:p>
              <a:p>
                <a:endParaRPr lang="en-US" altLang="en-US" dirty="0"/>
              </a:p>
              <a:p>
                <a:r>
                  <a:rPr lang="en-US" altLang="en-US" dirty="0"/>
                  <a:t>Probability of two heads and then one tail: </a:t>
                </a:r>
                <a:endParaRPr lang="en-US" altLang="en-US" dirty="0" smtClean="0"/>
              </a:p>
              <a:p>
                <a:pPr marL="0" indent="0">
                  <a:buNone/>
                </a:pPr>
                <a14:m>
                  <m:oMathPara xmlns:m="http://schemas.openxmlformats.org/officeDocument/2006/math">
                    <m:oMathParaPr>
                      <m:jc m:val="centerGroup"/>
                    </m:oMathParaPr>
                    <m:oMath xmlns:m="http://schemas.openxmlformats.org/officeDocument/2006/math">
                      <m:r>
                        <a:rPr lang="en-US" altLang="en-US" b="0" i="1" smtClean="0">
                          <a:latin typeface="Cambria Math" charset="0"/>
                        </a:rPr>
                        <m:t>𝑝</m:t>
                      </m:r>
                      <m:r>
                        <a:rPr lang="en-US" altLang="en-US" b="0" i="1" smtClean="0">
                          <a:latin typeface="Cambria Math" charset="0"/>
                        </a:rPr>
                        <m:t>⋅</m:t>
                      </m:r>
                      <m:r>
                        <a:rPr lang="en-US" altLang="en-US" b="0" i="1" smtClean="0">
                          <a:latin typeface="Cambria Math" charset="0"/>
                        </a:rPr>
                        <m:t>𝑝</m:t>
                      </m:r>
                      <m:r>
                        <a:rPr lang="en-US" altLang="en-US" b="0" i="1" smtClean="0">
                          <a:latin typeface="Cambria Math" charset="0"/>
                        </a:rPr>
                        <m:t>⋅</m:t>
                      </m:r>
                      <m:d>
                        <m:dPr>
                          <m:ctrlPr>
                            <a:rPr lang="en-US" altLang="en-US" b="0" i="1" smtClean="0">
                              <a:latin typeface="Cambria Math" charset="0"/>
                            </a:rPr>
                          </m:ctrlPr>
                        </m:dPr>
                        <m:e>
                          <m:r>
                            <a:rPr lang="en-US" altLang="en-US" b="0" i="1" smtClean="0">
                              <a:latin typeface="Cambria Math" charset="0"/>
                            </a:rPr>
                            <m:t>1 −</m:t>
                          </m:r>
                          <m:r>
                            <a:rPr lang="en-US" altLang="en-US" b="0" i="1" smtClean="0">
                              <a:latin typeface="Cambria Math" charset="0"/>
                            </a:rPr>
                            <m:t>𝑝</m:t>
                          </m:r>
                        </m:e>
                      </m:d>
                      <m:r>
                        <a:rPr lang="en-US" altLang="en-US" b="0" i="1" smtClean="0">
                          <a:latin typeface="Cambria Math" charset="0"/>
                        </a:rPr>
                        <m:t>=</m:t>
                      </m:r>
                      <m:sSup>
                        <m:sSupPr>
                          <m:ctrlPr>
                            <a:rPr lang="en-US" altLang="en-US" b="0" i="1" smtClean="0">
                              <a:latin typeface="Cambria Math" charset="0"/>
                            </a:rPr>
                          </m:ctrlPr>
                        </m:sSupPr>
                        <m:e>
                          <m:r>
                            <a:rPr lang="en-US" altLang="en-US" b="0" i="1" smtClean="0">
                              <a:latin typeface="Cambria Math" charset="0"/>
                            </a:rPr>
                            <m:t>𝑝</m:t>
                          </m:r>
                        </m:e>
                        <m:sup>
                          <m:r>
                            <a:rPr lang="en-US" altLang="en-US" b="0" i="1" smtClean="0">
                              <a:latin typeface="Cambria Math" charset="0"/>
                            </a:rPr>
                            <m:t>2</m:t>
                          </m:r>
                        </m:sup>
                      </m:sSup>
                      <m:r>
                        <a:rPr lang="en-US" altLang="en-US" b="0" i="1" smtClean="0">
                          <a:latin typeface="Cambria Math" charset="0"/>
                        </a:rPr>
                        <m:t>(1 −</m:t>
                      </m:r>
                      <m:r>
                        <a:rPr lang="en-US" altLang="en-US" b="0" i="1" smtClean="0">
                          <a:latin typeface="Cambria Math" charset="0"/>
                        </a:rPr>
                        <m:t>𝑝</m:t>
                      </m:r>
                      <m:r>
                        <a:rPr lang="en-US" altLang="en-US" b="0" i="1" smtClean="0">
                          <a:latin typeface="Cambria Math" charset="0"/>
                        </a:rPr>
                        <m:t>)</m:t>
                      </m:r>
                    </m:oMath>
                  </m:oMathPara>
                </a14:m>
                <a:endParaRPr lang="en-US" altLang="en-US" dirty="0"/>
              </a:p>
              <a:p>
                <a:r>
                  <a:rPr lang="en-US" altLang="en-US" dirty="0"/>
                  <a:t>Probability of getting two heads in any order</a:t>
                </a:r>
                <a:r>
                  <a:rPr lang="en-US" altLang="en-US" dirty="0" smtClean="0"/>
                  <a:t>:</a:t>
                </a:r>
              </a:p>
              <a:p>
                <a:pPr marL="0" indent="0">
                  <a:buNone/>
                </a:pPr>
                <a14:m>
                  <m:oMathPara xmlns:m="http://schemas.openxmlformats.org/officeDocument/2006/math">
                    <m:oMathParaPr>
                      <m:jc m:val="centerGroup"/>
                    </m:oMathParaPr>
                    <m:oMath xmlns:m="http://schemas.openxmlformats.org/officeDocument/2006/math">
                      <m:r>
                        <a:rPr lang="en-US" altLang="en-US" i="1" smtClean="0">
                          <a:latin typeface="Cambria Math" charset="0"/>
                        </a:rPr>
                        <m:t>3 </m:t>
                      </m:r>
                      <m:sSup>
                        <m:sSupPr>
                          <m:ctrlPr>
                            <a:rPr lang="en-US" altLang="en-US" i="1">
                              <a:latin typeface="Cambria Math" charset="0"/>
                            </a:rPr>
                          </m:ctrlPr>
                        </m:sSupPr>
                        <m:e>
                          <m:r>
                            <a:rPr lang="en-US" altLang="en-US" i="1">
                              <a:latin typeface="Cambria Math" charset="0"/>
                            </a:rPr>
                            <m:t>𝑝</m:t>
                          </m:r>
                        </m:e>
                        <m:sup>
                          <m:r>
                            <a:rPr lang="en-US" altLang="en-US" i="1">
                              <a:latin typeface="Cambria Math" charset="0"/>
                            </a:rPr>
                            <m:t>2</m:t>
                          </m:r>
                        </m:sup>
                      </m:sSup>
                      <m:r>
                        <a:rPr lang="en-US" altLang="en-US" i="1">
                          <a:latin typeface="Cambria Math" charset="0"/>
                        </a:rPr>
                        <m:t>(1 −</m:t>
                      </m:r>
                      <m:r>
                        <a:rPr lang="en-US" altLang="en-US" i="1">
                          <a:latin typeface="Cambria Math" charset="0"/>
                        </a:rPr>
                        <m:t>𝑝</m:t>
                      </m:r>
                      <m:r>
                        <a:rPr lang="en-US" altLang="en-US" i="1">
                          <a:latin typeface="Cambria Math" charset="0"/>
                        </a:rPr>
                        <m:t>)</m:t>
                      </m:r>
                    </m:oMath>
                  </m:oMathPara>
                </a14:m>
                <a:endParaRPr lang="en-US" altLang="en-US" dirty="0"/>
              </a:p>
            </p:txBody>
          </p:sp>
        </mc:Choice>
        <mc:Fallback xmlns="">
          <p:sp>
            <p:nvSpPr>
              <p:cNvPr id="47106" name="Rectangle 2"/>
              <p:cNvSpPr>
                <a:spLocks noRot="1" noChangeAspect="1" noMove="1" noResize="1" noEditPoints="1" noAdjustHandles="1" noChangeArrowheads="1" noChangeShapeType="1" noTextEdit="1"/>
              </p:cNvSpPr>
              <p:nvPr>
                <p:ph type="body" idx="1"/>
              </p:nvPr>
            </p:nvSpPr>
            <p:spPr>
              <a:xfrm>
                <a:off x="825500" y="2476500"/>
                <a:ext cx="11352213" cy="6286500"/>
              </a:xfrm>
              <a:blipFill rotWithShape="0">
                <a:blip r:embed="rId2"/>
                <a:stretch>
                  <a:fillRect l="-1342" t="-4457" b="-1066"/>
                </a:stretch>
              </a:blipFill>
            </p:spPr>
            <p:txBody>
              <a:bodyPr/>
              <a:lstStyle/>
              <a:p>
                <a:r>
                  <a:rPr lang="en-US">
                    <a:noFill/>
                  </a:rPr>
                  <a:t> </a:t>
                </a:r>
              </a:p>
            </p:txBody>
          </p:sp>
        </mc:Fallback>
      </mc:AlternateContent>
      <p:sp>
        <p:nvSpPr>
          <p:cNvPr id="47107" name="Rectangle 3"/>
          <p:cNvSpPr>
            <a:spLocks/>
          </p:cNvSpPr>
          <p:nvPr/>
        </p:nvSpPr>
        <p:spPr bwMode="auto">
          <a:xfrm>
            <a:off x="1657350" y="4114800"/>
            <a:ext cx="1230313" cy="195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nSpc>
                <a:spcPct val="80000"/>
              </a:lnSpc>
            </a:pPr>
            <a:r>
              <a:rPr lang="en-US" altLang="en-US" b="1">
                <a:solidFill>
                  <a:srgbClr val="773F9B"/>
                </a:solidFill>
                <a:latin typeface="Helvetica" charset="0"/>
                <a:ea typeface="Helvetica" charset="0"/>
                <a:cs typeface="Helvetica" charset="0"/>
                <a:sym typeface="Helvetica" charset="0"/>
              </a:rPr>
              <a:t>HHH</a:t>
            </a:r>
          </a:p>
          <a:p>
            <a:pPr>
              <a:lnSpc>
                <a:spcPct val="80000"/>
              </a:lnSpc>
            </a:pPr>
            <a:r>
              <a:rPr lang="en-US" altLang="en-US" b="1">
                <a:solidFill>
                  <a:srgbClr val="773F9B"/>
                </a:solidFill>
                <a:latin typeface="Helvetica" charset="0"/>
                <a:ea typeface="Helvetica" charset="0"/>
                <a:cs typeface="Helvetica" charset="0"/>
                <a:sym typeface="Helvetica" charset="0"/>
              </a:rPr>
              <a:t>HH</a:t>
            </a:r>
            <a:r>
              <a:rPr lang="en-US" altLang="en-US" b="1">
                <a:solidFill>
                  <a:schemeClr val="accent2"/>
                </a:solidFill>
                <a:latin typeface="Helvetica" charset="0"/>
                <a:ea typeface="Helvetica" charset="0"/>
                <a:cs typeface="Helvetica" charset="0"/>
                <a:sym typeface="Helvetica" charset="0"/>
              </a:rPr>
              <a:t>T</a:t>
            </a:r>
            <a:endParaRPr lang="en-US" altLang="en-US" b="1">
              <a:solidFill>
                <a:srgbClr val="773F9B"/>
              </a:solidFill>
              <a:latin typeface="Helvetica" charset="0"/>
              <a:ea typeface="Helvetica" charset="0"/>
              <a:cs typeface="Helvetica" charset="0"/>
              <a:sym typeface="Helvetica" charset="0"/>
            </a:endParaRPr>
          </a:p>
          <a:p>
            <a:pPr>
              <a:lnSpc>
                <a:spcPct val="80000"/>
              </a:lnSpc>
            </a:pPr>
            <a:r>
              <a:rPr lang="en-US" altLang="en-US" b="1">
                <a:solidFill>
                  <a:srgbClr val="773F9B"/>
                </a:solidFill>
                <a:latin typeface="Helvetica" charset="0"/>
                <a:ea typeface="Helvetica" charset="0"/>
                <a:cs typeface="Helvetica" charset="0"/>
                <a:sym typeface="Helvetica" charset="0"/>
              </a:rPr>
              <a:t>H</a:t>
            </a:r>
            <a:r>
              <a:rPr lang="en-US" altLang="en-US" b="1">
                <a:solidFill>
                  <a:schemeClr val="accent2"/>
                </a:solidFill>
                <a:latin typeface="Helvetica" charset="0"/>
                <a:ea typeface="Helvetica" charset="0"/>
                <a:cs typeface="Helvetica" charset="0"/>
                <a:sym typeface="Helvetica" charset="0"/>
              </a:rPr>
              <a:t>T</a:t>
            </a:r>
            <a:r>
              <a:rPr lang="en-US" altLang="en-US" b="1">
                <a:solidFill>
                  <a:srgbClr val="773F9B"/>
                </a:solidFill>
                <a:latin typeface="Helvetica" charset="0"/>
                <a:ea typeface="Helvetica" charset="0"/>
                <a:cs typeface="Helvetica" charset="0"/>
                <a:sym typeface="Helvetica" charset="0"/>
              </a:rPr>
              <a:t>H</a:t>
            </a:r>
          </a:p>
          <a:p>
            <a:pPr>
              <a:lnSpc>
                <a:spcPct val="80000"/>
              </a:lnSpc>
            </a:pPr>
            <a:r>
              <a:rPr lang="en-US" altLang="en-US" b="1">
                <a:solidFill>
                  <a:srgbClr val="773F9B"/>
                </a:solidFill>
                <a:latin typeface="Helvetica" charset="0"/>
                <a:ea typeface="Helvetica" charset="0"/>
                <a:cs typeface="Helvetica" charset="0"/>
                <a:sym typeface="Helvetica" charset="0"/>
              </a:rPr>
              <a:t>H</a:t>
            </a:r>
            <a:r>
              <a:rPr lang="en-US" altLang="en-US" b="1">
                <a:solidFill>
                  <a:schemeClr val="accent2"/>
                </a:solidFill>
                <a:latin typeface="Helvetica" charset="0"/>
                <a:ea typeface="Helvetica" charset="0"/>
                <a:cs typeface="Helvetica" charset="0"/>
                <a:sym typeface="Helvetica" charset="0"/>
              </a:rPr>
              <a:t>TT</a:t>
            </a:r>
            <a:endParaRPr lang="en-US" altLang="en-US" b="1">
              <a:solidFill>
                <a:srgbClr val="773F9B"/>
              </a:solidFill>
              <a:latin typeface="Helvetica" charset="0"/>
              <a:ea typeface="Helvetica" charset="0"/>
              <a:cs typeface="Helvetica" charset="0"/>
              <a:sym typeface="Helvetica" charset="0"/>
            </a:endParaRPr>
          </a:p>
        </p:txBody>
      </p:sp>
      <p:sp>
        <p:nvSpPr>
          <p:cNvPr id="47108" name="Rectangle 4"/>
          <p:cNvSpPr>
            <a:spLocks/>
          </p:cNvSpPr>
          <p:nvPr/>
        </p:nvSpPr>
        <p:spPr bwMode="auto">
          <a:xfrm>
            <a:off x="3041650" y="4114800"/>
            <a:ext cx="1179513" cy="195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pPr>
              <a:lnSpc>
                <a:spcPct val="80000"/>
              </a:lnSpc>
            </a:pPr>
            <a:r>
              <a:rPr lang="en-US" altLang="en-US" b="1">
                <a:solidFill>
                  <a:schemeClr val="accent2"/>
                </a:solidFill>
                <a:latin typeface="Helvetica" charset="0"/>
                <a:ea typeface="Helvetica" charset="0"/>
                <a:cs typeface="Helvetica" charset="0"/>
                <a:sym typeface="Helvetica" charset="0"/>
              </a:rPr>
              <a:t>T</a:t>
            </a:r>
            <a:r>
              <a:rPr lang="en-US" altLang="en-US" b="1">
                <a:solidFill>
                  <a:srgbClr val="773F9B"/>
                </a:solidFill>
                <a:latin typeface="Helvetica" charset="0"/>
                <a:ea typeface="Helvetica" charset="0"/>
                <a:cs typeface="Helvetica" charset="0"/>
                <a:sym typeface="Helvetica" charset="0"/>
              </a:rPr>
              <a:t>HH</a:t>
            </a:r>
          </a:p>
          <a:p>
            <a:pPr>
              <a:lnSpc>
                <a:spcPct val="80000"/>
              </a:lnSpc>
            </a:pPr>
            <a:r>
              <a:rPr lang="en-US" altLang="en-US" b="1">
                <a:solidFill>
                  <a:schemeClr val="accent2"/>
                </a:solidFill>
                <a:latin typeface="Helvetica" charset="0"/>
                <a:ea typeface="Helvetica" charset="0"/>
                <a:cs typeface="Helvetica" charset="0"/>
                <a:sym typeface="Helvetica" charset="0"/>
              </a:rPr>
              <a:t>T</a:t>
            </a:r>
            <a:r>
              <a:rPr lang="en-US" altLang="en-US" b="1">
                <a:solidFill>
                  <a:srgbClr val="773F9B"/>
                </a:solidFill>
                <a:latin typeface="Helvetica" charset="0"/>
                <a:ea typeface="Helvetica" charset="0"/>
                <a:cs typeface="Helvetica" charset="0"/>
                <a:sym typeface="Helvetica" charset="0"/>
              </a:rPr>
              <a:t>H</a:t>
            </a:r>
            <a:r>
              <a:rPr lang="en-US" altLang="en-US" b="1">
                <a:solidFill>
                  <a:schemeClr val="accent2"/>
                </a:solidFill>
                <a:latin typeface="Helvetica" charset="0"/>
                <a:ea typeface="Helvetica" charset="0"/>
                <a:cs typeface="Helvetica" charset="0"/>
                <a:sym typeface="Helvetica" charset="0"/>
              </a:rPr>
              <a:t>T</a:t>
            </a:r>
            <a:endParaRPr lang="en-US" altLang="en-US" b="1">
              <a:solidFill>
                <a:srgbClr val="773F9B"/>
              </a:solidFill>
              <a:latin typeface="Helvetica" charset="0"/>
              <a:ea typeface="Helvetica" charset="0"/>
              <a:cs typeface="Helvetica" charset="0"/>
              <a:sym typeface="Helvetica" charset="0"/>
            </a:endParaRPr>
          </a:p>
          <a:p>
            <a:pPr>
              <a:lnSpc>
                <a:spcPct val="80000"/>
              </a:lnSpc>
            </a:pPr>
            <a:r>
              <a:rPr lang="en-US" altLang="en-US" b="1">
                <a:solidFill>
                  <a:schemeClr val="accent2"/>
                </a:solidFill>
                <a:latin typeface="Helvetica" charset="0"/>
                <a:ea typeface="Helvetica" charset="0"/>
                <a:cs typeface="Helvetica" charset="0"/>
                <a:sym typeface="Helvetica" charset="0"/>
              </a:rPr>
              <a:t>TT</a:t>
            </a:r>
            <a:r>
              <a:rPr lang="en-US" altLang="en-US" b="1">
                <a:solidFill>
                  <a:srgbClr val="773F9B"/>
                </a:solidFill>
                <a:latin typeface="Helvetica" charset="0"/>
                <a:ea typeface="Helvetica" charset="0"/>
                <a:cs typeface="Helvetica" charset="0"/>
                <a:sym typeface="Helvetica" charset="0"/>
              </a:rPr>
              <a:t>H</a:t>
            </a:r>
          </a:p>
          <a:p>
            <a:pPr>
              <a:lnSpc>
                <a:spcPct val="80000"/>
              </a:lnSpc>
            </a:pPr>
            <a:r>
              <a:rPr lang="en-US" altLang="en-US" b="1">
                <a:solidFill>
                  <a:schemeClr val="accent2"/>
                </a:solidFill>
                <a:latin typeface="Helvetica" charset="0"/>
                <a:ea typeface="Helvetica" charset="0"/>
                <a:cs typeface="Helvetica" charset="0"/>
                <a:sym typeface="Helvetica" charset="0"/>
              </a:rPr>
              <a:t>TTT</a:t>
            </a:r>
          </a:p>
        </p:txBody>
      </p:sp>
      <p:graphicFrame>
        <p:nvGraphicFramePr>
          <p:cNvPr id="47109" name="Group 5"/>
          <p:cNvGraphicFramePr>
            <a:graphicFrameLocks noGrp="1"/>
          </p:cNvGraphicFramePr>
          <p:nvPr>
            <p:extLst>
              <p:ext uri="{D42A27DB-BD31-4B8C-83A1-F6EECF244321}">
                <p14:modId xmlns:p14="http://schemas.microsoft.com/office/powerpoint/2010/main" val="38097008"/>
              </p:ext>
            </p:extLst>
          </p:nvPr>
        </p:nvGraphicFramePr>
        <p:xfrm>
          <a:off x="5664200" y="4397374"/>
          <a:ext cx="6038850" cy="1285876"/>
        </p:xfrm>
        <a:graphic>
          <a:graphicData uri="http://schemas.openxmlformats.org/drawingml/2006/table">
            <a:tbl>
              <a:tblPr/>
              <a:tblGrid>
                <a:gridCol w="1509713"/>
                <a:gridCol w="1509712"/>
                <a:gridCol w="1509713"/>
                <a:gridCol w="1509712"/>
              </a:tblGrid>
              <a:tr h="642938">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dirty="0">
                          <a:ln>
                            <a:noFill/>
                          </a:ln>
                          <a:solidFill>
                            <a:srgbClr val="000000"/>
                          </a:solidFill>
                          <a:effectLst/>
                          <a:latin typeface="Helvetica" charset="0"/>
                          <a:ea typeface="Helvetica" charset="0"/>
                          <a:cs typeface="Helvetica" charset="0"/>
                          <a:sym typeface="Helvetica" charset="0"/>
                        </a:rPr>
                        <a:t>0 heads</a:t>
                      </a:r>
                      <a:endParaRPr kumimoji="0" lang="en-US" altLang="en-US" sz="1800" b="0" i="0" u="none" strike="noStrike" cap="none" normalizeH="0" baseline="0" dirty="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1 head</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2 heads</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3 heads</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r>
              <a:tr h="642938">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1</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3</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a:ln>
                            <a:noFill/>
                          </a:ln>
                          <a:solidFill>
                            <a:srgbClr val="000000"/>
                          </a:solidFill>
                          <a:effectLst/>
                          <a:latin typeface="Helvetica" charset="0"/>
                          <a:ea typeface="Helvetica" charset="0"/>
                          <a:cs typeface="Helvetica" charset="0"/>
                          <a:sym typeface="Helvetica" charset="0"/>
                        </a:rPr>
                        <a:t>3</a:t>
                      </a:r>
                      <a:endParaRPr kumimoji="0" lang="en-US" altLang="en-US" sz="1800" b="0" i="0" u="none" strike="noStrike" cap="none" normalizeH="0" baseline="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c>
                  <a:txBody>
                    <a:bodyPr/>
                    <a:lstStyle>
                      <a:lvl1pPr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1pPr>
                      <a:lvl2pPr marL="889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2pPr>
                      <a:lvl3pPr marL="1333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3pPr>
                      <a:lvl4pPr marL="17780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4pPr>
                      <a:lvl5pPr marL="2222500" indent="-444500" algn="l">
                        <a:lnSpc>
                          <a:spcPct val="90000"/>
                        </a:lnSpc>
                        <a:spcBef>
                          <a:spcPts val="2600"/>
                        </a:spcBef>
                        <a:buSzPct val="75000"/>
                        <a:defRPr sz="3200" b="1">
                          <a:solidFill>
                            <a:srgbClr val="000000"/>
                          </a:solidFill>
                          <a:latin typeface="Helvetica" charset="0"/>
                          <a:ea typeface="Helvetica" charset="0"/>
                          <a:cs typeface="Helvetica" charset="0"/>
                          <a:sym typeface="Helvetica" charset="0"/>
                        </a:defRPr>
                      </a:lvl5pPr>
                      <a:lvl6pPr marL="26797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6pPr>
                      <a:lvl7pPr marL="31369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7pPr>
                      <a:lvl8pPr marL="35941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8pPr>
                      <a:lvl9pPr marL="4051300" indent="-444500" fontAlgn="base" hangingPunct="0">
                        <a:lnSpc>
                          <a:spcPct val="90000"/>
                        </a:lnSpc>
                        <a:spcBef>
                          <a:spcPts val="2600"/>
                        </a:spcBef>
                        <a:spcAft>
                          <a:spcPct val="0"/>
                        </a:spcAft>
                        <a:buSzPct val="75000"/>
                        <a:defRPr sz="3200" b="1">
                          <a:solidFill>
                            <a:srgbClr val="000000"/>
                          </a:solidFill>
                          <a:latin typeface="Helvetica" charset="0"/>
                          <a:ea typeface="Helvetica" charset="0"/>
                          <a:cs typeface="Helvetica" charset="0"/>
                          <a:sym typeface="Helvetica" charset="0"/>
                        </a:defRPr>
                      </a:lvl9pPr>
                    </a:lstStyle>
                    <a:p>
                      <a:pPr marL="0" marR="0" lvl="0" indent="0" algn="ctr" defTabSz="914400" rtl="0" eaLnBrk="1"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dirty="0">
                          <a:ln>
                            <a:noFill/>
                          </a:ln>
                          <a:solidFill>
                            <a:srgbClr val="000000"/>
                          </a:solidFill>
                          <a:effectLst/>
                          <a:latin typeface="Helvetica" charset="0"/>
                          <a:ea typeface="Helvetica" charset="0"/>
                          <a:cs typeface="Helvetica" charset="0"/>
                          <a:sym typeface="Helvetica" charset="0"/>
                        </a:rPr>
                        <a:t>1</a:t>
                      </a:r>
                      <a:endParaRPr kumimoji="0" lang="en-US" altLang="en-US" sz="1800" b="0" i="0" u="none" strike="noStrike" cap="none" normalizeH="0" baseline="0" dirty="0">
                        <a:ln>
                          <a:noFill/>
                        </a:ln>
                        <a:solidFill>
                          <a:srgbClr val="000000"/>
                        </a:solidFill>
                        <a:effectLst/>
                        <a:latin typeface="+mn-lt" charset="0"/>
                        <a:ea typeface="+mn-ea" charset="0"/>
                        <a:cs typeface="+mn-ea" charset="0"/>
                        <a:sym typeface="Helvetica Light" charset="0"/>
                      </a:endParaRPr>
                    </a:p>
                  </a:txBody>
                  <a:tcPr marL="50800" marR="50800" marT="50800" marB="50800" anchor="ctr" horzOverflow="overflow">
                    <a:lnL w="12700" cap="flat" cmpd="sng" algn="ctr">
                      <a:solidFill>
                        <a:srgbClr val="000000"/>
                      </a:solidFill>
                      <a:prstDash val="solid"/>
                      <a:miter lim="400000"/>
                      <a:headEnd type="none" w="med" len="med"/>
                      <a:tailEnd type="none" w="med" len="med"/>
                    </a:lnL>
                    <a:lnR w="12700" cap="flat" cmpd="sng" algn="ctr">
                      <a:solidFill>
                        <a:srgbClr val="000000"/>
                      </a:solidFill>
                      <a:prstDash val="solid"/>
                      <a:miter lim="400000"/>
                      <a:headEnd type="none" w="med" len="med"/>
                      <a:tailEnd type="none" w="med" len="med"/>
                    </a:lnR>
                    <a:lnT w="12700" cap="flat" cmpd="sng" algn="ctr">
                      <a:solidFill>
                        <a:srgbClr val="000000"/>
                      </a:solidFill>
                      <a:prstDash val="solid"/>
                      <a:miter lim="400000"/>
                      <a:headEnd type="none" w="med" len="med"/>
                      <a:tailEnd type="none" w="med" len="med"/>
                    </a:lnT>
                    <a:lnB w="12700" cap="flat" cmpd="sng" algn="ctr">
                      <a:solidFill>
                        <a:srgbClr val="000000"/>
                      </a:solidFill>
                      <a:prstDash val="solid"/>
                      <a:miter lim="400000"/>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p:cNvSpPr>
            <a:spLocks noGrp="1" noChangeArrowheads="1"/>
          </p:cNvSpPr>
          <p:nvPr>
            <p:ph type="title"/>
          </p:nvPr>
        </p:nvSpPr>
        <p:spPr>
          <a:xfrm>
            <a:off x="436563" y="444500"/>
            <a:ext cx="12130087" cy="2159000"/>
          </a:xfrm>
        </p:spPr>
        <p:txBody>
          <a:bodyPr/>
          <a:lstStyle/>
          <a:p>
            <a:r>
              <a:rPr lang="en-US" altLang="en-US"/>
              <a:t>Binomial distribution</a:t>
            </a:r>
          </a:p>
        </p:txBody>
      </p:sp>
      <p:sp>
        <p:nvSpPr>
          <p:cNvPr id="48130" name="Rectangle 2"/>
          <p:cNvSpPr>
            <a:spLocks noGrp="1" noChangeArrowheads="1"/>
          </p:cNvSpPr>
          <p:nvPr>
            <p:ph type="body" sz="quarter" idx="1"/>
          </p:nvPr>
        </p:nvSpPr>
        <p:spPr>
          <a:xfrm>
            <a:off x="711200" y="3775075"/>
            <a:ext cx="11099800" cy="1606550"/>
          </a:xfrm>
        </p:spPr>
        <p:txBody>
          <a:bodyPr/>
          <a:lstStyle/>
          <a:p>
            <a:pPr marL="0" indent="0">
              <a:buSzTx/>
              <a:buFontTx/>
              <a:buNone/>
            </a:pPr>
            <a:r>
              <a:rPr lang="en-US" altLang="en-US" dirty="0"/>
              <a:t>For example, for </a:t>
            </a:r>
            <a:r>
              <a:rPr lang="en-US" altLang="en-US" i="1" dirty="0"/>
              <a:t>N </a:t>
            </a:r>
            <a:r>
              <a:rPr lang="en-US" altLang="en-US" dirty="0"/>
              <a:t>= 3 and </a:t>
            </a:r>
            <a:r>
              <a:rPr lang="en-US" altLang="en-US" i="1" dirty="0"/>
              <a:t>m </a:t>
            </a:r>
            <a:r>
              <a:rPr lang="en-US" altLang="en-US" dirty="0"/>
              <a:t>= 2,</a:t>
            </a:r>
          </a:p>
        </p:txBody>
      </p:sp>
      <mc:AlternateContent xmlns:mc="http://schemas.openxmlformats.org/markup-compatibility/2006" xmlns:a14="http://schemas.microsoft.com/office/drawing/2010/main">
        <mc:Choice Requires="a14">
          <p:sp>
            <p:nvSpPr>
              <p:cNvPr id="6" name="TextBox 5"/>
              <p:cNvSpPr txBox="1"/>
              <p:nvPr/>
            </p:nvSpPr>
            <p:spPr>
              <a:xfrm>
                <a:off x="1168400" y="2469634"/>
                <a:ext cx="9880600" cy="16694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charset="0"/>
                            </a:rPr>
                          </m:ctrlPr>
                        </m:dPr>
                        <m:e>
                          <m:r>
                            <a:rPr lang="en-US" b="0" i="1" smtClean="0">
                              <a:latin typeface="Cambria Math" charset="0"/>
                            </a:rPr>
                            <m:t>𝑁</m:t>
                          </m:r>
                          <m:r>
                            <a:rPr lang="en-US" b="0" i="1" smtClean="0">
                              <a:latin typeface="Cambria Math" charset="0"/>
                            </a:rPr>
                            <m:t>, </m:t>
                          </m:r>
                          <m:r>
                            <a:rPr lang="en-US" b="0" i="1" smtClean="0">
                              <a:latin typeface="Cambria Math" charset="0"/>
                            </a:rPr>
                            <m:t>𝑚</m:t>
                          </m:r>
                        </m:e>
                      </m:d>
                      <m:r>
                        <a:rPr lang="en-US" b="0" i="1" smtClean="0">
                          <a:latin typeface="Cambria Math" charset="0"/>
                        </a:rPr>
                        <m:t>= </m:t>
                      </m:r>
                      <m:f>
                        <m:fPr>
                          <m:ctrlPr>
                            <a:rPr lang="bg-BG" b="0" i="1" smtClean="0">
                              <a:latin typeface="Cambria Math" charset="0"/>
                            </a:rPr>
                          </m:ctrlPr>
                        </m:fPr>
                        <m:num>
                          <m:r>
                            <a:rPr lang="en-US" b="0" i="1" smtClean="0">
                              <a:latin typeface="Cambria Math" charset="0"/>
                            </a:rPr>
                            <m:t>𝑁</m:t>
                          </m:r>
                          <m:r>
                            <a:rPr lang="en-US" b="0" i="1" smtClean="0">
                              <a:latin typeface="Cambria Math" charset="0"/>
                            </a:rPr>
                            <m:t>!</m:t>
                          </m:r>
                        </m:num>
                        <m:den>
                          <m:d>
                            <m:dPr>
                              <m:ctrlPr>
                                <a:rPr lang="en-US" b="0" i="1" smtClean="0">
                                  <a:latin typeface="Cambria Math" charset="0"/>
                                </a:rPr>
                              </m:ctrlPr>
                            </m:dPr>
                            <m:e>
                              <m:r>
                                <a:rPr lang="en-US" b="0" i="1" smtClean="0">
                                  <a:latin typeface="Cambria Math" charset="0"/>
                                </a:rPr>
                                <m:t>𝑁</m:t>
                              </m:r>
                              <m:r>
                                <a:rPr lang="en-US" b="0" i="1" smtClean="0">
                                  <a:latin typeface="Cambria Math" charset="0"/>
                                </a:rPr>
                                <m:t> −</m:t>
                              </m:r>
                              <m:r>
                                <a:rPr lang="en-US" b="0" i="1" smtClean="0">
                                  <a:latin typeface="Cambria Math" charset="0"/>
                                </a:rPr>
                                <m:t>𝑚</m:t>
                              </m:r>
                            </m:e>
                          </m:d>
                          <m:r>
                            <a:rPr lang="en-US" b="0" i="1" smtClean="0">
                              <a:latin typeface="Cambria Math" charset="0"/>
                            </a:rPr>
                            <m:t>!</m:t>
                          </m:r>
                          <m:r>
                            <a:rPr lang="en-US" b="0" i="1" smtClean="0">
                              <a:latin typeface="Cambria Math" charset="0"/>
                            </a:rPr>
                            <m:t>𝑚</m:t>
                          </m:r>
                          <m:r>
                            <a:rPr lang="en-US" b="0" i="1" smtClean="0">
                              <a:latin typeface="Cambria Math" charset="0"/>
                            </a:rPr>
                            <m:t>!</m:t>
                          </m:r>
                        </m:den>
                      </m:f>
                      <m:r>
                        <a:rPr lang="en-US" b="0" i="1" smtClean="0">
                          <a:latin typeface="Cambria Math" charset="0"/>
                        </a:rPr>
                        <m:t> </m:t>
                      </m:r>
                      <m:sSup>
                        <m:sSupPr>
                          <m:ctrlPr>
                            <a:rPr lang="en-US" b="0" i="1" smtClean="0">
                              <a:latin typeface="Cambria Math" charset="0"/>
                            </a:rPr>
                          </m:ctrlPr>
                        </m:sSupPr>
                        <m:e>
                          <m:r>
                            <a:rPr lang="en-US" b="0" i="1" smtClean="0">
                              <a:latin typeface="Cambria Math" charset="0"/>
                            </a:rPr>
                            <m:t>𝑝</m:t>
                          </m:r>
                        </m:e>
                        <m:sup>
                          <m:r>
                            <a:rPr lang="en-US" b="0" i="1" smtClean="0">
                              <a:latin typeface="Cambria Math" charset="0"/>
                            </a:rPr>
                            <m:t>𝑚</m:t>
                          </m:r>
                        </m:sup>
                      </m:sSup>
                      <m:sSup>
                        <m:sSupPr>
                          <m:ctrlPr>
                            <a:rPr lang="en-US" b="0" i="1" smtClean="0">
                              <a:latin typeface="Cambria Math" charset="0"/>
                            </a:rPr>
                          </m:ctrlPr>
                        </m:sSupPr>
                        <m:e>
                          <m:d>
                            <m:dPr>
                              <m:ctrlPr>
                                <a:rPr lang="en-US" b="0" i="1" smtClean="0">
                                  <a:latin typeface="Cambria Math" charset="0"/>
                                </a:rPr>
                              </m:ctrlPr>
                            </m:dPr>
                            <m:e>
                              <m:r>
                                <a:rPr lang="en-US" b="0" i="1" smtClean="0">
                                  <a:latin typeface="Cambria Math" charset="0"/>
                                </a:rPr>
                                <m:t>1 −</m:t>
                              </m:r>
                              <m:r>
                                <a:rPr lang="en-US" b="0" i="1" smtClean="0">
                                  <a:latin typeface="Cambria Math" charset="0"/>
                                </a:rPr>
                                <m:t>𝑝</m:t>
                              </m:r>
                            </m:e>
                          </m:d>
                        </m:e>
                        <m:sup>
                          <m:r>
                            <a:rPr lang="en-US" b="0" i="1" smtClean="0">
                              <a:latin typeface="Cambria Math" charset="0"/>
                            </a:rPr>
                            <m:t>𝑁</m:t>
                          </m:r>
                          <m:r>
                            <a:rPr lang="en-US" b="0" i="1" smtClean="0">
                              <a:latin typeface="Cambria Math" charset="0"/>
                            </a:rPr>
                            <m:t> −</m:t>
                          </m:r>
                          <m:r>
                            <a:rPr lang="en-US" b="0" i="1" smtClean="0">
                              <a:latin typeface="Cambria Math" charset="0"/>
                            </a:rPr>
                            <m:t>𝑚</m:t>
                          </m:r>
                        </m:sup>
                      </m:sSup>
                    </m:oMath>
                  </m:oMathPara>
                </a14:m>
                <a:endParaRPr lang="en-US" b="0" dirty="0" smtClean="0"/>
              </a:p>
              <a:p>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168400" y="2469634"/>
                <a:ext cx="9880600" cy="16694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54000" y="5359211"/>
                <a:ext cx="10541000" cy="222708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charset="0"/>
                            </a:rPr>
                          </m:ctrlPr>
                        </m:dPr>
                        <m:e>
                          <m:r>
                            <a:rPr lang="en-US" b="0" i="1" smtClean="0">
                              <a:latin typeface="Cambria Math" charset="0"/>
                            </a:rPr>
                            <m:t>3, 2</m:t>
                          </m:r>
                        </m:e>
                      </m:d>
                      <m:r>
                        <a:rPr lang="en-US" b="0" i="1" smtClean="0">
                          <a:latin typeface="Cambria Math" charset="0"/>
                        </a:rPr>
                        <m:t>=</m:t>
                      </m:r>
                      <m:f>
                        <m:fPr>
                          <m:ctrlPr>
                            <a:rPr lang="bg-BG" i="1">
                              <a:latin typeface="Cambria Math" charset="0"/>
                            </a:rPr>
                          </m:ctrlPr>
                        </m:fPr>
                        <m:num>
                          <m:r>
                            <a:rPr lang="en-US" b="0" i="1" smtClean="0">
                              <a:latin typeface="Cambria Math" charset="0"/>
                            </a:rPr>
                            <m:t>3</m:t>
                          </m:r>
                          <m:r>
                            <a:rPr lang="en-US" i="1">
                              <a:latin typeface="Cambria Math" charset="0"/>
                            </a:rPr>
                            <m:t>!</m:t>
                          </m:r>
                        </m:num>
                        <m:den>
                          <m:d>
                            <m:dPr>
                              <m:ctrlPr>
                                <a:rPr lang="en-US" i="1">
                                  <a:latin typeface="Cambria Math" charset="0"/>
                                </a:rPr>
                              </m:ctrlPr>
                            </m:dPr>
                            <m:e>
                              <m:r>
                                <a:rPr lang="en-US" b="0" i="1" smtClean="0">
                                  <a:latin typeface="Cambria Math" charset="0"/>
                                </a:rPr>
                                <m:t>3 −2</m:t>
                              </m:r>
                            </m:e>
                          </m:d>
                          <m:r>
                            <a:rPr lang="en-US" i="1">
                              <a:latin typeface="Cambria Math" charset="0"/>
                            </a:rPr>
                            <m:t>!</m:t>
                          </m:r>
                          <m:r>
                            <a:rPr lang="en-US" b="0" i="1" smtClean="0">
                              <a:latin typeface="Cambria Math" charset="0"/>
                            </a:rPr>
                            <m:t>2</m:t>
                          </m:r>
                          <m:r>
                            <a:rPr lang="en-US" i="1">
                              <a:latin typeface="Cambria Math" charset="0"/>
                            </a:rPr>
                            <m:t>!</m:t>
                          </m:r>
                        </m:den>
                      </m:f>
                      <m:r>
                        <a:rPr lang="en-US" i="1">
                          <a:latin typeface="Cambria Math" charset="0"/>
                        </a:rPr>
                        <m:t> </m:t>
                      </m:r>
                      <m:sSup>
                        <m:sSupPr>
                          <m:ctrlPr>
                            <a:rPr lang="en-US" i="1">
                              <a:latin typeface="Cambria Math" charset="0"/>
                            </a:rPr>
                          </m:ctrlPr>
                        </m:sSupPr>
                        <m:e>
                          <m:r>
                            <a:rPr lang="en-US" i="1">
                              <a:latin typeface="Cambria Math" charset="0"/>
                            </a:rPr>
                            <m:t>𝑝</m:t>
                          </m:r>
                        </m:e>
                        <m:sup>
                          <m:r>
                            <a:rPr lang="en-US" b="0" i="1" smtClean="0">
                              <a:latin typeface="Cambria Math" charset="0"/>
                            </a:rPr>
                            <m:t>2</m:t>
                          </m:r>
                        </m:sup>
                      </m:sSup>
                      <m:sSup>
                        <m:sSupPr>
                          <m:ctrlPr>
                            <a:rPr lang="en-US" i="1">
                              <a:latin typeface="Cambria Math" charset="0"/>
                            </a:rPr>
                          </m:ctrlPr>
                        </m:sSupPr>
                        <m:e>
                          <m:d>
                            <m:dPr>
                              <m:ctrlPr>
                                <a:rPr lang="en-US" i="1">
                                  <a:latin typeface="Cambria Math" charset="0"/>
                                </a:rPr>
                              </m:ctrlPr>
                            </m:dPr>
                            <m:e>
                              <m:r>
                                <a:rPr lang="en-US" i="1">
                                  <a:latin typeface="Cambria Math" charset="0"/>
                                </a:rPr>
                                <m:t>1 −</m:t>
                              </m:r>
                              <m:r>
                                <a:rPr lang="en-US" i="1">
                                  <a:latin typeface="Cambria Math" charset="0"/>
                                </a:rPr>
                                <m:t>𝑝</m:t>
                              </m:r>
                            </m:e>
                          </m:d>
                        </m:e>
                        <m:sup>
                          <m:r>
                            <a:rPr lang="en-US" b="0" i="1" smtClean="0">
                              <a:latin typeface="Cambria Math" charset="0"/>
                            </a:rPr>
                            <m:t>3</m:t>
                          </m:r>
                          <m:r>
                            <a:rPr lang="en-US" i="1">
                              <a:latin typeface="Cambria Math" charset="0"/>
                            </a:rPr>
                            <m:t> −</m:t>
                          </m:r>
                          <m:r>
                            <a:rPr lang="en-US" b="0" i="1" smtClean="0">
                              <a:latin typeface="Cambria Math" charset="0"/>
                            </a:rPr>
                            <m:t>2</m:t>
                          </m:r>
                        </m:sup>
                      </m:sSup>
                    </m:oMath>
                  </m:oMathPara>
                </a14:m>
                <a:endParaRPr lang="en-US" b="0" dirty="0" smtClean="0"/>
              </a:p>
              <a:p>
                <a:endParaRPr lang="en-US" dirty="0" smtClean="0"/>
              </a:p>
              <a:p>
                <a:r>
                  <a:rPr lang="en-US" dirty="0"/>
                  <a:t>	</a:t>
                </a:r>
                <a:r>
                  <a:rPr lang="en-US" dirty="0" smtClean="0"/>
                  <a:t>		</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254000" y="5359211"/>
                <a:ext cx="10541000" cy="222708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216400" y="7025897"/>
                <a:ext cx="14889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=3 </m:t>
                      </m:r>
                      <m:sSup>
                        <m:sSupPr>
                          <m:ctrlPr>
                            <a:rPr lang="en-US" b="0" i="1" smtClean="0">
                              <a:latin typeface="Cambria Math" charset="0"/>
                            </a:rPr>
                          </m:ctrlPr>
                        </m:sSupPr>
                        <m:e>
                          <m:r>
                            <a:rPr lang="en-US" b="0" i="1" smtClean="0">
                              <a:latin typeface="Cambria Math" charset="0"/>
                            </a:rPr>
                            <m:t>𝑝</m:t>
                          </m:r>
                        </m:e>
                        <m:sup>
                          <m:r>
                            <a:rPr lang="en-US" b="0" i="1" smtClean="0">
                              <a:latin typeface="Cambria Math" charset="0"/>
                            </a:rPr>
                            <m:t>2</m:t>
                          </m:r>
                        </m:sup>
                      </m:sSup>
                      <m:r>
                        <a:rPr lang="en-US" b="0" i="1" smtClean="0">
                          <a:latin typeface="Cambria Math" charset="0"/>
                        </a:rPr>
                        <m:t>(1 −</m:t>
                      </m:r>
                      <m:r>
                        <a:rPr lang="en-US" b="0" i="1" smtClean="0">
                          <a:latin typeface="Cambria Math" charset="0"/>
                        </a:rPr>
                        <m:t>𝑝</m:t>
                      </m:r>
                      <m:r>
                        <a:rPr lang="en-US" b="0" i="1" smtClean="0">
                          <a:latin typeface="Cambria Math" charset="0"/>
                        </a:rPr>
                        <m:t>)</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216400" y="7025897"/>
                <a:ext cx="1488997" cy="276999"/>
              </a:xfrm>
              <a:prstGeom prst="rect">
                <a:avLst/>
              </a:prstGeom>
              <a:blipFill rotWithShape="0">
                <a:blip r:embed="rId4"/>
                <a:stretch>
                  <a:fillRect l="-47541" r="-38525" b="-93333"/>
                </a:stretch>
              </a:blipFill>
            </p:spPr>
            <p:txBody>
              <a:bodyPr/>
              <a:lstStyle/>
              <a:p>
                <a:r>
                  <a:rPr lang="en-US">
                    <a:noFill/>
                  </a:rPr>
                  <a:t> </a:t>
                </a:r>
              </a:p>
            </p:txBody>
          </p:sp>
        </mc:Fallback>
      </mc:AlternateContent>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436563" y="444500"/>
            <a:ext cx="12130087" cy="2159000"/>
          </a:xfrm>
        </p:spPr>
        <p:txBody>
          <a:bodyPr/>
          <a:lstStyle/>
          <a:p>
            <a:r>
              <a:rPr lang="en-US" altLang="en-US"/>
              <a:t>Binomial trials</a:t>
            </a:r>
          </a:p>
        </p:txBody>
      </p:sp>
      <p:sp>
        <p:nvSpPr>
          <p:cNvPr id="49154" name="Rectangle 2"/>
          <p:cNvSpPr>
            <a:spLocks noGrp="1" noChangeArrowheads="1"/>
          </p:cNvSpPr>
          <p:nvPr>
            <p:ph type="body" idx="1"/>
          </p:nvPr>
        </p:nvSpPr>
        <p:spPr>
          <a:xfrm>
            <a:off x="952500" y="1752600"/>
            <a:ext cx="11099800" cy="5668963"/>
          </a:xfrm>
        </p:spPr>
        <p:txBody>
          <a:bodyPr/>
          <a:lstStyle/>
          <a:p>
            <a:r>
              <a:rPr lang="en-US" altLang="en-US" dirty="0"/>
              <a:t>Suppose you are given a coin, and the probability of getting a head is </a:t>
            </a:r>
            <a:r>
              <a:rPr lang="en-US" altLang="en-US" i="1" dirty="0"/>
              <a:t>p</a:t>
            </a:r>
            <a:r>
              <a:rPr lang="en-US" altLang="en-US" dirty="0"/>
              <a:t>. In </a:t>
            </a:r>
            <a:r>
              <a:rPr lang="en-US" altLang="en-US" i="1" dirty="0"/>
              <a:t>N</a:t>
            </a:r>
            <a:r>
              <a:rPr lang="en-US" altLang="en-US" dirty="0"/>
              <a:t> trials the probability of getting exactly </a:t>
            </a:r>
            <a:r>
              <a:rPr lang="en-US" altLang="en-US" i="1" dirty="0"/>
              <a:t>m</a:t>
            </a:r>
            <a:r>
              <a:rPr lang="en-US" altLang="en-US" dirty="0"/>
              <a:t> heads is</a:t>
            </a:r>
          </a:p>
          <a:p>
            <a:endParaRPr lang="en-US" altLang="en-US" dirty="0"/>
          </a:p>
          <a:p>
            <a:endParaRPr lang="en-US" altLang="en-US" dirty="0"/>
          </a:p>
          <a:p>
            <a:r>
              <a:rPr lang="en-US" altLang="en-US" dirty="0"/>
              <a:t>Alternative notation</a:t>
            </a:r>
          </a:p>
        </p:txBody>
      </p:sp>
      <p:sp>
        <p:nvSpPr>
          <p:cNvPr id="49156" name="Line 4"/>
          <p:cNvSpPr>
            <a:spLocks noChangeShapeType="1"/>
          </p:cNvSpPr>
          <p:nvPr/>
        </p:nvSpPr>
        <p:spPr bwMode="auto">
          <a:xfrm flipV="1">
            <a:off x="4987925" y="7877175"/>
            <a:ext cx="517525" cy="517525"/>
          </a:xfrm>
          <a:prstGeom prst="line">
            <a:avLst/>
          </a:prstGeom>
          <a:noFill/>
          <a:ln w="38100" cap="flat" cmpd="sng">
            <a:solidFill>
              <a:srgbClr val="773F9B"/>
            </a:solidFill>
            <a:prstDash val="solid"/>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endParaRPr lang="en-US" altLang="en-US" sz="2400"/>
          </a:p>
        </p:txBody>
      </p:sp>
      <p:sp>
        <p:nvSpPr>
          <p:cNvPr id="49157" name="Rectangle 5"/>
          <p:cNvSpPr>
            <a:spLocks/>
          </p:cNvSpPr>
          <p:nvPr/>
        </p:nvSpPr>
        <p:spPr bwMode="auto">
          <a:xfrm>
            <a:off x="2401888" y="8288338"/>
            <a:ext cx="5380037" cy="112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spAutoFit/>
          </a:bodyPr>
          <a:lstStyle/>
          <a:p>
            <a:pPr>
              <a:lnSpc>
                <a:spcPct val="80000"/>
              </a:lnSpc>
            </a:pPr>
            <a:r>
              <a:rPr lang="en-US" altLang="en-US" sz="2600" b="1" dirty="0">
                <a:solidFill>
                  <a:srgbClr val="773F9B"/>
                </a:solidFill>
                <a:latin typeface="Helvetica" charset="0"/>
                <a:ea typeface="Helvetica" charset="0"/>
                <a:cs typeface="Helvetica" charset="0"/>
                <a:sym typeface="Helvetica" charset="0"/>
              </a:rPr>
              <a:t>“</a:t>
            </a:r>
            <a:r>
              <a:rPr lang="en-US" altLang="en-US" sz="2600" b="1" i="1" dirty="0">
                <a:solidFill>
                  <a:srgbClr val="773F9B"/>
                </a:solidFill>
                <a:latin typeface="Helvetica" charset="0"/>
                <a:ea typeface="Helvetica" charset="0"/>
                <a:cs typeface="Helvetica" charset="0"/>
                <a:sym typeface="Helvetica" charset="0"/>
              </a:rPr>
              <a:t>N </a:t>
            </a:r>
            <a:r>
              <a:rPr lang="en-US" altLang="en-US" sz="2600" b="1" dirty="0">
                <a:solidFill>
                  <a:srgbClr val="773F9B"/>
                </a:solidFill>
                <a:latin typeface="Helvetica" charset="0"/>
                <a:ea typeface="Helvetica" charset="0"/>
                <a:cs typeface="Helvetica" charset="0"/>
                <a:sym typeface="Helvetica" charset="0"/>
              </a:rPr>
              <a:t>choose </a:t>
            </a:r>
            <a:r>
              <a:rPr lang="en-US" altLang="en-US" sz="2600" b="1" i="1" dirty="0">
                <a:solidFill>
                  <a:srgbClr val="773F9B"/>
                </a:solidFill>
                <a:latin typeface="Helvetica" charset="0"/>
                <a:ea typeface="Helvetica" charset="0"/>
                <a:cs typeface="Helvetica" charset="0"/>
                <a:sym typeface="Helvetica" charset="0"/>
              </a:rPr>
              <a:t>m</a:t>
            </a:r>
            <a:r>
              <a:rPr lang="en-US" altLang="en-US" sz="2600" b="1" dirty="0">
                <a:solidFill>
                  <a:srgbClr val="773F9B"/>
                </a:solidFill>
                <a:latin typeface="Helvetica" charset="0"/>
                <a:ea typeface="Helvetica" charset="0"/>
                <a:cs typeface="Helvetica" charset="0"/>
                <a:sym typeface="Helvetica" charset="0"/>
              </a:rPr>
              <a:t>” : the number of ways to choose </a:t>
            </a:r>
            <a:r>
              <a:rPr lang="en-US" altLang="en-US" sz="2600" b="1" i="1" dirty="0">
                <a:solidFill>
                  <a:srgbClr val="773F9B"/>
                </a:solidFill>
                <a:latin typeface="Helvetica" charset="0"/>
                <a:ea typeface="Helvetica" charset="0"/>
                <a:cs typeface="Helvetica" charset="0"/>
                <a:sym typeface="Helvetica" charset="0"/>
              </a:rPr>
              <a:t>m</a:t>
            </a:r>
            <a:r>
              <a:rPr lang="en-US" altLang="en-US" sz="2600" b="1" dirty="0">
                <a:solidFill>
                  <a:srgbClr val="773F9B"/>
                </a:solidFill>
                <a:latin typeface="Helvetica" charset="0"/>
                <a:ea typeface="Helvetica" charset="0"/>
                <a:cs typeface="Helvetica" charset="0"/>
                <a:sym typeface="Helvetica" charset="0"/>
              </a:rPr>
              <a:t> items from </a:t>
            </a:r>
            <a:r>
              <a:rPr lang="en-US" altLang="en-US" sz="2600" b="1" i="1" dirty="0">
                <a:solidFill>
                  <a:srgbClr val="773F9B"/>
                </a:solidFill>
                <a:latin typeface="Helvetica" charset="0"/>
                <a:ea typeface="Helvetica" charset="0"/>
                <a:cs typeface="Helvetica" charset="0"/>
                <a:sym typeface="Helvetica" charset="0"/>
              </a:rPr>
              <a:t>N</a:t>
            </a:r>
            <a:r>
              <a:rPr lang="en-US" altLang="en-US" sz="2600" b="1" dirty="0">
                <a:solidFill>
                  <a:srgbClr val="773F9B"/>
                </a:solidFill>
                <a:latin typeface="Helvetica" charset="0"/>
                <a:ea typeface="Helvetica" charset="0"/>
                <a:cs typeface="Helvetica" charset="0"/>
                <a:sym typeface="Helvetica" charset="0"/>
              </a:rPr>
              <a:t> things</a:t>
            </a:r>
          </a:p>
        </p:txBody>
      </p:sp>
      <mc:AlternateContent xmlns:mc="http://schemas.openxmlformats.org/markup-compatibility/2006" xmlns:a14="http://schemas.microsoft.com/office/drawing/2010/main">
        <mc:Choice Requires="a14">
          <p:sp>
            <p:nvSpPr>
              <p:cNvPr id="11" name="TextBox 10"/>
              <p:cNvSpPr txBox="1"/>
              <p:nvPr/>
            </p:nvSpPr>
            <p:spPr>
              <a:xfrm>
                <a:off x="1887538" y="4266444"/>
                <a:ext cx="10421937" cy="16694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charset="0"/>
                            </a:rPr>
                          </m:ctrlPr>
                        </m:dPr>
                        <m:e>
                          <m:r>
                            <a:rPr lang="en-US" b="0" i="1" smtClean="0">
                              <a:latin typeface="Cambria Math" charset="0"/>
                            </a:rPr>
                            <m:t>𝑁</m:t>
                          </m:r>
                          <m:r>
                            <a:rPr lang="en-US" b="0" i="1" smtClean="0">
                              <a:latin typeface="Cambria Math" charset="0"/>
                            </a:rPr>
                            <m:t>, </m:t>
                          </m:r>
                          <m:r>
                            <a:rPr lang="en-US" b="0" i="1" smtClean="0">
                              <a:latin typeface="Cambria Math" charset="0"/>
                            </a:rPr>
                            <m:t>𝑚</m:t>
                          </m:r>
                        </m:e>
                      </m:d>
                      <m:r>
                        <a:rPr lang="en-US" b="0" i="1" smtClean="0">
                          <a:latin typeface="Cambria Math" charset="0"/>
                        </a:rPr>
                        <m:t>= </m:t>
                      </m:r>
                      <m:f>
                        <m:fPr>
                          <m:ctrlPr>
                            <a:rPr lang="bg-BG" b="0" i="1" smtClean="0">
                              <a:latin typeface="Cambria Math" charset="0"/>
                            </a:rPr>
                          </m:ctrlPr>
                        </m:fPr>
                        <m:num>
                          <m:r>
                            <a:rPr lang="en-US" b="0" i="1" smtClean="0">
                              <a:latin typeface="Cambria Math" charset="0"/>
                            </a:rPr>
                            <m:t>𝑁</m:t>
                          </m:r>
                          <m:r>
                            <a:rPr lang="en-US" b="0" i="1" smtClean="0">
                              <a:latin typeface="Cambria Math" charset="0"/>
                            </a:rPr>
                            <m:t>!</m:t>
                          </m:r>
                        </m:num>
                        <m:den>
                          <m:d>
                            <m:dPr>
                              <m:ctrlPr>
                                <a:rPr lang="en-US" b="0" i="1" smtClean="0">
                                  <a:latin typeface="Cambria Math" charset="0"/>
                                </a:rPr>
                              </m:ctrlPr>
                            </m:dPr>
                            <m:e>
                              <m:r>
                                <a:rPr lang="en-US" b="0" i="1" smtClean="0">
                                  <a:latin typeface="Cambria Math" charset="0"/>
                                </a:rPr>
                                <m:t>𝑁</m:t>
                              </m:r>
                              <m:r>
                                <a:rPr lang="en-US" b="0" i="1" smtClean="0">
                                  <a:latin typeface="Cambria Math" charset="0"/>
                                </a:rPr>
                                <m:t> −</m:t>
                              </m:r>
                              <m:r>
                                <a:rPr lang="en-US" b="0" i="1" smtClean="0">
                                  <a:latin typeface="Cambria Math" charset="0"/>
                                </a:rPr>
                                <m:t>𝑚</m:t>
                              </m:r>
                            </m:e>
                          </m:d>
                          <m:r>
                            <a:rPr lang="en-US" b="0" i="1" smtClean="0">
                              <a:latin typeface="Cambria Math" charset="0"/>
                            </a:rPr>
                            <m:t>!</m:t>
                          </m:r>
                          <m:r>
                            <a:rPr lang="en-US" b="0" i="1" smtClean="0">
                              <a:latin typeface="Cambria Math" charset="0"/>
                            </a:rPr>
                            <m:t>𝑚</m:t>
                          </m:r>
                          <m:r>
                            <a:rPr lang="en-US" b="0" i="1" smtClean="0">
                              <a:latin typeface="Cambria Math" charset="0"/>
                            </a:rPr>
                            <m:t>!</m:t>
                          </m:r>
                        </m:den>
                      </m:f>
                      <m:r>
                        <a:rPr lang="en-US" b="0" i="1" smtClean="0">
                          <a:latin typeface="Cambria Math" charset="0"/>
                        </a:rPr>
                        <m:t> </m:t>
                      </m:r>
                      <m:sSup>
                        <m:sSupPr>
                          <m:ctrlPr>
                            <a:rPr lang="en-US" b="0" i="1" smtClean="0">
                              <a:latin typeface="Cambria Math" charset="0"/>
                            </a:rPr>
                          </m:ctrlPr>
                        </m:sSupPr>
                        <m:e>
                          <m:r>
                            <a:rPr lang="en-US" b="0" i="1" smtClean="0">
                              <a:latin typeface="Cambria Math" charset="0"/>
                            </a:rPr>
                            <m:t>𝑝</m:t>
                          </m:r>
                        </m:e>
                        <m:sup>
                          <m:r>
                            <a:rPr lang="en-US" b="0" i="1" smtClean="0">
                              <a:latin typeface="Cambria Math" charset="0"/>
                            </a:rPr>
                            <m:t>𝑚</m:t>
                          </m:r>
                        </m:sup>
                      </m:sSup>
                      <m:sSup>
                        <m:sSupPr>
                          <m:ctrlPr>
                            <a:rPr lang="en-US" b="0" i="1" smtClean="0">
                              <a:latin typeface="Cambria Math" charset="0"/>
                            </a:rPr>
                          </m:ctrlPr>
                        </m:sSupPr>
                        <m:e>
                          <m:d>
                            <m:dPr>
                              <m:ctrlPr>
                                <a:rPr lang="en-US" b="0" i="1" smtClean="0">
                                  <a:latin typeface="Cambria Math" charset="0"/>
                                </a:rPr>
                              </m:ctrlPr>
                            </m:dPr>
                            <m:e>
                              <m:r>
                                <a:rPr lang="en-US" b="0" i="1" smtClean="0">
                                  <a:latin typeface="Cambria Math" charset="0"/>
                                </a:rPr>
                                <m:t>1 −</m:t>
                              </m:r>
                              <m:r>
                                <a:rPr lang="en-US" b="0" i="1" smtClean="0">
                                  <a:latin typeface="Cambria Math" charset="0"/>
                                </a:rPr>
                                <m:t>𝑝</m:t>
                              </m:r>
                            </m:e>
                          </m:d>
                        </m:e>
                        <m:sup>
                          <m:r>
                            <a:rPr lang="en-US" b="0" i="1" smtClean="0">
                              <a:latin typeface="Cambria Math" charset="0"/>
                            </a:rPr>
                            <m:t>𝑁</m:t>
                          </m:r>
                          <m:r>
                            <a:rPr lang="en-US" b="0" i="1" smtClean="0">
                              <a:latin typeface="Cambria Math" charset="0"/>
                            </a:rPr>
                            <m:t> −</m:t>
                          </m:r>
                          <m:r>
                            <a:rPr lang="en-US" b="0" i="1" smtClean="0">
                              <a:latin typeface="Cambria Math" charset="0"/>
                            </a:rPr>
                            <m:t>𝑚</m:t>
                          </m:r>
                        </m:sup>
                      </m:sSup>
                    </m:oMath>
                  </m:oMathPara>
                </a14:m>
                <a:endParaRPr lang="en-US" b="0" dirty="0" smtClean="0"/>
              </a:p>
              <a:p>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887538" y="4266444"/>
                <a:ext cx="10421937" cy="16694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401888" y="6685463"/>
                <a:ext cx="7854157" cy="16028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𝑃</m:t>
                      </m:r>
                      <m:d>
                        <m:dPr>
                          <m:ctrlPr>
                            <a:rPr lang="en-US" b="0" i="1" smtClean="0">
                              <a:latin typeface="Cambria Math" charset="0"/>
                            </a:rPr>
                          </m:ctrlPr>
                        </m:dPr>
                        <m:e>
                          <m:r>
                            <a:rPr lang="en-US" b="0" i="1" smtClean="0">
                              <a:latin typeface="Cambria Math" charset="0"/>
                            </a:rPr>
                            <m:t>𝑁</m:t>
                          </m:r>
                          <m:r>
                            <a:rPr lang="en-US" b="0" i="1" smtClean="0">
                              <a:latin typeface="Cambria Math" charset="0"/>
                            </a:rPr>
                            <m:t>, </m:t>
                          </m:r>
                          <m:r>
                            <a:rPr lang="en-US" b="0" i="1" smtClean="0">
                              <a:latin typeface="Cambria Math" charset="0"/>
                            </a:rPr>
                            <m:t>𝑚</m:t>
                          </m:r>
                        </m:e>
                      </m:d>
                      <m:r>
                        <a:rPr lang="en-US" b="0" i="1" smtClean="0">
                          <a:latin typeface="Cambria Math" charset="0"/>
                        </a:rPr>
                        <m:t>= </m:t>
                      </m:r>
                      <m:d>
                        <m:dPr>
                          <m:ctrlPr>
                            <a:rPr lang="is-IS" b="0" i="1" smtClean="0">
                              <a:latin typeface="Cambria Math" charset="0"/>
                            </a:rPr>
                          </m:ctrlPr>
                        </m:dPr>
                        <m:e>
                          <m:f>
                            <m:fPr>
                              <m:type m:val="noBar"/>
                              <m:ctrlPr>
                                <a:rPr lang="is-IS" b="0" i="1" smtClean="0">
                                  <a:latin typeface="Cambria Math" charset="0"/>
                                </a:rPr>
                              </m:ctrlPr>
                            </m:fPr>
                            <m:num>
                              <m:r>
                                <a:rPr lang="en-US" b="0" i="1" smtClean="0">
                                  <a:latin typeface="Cambria Math" charset="0"/>
                                </a:rPr>
                                <m:t>𝑁</m:t>
                              </m:r>
                            </m:num>
                            <m:den>
                              <m:r>
                                <a:rPr lang="en-US" b="0" i="1" smtClean="0">
                                  <a:latin typeface="Cambria Math" charset="0"/>
                                </a:rPr>
                                <m:t>𝑚</m:t>
                              </m:r>
                            </m:den>
                          </m:f>
                        </m:e>
                      </m:d>
                      <m:sSup>
                        <m:sSupPr>
                          <m:ctrlPr>
                            <a:rPr lang="en-US" b="0" i="1" smtClean="0">
                              <a:latin typeface="Cambria Math" charset="0"/>
                            </a:rPr>
                          </m:ctrlPr>
                        </m:sSupPr>
                        <m:e>
                          <m:r>
                            <a:rPr lang="en-US" b="0" i="1" smtClean="0">
                              <a:latin typeface="Cambria Math" charset="0"/>
                            </a:rPr>
                            <m:t>𝑝</m:t>
                          </m:r>
                        </m:e>
                        <m:sup>
                          <m:r>
                            <a:rPr lang="en-US" b="0" i="1" smtClean="0">
                              <a:latin typeface="Cambria Math" charset="0"/>
                            </a:rPr>
                            <m:t>𝑚</m:t>
                          </m:r>
                        </m:sup>
                      </m:sSup>
                      <m:sSup>
                        <m:sSupPr>
                          <m:ctrlPr>
                            <a:rPr lang="en-US" b="0" i="1" smtClean="0">
                              <a:latin typeface="Cambria Math" charset="0"/>
                            </a:rPr>
                          </m:ctrlPr>
                        </m:sSupPr>
                        <m:e>
                          <m:d>
                            <m:dPr>
                              <m:ctrlPr>
                                <a:rPr lang="en-US" b="0" i="1" smtClean="0">
                                  <a:latin typeface="Cambria Math" charset="0"/>
                                </a:rPr>
                              </m:ctrlPr>
                            </m:dPr>
                            <m:e>
                              <m:r>
                                <a:rPr lang="en-US" b="0" i="1" smtClean="0">
                                  <a:latin typeface="Cambria Math" charset="0"/>
                                </a:rPr>
                                <m:t>1 −</m:t>
                              </m:r>
                              <m:r>
                                <a:rPr lang="en-US" b="0" i="1" smtClean="0">
                                  <a:latin typeface="Cambria Math" charset="0"/>
                                </a:rPr>
                                <m:t>𝑝</m:t>
                              </m:r>
                            </m:e>
                          </m:d>
                        </m:e>
                        <m:sup>
                          <m:r>
                            <a:rPr lang="en-US" b="0" i="1" smtClean="0">
                              <a:latin typeface="Cambria Math" charset="0"/>
                            </a:rPr>
                            <m:t>𝑁</m:t>
                          </m:r>
                          <m:r>
                            <a:rPr lang="en-US" b="0" i="1" smtClean="0">
                              <a:latin typeface="Cambria Math" charset="0"/>
                            </a:rPr>
                            <m:t> −</m:t>
                          </m:r>
                          <m:r>
                            <a:rPr lang="en-US" b="0" i="1" smtClean="0">
                              <a:latin typeface="Cambria Math" charset="0"/>
                            </a:rPr>
                            <m:t>𝑚</m:t>
                          </m:r>
                        </m:sup>
                      </m:sSup>
                    </m:oMath>
                  </m:oMathPara>
                </a14:m>
                <a:endParaRPr lang="en-US" b="0" dirty="0" smtClean="0"/>
              </a:p>
              <a:p>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401888" y="6685463"/>
                <a:ext cx="7854157" cy="1602875"/>
              </a:xfrm>
              <a:prstGeom prst="rect">
                <a:avLst/>
              </a:prstGeom>
              <a:blipFill rotWithShape="0">
                <a:blip r:embed="rId3"/>
                <a:stretch>
                  <a:fillRect/>
                </a:stretch>
              </a:blipFill>
            </p:spPr>
            <p:txBody>
              <a:bodyPr/>
              <a:lstStyle/>
              <a:p>
                <a:r>
                  <a:rPr lang="en-US">
                    <a:noFill/>
                  </a:rPr>
                  <a:t> </a:t>
                </a:r>
              </a:p>
            </p:txBody>
          </p:sp>
        </mc:Fallback>
      </mc:AlternateContent>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ChangeArrowheads="1"/>
          </p:cNvSpPr>
          <p:nvPr>
            <p:ph type="title"/>
          </p:nvPr>
        </p:nvSpPr>
        <p:spPr>
          <a:xfrm>
            <a:off x="436563" y="444500"/>
            <a:ext cx="6294437" cy="2159000"/>
          </a:xfrm>
        </p:spPr>
        <p:txBody>
          <a:bodyPr/>
          <a:lstStyle/>
          <a:p>
            <a:pPr>
              <a:lnSpc>
                <a:spcPct val="80000"/>
              </a:lnSpc>
            </a:pPr>
            <a:r>
              <a:rPr lang="en-US" altLang="en-US" dirty="0" smtClean="0"/>
              <a:t> Success </a:t>
            </a:r>
            <a:r>
              <a:rPr lang="en-US" altLang="en-US" dirty="0"/>
              <a:t>probability</a:t>
            </a:r>
          </a:p>
        </p:txBody>
      </p:sp>
      <p:sp>
        <p:nvSpPr>
          <p:cNvPr id="50178" name="Rectangle 2"/>
          <p:cNvSpPr>
            <a:spLocks noGrp="1" noChangeArrowheads="1"/>
          </p:cNvSpPr>
          <p:nvPr>
            <p:ph type="body" sz="half" idx="1"/>
          </p:nvPr>
        </p:nvSpPr>
        <p:spPr>
          <a:xfrm>
            <a:off x="655639" y="2609850"/>
            <a:ext cx="5173662" cy="4254500"/>
          </a:xfrm>
        </p:spPr>
        <p:txBody>
          <a:bodyPr anchor="t"/>
          <a:lstStyle/>
          <a:p>
            <a:r>
              <a:rPr lang="en-US" altLang="en-US" dirty="0"/>
              <a:t>Define </a:t>
            </a:r>
            <a:r>
              <a:rPr lang="en-US" altLang="en-US" i="1" dirty="0"/>
              <a:t>S</a:t>
            </a:r>
            <a:r>
              <a:rPr lang="en-US" altLang="en-US" dirty="0"/>
              <a:t>(</a:t>
            </a:r>
            <a:r>
              <a:rPr lang="en-US" altLang="en-US" i="1" dirty="0"/>
              <a:t>p</a:t>
            </a:r>
            <a:r>
              <a:rPr lang="en-US" altLang="en-US" dirty="0" smtClean="0"/>
              <a:t>, </a:t>
            </a:r>
            <a:r>
              <a:rPr lang="en-US" altLang="en-US" i="1" dirty="0" smtClean="0"/>
              <a:t>N </a:t>
            </a:r>
            <a:r>
              <a:rPr lang="en-US" altLang="en-US" dirty="0" smtClean="0"/>
              <a:t>) </a:t>
            </a:r>
            <a:r>
              <a:rPr lang="en-US" altLang="en-US" dirty="0"/>
              <a:t>to the </a:t>
            </a:r>
            <a:r>
              <a:rPr lang="en-US" altLang="en-US" dirty="0" smtClean="0"/>
              <a:t>be </a:t>
            </a:r>
            <a:r>
              <a:rPr lang="en-US" altLang="en-US" dirty="0"/>
              <a:t>the probability of winning an </a:t>
            </a:r>
            <a:r>
              <a:rPr lang="en-US" altLang="en-US" i="1" dirty="0"/>
              <a:t>N</a:t>
            </a:r>
            <a:r>
              <a:rPr lang="en-US" altLang="en-US" dirty="0"/>
              <a:t> game series</a:t>
            </a:r>
          </a:p>
          <a:p>
            <a:r>
              <a:rPr lang="en-US" altLang="en-US" dirty="0"/>
              <a:t>Then</a:t>
            </a:r>
          </a:p>
        </p:txBody>
      </p:sp>
      <p:sp>
        <p:nvSpPr>
          <p:cNvPr id="50181" name="Rectangle 5"/>
          <p:cNvSpPr>
            <a:spLocks/>
          </p:cNvSpPr>
          <p:nvPr/>
        </p:nvSpPr>
        <p:spPr bwMode="auto">
          <a:xfrm>
            <a:off x="655638" y="7138988"/>
            <a:ext cx="5965825" cy="248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lstStyle>
            <a:lvl1pPr marL="444500" indent="-444500">
              <a:defRPr sz="3600">
                <a:solidFill>
                  <a:srgbClr val="000000"/>
                </a:solidFill>
                <a:latin typeface="Helvetica Light" charset="0"/>
                <a:ea typeface="Helvetica Light" charset="0"/>
                <a:cs typeface="Helvetica Light" charset="0"/>
                <a:sym typeface="Helvetica Light" charset="0"/>
              </a:defRPr>
            </a:lvl1pPr>
            <a:lvl2pPr>
              <a:defRPr sz="3600">
                <a:solidFill>
                  <a:srgbClr val="000000"/>
                </a:solidFill>
                <a:latin typeface="Helvetica Light" charset="0"/>
                <a:ea typeface="Helvetica Light" charset="0"/>
                <a:cs typeface="Helvetica Light" charset="0"/>
                <a:sym typeface="Helvetica Light" charset="0"/>
              </a:defRPr>
            </a:lvl2pPr>
            <a:lvl3pPr>
              <a:defRPr sz="3600">
                <a:solidFill>
                  <a:srgbClr val="000000"/>
                </a:solidFill>
                <a:latin typeface="Helvetica Light" charset="0"/>
                <a:ea typeface="Helvetica Light" charset="0"/>
                <a:cs typeface="Helvetica Light" charset="0"/>
                <a:sym typeface="Helvetica Light" charset="0"/>
              </a:defRPr>
            </a:lvl3pPr>
            <a:lvl4pPr>
              <a:defRPr sz="3600">
                <a:solidFill>
                  <a:srgbClr val="000000"/>
                </a:solidFill>
                <a:latin typeface="Helvetica Light" charset="0"/>
                <a:ea typeface="Helvetica Light" charset="0"/>
                <a:cs typeface="Helvetica Light" charset="0"/>
                <a:sym typeface="Helvetica Light" charset="0"/>
              </a:defRPr>
            </a:lvl4pPr>
            <a:lvl5pPr>
              <a:defRPr sz="3600">
                <a:solidFill>
                  <a:srgbClr val="000000"/>
                </a:solidFill>
                <a:latin typeface="Helvetica Light" charset="0"/>
                <a:ea typeface="Helvetica Light" charset="0"/>
                <a:cs typeface="Helvetica Light" charset="0"/>
                <a:sym typeface="Helvetica Light" charset="0"/>
              </a:defRPr>
            </a:lvl5pPr>
            <a:lvl6pPr marL="4572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6pPr>
            <a:lvl7pPr marL="9144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7pPr>
            <a:lvl8pPr marL="13716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8pPr>
            <a:lvl9pPr marL="1828800" indent="914400" algn="ctr" defTabSz="58420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9pPr>
          </a:lstStyle>
          <a:p>
            <a:pPr algn="l">
              <a:lnSpc>
                <a:spcPct val="90000"/>
              </a:lnSpc>
              <a:spcBef>
                <a:spcPts val="2600"/>
              </a:spcBef>
              <a:buSzPct val="75000"/>
              <a:buFontTx/>
              <a:buChar char="•"/>
            </a:pPr>
            <a:r>
              <a:rPr lang="en-US" altLang="en-US" b="1" dirty="0">
                <a:latin typeface="Helvetica" charset="0"/>
                <a:ea typeface="Helvetica" charset="0"/>
                <a:cs typeface="Helvetica" charset="0"/>
                <a:sym typeface="Helvetica" charset="0"/>
              </a:rPr>
              <a:t>Winning combinations:</a:t>
            </a:r>
          </a:p>
        </p:txBody>
      </p:sp>
      <p:sp>
        <p:nvSpPr>
          <p:cNvPr id="50182" name="Rectangle 6"/>
          <p:cNvSpPr>
            <a:spLocks/>
          </p:cNvSpPr>
          <p:nvPr/>
        </p:nvSpPr>
        <p:spPr bwMode="auto">
          <a:xfrm>
            <a:off x="3851275" y="7747000"/>
            <a:ext cx="6646863"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50800" tIns="50800" rIns="50800" bIns="50800" anchor="ctr">
            <a:spAutoFit/>
          </a:bodyPr>
          <a:lstStyle/>
          <a:p>
            <a:r>
              <a:rPr lang="en-US" altLang="en-US" sz="4700" b="1" dirty="0">
                <a:solidFill>
                  <a:srgbClr val="0B5D18"/>
                </a:solidFill>
                <a:latin typeface="Helvetica" charset="0"/>
                <a:ea typeface="Helvetica" charset="0"/>
                <a:cs typeface="Helvetica" charset="0"/>
                <a:sym typeface="Helvetica" charset="0"/>
              </a:rPr>
              <a:t>BBB</a:t>
            </a:r>
            <a:r>
              <a:rPr lang="en-US" altLang="en-US" sz="4700" b="1" dirty="0">
                <a:latin typeface="Helvetica" charset="0"/>
                <a:ea typeface="Helvetica" charset="0"/>
                <a:cs typeface="Helvetica" charset="0"/>
                <a:sym typeface="Helvetica" charset="0"/>
              </a:rPr>
              <a:t>, </a:t>
            </a:r>
            <a:r>
              <a:rPr lang="en-US" altLang="en-US" sz="4700" b="1" dirty="0">
                <a:solidFill>
                  <a:srgbClr val="0B5D18"/>
                </a:solidFill>
                <a:latin typeface="Helvetica" charset="0"/>
                <a:ea typeface="Helvetica" charset="0"/>
                <a:cs typeface="Helvetica" charset="0"/>
                <a:sym typeface="Helvetica" charset="0"/>
              </a:rPr>
              <a:t>BB</a:t>
            </a:r>
            <a:r>
              <a:rPr lang="en-US" altLang="en-US" sz="4700" b="1" dirty="0">
                <a:solidFill>
                  <a:srgbClr val="861001"/>
                </a:solidFill>
                <a:latin typeface="Helvetica" charset="0"/>
                <a:ea typeface="Helvetica" charset="0"/>
                <a:cs typeface="Helvetica" charset="0"/>
                <a:sym typeface="Helvetica" charset="0"/>
              </a:rPr>
              <a:t>W</a:t>
            </a:r>
            <a:r>
              <a:rPr lang="en-US" altLang="en-US" sz="4700" b="1" dirty="0">
                <a:latin typeface="Helvetica" charset="0"/>
                <a:ea typeface="Helvetica" charset="0"/>
                <a:cs typeface="Helvetica" charset="0"/>
                <a:sym typeface="Helvetica" charset="0"/>
              </a:rPr>
              <a:t>, </a:t>
            </a:r>
            <a:r>
              <a:rPr lang="en-US" altLang="en-US" sz="4700" b="1" dirty="0">
                <a:solidFill>
                  <a:srgbClr val="0B5D18"/>
                </a:solidFill>
                <a:latin typeface="Helvetica" charset="0"/>
                <a:ea typeface="Helvetica" charset="0"/>
                <a:cs typeface="Helvetica" charset="0"/>
                <a:sym typeface="Helvetica" charset="0"/>
              </a:rPr>
              <a:t>B</a:t>
            </a:r>
            <a:r>
              <a:rPr lang="en-US" altLang="en-US" sz="4700" b="1" dirty="0">
                <a:solidFill>
                  <a:srgbClr val="861001"/>
                </a:solidFill>
                <a:latin typeface="Helvetica" charset="0"/>
                <a:ea typeface="Helvetica" charset="0"/>
                <a:cs typeface="Helvetica" charset="0"/>
                <a:sym typeface="Helvetica" charset="0"/>
              </a:rPr>
              <a:t>W</a:t>
            </a:r>
            <a:r>
              <a:rPr lang="en-US" altLang="en-US" sz="4700" b="1" dirty="0">
                <a:solidFill>
                  <a:srgbClr val="0B5D18"/>
                </a:solidFill>
                <a:latin typeface="Helvetica" charset="0"/>
                <a:ea typeface="Helvetica" charset="0"/>
                <a:cs typeface="Helvetica" charset="0"/>
                <a:sym typeface="Helvetica" charset="0"/>
              </a:rPr>
              <a:t>B</a:t>
            </a:r>
            <a:r>
              <a:rPr lang="en-US" altLang="en-US" sz="4700" b="1" dirty="0">
                <a:latin typeface="Helvetica" charset="0"/>
                <a:ea typeface="Helvetica" charset="0"/>
                <a:cs typeface="Helvetica" charset="0"/>
                <a:sym typeface="Helvetica" charset="0"/>
              </a:rPr>
              <a:t>, </a:t>
            </a:r>
            <a:r>
              <a:rPr lang="en-US" altLang="en-US" sz="4700" b="1" dirty="0">
                <a:solidFill>
                  <a:srgbClr val="861001"/>
                </a:solidFill>
                <a:latin typeface="Helvetica" charset="0"/>
                <a:ea typeface="Helvetica" charset="0"/>
                <a:cs typeface="Helvetica" charset="0"/>
                <a:sym typeface="Helvetica" charset="0"/>
              </a:rPr>
              <a:t>W</a:t>
            </a:r>
            <a:r>
              <a:rPr lang="en-US" altLang="en-US" sz="4700" b="1" dirty="0">
                <a:solidFill>
                  <a:srgbClr val="0B5D18"/>
                </a:solidFill>
                <a:latin typeface="Helvetica" charset="0"/>
                <a:ea typeface="Helvetica" charset="0"/>
                <a:cs typeface="Helvetica" charset="0"/>
                <a:sym typeface="Helvetica" charset="0"/>
              </a:rPr>
              <a:t>BB</a:t>
            </a:r>
            <a:endParaRPr lang="en-US" altLang="en-US" sz="4700" b="1" dirty="0">
              <a:latin typeface="Helvetica" charset="0"/>
              <a:ea typeface="Helvetica" charset="0"/>
              <a:cs typeface="Helvetica" charset="0"/>
              <a:sym typeface="Helvetica" charset="0"/>
            </a:endParaRPr>
          </a:p>
        </p:txBody>
      </p:sp>
      <p:sp>
        <p:nvSpPr>
          <p:cNvPr id="50183" name="Rectangle 7"/>
          <p:cNvSpPr>
            <a:spLocks/>
          </p:cNvSpPr>
          <p:nvPr/>
        </p:nvSpPr>
        <p:spPr bwMode="auto">
          <a:xfrm>
            <a:off x="254000" y="7996912"/>
            <a:ext cx="4002087" cy="121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gn="l"/>
            <a:r>
              <a:rPr lang="en-US" altLang="en-US" sz="2400" b="1" dirty="0" err="1">
                <a:latin typeface="Helvetica" charset="0"/>
                <a:ea typeface="Helvetica" charset="0"/>
                <a:cs typeface="Helvetica" charset="0"/>
                <a:sym typeface="Helvetica" charset="0"/>
              </a:rPr>
              <a:t>Mosteller’s</a:t>
            </a:r>
            <a:r>
              <a:rPr lang="en-US" altLang="en-US" sz="2400" b="1" dirty="0">
                <a:latin typeface="Helvetica" charset="0"/>
                <a:ea typeface="Helvetica" charset="0"/>
                <a:cs typeface="Helvetica" charset="0"/>
                <a:sym typeface="Helvetica" charset="0"/>
              </a:rPr>
              <a:t> notation</a:t>
            </a:r>
          </a:p>
          <a:p>
            <a:pPr algn="l"/>
            <a:r>
              <a:rPr lang="en-US" altLang="en-US" sz="2400" b="1" dirty="0">
                <a:solidFill>
                  <a:srgbClr val="0B5D18"/>
                </a:solidFill>
                <a:latin typeface="Helvetica" charset="0"/>
                <a:ea typeface="Helvetica" charset="0"/>
                <a:cs typeface="Helvetica" charset="0"/>
                <a:sym typeface="Helvetica" charset="0"/>
              </a:rPr>
              <a:t>B</a:t>
            </a:r>
            <a:r>
              <a:rPr lang="en-US" altLang="en-US" sz="2400" b="1" dirty="0">
                <a:latin typeface="Helvetica" charset="0"/>
                <a:ea typeface="Helvetica" charset="0"/>
                <a:cs typeface="Helvetica" charset="0"/>
                <a:sym typeface="Helvetica" charset="0"/>
              </a:rPr>
              <a:t>: better team wins</a:t>
            </a:r>
          </a:p>
          <a:p>
            <a:pPr algn="l"/>
            <a:r>
              <a:rPr lang="en-US" altLang="en-US" sz="2400" b="1" dirty="0">
                <a:solidFill>
                  <a:srgbClr val="861001"/>
                </a:solidFill>
                <a:latin typeface="Helvetica" charset="0"/>
                <a:ea typeface="Helvetica" charset="0"/>
                <a:cs typeface="Helvetica" charset="0"/>
                <a:sym typeface="Helvetica" charset="0"/>
              </a:rPr>
              <a:t>W</a:t>
            </a:r>
            <a:r>
              <a:rPr lang="en-US" altLang="en-US" sz="2400" b="1" dirty="0">
                <a:latin typeface="Helvetica" charset="0"/>
                <a:ea typeface="Helvetica" charset="0"/>
                <a:cs typeface="Helvetica" charset="0"/>
                <a:sym typeface="Helvetica" charset="0"/>
              </a:rPr>
              <a:t>: worse team wins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8691" y="504825"/>
            <a:ext cx="7446557" cy="5200770"/>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1129779" y="5631518"/>
                <a:ext cx="6707092"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𝑆</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𝑝</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,3</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func>
                        <m:func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funcPr>
                        <m:fName>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Pr</m:t>
                          </m:r>
                        </m:fName>
                        <m:e>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𝑊𝑖𝑛</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3</m:t>
                              </m:r>
                            </m:e>
                          </m:d>
                        </m:e>
                      </m:func>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Pr</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𝑊𝑖𝑛</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2)</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129779" y="5631518"/>
                <a:ext cx="6707092"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522844" y="6318786"/>
                <a:ext cx="7841057"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𝑃</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3,3</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𝑃</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3,2</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𝑝</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3</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+3</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𝑝</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𝑝</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522844" y="6318786"/>
                <a:ext cx="7841057" cy="553998"/>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p:sp>
        <p:nvSpPr>
          <p:cNvPr id="14" name="Shape 137"/>
          <p:cNvSpPr/>
          <p:nvPr/>
        </p:nvSpPr>
        <p:spPr>
          <a:xfrm flipH="1" flipV="1">
            <a:off x="9524998" y="3366574"/>
            <a:ext cx="1448808" cy="3313626"/>
          </a:xfrm>
          <a:prstGeom prst="line">
            <a:avLst/>
          </a:prstGeom>
          <a:ln w="38100">
            <a:solidFill>
              <a:schemeClr val="accent6"/>
            </a:solidFill>
            <a:miter lim="400000"/>
            <a:tailEnd type="triangle"/>
          </a:ln>
        </p:spPr>
        <p:txBody>
          <a:bodyPr lIns="50800" tIns="50800" rIns="50800" bIns="50800" anchor="ctr"/>
          <a:lstStyle/>
          <a:p>
            <a:pPr>
              <a:defRPr sz="2400"/>
            </a:pPr>
            <a:endParaRPr/>
          </a:p>
        </p:txBody>
      </p:sp>
      <p:sp>
        <p:nvSpPr>
          <p:cNvPr id="15" name="Rectangle 5"/>
          <p:cNvSpPr>
            <a:spLocks/>
          </p:cNvSpPr>
          <p:nvPr/>
        </p:nvSpPr>
        <p:spPr bwMode="auto">
          <a:xfrm>
            <a:off x="8637276" y="6709026"/>
            <a:ext cx="5380037" cy="422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50800" tIns="50800" rIns="50800" bIns="50800" anchor="ctr">
            <a:spAutoFit/>
          </a:bodyPr>
          <a:lstStyle/>
          <a:p>
            <a:pPr>
              <a:lnSpc>
                <a:spcPct val="80000"/>
              </a:lnSpc>
            </a:pPr>
            <a:r>
              <a:rPr lang="en-US" altLang="en-US" sz="2600" b="1" smtClean="0">
                <a:solidFill>
                  <a:srgbClr val="773F9B"/>
                </a:solidFill>
                <a:latin typeface="Helvetica" charset="0"/>
                <a:ea typeface="Helvetica" charset="0"/>
                <a:cs typeface="Helvetica" charset="0"/>
                <a:sym typeface="Helvetica" charset="0"/>
              </a:rPr>
              <a:t>No series</a:t>
            </a:r>
            <a:endParaRPr lang="en-US" altLang="en-US" sz="2600" b="1" dirty="0">
              <a:solidFill>
                <a:srgbClr val="773F9B"/>
              </a:solidFill>
              <a:latin typeface="Helvetica" charset="0"/>
              <a:ea typeface="Helvetica" charset="0"/>
              <a:cs typeface="Helvetica" charset="0"/>
              <a:sym typeface="Helvetica" charset="0"/>
            </a:endParaRPr>
          </a:p>
        </p:txBody>
      </p:sp>
    </p:spTree>
    <p:extLst>
      <p:ext uri="{BB962C8B-B14F-4D97-AF65-F5344CB8AC3E}">
        <p14:creationId xmlns:p14="http://schemas.microsoft.com/office/powerpoint/2010/main" val="880441493"/>
      </p:ext>
    </p:extLst>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
      <a:dk1>
        <a:srgbClr val="000000"/>
      </a:dk1>
      <a:lt1>
        <a:srgbClr val="FFFFFF"/>
      </a:lt1>
      <a:dk2>
        <a:srgbClr val="53585F"/>
      </a:dk2>
      <a:lt2>
        <a:srgbClr val="DCDEE0"/>
      </a:lt2>
      <a:accent1>
        <a:srgbClr val="0365C0"/>
      </a:accent1>
      <a:accent2>
        <a:srgbClr val="00882B"/>
      </a:accent2>
      <a:accent3>
        <a:srgbClr val="FFFFFF"/>
      </a:accent3>
      <a:accent4>
        <a:srgbClr val="000000"/>
      </a:accent4>
      <a:accent5>
        <a:srgbClr val="AAB8DC"/>
      </a:accent5>
      <a:accent6>
        <a:srgbClr val="007B26"/>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miter lim="400000"/>
          <a:headEnd type="none" w="med" len="med"/>
          <a:tailEnd type="none" w="med" len="med"/>
        </a:ln>
        <a:effectLst>
          <a:outerShdw blurRad="38100" dist="25400" dir="5400000" algn="ctr" rotWithShape="0">
            <a:srgbClr val="000000">
              <a:alpha val="50000"/>
            </a:srgbClr>
          </a:outerShdw>
        </a:effectLst>
      </a:spPr>
      <a:bodyPr vert="horz" wrap="square" lIns="50800" tIns="50800" rIns="50800" bIns="50800" numCol="1" anchor="ctr" anchorCtr="0" compatLnSpc="1">
        <a:prstTxWarp prst="textNoShape">
          <a:avLst/>
        </a:prstTxWarp>
        <a:spAutoFit/>
      </a:bodyPr>
      <a:lstStyle>
        <a:defPPr marL="0" marR="0" indent="0" algn="ctr" defTabSz="584200" rtl="0" eaLnBrk="1" fontAlgn="base" latinLnBrk="0" hangingPunct="0">
          <a:lnSpc>
            <a:spcPct val="100000"/>
          </a:lnSpc>
          <a:spcBef>
            <a:spcPct val="0"/>
          </a:spcBef>
          <a:spcAft>
            <a:spcPct val="0"/>
          </a:spcAft>
          <a:buClrTx/>
          <a:buSzTx/>
          <a:buFontTx/>
          <a:buNone/>
          <a:tabLst/>
          <a:defRPr kumimoji="0" lang="en-US" altLang="en-US" sz="3600" b="0" i="0" u="none" strike="noStrike" cap="none" normalizeH="0" baseline="0">
            <a:ln>
              <a:noFill/>
            </a:ln>
            <a:solidFill>
              <a:srgbClr val="000000"/>
            </a:solidFill>
            <a:effectLst/>
            <a:latin typeface="Helvetica Light" charset="0"/>
            <a:ea typeface="Helvetica Light" charset="0"/>
            <a:cs typeface="Helvetica Light" charset="0"/>
            <a:sym typeface="Helvetica Light"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miter lim="400000"/>
          <a:headEnd type="none" w="med" len="med"/>
          <a:tailEnd type="none" w="med" len="med"/>
        </a:ln>
        <a:effectLst>
          <a:outerShdw blurRad="38100" dist="25400" dir="5400000" algn="ctr" rotWithShape="0">
            <a:srgbClr val="000000">
              <a:alpha val="50000"/>
            </a:srgbClr>
          </a:outerShdw>
        </a:effectLst>
      </a:spPr>
      <a:bodyPr vert="horz" wrap="square" lIns="50800" tIns="50800" rIns="50800" bIns="50800" numCol="1" anchor="ctr" anchorCtr="0" compatLnSpc="1">
        <a:prstTxWarp prst="textNoShape">
          <a:avLst/>
        </a:prstTxWarp>
        <a:spAutoFit/>
      </a:bodyPr>
      <a:lstStyle>
        <a:defPPr marL="0" marR="0" indent="0" algn="ctr" defTabSz="584200" rtl="0" eaLnBrk="1" fontAlgn="base" latinLnBrk="0" hangingPunct="0">
          <a:lnSpc>
            <a:spcPct val="100000"/>
          </a:lnSpc>
          <a:spcBef>
            <a:spcPct val="0"/>
          </a:spcBef>
          <a:spcAft>
            <a:spcPct val="0"/>
          </a:spcAft>
          <a:buClrTx/>
          <a:buSzTx/>
          <a:buFontTx/>
          <a:buNone/>
          <a:tabLst/>
          <a:defRPr kumimoji="0" lang="en-US" altLang="en-US" sz="3600" b="0" i="0" u="none" strike="noStrike" cap="none" normalizeH="0" baseline="0">
            <a:ln>
              <a:noFill/>
            </a:ln>
            <a:solidFill>
              <a:srgbClr val="000000"/>
            </a:solidFill>
            <a:effectLst/>
            <a:latin typeface="Helvetica Light" charset="0"/>
            <a:ea typeface="Helvetica Light" charset="0"/>
            <a:cs typeface="Helvetica Light" charset="0"/>
            <a:sym typeface="Helvetica Light" charset="0"/>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53585F"/>
      </a:dk2>
      <a:lt2>
        <a:srgbClr val="DCDEE0"/>
      </a:lt2>
      <a:accent1>
        <a:srgbClr val="0365C0"/>
      </a:accent1>
      <a:accent2>
        <a:srgbClr val="00882B"/>
      </a:accent2>
      <a:accent3>
        <a:srgbClr val="FFFFFF"/>
      </a:accent3>
      <a:accent4>
        <a:srgbClr val="000000"/>
      </a:accent4>
      <a:accent5>
        <a:srgbClr val="AAB8DC"/>
      </a:accent5>
      <a:accent6>
        <a:srgbClr val="007B26"/>
      </a:accent6>
      <a:hlink>
        <a:srgbClr val="0000FF"/>
      </a:hlink>
      <a:folHlink>
        <a:srgbClr val="FF00F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TotalTime>
  <Words>1952</Words>
  <Application>Microsoft Macintosh PowerPoint</Application>
  <PresentationFormat>Custom</PresentationFormat>
  <Paragraphs>300</Paragraphs>
  <Slides>45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Avenir Roman</vt:lpstr>
      <vt:lpstr>Cambria Math</vt:lpstr>
      <vt:lpstr>Helvetica</vt:lpstr>
      <vt:lpstr>Helvetica Light</vt:lpstr>
      <vt:lpstr>Menlo</vt:lpstr>
      <vt:lpstr>Arial</vt:lpstr>
      <vt:lpstr>White</vt:lpstr>
      <vt:lpstr>Applied Math 50: Introduction to Applied Mathematics</vt:lpstr>
      <vt:lpstr>Overview of today</vt:lpstr>
      <vt:lpstr>History of AM50</vt:lpstr>
      <vt:lpstr>Isn’t applied math …</vt:lpstr>
      <vt:lpstr>Isn’t applied math …</vt:lpstr>
      <vt:lpstr>Isn’t applied math …</vt:lpstr>
      <vt:lpstr>Quotes</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21st century applied math</vt:lpstr>
      <vt:lpstr>2. Course organization</vt:lpstr>
      <vt:lpstr>AM50: Course objectives</vt:lpstr>
      <vt:lpstr>Prerequisites</vt:lpstr>
      <vt:lpstr>Course layout</vt:lpstr>
      <vt:lpstr>Each topic will include:</vt:lpstr>
      <vt:lpstr>General two-week topic schedule</vt:lpstr>
      <vt:lpstr>Introductory week</vt:lpstr>
      <vt:lpstr>Homeworks/labs: some programming in Matlab</vt:lpstr>
      <vt:lpstr>Collaboration policy</vt:lpstr>
      <vt:lpstr>Writing Mathematics</vt:lpstr>
      <vt:lpstr>Writing Mathematics</vt:lpstr>
      <vt:lpstr>Course discussion on Piazza</vt:lpstr>
      <vt:lpstr>Paper presentations</vt:lpstr>
      <vt:lpstr>Final project</vt:lpstr>
      <vt:lpstr>Grading</vt:lpstr>
      <vt:lpstr>3. A simple mathematical model for sport competitions</vt:lpstr>
      <vt:lpstr>PowerPoint Presentation</vt:lpstr>
      <vt:lpstr>Mosteller’s model</vt:lpstr>
      <vt:lpstr>PowerPoint Presentation</vt:lpstr>
      <vt:lpstr>PowerPoint Presentation</vt:lpstr>
      <vt:lpstr>Simple model for the World Series</vt:lpstr>
      <vt:lpstr>PowerPoint Presentation</vt:lpstr>
      <vt:lpstr>Mosteller’s model</vt:lpstr>
      <vt:lpstr>Binomial trials</vt:lpstr>
      <vt:lpstr>Binomial trials</vt:lpstr>
      <vt:lpstr>Binomial distribution</vt:lpstr>
      <vt:lpstr>Binomial trials</vt:lpstr>
      <vt:lpstr> Success probability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Math 50: Introduction to Applied Mathematics</dc:title>
  <dc:creator>Microsoft Office User</dc:creator>
  <cp:lastModifiedBy>Microsoft Office User</cp:lastModifiedBy>
  <cp:revision>26</cp:revision>
  <dcterms:created xsi:type="dcterms:W3CDTF">2017-01-24T02:58:31Z</dcterms:created>
  <dcterms:modified xsi:type="dcterms:W3CDTF">2017-01-28T02:40:11Z</dcterms:modified>
</cp:coreProperties>
</file>