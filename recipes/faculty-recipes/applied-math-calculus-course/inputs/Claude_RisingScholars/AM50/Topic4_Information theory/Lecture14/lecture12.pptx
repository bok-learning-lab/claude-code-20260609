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b="def" i="def"/>
      <a:tcStyle>
        <a:tcBdr/>
        <a:fill>
          <a:solidFill>
            <a:srgbClr val="C3C2C2"/>
          </a:solidFill>
        </a:fill>
      </a:tcStyle>
    </a:band2H>
    <a:firstCol>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b="def" i="def"/>
      <a:tcStyle>
        <a:tcBdr/>
        <a:fill>
          <a:solidFill>
            <a:srgbClr val="DCE5E6"/>
          </a:solidFill>
        </a:fill>
      </a:tcStyle>
    </a:band2H>
    <a:firstCol>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b="def" i="def"/>
      <a:tcStyle>
        <a:tcBdr/>
        <a:fill>
          <a:solidFill>
            <a:srgbClr val="DEDEDF"/>
          </a:solidFill>
        </a:fill>
      </a:tcStyle>
    </a:band2H>
    <a:firstCol>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Ref idx="maj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standalone="yes"?><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61"/>
          <p:cNvSpPr/>
          <p:nvPr>
            <p:ph type="sldImg"/>
          </p:nvPr>
        </p:nvSpPr>
        <p:spPr>
          <a:xfrm>
            <a:off x="1143000" y="685800"/>
            <a:ext cx="4572000" cy="3429000"/>
          </a:xfrm>
          <a:prstGeom prst="rect">
            <a:avLst/>
          </a:prstGeom>
        </p:spPr>
        <p:txBody>
          <a:bodyPr/>
          <a:lstStyle/>
          <a:p>
            <a:pPr/>
          </a:p>
        </p:txBody>
      </p:sp>
      <p:sp>
        <p:nvSpPr>
          <p:cNvPr id="62" name="Shape 6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25000"/>
      </a:lnSpc>
      <a:defRPr sz="2400">
        <a:latin typeface="Avenir Roman"/>
        <a:ea typeface="Avenir Roman"/>
        <a:cs typeface="Avenir Roman"/>
        <a:sym typeface="Avenir Roman"/>
      </a:defRPr>
    </a:lvl1pPr>
    <a:lvl2pPr indent="228600" defTabSz="457200" latinLnBrk="0">
      <a:lnSpc>
        <a:spcPct val="125000"/>
      </a:lnSpc>
      <a:defRPr sz="2400">
        <a:latin typeface="Avenir Roman"/>
        <a:ea typeface="Avenir Roman"/>
        <a:cs typeface="Avenir Roman"/>
        <a:sym typeface="Avenir Roman"/>
      </a:defRPr>
    </a:lvl2pPr>
    <a:lvl3pPr indent="457200" defTabSz="457200" latinLnBrk="0">
      <a:lnSpc>
        <a:spcPct val="125000"/>
      </a:lnSpc>
      <a:defRPr sz="2400">
        <a:latin typeface="Avenir Roman"/>
        <a:ea typeface="Avenir Roman"/>
        <a:cs typeface="Avenir Roman"/>
        <a:sym typeface="Avenir Roman"/>
      </a:defRPr>
    </a:lvl3pPr>
    <a:lvl4pPr indent="685800" defTabSz="457200" latinLnBrk="0">
      <a:lnSpc>
        <a:spcPct val="125000"/>
      </a:lnSpc>
      <a:defRPr sz="2400">
        <a:latin typeface="Avenir Roman"/>
        <a:ea typeface="Avenir Roman"/>
        <a:cs typeface="Avenir Roman"/>
        <a:sym typeface="Avenir Roman"/>
      </a:defRPr>
    </a:lvl4pPr>
    <a:lvl5pPr indent="914400" defTabSz="457200" latinLnBrk="0">
      <a:lnSpc>
        <a:spcPct val="125000"/>
      </a:lnSpc>
      <a:defRPr sz="2400">
        <a:latin typeface="Avenir Roman"/>
        <a:ea typeface="Avenir Roman"/>
        <a:cs typeface="Avenir Roman"/>
        <a:sym typeface="Avenir Roman"/>
      </a:defRPr>
    </a:lvl5pPr>
    <a:lvl6pPr indent="1143000" defTabSz="457200" latinLnBrk="0">
      <a:lnSpc>
        <a:spcPct val="125000"/>
      </a:lnSpc>
      <a:defRPr sz="2400">
        <a:latin typeface="Avenir Roman"/>
        <a:ea typeface="Avenir Roman"/>
        <a:cs typeface="Avenir Roman"/>
        <a:sym typeface="Avenir Roman"/>
      </a:defRPr>
    </a:lvl6pPr>
    <a:lvl7pPr indent="1371600" defTabSz="457200" latinLnBrk="0">
      <a:lnSpc>
        <a:spcPct val="125000"/>
      </a:lnSpc>
      <a:defRPr sz="2400">
        <a:latin typeface="Avenir Roman"/>
        <a:ea typeface="Avenir Roman"/>
        <a:cs typeface="Avenir Roman"/>
        <a:sym typeface="Avenir Roman"/>
      </a:defRPr>
    </a:lvl7pPr>
    <a:lvl8pPr indent="1600200" defTabSz="457200" latinLnBrk="0">
      <a:lnSpc>
        <a:spcPct val="125000"/>
      </a:lnSpc>
      <a:defRPr sz="2400">
        <a:latin typeface="Avenir Roman"/>
        <a:ea typeface="Avenir Roman"/>
        <a:cs typeface="Avenir Roman"/>
        <a:sym typeface="Avenir Roman"/>
      </a:defRPr>
    </a:lvl8pPr>
    <a:lvl9pPr indent="1828800" defTabSz="457200" latinLnBrk="0">
      <a:lnSpc>
        <a:spcPct val="125000"/>
      </a:lnSpc>
      <a:defRPr sz="2400">
        <a:latin typeface="Avenir Roman"/>
        <a:ea typeface="Avenir Roman"/>
        <a:cs typeface="Avenir Roman"/>
        <a:sym typeface="Avenir Roman"/>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57" name="Shape 157"/>
          <p:cNvSpPr/>
          <p:nvPr>
            <p:ph type="sldImg"/>
          </p:nvPr>
        </p:nvSpPr>
        <p:spPr>
          <a:prstGeom prst="rect">
            <a:avLst/>
          </a:prstGeom>
        </p:spPr>
        <p:txBody>
          <a:bodyPr/>
          <a:lstStyle/>
          <a:p>
            <a:pPr/>
          </a:p>
        </p:txBody>
      </p:sp>
      <p:sp>
        <p:nvSpPr>
          <p:cNvPr id="158" name="Shape 158"/>
          <p:cNvSpPr/>
          <p:nvPr>
            <p:ph type="body" sz="quarter" idx="1"/>
          </p:nvPr>
        </p:nvSpPr>
        <p:spPr>
          <a:prstGeom prst="rect">
            <a:avLst/>
          </a:prstGeom>
        </p:spPr>
        <p:txBody>
          <a:bodyPr/>
          <a:lstStyle/>
          <a:p>
            <a:pPr/>
            <a:r>
              <a:t>Paper is quite humorous.</a:t>
            </a:r>
          </a:p>
          <a:p>
            <a:pPr/>
            <a:r>
              <a:t>compare unknown texts to known</a:t>
            </a:r>
          </a:p>
          <a:p>
            <a:pPr/>
            <a:r>
              <a:t>use several methods of “discrimination”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1" name="Shape 171"/>
          <p:cNvSpPr/>
          <p:nvPr>
            <p:ph type="sldImg"/>
          </p:nvPr>
        </p:nvSpPr>
        <p:spPr>
          <a:prstGeom prst="rect">
            <a:avLst/>
          </a:prstGeom>
        </p:spPr>
        <p:txBody>
          <a:bodyPr/>
          <a:lstStyle/>
          <a:p>
            <a:pPr/>
          </a:p>
        </p:txBody>
      </p:sp>
      <p:sp>
        <p:nvSpPr>
          <p:cNvPr id="172" name="Shape 172"/>
          <p:cNvSpPr/>
          <p:nvPr>
            <p:ph type="body" sz="quarter" idx="1"/>
          </p:nvPr>
        </p:nvSpPr>
        <p:spPr>
          <a:prstGeom prst="rect">
            <a:avLst/>
          </a:prstGeom>
        </p:spPr>
        <p:txBody>
          <a:bodyPr/>
          <a:lstStyle/>
          <a:p>
            <a:pPr/>
            <a:r>
              <a:t>19 was considered jointly written in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3" name="Shape 183"/>
          <p:cNvSpPr/>
          <p:nvPr>
            <p:ph type="sldImg"/>
          </p:nvPr>
        </p:nvSpPr>
        <p:spPr>
          <a:prstGeom prst="rect">
            <a:avLst/>
          </a:prstGeom>
        </p:spPr>
        <p:txBody>
          <a:bodyPr/>
          <a:lstStyle/>
          <a:p>
            <a:pPr/>
          </a:p>
        </p:txBody>
      </p:sp>
      <p:sp>
        <p:nvSpPr>
          <p:cNvPr id="184" name="Shape 184"/>
          <p:cNvSpPr/>
          <p:nvPr>
            <p:ph type="body" sz="quarter" idx="1"/>
          </p:nvPr>
        </p:nvSpPr>
        <p:spPr>
          <a:prstGeom prst="rect">
            <a:avLst/>
          </a:prstGeom>
        </p:spPr>
        <p:txBody>
          <a:bodyPr/>
          <a:lstStyle/>
          <a:p>
            <a:pPr/>
            <a:r>
              <a:t>How do you choose “marker words”? </a:t>
            </a:r>
          </a:p>
          <a:p>
            <a:pPr/>
            <a:r>
              <a:t>—&gt; Screening through texts of known authorship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p>
            <a:pPr/>
            <a:r>
              <a:t>Poisson probability is good for rare events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Likelihood ratio for 3 words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57" name="Shape 257"/>
          <p:cNvSpPr/>
          <p:nvPr>
            <p:ph type="sldImg"/>
          </p:nvPr>
        </p:nvSpPr>
        <p:spPr>
          <a:prstGeom prst="rect">
            <a:avLst/>
          </a:prstGeom>
        </p:spPr>
        <p:txBody>
          <a:bodyPr/>
          <a:lstStyle/>
          <a:p>
            <a:pPr/>
          </a:p>
        </p:txBody>
      </p:sp>
      <p:sp>
        <p:nvSpPr>
          <p:cNvPr id="258" name="Shape 258"/>
          <p:cNvSpPr/>
          <p:nvPr>
            <p:ph type="body" sz="quarter" idx="1"/>
          </p:nvPr>
        </p:nvSpPr>
        <p:spPr>
          <a:prstGeom prst="rect">
            <a:avLst/>
          </a:prstGeom>
        </p:spPr>
        <p:txBody>
          <a:bodyPr/>
          <a:lstStyle/>
          <a:p>
            <a:pPr/>
            <a:r>
              <a:t>Problem: choosing your priors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1" showMasterPhAnim="1">
  <p:cSld name="Title &amp; Subtitle">
    <p:spTree>
      <p:nvGrpSpPr>
        <p:cNvPr id="1" name=""/>
        <p:cNvGrpSpPr/>
        <p:nvPr/>
      </p:nvGrpSpPr>
      <p:grpSpPr>
        <a:xfrm>
          <a:off x="0" y="0"/>
          <a:ext cx="0" cy="0"/>
          <a:chOff x="0" y="0"/>
          <a:chExt cx="0" cy="0"/>
        </a:xfrm>
      </p:grpSpPr>
      <p:sp>
        <p:nvSpPr>
          <p:cNvPr id="11" name="Shape 11"/>
          <p:cNvSpPr/>
          <p:nvPr>
            <p:ph type="title"/>
          </p:nvPr>
        </p:nvSpPr>
        <p:spPr>
          <a:xfrm>
            <a:off x="1270000" y="1638300"/>
            <a:ext cx="10464800" cy="3302000"/>
          </a:xfrm>
          <a:prstGeom prst="rect">
            <a:avLst/>
          </a:prstGeom>
        </p:spPr>
        <p:txBody>
          <a:bodyPr anchor="b"/>
          <a:lstStyle/>
          <a:p>
            <a:pPr/>
            <a:r>
              <a:t>Title Text</a:t>
            </a:r>
          </a:p>
        </p:txBody>
      </p:sp>
      <p:sp>
        <p:nvSpPr>
          <p:cNvPr id="12" name="Shape 12"/>
          <p:cNvSpPr/>
          <p:nvPr>
            <p:ph type="body" sz="quarter" idx="1"/>
          </p:nvPr>
        </p:nvSpPr>
        <p:spPr>
          <a:xfrm>
            <a:off x="1270000" y="5029200"/>
            <a:ext cx="10464800" cy="1130300"/>
          </a:xfrm>
          <a:prstGeom prst="rect">
            <a:avLst/>
          </a:prstGeom>
        </p:spPr>
        <p:txBody>
          <a:bodyPr anchor="t"/>
          <a:lstStyle>
            <a:lvl1pPr marL="0" indent="0" algn="ctr">
              <a:lnSpc>
                <a:spcPct val="100000"/>
              </a:lnSpc>
              <a:spcBef>
                <a:spcPts val="0"/>
              </a:spcBef>
              <a:buSzTx/>
              <a:buNone/>
              <a:defRPr sz="3200"/>
            </a:lvl1pPr>
            <a:lvl2pPr marL="0" indent="228600" algn="ctr">
              <a:lnSpc>
                <a:spcPct val="100000"/>
              </a:lnSpc>
              <a:spcBef>
                <a:spcPts val="0"/>
              </a:spcBef>
              <a:buSzTx/>
              <a:buNone/>
              <a:defRPr sz="3200"/>
            </a:lvl2pPr>
            <a:lvl3pPr marL="0" indent="457200" algn="ctr">
              <a:lnSpc>
                <a:spcPct val="100000"/>
              </a:lnSpc>
              <a:spcBef>
                <a:spcPts val="0"/>
              </a:spcBef>
              <a:buSzTx/>
              <a:buNone/>
              <a:defRPr sz="3200"/>
            </a:lvl3pPr>
            <a:lvl4pPr marL="0" indent="685800" algn="ctr">
              <a:lnSpc>
                <a:spcPct val="100000"/>
              </a:lnSpc>
              <a:spcBef>
                <a:spcPts val="0"/>
              </a:spcBef>
              <a:buSzTx/>
              <a:buNone/>
              <a:defRPr sz="3200"/>
            </a:lvl4pPr>
            <a:lvl5pPr marL="0" indent="914400" algn="ctr">
              <a:lnSpc>
                <a:spcPct val="100000"/>
              </a:lnSpc>
              <a:spcBef>
                <a:spcPts val="0"/>
              </a:spcBef>
              <a:buSzTx/>
              <a:buNone/>
              <a:defRPr sz="3200"/>
            </a:lvl5pPr>
          </a:lstStyle>
          <a:p>
            <a:pPr/>
            <a:r>
              <a:t>Body Level One</a:t>
            </a:r>
          </a:p>
          <a:p>
            <a:pPr lvl="1"/>
            <a:r>
              <a:t>Body Level Two</a:t>
            </a:r>
          </a:p>
          <a:p>
            <a:pPr lvl="2"/>
            <a:r>
              <a:t>Body Level Three</a:t>
            </a:r>
          </a:p>
          <a:p>
            <a:pPr lvl="3"/>
            <a:r>
              <a:t>Body Level Four</a:t>
            </a:r>
          </a:p>
          <a:p>
            <a:pPr lvl="4"/>
            <a:r>
              <a:t>Body Level Five</a:t>
            </a:r>
          </a:p>
        </p:txBody>
      </p:sp>
      <p:sp>
        <p:nvSpPr>
          <p:cNvPr id="13" name="Shape 13"/>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1" showMasterPhAnim="1">
  <p:cSld name="Photo - Horizontal">
    <p:spTree>
      <p:nvGrpSpPr>
        <p:cNvPr id="1" name=""/>
        <p:cNvGrpSpPr/>
        <p:nvPr/>
      </p:nvGrpSpPr>
      <p:grpSpPr>
        <a:xfrm>
          <a:off x="0" y="0"/>
          <a:ext cx="0" cy="0"/>
          <a:chOff x="0" y="0"/>
          <a:chExt cx="0" cy="0"/>
        </a:xfrm>
      </p:grpSpPr>
      <p:sp>
        <p:nvSpPr>
          <p:cNvPr id="20" name="Shape 20"/>
          <p:cNvSpPr/>
          <p:nvPr>
            <p:ph type="pic" idx="13"/>
          </p:nvPr>
        </p:nvSpPr>
        <p:spPr>
          <a:xfrm>
            <a:off x="1606550" y="635000"/>
            <a:ext cx="9779000" cy="5918200"/>
          </a:xfrm>
          <a:prstGeom prst="rect">
            <a:avLst/>
          </a:prstGeom>
        </p:spPr>
        <p:txBody>
          <a:bodyPr lIns="91439" tIns="45719" rIns="91439" bIns="45719" anchor="t">
            <a:noAutofit/>
          </a:bodyPr>
          <a:lstStyle/>
          <a:p>
            <a:pPr/>
          </a:p>
        </p:txBody>
      </p:sp>
      <p:sp>
        <p:nvSpPr>
          <p:cNvPr id="21" name="Shape 21"/>
          <p:cNvSpPr/>
          <p:nvPr>
            <p:ph type="title"/>
          </p:nvPr>
        </p:nvSpPr>
        <p:spPr>
          <a:xfrm>
            <a:off x="1270000" y="6718300"/>
            <a:ext cx="10464800" cy="1422400"/>
          </a:xfrm>
          <a:prstGeom prst="rect">
            <a:avLst/>
          </a:prstGeom>
        </p:spPr>
        <p:txBody>
          <a:bodyPr anchor="b"/>
          <a:lstStyle/>
          <a:p>
            <a:pPr/>
            <a:r>
              <a:t>Title Text</a:t>
            </a:r>
          </a:p>
        </p:txBody>
      </p:sp>
      <p:sp>
        <p:nvSpPr>
          <p:cNvPr id="22" name="Shape 22"/>
          <p:cNvSpPr/>
          <p:nvPr>
            <p:ph type="body" sz="quarter" idx="1"/>
          </p:nvPr>
        </p:nvSpPr>
        <p:spPr>
          <a:xfrm>
            <a:off x="1270000" y="8191500"/>
            <a:ext cx="10464800" cy="1130300"/>
          </a:xfrm>
          <a:prstGeom prst="rect">
            <a:avLst/>
          </a:prstGeom>
        </p:spPr>
        <p:txBody>
          <a:bodyPr anchor="t"/>
          <a:lstStyle>
            <a:lvl1pPr marL="0" indent="0" algn="ctr">
              <a:lnSpc>
                <a:spcPct val="100000"/>
              </a:lnSpc>
              <a:spcBef>
                <a:spcPts val="0"/>
              </a:spcBef>
              <a:buSzTx/>
              <a:buNone/>
              <a:defRPr b="0" sz="3200">
                <a:latin typeface="+mn-lt"/>
                <a:ea typeface="+mn-ea"/>
                <a:cs typeface="+mn-cs"/>
                <a:sym typeface="Helvetica Light"/>
              </a:defRPr>
            </a:lvl1pPr>
            <a:lvl2pPr marL="0" indent="228600" algn="ctr">
              <a:lnSpc>
                <a:spcPct val="100000"/>
              </a:lnSpc>
              <a:spcBef>
                <a:spcPts val="0"/>
              </a:spcBef>
              <a:buSzTx/>
              <a:buNone/>
              <a:defRPr b="0" sz="3200">
                <a:latin typeface="+mn-lt"/>
                <a:ea typeface="+mn-ea"/>
                <a:cs typeface="+mn-cs"/>
                <a:sym typeface="Helvetica Light"/>
              </a:defRPr>
            </a:lvl2pPr>
            <a:lvl3pPr marL="0" indent="457200" algn="ctr">
              <a:lnSpc>
                <a:spcPct val="100000"/>
              </a:lnSpc>
              <a:spcBef>
                <a:spcPts val="0"/>
              </a:spcBef>
              <a:buSzTx/>
              <a:buNone/>
              <a:defRPr b="0" sz="3200">
                <a:latin typeface="+mn-lt"/>
                <a:ea typeface="+mn-ea"/>
                <a:cs typeface="+mn-cs"/>
                <a:sym typeface="Helvetica Light"/>
              </a:defRPr>
            </a:lvl3pPr>
            <a:lvl4pPr marL="0" indent="685800" algn="ctr">
              <a:lnSpc>
                <a:spcPct val="100000"/>
              </a:lnSpc>
              <a:spcBef>
                <a:spcPts val="0"/>
              </a:spcBef>
              <a:buSzTx/>
              <a:buNone/>
              <a:defRPr b="0" sz="3200">
                <a:latin typeface="+mn-lt"/>
                <a:ea typeface="+mn-ea"/>
                <a:cs typeface="+mn-cs"/>
                <a:sym typeface="Helvetica Light"/>
              </a:defRPr>
            </a:lvl4pPr>
            <a:lvl5pPr marL="0" indent="914400" algn="ctr">
              <a:lnSpc>
                <a:spcPct val="100000"/>
              </a:lnSpc>
              <a:spcBef>
                <a:spcPts val="0"/>
              </a:spcBef>
              <a:buSzTx/>
              <a:buNone/>
              <a:defRPr b="0" sz="3200">
                <a:latin typeface="+mn-lt"/>
                <a:ea typeface="+mn-ea"/>
                <a:cs typeface="+mn-cs"/>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3" name="Shape 23"/>
          <p:cNvSpPr/>
          <p:nvPr>
            <p:ph type="sldNum" sz="quarter" idx="2"/>
          </p:nvPr>
        </p:nvSpPr>
        <p:spPr>
          <a:xfrm>
            <a:off x="6311798" y="9245600"/>
            <a:ext cx="368504" cy="3810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1" showMasterPhAnim="1">
  <p:cSld name="Title - Center">
    <p:spTree>
      <p:nvGrpSpPr>
        <p:cNvPr id="1" name=""/>
        <p:cNvGrpSpPr/>
        <p:nvPr/>
      </p:nvGrpSpPr>
      <p:grpSpPr>
        <a:xfrm>
          <a:off x="0" y="0"/>
          <a:ext cx="0" cy="0"/>
          <a:chOff x="0" y="0"/>
          <a:chExt cx="0" cy="0"/>
        </a:xfrm>
      </p:grpSpPr>
      <p:sp>
        <p:nvSpPr>
          <p:cNvPr id="30" name="Shape 30"/>
          <p:cNvSpPr/>
          <p:nvPr>
            <p:ph type="title"/>
          </p:nvPr>
        </p:nvSpPr>
        <p:spPr>
          <a:xfrm>
            <a:off x="1270000" y="3225800"/>
            <a:ext cx="10464800" cy="3302000"/>
          </a:xfrm>
          <a:prstGeom prst="rect">
            <a:avLst/>
          </a:prstGeom>
        </p:spPr>
        <p:txBody>
          <a:bodyPr/>
          <a:lstStyle/>
          <a:p>
            <a:pPr/>
            <a:r>
              <a:t>Title Text</a:t>
            </a:r>
          </a:p>
        </p:txBody>
      </p:sp>
      <p:sp>
        <p:nvSpPr>
          <p:cNvPr id="31" name="Shape 31"/>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1" showMasterPhAnim="1">
  <p:cSld name="Title - Top">
    <p:spTree>
      <p:nvGrpSpPr>
        <p:cNvPr id="1" name=""/>
        <p:cNvGrpSpPr/>
        <p:nvPr/>
      </p:nvGrpSpPr>
      <p:grpSpPr>
        <a:xfrm>
          <a:off x="0" y="0"/>
          <a:ext cx="0" cy="0"/>
          <a:chOff x="0" y="0"/>
          <a:chExt cx="0" cy="0"/>
        </a:xfrm>
      </p:grpSpPr>
      <p:sp>
        <p:nvSpPr>
          <p:cNvPr id="38" name="Shape 38"/>
          <p:cNvSpPr/>
          <p:nvPr>
            <p:ph type="body" sz="half" idx="13"/>
          </p:nvPr>
        </p:nvSpPr>
        <p:spPr>
          <a:xfrm>
            <a:off x="437232" y="444500"/>
            <a:ext cx="12130336" cy="2159000"/>
          </a:xfrm>
          <a:prstGeom prst="rect">
            <a:avLst/>
          </a:prstGeom>
        </p:spPr>
        <p:txBody>
          <a:bodyPr/>
          <a:lstStyle>
            <a:lvl1pPr marL="0" indent="0" algn="ctr">
              <a:lnSpc>
                <a:spcPct val="100000"/>
              </a:lnSpc>
              <a:spcBef>
                <a:spcPts val="0"/>
              </a:spcBef>
              <a:buSzTx/>
              <a:buNone/>
              <a:defRPr sz="6400">
                <a:solidFill>
                  <a:schemeClr val="accent1">
                    <a:hueOff val="47394"/>
                    <a:satOff val="-25753"/>
                    <a:lumOff val="-7544"/>
                  </a:schemeClr>
                </a:solidFill>
                <a:effectLst>
                  <a:outerShdw sx="100000" sy="100000" kx="0" ky="0" algn="b" rotWithShape="0" blurRad="88900" dist="38100" dir="2700000">
                    <a:srgbClr val="000000">
                      <a:alpha val="30000"/>
                    </a:srgbClr>
                  </a:outerShdw>
                </a:effectLst>
              </a:defRPr>
            </a:lvl1pPr>
          </a:lstStyle>
          <a:p>
            <a:pPr/>
            <a:r>
              <a:t>Title Text</a:t>
            </a:r>
          </a:p>
        </p:txBody>
      </p:sp>
      <p:sp>
        <p:nvSpPr>
          <p:cNvPr id="39" name="Shape 39"/>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1" showMasterPhAnim="1">
  <p:cSld name="Title &amp; Bullets">
    <p:spTree>
      <p:nvGrpSpPr>
        <p:cNvPr id="1" name=""/>
        <p:cNvGrpSpPr/>
        <p:nvPr/>
      </p:nvGrpSpPr>
      <p:grpSpPr>
        <a:xfrm>
          <a:off x="0" y="0"/>
          <a:ext cx="0" cy="0"/>
          <a:chOff x="0" y="0"/>
          <a:chExt cx="0" cy="0"/>
        </a:xfrm>
      </p:grpSpPr>
      <p:sp>
        <p:nvSpPr>
          <p:cNvPr id="46" name="Shape 46"/>
          <p:cNvSpPr/>
          <p:nvPr>
            <p:ph type="title"/>
          </p:nvPr>
        </p:nvSpPr>
        <p:spPr>
          <a:xfrm>
            <a:off x="437232" y="444500"/>
            <a:ext cx="12130336" cy="2159000"/>
          </a:xfrm>
          <a:prstGeom prst="rect">
            <a:avLst/>
          </a:prstGeom>
        </p:spPr>
        <p:txBody>
          <a:bodyPr/>
          <a:lstStyle/>
          <a:p>
            <a:pPr/>
            <a:r>
              <a:t>Title Text</a:t>
            </a:r>
          </a:p>
        </p:txBody>
      </p:sp>
      <p:sp>
        <p:nvSpPr>
          <p:cNvPr id="47" name="Shape 47"/>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8" name="Shape 48"/>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1" showMasterPhAnim="1">
  <p:cSld name="Blank">
    <p:spTree>
      <p:nvGrpSpPr>
        <p:cNvPr id="1" name=""/>
        <p:cNvGrpSpPr/>
        <p:nvPr/>
      </p:nvGrpSpPr>
      <p:grpSpPr>
        <a:xfrm>
          <a:off x="0" y="0"/>
          <a:ext cx="0" cy="0"/>
          <a:chOff x="0" y="0"/>
          <a:chExt cx="0" cy="0"/>
        </a:xfrm>
      </p:grpSpPr>
      <p:sp>
        <p:nvSpPr>
          <p:cNvPr id="55" name="Shape 55"/>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2"/>
          <p:cNvSpPr/>
          <p:nvPr>
            <p:ph type="title"/>
          </p:nvPr>
        </p:nvSpPr>
        <p:spPr>
          <a:xfrm>
            <a:off x="952500" y="4445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Shape 3"/>
          <p:cNvSpPr/>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hape 4"/>
          <p:cNvSpPr/>
          <p:nvPr>
            <p:ph type="sldNum" sz="quarter" idx="2"/>
          </p:nvPr>
        </p:nvSpPr>
        <p:spPr>
          <a:xfrm>
            <a:off x="6311798" y="9251950"/>
            <a:ext cx="368504" cy="381000"/>
          </a:xfrm>
          <a:prstGeom prst="rect">
            <a:avLst/>
          </a:prstGeom>
          <a:ln w="12700">
            <a:miter lim="400000"/>
          </a:ln>
        </p:spPr>
        <p:txBody>
          <a:bodyPr wrap="none" lIns="50800" tIns="50800" rIns="50800" bIns="50800">
            <a:normAutofit fontScale="100000" lnSpcReduction="0"/>
          </a:bodyPr>
          <a:lstStyle>
            <a:lvl1pPr>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1pPr>
      <a:lvl2pPr marL="0" marR="0" indent="2286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2pPr>
      <a:lvl3pPr marL="0" marR="0" indent="4572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3pPr>
      <a:lvl4pPr marL="0" marR="0" indent="6858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4pPr>
      <a:lvl5pPr marL="0" marR="0" indent="9144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5pPr>
      <a:lvl6pPr marL="0" marR="0" indent="11430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6pPr>
      <a:lvl7pPr marL="0" marR="0" indent="13716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7pPr>
      <a:lvl8pPr marL="0" marR="0" indent="16002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8pPr>
      <a:lvl9pPr marL="0" marR="0" indent="18288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9pPr>
    </p:titleStyle>
    <p:bodyStyle>
      <a:lvl1pPr marL="444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1pPr>
      <a:lvl2pPr marL="889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2pPr>
      <a:lvl3pPr marL="1333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3pPr>
      <a:lvl4pPr marL="1778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4pPr>
      <a:lvl5pPr marL="2222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5pPr>
      <a:lvl6pPr marL="2667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6pPr>
      <a:lvl7pPr marL="3111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7pPr>
      <a:lvl8pPr marL="3556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8pPr>
      <a:lvl9pPr marL="4000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e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www.inf.ed.ac.uk/teaching/courses/it/" TargetMode="External"/><Relationship Id="rId3"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www.inf.ed.ac.uk/teaching/courses/it/" TargetMode="Externa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jpe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tif"/></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jpe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youtu.be/OLSsswr6z9Y" TargetMode="Externa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13.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5.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18.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png"/><Relationship Id="rId3" Type="http://schemas.openxmlformats.org/officeDocument/2006/relationships/image" Target="../media/image23.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24.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png"/><Relationship Id="rId3" Type="http://schemas.openxmlformats.org/officeDocument/2006/relationships/image" Target="../media/image29.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1.png"/><Relationship Id="rId3" Type="http://schemas.openxmlformats.org/officeDocument/2006/relationships/image" Target="../media/image32.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32.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2.png"/><Relationship Id="rId3" Type="http://schemas.openxmlformats.org/officeDocument/2006/relationships/hyperlink" Target="http://xkcd.com/1132/" TargetMode="Externa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4" name="Shape 64"/>
          <p:cNvSpPr/>
          <p:nvPr>
            <p:ph type="title"/>
          </p:nvPr>
        </p:nvSpPr>
        <p:spPr>
          <a:prstGeom prst="rect">
            <a:avLst/>
          </a:prstGeom>
        </p:spPr>
        <p:txBody>
          <a:bodyPr/>
          <a:lstStyle/>
          <a:p>
            <a:pPr/>
            <a:r>
              <a:t>Lecture 12: Further topics in Information Theory</a:t>
            </a:r>
          </a:p>
        </p:txBody>
      </p:sp>
      <p:sp>
        <p:nvSpPr>
          <p:cNvPr id="65" name="Shape 65"/>
          <p:cNvSpPr/>
          <p:nvPr>
            <p:ph type="body" idx="1"/>
          </p:nvPr>
        </p:nvSpPr>
        <p:spPr>
          <a:xfrm>
            <a:off x="952500" y="2609850"/>
            <a:ext cx="11099800" cy="6286501"/>
          </a:xfrm>
          <a:prstGeom prst="rect">
            <a:avLst/>
          </a:prstGeom>
        </p:spPr>
        <p:txBody>
          <a:bodyPr/>
          <a:lstStyle/>
          <a:p>
            <a:pPr/>
            <a:r>
              <a:t>Part 1: Continuation of Shannon’s paper</a:t>
            </a:r>
          </a:p>
          <a:p>
            <a:pPr/>
            <a:r>
              <a:t>Part 2: Determining authorship of </a:t>
            </a:r>
            <a:r>
              <a:rPr i="1"/>
              <a:t>The Federalist</a:t>
            </a:r>
            <a:r>
              <a:t> by Mosteller and Wallace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67" name="IMG_0608.jpeg"/>
          <p:cNvPicPr>
            <a:picLocks noChangeAspect="1"/>
          </p:cNvPicPr>
          <p:nvPr/>
        </p:nvPicPr>
        <p:blipFill>
          <a:blip r:embed="rId2">
            <a:extLst/>
          </a:blip>
          <a:stretch>
            <a:fillRect/>
          </a:stretch>
        </p:blipFill>
        <p:spPr>
          <a:xfrm>
            <a:off x="0" y="0"/>
            <a:ext cx="13004800" cy="9753600"/>
          </a:xfrm>
          <a:prstGeom prst="rect">
            <a:avLst/>
          </a:prstGeom>
          <a:ln w="12700">
            <a:miter lim="400000"/>
          </a:ln>
        </p:spPr>
      </p:pic>
      <p:sp>
        <p:nvSpPr>
          <p:cNvPr id="68" name="Shape 68"/>
          <p:cNvSpPr/>
          <p:nvPr/>
        </p:nvSpPr>
        <p:spPr>
          <a:xfrm>
            <a:off x="3856719" y="7391783"/>
            <a:ext cx="8900205" cy="1831745"/>
          </a:xfrm>
          <a:prstGeom prst="roundRect">
            <a:avLst>
              <a:gd name="adj" fmla="val 15781"/>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lnSpc>
                <a:spcPct val="90000"/>
              </a:lnSpc>
              <a:defRPr b="1" sz="1900">
                <a:latin typeface="+mj-lt"/>
                <a:ea typeface="+mj-ea"/>
                <a:cs typeface="+mj-cs"/>
                <a:sym typeface="Helvetica"/>
              </a:defRPr>
            </a:pPr>
            <a:r>
              <a:t>Notes:</a:t>
            </a:r>
          </a:p>
          <a:p>
            <a:pPr algn="l">
              <a:lnSpc>
                <a:spcPct val="90000"/>
              </a:lnSpc>
              <a:defRPr b="1" sz="1900">
                <a:latin typeface="+mj-lt"/>
                <a:ea typeface="+mj-ea"/>
                <a:cs typeface="+mj-cs"/>
                <a:sym typeface="Helvetica"/>
              </a:defRPr>
            </a:pPr>
            <a:r>
              <a:t>Each letter of a mystery text message was revealed one-by-one. Before each letter was revealed, plausible guesses were listed. The number of plausible guesses varies dramatically. The most information about the message is revealed when there were many guesses.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0" name="Shape 70"/>
          <p:cNvSpPr/>
          <p:nvPr>
            <p:ph type="title"/>
          </p:nvPr>
        </p:nvSpPr>
        <p:spPr>
          <a:xfrm>
            <a:off x="437232" y="461433"/>
            <a:ext cx="12130336" cy="2159001"/>
          </a:xfrm>
          <a:prstGeom prst="rect">
            <a:avLst/>
          </a:prstGeom>
        </p:spPr>
        <p:txBody>
          <a:bodyPr/>
          <a:lstStyle/>
          <a:p>
            <a:pPr/>
            <a:r>
              <a:t>Information content</a:t>
            </a:r>
          </a:p>
        </p:txBody>
      </p:sp>
      <p:sp>
        <p:nvSpPr>
          <p:cNvPr id="71" name="Shape 71"/>
          <p:cNvSpPr/>
          <p:nvPr>
            <p:ph type="body" idx="1"/>
          </p:nvPr>
        </p:nvSpPr>
        <p:spPr>
          <a:xfrm>
            <a:off x="952500" y="2609850"/>
            <a:ext cx="11099801" cy="6286501"/>
          </a:xfrm>
          <a:prstGeom prst="rect">
            <a:avLst/>
          </a:prstGeom>
        </p:spPr>
        <p:txBody>
          <a:bodyPr anchor="t"/>
          <a:lstStyle/>
          <a:p>
            <a:pPr/>
            <a:r>
              <a:t>Numbers in 0 to 63, such as 47=101111, need six bits of information</a:t>
            </a:r>
          </a:p>
          <a:p>
            <a:pPr/>
            <a:r>
              <a:t>If the numbers are equally probable, then being told the number has information content</a:t>
            </a:r>
          </a:p>
          <a:p>
            <a:pPr/>
          </a:p>
          <a:p>
            <a:pPr/>
            <a:r>
              <a:t>Each binary digit has one bit of information content</a:t>
            </a:r>
          </a:p>
        </p:txBody>
      </p:sp>
      <p:sp>
        <p:nvSpPr>
          <p:cNvPr id="72" name="Shape 72"/>
          <p:cNvSpPr/>
          <p:nvPr/>
        </p:nvSpPr>
        <p:spPr>
          <a:xfrm>
            <a:off x="-254087" y="9347200"/>
            <a:ext cx="11277774"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sz="2000">
                <a:latin typeface="+mj-lt"/>
                <a:ea typeface="+mj-ea"/>
                <a:cs typeface="+mj-cs"/>
                <a:sym typeface="Helvetica"/>
              </a:defRPr>
            </a:pPr>
            <a:r>
              <a:t>Adapted from </a:t>
            </a:r>
            <a:r>
              <a:rPr i="1"/>
              <a:t>Information Theory</a:t>
            </a:r>
            <a:r>
              <a:t> by Iain Murray, </a:t>
            </a:r>
            <a:r>
              <a:rPr u="sng">
                <a:hlinkClick r:id="rId2" invalidUrl="" action="" tgtFrame="" tooltip="" history="1" highlightClick="0" endSnd="0"/>
              </a:rPr>
              <a:t>http://www.inf.ed.ac.uk/teaching/courses/it/</a:t>
            </a:r>
          </a:p>
        </p:txBody>
      </p:sp>
      <p:pic>
        <p:nvPicPr>
          <p:cNvPr id="73" name="inf32.pdf"/>
          <p:cNvPicPr>
            <a:picLocks noChangeAspect="1"/>
          </p:cNvPicPr>
          <p:nvPr/>
        </p:nvPicPr>
        <p:blipFill>
          <a:blip r:embed="rId3">
            <a:extLst/>
          </a:blip>
          <a:stretch>
            <a:fillRect/>
          </a:stretch>
        </p:blipFill>
        <p:spPr>
          <a:xfrm>
            <a:off x="5257688" y="5372364"/>
            <a:ext cx="2489424" cy="761472"/>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5" name="Shape 75"/>
          <p:cNvSpPr/>
          <p:nvPr>
            <p:ph type="title"/>
          </p:nvPr>
        </p:nvSpPr>
        <p:spPr>
          <a:xfrm>
            <a:off x="437232" y="101600"/>
            <a:ext cx="12130336" cy="2159000"/>
          </a:xfrm>
          <a:prstGeom prst="rect">
            <a:avLst/>
          </a:prstGeom>
        </p:spPr>
        <p:txBody>
          <a:bodyPr/>
          <a:lstStyle/>
          <a:p>
            <a:pPr/>
            <a:r>
              <a:t>Guess a number from 0 to 63</a:t>
            </a:r>
          </a:p>
        </p:txBody>
      </p:sp>
      <p:sp>
        <p:nvSpPr>
          <p:cNvPr id="76" name="Shape 76"/>
          <p:cNvSpPr/>
          <p:nvPr>
            <p:ph type="body" idx="1"/>
          </p:nvPr>
        </p:nvSpPr>
        <p:spPr>
          <a:xfrm>
            <a:off x="952500" y="2195115"/>
            <a:ext cx="11099801" cy="6531770"/>
          </a:xfrm>
          <a:prstGeom prst="rect">
            <a:avLst/>
          </a:prstGeom>
        </p:spPr>
        <p:txBody>
          <a:bodyPr anchor="t"/>
          <a:lstStyle/>
          <a:p>
            <a:pPr marL="493888" indent="-493888">
              <a:defRPr sz="4000"/>
            </a:pPr>
            <a:r>
              <a:t>Is the number 36? </a:t>
            </a:r>
            <a:r>
              <a:rPr b="0" i="1"/>
              <a:t>a</a:t>
            </a:r>
            <a:r>
              <a:rPr b="0" baseline="-5999"/>
              <a:t>1</a:t>
            </a:r>
            <a:r>
              <a:t>=</a:t>
            </a:r>
            <a:r>
              <a:rPr>
                <a:solidFill>
                  <a:schemeClr val="accent5"/>
                </a:solidFill>
              </a:rPr>
              <a:t>No</a:t>
            </a:r>
          </a:p>
          <a:p>
            <a:pPr marL="493888" indent="-493888">
              <a:defRPr sz="4000"/>
            </a:pPr>
          </a:p>
          <a:p>
            <a:pPr marL="493888" indent="-493888">
              <a:defRPr sz="4000"/>
            </a:pPr>
            <a:r>
              <a:t>Is the number 42? </a:t>
            </a:r>
            <a:r>
              <a:rPr b="0" i="1"/>
              <a:t>a</a:t>
            </a:r>
            <a:r>
              <a:rPr b="0" baseline="-5999"/>
              <a:t>2</a:t>
            </a:r>
            <a:r>
              <a:t>=</a:t>
            </a:r>
            <a:r>
              <a:rPr>
                <a:solidFill>
                  <a:schemeClr val="accent5"/>
                </a:solidFill>
              </a:rPr>
              <a:t>No</a:t>
            </a:r>
          </a:p>
          <a:p>
            <a:pPr marL="493888" indent="-493888">
              <a:defRPr sz="4000"/>
            </a:pPr>
          </a:p>
          <a:p>
            <a:pPr marL="493888" indent="-493888">
              <a:defRPr sz="4000"/>
            </a:pPr>
            <a:r>
              <a:t>Is the number 47? </a:t>
            </a:r>
            <a:r>
              <a:rPr b="0" i="1"/>
              <a:t>a</a:t>
            </a:r>
            <a:r>
              <a:rPr b="0" baseline="-5999"/>
              <a:t>3</a:t>
            </a:r>
            <a:r>
              <a:t>=</a:t>
            </a:r>
            <a:r>
              <a:rPr>
                <a:solidFill>
                  <a:schemeClr val="accent2"/>
                </a:solidFill>
              </a:rPr>
              <a:t>Yes</a:t>
            </a:r>
          </a:p>
        </p:txBody>
      </p:sp>
      <p:sp>
        <p:nvSpPr>
          <p:cNvPr id="77" name="Shape 77"/>
          <p:cNvSpPr/>
          <p:nvPr/>
        </p:nvSpPr>
        <p:spPr>
          <a:xfrm>
            <a:off x="-254087" y="9347200"/>
            <a:ext cx="11277774"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sz="2000">
                <a:latin typeface="+mj-lt"/>
                <a:ea typeface="+mj-ea"/>
                <a:cs typeface="+mj-cs"/>
                <a:sym typeface="Helvetica"/>
              </a:defRPr>
            </a:pPr>
            <a:r>
              <a:t>Adapted from </a:t>
            </a:r>
            <a:r>
              <a:rPr i="1"/>
              <a:t>Information Theory</a:t>
            </a:r>
            <a:r>
              <a:t> by Iain Murray, </a:t>
            </a:r>
            <a:r>
              <a:rPr u="sng">
                <a:hlinkClick r:id="rId2" invalidUrl="" action="" tgtFrame="" tooltip="" history="1" highlightClick="0" endSnd="0"/>
              </a:rPr>
              <a:t>http://www.inf.ed.ac.uk/teaching/courses/it/</a:t>
            </a:r>
          </a:p>
        </p:txBody>
      </p:sp>
      <p:pic>
        <p:nvPicPr>
          <p:cNvPr id="78" name="inf26.pdf"/>
          <p:cNvPicPr>
            <a:picLocks noChangeAspect="1"/>
          </p:cNvPicPr>
          <p:nvPr/>
        </p:nvPicPr>
        <p:blipFill>
          <a:blip r:embed="rId3">
            <a:extLst/>
          </a:blip>
          <a:stretch>
            <a:fillRect/>
          </a:stretch>
        </p:blipFill>
        <p:spPr>
          <a:xfrm>
            <a:off x="3573528" y="3232719"/>
            <a:ext cx="5857744" cy="680568"/>
          </a:xfrm>
          <a:prstGeom prst="rect">
            <a:avLst/>
          </a:prstGeom>
          <a:ln w="12700">
            <a:miter lim="400000"/>
          </a:ln>
        </p:spPr>
      </p:pic>
      <p:pic>
        <p:nvPicPr>
          <p:cNvPr id="79" name="inf27.pdf"/>
          <p:cNvPicPr>
            <a:picLocks noChangeAspect="1"/>
          </p:cNvPicPr>
          <p:nvPr/>
        </p:nvPicPr>
        <p:blipFill>
          <a:blip r:embed="rId4">
            <a:extLst/>
          </a:blip>
          <a:stretch>
            <a:fillRect/>
          </a:stretch>
        </p:blipFill>
        <p:spPr>
          <a:xfrm>
            <a:off x="3232772" y="5132865"/>
            <a:ext cx="6539256" cy="656270"/>
          </a:xfrm>
          <a:prstGeom prst="rect">
            <a:avLst/>
          </a:prstGeom>
          <a:ln w="12700">
            <a:miter lim="400000"/>
          </a:ln>
        </p:spPr>
      </p:pic>
      <p:pic>
        <p:nvPicPr>
          <p:cNvPr id="80" name="inf28.pdf"/>
          <p:cNvPicPr>
            <a:picLocks noChangeAspect="1"/>
          </p:cNvPicPr>
          <p:nvPr/>
        </p:nvPicPr>
        <p:blipFill>
          <a:blip r:embed="rId5">
            <a:extLst/>
          </a:blip>
          <a:stretch>
            <a:fillRect/>
          </a:stretch>
        </p:blipFill>
        <p:spPr>
          <a:xfrm>
            <a:off x="2734650" y="7092494"/>
            <a:ext cx="7535500" cy="665597"/>
          </a:xfrm>
          <a:prstGeom prst="rect">
            <a:avLst/>
          </a:prstGeom>
          <a:ln w="12700">
            <a:miter lim="400000"/>
          </a:ln>
        </p:spPr>
      </p:pic>
      <p:sp>
        <p:nvSpPr>
          <p:cNvPr id="81" name="Shape 81"/>
          <p:cNvSpPr/>
          <p:nvPr/>
        </p:nvSpPr>
        <p:spPr>
          <a:xfrm>
            <a:off x="1227199" y="8318500"/>
            <a:ext cx="10550402" cy="660401"/>
          </a:xfrm>
          <a:prstGeom prst="rect">
            <a:avLst/>
          </a:prstGeom>
          <a:solidFill>
            <a:srgbClr val="FFFDAA"/>
          </a:solidFill>
          <a:ln w="12700">
            <a:solidFill>
              <a:schemeClr val="accent3">
                <a:satOff val="18648"/>
                <a:lumOff val="5971"/>
              </a:schemeClr>
            </a:solidFill>
            <a:miter lim="400000"/>
          </a:ln>
          <a:effectLst>
            <a:outerShdw sx="100000" sy="100000" kx="0" ky="0" algn="b" rotWithShape="0" blurRad="63500" dist="50800" dir="2689991">
              <a:srgbClr val="000000">
                <a:alpha val="20033"/>
              </a:srgbClr>
            </a:outerShdw>
          </a:effectLst>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mj-lt"/>
                <a:ea typeface="+mj-ea"/>
                <a:cs typeface="+mj-cs"/>
                <a:sym typeface="Helvetica"/>
              </a:defRPr>
            </a:lvl1pPr>
          </a:lstStyle>
          <a:p>
            <a:pPr/>
            <a:r>
              <a:t>Total information: 0.0227+0.0231+5.9532 = 6 bits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3" name="Shape 83"/>
          <p:cNvSpPr/>
          <p:nvPr>
            <p:ph type="title"/>
          </p:nvPr>
        </p:nvSpPr>
        <p:spPr>
          <a:xfrm>
            <a:off x="437232" y="63500"/>
            <a:ext cx="12130336" cy="2159000"/>
          </a:xfrm>
          <a:prstGeom prst="rect">
            <a:avLst/>
          </a:prstGeom>
        </p:spPr>
        <p:txBody>
          <a:bodyPr/>
          <a:lstStyle/>
          <a:p>
            <a:pPr/>
            <a:r>
              <a:t>Shannon entropy</a:t>
            </a:r>
          </a:p>
        </p:txBody>
      </p:sp>
      <p:sp>
        <p:nvSpPr>
          <p:cNvPr id="84" name="Shape 84"/>
          <p:cNvSpPr/>
          <p:nvPr>
            <p:ph type="body" sz="half" idx="1"/>
          </p:nvPr>
        </p:nvSpPr>
        <p:spPr>
          <a:xfrm>
            <a:off x="952500" y="1803400"/>
            <a:ext cx="11099800" cy="3885159"/>
          </a:xfrm>
          <a:prstGeom prst="rect">
            <a:avLst/>
          </a:prstGeom>
        </p:spPr>
        <p:txBody>
          <a:bodyPr anchor="t"/>
          <a:lstStyle/>
          <a:p>
            <a:pPr marL="382763" indent="-382763">
              <a:spcBef>
                <a:spcPts val="1700"/>
              </a:spcBef>
              <a:defRPr sz="3100"/>
            </a:pPr>
            <a:r>
              <a:t>Source has syllables with probabilities </a:t>
            </a:r>
            <a:r>
              <a:rPr b="0" i="1"/>
              <a:t>p</a:t>
            </a:r>
            <a:r>
              <a:rPr b="0" baseline="-5999"/>
              <a:t>1</a:t>
            </a:r>
            <a:r>
              <a:rPr b="0"/>
              <a:t>, </a:t>
            </a:r>
            <a:r>
              <a:rPr b="0" i="1"/>
              <a:t>p</a:t>
            </a:r>
            <a:r>
              <a:rPr b="0" baseline="-5999"/>
              <a:t>2</a:t>
            </a:r>
            <a:r>
              <a:rPr b="0"/>
              <a:t>, …, </a:t>
            </a:r>
            <a:r>
              <a:rPr b="0" i="1"/>
              <a:t>p</a:t>
            </a:r>
            <a:r>
              <a:rPr b="0" baseline="-5999" i="1"/>
              <a:t>n</a:t>
            </a:r>
          </a:p>
          <a:p>
            <a:pPr marL="382763" indent="-382763">
              <a:spcBef>
                <a:spcPts val="1700"/>
              </a:spcBef>
              <a:defRPr sz="3100"/>
            </a:pPr>
            <a:r>
              <a:t>Shannon entropy: average information content of a source</a:t>
            </a:r>
          </a:p>
          <a:p>
            <a:pPr marL="382763" indent="-382763">
              <a:spcBef>
                <a:spcPts val="1700"/>
              </a:spcBef>
              <a:defRPr sz="3100"/>
            </a:pPr>
          </a:p>
          <a:p>
            <a:pPr marL="382763" indent="-382763">
              <a:spcBef>
                <a:spcPts val="800"/>
              </a:spcBef>
              <a:defRPr sz="3100"/>
            </a:pPr>
          </a:p>
          <a:p>
            <a:pPr marL="382763" indent="-382763">
              <a:spcBef>
                <a:spcPts val="1700"/>
              </a:spcBef>
              <a:defRPr sz="3100"/>
            </a:pPr>
            <a:r>
              <a:t>Example: unfair coin </a:t>
            </a:r>
            <a:r>
              <a:rPr b="0" i="1"/>
              <a:t>p</a:t>
            </a:r>
            <a:r>
              <a:rPr b="0" baseline="-5999"/>
              <a:t>1</a:t>
            </a:r>
            <a:r>
              <a:rPr b="0"/>
              <a:t> = </a:t>
            </a:r>
            <a:r>
              <a:rPr b="0" i="1"/>
              <a:t>p</a:t>
            </a:r>
            <a:r>
              <a:rPr b="0"/>
              <a:t>, </a:t>
            </a:r>
            <a:r>
              <a:rPr b="0" i="1"/>
              <a:t>p</a:t>
            </a:r>
            <a:r>
              <a:rPr b="0" baseline="-5999"/>
              <a:t>2</a:t>
            </a:r>
            <a:r>
              <a:rPr b="0"/>
              <a:t> = 1–</a:t>
            </a:r>
            <a:r>
              <a:rPr b="0" i="1"/>
              <a:t>p</a:t>
            </a:r>
          </a:p>
        </p:txBody>
      </p:sp>
      <p:pic>
        <p:nvPicPr>
          <p:cNvPr id="85" name="lec6_1.pdf"/>
          <p:cNvPicPr>
            <a:picLocks noChangeAspect="1"/>
          </p:cNvPicPr>
          <p:nvPr/>
        </p:nvPicPr>
        <p:blipFill>
          <a:blip r:embed="rId2">
            <a:extLst/>
          </a:blip>
          <a:stretch>
            <a:fillRect/>
          </a:stretch>
        </p:blipFill>
        <p:spPr>
          <a:xfrm>
            <a:off x="1049337" y="6221257"/>
            <a:ext cx="4937883" cy="3456518"/>
          </a:xfrm>
          <a:prstGeom prst="rect">
            <a:avLst/>
          </a:prstGeom>
          <a:ln w="12700">
            <a:miter lim="400000"/>
          </a:ln>
        </p:spPr>
      </p:pic>
      <p:pic>
        <p:nvPicPr>
          <p:cNvPr id="86" name="inf30.pdf"/>
          <p:cNvPicPr>
            <a:picLocks noChangeAspect="1"/>
          </p:cNvPicPr>
          <p:nvPr/>
        </p:nvPicPr>
        <p:blipFill>
          <a:blip r:embed="rId3">
            <a:extLst/>
          </a:blip>
          <a:stretch>
            <a:fillRect/>
          </a:stretch>
        </p:blipFill>
        <p:spPr>
          <a:xfrm>
            <a:off x="5174174" y="3355224"/>
            <a:ext cx="2656452" cy="895109"/>
          </a:xfrm>
          <a:prstGeom prst="rect">
            <a:avLst/>
          </a:prstGeom>
          <a:ln w="12700">
            <a:miter lim="400000"/>
          </a:ln>
        </p:spPr>
      </p:pic>
      <p:pic>
        <p:nvPicPr>
          <p:cNvPr id="87" name="inf31.pdf"/>
          <p:cNvPicPr>
            <a:picLocks noChangeAspect="1"/>
          </p:cNvPicPr>
          <p:nvPr/>
        </p:nvPicPr>
        <p:blipFill>
          <a:blip r:embed="rId4">
            <a:extLst/>
          </a:blip>
          <a:stretch>
            <a:fillRect/>
          </a:stretch>
        </p:blipFill>
        <p:spPr>
          <a:xfrm>
            <a:off x="3690056" y="5383057"/>
            <a:ext cx="5624688" cy="422665"/>
          </a:xfrm>
          <a:prstGeom prst="rect">
            <a:avLst/>
          </a:prstGeom>
          <a:ln w="12700">
            <a:miter lim="400000"/>
          </a:ln>
        </p:spPr>
      </p:pic>
      <p:sp>
        <p:nvSpPr>
          <p:cNvPr id="88" name="Shape 88"/>
          <p:cNvSpPr/>
          <p:nvPr/>
        </p:nvSpPr>
        <p:spPr>
          <a:xfrm>
            <a:off x="6052820" y="6559550"/>
            <a:ext cx="6391563" cy="2451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1" sz="3100">
                <a:latin typeface="+mj-lt"/>
                <a:ea typeface="+mj-ea"/>
                <a:cs typeface="+mj-cs"/>
                <a:sym typeface="Helvetica"/>
              </a:defRPr>
            </a:pPr>
            <a:r>
              <a:t>Makes sense:</a:t>
            </a:r>
          </a:p>
          <a:p>
            <a:pPr marL="382763" indent="-382763" algn="l">
              <a:buSzPct val="75000"/>
              <a:buChar char="•"/>
              <a:defRPr b="1" sz="3100">
                <a:latin typeface="+mj-lt"/>
                <a:ea typeface="+mj-ea"/>
                <a:cs typeface="+mj-cs"/>
                <a:sym typeface="Helvetica"/>
              </a:defRPr>
            </a:pPr>
            <a:r>
              <a:rPr b="0" i="1"/>
              <a:t>H</a:t>
            </a:r>
            <a:r>
              <a:rPr b="0"/>
              <a:t>=0</a:t>
            </a:r>
            <a:r>
              <a:t> if </a:t>
            </a:r>
            <a:r>
              <a:rPr b="0" i="1"/>
              <a:t>p</a:t>
            </a:r>
            <a:r>
              <a:rPr b="0"/>
              <a:t>=0</a:t>
            </a:r>
            <a:r>
              <a:t> or </a:t>
            </a:r>
            <a:r>
              <a:rPr b="0" i="1"/>
              <a:t>p</a:t>
            </a:r>
            <a:r>
              <a:rPr b="0"/>
              <a:t>=1</a:t>
            </a:r>
            <a:r>
              <a:t> as we gain no information</a:t>
            </a:r>
          </a:p>
          <a:p>
            <a:pPr marL="382763" indent="-382763" algn="l">
              <a:buSzPct val="75000"/>
              <a:buChar char="•"/>
              <a:defRPr b="1" sz="3100">
                <a:latin typeface="+mj-lt"/>
                <a:ea typeface="+mj-ea"/>
                <a:cs typeface="+mj-cs"/>
                <a:sym typeface="Helvetica"/>
              </a:defRPr>
            </a:pPr>
            <a:r>
              <a:rPr b="0" i="1"/>
              <a:t>H</a:t>
            </a:r>
            <a:r>
              <a:t> is maximum if </a:t>
            </a:r>
            <a:r>
              <a:rPr b="0" i="1"/>
              <a:t>p</a:t>
            </a:r>
            <a:r>
              <a:rPr b="0"/>
              <a:t>=0.5</a:t>
            </a:r>
            <a:r>
              <a:t> as it’s the most uncertain case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90" name="Shape 90"/>
          <p:cNvSpPr/>
          <p:nvPr>
            <p:ph type="title"/>
          </p:nvPr>
        </p:nvSpPr>
        <p:spPr>
          <a:prstGeom prst="rect">
            <a:avLst/>
          </a:prstGeom>
        </p:spPr>
        <p:txBody>
          <a:bodyPr/>
          <a:lstStyle/>
          <a:p>
            <a:pPr/>
            <a:r>
              <a:t>Shannon’s fundamental theorem</a:t>
            </a:r>
          </a:p>
        </p:txBody>
      </p:sp>
      <p:sp>
        <p:nvSpPr>
          <p:cNvPr id="91" name="Shape 91"/>
          <p:cNvSpPr/>
          <p:nvPr>
            <p:ph type="body" sz="half" idx="1"/>
          </p:nvPr>
        </p:nvSpPr>
        <p:spPr>
          <a:xfrm>
            <a:off x="952500" y="6037163"/>
            <a:ext cx="11099800" cy="2852837"/>
          </a:xfrm>
          <a:prstGeom prst="rect">
            <a:avLst/>
          </a:prstGeom>
        </p:spPr>
        <p:txBody>
          <a:bodyPr/>
          <a:lstStyle/>
          <a:p>
            <a:pPr marL="391159" indent="-391159" defTabSz="514095">
              <a:spcBef>
                <a:spcPts val="2200"/>
              </a:spcBef>
              <a:defRPr sz="3168"/>
            </a:pPr>
            <a:r>
              <a:t>Suppose the information source has entropy </a:t>
            </a:r>
            <a:r>
              <a:rPr b="0" i="1"/>
              <a:t>H</a:t>
            </a:r>
            <a:r>
              <a:t> and the channel has capacity </a:t>
            </a:r>
            <a:r>
              <a:rPr b="0" i="1"/>
              <a:t>C</a:t>
            </a:r>
          </a:p>
          <a:p>
            <a:pPr marL="391159" indent="-391159" defTabSz="514095">
              <a:spcBef>
                <a:spcPts val="2200"/>
              </a:spcBef>
              <a:defRPr sz="3168"/>
            </a:pPr>
            <a:r>
              <a:t>One can encode the output of the source to that it can be transmitted a rate of up to </a:t>
            </a:r>
            <a:r>
              <a:rPr b="0" i="1"/>
              <a:t>C</a:t>
            </a:r>
            <a:r>
              <a:rPr b="0"/>
              <a:t>/</a:t>
            </a:r>
            <a:r>
              <a:rPr b="0" i="1"/>
              <a:t>H</a:t>
            </a:r>
            <a:r>
              <a:t> symbols per second</a:t>
            </a:r>
          </a:p>
          <a:p>
            <a:pPr marL="391159" indent="-391159" defTabSz="514095">
              <a:spcBef>
                <a:spcPts val="2200"/>
              </a:spcBef>
              <a:defRPr sz="3168"/>
            </a:pPr>
            <a:r>
              <a:t>It is not possible to transmit faster than </a:t>
            </a:r>
            <a:r>
              <a:rPr b="0" i="1"/>
              <a:t>C</a:t>
            </a:r>
            <a:r>
              <a:rPr b="0"/>
              <a:t>/</a:t>
            </a:r>
            <a:r>
              <a:rPr b="0" i="1"/>
              <a:t>H</a:t>
            </a:r>
          </a:p>
        </p:txBody>
      </p:sp>
      <p:pic>
        <p:nvPicPr>
          <p:cNvPr id="92" name="image43.jpg" descr="fundthm.jpg"/>
          <p:cNvPicPr>
            <a:picLocks noChangeAspect="1"/>
          </p:cNvPicPr>
          <p:nvPr/>
        </p:nvPicPr>
        <p:blipFill>
          <a:blip r:embed="rId2">
            <a:extLst/>
          </a:blip>
          <a:stretch>
            <a:fillRect/>
          </a:stretch>
        </p:blipFill>
        <p:spPr>
          <a:xfrm>
            <a:off x="1124572" y="2290232"/>
            <a:ext cx="10755656" cy="2852838"/>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94" name="Shape 94"/>
          <p:cNvSpPr/>
          <p:nvPr>
            <p:ph type="title"/>
          </p:nvPr>
        </p:nvSpPr>
        <p:spPr>
          <a:prstGeom prst="rect">
            <a:avLst/>
          </a:prstGeom>
        </p:spPr>
        <p:txBody>
          <a:bodyPr/>
          <a:lstStyle/>
          <a:p>
            <a:pPr/>
            <a:r>
              <a:t>Python examples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96" name="Shape 96"/>
          <p:cNvSpPr/>
          <p:nvPr>
            <p:ph type="title"/>
          </p:nvPr>
        </p:nvSpPr>
        <p:spPr>
          <a:prstGeom prst="rect">
            <a:avLst/>
          </a:prstGeom>
        </p:spPr>
        <p:txBody>
          <a:bodyPr/>
          <a:lstStyle/>
          <a:p>
            <a:pPr/>
            <a:r>
              <a:t>Dictionary example</a:t>
            </a:r>
          </a:p>
        </p:txBody>
      </p:sp>
      <p:sp>
        <p:nvSpPr>
          <p:cNvPr id="97" name="Shape 97"/>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p>
        </p:txBody>
      </p:sp>
      <p:sp>
        <p:nvSpPr>
          <p:cNvPr id="98" name="Shape 98"/>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Input program</a:t>
            </a:r>
          </a:p>
        </p:txBody>
      </p:sp>
      <p:sp>
        <p:nvSpPr>
          <p:cNvPr id="99" name="Shape 99"/>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Output</a:t>
            </a:r>
          </a:p>
        </p:txBody>
      </p:sp>
      <p:sp>
        <p:nvSpPr>
          <p:cNvPr id="100" name="Shape 100"/>
          <p:cNvSpPr/>
          <p:nvPr/>
        </p:nvSpPr>
        <p:spPr>
          <a:xfrm>
            <a:off x="1135826" y="2832099"/>
            <a:ext cx="4663698" cy="6197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List recap</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a=[</a:t>
            </a:r>
            <a:r>
              <a:rPr>
                <a:solidFill>
                  <a:srgbClr val="0433FF"/>
                </a:solidFill>
              </a:rPr>
              <a:t>1</a:t>
            </a:r>
            <a:r>
              <a:t>,</a:t>
            </a:r>
            <a:r>
              <a:rPr>
                <a:solidFill>
                  <a:srgbClr val="0433FF"/>
                </a:solidFill>
              </a:rPr>
              <a:t>2</a:t>
            </a:r>
            <a:r>
              <a:t>,</a:t>
            </a:r>
            <a:r>
              <a:rPr>
                <a:solidFill>
                  <a:srgbClr val="0433FF"/>
                </a:solidFill>
              </a:rPr>
              <a:t>6</a:t>
            </a:r>
            <a:r>
              <a:t>,</a:t>
            </a:r>
            <a:r>
              <a:rPr>
                <a:solidFill>
                  <a:srgbClr val="0433FF"/>
                </a:solidFill>
              </a:rPr>
              <a:t>4</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r>
              <a:rPr>
                <a:solidFill>
                  <a:srgbClr val="000000"/>
                </a:solidFill>
              </a:rPr>
              <a:t> a[</a:t>
            </a:r>
            <a:r>
              <a:rPr>
                <a:solidFill>
                  <a:srgbClr val="0433FF"/>
                </a:solidFill>
              </a:rPr>
              <a:t>1</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Modify the list and print it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a[</a:t>
            </a:r>
            <a:r>
              <a:rPr>
                <a:solidFill>
                  <a:srgbClr val="0433FF"/>
                </a:solidFill>
              </a:rPr>
              <a:t>3</a:t>
            </a:r>
            <a:r>
              <a:t>]=</a:t>
            </a:r>
            <a:r>
              <a:rPr>
                <a:solidFill>
                  <a:srgbClr val="0433FF"/>
                </a:solidFill>
              </a:rPr>
              <a:t>10</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r>
              <a:rPr>
                <a:solidFill>
                  <a:srgbClr val="000000"/>
                </a:solidFill>
              </a:rPr>
              <a:t> a</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Initialize a dictionary</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000000"/>
                </a:solidFill>
              </a:rPr>
              <a:t>b={</a:t>
            </a:r>
            <a:r>
              <a:t>'alice'</a:t>
            </a:r>
            <a:r>
              <a:rPr>
                <a:solidFill>
                  <a:srgbClr val="000000"/>
                </a:solidFill>
              </a:rPr>
              <a:t>:</a:t>
            </a:r>
            <a:r>
              <a:rPr>
                <a:solidFill>
                  <a:srgbClr val="0433FF"/>
                </a:solidFill>
              </a:rPr>
              <a:t>67</a:t>
            </a:r>
            <a:r>
              <a:rPr>
                <a:solidFill>
                  <a:srgbClr val="000000"/>
                </a:solidFill>
              </a:rPr>
              <a:t>,</a:t>
            </a:r>
            <a:r>
              <a:t>'bob'</a:t>
            </a:r>
            <a:r>
              <a:rPr>
                <a:solidFill>
                  <a:srgbClr val="000000"/>
                </a:solidFill>
              </a:rPr>
              <a:t>:</a:t>
            </a:r>
            <a:r>
              <a:rPr>
                <a:solidFill>
                  <a:srgbClr val="0433FF"/>
                </a:solidFill>
              </a:rPr>
              <a:t>32</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AF5F00"/>
                </a:solidFill>
              </a:rPr>
              <a:t>print</a:t>
            </a:r>
            <a:r>
              <a:rPr>
                <a:solidFill>
                  <a:srgbClr val="000000"/>
                </a:solidFill>
              </a:rPr>
              <a:t> b[</a:t>
            </a:r>
            <a:r>
              <a:t>'alice'</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Add another dictionary element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000000"/>
                </a:solidFill>
              </a:rPr>
              <a:t>b[</a:t>
            </a:r>
            <a:r>
              <a:t>'charlie'</a:t>
            </a:r>
            <a:r>
              <a:rPr>
                <a:solidFill>
                  <a:srgbClr val="000000"/>
                </a:solidFill>
              </a:rPr>
              <a:t>]=</a:t>
            </a:r>
            <a:r>
              <a:rPr>
                <a:solidFill>
                  <a:srgbClr val="0433FF"/>
                </a:solidFill>
              </a:rPr>
              <a:t>12</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r>
              <a:rPr>
                <a:solidFill>
                  <a:srgbClr val="000000"/>
                </a:solidFill>
              </a:rPr>
              <a:t> b</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Print the keys of the dictionary</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rPr>
                <a:solidFill>
                  <a:srgbClr val="AF5F00"/>
                </a:solidFill>
              </a:rPr>
              <a:t>print</a:t>
            </a:r>
            <a:r>
              <a:t> b.keys()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Loop using keys and values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rPr>
                <a:solidFill>
                  <a:srgbClr val="E539E5"/>
                </a:solidFill>
              </a:rPr>
              <a:t>for</a:t>
            </a:r>
            <a:r>
              <a:t> c,d </a:t>
            </a:r>
            <a:r>
              <a:rPr>
                <a:solidFill>
                  <a:schemeClr val="accent2"/>
                </a:solidFill>
              </a:rPr>
              <a:t>in</a:t>
            </a:r>
            <a:r>
              <a:t> b.iteritems():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rPr>
                <a:solidFill>
                  <a:srgbClr val="000000"/>
                </a:solidFill>
              </a:rPr>
              <a:t>    </a:t>
            </a:r>
            <a:r>
              <a:t>print</a:t>
            </a:r>
            <a:r>
              <a:rPr>
                <a:solidFill>
                  <a:srgbClr val="000000"/>
                </a:solidFill>
              </a:rPr>
              <a:t> c,d</a:t>
            </a:r>
          </a:p>
        </p:txBody>
      </p:sp>
      <p:sp>
        <p:nvSpPr>
          <p:cNvPr id="101" name="Shape 101"/>
          <p:cNvSpPr/>
          <p:nvPr/>
        </p:nvSpPr>
        <p:spPr>
          <a:xfrm>
            <a:off x="7186736" y="2984500"/>
            <a:ext cx="5313612" cy="2641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[1, 2, 6, 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67</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{'charlie': 12, 'bob': 32, 'alice': 67}</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['charlie', 'bob', 'alice']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charlie 12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bob 32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alice 67</a:t>
            </a:r>
          </a:p>
        </p:txBody>
      </p:sp>
      <p:sp>
        <p:nvSpPr>
          <p:cNvPr id="102" name="Shape 102"/>
          <p:cNvSpPr/>
          <p:nvPr/>
        </p:nvSpPr>
        <p:spPr>
          <a:xfrm>
            <a:off x="97383" y="9213849"/>
            <a:ext cx="2536479"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sz="2400">
                <a:latin typeface="+mj-lt"/>
                <a:ea typeface="+mj-ea"/>
                <a:cs typeface="+mj-cs"/>
                <a:sym typeface="Helvetica"/>
              </a:defRPr>
            </a:lvl1pPr>
          </a:lstStyle>
          <a:p>
            <a:pPr/>
            <a:r>
              <a:t>Example: dict.py</a:t>
            </a:r>
          </a:p>
        </p:txBody>
      </p:sp>
      <p:sp>
        <p:nvSpPr>
          <p:cNvPr id="103" name="Shape 103"/>
          <p:cNvSpPr/>
          <p:nvPr/>
        </p:nvSpPr>
        <p:spPr>
          <a:xfrm>
            <a:off x="6839764" y="6865560"/>
            <a:ext cx="5866360" cy="2628901"/>
          </a:xfrm>
          <a:prstGeom prst="roundRect">
            <a:avLst>
              <a:gd name="adj" fmla="val 10996"/>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sz="2100">
                <a:latin typeface="+mj-lt"/>
                <a:ea typeface="+mj-ea"/>
                <a:cs typeface="+mj-cs"/>
                <a:sym typeface="Helvetica"/>
              </a:defRPr>
            </a:pPr>
            <a:r>
              <a:t>Notes:</a:t>
            </a:r>
          </a:p>
          <a:p>
            <a:pPr algn="l">
              <a:defRPr b="1" sz="2100">
                <a:latin typeface="+mj-lt"/>
                <a:ea typeface="+mj-ea"/>
                <a:cs typeface="+mj-cs"/>
                <a:sym typeface="Helvetica"/>
              </a:defRPr>
            </a:pPr>
            <a:r>
              <a:t>In a list, the entries are indexed by integers starting from zero. A dictionary is a more general data structure, where its entries can be indexed by any string. This a very similar to the organization of a physical dictionary.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5" name="Shape 105"/>
          <p:cNvSpPr/>
          <p:nvPr>
            <p:ph type="title"/>
          </p:nvPr>
        </p:nvSpPr>
        <p:spPr>
          <a:prstGeom prst="rect">
            <a:avLst/>
          </a:prstGeom>
        </p:spPr>
        <p:txBody>
          <a:bodyPr/>
          <a:lstStyle/>
          <a:p>
            <a:pPr/>
            <a:r>
              <a:t>Counting frequencies</a:t>
            </a:r>
          </a:p>
        </p:txBody>
      </p:sp>
      <p:sp>
        <p:nvSpPr>
          <p:cNvPr id="106" name="Shape 106"/>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p>
        </p:txBody>
      </p:sp>
      <p:sp>
        <p:nvSpPr>
          <p:cNvPr id="107" name="Shape 107"/>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Input program</a:t>
            </a:r>
          </a:p>
        </p:txBody>
      </p:sp>
      <p:sp>
        <p:nvSpPr>
          <p:cNvPr id="108" name="Shape 108"/>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Output</a:t>
            </a:r>
          </a:p>
        </p:txBody>
      </p:sp>
      <p:sp>
        <p:nvSpPr>
          <p:cNvPr id="109" name="Shape 109"/>
          <p:cNvSpPr/>
          <p:nvPr/>
        </p:nvSpPr>
        <p:spPr>
          <a:xfrm>
            <a:off x="638833" y="3035299"/>
            <a:ext cx="5573577" cy="5435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String of text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000000"/>
                </a:solidFill>
              </a:rPr>
              <a:t>a=</a:t>
            </a:r>
            <a:r>
              <a:t>'She sells sea shells on the sea shore'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Split elements into a list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b=a.split(</a:t>
            </a:r>
            <a:r>
              <a:rPr>
                <a:solidFill>
                  <a:srgbClr val="0220B3"/>
                </a:solidFill>
              </a:rPr>
              <a:t>' '</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Count the words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E539E5"/>
                </a:solidFill>
                <a:latin typeface="Menlo"/>
                <a:ea typeface="Menlo"/>
                <a:cs typeface="Menlo"/>
                <a:sym typeface="Menlo"/>
              </a:defRPr>
            </a:pPr>
            <a:r>
              <a:t>for</a:t>
            </a:r>
            <a:r>
              <a:rPr>
                <a:solidFill>
                  <a:srgbClr val="000000"/>
                </a:solidFill>
              </a:rPr>
              <a:t> w </a:t>
            </a:r>
            <a:r>
              <a:rPr>
                <a:solidFill>
                  <a:schemeClr val="accent2"/>
                </a:solidFill>
              </a:rPr>
              <a:t>in </a:t>
            </a:r>
            <a:r>
              <a:rPr>
                <a:solidFill>
                  <a:srgbClr val="000000"/>
                </a:solidFill>
              </a:rPr>
              <a:t>b:</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a:t>
            </a:r>
            <a:r>
              <a:rPr>
                <a:solidFill>
                  <a:srgbClr val="E539E5"/>
                </a:solidFill>
              </a:rPr>
              <a:t>if</a:t>
            </a:r>
            <a:r>
              <a:t>(w </a:t>
            </a:r>
            <a:r>
              <a:rPr>
                <a:solidFill>
                  <a:schemeClr val="accent2"/>
                </a:solidFill>
              </a:rPr>
              <a:t>in </a:t>
            </a:r>
            <a:r>
              <a:t>c):</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 Add 1 to existing counter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c[w]+=</a:t>
            </a:r>
            <a:r>
              <a:rPr>
                <a:solidFill>
                  <a:srgbClr val="0433FF"/>
                </a:solidFill>
              </a:rPr>
              <a:t>1</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a:t>
            </a:r>
            <a:r>
              <a:rPr>
                <a:solidFill>
                  <a:srgbClr val="E539E5"/>
                </a:solidFill>
              </a:rPr>
              <a:t>else</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r>
              <a:t>               </a:t>
            </a:r>
            <a:r>
              <a:rPr>
                <a:solidFill>
                  <a:srgbClr val="000000"/>
                </a:solidFill>
              </a:rP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 New counter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c[w]=</a:t>
            </a:r>
            <a:r>
              <a:rPr>
                <a:solidFill>
                  <a:srgbClr val="0433FF"/>
                </a:solidFill>
              </a:rPr>
              <a:t>1</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Print frequencies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rPr>
                <a:solidFill>
                  <a:srgbClr val="E539E5"/>
                </a:solidFill>
              </a:rPr>
              <a:t>for</a:t>
            </a:r>
            <a:r>
              <a:t> w,f </a:t>
            </a:r>
            <a:r>
              <a:rPr>
                <a:solidFill>
                  <a:schemeClr val="accent2"/>
                </a:solidFill>
              </a:rPr>
              <a:t>in</a:t>
            </a:r>
            <a:r>
              <a:t> c.iteritems():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r>
              <a:t>       </a:t>
            </a:r>
            <a:r>
              <a:rPr>
                <a:solidFill>
                  <a:srgbClr val="000000"/>
                </a:solidFill>
              </a:rPr>
              <a:t> </a:t>
            </a:r>
            <a:r>
              <a:rPr>
                <a:solidFill>
                  <a:srgbClr val="AF5F00"/>
                </a:solidFill>
              </a:rPr>
              <a:t>print</a:t>
            </a:r>
            <a:r>
              <a:rPr>
                <a:solidFill>
                  <a:srgbClr val="000000"/>
                </a:solidFill>
              </a:rPr>
              <a:t> w,f</a:t>
            </a:r>
          </a:p>
        </p:txBody>
      </p:sp>
      <p:sp>
        <p:nvSpPr>
          <p:cNvPr id="110" name="Shape 110"/>
          <p:cNvSpPr/>
          <p:nvPr/>
        </p:nvSpPr>
        <p:spPr>
          <a:xfrm>
            <a:off x="7554741" y="3047999"/>
            <a:ext cx="1903476" cy="2768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on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shells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shore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She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sea 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sells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the 1</a:t>
            </a:r>
          </a:p>
        </p:txBody>
      </p:sp>
      <p:sp>
        <p:nvSpPr>
          <p:cNvPr id="111" name="Shape 111"/>
          <p:cNvSpPr/>
          <p:nvPr/>
        </p:nvSpPr>
        <p:spPr>
          <a:xfrm>
            <a:off x="97383" y="9213849"/>
            <a:ext cx="3179863"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sz="2400">
                <a:latin typeface="+mj-lt"/>
                <a:ea typeface="+mj-ea"/>
                <a:cs typeface="+mj-cs"/>
                <a:sym typeface="Helvetica"/>
              </a:defRPr>
            </a:lvl1pPr>
          </a:lstStyle>
          <a:p>
            <a:pPr/>
            <a:r>
              <a:t>Example: d_count.py</a:t>
            </a:r>
          </a:p>
        </p:txBody>
      </p:sp>
      <p:sp>
        <p:nvSpPr>
          <p:cNvPr id="112" name="Shape 112"/>
          <p:cNvSpPr/>
          <p:nvPr/>
        </p:nvSpPr>
        <p:spPr>
          <a:xfrm>
            <a:off x="6839764" y="5903118"/>
            <a:ext cx="5866360" cy="3591343"/>
          </a:xfrm>
          <a:prstGeom prst="roundRect">
            <a:avLst>
              <a:gd name="adj" fmla="val 8049"/>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sz="2100">
                <a:latin typeface="+mj-lt"/>
                <a:ea typeface="+mj-ea"/>
                <a:cs typeface="+mj-cs"/>
                <a:sym typeface="Helvetica"/>
              </a:defRPr>
            </a:pPr>
            <a:r>
              <a:t>Notes:</a:t>
            </a:r>
          </a:p>
          <a:p>
            <a:pPr algn="l">
              <a:defRPr b="1" sz="2100">
                <a:latin typeface="+mj-lt"/>
                <a:ea typeface="+mj-ea"/>
                <a:cs typeface="+mj-cs"/>
                <a:sym typeface="Helvetica"/>
              </a:defRPr>
            </a:pPr>
            <a:r>
              <a:t>Dictionaries are very useful for counting frequencies of words in text. Here, a string of text is broken into words, and then the frequencies of each word is counted in a dictionary. Note that “She”, “she”, or “she!” would all be stored as different keys—Python does not make any attempt to recognize these as the same word.</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4" name="Shape 114"/>
          <p:cNvSpPr/>
          <p:nvPr>
            <p:ph type="body" idx="13"/>
          </p:nvPr>
        </p:nvSpPr>
        <p:spPr>
          <a:prstGeom prst="rect">
            <a:avLst/>
          </a:prstGeom>
        </p:spPr>
        <p:txBody>
          <a:bodyPr/>
          <a:lstStyle/>
          <a:p>
            <a:pPr/>
            <a:r>
              <a:t>Regular expression example</a:t>
            </a:r>
          </a:p>
        </p:txBody>
      </p:sp>
      <p:sp>
        <p:nvSpPr>
          <p:cNvPr id="115" name="Shape 115"/>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p>
        </p:txBody>
      </p:sp>
      <p:sp>
        <p:nvSpPr>
          <p:cNvPr id="116" name="Shape 116"/>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Input program</a:t>
            </a:r>
          </a:p>
        </p:txBody>
      </p:sp>
      <p:sp>
        <p:nvSpPr>
          <p:cNvPr id="117" name="Shape 117"/>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Output</a:t>
            </a:r>
          </a:p>
        </p:txBody>
      </p:sp>
      <p:sp>
        <p:nvSpPr>
          <p:cNvPr id="118" name="Shape 118"/>
          <p:cNvSpPr/>
          <p:nvPr/>
        </p:nvSpPr>
        <p:spPr>
          <a:xfrm>
            <a:off x="7377723" y="3048000"/>
            <a:ext cx="1031826" cy="2235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cat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bear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dog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bear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bird</a:t>
            </a:r>
          </a:p>
        </p:txBody>
      </p:sp>
      <p:sp>
        <p:nvSpPr>
          <p:cNvPr id="119" name="Shape 119"/>
          <p:cNvSpPr/>
          <p:nvPr/>
        </p:nvSpPr>
        <p:spPr>
          <a:xfrm>
            <a:off x="627696" y="3020465"/>
            <a:ext cx="5619454" cy="596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Import regular expression functions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E539E5"/>
                </a:solidFill>
                <a:latin typeface="Menlo"/>
                <a:ea typeface="Menlo"/>
                <a:cs typeface="Menlo"/>
                <a:sym typeface="Menlo"/>
              </a:defRPr>
            </a:pPr>
            <a:r>
              <a:t>import</a:t>
            </a:r>
            <a:r>
              <a:rPr>
                <a:solidFill>
                  <a:srgbClr val="000000"/>
                </a:solidFill>
              </a:rPr>
              <a:t> re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Create test list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0220B3"/>
                </a:solidFill>
                <a:latin typeface="Menlo"/>
                <a:ea typeface="Menlo"/>
                <a:cs typeface="Menlo"/>
                <a:sym typeface="Menlo"/>
              </a:defRPr>
            </a:pPr>
            <a:r>
              <a:rPr>
                <a:solidFill>
                  <a:srgbClr val="000000"/>
                </a:solidFill>
              </a:rPr>
              <a:t>a=[</a:t>
            </a:r>
            <a:r>
              <a:t>"cat"</a:t>
            </a:r>
            <a:r>
              <a:rPr>
                <a:solidFill>
                  <a:srgbClr val="000000"/>
                </a:solidFill>
              </a:rPr>
              <a:t>,</a:t>
            </a:r>
            <a:r>
              <a:t>"dog"</a:t>
            </a:r>
            <a:r>
              <a:rPr>
                <a:solidFill>
                  <a:srgbClr val="000000"/>
                </a:solidFill>
              </a:rPr>
              <a:t>,</a:t>
            </a:r>
            <a:r>
              <a:t>"bear"</a:t>
            </a:r>
            <a:r>
              <a:rPr>
                <a:solidFill>
                  <a:srgbClr val="000000"/>
                </a:solidFill>
              </a:rPr>
              <a:t>,</a:t>
            </a:r>
            <a:r>
              <a:t>"bird"</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Create pattern to match "a" character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AF5F00"/>
                </a:solidFill>
                <a:latin typeface="Menlo"/>
                <a:ea typeface="Menlo"/>
                <a:cs typeface="Menlo"/>
                <a:sym typeface="Menlo"/>
              </a:defRPr>
            </a:pPr>
            <a:r>
              <a:rPr>
                <a:solidFill>
                  <a:srgbClr val="000000"/>
                </a:solidFill>
              </a:rPr>
              <a:t>p=re.</a:t>
            </a:r>
            <a:r>
              <a:t>compile</a:t>
            </a:r>
            <a:r>
              <a:rPr>
                <a:solidFill>
                  <a:srgbClr val="000000"/>
                </a:solidFill>
              </a:rPr>
              <a:t>(</a:t>
            </a:r>
            <a:r>
              <a:rPr>
                <a:solidFill>
                  <a:srgbClr val="0220B3"/>
                </a:solidFill>
              </a:rPr>
              <a:t>"a"</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Print elements in list that match</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E539E5"/>
                </a:solidFill>
                <a:latin typeface="Menlo"/>
                <a:ea typeface="Menlo"/>
                <a:cs typeface="Menlo"/>
                <a:sym typeface="Menlo"/>
              </a:defRPr>
            </a:pPr>
            <a:r>
              <a:t>for</a:t>
            </a:r>
            <a:r>
              <a:rPr>
                <a:solidFill>
                  <a:srgbClr val="000000"/>
                </a:solidFill>
              </a:rPr>
              <a:t> x </a:t>
            </a:r>
            <a:r>
              <a:rPr>
                <a:solidFill>
                  <a:srgbClr val="E6E600"/>
                </a:solidFill>
              </a:rPr>
              <a:t>in</a:t>
            </a:r>
            <a:r>
              <a:rPr>
                <a:solidFill>
                  <a:srgbClr val="000000"/>
                </a:solidFill>
              </a:rPr>
              <a:t> a:</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t>    </a:t>
            </a:r>
            <a:r>
              <a:rPr>
                <a:solidFill>
                  <a:srgbClr val="E539E5"/>
                </a:solidFill>
              </a:rPr>
              <a:t>if</a:t>
            </a:r>
            <a:r>
              <a:t>(p.search(x)):</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r>
              <a:t>       </a:t>
            </a:r>
            <a:r>
              <a:rPr>
                <a:solidFill>
                  <a:srgbClr val="000000"/>
                </a:solidFill>
              </a:rPr>
              <a:t> </a:t>
            </a:r>
            <a:r>
              <a:rPr>
                <a:solidFill>
                  <a:srgbClr val="AF5F00"/>
                </a:solidFill>
              </a:rPr>
              <a:t>print</a:t>
            </a:r>
            <a:r>
              <a:rPr>
                <a:solidFill>
                  <a:srgbClr val="000000"/>
                </a:solidFill>
              </a:rPr>
              <a:t> x</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Create pattern to match "b" or "d"</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AF5F00"/>
                </a:solidFill>
                <a:latin typeface="Menlo"/>
                <a:ea typeface="Menlo"/>
                <a:cs typeface="Menlo"/>
                <a:sym typeface="Menlo"/>
              </a:defRPr>
            </a:pPr>
            <a:r>
              <a:rPr>
                <a:solidFill>
                  <a:srgbClr val="000000"/>
                </a:solidFill>
              </a:rPr>
              <a:t>p2=re.</a:t>
            </a:r>
            <a:r>
              <a:t>compile</a:t>
            </a:r>
            <a:r>
              <a:rPr>
                <a:solidFill>
                  <a:srgbClr val="000000"/>
                </a:solidFill>
              </a:rPr>
              <a:t>(</a:t>
            </a:r>
            <a:r>
              <a:rPr>
                <a:solidFill>
                  <a:srgbClr val="0220B3"/>
                </a:solidFill>
              </a:rPr>
              <a:t>"[bd]"</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Print elements in list that match</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r>
              <a:rPr>
                <a:solidFill>
                  <a:srgbClr val="AF5F00"/>
                </a:solidFill>
              </a:rPr>
              <a:t>print</a:t>
            </a:r>
            <a: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E539E5"/>
                </a:solidFill>
                <a:latin typeface="Menlo"/>
                <a:ea typeface="Menlo"/>
                <a:cs typeface="Menlo"/>
                <a:sym typeface="Menlo"/>
              </a:defRPr>
            </a:pPr>
            <a:r>
              <a:t>for</a:t>
            </a:r>
            <a:r>
              <a:rPr>
                <a:solidFill>
                  <a:srgbClr val="000000"/>
                </a:solidFill>
              </a:rPr>
              <a:t> x </a:t>
            </a:r>
            <a:r>
              <a:rPr>
                <a:solidFill>
                  <a:srgbClr val="E6E600"/>
                </a:solidFill>
              </a:rPr>
              <a:t>in</a:t>
            </a:r>
            <a:r>
              <a:rPr>
                <a:solidFill>
                  <a:srgbClr val="000000"/>
                </a:solidFill>
              </a:rPr>
              <a:t> a:</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rPr>
                <a:solidFill>
                  <a:srgbClr val="FFF678"/>
                </a:solidFill>
              </a:rPr>
              <a:t>   </a:t>
            </a:r>
            <a:r>
              <a:t> </a:t>
            </a:r>
            <a:r>
              <a:rPr>
                <a:solidFill>
                  <a:srgbClr val="E539E5"/>
                </a:solidFill>
              </a:rPr>
              <a:t>if</a:t>
            </a:r>
            <a:r>
              <a:t>(p2.search(x)):</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t>        </a:t>
            </a:r>
            <a:r>
              <a:rPr>
                <a:solidFill>
                  <a:srgbClr val="AF5F00"/>
                </a:solidFill>
              </a:rPr>
              <a:t>print</a:t>
            </a:r>
            <a:r>
              <a:t> x</a:t>
            </a:r>
          </a:p>
        </p:txBody>
      </p:sp>
      <p:sp>
        <p:nvSpPr>
          <p:cNvPr id="120" name="Shape 120"/>
          <p:cNvSpPr/>
          <p:nvPr/>
        </p:nvSpPr>
        <p:spPr>
          <a:xfrm>
            <a:off x="97383" y="9213849"/>
            <a:ext cx="3163640"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sz="2400">
                <a:latin typeface="+mj-lt"/>
                <a:ea typeface="+mj-ea"/>
                <a:cs typeface="+mj-cs"/>
                <a:sym typeface="Helvetica"/>
              </a:defRPr>
            </a:lvl1pPr>
          </a:lstStyle>
          <a:p>
            <a:pPr/>
            <a:r>
              <a:t>Example: reg_exp.py</a:t>
            </a:r>
          </a:p>
        </p:txBody>
      </p:sp>
      <p:sp>
        <p:nvSpPr>
          <p:cNvPr id="121" name="Shape 121"/>
          <p:cNvSpPr/>
          <p:nvPr/>
        </p:nvSpPr>
        <p:spPr>
          <a:xfrm>
            <a:off x="6839764" y="5903118"/>
            <a:ext cx="5866360" cy="3591343"/>
          </a:xfrm>
          <a:prstGeom prst="roundRect">
            <a:avLst>
              <a:gd name="adj" fmla="val 8049"/>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sz="2100">
                <a:latin typeface="+mj-lt"/>
                <a:ea typeface="+mj-ea"/>
                <a:cs typeface="+mj-cs"/>
                <a:sym typeface="Helvetica"/>
              </a:defRPr>
            </a:pPr>
            <a:r>
              <a:t>Notes:</a:t>
            </a:r>
          </a:p>
          <a:p>
            <a:pPr algn="l">
              <a:defRPr b="1" sz="2100">
                <a:latin typeface="+mj-lt"/>
                <a:ea typeface="+mj-ea"/>
                <a:cs typeface="+mj-cs"/>
                <a:sym typeface="Helvetica"/>
              </a:defRPr>
            </a:pPr>
            <a:r>
              <a:t>Regular expressions are a general and very flexible way to process and transform strings of text. While the details may differ slightly, regular expressions are found in many programming languages and tools, and are not unique to Python. In the first example here, elements in a list with an “a” are found. In the second example, elements with either a “b” or “d” are found.</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3" name="Shape 123"/>
          <p:cNvSpPr/>
          <p:nvPr>
            <p:ph type="body" idx="13"/>
          </p:nvPr>
        </p:nvSpPr>
        <p:spPr>
          <a:prstGeom prst="rect">
            <a:avLst/>
          </a:prstGeom>
        </p:spPr>
        <p:txBody>
          <a:bodyPr/>
          <a:lstStyle/>
          <a:p>
            <a:pPr/>
            <a:r>
              <a:t>Regular expression example</a:t>
            </a:r>
          </a:p>
        </p:txBody>
      </p:sp>
      <p:sp>
        <p:nvSpPr>
          <p:cNvPr id="124" name="Shape 124"/>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p>
        </p:txBody>
      </p:sp>
      <p:sp>
        <p:nvSpPr>
          <p:cNvPr id="125" name="Shape 125"/>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Input program</a:t>
            </a:r>
          </a:p>
        </p:txBody>
      </p:sp>
      <p:sp>
        <p:nvSpPr>
          <p:cNvPr id="126" name="Shape 126"/>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Output</a:t>
            </a:r>
          </a:p>
        </p:txBody>
      </p:sp>
      <p:sp>
        <p:nvSpPr>
          <p:cNvPr id="127" name="Shape 127"/>
          <p:cNvSpPr/>
          <p:nvPr/>
        </p:nvSpPr>
        <p:spPr>
          <a:xfrm>
            <a:off x="549228" y="3175000"/>
            <a:ext cx="5734144" cy="5359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Import regular expression functions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E539E5"/>
                </a:solidFill>
                <a:latin typeface="Menlo"/>
                <a:ea typeface="Menlo"/>
                <a:cs typeface="Menlo"/>
                <a:sym typeface="Menlo"/>
              </a:defRPr>
            </a:pPr>
            <a:r>
              <a:t>import</a:t>
            </a:r>
            <a:r>
              <a:rPr>
                <a:solidFill>
                  <a:srgbClr val="000000"/>
                </a:solidFill>
              </a:rPr>
              <a:t> re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Pattern to match color names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p=re.</a:t>
            </a:r>
            <a:r>
              <a:rPr>
                <a:solidFill>
                  <a:srgbClr val="AF5F00"/>
                </a:solidFill>
              </a:rPr>
              <a:t>compile</a:t>
            </a:r>
            <a:r>
              <a:rPr>
                <a:solidFill>
                  <a:srgbClr val="000000"/>
                </a:solidFill>
              </a:rPr>
              <a:t>(</a:t>
            </a:r>
            <a:r>
              <a:t>"(green|red|blue)"</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Test string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s=</a:t>
            </a:r>
            <a:r>
              <a:t>"The primary colors are red, green, and blue."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Change all matches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AF5F00"/>
                </a:solidFill>
              </a:rPr>
              <a:t>print</a:t>
            </a:r>
            <a:r>
              <a:t> p.sub(</a:t>
            </a:r>
            <a:r>
              <a:rPr>
                <a:solidFill>
                  <a:srgbClr val="0220B3"/>
                </a:solidFill>
              </a:rPr>
              <a:t>"color"</a:t>
            </a:r>
            <a:r>
              <a:t>,s)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Only change the first match</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AF5F00"/>
                </a:solidFill>
              </a:rPr>
              <a:t>print</a:t>
            </a:r>
            <a:r>
              <a:t> p.sub(</a:t>
            </a:r>
            <a:r>
              <a:rPr>
                <a:solidFill>
                  <a:srgbClr val="0220B3"/>
                </a:solidFill>
              </a:rPr>
              <a:t>"color"</a:t>
            </a:r>
            <a:r>
              <a:t>,s,count=</a:t>
            </a:r>
            <a:r>
              <a:rPr>
                <a:solidFill>
                  <a:srgbClr val="0433FF"/>
                </a:solidFill>
              </a:rPr>
              <a:t>1</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Second test string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t=</a:t>
            </a:r>
            <a:r>
              <a:t>"You can't touch this!"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Pattern to remove punctuation</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p2=re.</a:t>
            </a:r>
            <a:r>
              <a:rPr>
                <a:solidFill>
                  <a:srgbClr val="AF5F00"/>
                </a:solidFill>
              </a:rPr>
              <a:t>compile</a:t>
            </a:r>
            <a:r>
              <a:rPr>
                <a:solidFill>
                  <a:srgbClr val="000000"/>
                </a:solidFill>
              </a:rPr>
              <a:t>(</a:t>
            </a:r>
            <a:r>
              <a:t>"[!,'\.]"</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Apply it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AF5F00"/>
                </a:solidFill>
              </a:rPr>
              <a:t>print</a:t>
            </a:r>
            <a:r>
              <a:t> p2.sub(</a:t>
            </a:r>
            <a:r>
              <a:rPr>
                <a:solidFill>
                  <a:srgbClr val="0220B3"/>
                </a:solidFill>
              </a:rPr>
              <a:t>""</a:t>
            </a:r>
            <a:r>
              <a:t>,t).lower()</a:t>
            </a:r>
          </a:p>
        </p:txBody>
      </p:sp>
      <p:sp>
        <p:nvSpPr>
          <p:cNvPr id="128" name="Shape 128"/>
          <p:cNvSpPr/>
          <p:nvPr/>
        </p:nvSpPr>
        <p:spPr>
          <a:xfrm>
            <a:off x="6943873" y="3124199"/>
            <a:ext cx="5619454" cy="787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The primary colors are color, color, and color.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The primary colors are color, green, and blue.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you cant touch this</a:t>
            </a:r>
          </a:p>
        </p:txBody>
      </p:sp>
      <p:sp>
        <p:nvSpPr>
          <p:cNvPr id="129" name="Shape 129"/>
          <p:cNvSpPr/>
          <p:nvPr/>
        </p:nvSpPr>
        <p:spPr>
          <a:xfrm>
            <a:off x="97383" y="9213849"/>
            <a:ext cx="3333156"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sz="2400">
                <a:latin typeface="+mj-lt"/>
                <a:ea typeface="+mj-ea"/>
                <a:cs typeface="+mj-cs"/>
                <a:sym typeface="Helvetica"/>
              </a:defRPr>
            </a:lvl1pPr>
          </a:lstStyle>
          <a:p>
            <a:pPr/>
            <a:r>
              <a:t>Example: reg_exp2.py</a:t>
            </a:r>
          </a:p>
        </p:txBody>
      </p:sp>
      <p:sp>
        <p:nvSpPr>
          <p:cNvPr id="130" name="Shape 130"/>
          <p:cNvSpPr/>
          <p:nvPr/>
        </p:nvSpPr>
        <p:spPr>
          <a:xfrm>
            <a:off x="6839764" y="5482728"/>
            <a:ext cx="5866360" cy="4011733"/>
          </a:xfrm>
          <a:prstGeom prst="roundRect">
            <a:avLst>
              <a:gd name="adj" fmla="val 7206"/>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sz="2100">
                <a:latin typeface="+mj-lt"/>
                <a:ea typeface="+mj-ea"/>
                <a:cs typeface="+mj-cs"/>
                <a:sym typeface="Helvetica"/>
              </a:defRPr>
            </a:pPr>
            <a:r>
              <a:t>Notes:</a:t>
            </a:r>
          </a:p>
          <a:p>
            <a:pPr algn="l">
              <a:defRPr b="1" sz="2100">
                <a:latin typeface="+mj-lt"/>
                <a:ea typeface="+mj-ea"/>
                <a:cs typeface="+mj-cs"/>
                <a:sym typeface="Helvetica"/>
              </a:defRPr>
            </a:pPr>
            <a:r>
              <a:t>Regular expressions can be used to substitute some text in a string for something else. The can either apply to multiple times to the string (as in the first output line) or just to the first occurrence (as in the second output line). In the context of word analysis, regular expressions can be used to strip out punctuation. The string command “lower()” can also be used, to convert a string to lower case.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32" name="Shape 132"/>
          <p:cNvSpPr/>
          <p:nvPr>
            <p:ph type="title"/>
          </p:nvPr>
        </p:nvSpPr>
        <p:spPr>
          <a:prstGeom prst="rect">
            <a:avLst/>
          </a:prstGeom>
        </p:spPr>
        <p:txBody>
          <a:bodyPr/>
          <a:lstStyle/>
          <a:p>
            <a:pPr/>
            <a:r>
              <a:t>The Federalist</a:t>
            </a:r>
          </a:p>
        </p:txBody>
      </p:sp>
      <p:sp>
        <p:nvSpPr>
          <p:cNvPr id="133" name="Shape 133"/>
          <p:cNvSpPr/>
          <p:nvPr>
            <p:ph type="body" sz="half" idx="1"/>
          </p:nvPr>
        </p:nvSpPr>
        <p:spPr>
          <a:xfrm>
            <a:off x="5140870" y="2483043"/>
            <a:ext cx="7100293" cy="6286501"/>
          </a:xfrm>
          <a:prstGeom prst="rect">
            <a:avLst/>
          </a:prstGeom>
        </p:spPr>
        <p:txBody>
          <a:bodyPr/>
          <a:lstStyle/>
          <a:p>
            <a:pPr marL="440055" indent="-440055" defTabSz="578358">
              <a:spcBef>
                <a:spcPts val="2500"/>
              </a:spcBef>
              <a:defRPr sz="3564"/>
            </a:pPr>
            <a:r>
              <a:t>85 articles published in New York advocating the ratification of the US constitution during 1787–1788</a:t>
            </a:r>
          </a:p>
          <a:p>
            <a:pPr marL="440055" indent="-440055" defTabSz="578358">
              <a:spcBef>
                <a:spcPts val="2500"/>
              </a:spcBef>
              <a:defRPr sz="3564"/>
            </a:pPr>
            <a:r>
              <a:t>Used in many court cases as a way to interpret the Founding Fathers’ intentions about the constitution</a:t>
            </a:r>
          </a:p>
          <a:p>
            <a:pPr marL="440055" indent="-440055" defTabSz="578358">
              <a:spcBef>
                <a:spcPts val="2500"/>
              </a:spcBef>
              <a:defRPr sz="3564"/>
            </a:pPr>
            <a:r>
              <a:t>Authorship was a closely guarded secret (written under the pseudonym </a:t>
            </a:r>
            <a:r>
              <a:rPr i="1"/>
              <a:t>Publius</a:t>
            </a:r>
            <a:r>
              <a:t>)</a:t>
            </a:r>
          </a:p>
        </p:txBody>
      </p:sp>
      <p:pic>
        <p:nvPicPr>
          <p:cNvPr id="134" name="pasted-image.tif"/>
          <p:cNvPicPr>
            <a:picLocks noChangeAspect="1"/>
          </p:cNvPicPr>
          <p:nvPr/>
        </p:nvPicPr>
        <p:blipFill>
          <a:blip r:embed="rId2">
            <a:extLst/>
          </a:blip>
          <a:stretch>
            <a:fillRect/>
          </a:stretch>
        </p:blipFill>
        <p:spPr>
          <a:xfrm>
            <a:off x="761024" y="2602773"/>
            <a:ext cx="3731888" cy="6047039"/>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36" name="Shape 136"/>
          <p:cNvSpPr/>
          <p:nvPr>
            <p:ph type="title"/>
          </p:nvPr>
        </p:nvSpPr>
        <p:spPr>
          <a:prstGeom prst="rect">
            <a:avLst/>
          </a:prstGeom>
        </p:spPr>
        <p:txBody>
          <a:bodyPr/>
          <a:lstStyle/>
          <a:p>
            <a:pPr/>
            <a:r>
              <a:t>Suspected authors</a:t>
            </a:r>
          </a:p>
        </p:txBody>
      </p:sp>
      <p:sp>
        <p:nvSpPr>
          <p:cNvPr id="137" name="Shape 137"/>
          <p:cNvSpPr/>
          <p:nvPr>
            <p:ph type="body" sz="quarter" idx="1"/>
          </p:nvPr>
        </p:nvSpPr>
        <p:spPr>
          <a:xfrm>
            <a:off x="242977" y="7253039"/>
            <a:ext cx="3942555" cy="1600995"/>
          </a:xfrm>
          <a:prstGeom prst="rect">
            <a:avLst/>
          </a:prstGeom>
        </p:spPr>
        <p:txBody>
          <a:bodyPr>
            <a:noAutofit/>
          </a:bodyPr>
          <a:lstStyle/>
          <a:p>
            <a:pPr marL="0" indent="0" algn="ctr">
              <a:spcBef>
                <a:spcPts val="400"/>
              </a:spcBef>
              <a:buSzTx/>
              <a:buNone/>
              <a:defRPr sz="3200">
                <a:solidFill>
                  <a:srgbClr val="53585F"/>
                </a:solidFill>
              </a:defRPr>
            </a:pPr>
            <a:r>
              <a:t>Alexander Hamilton</a:t>
            </a:r>
          </a:p>
          <a:p>
            <a:pPr marL="0" indent="0" algn="ctr">
              <a:spcBef>
                <a:spcPts val="400"/>
              </a:spcBef>
              <a:buSzTx/>
              <a:buNone/>
              <a:defRPr sz="2500"/>
            </a:pPr>
            <a:r>
              <a:t>(1757–1804)</a:t>
            </a:r>
          </a:p>
        </p:txBody>
      </p:sp>
      <p:pic>
        <p:nvPicPr>
          <p:cNvPr id="138" name="493px-James_Madison.jpg"/>
          <p:cNvPicPr>
            <a:picLocks noChangeAspect="1"/>
          </p:cNvPicPr>
          <p:nvPr/>
        </p:nvPicPr>
        <p:blipFill>
          <a:blip r:embed="rId2">
            <a:extLst/>
          </a:blip>
          <a:stretch>
            <a:fillRect/>
          </a:stretch>
        </p:blipFill>
        <p:spPr>
          <a:xfrm>
            <a:off x="4531122" y="2503213"/>
            <a:ext cx="3942556" cy="4798243"/>
          </a:xfrm>
          <a:prstGeom prst="rect">
            <a:avLst/>
          </a:prstGeom>
          <a:ln w="12700">
            <a:miter lim="400000"/>
          </a:ln>
        </p:spPr>
      </p:pic>
      <p:pic>
        <p:nvPicPr>
          <p:cNvPr id="139" name="506px-Alexander_Hamilton_portrait_by_John_Trumbull_1806.jpg"/>
          <p:cNvPicPr>
            <a:picLocks noChangeAspect="1"/>
          </p:cNvPicPr>
          <p:nvPr/>
        </p:nvPicPr>
        <p:blipFill>
          <a:blip r:embed="rId3">
            <a:extLst/>
          </a:blip>
          <a:stretch>
            <a:fillRect/>
          </a:stretch>
        </p:blipFill>
        <p:spPr>
          <a:xfrm>
            <a:off x="190996" y="2503213"/>
            <a:ext cx="4046518" cy="4798243"/>
          </a:xfrm>
          <a:prstGeom prst="rect">
            <a:avLst/>
          </a:prstGeom>
          <a:ln w="12700">
            <a:miter lim="400000"/>
          </a:ln>
        </p:spPr>
      </p:pic>
      <p:pic>
        <p:nvPicPr>
          <p:cNvPr id="140" name="463px-John_Jay_(Gilbert_Stuart_portrait).jpg"/>
          <p:cNvPicPr>
            <a:picLocks noChangeAspect="1"/>
          </p:cNvPicPr>
          <p:nvPr/>
        </p:nvPicPr>
        <p:blipFill>
          <a:blip r:embed="rId4">
            <a:extLst/>
          </a:blip>
          <a:stretch>
            <a:fillRect/>
          </a:stretch>
        </p:blipFill>
        <p:spPr>
          <a:xfrm>
            <a:off x="8767287" y="2503213"/>
            <a:ext cx="3708825" cy="4798243"/>
          </a:xfrm>
          <a:prstGeom prst="rect">
            <a:avLst/>
          </a:prstGeom>
          <a:ln w="12700">
            <a:miter lim="400000"/>
          </a:ln>
        </p:spPr>
      </p:pic>
      <p:sp>
        <p:nvSpPr>
          <p:cNvPr id="141" name="Shape 141"/>
          <p:cNvSpPr/>
          <p:nvPr/>
        </p:nvSpPr>
        <p:spPr>
          <a:xfrm>
            <a:off x="4531122" y="7253039"/>
            <a:ext cx="3942556" cy="160099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p>
            <a:pPr>
              <a:lnSpc>
                <a:spcPct val="90000"/>
              </a:lnSpc>
              <a:spcBef>
                <a:spcPts val="400"/>
              </a:spcBef>
              <a:defRPr b="1" sz="3200">
                <a:solidFill>
                  <a:srgbClr val="53585F"/>
                </a:solidFill>
                <a:latin typeface="+mj-lt"/>
                <a:ea typeface="+mj-ea"/>
                <a:cs typeface="+mj-cs"/>
                <a:sym typeface="Helvetica"/>
              </a:defRPr>
            </a:pPr>
            <a:r>
              <a:t>James Madison</a:t>
            </a:r>
          </a:p>
          <a:p>
            <a:pPr>
              <a:lnSpc>
                <a:spcPct val="90000"/>
              </a:lnSpc>
              <a:spcBef>
                <a:spcPts val="400"/>
              </a:spcBef>
              <a:defRPr b="1" sz="2500">
                <a:latin typeface="+mj-lt"/>
                <a:ea typeface="+mj-ea"/>
                <a:cs typeface="+mj-cs"/>
                <a:sym typeface="Helvetica"/>
              </a:defRPr>
            </a:pPr>
            <a:r>
              <a:t>(1751–1836)</a:t>
            </a:r>
          </a:p>
        </p:txBody>
      </p:sp>
      <p:sp>
        <p:nvSpPr>
          <p:cNvPr id="142" name="Shape 142"/>
          <p:cNvSpPr/>
          <p:nvPr/>
        </p:nvSpPr>
        <p:spPr>
          <a:xfrm>
            <a:off x="8650421" y="7253039"/>
            <a:ext cx="3942556" cy="160099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p>
            <a:pPr>
              <a:lnSpc>
                <a:spcPct val="90000"/>
              </a:lnSpc>
              <a:spcBef>
                <a:spcPts val="400"/>
              </a:spcBef>
              <a:defRPr b="1" sz="3200">
                <a:solidFill>
                  <a:srgbClr val="53585F"/>
                </a:solidFill>
                <a:latin typeface="+mj-lt"/>
                <a:ea typeface="+mj-ea"/>
                <a:cs typeface="+mj-cs"/>
                <a:sym typeface="Helvetica"/>
              </a:defRPr>
            </a:pPr>
            <a:r>
              <a:t>John Jay</a:t>
            </a:r>
          </a:p>
          <a:p>
            <a:pPr>
              <a:lnSpc>
                <a:spcPct val="90000"/>
              </a:lnSpc>
              <a:spcBef>
                <a:spcPts val="400"/>
              </a:spcBef>
              <a:defRPr b="1" sz="2500">
                <a:latin typeface="+mj-lt"/>
                <a:ea typeface="+mj-ea"/>
                <a:cs typeface="+mj-cs"/>
                <a:sym typeface="Helvetica"/>
              </a:defRPr>
            </a:pPr>
            <a:r>
              <a:t>(1745–1829)</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44" name="Shape 144"/>
          <p:cNvSpPr/>
          <p:nvPr>
            <p:ph type="title"/>
          </p:nvPr>
        </p:nvSpPr>
        <p:spPr>
          <a:prstGeom prst="rect">
            <a:avLst/>
          </a:prstGeom>
        </p:spPr>
        <p:txBody>
          <a:bodyPr/>
          <a:lstStyle/>
          <a:p>
            <a:pPr/>
            <a:r>
              <a:t>Disputed authorship</a:t>
            </a:r>
          </a:p>
        </p:txBody>
      </p:sp>
      <p:sp>
        <p:nvSpPr>
          <p:cNvPr id="145" name="Shape 145"/>
          <p:cNvSpPr/>
          <p:nvPr>
            <p:ph type="body" idx="1"/>
          </p:nvPr>
        </p:nvSpPr>
        <p:spPr>
          <a:prstGeom prst="rect">
            <a:avLst/>
          </a:prstGeom>
        </p:spPr>
        <p:txBody>
          <a:bodyPr/>
          <a:lstStyle/>
          <a:p>
            <a:pPr marL="404495" indent="-404495" defTabSz="531622">
              <a:spcBef>
                <a:spcPts val="2300"/>
              </a:spcBef>
              <a:defRPr sz="3276"/>
            </a:pPr>
            <a:r>
              <a:t>Soon before his </a:t>
            </a:r>
            <a:r>
              <a:rPr u="sng">
                <a:hlinkClick r:id="rId2" invalidUrl="" action="" tgtFrame="" tooltip="" history="1" highlightClick="0" endSnd="0"/>
              </a:rPr>
              <a:t>fatal gun duel</a:t>
            </a:r>
            <a:r>
              <a:t>, Hamilton provided a list claiming authorship of 63 of the articles (with three jointly written with Madison)</a:t>
            </a:r>
          </a:p>
          <a:p>
            <a:pPr marL="404495" indent="-404495" defTabSz="531622">
              <a:spcBef>
                <a:spcPts val="2300"/>
              </a:spcBef>
              <a:defRPr sz="3276"/>
            </a:pPr>
            <a:r>
              <a:t>Later, Madison claimed 29 for himself, suggesting that the difference was “owing doubtless to the hurry in which [Hamilton’s] memorandum was made out”</a:t>
            </a:r>
          </a:p>
          <a:p>
            <a:pPr marL="404495" indent="-404495" defTabSz="531622">
              <a:spcBef>
                <a:spcPts val="2300"/>
              </a:spcBef>
              <a:defRPr sz="3276"/>
            </a:pPr>
            <a:r>
              <a:t>Hamilton’s list contained at least one known error, attributing No. 54 to Jay, when in fact Jay wrote No. 64</a:t>
            </a:r>
          </a:p>
          <a:p>
            <a:pPr marL="404495" indent="-404495" defTabSz="531622">
              <a:spcBef>
                <a:spcPts val="2300"/>
              </a:spcBef>
              <a:defRPr sz="3276"/>
            </a:pPr>
            <a:r>
              <a:t>How can the authorship of the articles be determined? </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47" name="Shape 147"/>
          <p:cNvSpPr/>
          <p:nvPr>
            <p:ph type="body" idx="13"/>
          </p:nvPr>
        </p:nvSpPr>
        <p:spPr>
          <a:prstGeom prst="rect">
            <a:avLst/>
          </a:prstGeom>
        </p:spPr>
        <p:txBody>
          <a:bodyPr/>
          <a:lstStyle/>
          <a:p>
            <a:pPr/>
            <a:r>
              <a:t>An information theory approach</a:t>
            </a:r>
          </a:p>
        </p:txBody>
      </p:sp>
      <p:pic>
        <p:nvPicPr>
          <p:cNvPr id="148" name="Screen Shot 2014-02-23 at 2.29.35 PM.png"/>
          <p:cNvPicPr>
            <a:picLocks noChangeAspect="1"/>
          </p:cNvPicPr>
          <p:nvPr/>
        </p:nvPicPr>
        <p:blipFill>
          <a:blip r:embed="rId2">
            <a:extLst/>
          </a:blip>
          <a:stretch>
            <a:fillRect/>
          </a:stretch>
        </p:blipFill>
        <p:spPr>
          <a:xfrm>
            <a:off x="6972196" y="3433930"/>
            <a:ext cx="5540723" cy="3754270"/>
          </a:xfrm>
          <a:prstGeom prst="rect">
            <a:avLst/>
          </a:prstGeom>
          <a:ln w="12700">
            <a:solidFill>
              <a:srgbClr val="000000"/>
            </a:solidFill>
            <a:miter lim="400000"/>
          </a:ln>
        </p:spPr>
      </p:pic>
      <p:pic>
        <p:nvPicPr>
          <p:cNvPr id="149" name="Screen Shot 2014-02-23 at 2.30.36 PM.png"/>
          <p:cNvPicPr>
            <a:picLocks noChangeAspect="1"/>
          </p:cNvPicPr>
          <p:nvPr/>
        </p:nvPicPr>
        <p:blipFill>
          <a:blip r:embed="rId3">
            <a:extLst/>
          </a:blip>
          <a:stretch>
            <a:fillRect/>
          </a:stretch>
        </p:blipFill>
        <p:spPr>
          <a:xfrm>
            <a:off x="491881" y="3433930"/>
            <a:ext cx="5928353" cy="3754270"/>
          </a:xfrm>
          <a:prstGeom prst="rect">
            <a:avLst/>
          </a:prstGeom>
          <a:ln w="12700">
            <a:solidFill>
              <a:srgbClr val="000000"/>
            </a:solidFill>
            <a:miter lim="400000"/>
          </a:ln>
        </p:spPr>
      </p:pic>
      <p:sp>
        <p:nvSpPr>
          <p:cNvPr id="150" name="Shape 150"/>
          <p:cNvSpPr/>
          <p:nvPr/>
        </p:nvSpPr>
        <p:spPr>
          <a:xfrm>
            <a:off x="2746350" y="2032000"/>
            <a:ext cx="7512100" cy="533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800">
                <a:latin typeface="+mj-lt"/>
                <a:ea typeface="+mj-ea"/>
                <a:cs typeface="+mj-cs"/>
                <a:sym typeface="Helvetica"/>
              </a:defRPr>
            </a:lvl1pPr>
          </a:lstStyle>
          <a:p>
            <a:pPr/>
            <a:r>
              <a:t>by Frederick Mosteller and David L. Wallace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52" name="Screen Shot 2014-02-23 at 2.34.37 PM.png"/>
          <p:cNvPicPr>
            <a:picLocks noChangeAspect="1"/>
          </p:cNvPicPr>
          <p:nvPr/>
        </p:nvPicPr>
        <p:blipFill>
          <a:blip r:embed="rId3">
            <a:extLst/>
          </a:blip>
          <a:stretch>
            <a:fillRect/>
          </a:stretch>
        </p:blipFill>
        <p:spPr>
          <a:xfrm rot="42001">
            <a:off x="450850" y="1016000"/>
            <a:ext cx="12103100" cy="7721600"/>
          </a:xfrm>
          <a:prstGeom prst="rect">
            <a:avLst/>
          </a:prstGeom>
          <a:ln w="12700">
            <a:miter lim="400000"/>
          </a:ln>
        </p:spPr>
      </p:pic>
      <p:sp>
        <p:nvSpPr>
          <p:cNvPr id="153" name="Shape 153"/>
          <p:cNvSpPr/>
          <p:nvPr/>
        </p:nvSpPr>
        <p:spPr>
          <a:xfrm>
            <a:off x="497792" y="7815574"/>
            <a:ext cx="12009216" cy="865234"/>
          </a:xfrm>
          <a:prstGeom prst="rect">
            <a:avLst/>
          </a:prstGeom>
          <a:solidFill>
            <a:srgbClr val="FFFC79">
              <a:alpha val="29000"/>
            </a:srgbClr>
          </a:solidFill>
          <a:ln w="12700">
            <a:miter lim="400000"/>
          </a:ln>
        </p:spPr>
        <p:txBody>
          <a:bodyPr lIns="50800" tIns="50800" rIns="50800" bIns="50800" anchor="ctr"/>
          <a:lstStyle/>
          <a:p>
            <a:pPr>
              <a:defRPr sz="2400">
                <a:solidFill>
                  <a:srgbClr val="FFFFFF"/>
                </a:solidFill>
              </a:defRPr>
            </a:pPr>
          </a:p>
        </p:txBody>
      </p:sp>
      <p:sp>
        <p:nvSpPr>
          <p:cNvPr id="154" name="Shape 154"/>
          <p:cNvSpPr/>
          <p:nvPr/>
        </p:nvSpPr>
        <p:spPr>
          <a:xfrm>
            <a:off x="497793" y="1605274"/>
            <a:ext cx="12009215" cy="1317523"/>
          </a:xfrm>
          <a:prstGeom prst="rect">
            <a:avLst/>
          </a:prstGeom>
          <a:solidFill>
            <a:srgbClr val="FFFC79">
              <a:alpha val="29000"/>
            </a:srgbClr>
          </a:solidFill>
          <a:ln w="12700">
            <a:miter lim="400000"/>
          </a:ln>
        </p:spPr>
        <p:txBody>
          <a:bodyPr lIns="50800" tIns="50800" rIns="50800" bIns="50800" anchor="ctr"/>
          <a:lstStyle/>
          <a:p>
            <a:pPr>
              <a:defRPr sz="2400">
                <a:solidFill>
                  <a:srgbClr val="FFFFFF"/>
                </a:solidFill>
              </a:defRPr>
            </a:pPr>
          </a:p>
        </p:txBody>
      </p:sp>
      <p:sp>
        <p:nvSpPr>
          <p:cNvPr id="155" name="Shape 155"/>
          <p:cNvSpPr/>
          <p:nvPr/>
        </p:nvSpPr>
        <p:spPr>
          <a:xfrm>
            <a:off x="497793" y="4444182"/>
            <a:ext cx="12009215" cy="1317524"/>
          </a:xfrm>
          <a:prstGeom prst="rect">
            <a:avLst/>
          </a:prstGeom>
          <a:solidFill>
            <a:srgbClr val="FFFC79">
              <a:alpha val="29000"/>
            </a:srgbClr>
          </a:solidFill>
          <a:ln w="12700">
            <a:miter lim="400000"/>
          </a:ln>
        </p:spPr>
        <p:txBody>
          <a:bodyPr lIns="50800" tIns="50800" rIns="50800" bIns="50800" anchor="ctr"/>
          <a:lstStyle/>
          <a:p>
            <a:pPr>
              <a:defRPr sz="2400">
                <a:solidFill>
                  <a:srgbClr val="FFFFFF"/>
                </a:solidFill>
              </a:defRPr>
            </a:pPr>
          </a:p>
        </p:txBody>
      </p:sp>
      <p:sp>
        <p:nvSpPr>
          <p:cNvPr id="156" name="Shape 156"/>
          <p:cNvSpPr/>
          <p:nvPr/>
        </p:nvSpPr>
        <p:spPr>
          <a:xfrm>
            <a:off x="3413881" y="3250872"/>
            <a:ext cx="6071668" cy="490784"/>
          </a:xfrm>
          <a:prstGeom prst="rect">
            <a:avLst/>
          </a:prstGeom>
          <a:solidFill>
            <a:srgbClr val="FFFC79">
              <a:alpha val="29000"/>
            </a:srgbClr>
          </a:solidFill>
          <a:ln w="12700">
            <a:miter lim="400000"/>
          </a:ln>
        </p:spPr>
        <p:txBody>
          <a:bodyPr lIns="50800" tIns="50800" rIns="50800" bIns="50800" anchor="ctr"/>
          <a:lstStyle/>
          <a:p>
            <a:pPr>
              <a:defRPr sz="2400">
                <a:solidFill>
                  <a:srgbClr val="FFFFFF"/>
                </a:solidFill>
              </a:defRPr>
            </a:pP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60" name="Shape 160"/>
          <p:cNvSpPr/>
          <p:nvPr>
            <p:ph type="title"/>
          </p:nvPr>
        </p:nvSpPr>
        <p:spPr>
          <a:prstGeom prst="rect">
            <a:avLst/>
          </a:prstGeom>
        </p:spPr>
        <p:txBody>
          <a:bodyPr/>
          <a:lstStyle>
            <a:lvl1pPr>
              <a:defRPr sz="5700"/>
            </a:lvl1pPr>
          </a:lstStyle>
          <a:p>
            <a:pPr/>
            <a:r>
              <a:t>Approach #1: Sentence word count</a:t>
            </a:r>
          </a:p>
        </p:txBody>
      </p:sp>
      <p:pic>
        <p:nvPicPr>
          <p:cNvPr id="161" name="Screen Shot 2014-02-23 at 2.57.43 PM.png"/>
          <p:cNvPicPr>
            <a:picLocks noChangeAspect="1"/>
          </p:cNvPicPr>
          <p:nvPr/>
        </p:nvPicPr>
        <p:blipFill>
          <a:blip r:embed="rId2">
            <a:extLst/>
          </a:blip>
          <a:stretch>
            <a:fillRect/>
          </a:stretch>
        </p:blipFill>
        <p:spPr>
          <a:xfrm rot="21522361">
            <a:off x="2101598" y="2372469"/>
            <a:ext cx="7088817" cy="443052"/>
          </a:xfrm>
          <a:prstGeom prst="rect">
            <a:avLst/>
          </a:prstGeom>
          <a:ln w="12700">
            <a:miter lim="400000"/>
          </a:ln>
        </p:spPr>
      </p:pic>
      <p:pic>
        <p:nvPicPr>
          <p:cNvPr id="162" name="Screen Shot 2014-02-23 at 2.58.35 PM.png"/>
          <p:cNvPicPr>
            <a:picLocks noChangeAspect="1"/>
          </p:cNvPicPr>
          <p:nvPr/>
        </p:nvPicPr>
        <p:blipFill>
          <a:blip r:embed="rId3">
            <a:extLst/>
          </a:blip>
          <a:stretch>
            <a:fillRect/>
          </a:stretch>
        </p:blipFill>
        <p:spPr>
          <a:xfrm>
            <a:off x="2077751" y="2723529"/>
            <a:ext cx="8849298" cy="6544892"/>
          </a:xfrm>
          <a:prstGeom prst="rect">
            <a:avLst/>
          </a:prstGeom>
          <a:ln w="12700">
            <a:miter lim="400000"/>
          </a:ln>
        </p:spPr>
      </p:pic>
      <p:sp>
        <p:nvSpPr>
          <p:cNvPr id="163" name="Shape 163"/>
          <p:cNvSpPr/>
          <p:nvPr/>
        </p:nvSpPr>
        <p:spPr>
          <a:xfrm flipV="1">
            <a:off x="1857828" y="2464240"/>
            <a:ext cx="1" cy="1153032"/>
          </a:xfrm>
          <a:prstGeom prst="line">
            <a:avLst/>
          </a:prstGeom>
          <a:ln w="25400">
            <a:solidFill>
              <a:srgbClr val="000000"/>
            </a:solidFill>
            <a:miter lim="400000"/>
          </a:ln>
        </p:spPr>
        <p:txBody>
          <a:bodyPr lIns="50800" tIns="50800" rIns="50800" bIns="50800" anchor="ctr"/>
          <a:lstStyle/>
          <a:p>
            <a:pPr>
              <a:defRPr sz="2400"/>
            </a:pP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65" name="Shape 165"/>
          <p:cNvSpPr/>
          <p:nvPr>
            <p:ph type="title"/>
          </p:nvPr>
        </p:nvSpPr>
        <p:spPr>
          <a:prstGeom prst="rect">
            <a:avLst/>
          </a:prstGeom>
        </p:spPr>
        <p:txBody>
          <a:bodyPr/>
          <a:lstStyle/>
          <a:p>
            <a:pPr/>
            <a:r>
              <a:t>Approach #2: Zipf’s law</a:t>
            </a:r>
          </a:p>
        </p:txBody>
      </p:sp>
      <p:pic>
        <p:nvPicPr>
          <p:cNvPr id="166" name="Screen Shot 2014-02-23 at 2.38.56 PM.png"/>
          <p:cNvPicPr>
            <a:picLocks noChangeAspect="1"/>
          </p:cNvPicPr>
          <p:nvPr/>
        </p:nvPicPr>
        <p:blipFill>
          <a:blip r:embed="rId3">
            <a:extLst/>
          </a:blip>
          <a:stretch>
            <a:fillRect/>
          </a:stretch>
        </p:blipFill>
        <p:spPr>
          <a:xfrm>
            <a:off x="825500" y="2292350"/>
            <a:ext cx="7461363" cy="4413917"/>
          </a:xfrm>
          <a:prstGeom prst="rect">
            <a:avLst/>
          </a:prstGeom>
          <a:ln w="12700">
            <a:miter lim="400000"/>
          </a:ln>
        </p:spPr>
      </p:pic>
      <p:sp>
        <p:nvSpPr>
          <p:cNvPr id="167" name="Shape 167"/>
          <p:cNvSpPr/>
          <p:nvPr/>
        </p:nvSpPr>
        <p:spPr>
          <a:xfrm>
            <a:off x="8796248" y="3911600"/>
            <a:ext cx="3296122" cy="965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b="1" sz="2800">
                <a:latin typeface="+mj-lt"/>
                <a:ea typeface="+mj-ea"/>
                <a:cs typeface="+mj-cs"/>
                <a:sym typeface="Helvetica"/>
              </a:defRPr>
            </a:pPr>
            <a:r>
              <a:rPr>
                <a:solidFill>
                  <a:srgbClr val="F7240C"/>
                </a:solidFill>
              </a:rPr>
              <a:t>66</a:t>
            </a:r>
            <a:r>
              <a:t> by Hamilton</a:t>
            </a:r>
          </a:p>
          <a:p>
            <a:pPr algn="l">
              <a:defRPr b="1" sz="2800">
                <a:latin typeface="+mj-lt"/>
                <a:ea typeface="+mj-ea"/>
                <a:cs typeface="+mj-cs"/>
                <a:sym typeface="Helvetica"/>
              </a:defRPr>
            </a:pPr>
            <a:r>
              <a:rPr>
                <a:solidFill>
                  <a:srgbClr val="417741"/>
                </a:solidFill>
              </a:rPr>
              <a:t>14</a:t>
            </a:r>
            <a:r>
              <a:t>, </a:t>
            </a:r>
            <a:r>
              <a:rPr>
                <a:solidFill>
                  <a:srgbClr val="1344E9"/>
                </a:solidFill>
              </a:rPr>
              <a:t>19</a:t>
            </a:r>
            <a:r>
              <a:t>* by Madison</a:t>
            </a:r>
          </a:p>
        </p:txBody>
      </p:sp>
      <p:sp>
        <p:nvSpPr>
          <p:cNvPr id="168" name="Shape 168"/>
          <p:cNvSpPr/>
          <p:nvPr/>
        </p:nvSpPr>
        <p:spPr>
          <a:xfrm rot="16200000">
            <a:off x="-59144" y="4270708"/>
            <a:ext cx="1591488" cy="457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300">
                <a:latin typeface="+mj-lt"/>
                <a:ea typeface="+mj-ea"/>
                <a:cs typeface="+mj-cs"/>
                <a:sym typeface="Helvetica"/>
              </a:defRPr>
            </a:lvl1pPr>
          </a:lstStyle>
          <a:p>
            <a:pPr/>
            <a:r>
              <a:t>Frequency</a:t>
            </a:r>
          </a:p>
        </p:txBody>
      </p:sp>
      <p:sp>
        <p:nvSpPr>
          <p:cNvPr id="169" name="Shape 169"/>
          <p:cNvSpPr/>
          <p:nvPr/>
        </p:nvSpPr>
        <p:spPr>
          <a:xfrm>
            <a:off x="4128486" y="6540499"/>
            <a:ext cx="855391" cy="457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300">
                <a:latin typeface="+mj-lt"/>
                <a:ea typeface="+mj-ea"/>
                <a:cs typeface="+mj-cs"/>
                <a:sym typeface="Helvetica"/>
              </a:defRPr>
            </a:lvl1pPr>
          </a:lstStyle>
          <a:p>
            <a:pPr/>
            <a:r>
              <a:t>Word</a:t>
            </a:r>
          </a:p>
        </p:txBody>
      </p:sp>
      <p:pic>
        <p:nvPicPr>
          <p:cNvPr id="170" name="Screen Shot 2014-02-23 at 3.06.09 PM.png"/>
          <p:cNvPicPr>
            <a:picLocks noChangeAspect="1"/>
          </p:cNvPicPr>
          <p:nvPr/>
        </p:nvPicPr>
        <p:blipFill>
          <a:blip r:embed="rId4">
            <a:extLst/>
          </a:blip>
          <a:stretch>
            <a:fillRect/>
          </a:stretch>
        </p:blipFill>
        <p:spPr>
          <a:xfrm rot="36000">
            <a:off x="3435350" y="7319394"/>
            <a:ext cx="9131300" cy="2112540"/>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4" name="Shape 174"/>
          <p:cNvSpPr/>
          <p:nvPr>
            <p:ph type="title"/>
          </p:nvPr>
        </p:nvSpPr>
        <p:spPr>
          <a:prstGeom prst="rect">
            <a:avLst/>
          </a:prstGeom>
        </p:spPr>
        <p:txBody>
          <a:bodyPr/>
          <a:lstStyle>
            <a:lvl1pPr>
              <a:defRPr sz="5400"/>
            </a:lvl1pPr>
          </a:lstStyle>
          <a:p>
            <a:pPr/>
            <a:r>
              <a:t>Approach #3: look for special words</a:t>
            </a:r>
          </a:p>
        </p:txBody>
      </p:sp>
      <p:sp>
        <p:nvSpPr>
          <p:cNvPr id="175" name="Shape 175"/>
          <p:cNvSpPr/>
          <p:nvPr>
            <p:ph type="body" sz="quarter" idx="1"/>
          </p:nvPr>
        </p:nvSpPr>
        <p:spPr>
          <a:xfrm>
            <a:off x="952500" y="6731000"/>
            <a:ext cx="11099800" cy="2159000"/>
          </a:xfrm>
          <a:prstGeom prst="rect">
            <a:avLst/>
          </a:prstGeom>
        </p:spPr>
        <p:txBody>
          <a:bodyPr/>
          <a:lstStyle/>
          <a:p>
            <a:pPr marL="364489" indent="-364489" defTabSz="479044">
              <a:spcBef>
                <a:spcPts val="2100"/>
              </a:spcBef>
              <a:defRPr sz="2952"/>
            </a:pPr>
            <a:r>
              <a:t>Experts in the field had considered this, but did not see how to use this to determine authorship with certainty</a:t>
            </a:r>
          </a:p>
          <a:p>
            <a:pPr marL="364489" indent="-364489" defTabSz="479044">
              <a:spcBef>
                <a:spcPts val="2100"/>
              </a:spcBef>
              <a:defRPr sz="2952"/>
            </a:pPr>
            <a:r>
              <a:t>But Mosteller and Wallace pursued it in the hope that with enough markers the evidence would become overwhelming</a:t>
            </a:r>
          </a:p>
        </p:txBody>
      </p:sp>
      <p:pic>
        <p:nvPicPr>
          <p:cNvPr id="176" name="Screen Shot 2014-02-23 at 3.10.05 PM.png"/>
          <p:cNvPicPr>
            <a:picLocks noChangeAspect="1"/>
          </p:cNvPicPr>
          <p:nvPr/>
        </p:nvPicPr>
        <p:blipFill>
          <a:blip r:embed="rId2">
            <a:extLst/>
          </a:blip>
          <a:stretch>
            <a:fillRect/>
          </a:stretch>
        </p:blipFill>
        <p:spPr>
          <a:xfrm rot="30000">
            <a:off x="482600" y="2662584"/>
            <a:ext cx="12039600" cy="3810001"/>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8" name="Shape 178"/>
          <p:cNvSpPr/>
          <p:nvPr>
            <p:ph type="title"/>
          </p:nvPr>
        </p:nvSpPr>
        <p:spPr>
          <a:prstGeom prst="rect">
            <a:avLst/>
          </a:prstGeom>
        </p:spPr>
        <p:txBody>
          <a:bodyPr/>
          <a:lstStyle/>
          <a:p>
            <a:pPr/>
            <a:r>
              <a:t>Mosteller and Wallace’s approach</a:t>
            </a:r>
          </a:p>
        </p:txBody>
      </p:sp>
      <p:pic>
        <p:nvPicPr>
          <p:cNvPr id="179" name="Screen Shot 2014-02-23 at 3.24.07 PM.png"/>
          <p:cNvPicPr>
            <a:picLocks noChangeAspect="1"/>
          </p:cNvPicPr>
          <p:nvPr/>
        </p:nvPicPr>
        <p:blipFill>
          <a:blip r:embed="rId3">
            <a:extLst/>
          </a:blip>
          <a:stretch>
            <a:fillRect/>
          </a:stretch>
        </p:blipFill>
        <p:spPr>
          <a:xfrm rot="30000">
            <a:off x="1356996" y="3006721"/>
            <a:ext cx="10290808" cy="6368939"/>
          </a:xfrm>
          <a:prstGeom prst="rect">
            <a:avLst/>
          </a:prstGeom>
          <a:ln w="12700">
            <a:miter lim="400000"/>
          </a:ln>
        </p:spPr>
      </p:pic>
      <p:pic>
        <p:nvPicPr>
          <p:cNvPr id="180" name="Screen Shot 2014-02-23 at 3.23.47 PM.png"/>
          <p:cNvPicPr>
            <a:picLocks noChangeAspect="1"/>
          </p:cNvPicPr>
          <p:nvPr/>
        </p:nvPicPr>
        <p:blipFill>
          <a:blip r:embed="rId4">
            <a:extLst/>
          </a:blip>
          <a:stretch>
            <a:fillRect/>
          </a:stretch>
        </p:blipFill>
        <p:spPr>
          <a:xfrm>
            <a:off x="1389758" y="2213149"/>
            <a:ext cx="10225284" cy="800909"/>
          </a:xfrm>
          <a:prstGeom prst="rect">
            <a:avLst/>
          </a:prstGeom>
          <a:ln w="12700">
            <a:miter lim="400000"/>
          </a:ln>
        </p:spPr>
      </p:pic>
      <p:sp>
        <p:nvSpPr>
          <p:cNvPr id="181" name="Shape 181"/>
          <p:cNvSpPr/>
          <p:nvPr/>
        </p:nvSpPr>
        <p:spPr>
          <a:xfrm flipV="1">
            <a:off x="1151045" y="2322883"/>
            <a:ext cx="1" cy="2325657"/>
          </a:xfrm>
          <a:prstGeom prst="line">
            <a:avLst/>
          </a:prstGeom>
          <a:ln w="25400">
            <a:solidFill>
              <a:srgbClr val="000000"/>
            </a:solidFill>
            <a:miter lim="400000"/>
          </a:ln>
        </p:spPr>
        <p:txBody>
          <a:bodyPr lIns="50800" tIns="50800" rIns="50800" bIns="50800" anchor="ctr"/>
          <a:lstStyle/>
          <a:p>
            <a:pPr>
              <a:defRPr sz="2400"/>
            </a:pPr>
          </a:p>
        </p:txBody>
      </p:sp>
      <p:sp>
        <p:nvSpPr>
          <p:cNvPr id="182" name="Shape 182"/>
          <p:cNvSpPr/>
          <p:nvPr/>
        </p:nvSpPr>
        <p:spPr>
          <a:xfrm flipV="1">
            <a:off x="1151045" y="6266510"/>
            <a:ext cx="1" cy="2325656"/>
          </a:xfrm>
          <a:prstGeom prst="line">
            <a:avLst/>
          </a:prstGeom>
          <a:ln w="25400">
            <a:solidFill>
              <a:srgbClr val="000000"/>
            </a:solidFill>
            <a:miter lim="400000"/>
          </a:ln>
        </p:spPr>
        <p:txBody>
          <a:bodyPr lIns="50800" tIns="50800" rIns="50800" bIns="50800" anchor="ctr"/>
          <a:lstStyle/>
          <a:p>
            <a:pPr>
              <a:defRPr sz="2400"/>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6" name="Shape 186"/>
          <p:cNvSpPr/>
          <p:nvPr>
            <p:ph type="title"/>
          </p:nvPr>
        </p:nvSpPr>
        <p:spPr>
          <a:prstGeom prst="rect">
            <a:avLst/>
          </a:prstGeom>
        </p:spPr>
        <p:txBody>
          <a:bodyPr/>
          <a:lstStyle/>
          <a:p>
            <a:pPr/>
            <a:r>
              <a:t>Tabulated data</a:t>
            </a:r>
          </a:p>
        </p:txBody>
      </p:sp>
      <p:pic>
        <p:nvPicPr>
          <p:cNvPr id="187" name="Screen Shot 2014-02-23 at 3.14.39 PM.png"/>
          <p:cNvPicPr>
            <a:picLocks noChangeAspect="1"/>
          </p:cNvPicPr>
          <p:nvPr/>
        </p:nvPicPr>
        <p:blipFill>
          <a:blip r:embed="rId2">
            <a:extLst/>
          </a:blip>
          <a:stretch>
            <a:fillRect/>
          </a:stretch>
        </p:blipFill>
        <p:spPr>
          <a:xfrm rot="30000">
            <a:off x="2359961" y="2127188"/>
            <a:ext cx="8284878" cy="7251824"/>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89" name="Screen Shot 2014-02-23 at 3.29.23 PM.png"/>
          <p:cNvPicPr>
            <a:picLocks noChangeAspect="1"/>
          </p:cNvPicPr>
          <p:nvPr/>
        </p:nvPicPr>
        <p:blipFill>
          <a:blip r:embed="rId2">
            <a:extLst/>
          </a:blip>
          <a:stretch>
            <a:fillRect/>
          </a:stretch>
        </p:blipFill>
        <p:spPr>
          <a:xfrm rot="21516000">
            <a:off x="627109" y="1791780"/>
            <a:ext cx="5823452" cy="7029152"/>
          </a:xfrm>
          <a:prstGeom prst="rect">
            <a:avLst/>
          </a:prstGeom>
          <a:ln w="12700">
            <a:miter lim="400000"/>
          </a:ln>
        </p:spPr>
      </p:pic>
      <p:sp>
        <p:nvSpPr>
          <p:cNvPr id="190" name="Shape 190"/>
          <p:cNvSpPr/>
          <p:nvPr>
            <p:ph type="title"/>
          </p:nvPr>
        </p:nvSpPr>
        <p:spPr>
          <a:xfrm>
            <a:off x="437232" y="-254000"/>
            <a:ext cx="12130336" cy="2159000"/>
          </a:xfrm>
          <a:prstGeom prst="rect">
            <a:avLst/>
          </a:prstGeom>
        </p:spPr>
        <p:txBody>
          <a:bodyPr/>
          <a:lstStyle/>
          <a:p>
            <a:pPr/>
            <a:r>
              <a:t>Systematic study</a:t>
            </a:r>
          </a:p>
        </p:txBody>
      </p:sp>
      <p:pic>
        <p:nvPicPr>
          <p:cNvPr id="191" name="Screen Shot 2014-02-23 at 3.29.33 PM.png"/>
          <p:cNvPicPr>
            <a:picLocks noChangeAspect="1"/>
          </p:cNvPicPr>
          <p:nvPr/>
        </p:nvPicPr>
        <p:blipFill>
          <a:blip r:embed="rId3">
            <a:extLst/>
          </a:blip>
          <a:stretch>
            <a:fillRect/>
          </a:stretch>
        </p:blipFill>
        <p:spPr>
          <a:xfrm rot="30000">
            <a:off x="6727728" y="1913744"/>
            <a:ext cx="6011117" cy="6400022"/>
          </a:xfrm>
          <a:prstGeom prst="rect">
            <a:avLst/>
          </a:prstGeom>
          <a:ln w="12700">
            <a:miter lim="400000"/>
          </a:ln>
        </p:spPr>
      </p:pic>
      <p:sp>
        <p:nvSpPr>
          <p:cNvPr id="192" name="Shape 192"/>
          <p:cNvSpPr/>
          <p:nvPr/>
        </p:nvSpPr>
        <p:spPr>
          <a:xfrm>
            <a:off x="513029" y="1758950"/>
            <a:ext cx="207012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90000"/>
              </a:lnSpc>
              <a:spcBef>
                <a:spcPts val="2600"/>
              </a:spcBef>
              <a:defRPr b="1">
                <a:latin typeface="+mj-lt"/>
                <a:ea typeface="+mj-ea"/>
                <a:cs typeface="+mj-cs"/>
                <a:sym typeface="Helvetica"/>
              </a:defRPr>
            </a:lvl1pPr>
          </a:lstStyle>
          <a:p>
            <a:pPr/>
            <a:r>
              <a:t>Hamilton</a:t>
            </a:r>
          </a:p>
        </p:txBody>
      </p:sp>
      <p:sp>
        <p:nvSpPr>
          <p:cNvPr id="193" name="Shape 193"/>
          <p:cNvSpPr/>
          <p:nvPr/>
        </p:nvSpPr>
        <p:spPr>
          <a:xfrm>
            <a:off x="6774129" y="1758950"/>
            <a:ext cx="1968550"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90000"/>
              </a:lnSpc>
              <a:spcBef>
                <a:spcPts val="2600"/>
              </a:spcBef>
              <a:defRPr b="1">
                <a:latin typeface="+mj-lt"/>
                <a:ea typeface="+mj-ea"/>
                <a:cs typeface="+mj-cs"/>
                <a:sym typeface="Helvetica"/>
              </a:defRPr>
            </a:lvl1pPr>
          </a:lstStyle>
          <a:p>
            <a:pPr/>
            <a:r>
              <a:t>Madison</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195" name="Screen Shot 2014-02-23 at 3.29.42 PM.png"/>
          <p:cNvPicPr>
            <a:picLocks noChangeAspect="1"/>
          </p:cNvPicPr>
          <p:nvPr/>
        </p:nvPicPr>
        <p:blipFill>
          <a:blip r:embed="rId2">
            <a:extLst/>
          </a:blip>
          <a:stretch>
            <a:fillRect/>
          </a:stretch>
        </p:blipFill>
        <p:spPr>
          <a:xfrm rot="21557999">
            <a:off x="3194222" y="257376"/>
            <a:ext cx="6616356" cy="6420937"/>
          </a:xfrm>
          <a:prstGeom prst="rect">
            <a:avLst/>
          </a:prstGeom>
          <a:ln w="12700">
            <a:miter lim="400000"/>
          </a:ln>
        </p:spPr>
      </p:pic>
      <p:pic>
        <p:nvPicPr>
          <p:cNvPr id="196" name="Screen Shot 2014-02-23 at 3.36.48 PM.png"/>
          <p:cNvPicPr>
            <a:picLocks noChangeAspect="1"/>
          </p:cNvPicPr>
          <p:nvPr/>
        </p:nvPicPr>
        <p:blipFill>
          <a:blip r:embed="rId3">
            <a:extLst/>
          </a:blip>
          <a:stretch>
            <a:fillRect/>
          </a:stretch>
        </p:blipFill>
        <p:spPr>
          <a:xfrm rot="30000">
            <a:off x="1741612" y="6921537"/>
            <a:ext cx="9521576" cy="2408459"/>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8" name="Shape 198"/>
          <p:cNvSpPr/>
          <p:nvPr>
            <p:ph type="title"/>
          </p:nvPr>
        </p:nvSpPr>
        <p:spPr>
          <a:prstGeom prst="rect">
            <a:avLst/>
          </a:prstGeom>
        </p:spPr>
        <p:txBody>
          <a:bodyPr/>
          <a:lstStyle/>
          <a:p>
            <a:pPr/>
            <a:r>
              <a:t>Getting more specific</a:t>
            </a:r>
          </a:p>
        </p:txBody>
      </p:sp>
      <p:sp>
        <p:nvSpPr>
          <p:cNvPr id="199" name="Shape 199"/>
          <p:cNvSpPr/>
          <p:nvPr>
            <p:ph type="body" idx="1"/>
          </p:nvPr>
        </p:nvSpPr>
        <p:spPr>
          <a:prstGeom prst="rect">
            <a:avLst/>
          </a:prstGeom>
        </p:spPr>
        <p:txBody>
          <a:bodyPr/>
          <a:lstStyle/>
          <a:p>
            <a:pPr marL="440055" indent="-440055" defTabSz="578358">
              <a:spcBef>
                <a:spcPts val="2500"/>
              </a:spcBef>
              <a:defRPr sz="3564"/>
            </a:pPr>
            <a:r>
              <a:t>How can we ascribe an actual probability that a given paper is written by Hamilton and Madison?</a:t>
            </a:r>
          </a:p>
          <a:p>
            <a:pPr marL="440055" indent="-440055" defTabSz="578358">
              <a:spcBef>
                <a:spcPts val="2500"/>
              </a:spcBef>
              <a:defRPr sz="3564"/>
            </a:pPr>
            <a:r>
              <a:t>A random variable </a:t>
            </a:r>
            <a:r>
              <a:rPr b="0" i="1"/>
              <a:t>X</a:t>
            </a:r>
            <a:r>
              <a:t> follows a Poisson distribution if</a:t>
            </a:r>
          </a:p>
          <a:p>
            <a:pPr marL="440055" indent="-440055" defTabSz="578358">
              <a:spcBef>
                <a:spcPts val="2500"/>
              </a:spcBef>
              <a:defRPr sz="3564"/>
            </a:pPr>
          </a:p>
          <a:p>
            <a:pPr marL="440055" indent="-440055" defTabSz="578358">
              <a:spcBef>
                <a:spcPts val="2500"/>
              </a:spcBef>
              <a:defRPr sz="3564"/>
            </a:pPr>
          </a:p>
          <a:p>
            <a:pPr marL="440055" indent="-440055" defTabSz="578358">
              <a:spcBef>
                <a:spcPts val="2500"/>
              </a:spcBef>
              <a:defRPr sz="3564"/>
            </a:pPr>
            <a:r>
              <a:t>A good model: the total number of occurrences of a particular word in a given paper follows a Poisson distribution </a:t>
            </a:r>
          </a:p>
        </p:txBody>
      </p:sp>
      <p:pic>
        <p:nvPicPr>
          <p:cNvPr id="200" name="pres.pdf"/>
          <p:cNvPicPr>
            <a:picLocks noChangeAspect="1"/>
          </p:cNvPicPr>
          <p:nvPr/>
        </p:nvPicPr>
        <p:blipFill>
          <a:blip r:embed="rId3">
            <a:extLst/>
          </a:blip>
          <a:stretch>
            <a:fillRect/>
          </a:stretch>
        </p:blipFill>
        <p:spPr>
          <a:xfrm>
            <a:off x="5094552" y="5383902"/>
            <a:ext cx="2815696" cy="725696"/>
          </a:xfrm>
          <a:prstGeom prst="rect">
            <a:avLst/>
          </a:prstGeom>
          <a:ln w="12700">
            <a:miter lim="400000"/>
          </a:ln>
        </p:spPr>
      </p:pic>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4" name="Shape 204"/>
          <p:cNvSpPr/>
          <p:nvPr>
            <p:ph type="title"/>
          </p:nvPr>
        </p:nvSpPr>
        <p:spPr>
          <a:prstGeom prst="rect">
            <a:avLst/>
          </a:prstGeom>
        </p:spPr>
        <p:txBody>
          <a:bodyPr/>
          <a:lstStyle/>
          <a:p>
            <a:pPr/>
            <a:r>
              <a:t>Bayes’ Theorem</a:t>
            </a:r>
          </a:p>
        </p:txBody>
      </p:sp>
      <p:sp>
        <p:nvSpPr>
          <p:cNvPr id="205" name="Shape 205"/>
          <p:cNvSpPr/>
          <p:nvPr>
            <p:ph type="body" idx="1"/>
          </p:nvPr>
        </p:nvSpPr>
        <p:spPr>
          <a:xfrm>
            <a:off x="952500" y="2606395"/>
            <a:ext cx="11099801" cy="6286501"/>
          </a:xfrm>
          <a:prstGeom prst="rect">
            <a:avLst/>
          </a:prstGeom>
        </p:spPr>
        <p:txBody>
          <a:bodyPr anchor="t"/>
          <a:lstStyle/>
          <a:p>
            <a:pPr marL="432152" indent="-432152">
              <a:defRPr sz="3500"/>
            </a:pPr>
            <a:r>
              <a:t>Let </a:t>
            </a:r>
            <a:r>
              <a:rPr b="0" i="1"/>
              <a:t>F</a:t>
            </a:r>
            <a:r>
              <a:t> be the event that the TV weather forecast says it will rain, and let </a:t>
            </a:r>
            <a:r>
              <a:rPr b="0" i="1"/>
              <a:t>R</a:t>
            </a:r>
            <a:r>
              <a:t> be the event that it actually rains</a:t>
            </a:r>
          </a:p>
          <a:p>
            <a:pPr marL="432152" indent="-432152">
              <a:defRPr sz="3500"/>
            </a:pPr>
            <a:r>
              <a:t>The probability of </a:t>
            </a:r>
          </a:p>
          <a:p>
            <a:pPr marL="432152" indent="-432152">
              <a:defRPr sz="3500"/>
            </a:pPr>
          </a:p>
          <a:p>
            <a:pPr marL="432152" indent="-432152">
              <a:defRPr sz="3500"/>
            </a:pPr>
          </a:p>
          <a:p>
            <a:pPr marL="432152" indent="-432152">
              <a:defRPr sz="3500"/>
            </a:pPr>
            <a:r>
              <a:t>Similarly,                             and hence</a:t>
            </a:r>
          </a:p>
        </p:txBody>
      </p:sp>
      <p:pic>
        <p:nvPicPr>
          <p:cNvPr id="206" name="pres5.pdf"/>
          <p:cNvPicPr>
            <a:picLocks noChangeAspect="1"/>
          </p:cNvPicPr>
          <p:nvPr/>
        </p:nvPicPr>
        <p:blipFill>
          <a:blip r:embed="rId2">
            <a:extLst/>
          </a:blip>
          <a:stretch>
            <a:fillRect/>
          </a:stretch>
        </p:blipFill>
        <p:spPr>
          <a:xfrm>
            <a:off x="3984657" y="4781649"/>
            <a:ext cx="5035486" cy="419625"/>
          </a:xfrm>
          <a:prstGeom prst="rect">
            <a:avLst/>
          </a:prstGeom>
          <a:ln w="12700">
            <a:miter lim="400000"/>
          </a:ln>
        </p:spPr>
      </p:pic>
      <p:sp>
        <p:nvSpPr>
          <p:cNvPr id="207" name="Shape 207"/>
          <p:cNvSpPr/>
          <p:nvPr/>
        </p:nvSpPr>
        <p:spPr>
          <a:xfrm flipV="1">
            <a:off x="4421137" y="5209455"/>
            <a:ext cx="254051" cy="413391"/>
          </a:xfrm>
          <a:prstGeom prst="line">
            <a:avLst/>
          </a:prstGeom>
          <a:ln w="38100">
            <a:solidFill>
              <a:schemeClr val="accent6"/>
            </a:solidFill>
            <a:miter lim="400000"/>
            <a:tailEnd type="triangle"/>
          </a:ln>
        </p:spPr>
        <p:txBody>
          <a:bodyPr lIns="50800" tIns="50800" rIns="50800" bIns="50800" anchor="ctr"/>
          <a:lstStyle/>
          <a:p>
            <a:pPr>
              <a:defRPr sz="2400"/>
            </a:pPr>
          </a:p>
        </p:txBody>
      </p:sp>
      <p:sp>
        <p:nvSpPr>
          <p:cNvPr id="208" name="Shape 208"/>
          <p:cNvSpPr/>
          <p:nvPr/>
        </p:nvSpPr>
        <p:spPr>
          <a:xfrm>
            <a:off x="3072155" y="5577839"/>
            <a:ext cx="2702927" cy="6807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90000"/>
              </a:lnSpc>
              <a:defRPr b="1" sz="2000">
                <a:solidFill>
                  <a:schemeClr val="accent6"/>
                </a:solidFill>
                <a:latin typeface="+mj-lt"/>
                <a:ea typeface="+mj-ea"/>
                <a:cs typeface="+mj-cs"/>
                <a:sym typeface="Helvetica"/>
              </a:defRPr>
            </a:lvl1pPr>
          </a:lstStyle>
          <a:p>
            <a:pPr/>
            <a:r>
              <a:t>Joint probability of both events</a:t>
            </a:r>
          </a:p>
        </p:txBody>
      </p:sp>
      <p:sp>
        <p:nvSpPr>
          <p:cNvPr id="209" name="Shape 209"/>
          <p:cNvSpPr/>
          <p:nvPr/>
        </p:nvSpPr>
        <p:spPr>
          <a:xfrm flipH="1" flipV="1">
            <a:off x="8586787" y="5209455"/>
            <a:ext cx="302638" cy="302638"/>
          </a:xfrm>
          <a:prstGeom prst="line">
            <a:avLst/>
          </a:prstGeom>
          <a:ln w="38100">
            <a:solidFill>
              <a:schemeClr val="accent6"/>
            </a:solidFill>
            <a:miter lim="400000"/>
            <a:tailEnd type="triangle"/>
          </a:ln>
        </p:spPr>
        <p:txBody>
          <a:bodyPr lIns="50800" tIns="50800" rIns="50800" bIns="50800" anchor="ctr"/>
          <a:lstStyle/>
          <a:p>
            <a:pPr>
              <a:defRPr sz="2400"/>
            </a:pPr>
          </a:p>
        </p:txBody>
      </p:sp>
      <p:sp>
        <p:nvSpPr>
          <p:cNvPr id="210" name="Shape 210"/>
          <p:cNvSpPr/>
          <p:nvPr/>
        </p:nvSpPr>
        <p:spPr>
          <a:xfrm>
            <a:off x="7898155" y="5567680"/>
            <a:ext cx="2702927" cy="9550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90000"/>
              </a:lnSpc>
              <a:defRPr b="1" sz="2000">
                <a:solidFill>
                  <a:schemeClr val="accent6"/>
                </a:solidFill>
                <a:latin typeface="+mj-lt"/>
                <a:ea typeface="+mj-ea"/>
                <a:cs typeface="+mj-cs"/>
                <a:sym typeface="Helvetica"/>
              </a:defRPr>
            </a:pPr>
            <a:r>
              <a:t>Probability of </a:t>
            </a:r>
            <a:r>
              <a:rPr b="0" i="1"/>
              <a:t>F</a:t>
            </a:r>
            <a:r>
              <a:t> happening given that </a:t>
            </a:r>
            <a:r>
              <a:rPr b="0" i="1"/>
              <a:t>R</a:t>
            </a:r>
            <a:r>
              <a:t> happened</a:t>
            </a:r>
          </a:p>
        </p:txBody>
      </p:sp>
      <p:pic>
        <p:nvPicPr>
          <p:cNvPr id="211" name="pres6.pdf"/>
          <p:cNvPicPr>
            <a:picLocks noChangeAspect="1"/>
          </p:cNvPicPr>
          <p:nvPr/>
        </p:nvPicPr>
        <p:blipFill>
          <a:blip r:embed="rId3">
            <a:extLst/>
          </a:blip>
          <a:stretch>
            <a:fillRect/>
          </a:stretch>
        </p:blipFill>
        <p:spPr>
          <a:xfrm>
            <a:off x="3217019" y="6774826"/>
            <a:ext cx="3969283" cy="437295"/>
          </a:xfrm>
          <a:prstGeom prst="rect">
            <a:avLst/>
          </a:prstGeom>
          <a:ln w="12700">
            <a:miter lim="400000"/>
          </a:ln>
        </p:spPr>
      </p:pic>
      <p:pic>
        <p:nvPicPr>
          <p:cNvPr id="212" name="pres7.pdf"/>
          <p:cNvPicPr>
            <a:picLocks noChangeAspect="1"/>
          </p:cNvPicPr>
          <p:nvPr/>
        </p:nvPicPr>
        <p:blipFill>
          <a:blip r:embed="rId4">
            <a:extLst/>
          </a:blip>
          <a:stretch>
            <a:fillRect/>
          </a:stretch>
        </p:blipFill>
        <p:spPr>
          <a:xfrm>
            <a:off x="3860783" y="7715052"/>
            <a:ext cx="5283235" cy="975885"/>
          </a:xfrm>
          <a:prstGeom prst="rect">
            <a:avLst/>
          </a:prstGeom>
          <a:ln w="12700">
            <a:miter lim="400000"/>
          </a:ln>
        </p:spPr>
      </p:pic>
      <p:sp>
        <p:nvSpPr>
          <p:cNvPr id="213" name="Shape 213"/>
          <p:cNvSpPr/>
          <p:nvPr/>
        </p:nvSpPr>
        <p:spPr>
          <a:xfrm flipH="1" flipV="1">
            <a:off x="8789987" y="8524155"/>
            <a:ext cx="302638" cy="302638"/>
          </a:xfrm>
          <a:prstGeom prst="line">
            <a:avLst/>
          </a:prstGeom>
          <a:ln w="38100">
            <a:solidFill>
              <a:schemeClr val="accent6"/>
            </a:solidFill>
            <a:miter lim="400000"/>
            <a:tailEnd type="triangle"/>
          </a:ln>
        </p:spPr>
        <p:txBody>
          <a:bodyPr lIns="50800" tIns="50800" rIns="50800" bIns="50800" anchor="ctr"/>
          <a:lstStyle/>
          <a:p>
            <a:pPr>
              <a:defRPr sz="2400"/>
            </a:pPr>
          </a:p>
        </p:txBody>
      </p:sp>
      <p:sp>
        <p:nvSpPr>
          <p:cNvPr id="214" name="Shape 214"/>
          <p:cNvSpPr/>
          <p:nvPr/>
        </p:nvSpPr>
        <p:spPr>
          <a:xfrm>
            <a:off x="8567484" y="8905239"/>
            <a:ext cx="2250143" cy="6807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90000"/>
              </a:lnSpc>
              <a:defRPr b="1" sz="2000">
                <a:solidFill>
                  <a:schemeClr val="accent6"/>
                </a:solidFill>
                <a:latin typeface="+mj-lt"/>
                <a:ea typeface="+mj-ea"/>
                <a:cs typeface="+mj-cs"/>
                <a:sym typeface="Helvetica"/>
              </a:defRPr>
            </a:pPr>
            <a:r>
              <a:rPr>
                <a:solidFill>
                  <a:schemeClr val="accent1">
                    <a:hueOff val="47394"/>
                    <a:satOff val="-25753"/>
                    <a:lumOff val="-7544"/>
                  </a:schemeClr>
                </a:solidFill>
              </a:rPr>
              <a:t>Prior</a:t>
            </a:r>
            <a:r>
              <a:t> – my initial estimate of rain</a:t>
            </a:r>
          </a:p>
        </p:txBody>
      </p:sp>
      <p:sp>
        <p:nvSpPr>
          <p:cNvPr id="215" name="Shape 215"/>
          <p:cNvSpPr/>
          <p:nvPr/>
        </p:nvSpPr>
        <p:spPr>
          <a:xfrm flipV="1">
            <a:off x="3955079" y="8494782"/>
            <a:ext cx="302638" cy="302638"/>
          </a:xfrm>
          <a:prstGeom prst="line">
            <a:avLst/>
          </a:prstGeom>
          <a:ln w="38100">
            <a:solidFill>
              <a:schemeClr val="accent6"/>
            </a:solidFill>
            <a:miter lim="400000"/>
            <a:tailEnd type="triangle"/>
          </a:ln>
        </p:spPr>
        <p:txBody>
          <a:bodyPr lIns="50800" tIns="50800" rIns="50800" bIns="50800" anchor="ctr"/>
          <a:lstStyle/>
          <a:p>
            <a:pPr>
              <a:defRPr sz="2400"/>
            </a:pPr>
          </a:p>
        </p:txBody>
      </p:sp>
      <p:sp>
        <p:nvSpPr>
          <p:cNvPr id="216" name="Shape 216"/>
          <p:cNvSpPr/>
          <p:nvPr/>
        </p:nvSpPr>
        <p:spPr>
          <a:xfrm>
            <a:off x="2204784" y="8768080"/>
            <a:ext cx="3425438" cy="9550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90000"/>
              </a:lnSpc>
              <a:defRPr b="1" sz="2000">
                <a:solidFill>
                  <a:schemeClr val="accent6"/>
                </a:solidFill>
                <a:latin typeface="+mj-lt"/>
                <a:ea typeface="+mj-ea"/>
                <a:cs typeface="+mj-cs"/>
                <a:sym typeface="Helvetica"/>
              </a:defRPr>
            </a:pPr>
            <a:r>
              <a:rPr>
                <a:solidFill>
                  <a:schemeClr val="accent1">
                    <a:hueOff val="47394"/>
                    <a:satOff val="-25753"/>
                    <a:lumOff val="-7544"/>
                  </a:schemeClr>
                </a:solidFill>
              </a:rPr>
              <a:t>Posterior</a:t>
            </a:r>
            <a:r>
              <a:t> – my estimate of rain, given the rainy forecast</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18" name="Shape 218"/>
          <p:cNvSpPr/>
          <p:nvPr>
            <p:ph type="body" sz="half" idx="1"/>
          </p:nvPr>
        </p:nvSpPr>
        <p:spPr>
          <a:xfrm>
            <a:off x="952500" y="5094014"/>
            <a:ext cx="11099801" cy="2310012"/>
          </a:xfrm>
          <a:prstGeom prst="rect">
            <a:avLst/>
          </a:prstGeom>
        </p:spPr>
        <p:txBody>
          <a:bodyPr/>
          <a:lstStyle/>
          <a:p>
            <a:pPr marL="404495" indent="-404495" defTabSz="531622">
              <a:spcBef>
                <a:spcPts val="2300"/>
              </a:spcBef>
              <a:defRPr sz="3276"/>
            </a:pPr>
            <a:r>
              <a:t>Let </a:t>
            </a:r>
            <a:r>
              <a:rPr b="0" i="1"/>
              <a:t>H</a:t>
            </a:r>
            <a:r>
              <a:t> be the event that Hamilton wrote the paper, and let </a:t>
            </a:r>
            <a:r>
              <a:rPr b="0" i="1"/>
              <a:t>M</a:t>
            </a:r>
            <a:r>
              <a:t> be the event that Madison wrote the paper</a:t>
            </a:r>
          </a:p>
          <a:p>
            <a:pPr marL="404495" indent="-404495" defTabSz="531622">
              <a:spcBef>
                <a:spcPts val="2300"/>
              </a:spcBef>
              <a:defRPr sz="3276"/>
            </a:pPr>
            <a:r>
              <a:t>Suppose that “also” is used 4 times a paper. What are the odds that Hamilton wrote the paper?</a:t>
            </a:r>
          </a:p>
        </p:txBody>
      </p:sp>
      <p:pic>
        <p:nvPicPr>
          <p:cNvPr id="219" name="Screen Shot 2014-02-23 at 8.55.24 PM.png"/>
          <p:cNvPicPr>
            <a:picLocks noChangeAspect="1"/>
          </p:cNvPicPr>
          <p:nvPr/>
        </p:nvPicPr>
        <p:blipFill>
          <a:blip r:embed="rId2">
            <a:extLst/>
          </a:blip>
          <a:stretch>
            <a:fillRect/>
          </a:stretch>
        </p:blipFill>
        <p:spPr>
          <a:xfrm>
            <a:off x="5059146" y="416471"/>
            <a:ext cx="6244486" cy="4389388"/>
          </a:xfrm>
          <a:prstGeom prst="rect">
            <a:avLst/>
          </a:prstGeom>
          <a:ln w="12700">
            <a:miter lim="400000"/>
          </a:ln>
        </p:spPr>
      </p:pic>
      <p:pic>
        <p:nvPicPr>
          <p:cNvPr id="220" name="pres8.pdf"/>
          <p:cNvPicPr>
            <a:picLocks noChangeAspect="1"/>
          </p:cNvPicPr>
          <p:nvPr/>
        </p:nvPicPr>
        <p:blipFill>
          <a:blip r:embed="rId3">
            <a:extLst/>
          </a:blip>
          <a:stretch>
            <a:fillRect/>
          </a:stretch>
        </p:blipFill>
        <p:spPr>
          <a:xfrm>
            <a:off x="3993767" y="7560716"/>
            <a:ext cx="5017266" cy="1533776"/>
          </a:xfrm>
          <a:prstGeom prst="rect">
            <a:avLst/>
          </a:prstGeom>
          <a:ln w="12700">
            <a:miter lim="400000"/>
          </a:ln>
        </p:spPr>
      </p:pic>
      <p:sp>
        <p:nvSpPr>
          <p:cNvPr id="221" name="Shape 221"/>
          <p:cNvSpPr/>
          <p:nvPr/>
        </p:nvSpPr>
        <p:spPr>
          <a:xfrm>
            <a:off x="940885" y="1374565"/>
            <a:ext cx="4186195" cy="14122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90000"/>
              </a:lnSpc>
              <a:defRPr b="1" sz="2200">
                <a:solidFill>
                  <a:schemeClr val="accent6"/>
                </a:solidFill>
                <a:latin typeface="+mj-lt"/>
                <a:ea typeface="+mj-ea"/>
                <a:cs typeface="+mj-cs"/>
                <a:sym typeface="Helvetica"/>
              </a:defRPr>
            </a:pPr>
            <a:r>
              <a:t>Expected number of occurrences</a:t>
            </a:r>
          </a:p>
          <a:p>
            <a:pPr>
              <a:lnSpc>
                <a:spcPct val="90000"/>
              </a:lnSpc>
              <a:defRPr b="1" sz="2200">
                <a:solidFill>
                  <a:schemeClr val="accent6"/>
                </a:solidFill>
                <a:latin typeface="+mj-lt"/>
                <a:ea typeface="+mj-ea"/>
                <a:cs typeface="+mj-cs"/>
                <a:sym typeface="Helvetica"/>
              </a:defRPr>
            </a:pPr>
            <a:r>
              <a:rPr i="1"/>
              <a:t>w </a:t>
            </a:r>
            <a:r>
              <a:t>= word count in 1000s</a:t>
            </a:r>
          </a:p>
          <a:p>
            <a:pPr>
              <a:lnSpc>
                <a:spcPct val="90000"/>
              </a:lnSpc>
              <a:defRPr b="1" sz="2200">
                <a:solidFill>
                  <a:schemeClr val="accent6"/>
                </a:solidFill>
                <a:latin typeface="+mj-lt"/>
                <a:ea typeface="+mj-ea"/>
                <a:cs typeface="+mj-cs"/>
                <a:sym typeface="Helvetica"/>
              </a:defRPr>
            </a:pPr>
            <a:r>
              <a:rPr i="1"/>
              <a:t>𝜇 </a:t>
            </a:r>
            <a:r>
              <a:t>= rate per 1000 words</a:t>
            </a:r>
          </a:p>
        </p:txBody>
      </p:sp>
      <p:sp>
        <p:nvSpPr>
          <p:cNvPr id="222" name="Shape 222"/>
          <p:cNvSpPr/>
          <p:nvPr/>
        </p:nvSpPr>
        <p:spPr>
          <a:xfrm>
            <a:off x="9462683" y="7654135"/>
            <a:ext cx="1266686" cy="520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90000"/>
              </a:lnSpc>
              <a:defRPr b="1" sz="2200">
                <a:solidFill>
                  <a:schemeClr val="accent6"/>
                </a:solidFill>
                <a:latin typeface="+mj-lt"/>
                <a:ea typeface="+mj-ea"/>
                <a:cs typeface="+mj-cs"/>
                <a:sym typeface="Helvetica"/>
              </a:defRPr>
            </a:pPr>
            <a:r>
              <a:rPr i="1"/>
              <a:t>𝜇</a:t>
            </a:r>
            <a:r>
              <a:rPr baseline="-5999" i="1" sz="2100"/>
              <a:t>H</a:t>
            </a:r>
            <a:r>
              <a:rPr i="1"/>
              <a:t> </a:t>
            </a:r>
            <a:r>
              <a:t>= 0.31</a:t>
            </a:r>
          </a:p>
        </p:txBody>
      </p:sp>
      <p:sp>
        <p:nvSpPr>
          <p:cNvPr id="223" name="Shape 223"/>
          <p:cNvSpPr/>
          <p:nvPr/>
        </p:nvSpPr>
        <p:spPr>
          <a:xfrm>
            <a:off x="9452829" y="8386898"/>
            <a:ext cx="1286393" cy="520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90000"/>
              </a:lnSpc>
              <a:defRPr b="1" sz="2200">
                <a:solidFill>
                  <a:schemeClr val="accent6"/>
                </a:solidFill>
                <a:latin typeface="+mj-lt"/>
                <a:ea typeface="+mj-ea"/>
                <a:cs typeface="+mj-cs"/>
                <a:sym typeface="Helvetica"/>
              </a:defRPr>
            </a:pPr>
            <a:r>
              <a:rPr i="1"/>
              <a:t>𝜇</a:t>
            </a:r>
            <a:r>
              <a:rPr baseline="-5999" i="1" sz="2100"/>
              <a:t>M</a:t>
            </a:r>
            <a:r>
              <a:rPr i="1"/>
              <a:t> </a:t>
            </a:r>
            <a:r>
              <a:t>= 0.67</a:t>
            </a:r>
          </a:p>
        </p:txBody>
      </p:sp>
      <p:sp>
        <p:nvSpPr>
          <p:cNvPr id="224" name="Shape 224"/>
          <p:cNvSpPr/>
          <p:nvPr/>
        </p:nvSpPr>
        <p:spPr>
          <a:xfrm>
            <a:off x="1112766" y="412627"/>
            <a:ext cx="3842433" cy="685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normAutofit fontScale="100000" lnSpcReduction="0"/>
          </a:bodyPr>
          <a:lstStyle>
            <a:lvl1pPr>
              <a:defRPr b="1" sz="3800">
                <a:solidFill>
                  <a:schemeClr val="accent1">
                    <a:hueOff val="47394"/>
                    <a:satOff val="-25753"/>
                    <a:lumOff val="-7544"/>
                  </a:schemeClr>
                </a:solidFill>
                <a:effectLst>
                  <a:outerShdw sx="100000" sy="100000" kx="0" ky="0" algn="b" rotWithShape="0" blurRad="88900" dist="38100" dir="2700000">
                    <a:srgbClr val="000000">
                      <a:alpha val="30000"/>
                    </a:srgbClr>
                  </a:outerShdw>
                </a:effectLst>
                <a:latin typeface="+mj-lt"/>
                <a:ea typeface="+mj-ea"/>
                <a:cs typeface="+mj-cs"/>
                <a:sym typeface="Helvetica"/>
              </a:defRPr>
            </a:lvl1pPr>
          </a:lstStyle>
          <a:p>
            <a:pPr/>
            <a:r>
              <a:t>Example: “also”</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26" name="Shape 226"/>
          <p:cNvSpPr/>
          <p:nvPr>
            <p:ph type="title"/>
          </p:nvPr>
        </p:nvSpPr>
        <p:spPr>
          <a:prstGeom prst="rect">
            <a:avLst/>
          </a:prstGeom>
        </p:spPr>
        <p:txBody>
          <a:bodyPr/>
          <a:lstStyle/>
          <a:p>
            <a:pPr/>
            <a:r>
              <a:t>Two interpretations</a:t>
            </a:r>
          </a:p>
        </p:txBody>
      </p:sp>
      <p:sp>
        <p:nvSpPr>
          <p:cNvPr id="227" name="Shape 227"/>
          <p:cNvSpPr/>
          <p:nvPr>
            <p:ph type="body" idx="1"/>
          </p:nvPr>
        </p:nvSpPr>
        <p:spPr>
          <a:prstGeom prst="rect">
            <a:avLst/>
          </a:prstGeom>
        </p:spPr>
        <p:txBody>
          <a:bodyPr anchor="t"/>
          <a:lstStyle/>
          <a:p>
            <a:pPr/>
            <a:r>
              <a:t>Ratio of probabilities (“likelihood ratio”)</a:t>
            </a:r>
          </a:p>
          <a:p>
            <a:pPr/>
          </a:p>
          <a:p>
            <a:pPr/>
            <a:r>
              <a:t>Hence you might say that the odds are 10:1 that Madison wrote the paper.</a:t>
            </a:r>
          </a:p>
          <a:p>
            <a:pPr/>
            <a:r>
              <a:t>But this depends on what your prior belief about who wrote the papers is.</a:t>
            </a:r>
          </a:p>
          <a:p>
            <a:pPr/>
            <a:r>
              <a:t>If you had other reasons to think Hamilton wrote the paper, you might feel differently. </a:t>
            </a:r>
          </a:p>
        </p:txBody>
      </p:sp>
      <p:pic>
        <p:nvPicPr>
          <p:cNvPr id="228" name="pres10.pdf"/>
          <p:cNvPicPr>
            <a:picLocks noChangeAspect="1"/>
          </p:cNvPicPr>
          <p:nvPr/>
        </p:nvPicPr>
        <p:blipFill>
          <a:blip r:embed="rId2">
            <a:extLst/>
          </a:blip>
          <a:stretch>
            <a:fillRect/>
          </a:stretch>
        </p:blipFill>
        <p:spPr>
          <a:xfrm>
            <a:off x="5028865" y="3334494"/>
            <a:ext cx="2947070" cy="890261"/>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30" name="Shape 230"/>
          <p:cNvSpPr/>
          <p:nvPr>
            <p:ph type="title"/>
          </p:nvPr>
        </p:nvSpPr>
        <p:spPr>
          <a:prstGeom prst="rect">
            <a:avLst/>
          </a:prstGeom>
        </p:spPr>
        <p:txBody>
          <a:bodyPr/>
          <a:lstStyle/>
          <a:p>
            <a:pPr/>
            <a:r>
              <a:t>The use of Bayes’ Theorem</a:t>
            </a:r>
          </a:p>
        </p:txBody>
      </p:sp>
      <p:sp>
        <p:nvSpPr>
          <p:cNvPr id="231" name="Shape 231"/>
          <p:cNvSpPr/>
          <p:nvPr>
            <p:ph type="body" idx="1"/>
          </p:nvPr>
        </p:nvSpPr>
        <p:spPr>
          <a:xfrm>
            <a:off x="800100" y="2514600"/>
            <a:ext cx="11099800" cy="6286500"/>
          </a:xfrm>
          <a:prstGeom prst="rect">
            <a:avLst/>
          </a:prstGeom>
        </p:spPr>
        <p:txBody>
          <a:bodyPr anchor="t"/>
          <a:lstStyle/>
          <a:p>
            <a:pPr/>
            <a:r>
              <a:t>From Bayes’ Theorem</a:t>
            </a:r>
          </a:p>
          <a:p>
            <a:pPr/>
          </a:p>
          <a:p>
            <a:pPr/>
            <a:r>
              <a:t>Hence</a:t>
            </a:r>
          </a:p>
        </p:txBody>
      </p:sp>
      <p:pic>
        <p:nvPicPr>
          <p:cNvPr id="232" name="pres11.pdf"/>
          <p:cNvPicPr>
            <a:picLocks noChangeAspect="1"/>
          </p:cNvPicPr>
          <p:nvPr/>
        </p:nvPicPr>
        <p:blipFill>
          <a:blip r:embed="rId2">
            <a:extLst/>
          </a:blip>
          <a:stretch>
            <a:fillRect/>
          </a:stretch>
        </p:blipFill>
        <p:spPr>
          <a:xfrm>
            <a:off x="3064590" y="3448858"/>
            <a:ext cx="6875620" cy="709584"/>
          </a:xfrm>
          <a:prstGeom prst="rect">
            <a:avLst/>
          </a:prstGeom>
          <a:ln w="12700">
            <a:miter lim="400000"/>
          </a:ln>
        </p:spPr>
      </p:pic>
      <p:pic>
        <p:nvPicPr>
          <p:cNvPr id="233" name="pres12.pdf"/>
          <p:cNvPicPr>
            <a:picLocks noChangeAspect="1"/>
          </p:cNvPicPr>
          <p:nvPr/>
        </p:nvPicPr>
        <p:blipFill>
          <a:blip r:embed="rId3">
            <a:extLst/>
          </a:blip>
          <a:stretch>
            <a:fillRect/>
          </a:stretch>
        </p:blipFill>
        <p:spPr>
          <a:xfrm>
            <a:off x="3845055" y="5473774"/>
            <a:ext cx="5314690" cy="740991"/>
          </a:xfrm>
          <a:prstGeom prst="rect">
            <a:avLst/>
          </a:prstGeom>
          <a:ln w="12700">
            <a:miter lim="400000"/>
          </a:ln>
        </p:spPr>
      </p:pic>
      <p:sp>
        <p:nvSpPr>
          <p:cNvPr id="234" name="Shape 234"/>
          <p:cNvSpPr/>
          <p:nvPr/>
        </p:nvSpPr>
        <p:spPr>
          <a:xfrm flipV="1">
            <a:off x="3709937" y="6336927"/>
            <a:ext cx="254051" cy="413391"/>
          </a:xfrm>
          <a:prstGeom prst="line">
            <a:avLst/>
          </a:prstGeom>
          <a:ln w="38100">
            <a:solidFill>
              <a:schemeClr val="accent6"/>
            </a:solidFill>
            <a:miter lim="400000"/>
            <a:tailEnd type="triangle"/>
          </a:ln>
        </p:spPr>
        <p:txBody>
          <a:bodyPr lIns="50800" tIns="50800" rIns="50800" bIns="50800" anchor="ctr"/>
          <a:lstStyle/>
          <a:p>
            <a:pPr>
              <a:defRPr sz="2400"/>
            </a:pPr>
          </a:p>
        </p:txBody>
      </p:sp>
      <p:sp>
        <p:nvSpPr>
          <p:cNvPr id="235" name="Shape 235"/>
          <p:cNvSpPr/>
          <p:nvPr/>
        </p:nvSpPr>
        <p:spPr>
          <a:xfrm>
            <a:off x="2030755" y="6875780"/>
            <a:ext cx="2702927" cy="9550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90000"/>
              </a:lnSpc>
              <a:defRPr b="1" sz="2000">
                <a:solidFill>
                  <a:schemeClr val="accent6"/>
                </a:solidFill>
                <a:latin typeface="+mj-lt"/>
                <a:ea typeface="+mj-ea"/>
                <a:cs typeface="+mj-cs"/>
                <a:sym typeface="Helvetica"/>
              </a:defRPr>
            </a:lvl1pPr>
          </a:lstStyle>
          <a:p>
            <a:pPr/>
            <a:r>
              <a:t>Posterior odds of Hamilton versus Madison</a:t>
            </a:r>
          </a:p>
        </p:txBody>
      </p:sp>
      <p:sp>
        <p:nvSpPr>
          <p:cNvPr id="236" name="Shape 236"/>
          <p:cNvSpPr/>
          <p:nvPr/>
        </p:nvSpPr>
        <p:spPr>
          <a:xfrm flipH="1" flipV="1">
            <a:off x="8916987" y="6390555"/>
            <a:ext cx="302638" cy="302638"/>
          </a:xfrm>
          <a:prstGeom prst="line">
            <a:avLst/>
          </a:prstGeom>
          <a:ln w="38100">
            <a:solidFill>
              <a:schemeClr val="accent6"/>
            </a:solidFill>
            <a:miter lim="400000"/>
            <a:tailEnd type="triangle"/>
          </a:ln>
        </p:spPr>
        <p:txBody>
          <a:bodyPr lIns="50800" tIns="50800" rIns="50800" bIns="50800" anchor="ctr"/>
          <a:lstStyle/>
          <a:p>
            <a:pPr>
              <a:defRPr sz="2400"/>
            </a:pPr>
          </a:p>
        </p:txBody>
      </p:sp>
      <p:sp>
        <p:nvSpPr>
          <p:cNvPr id="237" name="Shape 237"/>
          <p:cNvSpPr/>
          <p:nvPr/>
        </p:nvSpPr>
        <p:spPr>
          <a:xfrm>
            <a:off x="9142755" y="6583680"/>
            <a:ext cx="2702927" cy="9550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90000"/>
              </a:lnSpc>
              <a:defRPr b="1" sz="2000">
                <a:solidFill>
                  <a:schemeClr val="accent6"/>
                </a:solidFill>
                <a:latin typeface="+mj-lt"/>
                <a:ea typeface="+mj-ea"/>
                <a:cs typeface="+mj-cs"/>
                <a:sym typeface="Helvetica"/>
              </a:defRPr>
            </a:lvl1pPr>
          </a:lstStyle>
          <a:p>
            <a:pPr/>
            <a:r>
              <a:t>Prior odds of Hamilton versus Madison</a:t>
            </a:r>
          </a:p>
        </p:txBody>
      </p:sp>
      <p:sp>
        <p:nvSpPr>
          <p:cNvPr id="238" name="Shape 238"/>
          <p:cNvSpPr/>
          <p:nvPr/>
        </p:nvSpPr>
        <p:spPr>
          <a:xfrm flipV="1">
            <a:off x="7138987" y="6314355"/>
            <a:ext cx="1" cy="740991"/>
          </a:xfrm>
          <a:prstGeom prst="line">
            <a:avLst/>
          </a:prstGeom>
          <a:ln w="38100">
            <a:solidFill>
              <a:schemeClr val="accent6"/>
            </a:solidFill>
            <a:miter lim="400000"/>
            <a:tailEnd type="triangle"/>
          </a:ln>
        </p:spPr>
        <p:txBody>
          <a:bodyPr lIns="50800" tIns="50800" rIns="50800" bIns="50800" anchor="ctr"/>
          <a:lstStyle/>
          <a:p>
            <a:pPr>
              <a:defRPr sz="2400"/>
            </a:pPr>
          </a:p>
        </p:txBody>
      </p:sp>
      <p:sp>
        <p:nvSpPr>
          <p:cNvPr id="239" name="Shape 239"/>
          <p:cNvSpPr/>
          <p:nvPr/>
        </p:nvSpPr>
        <p:spPr>
          <a:xfrm>
            <a:off x="5787524" y="7050797"/>
            <a:ext cx="2702927" cy="122936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90000"/>
              </a:lnSpc>
              <a:defRPr b="1" sz="2000">
                <a:solidFill>
                  <a:schemeClr val="accent6"/>
                </a:solidFill>
                <a:latin typeface="+mj-lt"/>
                <a:ea typeface="+mj-ea"/>
                <a:cs typeface="+mj-cs"/>
                <a:sym typeface="Helvetica"/>
              </a:defRPr>
            </a:lvl1pPr>
          </a:lstStyle>
          <a:p>
            <a:pPr/>
            <a:r>
              <a:t>Probabilities estimated from Poisson model and observed data</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241" name="Screen Shot 2014-02-23 at 10.00.11 PM.png"/>
          <p:cNvPicPr>
            <a:picLocks noChangeAspect="1"/>
          </p:cNvPicPr>
          <p:nvPr/>
        </p:nvPicPr>
        <p:blipFill>
          <a:blip r:embed="rId3">
            <a:extLst/>
          </a:blip>
          <a:stretch>
            <a:fillRect/>
          </a:stretch>
        </p:blipFill>
        <p:spPr>
          <a:xfrm rot="21570000">
            <a:off x="2554020" y="196064"/>
            <a:ext cx="7896760" cy="7302830"/>
          </a:xfrm>
          <a:prstGeom prst="rect">
            <a:avLst/>
          </a:prstGeom>
          <a:ln w="12700">
            <a:miter lim="400000"/>
          </a:ln>
        </p:spPr>
      </p:pic>
      <p:pic>
        <p:nvPicPr>
          <p:cNvPr id="242" name="Screen Shot 2014-02-23 at 10.00.26 PM.png"/>
          <p:cNvPicPr>
            <a:picLocks noChangeAspect="1"/>
          </p:cNvPicPr>
          <p:nvPr/>
        </p:nvPicPr>
        <p:blipFill>
          <a:blip r:embed="rId4">
            <a:extLst/>
          </a:blip>
          <a:stretch>
            <a:fillRect/>
          </a:stretch>
        </p:blipFill>
        <p:spPr>
          <a:xfrm rot="21540000">
            <a:off x="2427286" y="7448136"/>
            <a:ext cx="7896760" cy="1967774"/>
          </a:xfrm>
          <a:prstGeom prst="rect">
            <a:avLst/>
          </a:prstGeom>
          <a:ln w="12700">
            <a:miter lim="400000"/>
          </a:ln>
        </p:spPr>
      </p:pic>
      <p:pic>
        <p:nvPicPr>
          <p:cNvPr id="243" name="pasted-image.pdf"/>
          <p:cNvPicPr>
            <a:picLocks noChangeAspect="1"/>
          </p:cNvPicPr>
          <p:nvPr/>
        </p:nvPicPr>
        <p:blipFill>
          <a:blip r:embed="rId5">
            <a:extLst/>
          </a:blip>
          <a:stretch>
            <a:fillRect/>
          </a:stretch>
        </p:blipFill>
        <p:spPr>
          <a:xfrm>
            <a:off x="658817" y="6202119"/>
            <a:ext cx="1066801" cy="333503"/>
          </a:xfrm>
          <a:prstGeom prst="rect">
            <a:avLst/>
          </a:prstGeom>
          <a:ln w="12700">
            <a:miter lim="400000"/>
          </a:ln>
        </p:spPr>
      </p:pic>
      <p:pic>
        <p:nvPicPr>
          <p:cNvPr id="244" name="pasted-image.pdf"/>
          <p:cNvPicPr>
            <a:picLocks noChangeAspect="1"/>
          </p:cNvPicPr>
          <p:nvPr/>
        </p:nvPicPr>
        <p:blipFill>
          <a:blip r:embed="rId6">
            <a:extLst/>
          </a:blip>
          <a:stretch>
            <a:fillRect/>
          </a:stretch>
        </p:blipFill>
        <p:spPr>
          <a:xfrm>
            <a:off x="633417" y="7152361"/>
            <a:ext cx="1117601" cy="333503"/>
          </a:xfrm>
          <a:prstGeom prst="rect">
            <a:avLst/>
          </a:prstGeom>
          <a:ln w="12700">
            <a:miter lim="400000"/>
          </a:ln>
        </p:spPr>
      </p:pic>
      <p:pic>
        <p:nvPicPr>
          <p:cNvPr id="245" name="pasted-image.pdf"/>
          <p:cNvPicPr>
            <a:picLocks noChangeAspect="1"/>
          </p:cNvPicPr>
          <p:nvPr/>
        </p:nvPicPr>
        <p:blipFill>
          <a:blip r:embed="rId7">
            <a:extLst/>
          </a:blip>
          <a:stretch>
            <a:fillRect/>
          </a:stretch>
        </p:blipFill>
        <p:spPr>
          <a:xfrm>
            <a:off x="614367" y="8635887"/>
            <a:ext cx="1155701" cy="790703"/>
          </a:xfrm>
          <a:prstGeom prst="rect">
            <a:avLst/>
          </a:prstGeom>
          <a:ln w="12700">
            <a:miter lim="400000"/>
          </a:ln>
        </p:spPr>
      </p:pic>
      <p:pic>
        <p:nvPicPr>
          <p:cNvPr id="246" name="pasted-image.pdf"/>
          <p:cNvPicPr>
            <a:picLocks noChangeAspect="1"/>
          </p:cNvPicPr>
          <p:nvPr/>
        </p:nvPicPr>
        <p:blipFill>
          <a:blip r:embed="rId8">
            <a:extLst/>
          </a:blip>
          <a:stretch>
            <a:fillRect/>
          </a:stretch>
        </p:blipFill>
        <p:spPr>
          <a:xfrm>
            <a:off x="1065217" y="5472027"/>
            <a:ext cx="254001" cy="244603"/>
          </a:xfrm>
          <a:prstGeom prst="rect">
            <a:avLst/>
          </a:prstGeom>
          <a:ln w="12700">
            <a:miter lim="400000"/>
          </a:ln>
        </p:spPr>
      </p:pic>
      <p:sp>
        <p:nvSpPr>
          <p:cNvPr id="247" name="Shape 247"/>
          <p:cNvSpPr/>
          <p:nvPr/>
        </p:nvSpPr>
        <p:spPr>
          <a:xfrm>
            <a:off x="3144803" y="5753100"/>
            <a:ext cx="3016655" cy="0"/>
          </a:xfrm>
          <a:prstGeom prst="line">
            <a:avLst/>
          </a:prstGeom>
          <a:ln w="25400">
            <a:solidFill>
              <a:srgbClr val="A98EC4"/>
            </a:solidFill>
            <a:miter lim="400000"/>
          </a:ln>
        </p:spPr>
        <p:txBody>
          <a:bodyPr lIns="50800" tIns="50800" rIns="50800" bIns="50800" anchor="ctr"/>
          <a:lstStyle/>
          <a:p>
            <a:pPr>
              <a:defRPr sz="2400"/>
            </a:pP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51" name="Shape 251"/>
          <p:cNvSpPr/>
          <p:nvPr>
            <p:ph type="title"/>
          </p:nvPr>
        </p:nvSpPr>
        <p:spPr>
          <a:prstGeom prst="rect">
            <a:avLst/>
          </a:prstGeom>
        </p:spPr>
        <p:txBody>
          <a:bodyPr/>
          <a:lstStyle/>
          <a:p>
            <a:pPr/>
            <a:r>
              <a:t>Subtleties</a:t>
            </a:r>
          </a:p>
        </p:txBody>
      </p:sp>
      <p:pic>
        <p:nvPicPr>
          <p:cNvPr id="252" name="Screen Shot 2014-02-24 at 8.25.25 AM.png"/>
          <p:cNvPicPr>
            <a:picLocks noChangeAspect="1"/>
          </p:cNvPicPr>
          <p:nvPr/>
        </p:nvPicPr>
        <p:blipFill>
          <a:blip r:embed="rId3">
            <a:extLst/>
          </a:blip>
          <a:stretch>
            <a:fillRect/>
          </a:stretch>
        </p:blipFill>
        <p:spPr>
          <a:xfrm rot="30000">
            <a:off x="431800" y="3350055"/>
            <a:ext cx="12141200" cy="4572001"/>
          </a:xfrm>
          <a:prstGeom prst="rect">
            <a:avLst/>
          </a:prstGeom>
          <a:ln w="12700">
            <a:miter lim="400000"/>
          </a:ln>
        </p:spPr>
      </p:pic>
      <p:grpSp>
        <p:nvGrpSpPr>
          <p:cNvPr id="255" name="Group 255"/>
          <p:cNvGrpSpPr/>
          <p:nvPr/>
        </p:nvGrpSpPr>
        <p:grpSpPr>
          <a:xfrm>
            <a:off x="4630038" y="2745482"/>
            <a:ext cx="3744725" cy="333503"/>
            <a:chOff x="0" y="0"/>
            <a:chExt cx="3744723" cy="333502"/>
          </a:xfrm>
        </p:grpSpPr>
        <p:pic>
          <p:nvPicPr>
            <p:cNvPr id="253" name="pasted-image.pdf"/>
            <p:cNvPicPr>
              <a:picLocks noChangeAspect="1"/>
            </p:cNvPicPr>
            <p:nvPr/>
          </p:nvPicPr>
          <p:blipFill>
            <a:blip r:embed="rId4">
              <a:extLst/>
            </a:blip>
            <a:stretch>
              <a:fillRect/>
            </a:stretch>
          </p:blipFill>
          <p:spPr>
            <a:xfrm>
              <a:off x="0" y="0"/>
              <a:ext cx="1447800" cy="333503"/>
            </a:xfrm>
            <a:prstGeom prst="rect">
              <a:avLst/>
            </a:prstGeom>
            <a:ln w="12700" cap="flat">
              <a:noFill/>
              <a:miter lim="400000"/>
            </a:ln>
            <a:effectLst/>
          </p:spPr>
        </p:pic>
        <p:pic>
          <p:nvPicPr>
            <p:cNvPr id="254" name="pasted-image.pdf"/>
            <p:cNvPicPr>
              <a:picLocks noChangeAspect="1"/>
            </p:cNvPicPr>
            <p:nvPr/>
          </p:nvPicPr>
          <p:blipFill>
            <a:blip r:embed="rId5">
              <a:extLst/>
            </a:blip>
            <a:stretch>
              <a:fillRect/>
            </a:stretch>
          </p:blipFill>
          <p:spPr>
            <a:xfrm>
              <a:off x="2233423" y="0"/>
              <a:ext cx="1511301" cy="333503"/>
            </a:xfrm>
            <a:prstGeom prst="rect">
              <a:avLst/>
            </a:prstGeom>
            <a:ln w="12700" cap="flat">
              <a:noFill/>
              <a:miter lim="400000"/>
            </a:ln>
            <a:effectLst/>
          </p:spPr>
        </p:pic>
      </p:grpSp>
      <p:pic>
        <p:nvPicPr>
          <p:cNvPr id="256" name="pres12.pdf"/>
          <p:cNvPicPr>
            <a:picLocks noChangeAspect="1"/>
          </p:cNvPicPr>
          <p:nvPr/>
        </p:nvPicPr>
        <p:blipFill>
          <a:blip r:embed="rId6">
            <a:extLst/>
          </a:blip>
          <a:stretch>
            <a:fillRect/>
          </a:stretch>
        </p:blipFill>
        <p:spPr>
          <a:xfrm>
            <a:off x="3638863" y="8434096"/>
            <a:ext cx="5314690" cy="740992"/>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260" name="pasted-image.png"/>
          <p:cNvPicPr>
            <a:picLocks noChangeAspect="1"/>
          </p:cNvPicPr>
          <p:nvPr/>
        </p:nvPicPr>
        <p:blipFill>
          <a:blip r:embed="rId2">
            <a:extLst/>
          </a:blip>
          <a:stretch>
            <a:fillRect/>
          </a:stretch>
        </p:blipFill>
        <p:spPr>
          <a:xfrm>
            <a:off x="3530600" y="288720"/>
            <a:ext cx="5943600" cy="9004301"/>
          </a:xfrm>
          <a:prstGeom prst="rect">
            <a:avLst/>
          </a:prstGeom>
          <a:ln w="12700">
            <a:miter lim="400000"/>
          </a:ln>
        </p:spPr>
      </p:pic>
      <p:sp>
        <p:nvSpPr>
          <p:cNvPr id="261" name="Shape 261"/>
          <p:cNvSpPr/>
          <p:nvPr/>
        </p:nvSpPr>
        <p:spPr>
          <a:xfrm>
            <a:off x="90388" y="9251949"/>
            <a:ext cx="3197424"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400" u="sng">
                <a:latin typeface="+mj-lt"/>
                <a:ea typeface="+mj-ea"/>
                <a:cs typeface="+mj-cs"/>
                <a:sym typeface="Helvetica"/>
                <a:hlinkClick r:id="rId3" invalidUrl="" action="" tgtFrame="" tooltip="" history="1" highlightClick="0" endSnd="0"/>
              </a:defRPr>
            </a:lvl1pPr>
          </a:lstStyle>
          <a:p>
            <a:pPr>
              <a:defRPr u="none"/>
            </a:pPr>
            <a:r>
              <a:rPr u="sng">
                <a:hlinkClick r:id="rId3" invalidUrl="" action="" tgtFrame="" tooltip="" history="1" highlightClick="0" endSnd="0"/>
              </a:rPr>
              <a:t>http://xkcd.com/1132/</a:t>
            </a:r>
          </a:p>
        </p:txBody>
      </p:sp>
      <p:pic>
        <p:nvPicPr>
          <p:cNvPr id="262" name="pres21.pdf"/>
          <p:cNvPicPr>
            <a:picLocks noChangeAspect="1"/>
          </p:cNvPicPr>
          <p:nvPr/>
        </p:nvPicPr>
        <p:blipFill>
          <a:blip r:embed="rId4">
            <a:extLst/>
          </a:blip>
          <a:stretch>
            <a:fillRect/>
          </a:stretch>
        </p:blipFill>
        <p:spPr>
          <a:xfrm>
            <a:off x="9190584" y="3046811"/>
            <a:ext cx="3137124" cy="3659978"/>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262"/>
                                        </p:tgtEl>
                                        <p:attrNameLst>
                                          <p:attrName>style.visibility</p:attrName>
                                        </p:attrNameLst>
                                      </p:cBhvr>
                                      <p:to>
                                        <p:strVal val="visible"/>
                                      </p:to>
                                    </p:set>
                                    <p:animEffect filter="dissolve" transition="in">
                                      <p:cBhvr>
                                        <p:cTn id="7" dur="1000"/>
                                        <p:tgtEl>
                                          <p:spTgt spid="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2" grpId="1"/>
    </p:bldLst>
  </p:timing>
</p:sld>
</file>

<file path=ppt/theme/_rels/theme1.xml.rels><?xml version="1.0" encoding="UTF-8" standalone="yes"?><Relationships xmlns="http://schemas.openxmlformats.org/package/2006/relationships"><Relationship Id="rId1" Type="http://schemas.openxmlformats.org/officeDocument/2006/relationships/image" Target="../media/image1.png"/></Relationships>

</file>

<file path=ppt/theme/_rels/theme2.xml.rels><?xml version="1.0" encoding="UTF-8" standalone="yes"?><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0000"/>
              </a:srgbClr>
            </a:outerShdw>
          </a:effectLst>
        </a:effectStyle>
        <a:effectStyle>
          <a:effectLst>
            <a:outerShdw sx="100000" sy="100000" kx="0" ky="0" algn="b" rotWithShape="0" blurRad="50800" dist="12700" dir="0">
              <a:srgbClr val="000000">
                <a:alpha val="50000"/>
              </a:srgbClr>
            </a:outerShdw>
          </a:effectLst>
        </a:effectStyle>
        <a:effectStyle>
          <a:effectLst>
            <a:outerShdw sx="100000" sy="100000" kx="0" ky="0" algn="b" rotWithShape="0" blurRad="38100" dist="254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38100" dist="25400" dir="5400000">
            <a:srgbClr val="000000">
              <a:alpha val="5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0000"/>
              </a:srgbClr>
            </a:outerShdw>
          </a:effectLst>
        </a:effectStyle>
        <a:effectStyle>
          <a:effectLst>
            <a:outerShdw sx="100000" sy="100000" kx="0" ky="0" algn="b" rotWithShape="0" blurRad="50800" dist="12700" dir="0">
              <a:srgbClr val="000000">
                <a:alpha val="50000"/>
              </a:srgbClr>
            </a:outerShdw>
          </a:effectLst>
        </a:effectStyle>
        <a:effectStyle>
          <a:effectLst>
            <a:outerShdw sx="100000" sy="100000" kx="0" ky="0" algn="b" rotWithShape="0" blurRad="38100" dist="254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38100" dist="25400" dir="5400000">
            <a:srgbClr val="000000">
              <a:alpha val="5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