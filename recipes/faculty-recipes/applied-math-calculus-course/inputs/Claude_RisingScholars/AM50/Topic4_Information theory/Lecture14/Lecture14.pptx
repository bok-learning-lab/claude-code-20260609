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" ContentType="image/tif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39" r:id="rId2"/>
    <p:sldId id="428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6" r:id="rId11"/>
    <p:sldId id="429" r:id="rId12"/>
    <p:sldId id="395" r:id="rId13"/>
    <p:sldId id="396" r:id="rId14"/>
    <p:sldId id="397" r:id="rId15"/>
    <p:sldId id="398" r:id="rId16"/>
    <p:sldId id="399" r:id="rId17"/>
    <p:sldId id="400" r:id="rId18"/>
    <p:sldId id="416" r:id="rId19"/>
    <p:sldId id="401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27" r:id="rId34"/>
    <p:sldId id="430" r:id="rId35"/>
    <p:sldId id="431" r:id="rId3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2017" id="{F327D23C-AD0F-DD4B-98B9-2A6652EC8647}">
          <p14:sldIdLst>
            <p14:sldId id="339"/>
            <p14:sldId id="428"/>
            <p14:sldId id="417"/>
            <p14:sldId id="418"/>
            <p14:sldId id="419"/>
            <p14:sldId id="420"/>
            <p14:sldId id="421"/>
            <p14:sldId id="422"/>
            <p14:sldId id="423"/>
            <p14:sldId id="426"/>
          </p14:sldIdLst>
        </p14:section>
        <p14:section name="federalist" id="{B2CE7AA3-A089-DE4F-9558-88DF1B189988}">
          <p14:sldIdLst>
            <p14:sldId id="429"/>
            <p14:sldId id="395"/>
            <p14:sldId id="396"/>
            <p14:sldId id="397"/>
            <p14:sldId id="398"/>
            <p14:sldId id="399"/>
            <p14:sldId id="400"/>
            <p14:sldId id="416"/>
            <p14:sldId id="401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27"/>
            <p14:sldId id="430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4"/>
    <p:restoredTop sz="82143"/>
  </p:normalViewPr>
  <p:slideViewPr>
    <p:cSldViewPr snapToGrid="0" snapToObjects="1">
      <p:cViewPr varScale="1">
        <p:scale>
          <a:sx n="54" d="100"/>
          <a:sy n="54" d="100"/>
        </p:scale>
        <p:origin x="112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62592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ext_corpus" TargetMode="External"/><Relationship Id="rId4" Type="http://schemas.openxmlformats.org/officeDocument/2006/relationships/hyperlink" Target="https://en.wikipedia.org/wiki/Natural_language" TargetMode="External"/><Relationship Id="rId5" Type="http://schemas.openxmlformats.org/officeDocument/2006/relationships/hyperlink" Target="https://en.wikipedia.org/wiki/Inversely_proportional" TargetMode="External"/><Relationship Id="rId6" Type="http://schemas.openxmlformats.org/officeDocument/2006/relationships/hyperlink" Target="https://en.wikipedia.org/wiki/Frequency_table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ext_corpus" TargetMode="External"/><Relationship Id="rId4" Type="http://schemas.openxmlformats.org/officeDocument/2006/relationships/hyperlink" Target="https://en.wikipedia.org/wiki/Natural_language" TargetMode="External"/><Relationship Id="rId5" Type="http://schemas.openxmlformats.org/officeDocument/2006/relationships/hyperlink" Target="https://en.wikipedia.org/wiki/Inversely_proportional" TargetMode="External"/><Relationship Id="rId6" Type="http://schemas.openxmlformats.org/officeDocument/2006/relationships/hyperlink" Target="https://en.wikipedia.org/wiki/Frequency_table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Idea from physics</a:t>
            </a:r>
          </a:p>
          <a:p>
            <a:endParaRPr lang="en-US" dirty="0" smtClean="0"/>
          </a:p>
          <a:p>
            <a:r>
              <a:rPr lang="en-US" sz="2400" dirty="0" smtClean="0"/>
              <a:t>How much information is expressed by the information source?</a:t>
            </a:r>
          </a:p>
          <a:p>
            <a:endParaRPr lang="en-US" sz="2400" dirty="0" smtClean="0"/>
          </a:p>
          <a:p>
            <a:r>
              <a:rPr lang="en-US" sz="2400" dirty="0" smtClean="0"/>
              <a:t>How can we mathematically characterize the information content</a:t>
            </a:r>
          </a:p>
          <a:p>
            <a:r>
              <a:rPr lang="en-US" sz="2400" dirty="0" smtClean="0"/>
              <a:t>in this source?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11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Shannon entropy </a:t>
            </a:r>
            <a:r>
              <a:rPr lang="mr-IN" dirty="0" smtClean="0"/>
              <a:t>–</a:t>
            </a:r>
            <a:r>
              <a:rPr lang="en-US" dirty="0" smtClean="0"/>
              <a:t> average</a:t>
            </a:r>
            <a:r>
              <a:rPr lang="en-US" baseline="0" dirty="0" smtClean="0"/>
              <a:t> information content of a source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Makes </a:t>
            </a:r>
            <a:r>
              <a:rPr lang="en-US" dirty="0" smtClean="0"/>
              <a:t>sense </a:t>
            </a:r>
            <a:r>
              <a:rPr lang="mr-IN" dirty="0" smtClean="0"/>
              <a:t>–</a:t>
            </a:r>
            <a:r>
              <a:rPr lang="en-US" dirty="0" smtClean="0"/>
              <a:t> in these cases we</a:t>
            </a:r>
            <a:r>
              <a:rPr lang="en-US" baseline="0" dirty="0" smtClean="0"/>
              <a:t> are certain of </a:t>
            </a:r>
            <a:r>
              <a:rPr lang="en-US" baseline="0" dirty="0" smtClean="0"/>
              <a:t>outcome </a:t>
            </a:r>
            <a:r>
              <a:rPr lang="mr-IN" baseline="0" dirty="0" smtClean="0"/>
              <a:t>–</a:t>
            </a:r>
            <a:r>
              <a:rPr lang="en-US" baseline="0" dirty="0" smtClean="0"/>
              <a:t> we gain no information</a:t>
            </a:r>
            <a:endParaRPr lang="en-US" baseline="0" dirty="0" smtClean="0"/>
          </a:p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Makes sense – the most uncertain case</a:t>
            </a:r>
          </a:p>
          <a:p>
            <a:endParaRPr lang="en-US" baseline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93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Fatal gun</a:t>
            </a:r>
            <a:r>
              <a:rPr lang="en-US" baseline="0" dirty="0" smtClean="0"/>
              <a:t> duel link?</a:t>
            </a:r>
          </a:p>
          <a:p>
            <a:endParaRPr lang="en-US" baseline="0" dirty="0" smtClean="0"/>
          </a:p>
          <a:p>
            <a:r>
              <a:rPr lang="en-US" dirty="0" smtClean="0"/>
              <a:t>https://</a:t>
            </a:r>
            <a:r>
              <a:rPr lang="en-US" dirty="0" err="1" smtClean="0"/>
              <a:t>youtu.be</a:t>
            </a:r>
            <a:r>
              <a:rPr lang="en-US" dirty="0" smtClean="0"/>
              <a:t>/OLSsswr6z9Y</a:t>
            </a:r>
          </a:p>
          <a:p>
            <a:r>
              <a:rPr lang="en-US" dirty="0" smtClean="0"/>
              <a:t>And</a:t>
            </a:r>
          </a:p>
          <a:p>
            <a:r>
              <a:rPr lang="en-US" dirty="0" smtClean="0"/>
              <a:t>https://</a:t>
            </a:r>
            <a:r>
              <a:rPr lang="en-US" dirty="0" err="1" smtClean="0"/>
              <a:t>en.wikipedia.org</a:t>
            </a:r>
            <a:r>
              <a:rPr lang="en-US" dirty="0" smtClean="0"/>
              <a:t>/wiki/Burr–</a:t>
            </a:r>
            <a:r>
              <a:rPr lang="en-US" dirty="0" err="1" smtClean="0"/>
              <a:t>Hamilton_duel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4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Baseball!</a:t>
            </a:r>
          </a:p>
          <a:p>
            <a:r>
              <a:rPr lang="en-US" dirty="0" smtClean="0"/>
              <a:t>Authorship paper is 1963, baseball paper is xx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400" b="1" dirty="0" smtClean="0">
                <a:latin typeface="Avenir Roman"/>
                <a:ea typeface="Avenir Roman"/>
                <a:cs typeface="Avenir Roman"/>
                <a:sym typeface="Avenir Roman"/>
              </a:rPr>
              <a:t>Applied Bayesian and Classical Inference: The Case of The Federalist Papers</a:t>
            </a:r>
          </a:p>
          <a:p>
            <a:r>
              <a:rPr lang="en-US" sz="2400" b="0" dirty="0" smtClean="0">
                <a:latin typeface="Avenir Roman"/>
                <a:ea typeface="Avenir Roman"/>
                <a:cs typeface="Avenir Roman"/>
                <a:sym typeface="Avenir Roman"/>
              </a:rPr>
              <a:t>By F. </a:t>
            </a:r>
            <a:r>
              <a:rPr lang="en-US" sz="2400" b="0" dirty="0" err="1" smtClean="0">
                <a:latin typeface="Avenir Roman"/>
                <a:ea typeface="Avenir Roman"/>
                <a:cs typeface="Avenir Roman"/>
                <a:sym typeface="Avenir Roman"/>
              </a:rPr>
              <a:t>Mosteller</a:t>
            </a:r>
            <a:r>
              <a:rPr lang="en-US" sz="2400" b="0" dirty="0" smtClean="0">
                <a:latin typeface="Avenir Roman"/>
                <a:ea typeface="Avenir Roman"/>
                <a:cs typeface="Avenir Roman"/>
                <a:sym typeface="Avenir Roman"/>
              </a:rPr>
              <a:t>, D. L. Wallace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3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Paper is quite humorous.</a:t>
            </a:r>
          </a:p>
          <a:p>
            <a:r>
              <a:rPr dirty="0"/>
              <a:t>compare unknown texts to known</a:t>
            </a:r>
          </a:p>
          <a:p>
            <a:r>
              <a:rPr dirty="0"/>
              <a:t>use several methods of “discrimination”</a:t>
            </a:r>
          </a:p>
        </p:txBody>
      </p:sp>
    </p:spTree>
    <p:extLst>
      <p:ext uri="{BB962C8B-B14F-4D97-AF65-F5344CB8AC3E}">
        <p14:creationId xmlns:p14="http://schemas.microsoft.com/office/powerpoint/2010/main" val="71867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People can’t count</a:t>
            </a:r>
          </a:p>
          <a:p>
            <a:endParaRPr lang="en-US" dirty="0" smtClean="0"/>
          </a:p>
          <a:p>
            <a:r>
              <a:rPr lang="en-US" dirty="0" smtClean="0"/>
              <a:t>Count</a:t>
            </a:r>
            <a:r>
              <a:rPr lang="en-US" baseline="0" dirty="0" smtClean="0"/>
              <a:t> the number of words in sentences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673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400" dirty="0" err="1" smtClean="0">
                <a:latin typeface="Avenir Roman"/>
                <a:ea typeface="Avenir Roman"/>
                <a:cs typeface="Avenir Roman"/>
                <a:sym typeface="Avenir Roman"/>
              </a:rPr>
              <a:t>Zipf's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</a:rPr>
              <a:t> law states that given some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3"/>
              </a:rPr>
              <a:t>corpus of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4"/>
              </a:rPr>
              <a:t>natural language, the frequency of any word is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5"/>
              </a:rPr>
              <a:t>inversely proportional to its rank in the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6"/>
              </a:rPr>
              <a:t>frequency table. Thus the most frequent word will occur approximately twice as often as the second most frequent word, three times as often as the third most frequent word,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037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400" dirty="0" err="1" smtClean="0">
                <a:latin typeface="Avenir Roman"/>
                <a:ea typeface="Avenir Roman"/>
                <a:cs typeface="Avenir Roman"/>
                <a:sym typeface="Avenir Roman"/>
              </a:rPr>
              <a:t>Zipf's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</a:rPr>
              <a:t> law states that given some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3"/>
              </a:rPr>
              <a:t>corpus of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4"/>
              </a:rPr>
              <a:t>natural language, the frequency of any word is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5"/>
              </a:rPr>
              <a:t>inversely proportional to its rank in the </a:t>
            </a:r>
            <a:r>
              <a:rPr lang="en-US" sz="2400" dirty="0" smtClean="0">
                <a:latin typeface="Avenir Roman"/>
                <a:ea typeface="Avenir Roman"/>
                <a:cs typeface="Avenir Roman"/>
                <a:sym typeface="Avenir Roman"/>
                <a:hlinkClick r:id="rId6"/>
              </a:rPr>
              <a:t>frequency table. Thus the most frequent word will occur approximately twice as often as the second most frequent word, three times as often as the third most frequent word,</a:t>
            </a:r>
            <a:endParaRPr lang="en-US" dirty="0" smtClean="0"/>
          </a:p>
          <a:p>
            <a:endParaRPr lang="en-US" dirty="0" smtClean="0"/>
          </a:p>
          <a:p>
            <a:r>
              <a:rPr dirty="0" smtClean="0"/>
              <a:t>19 </a:t>
            </a:r>
            <a:r>
              <a:rPr dirty="0"/>
              <a:t>was considered jointly written in </a:t>
            </a:r>
            <a:r>
              <a:rPr dirty="0" smtClean="0"/>
              <a:t>paper</a:t>
            </a:r>
            <a:endParaRPr lang="en-US" dirty="0" smtClean="0"/>
          </a:p>
          <a:p>
            <a:endParaRPr lang="en-US" dirty="0" smtClean="0"/>
          </a:p>
          <a:p>
            <a:r>
              <a:rPr lang="en-US" sz="2400" u="none" baseline="0" dirty="0" smtClean="0">
                <a:latin typeface="Avenir Roman"/>
                <a:ea typeface="Avenir Roman"/>
                <a:cs typeface="Avenir Roman"/>
                <a:sym typeface="Avenir Roman"/>
              </a:rPr>
              <a:t>So, naturally:  the most common words</a:t>
            </a:r>
          </a:p>
          <a:p>
            <a:r>
              <a:rPr lang="en-US" sz="2400" u="none" baseline="0" dirty="0" smtClean="0">
                <a:latin typeface="Avenir Roman"/>
                <a:ea typeface="Avenir Roman"/>
                <a:cs typeface="Avenir Roman"/>
                <a:sym typeface="Avenir Roman"/>
              </a:rPr>
              <a:t>do not give any information about authorship.</a:t>
            </a:r>
          </a:p>
          <a:p>
            <a:endParaRPr lang="en-US" sz="2400" u="none" baseline="0" dirty="0" smtClean="0">
              <a:latin typeface="Avenir Roman"/>
              <a:ea typeface="Avenir Roman"/>
              <a:cs typeface="Avenir Roman"/>
              <a:sym typeface="Avenir Roman"/>
            </a:endParaRPr>
          </a:p>
          <a:p>
            <a:r>
              <a:rPr lang="en-US" sz="2400" u="none" baseline="0" dirty="0" smtClean="0">
                <a:latin typeface="Avenir Roman"/>
                <a:ea typeface="Avenir Roman"/>
                <a:cs typeface="Avenir Roman"/>
                <a:sym typeface="Avenir Roman"/>
              </a:rPr>
              <a:t>Indeed, they don’t even allow us to distinguish different</a:t>
            </a:r>
          </a:p>
          <a:p>
            <a:r>
              <a:rPr lang="en-US" sz="2400" u="none" baseline="0" dirty="0" smtClean="0">
                <a:latin typeface="Avenir Roman"/>
                <a:ea typeface="Avenir Roman"/>
                <a:cs typeface="Avenir Roman"/>
                <a:sym typeface="Avenir Roman"/>
              </a:rPr>
              <a:t>types of texts very well!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24117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75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5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do you choose “marker words”? </a:t>
            </a:r>
          </a:p>
          <a:p>
            <a:r>
              <a:t>—&gt; Screening through texts of known authorship</a:t>
            </a:r>
          </a:p>
        </p:txBody>
      </p:sp>
    </p:spTree>
    <p:extLst>
      <p:ext uri="{BB962C8B-B14F-4D97-AF65-F5344CB8AC3E}">
        <p14:creationId xmlns:p14="http://schemas.microsoft.com/office/powerpoint/2010/main" val="1808360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67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2" name="Shape 2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smtClean="0"/>
              <a:t>Poisson </a:t>
            </a:r>
            <a:r>
              <a:rPr dirty="0"/>
              <a:t>probability is good for rare </a:t>
            </a:r>
            <a:r>
              <a:rPr dirty="0" smtClean="0"/>
              <a:t>events</a:t>
            </a:r>
            <a:r>
              <a:rPr lang="en-US" baseline="0" dirty="0" smtClean="0"/>
              <a:t> </a:t>
            </a:r>
            <a:r>
              <a:rPr lang="mr-IN" baseline="0" dirty="0" smtClean="0"/>
              <a:t>…</a:t>
            </a:r>
            <a:r>
              <a:rPr lang="en-US" baseline="0" dirty="0" smtClean="0"/>
              <a:t> rare words!</a:t>
            </a:r>
          </a:p>
          <a:p>
            <a:endParaRPr lang="en-US" baseline="0" dirty="0" smtClean="0"/>
          </a:p>
          <a:p>
            <a:r>
              <a:rPr lang="en-US" baseline="0" dirty="0" smtClean="0"/>
              <a:t>X = number of hospital births/hour</a:t>
            </a:r>
          </a:p>
          <a:p>
            <a:r>
              <a:rPr lang="en-US" baseline="0" dirty="0" smtClean="0"/>
              <a:t>Births occur at an average rate of 1.8/hour</a:t>
            </a:r>
          </a:p>
          <a:p>
            <a:r>
              <a:rPr lang="en-US" baseline="0" dirty="0" smtClean="0"/>
              <a:t>What is the probability of observing 4 births in an hour?</a:t>
            </a:r>
          </a:p>
          <a:p>
            <a:r>
              <a:rPr lang="en-US" baseline="0" dirty="0" smtClean="0"/>
              <a:t>P(X = 4) = e^-1.8 * 1.8^4/4! = 0.0723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Event can occur</a:t>
            </a:r>
            <a:r>
              <a:rPr lang="en-US" baseline="0" dirty="0" smtClean="0"/>
              <a:t> 0, 1, 2, </a:t>
            </a:r>
            <a:r>
              <a:rPr lang="mr-IN" baseline="0" dirty="0" smtClean="0"/>
              <a:t>…</a:t>
            </a:r>
            <a:r>
              <a:rPr lang="en-US" baseline="0" dirty="0" smtClean="0"/>
              <a:t> times in an interval.   </a:t>
            </a:r>
            <a:r>
              <a:rPr lang="en-US" dirty="0" smtClean="0"/>
              <a:t>mu</a:t>
            </a:r>
            <a:r>
              <a:rPr lang="en-US" baseline="0" dirty="0" smtClean="0"/>
              <a:t> = average number of events per interval, the event rate.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451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P(A,B) = probability</a:t>
            </a:r>
            <a:r>
              <a:rPr lang="en-US" baseline="0" dirty="0" smtClean="0"/>
              <a:t> of both testing positive for the rare disease and actually having it</a:t>
            </a:r>
          </a:p>
          <a:p>
            <a:endParaRPr lang="en-US" baseline="0" dirty="0" smtClean="0"/>
          </a:p>
          <a:p>
            <a:r>
              <a:rPr lang="en-US" dirty="0" smtClean="0"/>
              <a:t>P(A|B)  = probability of having rare disease given that you tested positive</a:t>
            </a:r>
          </a:p>
          <a:p>
            <a:r>
              <a:rPr lang="en-US" dirty="0" smtClean="0"/>
              <a:t>P(A)</a:t>
            </a:r>
            <a:r>
              <a:rPr lang="en-US" baseline="0" dirty="0" smtClean="0"/>
              <a:t> = probability of having disease</a:t>
            </a:r>
          </a:p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P(B)</a:t>
            </a:r>
            <a:r>
              <a:rPr lang="en-US" baseline="0" dirty="0" smtClean="0"/>
              <a:t> = probability of testing positive for disease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P(B|A) = probability of testing positive for disease given that you have the disease (true positive)</a:t>
            </a:r>
            <a:endParaRPr lang="en-US" dirty="0" smtClean="0"/>
          </a:p>
          <a:p>
            <a:endParaRPr lang="en-US" baseline="0" dirty="0" smtClean="0"/>
          </a:p>
          <a:p>
            <a:endParaRPr lang="en-US" baseline="0" dirty="0" smtClean="0"/>
          </a:p>
        </p:txBody>
      </p:sp>
    </p:spTree>
    <p:extLst>
      <p:ext uri="{BB962C8B-B14F-4D97-AF65-F5344CB8AC3E}">
        <p14:creationId xmlns:p14="http://schemas.microsoft.com/office/powerpoint/2010/main" val="1694434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9" name="Shape 2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Likelihood ratio for 3 words</a:t>
            </a:r>
          </a:p>
        </p:txBody>
      </p:sp>
    </p:spTree>
    <p:extLst>
      <p:ext uri="{BB962C8B-B14F-4D97-AF65-F5344CB8AC3E}">
        <p14:creationId xmlns:p14="http://schemas.microsoft.com/office/powerpoint/2010/main" val="1280568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8" name="Shape 2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Problem: choosing your priors</a:t>
            </a:r>
          </a:p>
        </p:txBody>
      </p:sp>
    </p:spTree>
    <p:extLst>
      <p:ext uri="{BB962C8B-B14F-4D97-AF65-F5344CB8AC3E}">
        <p14:creationId xmlns:p14="http://schemas.microsoft.com/office/powerpoint/2010/main" val="637044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8" name="Shape 2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Problem: choosing your priors</a:t>
            </a:r>
          </a:p>
        </p:txBody>
      </p:sp>
    </p:spTree>
    <p:extLst>
      <p:ext uri="{BB962C8B-B14F-4D97-AF65-F5344CB8AC3E}">
        <p14:creationId xmlns:p14="http://schemas.microsoft.com/office/powerpoint/2010/main" val="75738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0240" y="9040143"/>
            <a:ext cx="3034453" cy="519289"/>
          </a:xfrm>
          <a:prstGeom prst="rect">
            <a:avLst/>
          </a:prstGeom>
        </p:spPr>
        <p:txBody>
          <a:bodyPr/>
          <a:lstStyle/>
          <a:p>
            <a:fld id="{E64A799E-2561-3242-9C7D-4F8BC20EE162}" type="datetimeFigureOut">
              <a:rPr lang="en-US" smtClean="0"/>
              <a:pPr/>
              <a:t>3/23/17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43307" y="9040143"/>
            <a:ext cx="4118187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9E94-8C56-1A4D-89E6-23F9BDFEE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0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emf"/><Relationship Id="rId5" Type="http://schemas.openxmlformats.org/officeDocument/2006/relationships/image" Target="../media/image8.emf"/><Relationship Id="rId6" Type="http://schemas.openxmlformats.org/officeDocument/2006/relationships/image" Target="../media/image9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t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OLSsswr6z9Y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4" Type="http://schemas.openxmlformats.org/officeDocument/2006/relationships/image" Target="../media/image42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emf"/><Relationship Id="rId3" Type="http://schemas.openxmlformats.org/officeDocument/2006/relationships/image" Target="../media/image5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56.emf"/><Relationship Id="rId5" Type="http://schemas.openxmlformats.org/officeDocument/2006/relationships/image" Target="../media/image57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Class </a:t>
            </a:r>
            <a:r>
              <a:rPr dirty="0" smtClean="0"/>
              <a:t>1</a:t>
            </a:r>
            <a:r>
              <a:rPr lang="en-US" dirty="0"/>
              <a:t>4</a:t>
            </a:r>
            <a:r>
              <a:rPr dirty="0" smtClean="0"/>
              <a:t>: </a:t>
            </a:r>
            <a:r>
              <a:rPr dirty="0"/>
              <a:t>Information Theory</a:t>
            </a:r>
          </a:p>
        </p:txBody>
      </p:sp>
      <p:sp>
        <p:nvSpPr>
          <p:cNvPr id="5" name="Shape 65"/>
          <p:cNvSpPr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1"/>
          </a:xfrm>
          <a:prstGeom prst="rect">
            <a:avLst/>
          </a:prstGeom>
        </p:spPr>
        <p:txBody>
          <a:bodyPr/>
          <a:lstStyle/>
          <a:p>
            <a:r>
              <a:rPr dirty="0"/>
              <a:t>Part 1: Continuation of Shannon’s paper</a:t>
            </a:r>
          </a:p>
          <a:p>
            <a:r>
              <a:rPr dirty="0"/>
              <a:t>Part 2: Determining authorship of </a:t>
            </a:r>
            <a:r>
              <a:rPr i="1" dirty="0"/>
              <a:t>The Federalist</a:t>
            </a:r>
            <a:r>
              <a:rPr dirty="0"/>
              <a:t> by Mosteller and Wallace</a:t>
            </a:r>
          </a:p>
        </p:txBody>
      </p:sp>
    </p:spTree>
    <p:extLst>
      <p:ext uri="{BB962C8B-B14F-4D97-AF65-F5344CB8AC3E}">
        <p14:creationId xmlns:p14="http://schemas.microsoft.com/office/powerpoint/2010/main" val="18745940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Continuing Shannon’s paper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56197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Shannon’s key idea</a:t>
            </a:r>
          </a:p>
        </p:txBody>
      </p:sp>
      <p:sp>
        <p:nvSpPr>
          <p:cNvPr id="233" name="Shape 2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discrete information source is characterized by the probabilities for emitting signals from the source</a:t>
            </a:r>
          </a:p>
        </p:txBody>
      </p:sp>
    </p:spTree>
    <p:extLst>
      <p:ext uri="{BB962C8B-B14F-4D97-AF65-F5344CB8AC3E}">
        <p14:creationId xmlns:p14="http://schemas.microsoft.com/office/powerpoint/2010/main" val="19143849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1666138"/>
            <a:ext cx="13600070" cy="6886191"/>
            <a:chOff x="1218589" y="966891"/>
            <a:chExt cx="11786211" cy="5837321"/>
          </a:xfrm>
        </p:grpSpPr>
        <p:grpSp>
          <p:nvGrpSpPr>
            <p:cNvPr id="239" name="Group 239"/>
            <p:cNvGrpSpPr/>
            <p:nvPr/>
          </p:nvGrpSpPr>
          <p:grpSpPr>
            <a:xfrm>
              <a:off x="1218589" y="966891"/>
              <a:ext cx="11786211" cy="4761556"/>
              <a:chOff x="-2" y="-2"/>
              <a:chExt cx="9952043" cy="3670024"/>
            </a:xfrm>
          </p:grpSpPr>
          <p:pic>
            <p:nvPicPr>
              <p:cNvPr id="235" name="image25.jpg" descr="approx1.jp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-2" y="-2"/>
                <a:ext cx="9194897" cy="36700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38" name="Shape 238"/>
              <p:cNvSpPr/>
              <p:nvPr/>
            </p:nvSpPr>
            <p:spPr>
              <a:xfrm>
                <a:off x="9026269" y="-1"/>
                <a:ext cx="925772" cy="367002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57200">
                  <a:defRPr sz="18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7" name="Shape 238"/>
            <p:cNvSpPr/>
            <p:nvPr/>
          </p:nvSpPr>
          <p:spPr>
            <a:xfrm>
              <a:off x="1218589" y="5109882"/>
              <a:ext cx="7333740" cy="169433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68477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9"/>
          <p:cNvGrpSpPr/>
          <p:nvPr/>
        </p:nvGrpSpPr>
        <p:grpSpPr>
          <a:xfrm>
            <a:off x="438659" y="-3172063"/>
            <a:ext cx="13407631" cy="12130319"/>
            <a:chOff x="-810425" y="56523"/>
            <a:chExt cx="13407629" cy="12130317"/>
          </a:xfrm>
        </p:grpSpPr>
        <p:grpSp>
          <p:nvGrpSpPr>
            <p:cNvPr id="237" name="Group 237"/>
            <p:cNvGrpSpPr/>
            <p:nvPr/>
          </p:nvGrpSpPr>
          <p:grpSpPr>
            <a:xfrm>
              <a:off x="-810425" y="56523"/>
              <a:ext cx="13407629" cy="12130317"/>
              <a:chOff x="-810424" y="56524"/>
              <a:chExt cx="13407626" cy="12130315"/>
            </a:xfrm>
          </p:grpSpPr>
          <p:pic>
            <p:nvPicPr>
              <p:cNvPr id="235" name="image25.jpg" descr="approx1.jp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-810424" y="56524"/>
                <a:ext cx="13407626" cy="535148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6" name="image26.jpg" descr="approx2.jp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-499822" y="5569369"/>
                <a:ext cx="11890969" cy="661747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38" name="Shape 238"/>
            <p:cNvSpPr/>
            <p:nvPr/>
          </p:nvSpPr>
          <p:spPr>
            <a:xfrm>
              <a:off x="10664110" y="295834"/>
              <a:ext cx="925772" cy="489753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" name="Shape 238"/>
          <p:cNvSpPr/>
          <p:nvPr/>
        </p:nvSpPr>
        <p:spPr>
          <a:xfrm>
            <a:off x="277295" y="-2852070"/>
            <a:ext cx="13130336" cy="411609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457200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4727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to simulate the digram structure</a:t>
            </a:r>
          </a:p>
        </p:txBody>
      </p:sp>
      <p:pic>
        <p:nvPicPr>
          <p:cNvPr id="242" name="image27.jpg" descr="approx3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317" y="3043428"/>
            <a:ext cx="12961483" cy="162018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7" name="Group 247"/>
          <p:cNvGrpSpPr/>
          <p:nvPr/>
        </p:nvGrpSpPr>
        <p:grpSpPr>
          <a:xfrm>
            <a:off x="437232" y="5103542"/>
            <a:ext cx="11958637" cy="2178424"/>
            <a:chOff x="0" y="0"/>
            <a:chExt cx="11443539" cy="1773468"/>
          </a:xfrm>
        </p:grpSpPr>
        <p:pic>
          <p:nvPicPr>
            <p:cNvPr id="243" name="image28.jpg" descr="approx4.jp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1443540" cy="17734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4" name="Shape 244"/>
            <p:cNvSpPr/>
            <p:nvPr/>
          </p:nvSpPr>
          <p:spPr>
            <a:xfrm>
              <a:off x="0" y="152642"/>
              <a:ext cx="11443540" cy="67884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45" name="Shape 245"/>
            <p:cNvSpPr/>
            <p:nvPr/>
          </p:nvSpPr>
          <p:spPr>
            <a:xfrm>
              <a:off x="-1" y="831482"/>
              <a:ext cx="4281783" cy="3224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46" name="Shape 246"/>
            <p:cNvSpPr/>
            <p:nvPr/>
          </p:nvSpPr>
          <p:spPr>
            <a:xfrm>
              <a:off x="4841823" y="1442438"/>
              <a:ext cx="6143500" cy="331030"/>
            </a:xfrm>
            <a:prstGeom prst="rect">
              <a:avLst/>
            </a:prstGeom>
            <a:solidFill>
              <a:srgbClr val="FFFF00">
                <a:alpha val="2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7200">
                <a:defRPr sz="18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87759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6556" y="2178338"/>
                <a:ext cx="12181604" cy="61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413" b="1" dirty="0" smtClean="0">
                    <a:cs typeface="+mj-cs"/>
                  </a:rPr>
                  <a:t>Suppose we have syllables </a:t>
                </a:r>
                <a:r>
                  <a:rPr lang="en-US" sz="3413" b="1" dirty="0">
                    <a:cs typeface="+mj-cs"/>
                  </a:rPr>
                  <a:t>with </a:t>
                </a:r>
                <a:r>
                  <a:rPr lang="en-US" sz="3413" b="1" dirty="0" smtClean="0">
                    <a:cs typeface="+mj-cs"/>
                  </a:rPr>
                  <a:t>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13" b="1" i="1" smtClean="0">
                            <a:latin typeface="Cambria Math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𝒑</m:t>
                        </m:r>
                      </m:e>
                      <m:sub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𝟏</m:t>
                        </m:r>
                      </m:sub>
                    </m:sSub>
                    <m:r>
                      <a:rPr lang="en-US" sz="3413" b="1" i="1" smtClean="0">
                        <a:latin typeface="Cambria Math" charset="0"/>
                        <a:cs typeface="+mj-cs"/>
                      </a:rPr>
                      <m:t>,</m:t>
                    </m:r>
                    <m:sSub>
                      <m:sSubPr>
                        <m:ctrlPr>
                          <a:rPr lang="en-US" sz="3413" b="1" i="1" smtClean="0">
                            <a:latin typeface="Cambria Math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𝒑</m:t>
                        </m:r>
                      </m:e>
                      <m:sub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𝟐</m:t>
                        </m:r>
                      </m:sub>
                    </m:sSub>
                    <m:r>
                      <a:rPr lang="en-US" sz="3413" b="1" i="1" smtClean="0">
                        <a:latin typeface="Cambria Math" charset="0"/>
                        <a:cs typeface="+mj-cs"/>
                      </a:rPr>
                      <m:t>,…, </m:t>
                    </m:r>
                    <m:sSub>
                      <m:sSubPr>
                        <m:ctrlPr>
                          <a:rPr lang="en-US" sz="3413" b="1" i="1" smtClean="0">
                            <a:latin typeface="Cambria Math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𝒑</m:t>
                        </m:r>
                      </m:e>
                      <m:sub>
                        <m:r>
                          <a:rPr lang="en-US" sz="3413" b="1" i="1" smtClean="0">
                            <a:latin typeface="Cambria Math" charset="0"/>
                            <a:cs typeface="+mj-cs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3413" b="1" dirty="0" smtClean="0">
                    <a:cs typeface="+mj-cs"/>
                  </a:rPr>
                  <a:t> </a:t>
                </a:r>
                <a:endParaRPr lang="en-US" sz="3413" b="1" dirty="0">
                  <a:cs typeface="+mj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6" y="2178338"/>
                <a:ext cx="12181604" cy="617541"/>
              </a:xfrm>
              <a:prstGeom prst="rect">
                <a:avLst/>
              </a:prstGeom>
              <a:blipFill rotWithShape="0">
                <a:blip r:embed="rId3"/>
                <a:stretch>
                  <a:fillRect l="-950" t="-137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3075" y="3254493"/>
            <a:ext cx="11625298" cy="114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How much choice do we have in the selection a word? </a:t>
            </a:r>
          </a:p>
          <a:p>
            <a:r>
              <a:rPr lang="en-US" sz="3413" b="1" dirty="0"/>
              <a:t>How uncertain are we of the outcome?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075" y="4838306"/>
            <a:ext cx="12088567" cy="114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Entropy – measure of disorder or uncertainty in a system</a:t>
            </a:r>
          </a:p>
          <a:p>
            <a:endParaRPr lang="en-US" sz="3413" dirty="0"/>
          </a:p>
        </p:txBody>
      </p:sp>
      <p:sp>
        <p:nvSpPr>
          <p:cNvPr id="23" name="TextBox 22"/>
          <p:cNvSpPr txBox="1"/>
          <p:nvPr/>
        </p:nvSpPr>
        <p:spPr>
          <a:xfrm>
            <a:off x="543075" y="5812767"/>
            <a:ext cx="12088567" cy="2193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413" b="1" u="sng" dirty="0">
                <a:solidFill>
                  <a:srgbClr val="C00000"/>
                </a:solidFill>
              </a:rPr>
              <a:t>Maximum entropy </a:t>
            </a:r>
            <a:r>
              <a:rPr lang="en-US" sz="3413" b="1" u="sng" dirty="0" smtClean="0">
                <a:solidFill>
                  <a:srgbClr val="C00000"/>
                </a:solidFill>
              </a:rPr>
              <a:t>example</a:t>
            </a:r>
          </a:p>
          <a:p>
            <a:pPr algn="l"/>
            <a:r>
              <a:rPr lang="en-US" sz="3413" b="1" dirty="0" smtClean="0"/>
              <a:t>toss </a:t>
            </a:r>
            <a:r>
              <a:rPr lang="en-US" sz="3413" b="1" dirty="0"/>
              <a:t>a fair coin many </a:t>
            </a:r>
            <a:r>
              <a:rPr lang="en-US" sz="3413" b="1" dirty="0" smtClean="0"/>
              <a:t>times; no </a:t>
            </a:r>
            <a:r>
              <a:rPr lang="en-US" sz="3413" b="1" dirty="0"/>
              <a:t>way to predict outcome of </a:t>
            </a:r>
            <a:r>
              <a:rPr lang="en-US" sz="3413" b="1" dirty="0" smtClean="0"/>
              <a:t>  next </a:t>
            </a:r>
            <a:r>
              <a:rPr lang="en-US" sz="3413" b="1" dirty="0"/>
              <a:t>toss </a:t>
            </a:r>
          </a:p>
          <a:p>
            <a:endParaRPr lang="en-US" sz="3413" dirty="0"/>
          </a:p>
        </p:txBody>
      </p:sp>
      <p:sp>
        <p:nvSpPr>
          <p:cNvPr id="24" name="TextBox 23"/>
          <p:cNvSpPr txBox="1"/>
          <p:nvPr/>
        </p:nvSpPr>
        <p:spPr>
          <a:xfrm>
            <a:off x="543076" y="7762882"/>
            <a:ext cx="11543760" cy="16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413" b="1" u="sng" dirty="0">
                <a:solidFill>
                  <a:srgbClr val="C00000"/>
                </a:solidFill>
              </a:rPr>
              <a:t>Minimum entropy </a:t>
            </a:r>
            <a:r>
              <a:rPr lang="en-US" sz="3413" b="1" u="sng" dirty="0" smtClean="0">
                <a:solidFill>
                  <a:srgbClr val="C00000"/>
                </a:solidFill>
              </a:rPr>
              <a:t>example</a:t>
            </a:r>
          </a:p>
          <a:p>
            <a:pPr algn="l"/>
            <a:r>
              <a:rPr lang="en-US" sz="3413" b="1" dirty="0" smtClean="0"/>
              <a:t>toss </a:t>
            </a:r>
            <a:r>
              <a:rPr lang="en-US" sz="3413" b="1" dirty="0"/>
              <a:t>a two-tailed coin many </a:t>
            </a:r>
            <a:r>
              <a:rPr lang="en-US" sz="3413" b="1" dirty="0" smtClean="0"/>
              <a:t>times; outcome </a:t>
            </a:r>
            <a:r>
              <a:rPr lang="en-US" sz="3413" b="1" dirty="0"/>
              <a:t>is certain, next toss is tails</a:t>
            </a:r>
          </a:p>
        </p:txBody>
      </p:sp>
      <p:sp>
        <p:nvSpPr>
          <p:cNvPr id="9" name="Shape 262"/>
          <p:cNvSpPr>
            <a:spLocks noGrp="1"/>
          </p:cNvSpPr>
          <p:nvPr>
            <p:ph type="title"/>
          </p:nvPr>
        </p:nvSpPr>
        <p:spPr>
          <a:xfrm>
            <a:off x="437232" y="63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Measuring information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55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8493" t="13256" r="21072" b="9580"/>
          <a:stretch/>
        </p:blipFill>
        <p:spPr>
          <a:xfrm>
            <a:off x="6490996" y="1580533"/>
            <a:ext cx="6513805" cy="53521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6452" y="1846001"/>
            <a:ext cx="3834704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Shannon Entropy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032" y="2574838"/>
            <a:ext cx="3765973" cy="1463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67" y="5931284"/>
            <a:ext cx="6394027" cy="7044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23" y="4698537"/>
            <a:ext cx="1761067" cy="7315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337" y="5226857"/>
            <a:ext cx="3657600" cy="1056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961" y="4014826"/>
            <a:ext cx="3457998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Example (</a:t>
            </a:r>
            <a:r>
              <a:rPr lang="en-US" sz="3413" b="1" i="1" dirty="0"/>
              <a:t>N</a:t>
            </a:r>
            <a:r>
              <a:rPr lang="en-US" sz="3413" b="1" dirty="0"/>
              <a:t> =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23" y="7163705"/>
            <a:ext cx="11270432" cy="61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413" i="1" dirty="0"/>
              <a:t>H</a:t>
            </a:r>
            <a:r>
              <a:rPr lang="en-US" sz="3413" dirty="0"/>
              <a:t> = 0 only if </a:t>
            </a:r>
            <a:r>
              <a:rPr lang="en-US" sz="3413" i="1" dirty="0"/>
              <a:t>p</a:t>
            </a:r>
            <a:r>
              <a:rPr lang="en-US" sz="3413" dirty="0"/>
              <a:t> = 0 or </a:t>
            </a:r>
            <a:r>
              <a:rPr lang="en-US" sz="3413" i="1" dirty="0"/>
              <a:t>p</a:t>
            </a:r>
            <a:r>
              <a:rPr lang="en-US" sz="3413" dirty="0"/>
              <a:t> = 1.  </a:t>
            </a:r>
            <a:r>
              <a:rPr lang="en-US" sz="3413" dirty="0" smtClean="0"/>
              <a:t>Does this make sense?</a:t>
            </a:r>
            <a:endParaRPr lang="en-US" sz="3413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8257535"/>
            <a:ext cx="13221451" cy="61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13" i="1" dirty="0"/>
              <a:t>H </a:t>
            </a:r>
            <a:r>
              <a:rPr lang="en-US" sz="3413" dirty="0"/>
              <a:t>attains it’s maximum value at </a:t>
            </a:r>
            <a:r>
              <a:rPr lang="en-US" sz="3413" i="1" dirty="0"/>
              <a:t>p</a:t>
            </a:r>
            <a:r>
              <a:rPr lang="en-US" sz="3413" dirty="0"/>
              <a:t> = </a:t>
            </a:r>
            <a:r>
              <a:rPr lang="en-US" sz="3413" dirty="0" smtClean="0"/>
              <a:t>½.  Does this make sense?</a:t>
            </a:r>
            <a:endParaRPr lang="en-US" sz="3413" dirty="0"/>
          </a:p>
        </p:txBody>
      </p:sp>
      <p:sp>
        <p:nvSpPr>
          <p:cNvPr id="12" name="Shape 262"/>
          <p:cNvSpPr>
            <a:spLocks noGrp="1"/>
          </p:cNvSpPr>
          <p:nvPr>
            <p:ph type="title"/>
          </p:nvPr>
        </p:nvSpPr>
        <p:spPr>
          <a:xfrm>
            <a:off x="437232" y="63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Measuring information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59674" y="2684204"/>
            <a:ext cx="3834704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Shannon Entropy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98" y="3354767"/>
            <a:ext cx="3765973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3169" y="4762532"/>
            <a:ext cx="11455380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Measures the </a:t>
            </a:r>
            <a:r>
              <a:rPr lang="en-US" sz="3413" b="1" dirty="0" smtClean="0"/>
              <a:t>average </a:t>
            </a:r>
            <a:r>
              <a:rPr lang="en-US" sz="3413" b="1" dirty="0"/>
              <a:t>information </a:t>
            </a:r>
            <a:r>
              <a:rPr lang="en-US" sz="3413" b="1" dirty="0" smtClean="0"/>
              <a:t>content of </a:t>
            </a:r>
            <a:r>
              <a:rPr lang="en-US" sz="3413" b="1" smtClean="0"/>
              <a:t>a source</a:t>
            </a:r>
            <a:endParaRPr lang="en-US" sz="3413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37232" y="5942340"/>
            <a:ext cx="12207188" cy="114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When you utter a word, how many other choices of words</a:t>
            </a:r>
          </a:p>
          <a:p>
            <a:r>
              <a:rPr lang="en-US" sz="3413" b="1" dirty="0"/>
              <a:t>are you choosing between</a:t>
            </a:r>
            <a:r>
              <a:rPr lang="en-US" sz="3413" b="1" dirty="0" smtClean="0"/>
              <a:t>?  Can you </a:t>
            </a:r>
            <a:r>
              <a:rPr lang="en-US" sz="3413" b="1" smtClean="0"/>
              <a:t>calculate this?</a:t>
            </a:r>
            <a:endParaRPr lang="en-US" sz="3413" b="1" dirty="0" smtClean="0"/>
          </a:p>
        </p:txBody>
      </p:sp>
      <p:sp>
        <p:nvSpPr>
          <p:cNvPr id="7" name="Shape 262"/>
          <p:cNvSpPr>
            <a:spLocks noGrp="1"/>
          </p:cNvSpPr>
          <p:nvPr>
            <p:ph type="title"/>
          </p:nvPr>
        </p:nvSpPr>
        <p:spPr>
          <a:xfrm>
            <a:off x="437232" y="63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Measuring information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69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Shannon’s fundamental theorem</a:t>
            </a:r>
          </a:p>
        </p:txBody>
      </p:sp>
      <p:sp>
        <p:nvSpPr>
          <p:cNvPr id="270" name="Shape 270"/>
          <p:cNvSpPr>
            <a:spLocks noGrp="1"/>
          </p:cNvSpPr>
          <p:nvPr>
            <p:ph type="body" sz="half" idx="1"/>
          </p:nvPr>
        </p:nvSpPr>
        <p:spPr>
          <a:xfrm>
            <a:off x="952500" y="6037163"/>
            <a:ext cx="11099800" cy="2852837"/>
          </a:xfrm>
          <a:prstGeom prst="rect">
            <a:avLst/>
          </a:prstGeom>
        </p:spPr>
        <p:txBody>
          <a:bodyPr/>
          <a:lstStyle/>
          <a:p>
            <a:pPr marL="391159" indent="-391159" defTabSz="514095">
              <a:spcBef>
                <a:spcPts val="2200"/>
              </a:spcBef>
              <a:defRPr sz="3168"/>
            </a:pPr>
            <a:r>
              <a:rPr dirty="0"/>
              <a:t>Suppose the information source has entropy </a:t>
            </a:r>
            <a:r>
              <a:rPr b="0" i="1" dirty="0"/>
              <a:t>H</a:t>
            </a:r>
            <a:r>
              <a:rPr dirty="0"/>
              <a:t> and the channel has capacity </a:t>
            </a:r>
            <a:r>
              <a:rPr b="0" i="1" dirty="0"/>
              <a:t>C</a:t>
            </a:r>
          </a:p>
          <a:p>
            <a:pPr marL="391159" indent="-391159" defTabSz="514095">
              <a:spcBef>
                <a:spcPts val="2200"/>
              </a:spcBef>
              <a:defRPr sz="3168"/>
            </a:pPr>
            <a:r>
              <a:rPr dirty="0"/>
              <a:t>One can encode the output of the source </a:t>
            </a:r>
            <a:r>
              <a:rPr lang="en-US" dirty="0" smtClean="0"/>
              <a:t>s</a:t>
            </a:r>
            <a:r>
              <a:rPr dirty="0" smtClean="0"/>
              <a:t>o </a:t>
            </a:r>
            <a:r>
              <a:rPr dirty="0"/>
              <a:t>that it can be transmitted a rate of up to </a:t>
            </a:r>
            <a:r>
              <a:rPr b="0" i="1" dirty="0"/>
              <a:t>C</a:t>
            </a:r>
            <a:r>
              <a:rPr b="0" dirty="0"/>
              <a:t>/</a:t>
            </a:r>
            <a:r>
              <a:rPr b="0" i="1" dirty="0"/>
              <a:t>H</a:t>
            </a:r>
            <a:r>
              <a:rPr dirty="0"/>
              <a:t> symbols per second</a:t>
            </a:r>
          </a:p>
          <a:p>
            <a:pPr marL="391159" indent="-391159" defTabSz="514095">
              <a:spcBef>
                <a:spcPts val="2200"/>
              </a:spcBef>
              <a:defRPr sz="3168"/>
            </a:pPr>
            <a:r>
              <a:rPr dirty="0"/>
              <a:t>It is not possible to transmit faster </a:t>
            </a:r>
            <a:r>
              <a:rPr/>
              <a:t>than </a:t>
            </a:r>
            <a:r>
              <a:rPr b="0" i="1" smtClean="0"/>
              <a:t>C</a:t>
            </a:r>
            <a:r>
              <a:rPr b="0" smtClean="0"/>
              <a:t>/</a:t>
            </a:r>
            <a:r>
              <a:rPr b="0" i="1" smtClean="0"/>
              <a:t>H</a:t>
            </a:r>
            <a:r>
              <a:rPr lang="en-US" b="0" i="1"/>
              <a:t> </a:t>
            </a:r>
            <a:r>
              <a:rPr lang="en-US" b="0" i="1" smtClean="0"/>
              <a:t>!!</a:t>
            </a:r>
            <a:endParaRPr b="0" i="1" dirty="0"/>
          </a:p>
        </p:txBody>
      </p:sp>
      <p:pic>
        <p:nvPicPr>
          <p:cNvPr id="271" name="image43.jpg" descr="fundthm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7232" y="2603500"/>
            <a:ext cx="11984340" cy="31787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79397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Historical mystery</a:t>
            </a:r>
            <a:endParaRPr dirty="0"/>
          </a:p>
        </p:txBody>
      </p:sp>
      <p:sp>
        <p:nvSpPr>
          <p:cNvPr id="3" name="Shape 64"/>
          <p:cNvSpPr txBox="1">
            <a:spLocks/>
          </p:cNvSpPr>
          <p:nvPr/>
        </p:nvSpPr>
        <p:spPr>
          <a:xfrm>
            <a:off x="402061" y="3738684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sz="4500" dirty="0" smtClean="0">
                <a:solidFill>
                  <a:schemeClr val="tx1"/>
                </a:solidFill>
              </a:rPr>
              <a:t>Who wrote the Federalist papers?</a:t>
            </a:r>
            <a:endParaRPr lang="en-US" sz="4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8633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Federalist</a:t>
            </a:r>
          </a:p>
        </p:txBody>
      </p:sp>
      <p:sp>
        <p:nvSpPr>
          <p:cNvPr id="133" name="Shape 133"/>
          <p:cNvSpPr>
            <a:spLocks noGrp="1"/>
          </p:cNvSpPr>
          <p:nvPr>
            <p:ph type="body" sz="half" idx="1"/>
          </p:nvPr>
        </p:nvSpPr>
        <p:spPr>
          <a:xfrm>
            <a:off x="5140870" y="2483043"/>
            <a:ext cx="7100293" cy="6286501"/>
          </a:xfrm>
          <a:prstGeom prst="rect">
            <a:avLst/>
          </a:prstGeom>
        </p:spPr>
        <p:txBody>
          <a:bodyPr/>
          <a:lstStyle/>
          <a:p>
            <a:pPr marL="440055" indent="-440055" defTabSz="578358">
              <a:spcBef>
                <a:spcPts val="2500"/>
              </a:spcBef>
              <a:defRPr sz="3564"/>
            </a:pPr>
            <a:r>
              <a:t>85 articles published in New York advocating the ratification of the US constitution during 1787–1788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t>Used in many court cases as a way to interpret the Founding Fathers’ intentions about the constitution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t>Authorship was a closely guarded secret (written under the pseudonym </a:t>
            </a:r>
            <a:r>
              <a:rPr i="1"/>
              <a:t>Publius</a:t>
            </a:r>
            <a:r>
              <a:t>)</a:t>
            </a:r>
          </a:p>
        </p:txBody>
      </p:sp>
      <p:pic>
        <p:nvPicPr>
          <p:cNvPr id="134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024" y="2602773"/>
            <a:ext cx="3731888" cy="60470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667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Suspected authors</a:t>
            </a:r>
          </a:p>
        </p:txBody>
      </p:sp>
      <p:sp>
        <p:nvSpPr>
          <p:cNvPr id="137" name="Shape 137"/>
          <p:cNvSpPr>
            <a:spLocks noGrp="1"/>
          </p:cNvSpPr>
          <p:nvPr>
            <p:ph type="body" sz="quarter" idx="1"/>
          </p:nvPr>
        </p:nvSpPr>
        <p:spPr>
          <a:xfrm>
            <a:off x="242977" y="7253039"/>
            <a:ext cx="3942555" cy="16009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spcBef>
                <a:spcPts val="400"/>
              </a:spcBef>
              <a:buSzTx/>
              <a:buNone/>
              <a:defRPr sz="3200">
                <a:solidFill>
                  <a:srgbClr val="53585F"/>
                </a:solidFill>
              </a:defRPr>
            </a:pPr>
            <a:r>
              <a:t>Alexander Hamilton</a:t>
            </a:r>
          </a:p>
          <a:p>
            <a:pPr marL="0" indent="0" algn="ctr">
              <a:spcBef>
                <a:spcPts val="400"/>
              </a:spcBef>
              <a:buSzTx/>
              <a:buNone/>
              <a:defRPr sz="2500"/>
            </a:pPr>
            <a:r>
              <a:t>(1757–1804)</a:t>
            </a:r>
          </a:p>
        </p:txBody>
      </p:sp>
      <p:pic>
        <p:nvPicPr>
          <p:cNvPr id="138" name="493px-James_Madis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1122" y="2503213"/>
            <a:ext cx="3942556" cy="4798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506px-Alexander_Hamilton_portrait_by_John_Trumbull_1806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996" y="2503213"/>
            <a:ext cx="4046518" cy="4798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463px-John_Jay_(Gilbert_Stuart_portrait)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67287" y="2503213"/>
            <a:ext cx="3708825" cy="4798243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141"/>
          <p:cNvSpPr/>
          <p:nvPr/>
        </p:nvSpPr>
        <p:spPr>
          <a:xfrm>
            <a:off x="4531122" y="7253039"/>
            <a:ext cx="3942556" cy="1600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lnSpc>
                <a:spcPct val="90000"/>
              </a:lnSpc>
              <a:spcBef>
                <a:spcPts val="400"/>
              </a:spcBef>
              <a:defRPr sz="32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James Madison</a:t>
            </a:r>
          </a:p>
          <a:p>
            <a:pPr>
              <a:lnSpc>
                <a:spcPct val="90000"/>
              </a:lnSpc>
              <a:spcBef>
                <a:spcPts val="400"/>
              </a:spcBef>
              <a:defRPr sz="2500" b="1">
                <a:latin typeface="+mj-lt"/>
                <a:ea typeface="+mj-ea"/>
                <a:cs typeface="+mj-cs"/>
                <a:sym typeface="Helvetica"/>
              </a:defRPr>
            </a:pPr>
            <a:r>
              <a:t>(1751–1836)</a:t>
            </a:r>
          </a:p>
        </p:txBody>
      </p:sp>
      <p:sp>
        <p:nvSpPr>
          <p:cNvPr id="142" name="Shape 142"/>
          <p:cNvSpPr/>
          <p:nvPr/>
        </p:nvSpPr>
        <p:spPr>
          <a:xfrm>
            <a:off x="8650421" y="7253039"/>
            <a:ext cx="3942556" cy="1600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lnSpc>
                <a:spcPct val="90000"/>
              </a:lnSpc>
              <a:spcBef>
                <a:spcPts val="400"/>
              </a:spcBef>
              <a:defRPr sz="32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John Jay</a:t>
            </a:r>
          </a:p>
          <a:p>
            <a:pPr>
              <a:lnSpc>
                <a:spcPct val="90000"/>
              </a:lnSpc>
              <a:spcBef>
                <a:spcPts val="400"/>
              </a:spcBef>
              <a:defRPr sz="2500" b="1">
                <a:latin typeface="+mj-lt"/>
                <a:ea typeface="+mj-ea"/>
                <a:cs typeface="+mj-cs"/>
                <a:sym typeface="Helvetica"/>
              </a:defRPr>
            </a:pPr>
            <a:r>
              <a:t>(1745–1829)</a:t>
            </a:r>
          </a:p>
        </p:txBody>
      </p:sp>
    </p:spTree>
    <p:extLst>
      <p:ext uri="{BB962C8B-B14F-4D97-AF65-F5344CB8AC3E}">
        <p14:creationId xmlns:p14="http://schemas.microsoft.com/office/powerpoint/2010/main" val="2843650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Disputed authorship</a:t>
            </a:r>
          </a:p>
        </p:txBody>
      </p:sp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Soon before his </a:t>
            </a:r>
            <a:r>
              <a:rPr dirty="0">
                <a:hlinkClick r:id="rId3"/>
              </a:rPr>
              <a:t>fatal gun duel</a:t>
            </a:r>
            <a:r>
              <a:rPr dirty="0"/>
              <a:t>, Hamilton provided a list claiming authorship of 63 of the articles (with three jointly written with Madison)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Later, Madison claimed 29 for himself, suggesting that the difference was “owing doubtless to the hurry in which [Hamilton’s] memorandum was made out”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Hamilton’s list contained at least one known error, attributing No. 54 to Jay, when in fact Jay wrote No. 64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How can the authorship of the articles be determined? </a:t>
            </a:r>
          </a:p>
        </p:txBody>
      </p:sp>
    </p:spTree>
    <p:extLst>
      <p:ext uri="{BB962C8B-B14F-4D97-AF65-F5344CB8AC3E}">
        <p14:creationId xmlns:p14="http://schemas.microsoft.com/office/powerpoint/2010/main" val="11730538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 information theory approach</a:t>
            </a:r>
          </a:p>
        </p:txBody>
      </p:sp>
      <p:pic>
        <p:nvPicPr>
          <p:cNvPr id="148" name="Screen Shot 2014-02-23 at 2.2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26845" y="3921456"/>
            <a:ext cx="5818350" cy="394238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149" name="Screen Shot 2014-02-23 at 2.30.36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8854" y="3930318"/>
            <a:ext cx="6211409" cy="393352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sp>
        <p:nvSpPr>
          <p:cNvPr id="150" name="Shape 150"/>
          <p:cNvSpPr/>
          <p:nvPr/>
        </p:nvSpPr>
        <p:spPr>
          <a:xfrm>
            <a:off x="2746350" y="2991347"/>
            <a:ext cx="75121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by Frederick Mosteller and David L. </a:t>
            </a:r>
            <a:r>
              <a:rPr dirty="0"/>
              <a:t>Wallace</a:t>
            </a:r>
          </a:p>
        </p:txBody>
      </p:sp>
    </p:spTree>
    <p:extLst>
      <p:ext uri="{BB962C8B-B14F-4D97-AF65-F5344CB8AC3E}">
        <p14:creationId xmlns:p14="http://schemas.microsoft.com/office/powerpoint/2010/main" val="21082993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Screen Shot 2014-02-23 at 2.34.3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42001">
            <a:off x="450850" y="1016000"/>
            <a:ext cx="12103100" cy="772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Shape 153"/>
          <p:cNvSpPr/>
          <p:nvPr/>
        </p:nvSpPr>
        <p:spPr>
          <a:xfrm>
            <a:off x="497792" y="7815574"/>
            <a:ext cx="12009216" cy="86523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4" name="Shape 154"/>
          <p:cNvSpPr/>
          <p:nvPr/>
        </p:nvSpPr>
        <p:spPr>
          <a:xfrm>
            <a:off x="497793" y="1605274"/>
            <a:ext cx="12009215" cy="1317523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497793" y="4444182"/>
            <a:ext cx="12009215" cy="131752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Shape 156"/>
          <p:cNvSpPr/>
          <p:nvPr/>
        </p:nvSpPr>
        <p:spPr>
          <a:xfrm>
            <a:off x="3413881" y="3250872"/>
            <a:ext cx="6071668" cy="49078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4621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xfrm>
            <a:off x="254350" y="444500"/>
            <a:ext cx="12567568" cy="2159000"/>
          </a:xfrm>
          <a:prstGeom prst="rect">
            <a:avLst/>
          </a:prstGeom>
        </p:spPr>
        <p:txBody>
          <a:bodyPr/>
          <a:lstStyle>
            <a:lvl1pPr>
              <a:defRPr sz="5700"/>
            </a:lvl1pPr>
          </a:lstStyle>
          <a:p>
            <a:r>
              <a:rPr dirty="0"/>
              <a:t>Approach #1: </a:t>
            </a:r>
            <a:r>
              <a:rPr lang="en-US" dirty="0" smtClean="0"/>
              <a:t>Wordiness</a:t>
            </a:r>
            <a:endParaRPr dirty="0"/>
          </a:p>
        </p:txBody>
      </p:sp>
      <p:pic>
        <p:nvPicPr>
          <p:cNvPr id="161" name="Screen Shot 2014-02-23 at 2.57.4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1522361">
            <a:off x="2101598" y="2372469"/>
            <a:ext cx="7088817" cy="4430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Screen Shot 2014-02-23 at 2.58.35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77751" y="2723529"/>
            <a:ext cx="8849298" cy="6544892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156"/>
          <p:cNvSpPr/>
          <p:nvPr/>
        </p:nvSpPr>
        <p:spPr>
          <a:xfrm>
            <a:off x="2097499" y="2292484"/>
            <a:ext cx="8829550" cy="1052296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156"/>
          <p:cNvSpPr/>
          <p:nvPr/>
        </p:nvSpPr>
        <p:spPr>
          <a:xfrm>
            <a:off x="2097499" y="3301046"/>
            <a:ext cx="1632290" cy="428743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3783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Approach #2: Zipf’s law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9" y="2603500"/>
            <a:ext cx="12892491" cy="68731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267" y="2326501"/>
            <a:ext cx="1192826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 smtClean="0">
                <a:latin typeface="+mj-ea"/>
                <a:ea typeface="+mj-ea"/>
                <a:cs typeface="Avenir Roman"/>
                <a:sym typeface="Avenir Roman"/>
              </a:rPr>
              <a:t>Frequency </a:t>
            </a:r>
            <a:r>
              <a:rPr lang="en-US" sz="3000" smtClean="0">
                <a:latin typeface="+mj-ea"/>
                <a:ea typeface="+mj-ea"/>
                <a:cs typeface="Avenir Roman"/>
                <a:sym typeface="Avenir Roman"/>
              </a:rPr>
              <a:t>of word </a:t>
            </a:r>
            <a:r>
              <a:rPr lang="en-US" sz="3000" dirty="0" smtClean="0">
                <a:latin typeface="+mj-ea"/>
                <a:ea typeface="+mj-ea"/>
                <a:cs typeface="Avenir Roman"/>
                <a:sym typeface="Avenir Roman"/>
              </a:rPr>
              <a:t>is inversely </a:t>
            </a:r>
            <a:r>
              <a:rPr lang="en-US" sz="3000" smtClean="0">
                <a:latin typeface="+mj-ea"/>
                <a:ea typeface="+mj-ea"/>
                <a:cs typeface="Avenir Roman"/>
                <a:sym typeface="Avenir Roman"/>
              </a:rPr>
              <a:t>proportional to rank in frequency </a:t>
            </a:r>
            <a:r>
              <a:rPr lang="en-US" sz="3000" dirty="0" smtClean="0">
                <a:latin typeface="+mj-ea"/>
                <a:ea typeface="+mj-ea"/>
                <a:cs typeface="Avenir Roman"/>
                <a:sym typeface="Avenir Roman"/>
              </a:rPr>
              <a:t>table</a:t>
            </a:r>
            <a:endParaRPr lang="en-US" sz="3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37679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Approach #2: Zipf’s law</a:t>
            </a:r>
          </a:p>
        </p:txBody>
      </p:sp>
      <p:pic>
        <p:nvPicPr>
          <p:cNvPr id="166" name="Screen Shot 2014-02-23 at 2.38.56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5500" y="2292350"/>
            <a:ext cx="11521134" cy="6815555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Shape 167"/>
          <p:cNvSpPr/>
          <p:nvPr/>
        </p:nvSpPr>
        <p:spPr>
          <a:xfrm>
            <a:off x="5868904" y="2786489"/>
            <a:ext cx="3296122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>
                <a:solidFill>
                  <a:srgbClr val="F7240C"/>
                </a:solidFill>
              </a:rPr>
              <a:t>66</a:t>
            </a:r>
            <a:r>
              <a:t> by Hamilton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solidFill>
                  <a:srgbClr val="417741"/>
                </a:solidFill>
              </a:rPr>
              <a:t>14</a:t>
            </a:r>
            <a:r>
              <a:rPr dirty="0"/>
              <a:t>, </a:t>
            </a:r>
            <a:r>
              <a:rPr dirty="0">
                <a:solidFill>
                  <a:srgbClr val="1344E9"/>
                </a:solidFill>
              </a:rPr>
              <a:t>19</a:t>
            </a:r>
            <a:r>
              <a:rPr dirty="0"/>
              <a:t>* by Madison</a:t>
            </a:r>
          </a:p>
        </p:txBody>
      </p:sp>
      <p:sp>
        <p:nvSpPr>
          <p:cNvPr id="168" name="Shape 168"/>
          <p:cNvSpPr/>
          <p:nvPr/>
        </p:nvSpPr>
        <p:spPr>
          <a:xfrm rot="16200000">
            <a:off x="-59144" y="4270708"/>
            <a:ext cx="159148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Frequency</a:t>
            </a:r>
          </a:p>
        </p:txBody>
      </p:sp>
      <p:sp>
        <p:nvSpPr>
          <p:cNvPr id="169" name="Shape 169"/>
          <p:cNvSpPr/>
          <p:nvPr/>
        </p:nvSpPr>
        <p:spPr>
          <a:xfrm>
            <a:off x="5537461" y="8650704"/>
            <a:ext cx="85539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8954655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Approach #2: Zipf’s law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995387"/>
            <a:ext cx="13004800" cy="32020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7232" y="6589362"/>
            <a:ext cx="116067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venir Roman"/>
                <a:ea typeface="Avenir Roman"/>
                <a:cs typeface="Avenir Roman"/>
                <a:sym typeface="Avenir Roman"/>
              </a:rPr>
              <a:t>Applied Bayesian and Classical Inference: The Case of The Federalist Papers</a:t>
            </a:r>
          </a:p>
          <a:p>
            <a:r>
              <a:rPr lang="en-US" dirty="0">
                <a:latin typeface="Avenir Roman"/>
                <a:ea typeface="Avenir Roman"/>
                <a:cs typeface="Avenir Roman"/>
                <a:sym typeface="Avenir Roman"/>
              </a:rPr>
              <a:t>By F. </a:t>
            </a:r>
            <a:r>
              <a:rPr lang="en-US" dirty="0" err="1">
                <a:latin typeface="Avenir Roman"/>
                <a:ea typeface="Avenir Roman"/>
                <a:cs typeface="Avenir Roman"/>
                <a:sym typeface="Avenir Roman"/>
              </a:rPr>
              <a:t>Mosteller</a:t>
            </a:r>
            <a:r>
              <a:rPr lang="en-US" dirty="0">
                <a:latin typeface="Avenir Roman"/>
                <a:ea typeface="Avenir Roman"/>
                <a:cs typeface="Avenir Roman"/>
                <a:sym typeface="Avenir Roman"/>
              </a:rPr>
              <a:t>, D. L. Wallace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48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Approach #3: look for special words</a:t>
            </a:r>
          </a:p>
        </p:txBody>
      </p:sp>
      <p:sp>
        <p:nvSpPr>
          <p:cNvPr id="175" name="Shape 175"/>
          <p:cNvSpPr>
            <a:spLocks noGrp="1"/>
          </p:cNvSpPr>
          <p:nvPr>
            <p:ph type="body" sz="quarter" idx="1"/>
          </p:nvPr>
        </p:nvSpPr>
        <p:spPr>
          <a:xfrm>
            <a:off x="952500" y="6731000"/>
            <a:ext cx="11099800" cy="2159000"/>
          </a:xfrm>
          <a:prstGeom prst="rect">
            <a:avLst/>
          </a:prstGeom>
        </p:spPr>
        <p:txBody>
          <a:bodyPr/>
          <a:lstStyle/>
          <a:p>
            <a:pPr marL="364489" indent="-364489" defTabSz="479044">
              <a:spcBef>
                <a:spcPts val="2100"/>
              </a:spcBef>
              <a:defRPr sz="2952"/>
            </a:pPr>
            <a:r>
              <a:rPr dirty="0"/>
              <a:t>Experts in the field had considered this, but did not see how to use this to determine authorship with certainty</a:t>
            </a:r>
          </a:p>
          <a:p>
            <a:pPr marL="364489" indent="-364489" defTabSz="479044">
              <a:spcBef>
                <a:spcPts val="2100"/>
              </a:spcBef>
              <a:defRPr sz="2952"/>
            </a:pPr>
            <a:r>
              <a:rPr dirty="0"/>
              <a:t>But Mosteller and Wallace pursued it in the hope that with enough markers the evidence would become overwhelming</a:t>
            </a:r>
          </a:p>
        </p:txBody>
      </p:sp>
      <p:pic>
        <p:nvPicPr>
          <p:cNvPr id="176" name="Screen Shot 2014-02-23 at 3.10.0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30000">
            <a:off x="482600" y="2662584"/>
            <a:ext cx="12039600" cy="38100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156"/>
          <p:cNvSpPr/>
          <p:nvPr/>
        </p:nvSpPr>
        <p:spPr>
          <a:xfrm>
            <a:off x="466205" y="3946358"/>
            <a:ext cx="10867542" cy="40907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Shape 156"/>
          <p:cNvSpPr/>
          <p:nvPr/>
        </p:nvSpPr>
        <p:spPr>
          <a:xfrm>
            <a:off x="11550315" y="3537284"/>
            <a:ext cx="988279" cy="40907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722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title"/>
          </p:nvPr>
        </p:nvSpPr>
        <p:spPr>
          <a:xfrm>
            <a:off x="-182882" y="444500"/>
            <a:ext cx="13540025" cy="176864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6100" dirty="0"/>
              <a:t>Mosteller and Wallace’s approach</a:t>
            </a:r>
          </a:p>
        </p:txBody>
      </p:sp>
      <p:pic>
        <p:nvPicPr>
          <p:cNvPr id="179" name="Screen Shot 2014-02-23 at 3.24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30000">
            <a:off x="1356996" y="3006721"/>
            <a:ext cx="10290808" cy="6368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Screen Shot 2014-02-23 at 3.23.47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89758" y="2213149"/>
            <a:ext cx="10225284" cy="80090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hape 156"/>
          <p:cNvSpPr/>
          <p:nvPr/>
        </p:nvSpPr>
        <p:spPr>
          <a:xfrm>
            <a:off x="1389758" y="2613603"/>
            <a:ext cx="10285640" cy="2169104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Shape 156"/>
          <p:cNvSpPr/>
          <p:nvPr/>
        </p:nvSpPr>
        <p:spPr>
          <a:xfrm>
            <a:off x="1329402" y="6344785"/>
            <a:ext cx="10345996" cy="2317951"/>
          </a:xfrm>
          <a:prstGeom prst="rect">
            <a:avLst/>
          </a:prstGeom>
          <a:solidFill>
            <a:srgbClr val="FFFC79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4113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Tabulated data</a:t>
            </a:r>
          </a:p>
        </p:txBody>
      </p:sp>
      <p:pic>
        <p:nvPicPr>
          <p:cNvPr id="187" name="Screen Shot 2014-02-23 at 3.14.3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30000">
            <a:off x="2359961" y="2127188"/>
            <a:ext cx="8284878" cy="725182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361716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creen Shot 2014-02-23 at 3.29.2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1516000">
            <a:off x="627109" y="1791780"/>
            <a:ext cx="5823452" cy="7029152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Shape 190"/>
          <p:cNvSpPr>
            <a:spLocks noGrp="1"/>
          </p:cNvSpPr>
          <p:nvPr>
            <p:ph type="title"/>
          </p:nvPr>
        </p:nvSpPr>
        <p:spPr>
          <a:xfrm>
            <a:off x="437232" y="-2540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Systematic study</a:t>
            </a:r>
          </a:p>
        </p:txBody>
      </p:sp>
      <p:pic>
        <p:nvPicPr>
          <p:cNvPr id="191" name="Screen Shot 2014-02-23 at 3.29.33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30000">
            <a:off x="6727728" y="1913744"/>
            <a:ext cx="6011117" cy="6400022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hape 192"/>
          <p:cNvSpPr/>
          <p:nvPr/>
        </p:nvSpPr>
        <p:spPr>
          <a:xfrm>
            <a:off x="513029" y="1758950"/>
            <a:ext cx="207012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2600"/>
              </a:spcBef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Hamilton</a:t>
            </a:r>
          </a:p>
        </p:txBody>
      </p:sp>
      <p:sp>
        <p:nvSpPr>
          <p:cNvPr id="193" name="Shape 193"/>
          <p:cNvSpPr/>
          <p:nvPr/>
        </p:nvSpPr>
        <p:spPr>
          <a:xfrm>
            <a:off x="6774129" y="1758950"/>
            <a:ext cx="196855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2600"/>
              </a:spcBef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Madison</a:t>
            </a:r>
          </a:p>
        </p:txBody>
      </p:sp>
    </p:spTree>
    <p:extLst>
      <p:ext uri="{BB962C8B-B14F-4D97-AF65-F5344CB8AC3E}">
        <p14:creationId xmlns:p14="http://schemas.microsoft.com/office/powerpoint/2010/main" val="9986800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Screen Shot 2014-02-23 at 3.29.4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21557999">
            <a:off x="3194222" y="257376"/>
            <a:ext cx="6616356" cy="64209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Screen Shot 2014-02-23 at 3.36.4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30000">
            <a:off x="1741612" y="6921537"/>
            <a:ext cx="9521576" cy="240845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26590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Getting more specific</a:t>
            </a:r>
          </a:p>
        </p:txBody>
      </p:sp>
      <p:sp>
        <p:nvSpPr>
          <p:cNvPr id="199" name="Shape 19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0055" indent="-440055" defTabSz="578358">
              <a:spcBef>
                <a:spcPts val="2500"/>
              </a:spcBef>
              <a:defRPr sz="3564"/>
            </a:pPr>
            <a:r>
              <a:rPr dirty="0"/>
              <a:t>How can we ascribe an actual probability that a given paper is written by Hamilton and Madison?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rPr dirty="0"/>
              <a:t>A random variable </a:t>
            </a:r>
            <a:r>
              <a:rPr b="0" i="1" dirty="0"/>
              <a:t>X</a:t>
            </a:r>
            <a:r>
              <a:rPr dirty="0"/>
              <a:t> follows a Poisson distribution if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endParaRPr dirty="0"/>
          </a:p>
          <a:p>
            <a:pPr marL="440055" indent="-440055" defTabSz="578358">
              <a:spcBef>
                <a:spcPts val="2500"/>
              </a:spcBef>
              <a:defRPr sz="3564"/>
            </a:pPr>
            <a:endParaRPr dirty="0"/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rPr dirty="0"/>
              <a:t>A good </a:t>
            </a:r>
            <a:r>
              <a:rPr dirty="0" smtClean="0"/>
              <a:t>model</a:t>
            </a:r>
            <a:r>
              <a:rPr lang="en-US" dirty="0" smtClean="0"/>
              <a:t>?</a:t>
            </a:r>
            <a:r>
              <a:rPr lang="en-US" dirty="0"/>
              <a:t> </a:t>
            </a:r>
            <a:r>
              <a:rPr lang="en-US" dirty="0" smtClean="0"/>
              <a:t> T</a:t>
            </a:r>
            <a:r>
              <a:rPr dirty="0" smtClean="0"/>
              <a:t>he </a:t>
            </a:r>
            <a:r>
              <a:rPr dirty="0"/>
              <a:t>total number of occurrences of a particular word in a given paper follows a Poisson distribution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991" y="5274406"/>
            <a:ext cx="4801355" cy="114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607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Bayes’ Theorem</a:t>
            </a:r>
          </a:p>
        </p:txBody>
      </p:sp>
      <p:sp>
        <p:nvSpPr>
          <p:cNvPr id="205" name="Shape 205"/>
          <p:cNvSpPr>
            <a:spLocks noGrp="1"/>
          </p:cNvSpPr>
          <p:nvPr>
            <p:ph type="body" idx="1"/>
          </p:nvPr>
        </p:nvSpPr>
        <p:spPr>
          <a:xfrm>
            <a:off x="952499" y="2481579"/>
            <a:ext cx="11099801" cy="6286501"/>
          </a:xfrm>
          <a:prstGeom prst="rect">
            <a:avLst/>
          </a:prstGeom>
        </p:spPr>
        <p:txBody>
          <a:bodyPr anchor="t"/>
          <a:lstStyle/>
          <a:p>
            <a:pPr marL="432152" indent="-432152">
              <a:defRPr sz="3500"/>
            </a:pPr>
            <a:r>
              <a:rPr dirty="0"/>
              <a:t>Let </a:t>
            </a:r>
            <a:r>
              <a:rPr lang="en-US" b="0" i="1" dirty="0"/>
              <a:t>A</a:t>
            </a:r>
            <a:r>
              <a:rPr dirty="0" smtClean="0"/>
              <a:t> </a:t>
            </a:r>
            <a:r>
              <a:rPr dirty="0"/>
              <a:t>be the event </a:t>
            </a:r>
            <a:r>
              <a:rPr dirty="0" smtClean="0"/>
              <a:t>that</a:t>
            </a:r>
            <a:r>
              <a:rPr lang="en-US" dirty="0" smtClean="0"/>
              <a:t> you have a rare disease, and </a:t>
            </a:r>
            <a:r>
              <a:rPr lang="en-US" b="0" i="1" dirty="0" smtClean="0"/>
              <a:t>B </a:t>
            </a:r>
            <a:r>
              <a:rPr lang="en-US" dirty="0" smtClean="0"/>
              <a:t>be the probability that you test positive for this disease</a:t>
            </a:r>
          </a:p>
          <a:p>
            <a:pPr marL="432152" indent="-432152">
              <a:defRPr sz="3500"/>
            </a:pPr>
            <a:r>
              <a:rPr dirty="0" smtClean="0"/>
              <a:t>The </a:t>
            </a:r>
            <a:r>
              <a:rPr dirty="0"/>
              <a:t>probability of </a:t>
            </a:r>
          </a:p>
          <a:p>
            <a:pPr marL="432152" indent="-432152">
              <a:defRPr sz="3500"/>
            </a:pPr>
            <a:endParaRPr dirty="0"/>
          </a:p>
          <a:p>
            <a:pPr marL="0" indent="0">
              <a:buNone/>
              <a:defRPr sz="3500"/>
            </a:pPr>
            <a:endParaRPr dirty="0" smtClean="0"/>
          </a:p>
          <a:p>
            <a:pPr marL="432152" indent="-432152">
              <a:defRPr sz="3500"/>
            </a:pPr>
            <a:r>
              <a:rPr dirty="0" smtClean="0"/>
              <a:t>Similarly,</a:t>
            </a:r>
            <a:r>
              <a:rPr lang="en-US" dirty="0" smtClean="0"/>
              <a:t> </a:t>
            </a:r>
            <a:r>
              <a:rPr dirty="0" smtClean="0"/>
              <a:t>                             </a:t>
            </a:r>
            <a:r>
              <a:rPr lang="en-US" dirty="0" smtClean="0"/>
              <a:t>           </a:t>
            </a:r>
            <a:r>
              <a:rPr dirty="0" smtClean="0"/>
              <a:t>and </a:t>
            </a:r>
            <a:r>
              <a:rPr dirty="0"/>
              <a:t>hence</a:t>
            </a:r>
          </a:p>
        </p:txBody>
      </p:sp>
      <p:sp>
        <p:nvSpPr>
          <p:cNvPr id="207" name="Shape 207"/>
          <p:cNvSpPr/>
          <p:nvPr/>
        </p:nvSpPr>
        <p:spPr>
          <a:xfrm flipV="1">
            <a:off x="3573637" y="5498211"/>
            <a:ext cx="1101552" cy="296600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08" name="Shape 208"/>
          <p:cNvSpPr/>
          <p:nvPr/>
        </p:nvSpPr>
        <p:spPr>
          <a:xfrm>
            <a:off x="1721702" y="5758194"/>
            <a:ext cx="2702927" cy="680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Joint probability of both events</a:t>
            </a:r>
          </a:p>
        </p:txBody>
      </p:sp>
      <p:sp>
        <p:nvSpPr>
          <p:cNvPr id="209" name="Shape 209"/>
          <p:cNvSpPr/>
          <p:nvPr/>
        </p:nvSpPr>
        <p:spPr>
          <a:xfrm flipH="1" flipV="1">
            <a:off x="8586787" y="5426021"/>
            <a:ext cx="762586" cy="440573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9349373" y="5434081"/>
            <a:ext cx="2702927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Probability of </a:t>
            </a:r>
            <a:r>
              <a:rPr lang="en-US" i="1" dirty="0"/>
              <a:t>A</a:t>
            </a:r>
            <a:r>
              <a:rPr dirty="0" smtClean="0"/>
              <a:t> </a:t>
            </a:r>
            <a:r>
              <a:rPr dirty="0"/>
              <a:t>happening given that </a:t>
            </a:r>
            <a:r>
              <a:rPr lang="en-US" i="1" dirty="0"/>
              <a:t>B</a:t>
            </a:r>
            <a:r>
              <a:rPr dirty="0" smtClean="0"/>
              <a:t> </a:t>
            </a:r>
            <a:r>
              <a:rPr dirty="0"/>
              <a:t>happened</a:t>
            </a:r>
          </a:p>
        </p:txBody>
      </p:sp>
      <p:sp>
        <p:nvSpPr>
          <p:cNvPr id="213" name="Shape 213"/>
          <p:cNvSpPr/>
          <p:nvPr/>
        </p:nvSpPr>
        <p:spPr>
          <a:xfrm flipH="1" flipV="1">
            <a:off x="8789986" y="8524155"/>
            <a:ext cx="817905" cy="275564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4" name="Shape 214"/>
          <p:cNvSpPr/>
          <p:nvPr/>
        </p:nvSpPr>
        <p:spPr>
          <a:xfrm>
            <a:off x="9607892" y="8415885"/>
            <a:ext cx="2250143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rPr>
              <a:t>Prior</a:t>
            </a:r>
            <a:r>
              <a:rPr dirty="0"/>
              <a:t> – my initial estimate of </a:t>
            </a:r>
            <a:r>
              <a:rPr lang="en-US" dirty="0" smtClean="0"/>
              <a:t>having disease</a:t>
            </a:r>
            <a:endParaRPr dirty="0"/>
          </a:p>
        </p:txBody>
      </p:sp>
      <p:sp>
        <p:nvSpPr>
          <p:cNvPr id="215" name="Shape 215"/>
          <p:cNvSpPr/>
          <p:nvPr/>
        </p:nvSpPr>
        <p:spPr>
          <a:xfrm flipV="1">
            <a:off x="4034392" y="8524154"/>
            <a:ext cx="994808" cy="335493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6" name="Shape 216"/>
          <p:cNvSpPr/>
          <p:nvPr/>
        </p:nvSpPr>
        <p:spPr>
          <a:xfrm>
            <a:off x="608954" y="8465845"/>
            <a:ext cx="342543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rPr>
              <a:t>Posterior</a:t>
            </a:r>
            <a:r>
              <a:rPr dirty="0"/>
              <a:t> – my estimate of </a:t>
            </a:r>
            <a:r>
              <a:rPr lang="en-US" dirty="0" smtClean="0"/>
              <a:t>having disease</a:t>
            </a:r>
            <a:r>
              <a:rPr dirty="0" smtClean="0"/>
              <a:t>, </a:t>
            </a:r>
            <a:r>
              <a:rPr dirty="0"/>
              <a:t>given the </a:t>
            </a:r>
            <a:r>
              <a:rPr lang="en-US" dirty="0" smtClean="0"/>
              <a:t>positive test result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74883" y="4852645"/>
                <a:ext cx="4611904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𝐴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𝐵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𝐴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𝐴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|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𝐵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883" y="4852645"/>
                <a:ext cx="4611904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625617" y="6661125"/>
                <a:ext cx="463101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𝐵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, 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𝐴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𝐵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𝐵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|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𝐴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617" y="6661125"/>
                <a:ext cx="4631011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388074" y="7705615"/>
                <a:ext cx="4401911" cy="8824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𝑃</m:t>
                    </m:r>
                    <m:d>
                      <m:d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d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𝐴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|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𝐵</m:t>
                        </m:r>
                      </m:e>
                    </m:d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=</m:t>
                    </m:r>
                    <m:f>
                      <m:fPr>
                        <m:ctrlPr>
                          <a:rPr kumimoji="0" lang="mr-IN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fPr>
                      <m:num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𝑃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(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𝐵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|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𝐴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)</m:t>
                        </m:r>
                      </m:num>
                      <m:den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𝑃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(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𝐵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)</m:t>
                        </m:r>
                      </m:den>
                    </m:f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 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𝑃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(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𝐴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charset="0"/>
                        <a:ea typeface="+mn-ea"/>
                        <a:cs typeface="+mn-cs"/>
                        <a:sym typeface="Helvetica Light"/>
                      </a:rPr>
                      <m:t>)</m:t>
                    </m:r>
                  </m:oMath>
                </a14:m>
                <a:r>
                  <a:rPr kumimoji="0" lang="en-US" sz="36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074" y="7705615"/>
                <a:ext cx="4401911" cy="8824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4816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/>
          </p:cNvSpPr>
          <p:nvPr>
            <p:ph type="body" sz="half" idx="1"/>
          </p:nvPr>
        </p:nvSpPr>
        <p:spPr>
          <a:xfrm>
            <a:off x="952500" y="5094014"/>
            <a:ext cx="11099801" cy="2310012"/>
          </a:xfrm>
          <a:prstGeom prst="rect">
            <a:avLst/>
          </a:prstGeom>
        </p:spPr>
        <p:txBody>
          <a:bodyPr/>
          <a:lstStyle/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Let </a:t>
            </a:r>
            <a:r>
              <a:rPr b="0" i="1" dirty="0"/>
              <a:t>H</a:t>
            </a:r>
            <a:r>
              <a:rPr dirty="0"/>
              <a:t> be the event that Hamilton wrote the paper, and let </a:t>
            </a:r>
            <a:r>
              <a:rPr b="0" i="1" dirty="0"/>
              <a:t>M</a:t>
            </a:r>
            <a:r>
              <a:rPr dirty="0"/>
              <a:t> be the event that Madison wrote the paper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Suppose that “also” is used 4 times a paper. What are the odds that Hamilton wrote the paper?</a:t>
            </a:r>
          </a:p>
        </p:txBody>
      </p:sp>
      <p:pic>
        <p:nvPicPr>
          <p:cNvPr id="219" name="Screen Shot 2014-02-23 at 8.55.2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9146" y="416471"/>
            <a:ext cx="6244486" cy="4389388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Shape 221"/>
          <p:cNvSpPr/>
          <p:nvPr/>
        </p:nvSpPr>
        <p:spPr>
          <a:xfrm>
            <a:off x="749193" y="1808791"/>
            <a:ext cx="4569578" cy="1930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Expected number of </a:t>
            </a:r>
            <a:r>
              <a:rPr dirty="0" smtClean="0"/>
              <a:t>occurrences</a:t>
            </a:r>
            <a:endParaRPr lang="en-US" dirty="0" smtClean="0"/>
          </a:p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w </a:t>
            </a:r>
            <a:r>
              <a:rPr dirty="0"/>
              <a:t>= word count in 1000s</a:t>
            </a:r>
          </a:p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𝜇 </a:t>
            </a:r>
            <a:r>
              <a:rPr dirty="0"/>
              <a:t>= rate per 1000 </a:t>
            </a:r>
            <a:r>
              <a:rPr dirty="0" smtClean="0"/>
              <a:t>words</a:t>
            </a:r>
            <a:endParaRPr lang="en-US" dirty="0" smtClean="0"/>
          </a:p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lang="en-US" dirty="0" smtClean="0"/>
          </a:p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en-US" dirty="0" smtClean="0"/>
              <a:t>2000 total words</a:t>
            </a:r>
            <a:endParaRPr dirty="0"/>
          </a:p>
        </p:txBody>
      </p:sp>
      <p:sp>
        <p:nvSpPr>
          <p:cNvPr id="222" name="Shape 222"/>
          <p:cNvSpPr/>
          <p:nvPr/>
        </p:nvSpPr>
        <p:spPr>
          <a:xfrm>
            <a:off x="8593661" y="7692181"/>
            <a:ext cx="1718335" cy="40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𝜇</a:t>
            </a:r>
            <a:r>
              <a:rPr sz="2100" i="1" baseline="-5999"/>
              <a:t>H</a:t>
            </a:r>
            <a:r>
              <a:rPr i="1"/>
              <a:t> </a:t>
            </a:r>
            <a:r>
              <a:t>= 0.31</a:t>
            </a:r>
          </a:p>
        </p:txBody>
      </p:sp>
      <p:sp>
        <p:nvSpPr>
          <p:cNvPr id="223" name="Shape 223"/>
          <p:cNvSpPr/>
          <p:nvPr/>
        </p:nvSpPr>
        <p:spPr>
          <a:xfrm>
            <a:off x="8593661" y="8657128"/>
            <a:ext cx="1728188" cy="40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90000"/>
              </a:lnSpc>
              <a:defRPr sz="22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𝜇</a:t>
            </a:r>
            <a:r>
              <a:rPr sz="2100" i="1" baseline="-5999" dirty="0"/>
              <a:t>M</a:t>
            </a:r>
            <a:r>
              <a:rPr i="1" dirty="0"/>
              <a:t> </a:t>
            </a:r>
            <a:r>
              <a:rPr dirty="0"/>
              <a:t>= 0.67</a:t>
            </a:r>
          </a:p>
        </p:txBody>
      </p:sp>
      <p:sp>
        <p:nvSpPr>
          <p:cNvPr id="224" name="Shape 224"/>
          <p:cNvSpPr/>
          <p:nvPr/>
        </p:nvSpPr>
        <p:spPr>
          <a:xfrm>
            <a:off x="1112766" y="412627"/>
            <a:ext cx="3842433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normAutofit/>
          </a:bodyPr>
          <a:lstStyle>
            <a:lvl1pPr>
              <a:defRPr sz="3800" b="1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Example: “also”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396" y="7448989"/>
            <a:ext cx="5458994" cy="7998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395" y="8352773"/>
            <a:ext cx="5533781" cy="8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638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Two interpretations</a:t>
            </a:r>
          </a:p>
        </p:txBody>
      </p:sp>
      <p:sp>
        <p:nvSpPr>
          <p:cNvPr id="227" name="Shape 22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rPr dirty="0"/>
              <a:t>Ratio of probabilities (“likelihood ratio”)</a:t>
            </a:r>
          </a:p>
          <a:p>
            <a:endParaRPr dirty="0"/>
          </a:p>
          <a:p>
            <a:r>
              <a:rPr dirty="0"/>
              <a:t>Hence you might say that the odds are 10:1 that Madison wrote the paper.</a:t>
            </a:r>
          </a:p>
          <a:p>
            <a:r>
              <a:rPr dirty="0"/>
              <a:t>But this depends on what your prior belief about who wrote the papers is.</a:t>
            </a:r>
          </a:p>
          <a:p>
            <a:r>
              <a:rPr dirty="0"/>
              <a:t>If you had other reasons to think Hamilton wrote the paper, you might feel differently.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243" y="3151605"/>
            <a:ext cx="3759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195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use of Bayes’ Theorem</a:t>
            </a:r>
          </a:p>
        </p:txBody>
      </p:sp>
      <p:sp>
        <p:nvSpPr>
          <p:cNvPr id="231" name="Shape 231"/>
          <p:cNvSpPr>
            <a:spLocks noGrp="1"/>
          </p:cNvSpPr>
          <p:nvPr>
            <p:ph type="body" idx="1"/>
          </p:nvPr>
        </p:nvSpPr>
        <p:spPr>
          <a:xfrm>
            <a:off x="800100" y="251460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r>
              <a:rPr dirty="0"/>
              <a:t>From Bayes’ </a:t>
            </a:r>
            <a:r>
              <a:rPr dirty="0" smtClean="0"/>
              <a:t>Theorem</a:t>
            </a:r>
            <a:endParaRPr lang="en-US" dirty="0" smtClean="0"/>
          </a:p>
          <a:p>
            <a:endParaRPr dirty="0"/>
          </a:p>
          <a:p>
            <a:endParaRPr dirty="0"/>
          </a:p>
          <a:p>
            <a:r>
              <a:rPr dirty="0"/>
              <a:t>Hence</a:t>
            </a:r>
          </a:p>
        </p:txBody>
      </p:sp>
      <p:sp>
        <p:nvSpPr>
          <p:cNvPr id="234" name="Shape 234"/>
          <p:cNvSpPr/>
          <p:nvPr/>
        </p:nvSpPr>
        <p:spPr>
          <a:xfrm flipV="1">
            <a:off x="3764155" y="7363326"/>
            <a:ext cx="326582" cy="614132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5" name="Shape 235"/>
          <p:cNvSpPr/>
          <p:nvPr/>
        </p:nvSpPr>
        <p:spPr>
          <a:xfrm>
            <a:off x="2084973" y="8102920"/>
            <a:ext cx="2702927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Posterior odds of Hamilton versus Madison</a:t>
            </a:r>
          </a:p>
        </p:txBody>
      </p:sp>
      <p:sp>
        <p:nvSpPr>
          <p:cNvPr id="236" name="Shape 236"/>
          <p:cNvSpPr/>
          <p:nvPr/>
        </p:nvSpPr>
        <p:spPr>
          <a:xfrm flipH="1" flipV="1">
            <a:off x="8999621" y="7339263"/>
            <a:ext cx="274222" cy="581070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7" name="Shape 237"/>
          <p:cNvSpPr/>
          <p:nvPr/>
        </p:nvSpPr>
        <p:spPr>
          <a:xfrm>
            <a:off x="9196973" y="7810820"/>
            <a:ext cx="2702927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Prior odds of Hamilton versus Madison</a:t>
            </a:r>
          </a:p>
        </p:txBody>
      </p:sp>
      <p:sp>
        <p:nvSpPr>
          <p:cNvPr id="238" name="Shape 238"/>
          <p:cNvSpPr/>
          <p:nvPr/>
        </p:nvSpPr>
        <p:spPr>
          <a:xfrm flipH="1" flipV="1">
            <a:off x="7170822" y="7339262"/>
            <a:ext cx="22384" cy="943223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9" name="Shape 239"/>
          <p:cNvSpPr/>
          <p:nvPr/>
        </p:nvSpPr>
        <p:spPr>
          <a:xfrm>
            <a:off x="5841742" y="8277937"/>
            <a:ext cx="2702927" cy="1229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Probabilities estimated from Poisson model and observed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402" y="3291817"/>
            <a:ext cx="4713036" cy="9627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71" y="3307805"/>
            <a:ext cx="4548286" cy="970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050" y="6080993"/>
            <a:ext cx="56007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817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Screen Shot 2014-02-23 at 10.00.11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1570000">
            <a:off x="2554020" y="196064"/>
            <a:ext cx="7896760" cy="7302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Screen Shot 2014-02-23 at 10.00.26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1540000">
            <a:off x="2427286" y="7448136"/>
            <a:ext cx="7896760" cy="1967774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Shape 247"/>
          <p:cNvSpPr/>
          <p:nvPr/>
        </p:nvSpPr>
        <p:spPr>
          <a:xfrm>
            <a:off x="3144803" y="5753100"/>
            <a:ext cx="3016655" cy="0"/>
          </a:xfrm>
          <a:prstGeom prst="line">
            <a:avLst/>
          </a:prstGeom>
          <a:ln w="47625">
            <a:solidFill>
              <a:srgbClr val="A98EC4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58231" y="6007261"/>
                <a:ext cx="161666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𝑋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|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𝐻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31" y="6007261"/>
                <a:ext cx="1616661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28077" y="7003276"/>
                <a:ext cx="1670522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𝑋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|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𝑀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077" y="7003276"/>
                <a:ext cx="1670522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51785" y="8432023"/>
                <a:ext cx="1670521" cy="1153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𝐻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𝑀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85" y="8432023"/>
                <a:ext cx="1670521" cy="115345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247719" y="5292888"/>
                <a:ext cx="437684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𝑋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719" y="5292888"/>
                <a:ext cx="437684" cy="553998"/>
              </a:xfrm>
              <a:prstGeom prst="rect">
                <a:avLst/>
              </a:prstGeom>
              <a:blipFill rotWithShape="0">
                <a:blip r:embed="rId8"/>
                <a:stretch>
                  <a:fillRect l="-14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2077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Subtleties</a:t>
            </a:r>
          </a:p>
        </p:txBody>
      </p:sp>
      <p:pic>
        <p:nvPicPr>
          <p:cNvPr id="252" name="Screen Shot 2014-02-24 at 8.25.2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30000">
            <a:off x="431800" y="3350055"/>
            <a:ext cx="12141200" cy="45720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172565" y="8228839"/>
                <a:ext cx="5381793" cy="1153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𝐻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𝑀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 </m:t>
                      </m:r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𝐻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𝑋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|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𝑀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  </m:t>
                      </m:r>
                      <m:f>
                        <m:fPr>
                          <m:ctrlPr>
                            <a:rPr kumimoji="0" lang="mr-IN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𝐻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𝑃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(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𝑀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565" y="8228839"/>
                <a:ext cx="5381793" cy="11534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971643" y="2396335"/>
                <a:ext cx="5061514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𝑝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𝐻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      </m:t>
                      </m:r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𝑝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𝑀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43" y="2396335"/>
                <a:ext cx="5061514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0389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Conclusions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1" b="1"/>
          <a:stretch/>
        </p:blipFill>
        <p:spPr>
          <a:xfrm>
            <a:off x="704467" y="2435057"/>
            <a:ext cx="11595865" cy="38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023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7232" y="1963120"/>
            <a:ext cx="13109106" cy="114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413" b="1" dirty="0"/>
              <a:t>What is the probability of the MOST probable word of </a:t>
            </a:r>
            <a:r>
              <a:rPr lang="en-US" sz="3413" b="1" i="1" dirty="0"/>
              <a:t>N</a:t>
            </a:r>
            <a:r>
              <a:rPr lang="en-US" sz="3413" b="1" dirty="0"/>
              <a:t> symbols?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640" y="3533545"/>
            <a:ext cx="11933267" cy="16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413" b="1" dirty="0"/>
              <a:t>Suppose we have a word with </a:t>
            </a:r>
            <a:r>
              <a:rPr lang="en-US" sz="3413" b="1" i="1" dirty="0"/>
              <a:t>N</a:t>
            </a:r>
            <a:r>
              <a:rPr lang="en-US" sz="3413" b="1" dirty="0"/>
              <a:t> symbols</a:t>
            </a:r>
            <a:r>
              <a:rPr lang="en-US" sz="3413" b="1" dirty="0" smtClean="0"/>
              <a:t>.</a:t>
            </a:r>
          </a:p>
          <a:p>
            <a:pPr algn="l"/>
            <a:r>
              <a:rPr lang="en-US" sz="3413" b="1" dirty="0" smtClean="0"/>
              <a:t>  </a:t>
            </a:r>
            <a:endParaRPr lang="en-US" sz="3413" b="1" dirty="0"/>
          </a:p>
          <a:p>
            <a:pPr algn="l"/>
            <a:r>
              <a:rPr lang="en-US" sz="3413" b="1" dirty="0"/>
              <a:t>On average, there will be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99155" y="5636863"/>
            <a:ext cx="7415813" cy="16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413" b="1" dirty="0"/>
              <a:t>occurrences of the first symbol</a:t>
            </a:r>
          </a:p>
          <a:p>
            <a:pPr algn="l"/>
            <a:r>
              <a:rPr lang="en-US" sz="3413" b="1" dirty="0"/>
              <a:t>occurrences of the </a:t>
            </a:r>
            <a:r>
              <a:rPr lang="en-US" sz="3413" b="1" dirty="0" smtClean="0"/>
              <a:t>second </a:t>
            </a:r>
            <a:r>
              <a:rPr lang="en-US" sz="3413" b="1" dirty="0"/>
              <a:t>symbol</a:t>
            </a:r>
          </a:p>
          <a:p>
            <a:endParaRPr lang="en-US" sz="3413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39" y="8208821"/>
            <a:ext cx="4450532" cy="12715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5640" y="7496279"/>
            <a:ext cx="7608173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Hence the probability of the word is</a:t>
            </a:r>
          </a:p>
        </p:txBody>
      </p:sp>
      <p:sp>
        <p:nvSpPr>
          <p:cNvPr id="10" name="TextBox 9"/>
          <p:cNvSpPr txBox="1"/>
          <p:nvPr/>
        </p:nvSpPr>
        <p:spPr>
          <a:xfrm rot="5400000" flipV="1">
            <a:off x="826074" y="6934015"/>
            <a:ext cx="743711" cy="617541"/>
          </a:xfrm>
          <a:prstGeom prst="rect">
            <a:avLst/>
          </a:prstGeom>
          <a:noFill/>
          <a:scene3d>
            <a:camera prst="orthographic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3413" b="1" dirty="0"/>
              <a:t>…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02" y="5701732"/>
            <a:ext cx="1002453" cy="1300480"/>
          </a:xfrm>
          <a:prstGeom prst="rect">
            <a:avLst/>
          </a:prstGeom>
        </p:spPr>
      </p:pic>
      <p:sp>
        <p:nvSpPr>
          <p:cNvPr id="14" name="Shape 262"/>
          <p:cNvSpPr>
            <a:spLocks noGrp="1"/>
          </p:cNvSpPr>
          <p:nvPr>
            <p:ph type="title"/>
          </p:nvPr>
        </p:nvSpPr>
        <p:spPr>
          <a:xfrm>
            <a:off x="437232" y="63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Measuring information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07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78" y="2654814"/>
            <a:ext cx="4984348" cy="1424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925" y="4794185"/>
            <a:ext cx="3765973" cy="14630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378" y="5039028"/>
            <a:ext cx="2411307" cy="1002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0214" y="1998224"/>
            <a:ext cx="6293711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The probability of the word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214" y="4078914"/>
            <a:ext cx="6195927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In terms of Shannon Entropy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332" y="6745055"/>
            <a:ext cx="11234166" cy="16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b="1" dirty="0"/>
              <a:t>How many “most probable” words are there?  About </a:t>
            </a:r>
          </a:p>
          <a:p>
            <a:endParaRPr lang="en-US" sz="3413" dirty="0"/>
          </a:p>
          <a:p>
            <a:endParaRPr lang="en-US" sz="3413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0674" y="6552870"/>
            <a:ext cx="839893" cy="1219200"/>
          </a:xfrm>
          <a:prstGeom prst="rect">
            <a:avLst/>
          </a:prstGeom>
        </p:spPr>
      </p:pic>
      <p:sp>
        <p:nvSpPr>
          <p:cNvPr id="10" name="Shape 262"/>
          <p:cNvSpPr>
            <a:spLocks noGrp="1"/>
          </p:cNvSpPr>
          <p:nvPr>
            <p:ph type="title"/>
          </p:nvPr>
        </p:nvSpPr>
        <p:spPr>
          <a:xfrm>
            <a:off x="437232" y="63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Measuring information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03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1361</Words>
  <Application>Microsoft Macintosh PowerPoint</Application>
  <PresentationFormat>Custom</PresentationFormat>
  <Paragraphs>193</Paragraphs>
  <Slides>35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Avenir Roman</vt:lpstr>
      <vt:lpstr>Calibri</vt:lpstr>
      <vt:lpstr>Cambria Math</vt:lpstr>
      <vt:lpstr>Helvetica</vt:lpstr>
      <vt:lpstr>Helvetica Light</vt:lpstr>
      <vt:lpstr>White</vt:lpstr>
      <vt:lpstr>Class 14: Information Theory</vt:lpstr>
      <vt:lpstr>Continuing Shannon’s paper</vt:lpstr>
      <vt:lpstr>Shannon’s key idea</vt:lpstr>
      <vt:lpstr>PowerPoint Presentation</vt:lpstr>
      <vt:lpstr>PowerPoint Presentation</vt:lpstr>
      <vt:lpstr>How to simulate the digram structure</vt:lpstr>
      <vt:lpstr>Measuring information content</vt:lpstr>
      <vt:lpstr>Measuring information content</vt:lpstr>
      <vt:lpstr>Measuring information content</vt:lpstr>
      <vt:lpstr>Shannon’s fundamental theorem</vt:lpstr>
      <vt:lpstr>Historical mystery</vt:lpstr>
      <vt:lpstr>The Federalist</vt:lpstr>
      <vt:lpstr>Suspected authors</vt:lpstr>
      <vt:lpstr>Disputed authorship</vt:lpstr>
      <vt:lpstr>PowerPoint Presentation</vt:lpstr>
      <vt:lpstr>PowerPoint Presentation</vt:lpstr>
      <vt:lpstr>Approach #1: Wordiness</vt:lpstr>
      <vt:lpstr>Approach #2: Zipf’s law</vt:lpstr>
      <vt:lpstr>Approach #2: Zipf’s law</vt:lpstr>
      <vt:lpstr>Approach #2: Zipf’s law</vt:lpstr>
      <vt:lpstr>Approach #3: look for special words</vt:lpstr>
      <vt:lpstr>Mosteller and Wallace’s approach</vt:lpstr>
      <vt:lpstr>Tabulated data</vt:lpstr>
      <vt:lpstr>Systematic study</vt:lpstr>
      <vt:lpstr>PowerPoint Presentation</vt:lpstr>
      <vt:lpstr>Getting more specific</vt:lpstr>
      <vt:lpstr>Bayes’ Theorem</vt:lpstr>
      <vt:lpstr>PowerPoint Presentation</vt:lpstr>
      <vt:lpstr>Two interpretations</vt:lpstr>
      <vt:lpstr>The use of Bayes’ Theorem</vt:lpstr>
      <vt:lpstr>PowerPoint Presentation</vt:lpstr>
      <vt:lpstr>Subtleties</vt:lpstr>
      <vt:lpstr>Conclusions</vt:lpstr>
      <vt:lpstr>Measuring information content</vt:lpstr>
      <vt:lpstr>Measuring information content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Information Theory</dc:title>
  <cp:lastModifiedBy>Microsoft Office User</cp:lastModifiedBy>
  <cp:revision>59</cp:revision>
  <dcterms:modified xsi:type="dcterms:W3CDTF">2017-03-23T17:00:06Z</dcterms:modified>
</cp:coreProperties>
</file>