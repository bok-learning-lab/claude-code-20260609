
<file path=[Content_Types].xml><?xml version="1.0" encoding="utf-8"?>
<Types xmlns="http://schemas.openxmlformats.org/package/2006/content-types">
  <Default Extension="xml" ContentType="application/xml"/>
  <Default Extension="jpeg" ContentType="image/jpeg"/>
  <Default Extension="tif" ContentType="image/tif"/>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339" r:id="rId2"/>
    <p:sldId id="340" r:id="rId3"/>
    <p:sldId id="341" r:id="rId4"/>
    <p:sldId id="342" r:id="rId5"/>
    <p:sldId id="343" r:id="rId6"/>
    <p:sldId id="344" r:id="rId7"/>
    <p:sldId id="345" r:id="rId8"/>
    <p:sldId id="347" r:id="rId9"/>
    <p:sldId id="348" r:id="rId10"/>
    <p:sldId id="350" r:id="rId11"/>
    <p:sldId id="352" r:id="rId12"/>
    <p:sldId id="353" r:id="rId13"/>
    <p:sldId id="381" r:id="rId14"/>
    <p:sldId id="356" r:id="rId15"/>
    <p:sldId id="366" r:id="rId16"/>
    <p:sldId id="382" r:id="rId17"/>
    <p:sldId id="383" r:id="rId18"/>
    <p:sldId id="359" r:id="rId19"/>
    <p:sldId id="361" r:id="rId20"/>
    <p:sldId id="362" r:id="rId21"/>
    <p:sldId id="367" r:id="rId22"/>
    <p:sldId id="393" r:id="rId23"/>
    <p:sldId id="363" r:id="rId24"/>
    <p:sldId id="369" r:id="rId25"/>
    <p:sldId id="370" r:id="rId26"/>
    <p:sldId id="371" r:id="rId27"/>
    <p:sldId id="372" r:id="rId28"/>
    <p:sldId id="373" r:id="rId29"/>
    <p:sldId id="374" r:id="rId30"/>
    <p:sldId id="375" r:id="rId31"/>
    <p:sldId id="385" r:id="rId32"/>
    <p:sldId id="376" r:id="rId33"/>
    <p:sldId id="390" r:id="rId34"/>
    <p:sldId id="380" r:id="rId35"/>
    <p:sldId id="386" r:id="rId36"/>
    <p:sldId id="387" r:id="rId37"/>
    <p:sldId id="388" r:id="rId38"/>
    <p:sldId id="391" r:id="rId39"/>
    <p:sldId id="392" r:id="rId40"/>
    <p:sldId id="256" r:id="rId41"/>
    <p:sldId id="257" r:id="rId42"/>
    <p:sldId id="258" r:id="rId43"/>
    <p:sldId id="259" r:id="rId44"/>
    <p:sldId id="260" r:id="rId45"/>
    <p:sldId id="261" r:id="rId46"/>
    <p:sldId id="262" r:id="rId47"/>
    <p:sldId id="263" r:id="rId48"/>
    <p:sldId id="264" r:id="rId49"/>
    <p:sldId id="265" r:id="rId50"/>
    <p:sldId id="266" r:id="rId51"/>
    <p:sldId id="267" r:id="rId52"/>
    <p:sldId id="268" r:id="rId53"/>
    <p:sldId id="269" r:id="rId54"/>
    <p:sldId id="270" r:id="rId55"/>
    <p:sldId id="271" r:id="rId56"/>
    <p:sldId id="272" r:id="rId57"/>
    <p:sldId id="273" r:id="rId58"/>
    <p:sldId id="355" r:id="rId59"/>
    <p:sldId id="274" r:id="rId60"/>
    <p:sldId id="275" r:id="rId61"/>
    <p:sldId id="276" r:id="rId62"/>
    <p:sldId id="277" r:id="rId63"/>
    <p:sldId id="278" r:id="rId64"/>
    <p:sldId id="279" r:id="rId65"/>
    <p:sldId id="280" r:id="rId66"/>
    <p:sldId id="281" r:id="rId67"/>
    <p:sldId id="282" r:id="rId68"/>
    <p:sldId id="283" r:id="rId69"/>
    <p:sldId id="284" r:id="rId70"/>
    <p:sldId id="285" r:id="rId71"/>
    <p:sldId id="286" r:id="rId72"/>
    <p:sldId id="287" r:id="rId73"/>
    <p:sldId id="288" r:id="rId74"/>
    <p:sldId id="289" r:id="rId75"/>
    <p:sldId id="290" r:id="rId76"/>
    <p:sldId id="291" r:id="rId77"/>
    <p:sldId id="292" r:id="rId78"/>
    <p:sldId id="293" r:id="rId79"/>
    <p:sldId id="294" r:id="rId80"/>
    <p:sldId id="295" r:id="rId81"/>
    <p:sldId id="296" r:id="rId82"/>
    <p:sldId id="297" r:id="rId83"/>
    <p:sldId id="298" r:id="rId84"/>
    <p:sldId id="299" r:id="rId85"/>
    <p:sldId id="300" r:id="rId86"/>
    <p:sldId id="301" r:id="rId87"/>
    <p:sldId id="302" r:id="rId88"/>
    <p:sldId id="303" r:id="rId89"/>
    <p:sldId id="304" r:id="rId90"/>
    <p:sldId id="305" r:id="rId91"/>
    <p:sldId id="306" r:id="rId92"/>
    <p:sldId id="307" r:id="rId93"/>
    <p:sldId id="308" r:id="rId94"/>
    <p:sldId id="309" r:id="rId95"/>
    <p:sldId id="310" r:id="rId96"/>
    <p:sldId id="311" r:id="rId97"/>
    <p:sldId id="312" r:id="rId98"/>
    <p:sldId id="313" r:id="rId99"/>
    <p:sldId id="314" r:id="rId100"/>
    <p:sldId id="315" r:id="rId101"/>
    <p:sldId id="316" r:id="rId102"/>
    <p:sldId id="317" r:id="rId103"/>
    <p:sldId id="318" r:id="rId104"/>
    <p:sldId id="319" r:id="rId105"/>
    <p:sldId id="320" r:id="rId106"/>
    <p:sldId id="321" r:id="rId107"/>
    <p:sldId id="322" r:id="rId108"/>
    <p:sldId id="323" r:id="rId109"/>
    <p:sldId id="324" r:id="rId110"/>
    <p:sldId id="325" r:id="rId111"/>
    <p:sldId id="326" r:id="rId112"/>
    <p:sldId id="327" r:id="rId113"/>
    <p:sldId id="328" r:id="rId114"/>
    <p:sldId id="329" r:id="rId115"/>
    <p:sldId id="330" r:id="rId116"/>
    <p:sldId id="331" r:id="rId117"/>
    <p:sldId id="332" r:id="rId118"/>
    <p:sldId id="333" r:id="rId119"/>
    <p:sldId id="334" r:id="rId120"/>
    <p:sldId id="335" r:id="rId121"/>
    <p:sldId id="336" r:id="rId122"/>
    <p:sldId id="337" r:id="rId123"/>
    <p:sldId id="338" r:id="rId124"/>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lvl9pPr>
  </p:defaultTextStyle>
  <p:extLst>
    <p:ext uri="{521415D9-36F7-43E2-AB2F-B90AF26B5E84}">
      <p14:sectionLst xmlns:p14="http://schemas.microsoft.com/office/powerpoint/2010/main">
        <p14:section name="2017" id="{F327D23C-AD0F-DD4B-98B9-2A6652EC8647}">
          <p14:sldIdLst>
            <p14:sldId id="339"/>
            <p14:sldId id="340"/>
            <p14:sldId id="341"/>
            <p14:sldId id="342"/>
            <p14:sldId id="343"/>
            <p14:sldId id="344"/>
            <p14:sldId id="345"/>
            <p14:sldId id="347"/>
            <p14:sldId id="348"/>
            <p14:sldId id="350"/>
            <p14:sldId id="352"/>
            <p14:sldId id="353"/>
            <p14:sldId id="381"/>
            <p14:sldId id="356"/>
            <p14:sldId id="366"/>
            <p14:sldId id="382"/>
            <p14:sldId id="383"/>
            <p14:sldId id="359"/>
            <p14:sldId id="361"/>
            <p14:sldId id="362"/>
            <p14:sldId id="367"/>
            <p14:sldId id="393"/>
            <p14:sldId id="363"/>
            <p14:sldId id="369"/>
            <p14:sldId id="370"/>
            <p14:sldId id="371"/>
            <p14:sldId id="372"/>
            <p14:sldId id="373"/>
            <p14:sldId id="374"/>
            <p14:sldId id="375"/>
            <p14:sldId id="385"/>
            <p14:sldId id="376"/>
            <p14:sldId id="390"/>
            <p14:sldId id="380"/>
            <p14:sldId id="386"/>
            <p14:sldId id="387"/>
            <p14:sldId id="388"/>
            <p14:sldId id="391"/>
            <p14:sldId id="392"/>
          </p14:sldIdLst>
        </p14:section>
        <p14:section name="2016" id="{77EFEF57-2786-624B-B011-6D3E883522B9}">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355"/>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2011" id="{B2EA3C39-E81B-AD49-ABB6-DA7FE3FEEC25}">
          <p14:sldIdLst>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p:restoredTop sz="82101"/>
  </p:normalViewPr>
  <p:slideViewPr>
    <p:cSldViewPr snapToGrid="0" snapToObjects="1">
      <p:cViewPr varScale="1">
        <p:scale>
          <a:sx n="49" d="100"/>
          <a:sy n="49" d="100"/>
        </p:scale>
        <p:origin x="10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notesMaster" Target="notesMasters/notesMaster1.xml"/><Relationship Id="rId126" Type="http://schemas.openxmlformats.org/officeDocument/2006/relationships/presProps" Target="presProps.xml"/><Relationship Id="rId127" Type="http://schemas.openxmlformats.org/officeDocument/2006/relationships/viewProps" Target="viewProps.xml"/><Relationship Id="rId128" Type="http://schemas.openxmlformats.org/officeDocument/2006/relationships/theme" Target="theme/theme1.xml"/><Relationship Id="rId129"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00" Type="http://schemas.openxmlformats.org/officeDocument/2006/relationships/slide" Target="slides/slide99.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xfrm>
            <a:off x="1143000" y="685800"/>
            <a:ext cx="4572000" cy="3429000"/>
          </a:xfrm>
          <a:prstGeom prst="rect">
            <a:avLst/>
          </a:prstGeom>
        </p:spPr>
        <p:txBody>
          <a:bodyPr/>
          <a:lstStyle/>
          <a:p>
            <a:endParaRPr/>
          </a:p>
        </p:txBody>
      </p:sp>
      <p:sp>
        <p:nvSpPr>
          <p:cNvPr id="62" name="Shape 6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036259247"/>
      </p:ext>
    </p:extLst>
  </p:cSld>
  <p:clrMap bg1="lt1" tx1="dk1" bg2="lt2" tx2="dk2" accent1="accent1" accent2="accent2" accent3="accent3" accent4="accent4" accent5="accent5" accent6="accent6" hlink="hlink" folHlink="folHlink"/>
  <p:notesStyle>
    <a:lvl1pPr defTabSz="457200" latinLnBrk="0">
      <a:lnSpc>
        <a:spcPct val="125000"/>
      </a:lnSpc>
      <a:defRPr sz="2400">
        <a:latin typeface="Avenir Roman"/>
        <a:ea typeface="Avenir Roman"/>
        <a:cs typeface="Avenir Roman"/>
        <a:sym typeface="Avenir Roman"/>
      </a:defRPr>
    </a:lvl1pPr>
    <a:lvl2pPr indent="228600" defTabSz="457200" latinLnBrk="0">
      <a:lnSpc>
        <a:spcPct val="125000"/>
      </a:lnSpc>
      <a:defRPr sz="2400">
        <a:latin typeface="Avenir Roman"/>
        <a:ea typeface="Avenir Roman"/>
        <a:cs typeface="Avenir Roman"/>
        <a:sym typeface="Avenir Roman"/>
      </a:defRPr>
    </a:lvl2pPr>
    <a:lvl3pPr indent="457200" defTabSz="457200" latinLnBrk="0">
      <a:lnSpc>
        <a:spcPct val="125000"/>
      </a:lnSpc>
      <a:defRPr sz="2400">
        <a:latin typeface="Avenir Roman"/>
        <a:ea typeface="Avenir Roman"/>
        <a:cs typeface="Avenir Roman"/>
        <a:sym typeface="Avenir Roman"/>
      </a:defRPr>
    </a:lvl3pPr>
    <a:lvl4pPr indent="685800" defTabSz="457200" latinLnBrk="0">
      <a:lnSpc>
        <a:spcPct val="125000"/>
      </a:lnSpc>
      <a:defRPr sz="2400">
        <a:latin typeface="Avenir Roman"/>
        <a:ea typeface="Avenir Roman"/>
        <a:cs typeface="Avenir Roman"/>
        <a:sym typeface="Avenir Roman"/>
      </a:defRPr>
    </a:lvl4pPr>
    <a:lvl5pPr indent="914400" defTabSz="457200" latinLnBrk="0">
      <a:lnSpc>
        <a:spcPct val="125000"/>
      </a:lnSpc>
      <a:defRPr sz="2400">
        <a:latin typeface="Avenir Roman"/>
        <a:ea typeface="Avenir Roman"/>
        <a:cs typeface="Avenir Roman"/>
        <a:sym typeface="Avenir Roman"/>
      </a:defRPr>
    </a:lvl5pPr>
    <a:lvl6pPr indent="1143000" defTabSz="457200" latinLnBrk="0">
      <a:lnSpc>
        <a:spcPct val="125000"/>
      </a:lnSpc>
      <a:defRPr sz="2400">
        <a:latin typeface="Avenir Roman"/>
        <a:ea typeface="Avenir Roman"/>
        <a:cs typeface="Avenir Roman"/>
        <a:sym typeface="Avenir Roman"/>
      </a:defRPr>
    </a:lvl6pPr>
    <a:lvl7pPr indent="1371600" defTabSz="457200" latinLnBrk="0">
      <a:lnSpc>
        <a:spcPct val="125000"/>
      </a:lnSpc>
      <a:defRPr sz="2400">
        <a:latin typeface="Avenir Roman"/>
        <a:ea typeface="Avenir Roman"/>
        <a:cs typeface="Avenir Roman"/>
        <a:sym typeface="Avenir Roman"/>
      </a:defRPr>
    </a:lvl7pPr>
    <a:lvl8pPr indent="1600200" defTabSz="457200" latinLnBrk="0">
      <a:lnSpc>
        <a:spcPct val="125000"/>
      </a:lnSpc>
      <a:defRPr sz="2400">
        <a:latin typeface="Avenir Roman"/>
        <a:ea typeface="Avenir Roman"/>
        <a:cs typeface="Avenir Roman"/>
        <a:sym typeface="Avenir Roman"/>
      </a:defRPr>
    </a:lvl8pPr>
    <a:lvl9pPr indent="1828800" defTabSz="457200" latinLnBrk="0">
      <a:lnSpc>
        <a:spcPct val="125000"/>
      </a:lnSpc>
      <a:defRPr sz="2400">
        <a:latin typeface="Avenir Roman"/>
        <a:ea typeface="Avenir Roman"/>
        <a:cs typeface="Avenir Roman"/>
        <a:sym typeface="Avenir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en.wikipedia.org/wiki/Written_language"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do we define</a:t>
            </a:r>
            <a:r>
              <a:rPr lang="en-US" baseline="0" dirty="0" smtClean="0"/>
              <a:t> a code for a message?</a:t>
            </a:r>
            <a:endParaRPr lang="en-US" dirty="0" smtClean="0"/>
          </a:p>
          <a:p>
            <a:endParaRPr lang="en-US" dirty="0" smtClean="0"/>
          </a:p>
          <a:p>
            <a:r>
              <a:rPr lang="en-US" dirty="0" smtClean="0"/>
              <a:t>Also:</a:t>
            </a:r>
          </a:p>
          <a:p>
            <a:endParaRPr lang="en-US" dirty="0" smtClean="0"/>
          </a:p>
          <a:p>
            <a:r>
              <a:rPr lang="en-US" sz="2400" dirty="0" smtClean="0"/>
              <a:t>How we choose to communicate depends critically on the </a:t>
            </a:r>
            <a:r>
              <a:rPr lang="en-US" sz="2400" b="1" i="1" dirty="0" smtClean="0">
                <a:solidFill>
                  <a:srgbClr val="FF0000"/>
                </a:solidFill>
              </a:rPr>
              <a:t>medium (channel) </a:t>
            </a:r>
            <a:r>
              <a:rPr lang="en-US" sz="2400" dirty="0" smtClean="0"/>
              <a:t>through which the the message is transmitted</a:t>
            </a:r>
          </a:p>
          <a:p>
            <a:endParaRPr lang="en-US" sz="2400" dirty="0" smtClean="0"/>
          </a:p>
          <a:p>
            <a:r>
              <a:rPr lang="en-US" sz="2400" dirty="0" smtClean="0"/>
              <a:t>Speech (phone),</a:t>
            </a:r>
            <a:r>
              <a:rPr lang="en-US" sz="2400" baseline="0" dirty="0" smtClean="0"/>
              <a:t> </a:t>
            </a:r>
            <a:r>
              <a:rPr lang="en-US" sz="2400" dirty="0" smtClean="0"/>
              <a:t>Speech with video (Skype),</a:t>
            </a:r>
            <a:r>
              <a:rPr lang="en-US" sz="2400" baseline="0" dirty="0" smtClean="0"/>
              <a:t> </a:t>
            </a:r>
            <a:r>
              <a:rPr lang="en-US" sz="2400" dirty="0" smtClean="0"/>
              <a:t>Underwater (no speech),</a:t>
            </a:r>
            <a:r>
              <a:rPr lang="en-US" sz="2400" baseline="0" dirty="0" smtClean="0"/>
              <a:t> </a:t>
            </a:r>
            <a:r>
              <a:rPr lang="en-US" sz="2400" dirty="0" smtClean="0"/>
              <a:t>e-mail</a:t>
            </a:r>
          </a:p>
          <a:p>
            <a:endParaRPr lang="en-US" sz="2400" dirty="0" smtClean="0"/>
          </a:p>
          <a:p>
            <a:r>
              <a:rPr lang="en-US" sz="2400" dirty="0" smtClean="0"/>
              <a:t>The </a:t>
            </a:r>
            <a:r>
              <a:rPr lang="en-US" sz="2400" b="1" i="1" dirty="0" smtClean="0">
                <a:solidFill>
                  <a:srgbClr val="FF0000"/>
                </a:solidFill>
              </a:rPr>
              <a:t>best</a:t>
            </a:r>
            <a:r>
              <a:rPr lang="en-US" sz="2400" dirty="0" smtClean="0"/>
              <a:t> way to communicate depends very greatly on the</a:t>
            </a:r>
            <a:r>
              <a:rPr lang="en-US" sz="2400" baseline="0" dirty="0" smtClean="0"/>
              <a:t> </a:t>
            </a:r>
            <a:r>
              <a:rPr lang="en-US" sz="2400" dirty="0" smtClean="0"/>
              <a:t>transmitting medium.</a:t>
            </a:r>
          </a:p>
          <a:p>
            <a:endParaRPr lang="en-US" dirty="0"/>
          </a:p>
        </p:txBody>
      </p:sp>
    </p:spTree>
    <p:extLst>
      <p:ext uri="{BB962C8B-B14F-4D97-AF65-F5344CB8AC3E}">
        <p14:creationId xmlns:p14="http://schemas.microsoft.com/office/powerpoint/2010/main" val="1359001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Teletype:</a:t>
            </a:r>
            <a:r>
              <a:rPr lang="en-US" baseline="0" dirty="0" smtClean="0"/>
              <a:t> all symbols are the same duration</a:t>
            </a:r>
          </a:p>
          <a:p>
            <a:endParaRPr lang="en-US" baseline="0" dirty="0" smtClean="0"/>
          </a:p>
          <a:p>
            <a:endParaRPr lang="en-US" dirty="0"/>
          </a:p>
        </p:txBody>
      </p:sp>
    </p:spTree>
    <p:extLst>
      <p:ext uri="{BB962C8B-B14F-4D97-AF65-F5344CB8AC3E}">
        <p14:creationId xmlns:p14="http://schemas.microsoft.com/office/powerpoint/2010/main" val="2024138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b="1" u="none" dirty="0" smtClean="0">
                <a:solidFill>
                  <a:schemeClr val="tx1"/>
                </a:solidFill>
                <a:latin typeface="Avenir Roman"/>
                <a:ea typeface="Avenir Roman"/>
                <a:cs typeface="Avenir Roman"/>
                <a:sym typeface="Avenir Roman"/>
              </a:rPr>
              <a:t>Morse code</a:t>
            </a:r>
            <a:r>
              <a:rPr lang="en-US" sz="2400" b="0" u="none" dirty="0" smtClean="0">
                <a:solidFill>
                  <a:schemeClr val="tx1"/>
                </a:solidFill>
                <a:latin typeface="Avenir Roman"/>
                <a:ea typeface="Avenir Roman"/>
                <a:cs typeface="Avenir Roman"/>
                <a:sym typeface="Avenir Roman"/>
              </a:rPr>
              <a:t> is a method of transmitting </a:t>
            </a:r>
            <a:r>
              <a:rPr lang="en-US" sz="2400" b="0" u="none" dirty="0" smtClean="0">
                <a:solidFill>
                  <a:schemeClr val="tx1"/>
                </a:solidFill>
                <a:latin typeface="Avenir Roman"/>
                <a:ea typeface="Avenir Roman"/>
                <a:cs typeface="Avenir Roman"/>
                <a:sym typeface="Avenir Roman"/>
                <a:hlinkClick r:id="rId3"/>
              </a:rPr>
              <a:t>text information as a series of on-off tones, lights, or clicks that can be directly understood by a skilled listener or observer without special equipment.</a:t>
            </a:r>
            <a:endParaRPr lang="en-US" sz="2400" b="0" u="none" dirty="0" smtClean="0">
              <a:solidFill>
                <a:schemeClr val="tx1"/>
              </a:solidFill>
              <a:latin typeface="Avenir Roman"/>
              <a:ea typeface="Avenir Roman"/>
              <a:cs typeface="Avenir Roman"/>
              <a:sym typeface="Avenir Roman"/>
            </a:endParaRPr>
          </a:p>
          <a:p>
            <a:endParaRPr lang="en-US" sz="2400" b="0" u="none" dirty="0" smtClean="0">
              <a:solidFill>
                <a:schemeClr val="tx1"/>
              </a:solidFill>
              <a:latin typeface="Avenir Roman"/>
              <a:ea typeface="Avenir Roman"/>
              <a:cs typeface="Avenir Roman"/>
              <a:sym typeface="Avenir Roman"/>
            </a:endParaRPr>
          </a:p>
          <a:p>
            <a:r>
              <a:rPr lang="en-US" sz="2400" b="0" u="none" dirty="0" smtClean="0">
                <a:solidFill>
                  <a:schemeClr val="tx1"/>
                </a:solidFill>
                <a:latin typeface="Avenir Roman"/>
                <a:ea typeface="Avenir Roman"/>
                <a:cs typeface="Avenir Roman"/>
                <a:sym typeface="Avenir Roman"/>
              </a:rPr>
              <a:t>Referred</a:t>
            </a:r>
            <a:r>
              <a:rPr lang="en-US" sz="2400" b="0" u="none" baseline="0" dirty="0" smtClean="0">
                <a:solidFill>
                  <a:schemeClr val="tx1"/>
                </a:solidFill>
                <a:latin typeface="Avenir Roman"/>
                <a:ea typeface="Avenir Roman"/>
                <a:cs typeface="Avenir Roman"/>
                <a:sym typeface="Avenir Roman"/>
              </a:rPr>
              <a:t> to as telegraphy in paper: </a:t>
            </a:r>
            <a:r>
              <a:rPr lang="en-US" sz="2400" dirty="0" smtClean="0">
                <a:latin typeface="Avenir Roman"/>
                <a:ea typeface="Avenir Roman"/>
                <a:cs typeface="Avenir Roman"/>
                <a:sym typeface="Avenir Roman"/>
              </a:rPr>
              <a:t>A telegraph message sent by an electrical telegraph operator or telegrapher using Morse code</a:t>
            </a:r>
            <a:endParaRPr lang="en-US" u="none" dirty="0">
              <a:solidFill>
                <a:schemeClr val="tx1"/>
              </a:solidFill>
            </a:endParaRPr>
          </a:p>
        </p:txBody>
      </p:sp>
    </p:spTree>
    <p:extLst>
      <p:ext uri="{BB962C8B-B14F-4D97-AF65-F5344CB8AC3E}">
        <p14:creationId xmlns:p14="http://schemas.microsoft.com/office/powerpoint/2010/main" val="1362745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Dots, dashes, spaces</a:t>
            </a:r>
            <a:endParaRPr lang="en-US" dirty="0"/>
          </a:p>
        </p:txBody>
      </p:sp>
    </p:spTree>
    <p:extLst>
      <p:ext uri="{BB962C8B-B14F-4D97-AF65-F5344CB8AC3E}">
        <p14:creationId xmlns:p14="http://schemas.microsoft.com/office/powerpoint/2010/main" val="1372072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to quantify the number of signals transmitted per unit time</a:t>
            </a:r>
            <a:endParaRPr lang="en-US" dirty="0"/>
          </a:p>
        </p:txBody>
      </p:sp>
    </p:spTree>
    <p:extLst>
      <p:ext uri="{BB962C8B-B14F-4D97-AF65-F5344CB8AC3E}">
        <p14:creationId xmlns:p14="http://schemas.microsoft.com/office/powerpoint/2010/main" val="1079039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3937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Idea from physics</a:t>
            </a:r>
          </a:p>
          <a:p>
            <a:endParaRPr lang="en-US" dirty="0" smtClean="0"/>
          </a:p>
          <a:p>
            <a:r>
              <a:rPr lang="en-US" sz="2400" dirty="0" smtClean="0"/>
              <a:t>How much information is expressed by the information source?</a:t>
            </a:r>
          </a:p>
          <a:p>
            <a:endParaRPr lang="en-US" sz="2400" dirty="0" smtClean="0"/>
          </a:p>
          <a:p>
            <a:r>
              <a:rPr lang="en-US" sz="2400" dirty="0" smtClean="0"/>
              <a:t>How can we mathematically characterize the information content</a:t>
            </a:r>
          </a:p>
          <a:p>
            <a:r>
              <a:rPr lang="en-US" sz="2400" dirty="0" smtClean="0"/>
              <a:t>in this source?</a:t>
            </a:r>
          </a:p>
          <a:p>
            <a:endParaRPr lang="en-US" b="1" dirty="0"/>
          </a:p>
        </p:txBody>
      </p:sp>
    </p:spTree>
    <p:extLst>
      <p:ext uri="{BB962C8B-B14F-4D97-AF65-F5344CB8AC3E}">
        <p14:creationId xmlns:p14="http://schemas.microsoft.com/office/powerpoint/2010/main" val="771174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Makes sense </a:t>
            </a:r>
            <a:r>
              <a:rPr lang="mr-IN" dirty="0" smtClean="0"/>
              <a:t>–</a:t>
            </a:r>
            <a:r>
              <a:rPr lang="en-US" dirty="0" smtClean="0"/>
              <a:t> in these cases we</a:t>
            </a:r>
            <a:r>
              <a:rPr lang="en-US" baseline="0" dirty="0" smtClean="0"/>
              <a:t> are certain of outcome</a:t>
            </a:r>
          </a:p>
          <a:p>
            <a:pPr marL="0" marR="0" indent="0" defTabSz="457200" eaLnBrk="1" fontAlgn="auto" latinLnBrk="0" hangingPunct="1">
              <a:lnSpc>
                <a:spcPct val="125000"/>
              </a:lnSpc>
              <a:spcBef>
                <a:spcPts val="0"/>
              </a:spcBef>
              <a:spcAft>
                <a:spcPts val="0"/>
              </a:spcAft>
              <a:buClrTx/>
              <a:buSzTx/>
              <a:buFontTx/>
              <a:buNone/>
              <a:tabLst/>
              <a:defRPr/>
            </a:pPr>
            <a:r>
              <a:rPr lang="en-US" sz="2400" dirty="0" smtClean="0"/>
              <a:t>Makes sense – the most uncertain case</a:t>
            </a:r>
          </a:p>
          <a:p>
            <a:endParaRPr lang="en-US" baseline="0" dirty="0" smtClean="0"/>
          </a:p>
          <a:p>
            <a:endParaRPr lang="en-US" dirty="0"/>
          </a:p>
        </p:txBody>
      </p:sp>
    </p:spTree>
    <p:extLst>
      <p:ext uri="{BB962C8B-B14F-4D97-AF65-F5344CB8AC3E}">
        <p14:creationId xmlns:p14="http://schemas.microsoft.com/office/powerpoint/2010/main" val="1169244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title"/>
          </p:nvPr>
        </p:nvSpPr>
        <p:spPr>
          <a:xfrm>
            <a:off x="1270000" y="1638300"/>
            <a:ext cx="10464800" cy="3302000"/>
          </a:xfrm>
          <a:prstGeom prst="rect">
            <a:avLst/>
          </a:prstGeom>
        </p:spPr>
        <p:txBody>
          <a:bodyPr anchor="b"/>
          <a:lstStyle/>
          <a:p>
            <a:r>
              <a:t>Title Text</a:t>
            </a:r>
          </a:p>
        </p:txBody>
      </p:sp>
      <p:sp>
        <p:nvSpPr>
          <p:cNvPr id="12" name="Shape 12"/>
          <p:cNvSpPr>
            <a:spLocks noGrp="1"/>
          </p:cNvSpPr>
          <p:nvPr>
            <p:ph type="body" sz="quarter" idx="1"/>
          </p:nvPr>
        </p:nvSpPr>
        <p:spPr>
          <a:xfrm>
            <a:off x="1270000" y="5029200"/>
            <a:ext cx="10464800" cy="1130300"/>
          </a:xfrm>
          <a:prstGeom prst="rect">
            <a:avLst/>
          </a:prstGeom>
        </p:spPr>
        <p:txBody>
          <a:bodyPr anchor="t"/>
          <a:lstStyle>
            <a:lvl1pPr marL="0" indent="0" algn="ctr">
              <a:lnSpc>
                <a:spcPct val="100000"/>
              </a:lnSpc>
              <a:spcBef>
                <a:spcPts val="0"/>
              </a:spcBef>
              <a:buSzTx/>
              <a:buNone/>
              <a:defRPr sz="3200"/>
            </a:lvl1pPr>
            <a:lvl2pPr marL="0" indent="228600" algn="ctr">
              <a:lnSpc>
                <a:spcPct val="100000"/>
              </a:lnSpc>
              <a:spcBef>
                <a:spcPts val="0"/>
              </a:spcBef>
              <a:buSzTx/>
              <a:buNone/>
              <a:defRPr sz="3200"/>
            </a:lvl2pPr>
            <a:lvl3pPr marL="0" indent="457200" algn="ctr">
              <a:lnSpc>
                <a:spcPct val="100000"/>
              </a:lnSpc>
              <a:spcBef>
                <a:spcPts val="0"/>
              </a:spcBef>
              <a:buSzTx/>
              <a:buNone/>
              <a:defRPr sz="3200"/>
            </a:lvl3pPr>
            <a:lvl4pPr marL="0" indent="685800" algn="ctr">
              <a:lnSpc>
                <a:spcPct val="100000"/>
              </a:lnSpc>
              <a:spcBef>
                <a:spcPts val="0"/>
              </a:spcBef>
              <a:buSzTx/>
              <a:buNone/>
              <a:defRPr sz="3200"/>
            </a:lvl4pPr>
            <a:lvl5pPr marL="0" indent="914400" algn="ctr">
              <a:lnSpc>
                <a:spcPct val="100000"/>
              </a:lnSpc>
              <a:spcBef>
                <a:spcPts val="0"/>
              </a:spcBef>
              <a:buSzTx/>
              <a:buNone/>
              <a:defRPr sz="32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1606550" y="635000"/>
            <a:ext cx="9779000" cy="59182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1270000" y="6718300"/>
            <a:ext cx="10464800" cy="1422400"/>
          </a:xfrm>
          <a:prstGeom prst="rect">
            <a:avLst/>
          </a:prstGeom>
        </p:spPr>
        <p:txBody>
          <a:bodyPr anchor="b"/>
          <a:lstStyle/>
          <a:p>
            <a:r>
              <a:t>Title Text</a:t>
            </a:r>
          </a:p>
        </p:txBody>
      </p:sp>
      <p:sp>
        <p:nvSpPr>
          <p:cNvPr id="22" name="Shape 22"/>
          <p:cNvSpPr>
            <a:spLocks noGrp="1"/>
          </p:cNvSpPr>
          <p:nvPr>
            <p:ph type="body" sz="quarter" idx="1"/>
          </p:nvPr>
        </p:nvSpPr>
        <p:spPr>
          <a:xfrm>
            <a:off x="1270000" y="8191500"/>
            <a:ext cx="10464800" cy="1130300"/>
          </a:xfrm>
          <a:prstGeom prst="rect">
            <a:avLst/>
          </a:prstGeom>
        </p:spPr>
        <p:txBody>
          <a:bodyPr anchor="t"/>
          <a:lstStyle>
            <a:lvl1pPr marL="0" indent="0" algn="ctr">
              <a:lnSpc>
                <a:spcPct val="100000"/>
              </a:lnSpc>
              <a:spcBef>
                <a:spcPts val="0"/>
              </a:spcBef>
              <a:buSzTx/>
              <a:buNone/>
              <a:defRPr sz="3200" b="0">
                <a:latin typeface="+mn-lt"/>
                <a:ea typeface="+mn-ea"/>
                <a:cs typeface="+mn-cs"/>
                <a:sym typeface="Helvetica Light"/>
              </a:defRPr>
            </a:lvl1pPr>
            <a:lvl2pPr marL="0" indent="228600" algn="ctr">
              <a:lnSpc>
                <a:spcPct val="100000"/>
              </a:lnSpc>
              <a:spcBef>
                <a:spcPts val="0"/>
              </a:spcBef>
              <a:buSzTx/>
              <a:buNone/>
              <a:defRPr sz="3200" b="0">
                <a:latin typeface="+mn-lt"/>
                <a:ea typeface="+mn-ea"/>
                <a:cs typeface="+mn-cs"/>
                <a:sym typeface="Helvetica Light"/>
              </a:defRPr>
            </a:lvl2pPr>
            <a:lvl3pPr marL="0" indent="457200" algn="ctr">
              <a:lnSpc>
                <a:spcPct val="100000"/>
              </a:lnSpc>
              <a:spcBef>
                <a:spcPts val="0"/>
              </a:spcBef>
              <a:buSzTx/>
              <a:buNone/>
              <a:defRPr sz="3200" b="0">
                <a:latin typeface="+mn-lt"/>
                <a:ea typeface="+mn-ea"/>
                <a:cs typeface="+mn-cs"/>
                <a:sym typeface="Helvetica Light"/>
              </a:defRPr>
            </a:lvl3pPr>
            <a:lvl4pPr marL="0" indent="685800" algn="ctr">
              <a:lnSpc>
                <a:spcPct val="100000"/>
              </a:lnSpc>
              <a:spcBef>
                <a:spcPts val="0"/>
              </a:spcBef>
              <a:buSzTx/>
              <a:buNone/>
              <a:defRPr sz="3200" b="0">
                <a:latin typeface="+mn-lt"/>
                <a:ea typeface="+mn-ea"/>
                <a:cs typeface="+mn-cs"/>
                <a:sym typeface="Helvetica Light"/>
              </a:defRPr>
            </a:lvl4pPr>
            <a:lvl5pPr marL="0" indent="914400" algn="ctr">
              <a:lnSpc>
                <a:spcPct val="100000"/>
              </a:lnSpc>
              <a:spcBef>
                <a:spcPts val="0"/>
              </a:spcBef>
              <a:buSzTx/>
              <a:buNone/>
              <a:defRPr sz="3200" b="0">
                <a:latin typeface="+mn-lt"/>
                <a:ea typeface="+mn-ea"/>
                <a:cs typeface="+mn-cs"/>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xfrm>
            <a:off x="6311798" y="9245600"/>
            <a:ext cx="368504" cy="3810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1270000" y="3225800"/>
            <a:ext cx="10464800" cy="33020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38" name="Shape 38"/>
          <p:cNvSpPr>
            <a:spLocks noGrp="1"/>
          </p:cNvSpPr>
          <p:nvPr>
            <p:ph type="body" sz="half" idx="13"/>
          </p:nvPr>
        </p:nvSpPr>
        <p:spPr>
          <a:xfrm>
            <a:off x="437232" y="444500"/>
            <a:ext cx="12130336" cy="2159000"/>
          </a:xfrm>
          <a:prstGeom prst="rect">
            <a:avLst/>
          </a:prstGeom>
        </p:spPr>
        <p:txBody>
          <a:bodyPr/>
          <a:lstStyle>
            <a:lvl1pPr marL="0" indent="0" algn="ctr">
              <a:lnSpc>
                <a:spcPct val="100000"/>
              </a:lnSpc>
              <a:spcBef>
                <a:spcPts val="0"/>
              </a:spcBef>
              <a:buSzTx/>
              <a:buNone/>
              <a:defRPr sz="6400">
                <a:solidFill>
                  <a:schemeClr val="accent1">
                    <a:hueOff val="47394"/>
                    <a:satOff val="-25753"/>
                    <a:lumOff val="-7544"/>
                  </a:schemeClr>
                </a:solidFill>
                <a:effectLst>
                  <a:outerShdw blurRad="88900" dist="38100" dir="2700000" rotWithShape="0">
                    <a:srgbClr val="000000">
                      <a:alpha val="30000"/>
                    </a:srgbClr>
                  </a:outerShdw>
                </a:effectLst>
              </a:defRPr>
            </a:lvl1pPr>
          </a:lstStyle>
          <a:p>
            <a:r>
              <a:t>Title Text</a:t>
            </a:r>
          </a:p>
        </p:txBody>
      </p:sp>
      <p:sp>
        <p:nvSpPr>
          <p:cNvPr id="39" name="Shape 3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6" name="Shape 46"/>
          <p:cNvSpPr>
            <a:spLocks noGrp="1"/>
          </p:cNvSpPr>
          <p:nvPr>
            <p:ph type="title"/>
          </p:nvPr>
        </p:nvSpPr>
        <p:spPr>
          <a:xfrm>
            <a:off x="437232" y="444500"/>
            <a:ext cx="12130336" cy="2159000"/>
          </a:xfrm>
          <a:prstGeom prst="rect">
            <a:avLst/>
          </a:prstGeom>
        </p:spPr>
        <p:txBody>
          <a:bodyPr/>
          <a:lstStyle/>
          <a:p>
            <a:r>
              <a:t>Title Text</a:t>
            </a:r>
          </a:p>
        </p:txBody>
      </p:sp>
      <p:sp>
        <p:nvSpPr>
          <p:cNvPr id="47" name="Shape 4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55" name="Shape 5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50240" y="9040143"/>
            <a:ext cx="3034453" cy="519289"/>
          </a:xfrm>
          <a:prstGeom prst="rect">
            <a:avLst/>
          </a:prstGeom>
        </p:spPr>
        <p:txBody>
          <a:bodyPr/>
          <a:lstStyle/>
          <a:p>
            <a:fld id="{E64A799E-2561-3242-9C7D-4F8BC20EE162}" type="datetimeFigureOut">
              <a:rPr lang="en-US" smtClean="0"/>
              <a:pPr/>
              <a:t>3/21/17</a:t>
            </a:fld>
            <a:endParaRPr lang="en-US"/>
          </a:p>
        </p:txBody>
      </p:sp>
      <p:sp>
        <p:nvSpPr>
          <p:cNvPr id="5" name="Footer Placeholder 4"/>
          <p:cNvSpPr>
            <a:spLocks noGrp="1"/>
          </p:cNvSpPr>
          <p:nvPr>
            <p:ph type="ftr" sz="quarter" idx="11"/>
          </p:nvPr>
        </p:nvSpPr>
        <p:spPr>
          <a:xfrm>
            <a:off x="4443307" y="9040143"/>
            <a:ext cx="4118187" cy="519289"/>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C4E9E94-8C56-1A4D-89E6-23F9BDFEE277}" type="slidenum">
              <a:rPr lang="en-US" smtClean="0"/>
              <a:pPr/>
              <a:t>‹#›</a:t>
            </a:fld>
            <a:endParaRPr lang="en-US"/>
          </a:p>
        </p:txBody>
      </p:sp>
    </p:spTree>
    <p:extLst>
      <p:ext uri="{BB962C8B-B14F-4D97-AF65-F5344CB8AC3E}">
        <p14:creationId xmlns:p14="http://schemas.microsoft.com/office/powerpoint/2010/main" val="14338774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952500" y="444500"/>
            <a:ext cx="11099800"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normAutofit/>
          </a:bodyPr>
          <a:lstStyle>
            <a:lvl1pPr>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txStyles>
    <p:titleStyle>
      <a:lvl1pPr marL="0" marR="0" indent="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1pPr>
      <a:lvl2pPr marL="0" marR="0" indent="2286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2pPr>
      <a:lvl3pPr marL="0" marR="0" indent="4572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3pPr>
      <a:lvl4pPr marL="0" marR="0" indent="6858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4pPr>
      <a:lvl5pPr marL="0" marR="0" indent="9144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5pPr>
      <a:lvl6pPr marL="0" marR="0" indent="11430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6pPr>
      <a:lvl7pPr marL="0" marR="0" indent="13716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7pPr>
      <a:lvl8pPr marL="0" marR="0" indent="16002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8pPr>
      <a:lvl9pPr marL="0" marR="0" indent="1828800" algn="ctr" defTabSz="584200" rtl="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9pPr>
    </p:titleStyle>
    <p:bodyStyle>
      <a:lvl1pPr marL="444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1pPr>
      <a:lvl2pPr marL="889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2pPr>
      <a:lvl3pPr marL="1333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3pPr>
      <a:lvl4pPr marL="1778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4pPr>
      <a:lvl5pPr marL="2222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5pPr>
      <a:lvl6pPr marL="2667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6pPr>
      <a:lvl7pPr marL="3111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7pPr>
      <a:lvl8pPr marL="35560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8pPr>
      <a:lvl9pPr marL="4000500" marR="0" indent="-444500" algn="l" defTabSz="584200" rtl="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t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3" Type="http://schemas.openxmlformats.org/officeDocument/2006/relationships/image" Target="../media/image6.tif"/><Relationship Id="rId4" Type="http://schemas.openxmlformats.org/officeDocument/2006/relationships/image" Target="../media/image7.png"/><Relationship Id="rId5" Type="http://schemas.openxmlformats.org/officeDocument/2006/relationships/image" Target="../media/image8.tif"/><Relationship Id="rId6" Type="http://schemas.openxmlformats.org/officeDocument/2006/relationships/image" Target="../media/image9.tif"/><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image" Target="../media/image10.tif"/><Relationship Id="rId4" Type="http://schemas.openxmlformats.org/officeDocument/2006/relationships/image" Target="../media/image11.tif"/><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png"/><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4" Type="http://schemas.openxmlformats.org/officeDocument/2006/relationships/image" Target="../media/image24.png"/><Relationship Id="rId1" Type="http://schemas.openxmlformats.org/officeDocument/2006/relationships/slideLayout" Target="../slideLayouts/slideLayout5.xml"/><Relationship Id="rId2"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1" Type="http://schemas.openxmlformats.org/officeDocument/2006/relationships/slideLayout" Target="../slideLayouts/slideLayout5.xml"/><Relationship Id="rId2"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33.png"/><Relationship Id="rId1" Type="http://schemas.openxmlformats.org/officeDocument/2006/relationships/slideLayout" Target="../slideLayouts/slideLayout5.xml"/><Relationship Id="rId2"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1" Type="http://schemas.openxmlformats.org/officeDocument/2006/relationships/slideLayout" Target="../slideLayouts/slideLayout5.xml"/><Relationship Id="rId2"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2.emf"/><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1" Type="http://schemas.openxmlformats.org/officeDocument/2006/relationships/slideLayout" Target="../slideLayouts/slideLayout1.xml"/><Relationship Id="rId2" Type="http://schemas.openxmlformats.org/officeDocument/2006/relationships/image" Target="../media/image4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46" Type="http://schemas.openxmlformats.org/officeDocument/2006/relationships/hyperlink" Target="http://www.netlingo.com/word/tyvm.php" TargetMode="External"/><Relationship Id="rId47" Type="http://schemas.openxmlformats.org/officeDocument/2006/relationships/hyperlink" Target="http://www.netlingo.com/word/vbg.php" TargetMode="External"/><Relationship Id="rId48" Type="http://schemas.openxmlformats.org/officeDocument/2006/relationships/hyperlink" Target="http://www.netlingo.com/word/weg.php" TargetMode="External"/><Relationship Id="rId49" Type="http://schemas.openxmlformats.org/officeDocument/2006/relationships/hyperlink" Target="http://www.netlingo.com/word/wtf.php" TargetMode="External"/><Relationship Id="rId20" Type="http://schemas.openxmlformats.org/officeDocument/2006/relationships/hyperlink" Target="http://www.netlingo.com/word/l8r.php" TargetMode="External"/><Relationship Id="rId21" Type="http://schemas.openxmlformats.org/officeDocument/2006/relationships/hyperlink" Target="http://www.netlingo.com/word/lmao.php" TargetMode="External"/><Relationship Id="rId22" Type="http://schemas.openxmlformats.org/officeDocument/2006/relationships/hyperlink" Target="http://www.netlingo.com/word/lol.php" TargetMode="External"/><Relationship Id="rId23" Type="http://schemas.openxmlformats.org/officeDocument/2006/relationships/hyperlink" Target="http://www.netlingo.com/word/lylas.php" TargetMode="External"/><Relationship Id="rId24" Type="http://schemas.openxmlformats.org/officeDocument/2006/relationships/hyperlink" Target="http://www.netlingo.com/word/mhoty.php" TargetMode="External"/><Relationship Id="rId25" Type="http://schemas.openxmlformats.org/officeDocument/2006/relationships/hyperlink" Target="http://www.netlingo.com/word/nimby.php" TargetMode="External"/><Relationship Id="rId26" Type="http://schemas.openxmlformats.org/officeDocument/2006/relationships/hyperlink" Target="http://www.netlingo.com/word/np.php" TargetMode="External"/><Relationship Id="rId27" Type="http://schemas.openxmlformats.org/officeDocument/2006/relationships/hyperlink" Target="http://www.netlingo.com/word/nub.php" TargetMode="External"/><Relationship Id="rId28" Type="http://schemas.openxmlformats.org/officeDocument/2006/relationships/hyperlink" Target="http://www.netlingo.com/word/oic.php" TargetMode="External"/><Relationship Id="rId29" Type="http://schemas.openxmlformats.org/officeDocument/2006/relationships/hyperlink" Target="http://www.netlingo.com/word/omg.php" TargetMode="External"/><Relationship Id="rId50" Type="http://schemas.openxmlformats.org/officeDocument/2006/relationships/hyperlink" Target="http://www.netlingo.com/word/wywh.php" TargetMode="External"/><Relationship Id="rId51" Type="http://schemas.openxmlformats.org/officeDocument/2006/relationships/hyperlink" Target="http://www.netlingo.com/word/xoxo.php" TargetMode="External"/><Relationship Id="rId1" Type="http://schemas.openxmlformats.org/officeDocument/2006/relationships/slideLayout" Target="../slideLayouts/slideLayout5.xml"/><Relationship Id="rId2" Type="http://schemas.openxmlformats.org/officeDocument/2006/relationships/hyperlink" Target="http://www.netlingo.com/word/2moro.php" TargetMode="External"/><Relationship Id="rId3" Type="http://schemas.openxmlformats.org/officeDocument/2006/relationships/hyperlink" Target="http://www.netlingo.com/word/2nite.php" TargetMode="External"/><Relationship Id="rId4" Type="http://schemas.openxmlformats.org/officeDocument/2006/relationships/hyperlink" Target="http://www.netlingo.com/word/brb.php" TargetMode="External"/><Relationship Id="rId5" Type="http://schemas.openxmlformats.org/officeDocument/2006/relationships/hyperlink" Target="http://www.netlingo.com/word/btw.php" TargetMode="External"/><Relationship Id="rId30" Type="http://schemas.openxmlformats.org/officeDocument/2006/relationships/hyperlink" Target="http://www.netlingo.com/word/ot.php" TargetMode="External"/><Relationship Id="rId31" Type="http://schemas.openxmlformats.org/officeDocument/2006/relationships/hyperlink" Target="http://www.netlingo.com/word/pov.php" TargetMode="External"/><Relationship Id="rId32" Type="http://schemas.openxmlformats.org/officeDocument/2006/relationships/hyperlink" Target="http://www.netlingo.com/word/rbtl.php" TargetMode="External"/><Relationship Id="rId9" Type="http://schemas.openxmlformats.org/officeDocument/2006/relationships/hyperlink" Target="http://www.netlingo.com/word/cya.php" TargetMode="External"/><Relationship Id="rId6" Type="http://schemas.openxmlformats.org/officeDocument/2006/relationships/hyperlink" Target="http://www.netlingo.com/word/b4n.php" TargetMode="External"/><Relationship Id="rId7" Type="http://schemas.openxmlformats.org/officeDocument/2006/relationships/hyperlink" Target="http://www.netlingo.com/word/bcnu.php" TargetMode="External"/><Relationship Id="rId8" Type="http://schemas.openxmlformats.org/officeDocument/2006/relationships/hyperlink" Target="http://www.netlingo.com/word/bff.php" TargetMode="External"/><Relationship Id="rId33" Type="http://schemas.openxmlformats.org/officeDocument/2006/relationships/hyperlink" Target="http://www.netlingo.com/word/rotflmao.php" TargetMode="External"/><Relationship Id="rId34" Type="http://schemas.openxmlformats.org/officeDocument/2006/relationships/hyperlink" Target="http://www.netlingo.com/word/rt.php" TargetMode="External"/><Relationship Id="rId35" Type="http://schemas.openxmlformats.org/officeDocument/2006/relationships/hyperlink" Target="http://www.netlingo.com/word/thx-or-tx-or-thks.php" TargetMode="External"/><Relationship Id="rId36" Type="http://schemas.openxmlformats.org/officeDocument/2006/relationships/hyperlink" Target="http://www.netlingo.com/word/sh.php" TargetMode="External"/><Relationship Id="rId10" Type="http://schemas.openxmlformats.org/officeDocument/2006/relationships/hyperlink" Target="http://www.netlingo.com/word/dbeyr.php" TargetMode="External"/><Relationship Id="rId11" Type="http://schemas.openxmlformats.org/officeDocument/2006/relationships/hyperlink" Target="http://www.netlingo.com/word/dilligas.php" TargetMode="External"/><Relationship Id="rId12" Type="http://schemas.openxmlformats.org/officeDocument/2006/relationships/hyperlink" Target="http://www.netlingo.com/word/fud.php" TargetMode="External"/><Relationship Id="rId13" Type="http://schemas.openxmlformats.org/officeDocument/2006/relationships/hyperlink" Target="http://www.netlingo.com/word/fwiw.php" TargetMode="External"/><Relationship Id="rId14" Type="http://schemas.openxmlformats.org/officeDocument/2006/relationships/hyperlink" Target="http://www.netlingo.com/word/gr8.php" TargetMode="External"/><Relationship Id="rId15" Type="http://schemas.openxmlformats.org/officeDocument/2006/relationships/hyperlink" Target="http://www.netlingo.com/word/ily.php" TargetMode="External"/><Relationship Id="rId16" Type="http://schemas.openxmlformats.org/officeDocument/2006/relationships/hyperlink" Target="http://www.netlingo.com/word/imho.php" TargetMode="External"/><Relationship Id="rId17" Type="http://schemas.openxmlformats.org/officeDocument/2006/relationships/hyperlink" Target="http://www.netlingo.com/word/irl.php" TargetMode="External"/><Relationship Id="rId18" Type="http://schemas.openxmlformats.org/officeDocument/2006/relationships/hyperlink" Target="http://www.netlingo.com/word/iso.php" TargetMode="External"/><Relationship Id="rId19" Type="http://schemas.openxmlformats.org/officeDocument/2006/relationships/hyperlink" Target="http://www.netlingo.com/word/jk.php" TargetMode="External"/><Relationship Id="rId37" Type="http://schemas.openxmlformats.org/officeDocument/2006/relationships/hyperlink" Target="http://www.netlingo.com/word/sitd.php" TargetMode="External"/><Relationship Id="rId38" Type="http://schemas.openxmlformats.org/officeDocument/2006/relationships/hyperlink" Target="http://www.netlingo.com/word/sol.php" TargetMode="External"/><Relationship Id="rId39" Type="http://schemas.openxmlformats.org/officeDocument/2006/relationships/hyperlink" Target="http://www.netlingo.com/word/stby.php" TargetMode="External"/><Relationship Id="rId40" Type="http://schemas.openxmlformats.org/officeDocument/2006/relationships/hyperlink" Target="http://www.netlingo.com/word/swak.php" TargetMode="External"/><Relationship Id="rId41" Type="http://schemas.openxmlformats.org/officeDocument/2006/relationships/hyperlink" Target="http://www.netlingo.com/word/tfh.php" TargetMode="External"/><Relationship Id="rId42" Type="http://schemas.openxmlformats.org/officeDocument/2006/relationships/hyperlink" Target="http://www.netlingo.com/word/rtm-or-rtfm.php" TargetMode="External"/><Relationship Id="rId43" Type="http://schemas.openxmlformats.org/officeDocument/2006/relationships/hyperlink" Target="http://www.netlingo.com/word/tlc.php" TargetMode="External"/><Relationship Id="rId44" Type="http://schemas.openxmlformats.org/officeDocument/2006/relationships/hyperlink" Target="http://www.netlingo.com/word/tmi.php" TargetMode="External"/><Relationship Id="rId45" Type="http://schemas.openxmlformats.org/officeDocument/2006/relationships/hyperlink" Target="http://www.netlingo.com/word/ttyl.ph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6.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6.jpeg"/><Relationship Id="rId3" Type="http://schemas.openxmlformats.org/officeDocument/2006/relationships/image" Target="../media/image47.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jpeg"/><Relationship Id="rId3" Type="http://schemas.openxmlformats.org/officeDocument/2006/relationships/image" Target="../media/image4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emf"/><Relationship Id="rId5" Type="http://schemas.openxmlformats.org/officeDocument/2006/relationships/image" Target="../media/image53.emf"/><Relationship Id="rId6" Type="http://schemas.openxmlformats.org/officeDocument/2006/relationships/image" Target="../media/image54.emf"/><Relationship Id="rId7" Type="http://schemas.openxmlformats.org/officeDocument/2006/relationships/image" Target="../media/image55.emf"/><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emf"/><Relationship Id="rId3" Type="http://schemas.openxmlformats.org/officeDocument/2006/relationships/image" Target="../media/image57.emf"/></Relationships>
</file>

<file path=ppt/slides/_rels/slide37.xml.rels><?xml version="1.0" encoding="UTF-8" standalone="yes"?>
<Relationships xmlns="http://schemas.openxmlformats.org/package/2006/relationships"><Relationship Id="rId3" Type="http://schemas.openxmlformats.org/officeDocument/2006/relationships/image" Target="../media/image52.emf"/><Relationship Id="rId4" Type="http://schemas.openxmlformats.org/officeDocument/2006/relationships/image" Target="../media/image58.emf"/><Relationship Id="rId5" Type="http://schemas.openxmlformats.org/officeDocument/2006/relationships/image" Target="../media/image59.emf"/><Relationship Id="rId1" Type="http://schemas.openxmlformats.org/officeDocument/2006/relationships/slideLayout" Target="../slideLayouts/slideLayout7.xml"/><Relationship Id="rId2" Type="http://schemas.openxmlformats.org/officeDocument/2006/relationships/image" Target="../media/image56.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t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0.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1.jpeg"/></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tif"/><Relationship Id="rId5" Type="http://schemas.openxmlformats.org/officeDocument/2006/relationships/image" Target="../media/image9.tif"/><Relationship Id="rId1" Type="http://schemas.openxmlformats.org/officeDocument/2006/relationships/slideLayout" Target="../slideLayouts/slideLayout5.xml"/><Relationship Id="rId2" Type="http://schemas.openxmlformats.org/officeDocument/2006/relationships/image" Target="../media/image6.t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3.t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4" Type="http://schemas.openxmlformats.org/officeDocument/2006/relationships/image" Target="../media/image66.png"/><Relationship Id="rId1" Type="http://schemas.openxmlformats.org/officeDocument/2006/relationships/slideLayout" Target="../slideLayouts/slideLayout5.xml"/><Relationship Id="rId2" Type="http://schemas.openxmlformats.org/officeDocument/2006/relationships/image" Target="../media/image6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tif"/><Relationship Id="rId3" Type="http://schemas.openxmlformats.org/officeDocument/2006/relationships/image" Target="../media/image11.t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7.emf"/></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1" Type="http://schemas.openxmlformats.org/officeDocument/2006/relationships/slideLayout" Target="../slideLayouts/slideLayout5.xml"/><Relationship Id="rId2" Type="http://schemas.openxmlformats.org/officeDocument/2006/relationships/image" Target="../media/image71.png"/></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4" Type="http://schemas.openxmlformats.org/officeDocument/2006/relationships/image" Target="../media/image78.png"/><Relationship Id="rId1" Type="http://schemas.openxmlformats.org/officeDocument/2006/relationships/slideLayout" Target="../slideLayouts/slideLayout5.xml"/><Relationship Id="rId2" Type="http://schemas.openxmlformats.org/officeDocument/2006/relationships/image" Target="../media/image76.png"/></Relationships>
</file>

<file path=ppt/slides/_rels/slide62.xml.rels><?xml version="1.0" encoding="UTF-8" standalone="yes"?>
<Relationships xmlns="http://schemas.openxmlformats.org/package/2006/relationships"><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1" Type="http://schemas.openxmlformats.org/officeDocument/2006/relationships/slideLayout" Target="../slideLayouts/slideLayout5.xml"/><Relationship Id="rId2" Type="http://schemas.openxmlformats.org/officeDocument/2006/relationships/image" Target="../media/image79.png"/></Relationships>
</file>

<file path=ppt/slides/_rels/slide63.xml.rels><?xml version="1.0" encoding="UTF-8" standalone="yes"?>
<Relationships xmlns="http://schemas.openxmlformats.org/package/2006/relationships"><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1" Type="http://schemas.openxmlformats.org/officeDocument/2006/relationships/slideLayout" Target="../slideLayouts/slideLayout5.xml"/><Relationship Id="rId2" Type="http://schemas.openxmlformats.org/officeDocument/2006/relationships/image" Target="../media/image8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46" Type="http://schemas.openxmlformats.org/officeDocument/2006/relationships/hyperlink" Target="http://www.netlingo.com/word/tyvm.php" TargetMode="External"/><Relationship Id="rId47" Type="http://schemas.openxmlformats.org/officeDocument/2006/relationships/hyperlink" Target="http://www.netlingo.com/word/vbg.php" TargetMode="External"/><Relationship Id="rId48" Type="http://schemas.openxmlformats.org/officeDocument/2006/relationships/hyperlink" Target="http://www.netlingo.com/word/weg.php" TargetMode="External"/><Relationship Id="rId49" Type="http://schemas.openxmlformats.org/officeDocument/2006/relationships/hyperlink" Target="http://www.netlingo.com/word/wtf.php" TargetMode="External"/><Relationship Id="rId20" Type="http://schemas.openxmlformats.org/officeDocument/2006/relationships/hyperlink" Target="http://www.netlingo.com/word/l8r.php" TargetMode="External"/><Relationship Id="rId21" Type="http://schemas.openxmlformats.org/officeDocument/2006/relationships/hyperlink" Target="http://www.netlingo.com/word/lmao.php" TargetMode="External"/><Relationship Id="rId22" Type="http://schemas.openxmlformats.org/officeDocument/2006/relationships/hyperlink" Target="http://www.netlingo.com/word/lol.php" TargetMode="External"/><Relationship Id="rId23" Type="http://schemas.openxmlformats.org/officeDocument/2006/relationships/hyperlink" Target="http://www.netlingo.com/word/lylas.php" TargetMode="External"/><Relationship Id="rId24" Type="http://schemas.openxmlformats.org/officeDocument/2006/relationships/hyperlink" Target="http://www.netlingo.com/word/mhoty.php" TargetMode="External"/><Relationship Id="rId25" Type="http://schemas.openxmlformats.org/officeDocument/2006/relationships/hyperlink" Target="http://www.netlingo.com/word/nimby.php" TargetMode="External"/><Relationship Id="rId26" Type="http://schemas.openxmlformats.org/officeDocument/2006/relationships/hyperlink" Target="http://www.netlingo.com/word/np.php" TargetMode="External"/><Relationship Id="rId27" Type="http://schemas.openxmlformats.org/officeDocument/2006/relationships/hyperlink" Target="http://www.netlingo.com/word/nub.php" TargetMode="External"/><Relationship Id="rId28" Type="http://schemas.openxmlformats.org/officeDocument/2006/relationships/hyperlink" Target="http://www.netlingo.com/word/oic.php" TargetMode="External"/><Relationship Id="rId29" Type="http://schemas.openxmlformats.org/officeDocument/2006/relationships/hyperlink" Target="http://www.netlingo.com/word/omg.php" TargetMode="External"/><Relationship Id="rId50" Type="http://schemas.openxmlformats.org/officeDocument/2006/relationships/hyperlink" Target="http://www.netlingo.com/word/wywh.php" TargetMode="External"/><Relationship Id="rId51" Type="http://schemas.openxmlformats.org/officeDocument/2006/relationships/hyperlink" Target="http://www.netlingo.com/word/xoxo.php" TargetMode="External"/><Relationship Id="rId1" Type="http://schemas.openxmlformats.org/officeDocument/2006/relationships/slideLayout" Target="../slideLayouts/slideLayout5.xml"/><Relationship Id="rId2" Type="http://schemas.openxmlformats.org/officeDocument/2006/relationships/hyperlink" Target="http://www.netlingo.com/word/2moro.php" TargetMode="External"/><Relationship Id="rId3" Type="http://schemas.openxmlformats.org/officeDocument/2006/relationships/hyperlink" Target="http://www.netlingo.com/word/2nite.php" TargetMode="External"/><Relationship Id="rId4" Type="http://schemas.openxmlformats.org/officeDocument/2006/relationships/hyperlink" Target="http://www.netlingo.com/word/brb.php" TargetMode="External"/><Relationship Id="rId5" Type="http://schemas.openxmlformats.org/officeDocument/2006/relationships/hyperlink" Target="http://www.netlingo.com/word/btw.php" TargetMode="External"/><Relationship Id="rId30" Type="http://schemas.openxmlformats.org/officeDocument/2006/relationships/hyperlink" Target="http://www.netlingo.com/word/ot.php" TargetMode="External"/><Relationship Id="rId31" Type="http://schemas.openxmlformats.org/officeDocument/2006/relationships/hyperlink" Target="http://www.netlingo.com/word/pov.php" TargetMode="External"/><Relationship Id="rId32" Type="http://schemas.openxmlformats.org/officeDocument/2006/relationships/hyperlink" Target="http://www.netlingo.com/word/rbtl.php" TargetMode="External"/><Relationship Id="rId9" Type="http://schemas.openxmlformats.org/officeDocument/2006/relationships/hyperlink" Target="http://www.netlingo.com/word/cya.php" TargetMode="External"/><Relationship Id="rId6" Type="http://schemas.openxmlformats.org/officeDocument/2006/relationships/hyperlink" Target="http://www.netlingo.com/word/b4n.php" TargetMode="External"/><Relationship Id="rId7" Type="http://schemas.openxmlformats.org/officeDocument/2006/relationships/hyperlink" Target="http://www.netlingo.com/word/bcnu.php" TargetMode="External"/><Relationship Id="rId8" Type="http://schemas.openxmlformats.org/officeDocument/2006/relationships/hyperlink" Target="http://www.netlingo.com/word/bff.php" TargetMode="External"/><Relationship Id="rId33" Type="http://schemas.openxmlformats.org/officeDocument/2006/relationships/hyperlink" Target="http://www.netlingo.com/word/rotflmao.php" TargetMode="External"/><Relationship Id="rId34" Type="http://schemas.openxmlformats.org/officeDocument/2006/relationships/hyperlink" Target="http://www.netlingo.com/word/rt.php" TargetMode="External"/><Relationship Id="rId35" Type="http://schemas.openxmlformats.org/officeDocument/2006/relationships/hyperlink" Target="http://www.netlingo.com/word/thx-or-tx-or-thks.php" TargetMode="External"/><Relationship Id="rId36" Type="http://schemas.openxmlformats.org/officeDocument/2006/relationships/hyperlink" Target="http://www.netlingo.com/word/sh.php" TargetMode="External"/><Relationship Id="rId10" Type="http://schemas.openxmlformats.org/officeDocument/2006/relationships/hyperlink" Target="http://www.netlingo.com/word/dbeyr.php" TargetMode="External"/><Relationship Id="rId11" Type="http://schemas.openxmlformats.org/officeDocument/2006/relationships/hyperlink" Target="http://www.netlingo.com/word/dilligas.php" TargetMode="External"/><Relationship Id="rId12" Type="http://schemas.openxmlformats.org/officeDocument/2006/relationships/hyperlink" Target="http://www.netlingo.com/word/fud.php" TargetMode="External"/><Relationship Id="rId13" Type="http://schemas.openxmlformats.org/officeDocument/2006/relationships/hyperlink" Target="http://www.netlingo.com/word/fwiw.php" TargetMode="External"/><Relationship Id="rId14" Type="http://schemas.openxmlformats.org/officeDocument/2006/relationships/hyperlink" Target="http://www.netlingo.com/word/gr8.php" TargetMode="External"/><Relationship Id="rId15" Type="http://schemas.openxmlformats.org/officeDocument/2006/relationships/hyperlink" Target="http://www.netlingo.com/word/ily.php" TargetMode="External"/><Relationship Id="rId16" Type="http://schemas.openxmlformats.org/officeDocument/2006/relationships/hyperlink" Target="http://www.netlingo.com/word/imho.php" TargetMode="External"/><Relationship Id="rId17" Type="http://schemas.openxmlformats.org/officeDocument/2006/relationships/hyperlink" Target="http://www.netlingo.com/word/irl.php" TargetMode="External"/><Relationship Id="rId18" Type="http://schemas.openxmlformats.org/officeDocument/2006/relationships/hyperlink" Target="http://www.netlingo.com/word/iso.php" TargetMode="External"/><Relationship Id="rId19" Type="http://schemas.openxmlformats.org/officeDocument/2006/relationships/hyperlink" Target="http://www.netlingo.com/word/jk.php" TargetMode="External"/><Relationship Id="rId37" Type="http://schemas.openxmlformats.org/officeDocument/2006/relationships/hyperlink" Target="http://www.netlingo.com/word/sitd.php" TargetMode="External"/><Relationship Id="rId38" Type="http://schemas.openxmlformats.org/officeDocument/2006/relationships/hyperlink" Target="http://www.netlingo.com/word/sol.php" TargetMode="External"/><Relationship Id="rId39" Type="http://schemas.openxmlformats.org/officeDocument/2006/relationships/hyperlink" Target="http://www.netlingo.com/word/stby.php" TargetMode="External"/><Relationship Id="rId40" Type="http://schemas.openxmlformats.org/officeDocument/2006/relationships/hyperlink" Target="http://www.netlingo.com/word/swak.php" TargetMode="External"/><Relationship Id="rId41" Type="http://schemas.openxmlformats.org/officeDocument/2006/relationships/hyperlink" Target="http://www.netlingo.com/word/tfh.php" TargetMode="External"/><Relationship Id="rId42" Type="http://schemas.openxmlformats.org/officeDocument/2006/relationships/hyperlink" Target="http://www.netlingo.com/word/rtm-or-rtfm.php" TargetMode="External"/><Relationship Id="rId43" Type="http://schemas.openxmlformats.org/officeDocument/2006/relationships/hyperlink" Target="http://www.netlingo.com/word/tlc.php" TargetMode="External"/><Relationship Id="rId44" Type="http://schemas.openxmlformats.org/officeDocument/2006/relationships/hyperlink" Target="http://www.netlingo.com/word/tmi.php" TargetMode="External"/><Relationship Id="rId45" Type="http://schemas.openxmlformats.org/officeDocument/2006/relationships/hyperlink" Target="http://www.netlingo.com/word/ttyl.php"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9.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6.jpeg"/><Relationship Id="rId3" Type="http://schemas.openxmlformats.org/officeDocument/2006/relationships/image" Target="../media/image47.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jpeg"/><Relationship Id="rId3" Type="http://schemas.openxmlformats.org/officeDocument/2006/relationships/image" Target="../media/image49.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www.inf.ed.ac.uk/teaching/courses/it/" TargetMode="External"/><Relationship Id="rId3" Type="http://schemas.openxmlformats.org/officeDocument/2006/relationships/image" Target="../media/image90.png"/></Relationships>
</file>

<file path=ppt/slides/_rels/slide74.xml.rels><?xml version="1.0" encoding="UTF-8" standalone="yes"?>
<Relationships xmlns="http://schemas.openxmlformats.org/package/2006/relationships"><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1" Type="http://schemas.openxmlformats.org/officeDocument/2006/relationships/slideLayout" Target="../slideLayouts/slideLayout5.xml"/><Relationship Id="rId2" Type="http://schemas.openxmlformats.org/officeDocument/2006/relationships/hyperlink" Target="http://www.inf.ed.ac.uk/teaching/courses/it/"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95.png"/><Relationship Id="rId4" Type="http://schemas.openxmlformats.org/officeDocument/2006/relationships/image" Target="../media/image96.png"/><Relationship Id="rId1" Type="http://schemas.openxmlformats.org/officeDocument/2006/relationships/slideLayout" Target="../slideLayouts/slideLayout5.xml"/><Relationship Id="rId2" Type="http://schemas.openxmlformats.org/officeDocument/2006/relationships/image" Target="../media/image9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0.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jpeg"/><Relationship Id="rId3" Type="http://schemas.openxmlformats.org/officeDocument/2006/relationships/image" Target="../media/image99.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jpeg"/><Relationship Id="rId3" Type="http://schemas.openxmlformats.org/officeDocument/2006/relationships/image" Target="../media/image99.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0.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1.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3.jpeg"/></Relationships>
</file>

<file path=ppt/slides/_rels/slide91.xml.rels><?xml version="1.0" encoding="UTF-8" standalone="yes"?>
<Relationships xmlns="http://schemas.openxmlformats.org/package/2006/relationships"><Relationship Id="rId3" Type="http://schemas.openxmlformats.org/officeDocument/2006/relationships/image" Target="../media/image105.jpeg"/><Relationship Id="rId4" Type="http://schemas.openxmlformats.org/officeDocument/2006/relationships/image" Target="../media/image106.jpeg"/><Relationship Id="rId1" Type="http://schemas.openxmlformats.org/officeDocument/2006/relationships/slideLayout" Target="../slideLayouts/slideLayout1.xml"/><Relationship Id="rId2" Type="http://schemas.openxmlformats.org/officeDocument/2006/relationships/image" Target="../media/image104.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7.jpe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8.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10.emf"/><Relationship Id="rId4" Type="http://schemas.openxmlformats.org/officeDocument/2006/relationships/image" Target="../media/image111.emf"/><Relationship Id="rId1" Type="http://schemas.openxmlformats.org/officeDocument/2006/relationships/slideLayout" Target="../slideLayouts/slideLayout1.xml"/><Relationship Id="rId2" Type="http://schemas.openxmlformats.org/officeDocument/2006/relationships/image" Target="../media/image109.e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emf"/><Relationship Id="rId3" Type="http://schemas.openxmlformats.org/officeDocument/2006/relationships/image" Target="../media/image112.e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2.emf"/></Relationships>
</file>

<file path=ppt/slides/_rels/slide103.xml.rels><?xml version="1.0" encoding="UTF-8" standalone="yes"?>
<Relationships xmlns="http://schemas.openxmlformats.org/package/2006/relationships"><Relationship Id="rId3" Type="http://schemas.openxmlformats.org/officeDocument/2006/relationships/image" Target="../media/image113.emf"/><Relationship Id="rId4" Type="http://schemas.openxmlformats.org/officeDocument/2006/relationships/image" Target="../media/image114.emf"/><Relationship Id="rId1" Type="http://schemas.openxmlformats.org/officeDocument/2006/relationships/slideLayout" Target="../slideLayouts/slideLayout1.xml"/><Relationship Id="rId2" Type="http://schemas.openxmlformats.org/officeDocument/2006/relationships/image" Target="../media/image112.emf"/></Relationships>
</file>

<file path=ppt/slides/_rels/slide104.xml.rels><?xml version="1.0" encoding="UTF-8" standalone="yes"?>
<Relationships xmlns="http://schemas.openxmlformats.org/package/2006/relationships"><Relationship Id="rId3" Type="http://schemas.openxmlformats.org/officeDocument/2006/relationships/image" Target="../media/image115.emf"/><Relationship Id="rId4" Type="http://schemas.openxmlformats.org/officeDocument/2006/relationships/image" Target="../media/image116.emf"/><Relationship Id="rId5" Type="http://schemas.openxmlformats.org/officeDocument/2006/relationships/image" Target="../media/image113.emf"/><Relationship Id="rId1" Type="http://schemas.openxmlformats.org/officeDocument/2006/relationships/slideLayout" Target="../slideLayouts/slideLayout1.xml"/><Relationship Id="rId2" Type="http://schemas.openxmlformats.org/officeDocument/2006/relationships/image" Target="../media/image114.emf"/></Relationships>
</file>

<file path=ppt/slides/_rels/slide105.xml.rels><?xml version="1.0" encoding="UTF-8" standalone="yes"?>
<Relationships xmlns="http://schemas.openxmlformats.org/package/2006/relationships"><Relationship Id="rId3" Type="http://schemas.openxmlformats.org/officeDocument/2006/relationships/image" Target="../media/image42.emf"/><Relationship Id="rId4" Type="http://schemas.openxmlformats.org/officeDocument/2006/relationships/image" Target="../media/image117.emf"/><Relationship Id="rId5" Type="http://schemas.openxmlformats.org/officeDocument/2006/relationships/image" Target="../media/image118.emf"/><Relationship Id="rId1" Type="http://schemas.openxmlformats.org/officeDocument/2006/relationships/slideLayout" Target="../slideLayouts/slideLayout1.xml"/><Relationship Id="rId2" Type="http://schemas.openxmlformats.org/officeDocument/2006/relationships/image" Target="../media/image41.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8.jpeg"/><Relationship Id="rId3" Type="http://schemas.openxmlformats.org/officeDocument/2006/relationships/image" Target="../media/image107.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eg"/><Relationship Id="rId3" Type="http://schemas.openxmlformats.org/officeDocument/2006/relationships/image" Target="../media/image120.jpe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eg"/><Relationship Id="rId3" Type="http://schemas.openxmlformats.org/officeDocument/2006/relationships/image" Target="../media/image122.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3.jpeg"/><Relationship Id="rId3" Type="http://schemas.openxmlformats.org/officeDocument/2006/relationships/image" Target="../media/image124.jpe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jpeg"/><Relationship Id="rId3" Type="http://schemas.openxmlformats.org/officeDocument/2006/relationships/image" Target="../media/image125.jpe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e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emf"/></Relationships>
</file>

<file path=ppt/slides/_rels/slide118.xml.rels><?xml version="1.0" encoding="UTF-8" standalone="yes"?>
<Relationships xmlns="http://schemas.openxmlformats.org/package/2006/relationships"><Relationship Id="rId3" Type="http://schemas.openxmlformats.org/officeDocument/2006/relationships/image" Target="../media/image52.emf"/><Relationship Id="rId4" Type="http://schemas.openxmlformats.org/officeDocument/2006/relationships/image" Target="../media/image53.emf"/><Relationship Id="rId5" Type="http://schemas.openxmlformats.org/officeDocument/2006/relationships/image" Target="../media/image54.emf"/><Relationship Id="rId6" Type="http://schemas.openxmlformats.org/officeDocument/2006/relationships/image" Target="../media/image55.emf"/><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emf"/></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emf"/><Relationship Id="rId3" Type="http://schemas.openxmlformats.org/officeDocument/2006/relationships/image" Target="../media/image57.emf"/></Relationships>
</file>

<file path=ppt/slides/_rels/slide121.xml.rels><?xml version="1.0" encoding="UTF-8" standalone="yes"?>
<Relationships xmlns="http://schemas.openxmlformats.org/package/2006/relationships"><Relationship Id="rId3" Type="http://schemas.openxmlformats.org/officeDocument/2006/relationships/image" Target="../media/image52.emf"/><Relationship Id="rId4" Type="http://schemas.openxmlformats.org/officeDocument/2006/relationships/image" Target="../media/image58.emf"/><Relationship Id="rId5" Type="http://schemas.openxmlformats.org/officeDocument/2006/relationships/image" Target="../media/image59.emf"/><Relationship Id="rId1" Type="http://schemas.openxmlformats.org/officeDocument/2006/relationships/slideLayout" Target="../slideLayouts/slideLayout7.xml"/><Relationship Id="rId2" Type="http://schemas.openxmlformats.org/officeDocument/2006/relationships/image" Target="../media/image56.em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8.jpe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type="title"/>
          </p:nvPr>
        </p:nvSpPr>
        <p:spPr>
          <a:prstGeom prst="rect">
            <a:avLst/>
          </a:prstGeom>
        </p:spPr>
        <p:txBody>
          <a:bodyPr/>
          <a:lstStyle/>
          <a:p>
            <a:r>
              <a:rPr lang="en-US" dirty="0" smtClean="0"/>
              <a:t>Class </a:t>
            </a:r>
            <a:r>
              <a:rPr dirty="0" smtClean="0"/>
              <a:t>1</a:t>
            </a:r>
            <a:r>
              <a:rPr lang="en-US" dirty="0" smtClean="0"/>
              <a:t>3</a:t>
            </a:r>
            <a:r>
              <a:rPr dirty="0" smtClean="0"/>
              <a:t>: </a:t>
            </a:r>
            <a:r>
              <a:rPr dirty="0"/>
              <a:t>Information Theory</a:t>
            </a:r>
          </a:p>
        </p:txBody>
      </p:sp>
      <p:sp>
        <p:nvSpPr>
          <p:cNvPr id="65" name="Shape 65"/>
          <p:cNvSpPr>
            <a:spLocks noGrp="1"/>
          </p:cNvSpPr>
          <p:nvPr>
            <p:ph type="body" idx="1"/>
          </p:nvPr>
        </p:nvSpPr>
        <p:spPr>
          <a:xfrm>
            <a:off x="952500" y="2609850"/>
            <a:ext cx="11099800" cy="6286501"/>
          </a:xfrm>
          <a:prstGeom prst="rect">
            <a:avLst/>
          </a:prstGeom>
        </p:spPr>
        <p:txBody>
          <a:bodyPr/>
          <a:lstStyle/>
          <a:p>
            <a:r>
              <a:rPr dirty="0">
                <a:solidFill>
                  <a:schemeClr val="tx1"/>
                </a:solidFill>
              </a:rPr>
              <a:t>Today: introduction to information </a:t>
            </a:r>
            <a:r>
              <a:rPr dirty="0" smtClean="0">
                <a:solidFill>
                  <a:schemeClr val="tx1"/>
                </a:solidFill>
              </a:rPr>
              <a:t>theory</a:t>
            </a:r>
            <a:endParaRPr lang="en-US" dirty="0" smtClean="0">
              <a:solidFill>
                <a:schemeClr val="tx1"/>
              </a:solidFill>
            </a:endParaRPr>
          </a:p>
          <a:p>
            <a:pPr marL="889000" lvl="2" indent="0">
              <a:buNone/>
            </a:pPr>
            <a:r>
              <a:rPr dirty="0" smtClean="0">
                <a:solidFill>
                  <a:schemeClr val="tx1"/>
                </a:solidFill>
              </a:rPr>
              <a:t>Morse </a:t>
            </a:r>
            <a:r>
              <a:rPr dirty="0">
                <a:solidFill>
                  <a:schemeClr val="tx1"/>
                </a:solidFill>
              </a:rPr>
              <a:t>code </a:t>
            </a:r>
            <a:r>
              <a:rPr dirty="0" smtClean="0">
                <a:solidFill>
                  <a:schemeClr val="tx1"/>
                </a:solidFill>
              </a:rPr>
              <a:t>analysis</a:t>
            </a:r>
            <a:endParaRPr lang="en-US" dirty="0" smtClean="0">
              <a:solidFill>
                <a:schemeClr val="tx1"/>
              </a:solidFill>
            </a:endParaRPr>
          </a:p>
          <a:p>
            <a:pPr marL="889000" lvl="2" indent="0">
              <a:buNone/>
            </a:pPr>
            <a:r>
              <a:rPr dirty="0" smtClean="0">
                <a:solidFill>
                  <a:schemeClr val="tx1"/>
                </a:solidFill>
              </a:rPr>
              <a:t>information </a:t>
            </a:r>
            <a:r>
              <a:rPr dirty="0">
                <a:solidFill>
                  <a:schemeClr val="tx1"/>
                </a:solidFill>
              </a:rPr>
              <a:t>content of a message</a:t>
            </a:r>
          </a:p>
          <a:p>
            <a:r>
              <a:rPr lang="en-US" dirty="0" smtClean="0"/>
              <a:t>Thursday</a:t>
            </a:r>
            <a:r>
              <a:rPr dirty="0" smtClean="0"/>
              <a:t>: </a:t>
            </a:r>
            <a:r>
              <a:rPr dirty="0"/>
              <a:t>determining </a:t>
            </a:r>
            <a:r>
              <a:rPr dirty="0" smtClean="0"/>
              <a:t>authorship</a:t>
            </a:r>
            <a:r>
              <a:rPr lang="en-US" dirty="0" smtClean="0"/>
              <a:t> </a:t>
            </a:r>
          </a:p>
          <a:p>
            <a:r>
              <a:rPr lang="en-US" dirty="0"/>
              <a:t>Lab: Analyzing information content of text from different </a:t>
            </a:r>
            <a:r>
              <a:rPr lang="en-US" dirty="0" smtClean="0"/>
              <a:t>sources</a:t>
            </a:r>
            <a:endParaRPr lang="en-US" dirty="0"/>
          </a:p>
        </p:txBody>
      </p:sp>
    </p:spTree>
    <p:extLst>
      <p:ext uri="{BB962C8B-B14F-4D97-AF65-F5344CB8AC3E}">
        <p14:creationId xmlns:p14="http://schemas.microsoft.com/office/powerpoint/2010/main" val="18745940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a:spLocks noGrp="1"/>
          </p:cNvSpPr>
          <p:nvPr>
            <p:ph type="title"/>
          </p:nvPr>
        </p:nvSpPr>
        <p:spPr>
          <a:prstGeom prst="rect">
            <a:avLst/>
          </a:prstGeom>
        </p:spPr>
        <p:txBody>
          <a:bodyPr/>
          <a:lstStyle/>
          <a:p>
            <a:r>
              <a:t>Claude Shannon (1916–2001)</a:t>
            </a:r>
          </a:p>
        </p:txBody>
      </p:sp>
      <p:sp>
        <p:nvSpPr>
          <p:cNvPr id="68" name="Shape 68"/>
          <p:cNvSpPr>
            <a:spLocks noGrp="1"/>
          </p:cNvSpPr>
          <p:nvPr>
            <p:ph type="body" sz="half" idx="1"/>
          </p:nvPr>
        </p:nvSpPr>
        <p:spPr>
          <a:xfrm>
            <a:off x="745380" y="2609850"/>
            <a:ext cx="6553598" cy="6286501"/>
          </a:xfrm>
          <a:prstGeom prst="rect">
            <a:avLst/>
          </a:prstGeom>
        </p:spPr>
        <p:txBody>
          <a:bodyPr/>
          <a:lstStyle/>
          <a:p>
            <a:pPr marL="346709" indent="-346709" defTabSz="455675">
              <a:spcBef>
                <a:spcPts val="2000"/>
              </a:spcBef>
              <a:defRPr sz="2807"/>
            </a:pPr>
            <a:r>
              <a:t>Born in Petoskey, Michigan</a:t>
            </a:r>
          </a:p>
          <a:p>
            <a:pPr marL="346709" indent="-346709" defTabSz="455675">
              <a:spcBef>
                <a:spcPts val="2000"/>
              </a:spcBef>
              <a:defRPr sz="2807"/>
            </a:pPr>
            <a:r>
              <a:t>Completed two undergraduate degrees at the University of Michigan</a:t>
            </a:r>
          </a:p>
          <a:p>
            <a:pPr marL="346709" indent="-346709" defTabSz="455675">
              <a:spcBef>
                <a:spcPts val="2000"/>
              </a:spcBef>
              <a:defRPr sz="2807"/>
            </a:pPr>
            <a:r>
              <a:t>Master’s thesis in electrical engineering on binary arithmetic revolutionized electrical engineering and formed the basic of digital circuit design</a:t>
            </a:r>
          </a:p>
          <a:p>
            <a:pPr marL="346709" indent="-346709" defTabSz="455675">
              <a:spcBef>
                <a:spcPts val="2000"/>
              </a:spcBef>
              <a:defRPr sz="2807"/>
            </a:pPr>
            <a:r>
              <a:t>PhD thesis: “An Algebra for Theoretical Genetics”</a:t>
            </a:r>
          </a:p>
          <a:p>
            <a:pPr marL="346709" indent="-346709" defTabSz="455675">
              <a:spcBef>
                <a:spcPts val="2000"/>
              </a:spcBef>
              <a:defRPr sz="2807"/>
            </a:pPr>
            <a:r>
              <a:t>Involved in code breaking during World War 2</a:t>
            </a:r>
          </a:p>
        </p:txBody>
      </p:sp>
      <p:pic>
        <p:nvPicPr>
          <p:cNvPr id="69" name="pasted-image.tif"/>
          <p:cNvPicPr>
            <a:picLocks noChangeAspect="1"/>
          </p:cNvPicPr>
          <p:nvPr/>
        </p:nvPicPr>
        <p:blipFill>
          <a:blip r:embed="rId2">
            <a:extLst/>
          </a:blip>
          <a:stretch>
            <a:fillRect/>
          </a:stretch>
        </p:blipFill>
        <p:spPr>
          <a:xfrm>
            <a:off x="7894736" y="2962622"/>
            <a:ext cx="4673601" cy="4229101"/>
          </a:xfrm>
          <a:prstGeom prst="rect">
            <a:avLst/>
          </a:prstGeom>
          <a:ln w="12700">
            <a:miter lim="400000"/>
          </a:ln>
        </p:spPr>
      </p:pic>
      <p:sp>
        <p:nvSpPr>
          <p:cNvPr id="70" name="Shape 70"/>
          <p:cNvSpPr/>
          <p:nvPr/>
        </p:nvSpPr>
        <p:spPr>
          <a:xfrm>
            <a:off x="8197353" y="7334249"/>
            <a:ext cx="4068367"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b="1">
                <a:latin typeface="+mj-lt"/>
                <a:ea typeface="+mj-ea"/>
                <a:cs typeface="+mj-cs"/>
                <a:sym typeface="Helvetica"/>
              </a:defRPr>
            </a:lvl1pPr>
          </a:lstStyle>
          <a:p>
            <a:r>
              <a:t>Shannon (+ robotic mouse)</a:t>
            </a:r>
          </a:p>
        </p:txBody>
      </p:sp>
    </p:spTree>
    <p:extLst>
      <p:ext uri="{BB962C8B-B14F-4D97-AF65-F5344CB8AC3E}">
        <p14:creationId xmlns:p14="http://schemas.microsoft.com/office/powerpoint/2010/main" val="27370716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prstGeom prst="rect">
            <a:avLst/>
          </a:prstGeom>
        </p:spPr>
        <p:txBody>
          <a:bodyPr/>
          <a:lstStyle/>
          <a:p>
            <a:r>
              <a:t>Shannon’s paper</a:t>
            </a:r>
          </a:p>
        </p:txBody>
      </p:sp>
      <p:pic>
        <p:nvPicPr>
          <p:cNvPr id="73" name="Screen Shot 2014-02-18 at 10.30.49 PM.png"/>
          <p:cNvPicPr>
            <a:picLocks noChangeAspect="1"/>
          </p:cNvPicPr>
          <p:nvPr/>
        </p:nvPicPr>
        <p:blipFill>
          <a:blip r:embed="rId2">
            <a:extLst/>
          </a:blip>
          <a:stretch>
            <a:fillRect/>
          </a:stretch>
        </p:blipFill>
        <p:spPr>
          <a:xfrm>
            <a:off x="615950" y="2946400"/>
            <a:ext cx="11772900" cy="3860800"/>
          </a:xfrm>
          <a:prstGeom prst="rect">
            <a:avLst/>
          </a:prstGeom>
          <a:ln w="12700">
            <a:miter lim="400000"/>
          </a:ln>
        </p:spPr>
      </p:pic>
    </p:spTree>
    <p:extLst>
      <p:ext uri="{BB962C8B-B14F-4D97-AF65-F5344CB8AC3E}">
        <p14:creationId xmlns:p14="http://schemas.microsoft.com/office/powerpoint/2010/main" val="84544400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title"/>
          </p:nvPr>
        </p:nvSpPr>
        <p:spPr>
          <a:xfrm>
            <a:off x="437232" y="38100"/>
            <a:ext cx="12130336" cy="2159000"/>
          </a:xfrm>
          <a:prstGeom prst="rect">
            <a:avLst/>
          </a:prstGeom>
        </p:spPr>
        <p:txBody>
          <a:bodyPr/>
          <a:lstStyle>
            <a:lvl1pPr>
              <a:defRPr sz="5100"/>
            </a:lvl1pPr>
          </a:lstStyle>
          <a:p>
            <a:r>
              <a:t>Mathematical theory of communication</a:t>
            </a:r>
          </a:p>
        </p:txBody>
      </p:sp>
      <p:pic>
        <p:nvPicPr>
          <p:cNvPr id="76" name="Screen Shot 2014-02-18 at 10.32.24 PM.png"/>
          <p:cNvPicPr>
            <a:picLocks noChangeAspect="1"/>
          </p:cNvPicPr>
          <p:nvPr/>
        </p:nvPicPr>
        <p:blipFill>
          <a:blip r:embed="rId2">
            <a:extLst/>
          </a:blip>
          <a:stretch>
            <a:fillRect/>
          </a:stretch>
        </p:blipFill>
        <p:spPr>
          <a:xfrm>
            <a:off x="685800" y="1922115"/>
            <a:ext cx="11633200" cy="3898901"/>
          </a:xfrm>
          <a:prstGeom prst="rect">
            <a:avLst/>
          </a:prstGeom>
          <a:ln w="12700">
            <a:miter lim="400000"/>
          </a:ln>
        </p:spPr>
      </p:pic>
      <p:pic>
        <p:nvPicPr>
          <p:cNvPr id="77" name="Screen Shot 2014-02-18 at 10.34.03 PM.png"/>
          <p:cNvPicPr>
            <a:picLocks noChangeAspect="1"/>
          </p:cNvPicPr>
          <p:nvPr/>
        </p:nvPicPr>
        <p:blipFill>
          <a:blip r:embed="rId3">
            <a:extLst/>
          </a:blip>
          <a:stretch>
            <a:fillRect/>
          </a:stretch>
        </p:blipFill>
        <p:spPr>
          <a:xfrm>
            <a:off x="2473858" y="6011770"/>
            <a:ext cx="8470996" cy="3386522"/>
          </a:xfrm>
          <a:prstGeom prst="rect">
            <a:avLst/>
          </a:prstGeom>
          <a:ln w="12700">
            <a:miter lim="400000"/>
          </a:ln>
        </p:spPr>
      </p:pic>
    </p:spTree>
    <p:extLst>
      <p:ext uri="{BB962C8B-B14F-4D97-AF65-F5344CB8AC3E}">
        <p14:creationId xmlns:p14="http://schemas.microsoft.com/office/powerpoint/2010/main" val="57256161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title"/>
          </p:nvPr>
        </p:nvSpPr>
        <p:spPr>
          <a:xfrm>
            <a:off x="437232" y="38100"/>
            <a:ext cx="12130336" cy="2159000"/>
          </a:xfrm>
          <a:prstGeom prst="rect">
            <a:avLst/>
          </a:prstGeom>
        </p:spPr>
        <p:txBody>
          <a:bodyPr/>
          <a:lstStyle>
            <a:lvl1pPr>
              <a:defRPr sz="5100"/>
            </a:lvl1pPr>
          </a:lstStyle>
          <a:p>
            <a:r>
              <a:t>Mathematical theory of communication</a:t>
            </a:r>
          </a:p>
        </p:txBody>
      </p:sp>
      <p:pic>
        <p:nvPicPr>
          <p:cNvPr id="77" name="Screen Shot 2014-02-18 at 10.34.03 PM.png"/>
          <p:cNvPicPr>
            <a:picLocks noChangeAspect="1"/>
          </p:cNvPicPr>
          <p:nvPr/>
        </p:nvPicPr>
        <p:blipFill>
          <a:blip r:embed="rId2">
            <a:extLst/>
          </a:blip>
          <a:stretch>
            <a:fillRect/>
          </a:stretch>
        </p:blipFill>
        <p:spPr>
          <a:xfrm>
            <a:off x="1614939" y="3767518"/>
            <a:ext cx="9329259" cy="3729637"/>
          </a:xfrm>
          <a:prstGeom prst="rect">
            <a:avLst/>
          </a:prstGeom>
          <a:ln w="12700">
            <a:miter lim="400000"/>
          </a:ln>
        </p:spPr>
      </p:pic>
      <p:sp>
        <p:nvSpPr>
          <p:cNvPr id="5" name="TextBox 4"/>
          <p:cNvSpPr txBox="1"/>
          <p:nvPr/>
        </p:nvSpPr>
        <p:spPr>
          <a:xfrm>
            <a:off x="766532" y="2099561"/>
            <a:ext cx="7904502" cy="1667957"/>
          </a:xfrm>
          <a:prstGeom prst="rect">
            <a:avLst/>
          </a:prstGeom>
          <a:noFill/>
        </p:spPr>
        <p:txBody>
          <a:bodyPr wrap="square" rtlCol="0">
            <a:spAutoFit/>
          </a:bodyPr>
          <a:lstStyle/>
          <a:p>
            <a:pPr algn="l"/>
            <a:r>
              <a:rPr lang="en-US" sz="3413" b="1" dirty="0" smtClean="0">
                <a:latin typeface="+mj-lt"/>
              </a:rPr>
              <a:t>Message </a:t>
            </a:r>
            <a:r>
              <a:rPr lang="en-US" sz="3413" b="1" dirty="0">
                <a:latin typeface="+mj-lt"/>
              </a:rPr>
              <a:t>must be </a:t>
            </a:r>
            <a:r>
              <a:rPr lang="en-US" sz="3413" b="1" i="1" dirty="0" smtClean="0">
                <a:solidFill>
                  <a:srgbClr val="C00000"/>
                </a:solidFill>
                <a:latin typeface="+mj-lt"/>
              </a:rPr>
              <a:t>encoded</a:t>
            </a:r>
            <a:r>
              <a:rPr lang="en-US" sz="3413" b="1" dirty="0" smtClean="0">
                <a:latin typeface="+mj-lt"/>
              </a:rPr>
              <a:t>, </a:t>
            </a:r>
          </a:p>
          <a:p>
            <a:pPr algn="l"/>
            <a:r>
              <a:rPr lang="en-US" sz="3413" b="1" dirty="0" smtClean="0">
                <a:latin typeface="+mj-lt"/>
              </a:rPr>
              <a:t>                       then </a:t>
            </a:r>
            <a:r>
              <a:rPr lang="en-US" sz="3413" b="1" i="1" dirty="0" smtClean="0">
                <a:solidFill>
                  <a:srgbClr val="C00000"/>
                </a:solidFill>
                <a:latin typeface="+mj-lt"/>
              </a:rPr>
              <a:t>transmitted</a:t>
            </a:r>
            <a:r>
              <a:rPr lang="en-US" sz="3413" b="1" dirty="0" smtClean="0">
                <a:latin typeface="+mj-lt"/>
              </a:rPr>
              <a:t>,</a:t>
            </a:r>
          </a:p>
          <a:p>
            <a:pPr algn="l"/>
            <a:r>
              <a:rPr lang="en-US" sz="3413" b="1" dirty="0" smtClean="0">
                <a:latin typeface="+mj-lt"/>
              </a:rPr>
              <a:t>                       then </a:t>
            </a:r>
            <a:r>
              <a:rPr lang="en-US" sz="3413" b="1" i="1" dirty="0">
                <a:solidFill>
                  <a:srgbClr val="C00000"/>
                </a:solidFill>
                <a:latin typeface="+mj-lt"/>
              </a:rPr>
              <a:t>decoded</a:t>
            </a:r>
            <a:r>
              <a:rPr lang="en-US" sz="3413" b="1" dirty="0">
                <a:latin typeface="+mj-lt"/>
              </a:rPr>
              <a:t>.</a:t>
            </a:r>
          </a:p>
        </p:txBody>
      </p:sp>
      <p:sp>
        <p:nvSpPr>
          <p:cNvPr id="6" name="TextBox 5"/>
          <p:cNvSpPr txBox="1"/>
          <p:nvPr/>
        </p:nvSpPr>
        <p:spPr>
          <a:xfrm>
            <a:off x="597236" y="8450032"/>
            <a:ext cx="12407564" cy="617541"/>
          </a:xfrm>
          <a:prstGeom prst="rect">
            <a:avLst/>
          </a:prstGeom>
          <a:noFill/>
        </p:spPr>
        <p:txBody>
          <a:bodyPr wrap="none" rtlCol="0">
            <a:spAutoFit/>
          </a:bodyPr>
          <a:lstStyle/>
          <a:p>
            <a:r>
              <a:rPr lang="en-US" sz="3413" b="1" dirty="0" smtClean="0">
                <a:latin typeface="+mj-ea"/>
                <a:ea typeface="+mj-ea"/>
              </a:rPr>
              <a:t>Given a message</a:t>
            </a:r>
            <a:r>
              <a:rPr lang="en-US" sz="3413" b="1" smtClean="0">
                <a:latin typeface="+mj-ea"/>
                <a:ea typeface="+mj-ea"/>
              </a:rPr>
              <a:t>, can we code and transmit the message</a:t>
            </a:r>
            <a:r>
              <a:rPr lang="en-US" sz="3413" b="1" dirty="0" smtClean="0">
                <a:latin typeface="+mj-ea"/>
                <a:ea typeface="+mj-ea"/>
              </a:rPr>
              <a:t>?</a:t>
            </a:r>
            <a:endParaRPr lang="en-US" sz="3413" b="1" dirty="0">
              <a:latin typeface="+mj-ea"/>
              <a:ea typeface="+mj-ea"/>
            </a:endParaRPr>
          </a:p>
        </p:txBody>
      </p:sp>
      <p:sp>
        <p:nvSpPr>
          <p:cNvPr id="2" name="Rectangle 1"/>
          <p:cNvSpPr/>
          <p:nvPr/>
        </p:nvSpPr>
        <p:spPr>
          <a:xfrm>
            <a:off x="652080" y="7650428"/>
            <a:ext cx="3954929" cy="646331"/>
          </a:xfrm>
          <a:prstGeom prst="rect">
            <a:avLst/>
          </a:prstGeom>
        </p:spPr>
        <p:txBody>
          <a:bodyPr wrap="none">
            <a:spAutoFit/>
          </a:bodyPr>
          <a:lstStyle/>
          <a:p>
            <a:pPr algn="l"/>
            <a:r>
              <a:rPr lang="en-US" b="1" i="1" dirty="0" smtClean="0">
                <a:solidFill>
                  <a:srgbClr val="C00000"/>
                </a:solidFill>
              </a:rPr>
              <a:t>Forward problem</a:t>
            </a:r>
            <a:endParaRPr lang="en-US" b="1" dirty="0">
              <a:solidFill>
                <a:srgbClr val="C00000"/>
              </a:solidFill>
            </a:endParaRPr>
          </a:p>
        </p:txBody>
      </p:sp>
    </p:spTree>
    <p:extLst>
      <p:ext uri="{BB962C8B-B14F-4D97-AF65-F5344CB8AC3E}">
        <p14:creationId xmlns:p14="http://schemas.microsoft.com/office/powerpoint/2010/main" val="93806673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title"/>
          </p:nvPr>
        </p:nvSpPr>
        <p:spPr>
          <a:xfrm>
            <a:off x="437232" y="38100"/>
            <a:ext cx="12130336" cy="2159000"/>
          </a:xfrm>
          <a:prstGeom prst="rect">
            <a:avLst/>
          </a:prstGeom>
        </p:spPr>
        <p:txBody>
          <a:bodyPr/>
          <a:lstStyle>
            <a:lvl1pPr>
              <a:defRPr sz="5100"/>
            </a:lvl1pPr>
          </a:lstStyle>
          <a:p>
            <a:r>
              <a:t>Mathematical theory of communication</a:t>
            </a:r>
          </a:p>
        </p:txBody>
      </p:sp>
      <p:pic>
        <p:nvPicPr>
          <p:cNvPr id="77" name="Screen Shot 2014-02-18 at 10.34.03 PM.png"/>
          <p:cNvPicPr>
            <a:picLocks noChangeAspect="1"/>
          </p:cNvPicPr>
          <p:nvPr/>
        </p:nvPicPr>
        <p:blipFill>
          <a:blip r:embed="rId2">
            <a:extLst/>
          </a:blip>
          <a:stretch>
            <a:fillRect/>
          </a:stretch>
        </p:blipFill>
        <p:spPr>
          <a:xfrm>
            <a:off x="1614939" y="3767518"/>
            <a:ext cx="9329259" cy="3729637"/>
          </a:xfrm>
          <a:prstGeom prst="rect">
            <a:avLst/>
          </a:prstGeom>
          <a:ln w="12700">
            <a:miter lim="400000"/>
          </a:ln>
        </p:spPr>
      </p:pic>
      <p:sp>
        <p:nvSpPr>
          <p:cNvPr id="6" name="TextBox 5"/>
          <p:cNvSpPr txBox="1"/>
          <p:nvPr/>
        </p:nvSpPr>
        <p:spPr>
          <a:xfrm>
            <a:off x="695407" y="8450032"/>
            <a:ext cx="11872161" cy="617541"/>
          </a:xfrm>
          <a:prstGeom prst="rect">
            <a:avLst/>
          </a:prstGeom>
          <a:noFill/>
        </p:spPr>
        <p:txBody>
          <a:bodyPr wrap="none" rtlCol="0">
            <a:spAutoFit/>
          </a:bodyPr>
          <a:lstStyle/>
          <a:p>
            <a:r>
              <a:rPr lang="en-US" sz="3413" b="1" dirty="0" smtClean="0">
                <a:latin typeface="+mj-ea"/>
                <a:ea typeface="+mj-ea"/>
              </a:rPr>
              <a:t>Given the received signal, can we decode </a:t>
            </a:r>
            <a:r>
              <a:rPr lang="en-US" sz="3413" b="1" dirty="0" smtClean="0">
                <a:latin typeface="+mj-ea"/>
                <a:ea typeface="+mj-ea"/>
              </a:rPr>
              <a:t>the message?</a:t>
            </a:r>
            <a:endParaRPr lang="en-US" sz="3413" b="1" dirty="0">
              <a:latin typeface="+mj-ea"/>
              <a:ea typeface="+mj-ea"/>
            </a:endParaRPr>
          </a:p>
        </p:txBody>
      </p:sp>
      <p:sp>
        <p:nvSpPr>
          <p:cNvPr id="2" name="Rectangle 1"/>
          <p:cNvSpPr/>
          <p:nvPr/>
        </p:nvSpPr>
        <p:spPr>
          <a:xfrm>
            <a:off x="652080" y="7650428"/>
            <a:ext cx="3749744" cy="646331"/>
          </a:xfrm>
          <a:prstGeom prst="rect">
            <a:avLst/>
          </a:prstGeom>
        </p:spPr>
        <p:txBody>
          <a:bodyPr wrap="none">
            <a:spAutoFit/>
          </a:bodyPr>
          <a:lstStyle/>
          <a:p>
            <a:pPr algn="l"/>
            <a:r>
              <a:rPr lang="en-US" b="1" i="1" dirty="0" smtClean="0">
                <a:solidFill>
                  <a:srgbClr val="C00000"/>
                </a:solidFill>
              </a:rPr>
              <a:t>Inverse problem</a:t>
            </a:r>
            <a:endParaRPr lang="en-US" b="1" dirty="0">
              <a:solidFill>
                <a:srgbClr val="C00000"/>
              </a:solidFill>
            </a:endParaRPr>
          </a:p>
        </p:txBody>
      </p:sp>
      <p:sp>
        <p:nvSpPr>
          <p:cNvPr id="7" name="TextBox 6"/>
          <p:cNvSpPr txBox="1"/>
          <p:nvPr/>
        </p:nvSpPr>
        <p:spPr>
          <a:xfrm>
            <a:off x="766532" y="2099561"/>
            <a:ext cx="7904502" cy="1667957"/>
          </a:xfrm>
          <a:prstGeom prst="rect">
            <a:avLst/>
          </a:prstGeom>
          <a:noFill/>
        </p:spPr>
        <p:txBody>
          <a:bodyPr wrap="square" rtlCol="0">
            <a:spAutoFit/>
          </a:bodyPr>
          <a:lstStyle/>
          <a:p>
            <a:pPr algn="l"/>
            <a:r>
              <a:rPr lang="en-US" sz="3413" b="1" dirty="0" smtClean="0">
                <a:latin typeface="+mj-lt"/>
              </a:rPr>
              <a:t>Message </a:t>
            </a:r>
            <a:r>
              <a:rPr lang="en-US" sz="3413" b="1" dirty="0">
                <a:latin typeface="+mj-lt"/>
              </a:rPr>
              <a:t>must be </a:t>
            </a:r>
            <a:r>
              <a:rPr lang="en-US" sz="3413" b="1" i="1" dirty="0" smtClean="0">
                <a:solidFill>
                  <a:srgbClr val="C00000"/>
                </a:solidFill>
                <a:latin typeface="+mj-lt"/>
              </a:rPr>
              <a:t>encoded</a:t>
            </a:r>
            <a:r>
              <a:rPr lang="en-US" sz="3413" b="1" dirty="0" smtClean="0">
                <a:latin typeface="+mj-lt"/>
              </a:rPr>
              <a:t>, </a:t>
            </a:r>
          </a:p>
          <a:p>
            <a:pPr algn="l"/>
            <a:r>
              <a:rPr lang="en-US" sz="3413" b="1" dirty="0" smtClean="0">
                <a:latin typeface="+mj-lt"/>
              </a:rPr>
              <a:t>                       then </a:t>
            </a:r>
            <a:r>
              <a:rPr lang="en-US" sz="3413" b="1" i="1" dirty="0" smtClean="0">
                <a:solidFill>
                  <a:srgbClr val="C00000"/>
                </a:solidFill>
                <a:latin typeface="+mj-lt"/>
              </a:rPr>
              <a:t>transmitted</a:t>
            </a:r>
            <a:r>
              <a:rPr lang="en-US" sz="3413" b="1" dirty="0" smtClean="0">
                <a:latin typeface="+mj-lt"/>
              </a:rPr>
              <a:t>,</a:t>
            </a:r>
          </a:p>
          <a:p>
            <a:pPr algn="l"/>
            <a:r>
              <a:rPr lang="en-US" sz="3413" b="1" dirty="0" smtClean="0">
                <a:latin typeface="+mj-lt"/>
              </a:rPr>
              <a:t>                       then </a:t>
            </a:r>
            <a:r>
              <a:rPr lang="en-US" sz="3413" b="1" i="1" dirty="0">
                <a:solidFill>
                  <a:srgbClr val="C00000"/>
                </a:solidFill>
                <a:latin typeface="+mj-lt"/>
              </a:rPr>
              <a:t>decoded</a:t>
            </a:r>
            <a:r>
              <a:rPr lang="en-US" sz="3413" b="1" dirty="0">
                <a:latin typeface="+mj-lt"/>
              </a:rPr>
              <a:t>.</a:t>
            </a:r>
          </a:p>
        </p:txBody>
      </p:sp>
    </p:spTree>
    <p:extLst>
      <p:ext uri="{BB962C8B-B14F-4D97-AF65-F5344CB8AC3E}">
        <p14:creationId xmlns:p14="http://schemas.microsoft.com/office/powerpoint/2010/main" val="6373298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9"/>
          <p:cNvSpPr>
            <a:spLocks noGrp="1"/>
          </p:cNvSpPr>
          <p:nvPr>
            <p:ph type="title"/>
          </p:nvPr>
        </p:nvSpPr>
        <p:spPr>
          <a:prstGeom prst="rect">
            <a:avLst/>
          </a:prstGeom>
        </p:spPr>
        <p:txBody>
          <a:bodyPr/>
          <a:lstStyle/>
          <a:p>
            <a:r>
              <a:t>Messages take many forms</a:t>
            </a:r>
          </a:p>
        </p:txBody>
      </p:sp>
      <p:sp>
        <p:nvSpPr>
          <p:cNvPr id="80" name="Shape 80"/>
          <p:cNvSpPr>
            <a:spLocks noGrp="1"/>
          </p:cNvSpPr>
          <p:nvPr>
            <p:ph type="body" sz="half" idx="1"/>
          </p:nvPr>
        </p:nvSpPr>
        <p:spPr>
          <a:xfrm>
            <a:off x="952500" y="2609850"/>
            <a:ext cx="11099800" cy="2328863"/>
          </a:xfrm>
          <a:prstGeom prst="rect">
            <a:avLst/>
          </a:prstGeom>
        </p:spPr>
        <p:txBody>
          <a:bodyPr/>
          <a:lstStyle/>
          <a:p>
            <a:r>
              <a:rPr dirty="0"/>
              <a:t>There are many ways to communicate</a:t>
            </a:r>
          </a:p>
          <a:p>
            <a:r>
              <a:rPr dirty="0"/>
              <a:t>Messages take many different forms</a:t>
            </a:r>
          </a:p>
        </p:txBody>
      </p:sp>
      <p:sp>
        <p:nvSpPr>
          <p:cNvPr id="81" name="Shape 81"/>
          <p:cNvSpPr/>
          <p:nvPr/>
        </p:nvSpPr>
        <p:spPr>
          <a:xfrm>
            <a:off x="8830705" y="5106880"/>
            <a:ext cx="3750790" cy="3759043"/>
          </a:xfrm>
          <a:prstGeom prst="roundRect">
            <a:avLst>
              <a:gd name="adj" fmla="val 6037"/>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Electronic</a:t>
            </a:r>
          </a:p>
          <a:p>
            <a:pPr marL="444500" indent="-444500" algn="l">
              <a:buSzPct val="75000"/>
              <a:buChar char="•"/>
              <a:defRPr b="1">
                <a:latin typeface="+mj-lt"/>
                <a:ea typeface="+mj-ea"/>
                <a:cs typeface="+mj-cs"/>
                <a:sym typeface="Helvetica"/>
              </a:defRPr>
            </a:pPr>
            <a:r>
              <a:t>…</a:t>
            </a:r>
          </a:p>
        </p:txBody>
      </p:sp>
      <p:sp>
        <p:nvSpPr>
          <p:cNvPr id="82" name="Shape 82"/>
          <p:cNvSpPr/>
          <p:nvPr/>
        </p:nvSpPr>
        <p:spPr>
          <a:xfrm>
            <a:off x="423305" y="5106880"/>
            <a:ext cx="3750790" cy="3759043"/>
          </a:xfrm>
          <a:prstGeom prst="roundRect">
            <a:avLst>
              <a:gd name="adj" fmla="val 6037"/>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Audio</a:t>
            </a:r>
          </a:p>
          <a:p>
            <a:pPr marL="444500" indent="-444500" algn="l">
              <a:buSzPct val="75000"/>
              <a:buChar char="•"/>
              <a:defRPr b="1">
                <a:latin typeface="+mj-lt"/>
                <a:ea typeface="+mj-ea"/>
                <a:cs typeface="+mj-cs"/>
                <a:sym typeface="Helvetica"/>
              </a:defRPr>
            </a:pPr>
            <a:r>
              <a:t>English</a:t>
            </a:r>
          </a:p>
          <a:p>
            <a:pPr marL="444500" indent="-444500" algn="l">
              <a:buSzPct val="75000"/>
              <a:buChar char="•"/>
              <a:defRPr b="1">
                <a:latin typeface="+mj-lt"/>
                <a:ea typeface="+mj-ea"/>
                <a:cs typeface="+mj-cs"/>
                <a:sym typeface="Helvetica"/>
              </a:defRPr>
            </a:pPr>
            <a:r>
              <a:t>French</a:t>
            </a:r>
          </a:p>
          <a:p>
            <a:pPr marL="444500" indent="-444500" algn="l">
              <a:buSzPct val="75000"/>
              <a:buChar char="•"/>
              <a:defRPr b="1">
                <a:latin typeface="+mj-lt"/>
                <a:ea typeface="+mj-ea"/>
                <a:cs typeface="+mj-cs"/>
                <a:sym typeface="Helvetica"/>
              </a:defRPr>
            </a:pPr>
            <a:r>
              <a:t>Mandarin</a:t>
            </a:r>
          </a:p>
          <a:p>
            <a:pPr marL="444500" indent="-444500" algn="l">
              <a:buSzPct val="75000"/>
              <a:buChar char="•"/>
              <a:defRPr b="1">
                <a:latin typeface="+mj-lt"/>
                <a:ea typeface="+mj-ea"/>
                <a:cs typeface="+mj-cs"/>
                <a:sym typeface="Helvetica"/>
              </a:defRPr>
            </a:pPr>
            <a:r>
              <a:t>Arabic</a:t>
            </a:r>
          </a:p>
        </p:txBody>
      </p:sp>
      <p:sp>
        <p:nvSpPr>
          <p:cNvPr id="83" name="Shape 83"/>
          <p:cNvSpPr/>
          <p:nvPr/>
        </p:nvSpPr>
        <p:spPr>
          <a:xfrm>
            <a:off x="4627005" y="5106880"/>
            <a:ext cx="3750790" cy="3759043"/>
          </a:xfrm>
          <a:prstGeom prst="roundRect">
            <a:avLst>
              <a:gd name="adj" fmla="val 6037"/>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Visual</a:t>
            </a:r>
          </a:p>
          <a:p>
            <a:pPr marL="444500" indent="-444500" algn="l">
              <a:buSzPct val="75000"/>
              <a:buChar char="•"/>
              <a:defRPr b="1">
                <a:latin typeface="+mj-lt"/>
                <a:ea typeface="+mj-ea"/>
                <a:cs typeface="+mj-cs"/>
                <a:sym typeface="Helvetica"/>
              </a:defRPr>
            </a:pPr>
            <a:r>
              <a:t>Sign language</a:t>
            </a:r>
          </a:p>
          <a:p>
            <a:pPr marL="444500" indent="-444500" algn="l">
              <a:buSzPct val="75000"/>
              <a:buChar char="•"/>
              <a:defRPr b="1">
                <a:latin typeface="+mj-lt"/>
                <a:ea typeface="+mj-ea"/>
                <a:cs typeface="+mj-cs"/>
                <a:sym typeface="Helvetica"/>
              </a:defRPr>
            </a:pPr>
            <a:r>
              <a:t>…</a:t>
            </a:r>
          </a:p>
        </p:txBody>
      </p:sp>
    </p:spTree>
    <p:extLst>
      <p:ext uri="{BB962C8B-B14F-4D97-AF65-F5344CB8AC3E}">
        <p14:creationId xmlns:p14="http://schemas.microsoft.com/office/powerpoint/2010/main" val="20702147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hape 99"/>
          <p:cNvSpPr>
            <a:spLocks noGrp="1"/>
          </p:cNvSpPr>
          <p:nvPr>
            <p:ph type="title"/>
          </p:nvPr>
        </p:nvSpPr>
        <p:spPr>
          <a:xfrm>
            <a:off x="119732" y="444499"/>
            <a:ext cx="4641553" cy="2159001"/>
          </a:xfrm>
          <a:prstGeom prst="rect">
            <a:avLst/>
          </a:prstGeom>
        </p:spPr>
        <p:txBody>
          <a:bodyPr/>
          <a:lstStyle/>
          <a:p>
            <a:r>
              <a:t>Teletype</a:t>
            </a:r>
          </a:p>
        </p:txBody>
      </p:sp>
      <p:sp>
        <p:nvSpPr>
          <p:cNvPr id="100" name="Shape 100"/>
          <p:cNvSpPr>
            <a:spLocks noGrp="1"/>
          </p:cNvSpPr>
          <p:nvPr>
            <p:ph type="body" sz="quarter" idx="1"/>
          </p:nvPr>
        </p:nvSpPr>
        <p:spPr>
          <a:xfrm>
            <a:off x="952500" y="2603500"/>
            <a:ext cx="7186117" cy="3226594"/>
          </a:xfrm>
          <a:prstGeom prst="rect">
            <a:avLst/>
          </a:prstGeom>
        </p:spPr>
        <p:txBody>
          <a:bodyPr/>
          <a:lstStyle/>
          <a:p>
            <a:r>
              <a:t>Originated in early twentieth century for sending messages of text electronically</a:t>
            </a:r>
          </a:p>
          <a:p>
            <a:r>
              <a:t>Could also be used to archive text</a:t>
            </a:r>
          </a:p>
        </p:txBody>
      </p:sp>
      <p:pic>
        <p:nvPicPr>
          <p:cNvPr id="101" name="pasted-image.tif"/>
          <p:cNvPicPr>
            <a:picLocks noChangeAspect="1"/>
          </p:cNvPicPr>
          <p:nvPr/>
        </p:nvPicPr>
        <p:blipFill>
          <a:blip r:embed="rId3">
            <a:extLst/>
          </a:blip>
          <a:stretch>
            <a:fillRect/>
          </a:stretch>
        </p:blipFill>
        <p:spPr>
          <a:xfrm>
            <a:off x="5611316" y="838200"/>
            <a:ext cx="2527301" cy="1371600"/>
          </a:xfrm>
          <a:prstGeom prst="rect">
            <a:avLst/>
          </a:prstGeom>
          <a:ln w="12700">
            <a:miter lim="400000"/>
          </a:ln>
        </p:spPr>
      </p:pic>
      <p:pic>
        <p:nvPicPr>
          <p:cNvPr id="102" name="Screen Shot 2014-02-18 at 10.46.46 PM.png"/>
          <p:cNvPicPr>
            <a:picLocks noChangeAspect="1"/>
          </p:cNvPicPr>
          <p:nvPr/>
        </p:nvPicPr>
        <p:blipFill>
          <a:blip r:embed="rId4">
            <a:extLst/>
          </a:blip>
          <a:stretch>
            <a:fillRect/>
          </a:stretch>
        </p:blipFill>
        <p:spPr>
          <a:xfrm>
            <a:off x="8988648" y="768350"/>
            <a:ext cx="3454401" cy="8216900"/>
          </a:xfrm>
          <a:prstGeom prst="rect">
            <a:avLst/>
          </a:prstGeom>
          <a:ln w="12700">
            <a:miter lim="400000"/>
          </a:ln>
        </p:spPr>
      </p:pic>
      <p:pic>
        <p:nvPicPr>
          <p:cNvPr id="103" name="pasted-image.tif"/>
          <p:cNvPicPr>
            <a:picLocks noChangeAspect="1"/>
          </p:cNvPicPr>
          <p:nvPr/>
        </p:nvPicPr>
        <p:blipFill>
          <a:blip r:embed="rId5">
            <a:extLst/>
          </a:blip>
          <a:stretch>
            <a:fillRect/>
          </a:stretch>
        </p:blipFill>
        <p:spPr>
          <a:xfrm>
            <a:off x="709560" y="6360731"/>
            <a:ext cx="2802874" cy="2589925"/>
          </a:xfrm>
          <a:prstGeom prst="rect">
            <a:avLst/>
          </a:prstGeom>
          <a:ln w="12700">
            <a:miter lim="400000"/>
          </a:ln>
        </p:spPr>
      </p:pic>
      <p:pic>
        <p:nvPicPr>
          <p:cNvPr id="104" name="pasted-image.tif"/>
          <p:cNvPicPr>
            <a:picLocks noChangeAspect="1"/>
          </p:cNvPicPr>
          <p:nvPr/>
        </p:nvPicPr>
        <p:blipFill>
          <a:blip r:embed="rId6">
            <a:extLst/>
          </a:blip>
          <a:stretch>
            <a:fillRect/>
          </a:stretch>
        </p:blipFill>
        <p:spPr>
          <a:xfrm>
            <a:off x="4214489" y="6360731"/>
            <a:ext cx="3924128" cy="2589925"/>
          </a:xfrm>
          <a:prstGeom prst="rect">
            <a:avLst/>
          </a:prstGeom>
          <a:ln w="12700">
            <a:miter lim="400000"/>
          </a:ln>
        </p:spPr>
      </p:pic>
    </p:spTree>
    <p:extLst>
      <p:ext uri="{BB962C8B-B14F-4D97-AF65-F5344CB8AC3E}">
        <p14:creationId xmlns:p14="http://schemas.microsoft.com/office/powerpoint/2010/main" val="104079245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p:cNvSpPr>
          <p:nvPr>
            <p:ph type="title"/>
          </p:nvPr>
        </p:nvSpPr>
        <p:spPr>
          <a:prstGeom prst="rect">
            <a:avLst/>
          </a:prstGeom>
        </p:spPr>
        <p:txBody>
          <a:bodyPr/>
          <a:lstStyle/>
          <a:p>
            <a:r>
              <a:t>Morse code</a:t>
            </a:r>
          </a:p>
        </p:txBody>
      </p:sp>
      <p:sp>
        <p:nvSpPr>
          <p:cNvPr id="130" name="Shape 130"/>
          <p:cNvSpPr>
            <a:spLocks noGrp="1"/>
          </p:cNvSpPr>
          <p:nvPr>
            <p:ph type="body" sz="quarter" idx="1"/>
          </p:nvPr>
        </p:nvSpPr>
        <p:spPr>
          <a:xfrm>
            <a:off x="546100" y="2260600"/>
            <a:ext cx="6287592" cy="3421758"/>
          </a:xfrm>
          <a:prstGeom prst="rect">
            <a:avLst/>
          </a:prstGeom>
        </p:spPr>
        <p:txBody>
          <a:bodyPr/>
          <a:lstStyle/>
          <a:p>
            <a:pPr marL="333375" indent="-333375" defTabSz="438150">
              <a:spcBef>
                <a:spcPts val="1900"/>
              </a:spcBef>
              <a:defRPr sz="2700"/>
            </a:pPr>
            <a:r>
              <a:t>Developed in 1836 by artist Samuel Morse, physicist Joseph Henry, and inventor Alfred Vail for sending messages on a telegraph system</a:t>
            </a:r>
          </a:p>
          <a:p>
            <a:pPr marL="333375" indent="-333375" defTabSz="438150">
              <a:spcBef>
                <a:spcPts val="1900"/>
              </a:spcBef>
              <a:defRPr sz="2700"/>
            </a:pPr>
            <a:r>
              <a:t>Still in use today</a:t>
            </a:r>
          </a:p>
          <a:p>
            <a:pPr marL="333375" indent="-333375" defTabSz="438150">
              <a:spcBef>
                <a:spcPts val="1900"/>
              </a:spcBef>
              <a:defRPr sz="2700"/>
            </a:pPr>
            <a:r>
              <a:t>Experienced users can achieve speeds of 40 words per minute</a:t>
            </a:r>
          </a:p>
        </p:txBody>
      </p:sp>
      <p:pic>
        <p:nvPicPr>
          <p:cNvPr id="131" name="pasted-image.tif"/>
          <p:cNvPicPr>
            <a:picLocks noChangeAspect="1"/>
          </p:cNvPicPr>
          <p:nvPr/>
        </p:nvPicPr>
        <p:blipFill>
          <a:blip r:embed="rId3">
            <a:extLst/>
          </a:blip>
          <a:stretch>
            <a:fillRect/>
          </a:stretch>
        </p:blipFill>
        <p:spPr>
          <a:xfrm>
            <a:off x="7177385" y="2070100"/>
            <a:ext cx="5715001" cy="7366000"/>
          </a:xfrm>
          <a:prstGeom prst="rect">
            <a:avLst/>
          </a:prstGeom>
          <a:ln w="12700">
            <a:miter lim="400000"/>
          </a:ln>
        </p:spPr>
      </p:pic>
      <p:pic>
        <p:nvPicPr>
          <p:cNvPr id="132" name="pasted-image.tif"/>
          <p:cNvPicPr>
            <a:picLocks noChangeAspect="1"/>
          </p:cNvPicPr>
          <p:nvPr/>
        </p:nvPicPr>
        <p:blipFill>
          <a:blip r:embed="rId4">
            <a:extLst/>
          </a:blip>
          <a:stretch>
            <a:fillRect/>
          </a:stretch>
        </p:blipFill>
        <p:spPr>
          <a:xfrm>
            <a:off x="1531540" y="6123731"/>
            <a:ext cx="4064001" cy="3048001"/>
          </a:xfrm>
          <a:prstGeom prst="rect">
            <a:avLst/>
          </a:prstGeom>
          <a:ln w="12700">
            <a:miter lim="400000"/>
          </a:ln>
        </p:spPr>
      </p:pic>
    </p:spTree>
    <p:extLst>
      <p:ext uri="{BB962C8B-B14F-4D97-AF65-F5344CB8AC3E}">
        <p14:creationId xmlns:p14="http://schemas.microsoft.com/office/powerpoint/2010/main" val="185597649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p:cNvSpPr>
          <p:nvPr>
            <p:ph type="title"/>
          </p:nvPr>
        </p:nvSpPr>
        <p:spPr>
          <a:xfrm>
            <a:off x="143465" y="284733"/>
            <a:ext cx="13024768" cy="2171700"/>
          </a:xfrm>
          <a:prstGeom prst="rect">
            <a:avLst/>
          </a:prstGeom>
        </p:spPr>
        <p:txBody>
          <a:bodyPr/>
          <a:lstStyle>
            <a:lvl1pPr>
              <a:defRPr sz="5400"/>
            </a:lvl1pPr>
          </a:lstStyle>
          <a:p>
            <a:r>
              <a:t>Morse code design: letter frequencies</a:t>
            </a:r>
          </a:p>
        </p:txBody>
      </p:sp>
      <p:sp>
        <p:nvSpPr>
          <p:cNvPr id="135" name="Shape 135"/>
          <p:cNvSpPr>
            <a:spLocks noGrp="1"/>
          </p:cNvSpPr>
          <p:nvPr>
            <p:ph type="body" sz="half" idx="1"/>
          </p:nvPr>
        </p:nvSpPr>
        <p:spPr>
          <a:xfrm>
            <a:off x="910677" y="2426766"/>
            <a:ext cx="11099800" cy="4028778"/>
          </a:xfrm>
          <a:prstGeom prst="rect">
            <a:avLst/>
          </a:prstGeom>
        </p:spPr>
        <p:txBody>
          <a:bodyPr/>
          <a:lstStyle/>
          <a:p>
            <a:pPr marL="0" indent="0" defTabSz="490727">
              <a:spcBef>
                <a:spcPts val="2100"/>
              </a:spcBef>
              <a:buNone/>
              <a:defRPr sz="3024"/>
            </a:pPr>
            <a:r>
              <a:rPr dirty="0"/>
              <a:t>Letter frequencies</a:t>
            </a:r>
          </a:p>
          <a:p>
            <a:pPr marL="373379" indent="-373379" defTabSz="490727">
              <a:spcBef>
                <a:spcPts val="2100"/>
              </a:spcBef>
              <a:defRPr sz="3024"/>
            </a:pPr>
            <a:endParaRPr dirty="0"/>
          </a:p>
          <a:p>
            <a:pPr marL="373379" indent="-373379" defTabSz="490727">
              <a:spcBef>
                <a:spcPts val="2100"/>
              </a:spcBef>
              <a:defRPr sz="3024"/>
            </a:pPr>
            <a:endParaRPr dirty="0"/>
          </a:p>
          <a:p>
            <a:pPr marL="0" indent="0" defTabSz="490727">
              <a:spcBef>
                <a:spcPts val="2100"/>
              </a:spcBef>
              <a:buNone/>
              <a:defRPr sz="3024"/>
            </a:pPr>
            <a:endParaRPr dirty="0"/>
          </a:p>
          <a:p>
            <a:pPr marL="373379" indent="-373379" defTabSz="490727">
              <a:spcBef>
                <a:spcPts val="2100"/>
              </a:spcBef>
              <a:defRPr sz="3024"/>
            </a:pPr>
            <a:endParaRPr dirty="0"/>
          </a:p>
          <a:p>
            <a:pPr marL="0" indent="0" defTabSz="490727">
              <a:spcBef>
                <a:spcPts val="2100"/>
              </a:spcBef>
              <a:buNone/>
              <a:defRPr sz="3024"/>
            </a:pPr>
            <a:r>
              <a:rPr dirty="0"/>
              <a:t>Most common letters have short codes</a:t>
            </a:r>
          </a:p>
        </p:txBody>
      </p:sp>
      <p:sp>
        <p:nvSpPr>
          <p:cNvPr id="136" name="Shape 136"/>
          <p:cNvSpPr/>
          <p:nvPr/>
        </p:nvSpPr>
        <p:spPr>
          <a:xfrm>
            <a:off x="1904875" y="3146176"/>
            <a:ext cx="9118726" cy="2213224"/>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p>
            <a:pPr algn="l" defTabSz="457200">
              <a:spcBef>
                <a:spcPts val="1200"/>
              </a:spcBef>
              <a:defRPr sz="3200" b="1">
                <a:latin typeface="+mj-lt"/>
                <a:ea typeface="+mj-ea"/>
                <a:cs typeface="+mj-cs"/>
                <a:sym typeface="Helvetica"/>
              </a:defRPr>
            </a:pPr>
            <a:r>
              <a:rPr sz="2700" dirty="0"/>
              <a:t>E 11.28%, T 8.46%, A 7.52%, I 7.52%, N 7.52%, O 7.52%,</a:t>
            </a:r>
            <a:br>
              <a:rPr sz="2700" dirty="0"/>
            </a:br>
            <a:r>
              <a:rPr sz="2700" dirty="0"/>
              <a:t>H 6.02%, R 5.83%, D 4.14%, L 3.76%, U 3.20%, C 2.82%,</a:t>
            </a:r>
            <a:br>
              <a:rPr sz="2700" dirty="0"/>
            </a:br>
            <a:r>
              <a:rPr sz="2700" dirty="0"/>
              <a:t>M 2.82%, F 2.35%, W 1.88%, Y 1.88%, G 1.60%, P 1.60%, B 1.50%, V 1.13%, K 0.75%, Q 0.47%, J 0.38%, X 0.38%,</a:t>
            </a:r>
            <a:r>
              <a:rPr sz="700" dirty="0"/>
              <a:t> </a:t>
            </a:r>
            <a:r>
              <a:rPr sz="2700" dirty="0"/>
              <a:t>Z 0.19%</a:t>
            </a:r>
            <a:endParaRPr sz="700" dirty="0"/>
          </a:p>
        </p:txBody>
      </p:sp>
      <p:sp>
        <p:nvSpPr>
          <p:cNvPr id="137" name="Shape 137"/>
          <p:cNvSpPr/>
          <p:nvPr/>
        </p:nvSpPr>
        <p:spPr>
          <a:xfrm>
            <a:off x="6336897" y="6787281"/>
            <a:ext cx="31895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I</a:t>
            </a:r>
          </a:p>
        </p:txBody>
      </p:sp>
      <p:sp>
        <p:nvSpPr>
          <p:cNvPr id="138" name="Shape 138"/>
          <p:cNvSpPr/>
          <p:nvPr/>
        </p:nvSpPr>
        <p:spPr>
          <a:xfrm>
            <a:off x="4360243" y="6787281"/>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A</a:t>
            </a:r>
          </a:p>
        </p:txBody>
      </p:sp>
      <p:sp>
        <p:nvSpPr>
          <p:cNvPr id="139" name="Shape 139"/>
          <p:cNvSpPr/>
          <p:nvPr/>
        </p:nvSpPr>
        <p:spPr>
          <a:xfrm>
            <a:off x="2588240" y="6787281"/>
            <a:ext cx="564245"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T</a:t>
            </a:r>
          </a:p>
        </p:txBody>
      </p:sp>
      <p:sp>
        <p:nvSpPr>
          <p:cNvPr id="140" name="Shape 140"/>
          <p:cNvSpPr/>
          <p:nvPr/>
        </p:nvSpPr>
        <p:spPr>
          <a:xfrm>
            <a:off x="754554" y="6787281"/>
            <a:ext cx="605607"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rPr dirty="0"/>
              <a:t>E</a:t>
            </a:r>
          </a:p>
        </p:txBody>
      </p:sp>
      <p:sp>
        <p:nvSpPr>
          <p:cNvPr id="141" name="Shape 141"/>
          <p:cNvSpPr/>
          <p:nvPr/>
        </p:nvSpPr>
        <p:spPr>
          <a:xfrm>
            <a:off x="7986253" y="6787281"/>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N</a:t>
            </a:r>
          </a:p>
        </p:txBody>
      </p:sp>
      <p:sp>
        <p:nvSpPr>
          <p:cNvPr id="142" name="Shape 142"/>
          <p:cNvSpPr/>
          <p:nvPr/>
        </p:nvSpPr>
        <p:spPr>
          <a:xfrm>
            <a:off x="9778758" y="6787281"/>
            <a:ext cx="68725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O</a:t>
            </a:r>
          </a:p>
        </p:txBody>
      </p:sp>
      <p:sp>
        <p:nvSpPr>
          <p:cNvPr id="143" name="Shape 143"/>
          <p:cNvSpPr/>
          <p:nvPr/>
        </p:nvSpPr>
        <p:spPr>
          <a:xfrm>
            <a:off x="11612264" y="6787281"/>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H</a:t>
            </a:r>
          </a:p>
        </p:txBody>
      </p:sp>
      <p:sp>
        <p:nvSpPr>
          <p:cNvPr id="144" name="Shape 144"/>
          <p:cNvSpPr/>
          <p:nvPr/>
        </p:nvSpPr>
        <p:spPr>
          <a:xfrm>
            <a:off x="901410" y="7835031"/>
            <a:ext cx="311895"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5" name="Shape 145"/>
          <p:cNvSpPr/>
          <p:nvPr/>
        </p:nvSpPr>
        <p:spPr>
          <a:xfrm>
            <a:off x="2694795" y="7835031"/>
            <a:ext cx="351136"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6" name="Shape 146"/>
          <p:cNvSpPr/>
          <p:nvPr/>
        </p:nvSpPr>
        <p:spPr>
          <a:xfrm>
            <a:off x="4412778" y="7835031"/>
            <a:ext cx="54873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7" name="Shape 147"/>
          <p:cNvSpPr/>
          <p:nvPr/>
        </p:nvSpPr>
        <p:spPr>
          <a:xfrm>
            <a:off x="6230395" y="7835031"/>
            <a:ext cx="50949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8" name="Shape 148"/>
          <p:cNvSpPr/>
          <p:nvPr/>
        </p:nvSpPr>
        <p:spPr>
          <a:xfrm>
            <a:off x="8023781" y="7835031"/>
            <a:ext cx="54873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9" name="Shape 149"/>
          <p:cNvSpPr/>
          <p:nvPr/>
        </p:nvSpPr>
        <p:spPr>
          <a:xfrm>
            <a:off x="9709981" y="7835031"/>
            <a:ext cx="824806"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50" name="Shape 150"/>
          <p:cNvSpPr/>
          <p:nvPr/>
        </p:nvSpPr>
        <p:spPr>
          <a:xfrm>
            <a:off x="11483050" y="7835031"/>
            <a:ext cx="904678"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Tree>
    <p:extLst>
      <p:ext uri="{BB962C8B-B14F-4D97-AF65-F5344CB8AC3E}">
        <p14:creationId xmlns:p14="http://schemas.microsoft.com/office/powerpoint/2010/main" val="162314509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p:nvPr>
        </p:nvSpPr>
        <p:spPr>
          <a:prstGeom prst="rect">
            <a:avLst/>
          </a:prstGeom>
        </p:spPr>
        <p:txBody>
          <a:bodyPr/>
          <a:lstStyle/>
          <a:p>
            <a:r>
              <a:rPr lang="en-US" dirty="0" smtClean="0"/>
              <a:t>Code design: t</a:t>
            </a:r>
            <a:r>
              <a:rPr dirty="0" smtClean="0"/>
              <a:t>iming </a:t>
            </a:r>
            <a:r>
              <a:rPr dirty="0"/>
              <a:t>specifics</a:t>
            </a:r>
          </a:p>
        </p:txBody>
      </p:sp>
      <p:sp>
        <p:nvSpPr>
          <p:cNvPr id="153" name="Shape 153"/>
          <p:cNvSpPr>
            <a:spLocks noGrp="1"/>
          </p:cNvSpPr>
          <p:nvPr>
            <p:ph type="body" idx="1"/>
          </p:nvPr>
        </p:nvSpPr>
        <p:spPr>
          <a:xfrm>
            <a:off x="952500" y="2609850"/>
            <a:ext cx="11099800" cy="6286500"/>
          </a:xfrm>
          <a:prstGeom prst="rect">
            <a:avLst/>
          </a:prstGeom>
        </p:spPr>
        <p:txBody>
          <a:bodyPr/>
          <a:lstStyle/>
          <a:p>
            <a:r>
              <a:t>Dot = line closure for one unit of time and then line open for one unit of time</a:t>
            </a:r>
          </a:p>
          <a:p>
            <a:r>
              <a:t>Dash = line closure for three units of time and line open for one unit of time</a:t>
            </a:r>
          </a:p>
          <a:p>
            <a:r>
              <a:t>Letter Space = line open for three units of time</a:t>
            </a:r>
          </a:p>
          <a:p>
            <a:r>
              <a:t>Word Space = line open for six units of time</a:t>
            </a:r>
          </a:p>
          <a:p>
            <a:r>
              <a:t>Additional Rule: cannot have two successive spaces</a:t>
            </a:r>
          </a:p>
        </p:txBody>
      </p:sp>
    </p:spTree>
    <p:extLst>
      <p:ext uri="{BB962C8B-B14F-4D97-AF65-F5344CB8AC3E}">
        <p14:creationId xmlns:p14="http://schemas.microsoft.com/office/powerpoint/2010/main" val="203707274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p:cNvSpPr>
          <p:nvPr>
            <p:ph type="title"/>
          </p:nvPr>
        </p:nvSpPr>
        <p:spPr>
          <a:prstGeom prst="rect">
            <a:avLst/>
          </a:prstGeom>
        </p:spPr>
        <p:txBody>
          <a:bodyPr/>
          <a:lstStyle/>
          <a:p>
            <a:r>
              <a:t>Possible signals</a:t>
            </a:r>
          </a:p>
        </p:txBody>
      </p:sp>
      <p:sp>
        <p:nvSpPr>
          <p:cNvPr id="156" name="Shape 156"/>
          <p:cNvSpPr>
            <a:spLocks noGrp="1"/>
          </p:cNvSpPr>
          <p:nvPr>
            <p:ph type="body" idx="1"/>
          </p:nvPr>
        </p:nvSpPr>
        <p:spPr>
          <a:prstGeom prst="rect">
            <a:avLst/>
          </a:prstGeom>
        </p:spPr>
        <p:txBody>
          <a:bodyPr/>
          <a:lstStyle/>
          <a:p>
            <a:r>
              <a:rPr dirty="0"/>
              <a:t>Dot = 2 time units</a:t>
            </a:r>
          </a:p>
          <a:p>
            <a:r>
              <a:rPr dirty="0"/>
              <a:t>Dash = 4 time units</a:t>
            </a:r>
          </a:p>
          <a:p>
            <a:r>
              <a:rPr dirty="0"/>
              <a:t>Dot-space = 5 time units</a:t>
            </a:r>
          </a:p>
          <a:p>
            <a:r>
              <a:rPr dirty="0"/>
              <a:t>Dash-space = 7 time units</a:t>
            </a:r>
          </a:p>
          <a:p>
            <a:r>
              <a:rPr dirty="0"/>
              <a:t>Dot-wordspace = 8 time units</a:t>
            </a:r>
          </a:p>
          <a:p>
            <a:r>
              <a:rPr dirty="0"/>
              <a:t>Dash-wordspace = 10 time units</a:t>
            </a:r>
          </a:p>
        </p:txBody>
      </p:sp>
    </p:spTree>
    <p:extLst>
      <p:ext uri="{BB962C8B-B14F-4D97-AF65-F5344CB8AC3E}">
        <p14:creationId xmlns:p14="http://schemas.microsoft.com/office/powerpoint/2010/main" val="178630562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body" idx="13"/>
          </p:nvPr>
        </p:nvSpPr>
        <p:spPr>
          <a:prstGeom prst="rect">
            <a:avLst/>
          </a:prstGeom>
        </p:spPr>
        <p:txBody>
          <a:bodyPr/>
          <a:lstStyle/>
          <a:p>
            <a:r>
              <a:rPr dirty="0"/>
              <a:t>Total number of signals transmitted in unit time</a:t>
            </a:r>
          </a:p>
        </p:txBody>
      </p:sp>
      <mc:AlternateContent xmlns:mc="http://schemas.openxmlformats.org/markup-compatibility/2006">
        <mc:Choice xmlns:a14="http://schemas.microsoft.com/office/drawing/2010/main" Requires="a14">
          <p:sp>
            <p:nvSpPr>
              <p:cNvPr id="159" name="Shape 159"/>
              <p:cNvSpPr/>
              <p:nvPr/>
            </p:nvSpPr>
            <p:spPr>
              <a:xfrm>
                <a:off x="318784" y="2834006"/>
                <a:ext cx="12367233" cy="65659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j-lt"/>
                    <a:ea typeface="+mj-ea"/>
                    <a:cs typeface="+mj-cs"/>
                    <a:sym typeface="Helvetica"/>
                  </a:defRPr>
                </a:pPr>
                <a:r>
                  <a:rPr lang="en-US" dirty="0" smtClean="0"/>
                  <a:t>Let </a:t>
                </a:r>
                <a14:m>
                  <m:oMath xmlns:m="http://schemas.openxmlformats.org/officeDocument/2006/math">
                    <m:r>
                      <a:rPr lang="en-US" b="1" i="1" smtClean="0">
                        <a:latin typeface="Cambria Math" charset="0"/>
                      </a:rPr>
                      <m:t>𝑵</m:t>
                    </m:r>
                    <m:d>
                      <m:dPr>
                        <m:ctrlPr>
                          <a:rPr lang="en-US" b="1" i="1" smtClean="0">
                            <a:latin typeface="Cambria Math" charset="0"/>
                          </a:rPr>
                        </m:ctrlPr>
                      </m:dPr>
                      <m:e>
                        <m:r>
                          <a:rPr lang="en-US" b="1" i="1" smtClean="0">
                            <a:latin typeface="Cambria Math" charset="0"/>
                          </a:rPr>
                          <m:t>𝒕</m:t>
                        </m:r>
                      </m:e>
                    </m:d>
                  </m:oMath>
                </a14:m>
                <a:r>
                  <a:rPr lang="en-US" dirty="0" smtClean="0"/>
                  <a:t> be </a:t>
                </a:r>
                <a:r>
                  <a:rPr lang="en-US" dirty="0"/>
                  <a:t>the number of signals that can form in time </a:t>
                </a:r>
                <a:r>
                  <a:rPr lang="en-US" b="0" i="1" dirty="0"/>
                  <a:t>t</a:t>
                </a:r>
                <a:endParaRPr b="0" i="1" dirty="0"/>
              </a:p>
            </p:txBody>
          </p:sp>
        </mc:Choice>
        <mc:Fallback>
          <p:sp>
            <p:nvSpPr>
              <p:cNvPr id="159" name="Shape 159"/>
              <p:cNvSpPr>
                <a:spLocks noRot="1" noChangeAspect="1" noMove="1" noResize="1" noEditPoints="1" noAdjustHandles="1" noChangeArrowheads="1" noChangeShapeType="1" noTextEdit="1"/>
              </p:cNvSpPr>
              <p:nvPr/>
            </p:nvSpPr>
            <p:spPr>
              <a:xfrm>
                <a:off x="318784" y="2834006"/>
                <a:ext cx="12367233" cy="656590"/>
              </a:xfrm>
              <a:prstGeom prst="rect">
                <a:avLst/>
              </a:prstGeom>
              <a:blipFill rotWithShape="0">
                <a:blip r:embed="rId3"/>
                <a:stretch>
                  <a:fillRect l="-1380" t="-15741" r="-1331" b="-33333"/>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0" name="Shape 160"/>
              <p:cNvSpPr/>
              <p:nvPr/>
            </p:nvSpPr>
            <p:spPr>
              <a:xfrm>
                <a:off x="329792" y="3989349"/>
                <a:ext cx="12842622" cy="5088573"/>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p>
                <a:pPr algn="l">
                  <a:lnSpc>
                    <a:spcPct val="150000"/>
                  </a:lnSpc>
                  <a:defRPr b="1">
                    <a:latin typeface="+mj-lt"/>
                    <a:ea typeface="+mj-ea"/>
                    <a:cs typeface="+mj-cs"/>
                    <a:sym typeface="Helvetica"/>
                  </a:defRPr>
                </a:pPr>
                <a14:m>
                  <m:oMath xmlns:m="http://schemas.openxmlformats.org/officeDocument/2006/math">
                    <m:r>
                      <a:rPr lang="en-US" b="1" i="1" smtClean="0">
                        <a:latin typeface="Cambria Math" charset="0"/>
                      </a:rPr>
                      <m:t>𝑵</m:t>
                    </m:r>
                    <m:r>
                      <a:rPr lang="en-US" b="1" i="1" smtClean="0">
                        <a:latin typeface="Cambria Math" charset="0"/>
                      </a:rPr>
                      <m:t>(</m:t>
                    </m:r>
                    <m:r>
                      <a:rPr lang="en-US" b="1" i="1" smtClean="0">
                        <a:latin typeface="Cambria Math" charset="0"/>
                      </a:rPr>
                      <m:t>𝒕</m:t>
                    </m:r>
                    <m:r>
                      <a:rPr lang="en-US" b="1" i="1" smtClean="0">
                        <a:latin typeface="Cambria Math" charset="0"/>
                      </a:rPr>
                      <m:t>)</m:t>
                    </m:r>
                  </m:oMath>
                </a14:m>
                <a:r>
                  <a:rPr lang="en-US" dirty="0" smtClean="0"/>
                  <a:t> </a:t>
                </a:r>
                <a:r>
                  <a:rPr lang="en-US" b="0" dirty="0"/>
                  <a:t>=</a:t>
                </a:r>
                <a:r>
                  <a:rPr lang="en-US" dirty="0"/>
                  <a:t> </a:t>
                </a:r>
                <a:r>
                  <a:rPr lang="en-US" dirty="0" smtClean="0"/>
                  <a:t>  number </a:t>
                </a:r>
                <a:r>
                  <a:rPr lang="en-US" dirty="0"/>
                  <a:t>of signals ending in a “dot</a:t>
                </a:r>
                <a:r>
                  <a:rPr lang="en-US" dirty="0" smtClean="0"/>
                  <a:t>”</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“dash</a:t>
                </a:r>
                <a:r>
                  <a:rPr lang="en-US" dirty="0" smtClean="0"/>
                  <a:t>”</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a:t>
                </a:r>
                <a:r>
                  <a:rPr lang="en-US" dirty="0" smtClean="0"/>
                  <a:t>dash-space</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a:t>
                </a:r>
                <a:r>
                  <a:rPr lang="en-US" dirty="0" smtClean="0"/>
                  <a:t>dot-space</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a:t>
                </a:r>
                <a:r>
                  <a:rPr lang="en-US" dirty="0" smtClean="0"/>
                  <a:t>dot-wordspace</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“dash-wordspace”</a:t>
                </a:r>
                <a:endParaRPr dirty="0"/>
              </a:p>
            </p:txBody>
          </p:sp>
        </mc:Choice>
        <mc:Fallback>
          <p:sp>
            <p:nvSpPr>
              <p:cNvPr id="160" name="Shape 160"/>
              <p:cNvSpPr>
                <a:spLocks noRot="1" noChangeAspect="1" noMove="1" noResize="1" noEditPoints="1" noAdjustHandles="1" noChangeArrowheads="1" noChangeShapeType="1" noTextEdit="1"/>
              </p:cNvSpPr>
              <p:nvPr/>
            </p:nvSpPr>
            <p:spPr>
              <a:xfrm>
                <a:off x="329792" y="3989349"/>
                <a:ext cx="12842622" cy="5088573"/>
              </a:xfrm>
              <a:prstGeom prst="rect">
                <a:avLst/>
              </a:prstGeom>
              <a:blipFill rotWithShape="0">
                <a:blip r:embed="rId4"/>
                <a:stretch>
                  <a:fillRect b="-1916"/>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p:spTree>
    <p:extLst>
      <p:ext uri="{BB962C8B-B14F-4D97-AF65-F5344CB8AC3E}">
        <p14:creationId xmlns:p14="http://schemas.microsoft.com/office/powerpoint/2010/main" val="166089669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body" idx="13"/>
          </p:nvPr>
        </p:nvSpPr>
        <p:spPr>
          <a:prstGeom prst="rect">
            <a:avLst/>
          </a:prstGeom>
        </p:spPr>
        <p:txBody>
          <a:bodyPr/>
          <a:lstStyle/>
          <a:p>
            <a:r>
              <a:t>Total number of signals transmitted in unit time</a:t>
            </a:r>
          </a:p>
        </p:txBody>
      </p:sp>
      <mc:AlternateContent xmlns:mc="http://schemas.openxmlformats.org/markup-compatibility/2006">
        <mc:Choice xmlns:a14="http://schemas.microsoft.com/office/drawing/2010/main" Requires="a14">
          <p:sp>
            <p:nvSpPr>
              <p:cNvPr id="160" name="Shape 160"/>
              <p:cNvSpPr/>
              <p:nvPr/>
            </p:nvSpPr>
            <p:spPr>
              <a:xfrm>
                <a:off x="437232" y="2727751"/>
                <a:ext cx="12842622" cy="5088573"/>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p>
                <a:pPr algn="l">
                  <a:lnSpc>
                    <a:spcPct val="150000"/>
                  </a:lnSpc>
                  <a:defRPr b="1">
                    <a:latin typeface="+mj-lt"/>
                    <a:ea typeface="+mj-ea"/>
                    <a:cs typeface="+mj-cs"/>
                    <a:sym typeface="Helvetica"/>
                  </a:defRPr>
                </a:pPr>
                <a14:m>
                  <m:oMath xmlns:m="http://schemas.openxmlformats.org/officeDocument/2006/math">
                    <m:r>
                      <a:rPr lang="en-US" b="1" i="1" smtClean="0">
                        <a:latin typeface="Cambria Math" charset="0"/>
                      </a:rPr>
                      <m:t>𝑵</m:t>
                    </m:r>
                    <m:r>
                      <a:rPr lang="en-US" b="1" i="1" smtClean="0">
                        <a:latin typeface="Cambria Math" charset="0"/>
                      </a:rPr>
                      <m:t>(</m:t>
                    </m:r>
                    <m:r>
                      <a:rPr lang="en-US" b="1" i="1" smtClean="0">
                        <a:latin typeface="Cambria Math" charset="0"/>
                      </a:rPr>
                      <m:t>𝒕</m:t>
                    </m:r>
                    <m:r>
                      <a:rPr lang="en-US" b="1" i="1" smtClean="0">
                        <a:latin typeface="Cambria Math" charset="0"/>
                      </a:rPr>
                      <m:t>)</m:t>
                    </m:r>
                  </m:oMath>
                </a14:m>
                <a:r>
                  <a:rPr lang="en-US" dirty="0" smtClean="0"/>
                  <a:t> </a:t>
                </a:r>
                <a:r>
                  <a:rPr lang="en-US" b="0" dirty="0"/>
                  <a:t>=</a:t>
                </a:r>
                <a:r>
                  <a:rPr lang="en-US" dirty="0"/>
                  <a:t> </a:t>
                </a:r>
                <a:r>
                  <a:rPr lang="en-US" dirty="0" smtClean="0"/>
                  <a:t>  number </a:t>
                </a:r>
                <a:r>
                  <a:rPr lang="en-US" dirty="0"/>
                  <a:t>of signals ending in a “dot</a:t>
                </a:r>
                <a:r>
                  <a:rPr lang="en-US" dirty="0" smtClean="0"/>
                  <a:t>”</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“dash</a:t>
                </a:r>
                <a:r>
                  <a:rPr lang="en-US" dirty="0" smtClean="0"/>
                  <a:t>”</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a:t>
                </a:r>
                <a:r>
                  <a:rPr lang="en-US" dirty="0" smtClean="0"/>
                  <a:t>dash-space</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a:t>
                </a:r>
                <a:r>
                  <a:rPr lang="en-US" dirty="0" smtClean="0"/>
                  <a:t>dot-space</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a:t>
                </a:r>
                <a:r>
                  <a:rPr lang="en-US" dirty="0" smtClean="0"/>
                  <a:t>dot-wordspace</a:t>
                </a:r>
                <a:endParaRPr lang="en-US" dirty="0"/>
              </a:p>
              <a:p>
                <a:pPr marL="1778000" lvl="3" indent="-444500" algn="l">
                  <a:lnSpc>
                    <a:spcPct val="150000"/>
                  </a:lnSpc>
                  <a:buSzPct val="75000"/>
                  <a:buChar char="+"/>
                  <a:defRPr b="1">
                    <a:latin typeface="+mj-lt"/>
                    <a:ea typeface="+mj-ea"/>
                    <a:cs typeface="+mj-cs"/>
                    <a:sym typeface="Helvetica"/>
                  </a:defRPr>
                </a:pPr>
                <a:r>
                  <a:rPr lang="en-US" dirty="0"/>
                  <a:t>number of signals ending in a “dash-wordspace”</a:t>
                </a:r>
                <a:endParaRPr dirty="0"/>
              </a:p>
            </p:txBody>
          </p:sp>
        </mc:Choice>
        <mc:Fallback>
          <p:sp>
            <p:nvSpPr>
              <p:cNvPr id="160" name="Shape 160"/>
              <p:cNvSpPr>
                <a:spLocks noRot="1" noChangeAspect="1" noMove="1" noResize="1" noEditPoints="1" noAdjustHandles="1" noChangeArrowheads="1" noChangeShapeType="1" noTextEdit="1"/>
              </p:cNvSpPr>
              <p:nvPr/>
            </p:nvSpPr>
            <p:spPr>
              <a:xfrm>
                <a:off x="437232" y="2727751"/>
                <a:ext cx="12842622" cy="5088573"/>
              </a:xfrm>
              <a:prstGeom prst="rect">
                <a:avLst/>
              </a:prstGeom>
              <a:blipFill rotWithShape="0">
                <a:blip r:embed="rId3"/>
                <a:stretch>
                  <a:fillRect b="-1916"/>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p:sp>
        <p:nvSpPr>
          <p:cNvPr id="5" name="Shape 162"/>
          <p:cNvSpPr/>
          <p:nvPr/>
        </p:nvSpPr>
        <p:spPr>
          <a:xfrm>
            <a:off x="7332082" y="8907078"/>
            <a:ext cx="4336123" cy="595035"/>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600" b="1">
                <a:solidFill>
                  <a:schemeClr val="accent5"/>
                </a:solidFill>
                <a:latin typeface="+mj-lt"/>
                <a:ea typeface="+mj-ea"/>
                <a:cs typeface="+mj-cs"/>
                <a:sym typeface="Helvetica"/>
              </a:defRPr>
            </a:lvl1pPr>
          </a:lstStyle>
          <a:p>
            <a:r>
              <a:rPr sz="3200" dirty="0">
                <a:solidFill>
                  <a:srgbClr val="C00000"/>
                </a:solidFill>
              </a:rPr>
              <a:t>“Difference equation”</a:t>
            </a:r>
          </a:p>
        </p:txBody>
      </p:sp>
      <mc:AlternateContent xmlns:mc="http://schemas.openxmlformats.org/markup-compatibility/2006">
        <mc:Choice xmlns:a14="http://schemas.microsoft.com/office/drawing/2010/main" Requires="a14">
          <p:sp>
            <p:nvSpPr>
              <p:cNvPr id="6" name="TextBox 5"/>
              <p:cNvSpPr txBox="1"/>
              <p:nvPr/>
            </p:nvSpPr>
            <p:spPr>
              <a:xfrm>
                <a:off x="-1961833" y="8105356"/>
                <a:ext cx="15241687"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−4</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−5</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−7</m:t>
                          </m:r>
                        </m:e>
                      </m:d>
                    </m:oMath>
                  </m:oMathPara>
                </a14:m>
                <a:endParaRPr kumimoji="0" lang="en-US" sz="3600" b="0" i="1" u="none" strike="noStrike" cap="none" spc="0" normalizeH="0" baseline="0" dirty="0" smtClean="0">
                  <a:ln>
                    <a:noFill/>
                  </a:ln>
                  <a:solidFill>
                    <a:srgbClr val="000000"/>
                  </a:solidFill>
                  <a:effectLst/>
                  <a:uFillTx/>
                  <a:latin typeface="Cambria Math" charset="0"/>
                  <a:ea typeface="+mn-ea"/>
                  <a:cs typeface="+mn-cs"/>
                  <a:sym typeface="Helvetica Light"/>
                </a:endParaRPr>
              </a:p>
            </p:txBody>
          </p:sp>
        </mc:Choice>
        <mc:Fallback>
          <p:sp>
            <p:nvSpPr>
              <p:cNvPr id="6" name="TextBox 5"/>
              <p:cNvSpPr txBox="1">
                <a:spLocks noRot="1" noChangeAspect="1" noMove="1" noResize="1" noEditPoints="1" noAdjustHandles="1" noChangeArrowheads="1" noChangeShapeType="1" noTextEdit="1"/>
              </p:cNvSpPr>
              <p:nvPr/>
            </p:nvSpPr>
            <p:spPr>
              <a:xfrm>
                <a:off x="-1961833" y="8105356"/>
                <a:ext cx="15241687" cy="553998"/>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p:cNvSpPr txBox="1"/>
              <p:nvPr/>
            </p:nvSpPr>
            <p:spPr>
              <a:xfrm>
                <a:off x="1813572" y="8907078"/>
                <a:ext cx="5044971"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−8</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−10)</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2" name="TextBox 1"/>
              <p:cNvSpPr txBox="1">
                <a:spLocks noRot="1" noChangeAspect="1" noMove="1" noResize="1" noEditPoints="1" noAdjustHandles="1" noChangeArrowheads="1" noChangeShapeType="1" noTextEdit="1"/>
              </p:cNvSpPr>
              <p:nvPr/>
            </p:nvSpPr>
            <p:spPr>
              <a:xfrm>
                <a:off x="1813572" y="8907078"/>
                <a:ext cx="5044971" cy="553998"/>
              </a:xfrm>
              <a:prstGeom prst="rect">
                <a:avLst/>
              </a:prstGeom>
              <a:blipFill rotWithShape="0">
                <a:blip r:embed="rId5"/>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53685375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p:cNvSpPr>
          <p:nvPr>
            <p:ph type="title"/>
          </p:nvPr>
        </p:nvSpPr>
        <p:spPr>
          <a:xfrm>
            <a:off x="437232" y="444500"/>
            <a:ext cx="12130336" cy="2406446"/>
          </a:xfrm>
          <a:prstGeom prst="rect">
            <a:avLst/>
          </a:prstGeom>
        </p:spPr>
        <p:txBody>
          <a:bodyPr>
            <a:normAutofit/>
          </a:bodyPr>
          <a:lstStyle>
            <a:lvl1pPr defTabSz="560831">
              <a:defRPr sz="5376">
                <a:effectLst>
                  <a:outerShdw blurRad="85344" dist="36576" dir="2700000" rotWithShape="0">
                    <a:srgbClr val="000000">
                      <a:alpha val="30000"/>
                    </a:srgbClr>
                  </a:outerShdw>
                </a:effectLst>
              </a:defRPr>
            </a:lvl1pPr>
          </a:lstStyle>
          <a:p>
            <a:r>
              <a:rPr dirty="0"/>
              <a:t>Aside: </a:t>
            </a:r>
            <a:r>
              <a:rPr lang="en-US" dirty="0" smtClean="0"/>
              <a:t>another</a:t>
            </a:r>
            <a:r>
              <a:rPr dirty="0" smtClean="0"/>
              <a:t> </a:t>
            </a:r>
            <a:r>
              <a:rPr dirty="0"/>
              <a:t>difference </a:t>
            </a:r>
            <a:r>
              <a:rPr dirty="0" smtClean="0"/>
              <a:t>equation</a:t>
            </a:r>
            <a:r>
              <a:rPr lang="en-US" dirty="0" smtClean="0"/>
              <a:t/>
            </a:r>
            <a:br>
              <a:rPr lang="en-US" dirty="0" smtClean="0"/>
            </a:br>
            <a:r>
              <a:rPr lang="en-US" dirty="0" smtClean="0"/>
              <a:t>(Fibonacci sequence)</a:t>
            </a:r>
            <a:endParaRPr dirty="0"/>
          </a:p>
        </p:txBody>
      </p:sp>
      <mc:AlternateContent xmlns:mc="http://schemas.openxmlformats.org/markup-compatibility/2006">
        <mc:Choice xmlns:a14="http://schemas.microsoft.com/office/drawing/2010/main" Requires="a14">
          <p:sp>
            <p:nvSpPr>
              <p:cNvPr id="165" name="Shape 165"/>
              <p:cNvSpPr>
                <a:spLocks noGrp="1"/>
              </p:cNvSpPr>
              <p:nvPr>
                <p:ph type="body" idx="1"/>
              </p:nvPr>
            </p:nvSpPr>
            <p:spPr>
              <a:xfrm>
                <a:off x="838262" y="2342270"/>
                <a:ext cx="8935305" cy="6362176"/>
              </a:xfrm>
              <a:prstGeom prst="rect">
                <a:avLst/>
              </a:prstGeom>
            </p:spPr>
            <p:txBody>
              <a:bodyPr/>
              <a:lstStyle/>
              <a:p>
                <a:r>
                  <a:rPr lang="en-US" dirty="0" smtClean="0"/>
                  <a:t>Sequence of numbers where each is the sum of the previous two</a:t>
                </a:r>
              </a:p>
              <a:p>
                <a:pPr marL="0" indent="0">
                  <a:buNone/>
                </a:pPr>
                <a:endParaRPr lang="en-US" dirty="0" smtClean="0"/>
              </a:p>
              <a:p>
                <a:endParaRPr lang="en-US" dirty="0"/>
              </a:p>
              <a:p>
                <a:r>
                  <a:rPr lang="en-US" dirty="0" smtClean="0"/>
                  <a:t>Let </a:t>
                </a:r>
                <a14:m>
                  <m:oMath xmlns:m="http://schemas.openxmlformats.org/officeDocument/2006/math">
                    <m:r>
                      <a:rPr lang="en-US" b="1" i="1" smtClean="0">
                        <a:latin typeface="Cambria Math" charset="0"/>
                      </a:rPr>
                      <m:t>𝑭</m:t>
                    </m:r>
                    <m:d>
                      <m:dPr>
                        <m:ctrlPr>
                          <a:rPr lang="en-US" b="1" i="1" smtClean="0">
                            <a:latin typeface="Cambria Math" charset="0"/>
                          </a:rPr>
                        </m:ctrlPr>
                      </m:dPr>
                      <m:e>
                        <m:r>
                          <a:rPr lang="en-US" b="1" i="1" smtClean="0">
                            <a:latin typeface="Cambria Math" charset="0"/>
                          </a:rPr>
                          <m:t>𝒏</m:t>
                        </m:r>
                      </m:e>
                    </m:d>
                  </m:oMath>
                </a14:m>
                <a:r>
                  <a:rPr lang="en-US" dirty="0" smtClean="0"/>
                  <a:t> be </a:t>
                </a:r>
                <a:r>
                  <a:rPr lang="en-US" dirty="0"/>
                  <a:t>the </a:t>
                </a:r>
                <a14:m>
                  <m:oMath xmlns:m="http://schemas.openxmlformats.org/officeDocument/2006/math">
                    <m:r>
                      <a:rPr lang="en-US" b="1" i="1" smtClean="0">
                        <a:latin typeface="Cambria Math" charset="0"/>
                      </a:rPr>
                      <m:t>𝒏</m:t>
                    </m:r>
                  </m:oMath>
                </a14:m>
                <a:r>
                  <a:rPr lang="en-US" dirty="0" err="1" smtClean="0"/>
                  <a:t>th</a:t>
                </a:r>
                <a:r>
                  <a:rPr lang="en-US" dirty="0" smtClean="0"/>
                  <a:t> </a:t>
                </a:r>
                <a:r>
                  <a:rPr lang="en-US" dirty="0"/>
                  <a:t>Fibonacci </a:t>
                </a:r>
                <a:r>
                  <a:rPr lang="en-US" dirty="0" smtClean="0"/>
                  <a:t>number</a:t>
                </a:r>
                <a:endParaRPr lang="en-US" dirty="0"/>
              </a:p>
              <a:p>
                <a:pPr marL="0" indent="0">
                  <a:buNone/>
                </a:pPr>
                <a:endParaRPr lang="en-US" dirty="0"/>
              </a:p>
            </p:txBody>
          </p:sp>
        </mc:Choice>
        <mc:Fallback>
          <p:sp>
            <p:nvSpPr>
              <p:cNvPr id="165" name="Shape 165"/>
              <p:cNvSpPr>
                <a:spLocks noGrp="1" noRot="1" noChangeAspect="1" noMove="1" noResize="1" noEditPoints="1" noAdjustHandles="1" noChangeArrowheads="1" noChangeShapeType="1" noTextEdit="1"/>
              </p:cNvSpPr>
              <p:nvPr>
                <p:ph type="body" idx="1"/>
              </p:nvPr>
            </p:nvSpPr>
            <p:spPr>
              <a:xfrm>
                <a:off x="838262" y="2342270"/>
                <a:ext cx="8935305" cy="6362176"/>
              </a:xfrm>
              <a:prstGeom prst="rect">
                <a:avLst/>
              </a:prstGeom>
              <a:blipFill rotWithShape="0">
                <a:blip r:embed="rId2"/>
                <a:stretch>
                  <a:fillRect l="-1775" r="-137"/>
                </a:stretch>
              </a:blipFill>
            </p:spPr>
            <p:txBody>
              <a:bodyPr/>
              <a:lstStyle/>
              <a:p>
                <a:r>
                  <a:rPr lang="en-US">
                    <a:noFill/>
                  </a:rPr>
                  <a:t> </a:t>
                </a:r>
              </a:p>
            </p:txBody>
          </p:sp>
        </mc:Fallback>
      </mc:AlternateContent>
      <p:pic>
        <p:nvPicPr>
          <p:cNvPr id="166" name="pasted-image.png"/>
          <p:cNvPicPr>
            <a:picLocks noChangeAspect="1"/>
          </p:cNvPicPr>
          <p:nvPr/>
        </p:nvPicPr>
        <p:blipFill>
          <a:blip r:embed="rId3">
            <a:extLst/>
          </a:blip>
          <a:stretch>
            <a:fillRect/>
          </a:stretch>
        </p:blipFill>
        <p:spPr>
          <a:xfrm>
            <a:off x="10013106" y="2880717"/>
            <a:ext cx="2794001" cy="3771901"/>
          </a:xfrm>
          <a:prstGeom prst="rect">
            <a:avLst/>
          </a:prstGeom>
          <a:ln w="12700">
            <a:miter lim="400000"/>
          </a:ln>
        </p:spPr>
      </p:pic>
      <p:sp>
        <p:nvSpPr>
          <p:cNvPr id="167" name="Shape 167"/>
          <p:cNvSpPr/>
          <p:nvPr/>
        </p:nvSpPr>
        <p:spPr>
          <a:xfrm>
            <a:off x="10286665" y="6705599"/>
            <a:ext cx="2246884" cy="711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000" b="1">
                <a:latin typeface="+mj-lt"/>
                <a:ea typeface="+mj-ea"/>
                <a:cs typeface="+mj-cs"/>
                <a:sym typeface="Helvetica"/>
              </a:defRPr>
            </a:pPr>
            <a:r>
              <a:t>Fibonacci</a:t>
            </a:r>
          </a:p>
          <a:p>
            <a:pPr>
              <a:defRPr sz="2000" b="1">
                <a:latin typeface="+mj-lt"/>
                <a:ea typeface="+mj-ea"/>
                <a:cs typeface="+mj-cs"/>
                <a:sym typeface="Helvetica"/>
              </a:defRPr>
            </a:pPr>
            <a:r>
              <a:t>(c. 1170 – c. 1250)</a:t>
            </a:r>
          </a:p>
        </p:txBody>
      </p:sp>
      <p:sp>
        <p:nvSpPr>
          <p:cNvPr id="168" name="Shape 168"/>
          <p:cNvSpPr/>
          <p:nvPr/>
        </p:nvSpPr>
        <p:spPr>
          <a:xfrm>
            <a:off x="1929395" y="4818413"/>
            <a:ext cx="6591548" cy="65659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mj-lt"/>
                <a:ea typeface="+mj-ea"/>
                <a:cs typeface="+mj-cs"/>
                <a:sym typeface="Helvetica"/>
              </a:defRPr>
            </a:lvl1pPr>
          </a:lstStyle>
          <a:p>
            <a:r>
              <a:rPr lang="en-US" dirty="0" smtClean="0"/>
              <a:t>0,</a:t>
            </a:r>
            <a:r>
              <a:rPr dirty="0" smtClean="0"/>
              <a:t>1,1,2,3,5,8,13,21,34,55,89</a:t>
            </a:r>
            <a:r>
              <a:rPr dirty="0"/>
              <a:t>,…</a:t>
            </a:r>
          </a:p>
        </p:txBody>
      </p:sp>
      <mc:AlternateContent xmlns:mc="http://schemas.openxmlformats.org/markup-compatibility/2006">
        <mc:Choice xmlns:a14="http://schemas.microsoft.com/office/drawing/2010/main" Requires="a14">
          <p:sp>
            <p:nvSpPr>
              <p:cNvPr id="3" name="Rectangle 2"/>
              <p:cNvSpPr/>
              <p:nvPr/>
            </p:nvSpPr>
            <p:spPr>
              <a:xfrm>
                <a:off x="838262" y="7845003"/>
                <a:ext cx="10718738" cy="646331"/>
              </a:xfrm>
              <a:prstGeom prst="rect">
                <a:avLst/>
              </a:prstGeom>
            </p:spPr>
            <p:txBody>
              <a:bodyPr wrap="square">
                <a:spAutoFit/>
              </a:bodyPr>
              <a:lstStyle/>
              <a:p>
                <a:r>
                  <a:rPr lang="en-US" b="1" dirty="0" smtClean="0">
                    <a:solidFill>
                      <a:srgbClr val="C00000"/>
                    </a:solidFill>
                    <a:cs typeface="+mj-cs"/>
                  </a:rPr>
                  <a:t>Come up with the difference equation for </a:t>
                </a:r>
                <a14:m>
                  <m:oMath xmlns:m="http://schemas.openxmlformats.org/officeDocument/2006/math">
                    <m:r>
                      <a:rPr lang="en-US" b="1" i="1" smtClean="0">
                        <a:solidFill>
                          <a:srgbClr val="C00000"/>
                        </a:solidFill>
                        <a:latin typeface="Cambria Math" charset="0"/>
                        <a:cs typeface="+mj-cs"/>
                      </a:rPr>
                      <m:t>𝑭</m:t>
                    </m:r>
                    <m:d>
                      <m:dPr>
                        <m:ctrlPr>
                          <a:rPr lang="en-US" b="1" i="1" smtClean="0">
                            <a:solidFill>
                              <a:srgbClr val="C00000"/>
                            </a:solidFill>
                            <a:latin typeface="Cambria Math" charset="0"/>
                            <a:cs typeface="+mj-cs"/>
                          </a:rPr>
                        </m:ctrlPr>
                      </m:dPr>
                      <m:e>
                        <m:r>
                          <a:rPr lang="en-US" b="1" i="1" smtClean="0">
                            <a:solidFill>
                              <a:srgbClr val="C00000"/>
                            </a:solidFill>
                            <a:latin typeface="Cambria Math" charset="0"/>
                            <a:cs typeface="+mj-cs"/>
                          </a:rPr>
                          <m:t>𝒏</m:t>
                        </m:r>
                      </m:e>
                    </m:d>
                  </m:oMath>
                </a14:m>
                <a:endParaRPr lang="en-US" b="1" dirty="0">
                  <a:solidFill>
                    <a:srgbClr val="C00000"/>
                  </a:solidFill>
                  <a:cs typeface="+mj-cs"/>
                </a:endParaRPr>
              </a:p>
            </p:txBody>
          </p:sp>
        </mc:Choice>
        <mc:Fallback>
          <p:sp>
            <p:nvSpPr>
              <p:cNvPr id="3" name="Rectangle 2"/>
              <p:cNvSpPr>
                <a:spLocks noRot="1" noChangeAspect="1" noMove="1" noResize="1" noEditPoints="1" noAdjustHandles="1" noChangeArrowheads="1" noChangeShapeType="1" noTextEdit="1"/>
              </p:cNvSpPr>
              <p:nvPr/>
            </p:nvSpPr>
            <p:spPr>
              <a:xfrm>
                <a:off x="838262" y="7845003"/>
                <a:ext cx="10718738" cy="646331"/>
              </a:xfrm>
              <a:prstGeom prst="rect">
                <a:avLst/>
              </a:prstGeom>
              <a:blipFill rotWithShape="0">
                <a:blip r:embed="rId4"/>
                <a:stretch>
                  <a:fillRect t="-15094" b="-34906"/>
                </a:stretch>
              </a:blipFill>
            </p:spPr>
            <p:txBody>
              <a:bodyPr/>
              <a:lstStyle/>
              <a:p>
                <a:r>
                  <a:rPr lang="en-US">
                    <a:noFill/>
                  </a:rPr>
                  <a:t> </a:t>
                </a:r>
              </a:p>
            </p:txBody>
          </p:sp>
        </mc:Fallback>
      </mc:AlternateContent>
    </p:spTree>
    <p:extLst>
      <p:ext uri="{BB962C8B-B14F-4D97-AF65-F5344CB8AC3E}">
        <p14:creationId xmlns:p14="http://schemas.microsoft.com/office/powerpoint/2010/main" val="122317167"/>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p:cNvSpPr>
          <p:nvPr>
            <p:ph type="title"/>
          </p:nvPr>
        </p:nvSpPr>
        <p:spPr>
          <a:xfrm>
            <a:off x="437232" y="444500"/>
            <a:ext cx="12130336" cy="2406446"/>
          </a:xfrm>
          <a:prstGeom prst="rect">
            <a:avLst/>
          </a:prstGeom>
        </p:spPr>
        <p:txBody>
          <a:bodyPr>
            <a:normAutofit/>
          </a:bodyPr>
          <a:lstStyle>
            <a:lvl1pPr defTabSz="560831">
              <a:defRPr sz="5376">
                <a:effectLst>
                  <a:outerShdw blurRad="85344" dist="36576" dir="2700000" rotWithShape="0">
                    <a:srgbClr val="000000">
                      <a:alpha val="30000"/>
                    </a:srgbClr>
                  </a:outerShdw>
                </a:effectLst>
              </a:defRPr>
            </a:lvl1pPr>
          </a:lstStyle>
          <a:p>
            <a:r>
              <a:rPr dirty="0"/>
              <a:t>Aside: </a:t>
            </a:r>
            <a:r>
              <a:rPr lang="en-US" dirty="0" smtClean="0"/>
              <a:t>another</a:t>
            </a:r>
            <a:r>
              <a:rPr dirty="0" smtClean="0"/>
              <a:t> </a:t>
            </a:r>
            <a:r>
              <a:rPr dirty="0"/>
              <a:t>difference </a:t>
            </a:r>
            <a:r>
              <a:rPr dirty="0" smtClean="0"/>
              <a:t>equation</a:t>
            </a:r>
            <a:r>
              <a:rPr lang="en-US" dirty="0" smtClean="0"/>
              <a:t/>
            </a:r>
            <a:br>
              <a:rPr lang="en-US" dirty="0" smtClean="0"/>
            </a:br>
            <a:r>
              <a:rPr lang="en-US" dirty="0"/>
              <a:t>(Fibonacci sequence)</a:t>
            </a:r>
            <a:endParaRPr dirty="0"/>
          </a:p>
        </p:txBody>
      </p:sp>
      <mc:AlternateContent xmlns:mc="http://schemas.openxmlformats.org/markup-compatibility/2006">
        <mc:Choice xmlns:a14="http://schemas.microsoft.com/office/drawing/2010/main" Requires="a14">
          <p:sp>
            <p:nvSpPr>
              <p:cNvPr id="165" name="Shape 165"/>
              <p:cNvSpPr>
                <a:spLocks noGrp="1"/>
              </p:cNvSpPr>
              <p:nvPr>
                <p:ph type="body" idx="1"/>
              </p:nvPr>
            </p:nvSpPr>
            <p:spPr>
              <a:xfrm>
                <a:off x="838262" y="2342270"/>
                <a:ext cx="8935305" cy="6362176"/>
              </a:xfrm>
              <a:prstGeom prst="rect">
                <a:avLst/>
              </a:prstGeom>
            </p:spPr>
            <p:txBody>
              <a:bodyPr/>
              <a:lstStyle/>
              <a:p>
                <a:r>
                  <a:rPr lang="en-US" dirty="0" smtClean="0"/>
                  <a:t>Sequence of numbers where each is the sum of the previous two</a:t>
                </a:r>
              </a:p>
              <a:p>
                <a:pPr marL="0" indent="0">
                  <a:buNone/>
                </a:pPr>
                <a:endParaRPr lang="en-US" dirty="0" smtClean="0"/>
              </a:p>
              <a:p>
                <a:endParaRPr lang="en-US" dirty="0"/>
              </a:p>
              <a:p>
                <a:r>
                  <a:rPr lang="en-US" dirty="0" smtClean="0"/>
                  <a:t>Let </a:t>
                </a:r>
                <a14:m>
                  <m:oMath xmlns:m="http://schemas.openxmlformats.org/officeDocument/2006/math">
                    <m:r>
                      <a:rPr lang="en-US" b="1" i="1" smtClean="0">
                        <a:latin typeface="Cambria Math" charset="0"/>
                      </a:rPr>
                      <m:t>𝑭</m:t>
                    </m:r>
                    <m:d>
                      <m:dPr>
                        <m:ctrlPr>
                          <a:rPr lang="en-US" b="1" i="1" smtClean="0">
                            <a:latin typeface="Cambria Math" charset="0"/>
                          </a:rPr>
                        </m:ctrlPr>
                      </m:dPr>
                      <m:e>
                        <m:r>
                          <a:rPr lang="en-US" b="1" i="1" smtClean="0">
                            <a:latin typeface="Cambria Math" charset="0"/>
                          </a:rPr>
                          <m:t>𝒏</m:t>
                        </m:r>
                      </m:e>
                    </m:d>
                  </m:oMath>
                </a14:m>
                <a:r>
                  <a:rPr lang="en-US" dirty="0" smtClean="0"/>
                  <a:t> be </a:t>
                </a:r>
                <a:r>
                  <a:rPr lang="en-US" dirty="0"/>
                  <a:t>the </a:t>
                </a:r>
                <a14:m>
                  <m:oMath xmlns:m="http://schemas.openxmlformats.org/officeDocument/2006/math">
                    <m:r>
                      <a:rPr lang="en-US" b="1" i="1" smtClean="0">
                        <a:latin typeface="Cambria Math" charset="0"/>
                      </a:rPr>
                      <m:t>𝒏</m:t>
                    </m:r>
                  </m:oMath>
                </a14:m>
                <a:r>
                  <a:rPr lang="en-US" dirty="0" err="1" smtClean="0"/>
                  <a:t>th</a:t>
                </a:r>
                <a:r>
                  <a:rPr lang="en-US" dirty="0" smtClean="0"/>
                  <a:t> </a:t>
                </a:r>
                <a:r>
                  <a:rPr lang="en-US" dirty="0"/>
                  <a:t>Fibonacci </a:t>
                </a:r>
                <a:r>
                  <a:rPr lang="en-US" dirty="0" smtClean="0"/>
                  <a:t>number</a:t>
                </a:r>
                <a:endParaRPr lang="en-US" dirty="0"/>
              </a:p>
              <a:p>
                <a:pPr marL="0" indent="0">
                  <a:buNone/>
                </a:pPr>
                <a:endParaRPr lang="en-US" dirty="0"/>
              </a:p>
            </p:txBody>
          </p:sp>
        </mc:Choice>
        <mc:Fallback>
          <p:sp>
            <p:nvSpPr>
              <p:cNvPr id="165" name="Shape 165"/>
              <p:cNvSpPr>
                <a:spLocks noGrp="1" noRot="1" noChangeAspect="1" noMove="1" noResize="1" noEditPoints="1" noAdjustHandles="1" noChangeArrowheads="1" noChangeShapeType="1" noTextEdit="1"/>
              </p:cNvSpPr>
              <p:nvPr>
                <p:ph type="body" idx="1"/>
              </p:nvPr>
            </p:nvSpPr>
            <p:spPr>
              <a:xfrm>
                <a:off x="838262" y="2342270"/>
                <a:ext cx="8935305" cy="6362176"/>
              </a:xfrm>
              <a:prstGeom prst="rect">
                <a:avLst/>
              </a:prstGeom>
              <a:blipFill rotWithShape="0">
                <a:blip r:embed="rId2"/>
                <a:stretch>
                  <a:fillRect l="-1775" r="-137"/>
                </a:stretch>
              </a:blipFill>
            </p:spPr>
            <p:txBody>
              <a:bodyPr/>
              <a:lstStyle/>
              <a:p>
                <a:r>
                  <a:rPr lang="en-US">
                    <a:noFill/>
                  </a:rPr>
                  <a:t> </a:t>
                </a:r>
              </a:p>
            </p:txBody>
          </p:sp>
        </mc:Fallback>
      </mc:AlternateContent>
      <p:sp>
        <p:nvSpPr>
          <p:cNvPr id="168" name="Shape 168"/>
          <p:cNvSpPr/>
          <p:nvPr/>
        </p:nvSpPr>
        <p:spPr>
          <a:xfrm>
            <a:off x="1929395" y="4818413"/>
            <a:ext cx="6591548" cy="65659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mj-lt"/>
                <a:ea typeface="+mj-ea"/>
                <a:cs typeface="+mj-cs"/>
                <a:sym typeface="Helvetica"/>
              </a:defRPr>
            </a:lvl1pPr>
          </a:lstStyle>
          <a:p>
            <a:r>
              <a:rPr lang="en-US" dirty="0" smtClean="0"/>
              <a:t>0,</a:t>
            </a:r>
            <a:r>
              <a:rPr dirty="0" smtClean="0"/>
              <a:t>1,1,2,3,5,8,13,21,34,55,89</a:t>
            </a:r>
            <a:r>
              <a:rPr dirty="0"/>
              <a:t>,…</a:t>
            </a:r>
          </a:p>
        </p:txBody>
      </p:sp>
      <mc:AlternateContent xmlns:mc="http://schemas.openxmlformats.org/markup-compatibility/2006">
        <mc:Choice xmlns:a14="http://schemas.microsoft.com/office/drawing/2010/main" Requires="a14">
          <p:sp>
            <p:nvSpPr>
              <p:cNvPr id="2" name="TextBox 1"/>
              <p:cNvSpPr txBox="1"/>
              <p:nvPr/>
            </p:nvSpPr>
            <p:spPr>
              <a:xfrm>
                <a:off x="1392763" y="7442470"/>
                <a:ext cx="5104859"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𝐹</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=0,   </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𝐹</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  </m:t>
                      </m:r>
                    </m:oMath>
                  </m:oMathPara>
                </a14:m>
                <a:endParaRPr kumimoji="0" lang="en-US" sz="3600" b="0" i="1" u="none" strike="noStrike" cap="none" spc="0" normalizeH="0" baseline="0" dirty="0" smtClean="0">
                  <a:ln>
                    <a:noFill/>
                  </a:ln>
                  <a:solidFill>
                    <a:srgbClr val="000000"/>
                  </a:solidFill>
                  <a:effectLst/>
                  <a:uFillTx/>
                  <a:latin typeface="Cambria Math" charset="0"/>
                  <a:ea typeface="+mn-ea"/>
                  <a:cs typeface="+mn-cs"/>
                  <a:sym typeface="Helvetica Light"/>
                </a:endParaRPr>
              </a:p>
            </p:txBody>
          </p:sp>
        </mc:Choice>
        <mc:Fallback>
          <p:sp>
            <p:nvSpPr>
              <p:cNvPr id="2" name="TextBox 1"/>
              <p:cNvSpPr txBox="1">
                <a:spLocks noRot="1" noChangeAspect="1" noMove="1" noResize="1" noEditPoints="1" noAdjustHandles="1" noChangeArrowheads="1" noChangeShapeType="1" noTextEdit="1"/>
              </p:cNvSpPr>
              <p:nvPr/>
            </p:nvSpPr>
            <p:spPr>
              <a:xfrm>
                <a:off x="1392763" y="7442470"/>
                <a:ext cx="5104859" cy="553998"/>
              </a:xfrm>
              <a:prstGeom prst="rect">
                <a:avLst/>
              </a:prstGeom>
              <a:blipFill rotWithShape="0">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1354094" y="8504437"/>
                <a:ext cx="7903639"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14:m>
                  <m:oMathPara xmlns:m="http://schemas.openxmlformats.org/officeDocument/2006/math">
                    <m:oMathParaPr>
                      <m:jc m:val="centerGroup"/>
                    </m:oMathParaPr>
                    <m:oMath xmlns:m="http://schemas.openxmlformats.org/officeDocument/2006/math">
                      <m:r>
                        <a:rPr lang="en-US" i="1" smtClean="0">
                          <a:latin typeface="Cambria Math" charset="0"/>
                        </a:rPr>
                        <m:t>𝐹</m:t>
                      </m:r>
                      <m:d>
                        <m:dPr>
                          <m:ctrlPr>
                            <a:rPr lang="en-US" i="1">
                              <a:latin typeface="Cambria Math" charset="0"/>
                            </a:rPr>
                          </m:ctrlPr>
                        </m:dPr>
                        <m:e>
                          <m:r>
                            <a:rPr lang="en-US" i="1">
                              <a:latin typeface="Cambria Math" charset="0"/>
                            </a:rPr>
                            <m:t>𝑛</m:t>
                          </m:r>
                        </m:e>
                      </m:d>
                      <m:r>
                        <a:rPr lang="en-US" b="0" i="1" smtClean="0">
                          <a:latin typeface="Cambria Math" charset="0"/>
                        </a:rPr>
                        <m:t>=</m:t>
                      </m:r>
                      <m:r>
                        <a:rPr lang="en-US" i="1">
                          <a:latin typeface="Cambria Math" charset="0"/>
                        </a:rPr>
                        <m:t>𝐹</m:t>
                      </m:r>
                      <m:d>
                        <m:dPr>
                          <m:ctrlPr>
                            <a:rPr lang="en-US" i="1">
                              <a:latin typeface="Cambria Math" charset="0"/>
                            </a:rPr>
                          </m:ctrlPr>
                        </m:dPr>
                        <m:e>
                          <m:r>
                            <a:rPr lang="en-US" i="1">
                              <a:latin typeface="Cambria Math" charset="0"/>
                            </a:rPr>
                            <m:t>𝑛</m:t>
                          </m:r>
                          <m:r>
                            <a:rPr lang="en-US" i="1">
                              <a:latin typeface="Cambria Math" charset="0"/>
                            </a:rPr>
                            <m:t>−1</m:t>
                          </m:r>
                        </m:e>
                      </m:d>
                      <m:r>
                        <a:rPr lang="en-US" i="1">
                          <a:latin typeface="Cambria Math" charset="0"/>
                        </a:rPr>
                        <m:t>+</m:t>
                      </m:r>
                      <m:r>
                        <a:rPr lang="en-US" i="1">
                          <a:latin typeface="Cambria Math" charset="0"/>
                        </a:rPr>
                        <m:t>𝐹</m:t>
                      </m:r>
                      <m:d>
                        <m:dPr>
                          <m:ctrlPr>
                            <a:rPr lang="en-US" i="1">
                              <a:latin typeface="Cambria Math" charset="0"/>
                            </a:rPr>
                          </m:ctrlPr>
                        </m:dPr>
                        <m:e>
                          <m:r>
                            <a:rPr lang="en-US" i="1">
                              <a:latin typeface="Cambria Math" charset="0"/>
                            </a:rPr>
                            <m:t>𝑛</m:t>
                          </m:r>
                          <m:r>
                            <a:rPr lang="en-US" i="1">
                              <a:latin typeface="Cambria Math" charset="0"/>
                            </a:rPr>
                            <m:t>−2</m:t>
                          </m:r>
                        </m:e>
                      </m:d>
                      <m:r>
                        <a:rPr lang="en-US" i="1">
                          <a:latin typeface="Cambria Math" charset="0"/>
                        </a:rPr>
                        <m:t>,  </m:t>
                      </m:r>
                      <m:r>
                        <a:rPr lang="en-US" i="1">
                          <a:latin typeface="Cambria Math" charset="0"/>
                        </a:rPr>
                        <m:t>𝑛</m:t>
                      </m:r>
                      <m:r>
                        <a:rPr lang="en-US" i="1">
                          <a:latin typeface="Cambria Math" charset="0"/>
                        </a:rPr>
                        <m:t>≥3</m:t>
                      </m:r>
                    </m:oMath>
                  </m:oMathPara>
                </a14:m>
                <a:endParaRPr lang="en-US" dirty="0"/>
              </a:p>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4" name="TextBox 3"/>
              <p:cNvSpPr txBox="1">
                <a:spLocks noRot="1" noChangeAspect="1" noMove="1" noResize="1" noEditPoints="1" noAdjustHandles="1" noChangeArrowheads="1" noChangeShapeType="1" noTextEdit="1"/>
              </p:cNvSpPr>
              <p:nvPr/>
            </p:nvSpPr>
            <p:spPr>
              <a:xfrm>
                <a:off x="1354094" y="8504437"/>
                <a:ext cx="7903639" cy="1107996"/>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725655430"/>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p:cNvSpPr>
          <p:nvPr>
            <p:ph type="title"/>
          </p:nvPr>
        </p:nvSpPr>
        <p:spPr>
          <a:xfrm>
            <a:off x="437232" y="444500"/>
            <a:ext cx="12130336" cy="2406446"/>
          </a:xfrm>
          <a:prstGeom prst="rect">
            <a:avLst/>
          </a:prstGeom>
        </p:spPr>
        <p:txBody>
          <a:bodyPr>
            <a:normAutofit/>
          </a:bodyPr>
          <a:lstStyle>
            <a:lvl1pPr defTabSz="560831">
              <a:defRPr sz="5376">
                <a:effectLst>
                  <a:outerShdw blurRad="85344" dist="36576" dir="2700000" rotWithShape="0">
                    <a:srgbClr val="000000">
                      <a:alpha val="30000"/>
                    </a:srgbClr>
                  </a:outerShdw>
                </a:effectLst>
              </a:defRPr>
            </a:lvl1pPr>
          </a:lstStyle>
          <a:p>
            <a:r>
              <a:rPr dirty="0"/>
              <a:t>Aside: </a:t>
            </a:r>
            <a:r>
              <a:rPr lang="en-US" dirty="0" smtClean="0"/>
              <a:t>another</a:t>
            </a:r>
            <a:r>
              <a:rPr dirty="0" smtClean="0"/>
              <a:t> </a:t>
            </a:r>
            <a:r>
              <a:rPr dirty="0"/>
              <a:t>difference </a:t>
            </a:r>
            <a:r>
              <a:rPr dirty="0" smtClean="0"/>
              <a:t>equation</a:t>
            </a:r>
            <a:r>
              <a:rPr lang="en-US" dirty="0" smtClean="0"/>
              <a:t/>
            </a:r>
            <a:br>
              <a:rPr lang="en-US" dirty="0" smtClean="0"/>
            </a:br>
            <a:r>
              <a:rPr lang="en-US" dirty="0"/>
              <a:t>(Fibonacci sequence)</a:t>
            </a:r>
            <a:endParaRPr dirty="0"/>
          </a:p>
        </p:txBody>
      </p:sp>
      <mc:AlternateContent xmlns:mc="http://schemas.openxmlformats.org/markup-compatibility/2006">
        <mc:Choice xmlns:a14="http://schemas.microsoft.com/office/drawing/2010/main" Requires="a14">
          <p:sp>
            <p:nvSpPr>
              <p:cNvPr id="165" name="Shape 165"/>
              <p:cNvSpPr>
                <a:spLocks noGrp="1"/>
              </p:cNvSpPr>
              <p:nvPr>
                <p:ph type="body" idx="1"/>
              </p:nvPr>
            </p:nvSpPr>
            <p:spPr>
              <a:xfrm>
                <a:off x="863630" y="4019270"/>
                <a:ext cx="12674569" cy="5734330"/>
              </a:xfrm>
              <a:prstGeom prst="rect">
                <a:avLst/>
              </a:prstGeom>
            </p:spPr>
            <p:txBody>
              <a:bodyPr>
                <a:normAutofit/>
              </a:bodyPr>
              <a:lstStyle/>
              <a:p>
                <a:r>
                  <a:rPr lang="en-US" dirty="0" smtClean="0"/>
                  <a:t>How do we solve this equation?</a:t>
                </a:r>
              </a:p>
              <a:p>
                <a:endParaRPr lang="en-US" dirty="0" smtClean="0"/>
              </a:p>
              <a:p>
                <a:endParaRPr lang="en-US" dirty="0"/>
              </a:p>
              <a:p>
                <a:pPr marL="0" indent="0">
                  <a:buNone/>
                </a:pPr>
                <a:endParaRPr lang="en-US" dirty="0" smtClean="0"/>
              </a:p>
              <a:p>
                <a:r>
                  <a:rPr lang="en-US" dirty="0" smtClean="0"/>
                  <a:t>Try </a:t>
                </a:r>
                <a14:m>
                  <m:oMath xmlns:m="http://schemas.openxmlformats.org/officeDocument/2006/math">
                    <m:r>
                      <a:rPr lang="en-US" b="1" i="1" smtClean="0">
                        <a:latin typeface="Cambria Math" charset="0"/>
                      </a:rPr>
                      <m:t>𝑭</m:t>
                    </m:r>
                    <m:d>
                      <m:dPr>
                        <m:ctrlPr>
                          <a:rPr lang="en-US" b="1" i="1" smtClean="0">
                            <a:latin typeface="Cambria Math" charset="0"/>
                          </a:rPr>
                        </m:ctrlPr>
                      </m:dPr>
                      <m:e>
                        <m:r>
                          <a:rPr lang="en-US" b="1" i="1" smtClean="0">
                            <a:latin typeface="Cambria Math" charset="0"/>
                          </a:rPr>
                          <m:t>𝒏</m:t>
                        </m:r>
                      </m:e>
                    </m:d>
                    <m:r>
                      <a:rPr lang="en-US" b="1" i="1" smtClean="0">
                        <a:latin typeface="Cambria Math" charset="0"/>
                      </a:rPr>
                      <m:t>=</m:t>
                    </m:r>
                    <m:sSup>
                      <m:sSupPr>
                        <m:ctrlPr>
                          <a:rPr lang="en-US" b="1" i="1" smtClean="0">
                            <a:latin typeface="Cambria Math" charset="0"/>
                          </a:rPr>
                        </m:ctrlPr>
                      </m:sSupPr>
                      <m:e>
                        <m:r>
                          <a:rPr lang="en-US" b="1" i="1" smtClean="0">
                            <a:latin typeface="Cambria Math" charset="0"/>
                          </a:rPr>
                          <m:t>𝒙</m:t>
                        </m:r>
                      </m:e>
                      <m:sup>
                        <m:r>
                          <a:rPr lang="en-US" b="1" i="1" smtClean="0">
                            <a:latin typeface="Cambria Math" charset="0"/>
                          </a:rPr>
                          <m:t>𝒏</m:t>
                        </m:r>
                      </m:sup>
                    </m:sSup>
                  </m:oMath>
                </a14:m>
                <a:r>
                  <a:rPr lang="en-US" dirty="0" smtClean="0"/>
                  <a:t> for some unknown </a:t>
                </a:r>
                <a14:m>
                  <m:oMath xmlns:m="http://schemas.openxmlformats.org/officeDocument/2006/math">
                    <m:r>
                      <a:rPr lang="en-US" b="1" i="1" smtClean="0">
                        <a:latin typeface="Cambria Math" charset="0"/>
                      </a:rPr>
                      <m:t>𝒙</m:t>
                    </m:r>
                  </m:oMath>
                </a14:m>
                <a:endParaRPr lang="en-US" dirty="0" smtClean="0"/>
              </a:p>
              <a:p>
                <a:pPr marL="0" indent="0">
                  <a:buNone/>
                </a:pPr>
                <a:endParaRPr lang="en-US" dirty="0" smtClean="0"/>
              </a:p>
              <a:p>
                <a:endParaRPr lang="en-US" dirty="0"/>
              </a:p>
              <a:p>
                <a:pPr marL="0" indent="0">
                  <a:buNone/>
                </a:pPr>
                <a:endParaRPr lang="en-US" dirty="0"/>
              </a:p>
            </p:txBody>
          </p:sp>
        </mc:Choice>
        <mc:Fallback>
          <p:sp>
            <p:nvSpPr>
              <p:cNvPr id="165" name="Shape 165"/>
              <p:cNvSpPr>
                <a:spLocks noGrp="1" noRot="1" noChangeAspect="1" noMove="1" noResize="1" noEditPoints="1" noAdjustHandles="1" noChangeArrowheads="1" noChangeShapeType="1" noTextEdit="1"/>
              </p:cNvSpPr>
              <p:nvPr>
                <p:ph type="body" idx="1"/>
              </p:nvPr>
            </p:nvSpPr>
            <p:spPr>
              <a:xfrm>
                <a:off x="863630" y="4019270"/>
                <a:ext cx="12674569" cy="5734330"/>
              </a:xfrm>
              <a:prstGeom prst="rect">
                <a:avLst/>
              </a:prstGeom>
              <a:blipFill rotWithShape="0">
                <a:blip r:embed="rId2"/>
                <a:stretch>
                  <a:fillRect l="-1251" t="-79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p:cNvSpPr txBox="1"/>
              <p:nvPr/>
            </p:nvSpPr>
            <p:spPr>
              <a:xfrm>
                <a:off x="1545163" y="4750070"/>
                <a:ext cx="5104859"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𝐹</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=0,   </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𝐹</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  </m:t>
                      </m:r>
                    </m:oMath>
                  </m:oMathPara>
                </a14:m>
                <a:endParaRPr kumimoji="0" lang="en-US" sz="3600" b="0" i="1" u="none" strike="noStrike" cap="none" spc="0" normalizeH="0" baseline="0" dirty="0" smtClean="0">
                  <a:ln>
                    <a:noFill/>
                  </a:ln>
                  <a:solidFill>
                    <a:srgbClr val="000000"/>
                  </a:solidFill>
                  <a:effectLst/>
                  <a:uFillTx/>
                  <a:latin typeface="Cambria Math" charset="0"/>
                  <a:ea typeface="+mn-ea"/>
                  <a:cs typeface="+mn-cs"/>
                  <a:sym typeface="Helvetica Light"/>
                </a:endParaRPr>
              </a:p>
            </p:txBody>
          </p:sp>
        </mc:Choice>
        <mc:Fallback>
          <p:sp>
            <p:nvSpPr>
              <p:cNvPr id="2" name="TextBox 1"/>
              <p:cNvSpPr txBox="1">
                <a:spLocks noRot="1" noChangeAspect="1" noMove="1" noResize="1" noEditPoints="1" noAdjustHandles="1" noChangeArrowheads="1" noChangeShapeType="1" noTextEdit="1"/>
              </p:cNvSpPr>
              <p:nvPr/>
            </p:nvSpPr>
            <p:spPr>
              <a:xfrm>
                <a:off x="1545163" y="4750070"/>
                <a:ext cx="5104859" cy="553998"/>
              </a:xfrm>
              <a:prstGeom prst="rect">
                <a:avLst/>
              </a:prstGeom>
              <a:blipFill rotWithShape="0">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1506494" y="5812037"/>
                <a:ext cx="7903639" cy="11079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14:m>
                  <m:oMathPara xmlns:m="http://schemas.openxmlformats.org/officeDocument/2006/math">
                    <m:oMathParaPr>
                      <m:jc m:val="centerGroup"/>
                    </m:oMathParaPr>
                    <m:oMath xmlns:m="http://schemas.openxmlformats.org/officeDocument/2006/math">
                      <m:r>
                        <a:rPr lang="en-US" i="1" smtClean="0">
                          <a:latin typeface="Cambria Math" charset="0"/>
                        </a:rPr>
                        <m:t>𝐹</m:t>
                      </m:r>
                      <m:d>
                        <m:dPr>
                          <m:ctrlPr>
                            <a:rPr lang="en-US" i="1">
                              <a:latin typeface="Cambria Math" charset="0"/>
                            </a:rPr>
                          </m:ctrlPr>
                        </m:dPr>
                        <m:e>
                          <m:r>
                            <a:rPr lang="en-US" i="1">
                              <a:latin typeface="Cambria Math" charset="0"/>
                            </a:rPr>
                            <m:t>𝑛</m:t>
                          </m:r>
                        </m:e>
                      </m:d>
                      <m:r>
                        <a:rPr lang="en-US" b="0" i="1" smtClean="0">
                          <a:latin typeface="Cambria Math" charset="0"/>
                        </a:rPr>
                        <m:t>=</m:t>
                      </m:r>
                      <m:r>
                        <a:rPr lang="en-US" i="1">
                          <a:latin typeface="Cambria Math" charset="0"/>
                        </a:rPr>
                        <m:t>𝐹</m:t>
                      </m:r>
                      <m:d>
                        <m:dPr>
                          <m:ctrlPr>
                            <a:rPr lang="en-US" i="1">
                              <a:latin typeface="Cambria Math" charset="0"/>
                            </a:rPr>
                          </m:ctrlPr>
                        </m:dPr>
                        <m:e>
                          <m:r>
                            <a:rPr lang="en-US" i="1">
                              <a:latin typeface="Cambria Math" charset="0"/>
                            </a:rPr>
                            <m:t>𝑛</m:t>
                          </m:r>
                          <m:r>
                            <a:rPr lang="en-US" i="1">
                              <a:latin typeface="Cambria Math" charset="0"/>
                            </a:rPr>
                            <m:t>−1</m:t>
                          </m:r>
                        </m:e>
                      </m:d>
                      <m:r>
                        <a:rPr lang="en-US" i="1">
                          <a:latin typeface="Cambria Math" charset="0"/>
                        </a:rPr>
                        <m:t>+</m:t>
                      </m:r>
                      <m:r>
                        <a:rPr lang="en-US" i="1">
                          <a:latin typeface="Cambria Math" charset="0"/>
                        </a:rPr>
                        <m:t>𝐹</m:t>
                      </m:r>
                      <m:d>
                        <m:dPr>
                          <m:ctrlPr>
                            <a:rPr lang="en-US" i="1">
                              <a:latin typeface="Cambria Math" charset="0"/>
                            </a:rPr>
                          </m:ctrlPr>
                        </m:dPr>
                        <m:e>
                          <m:r>
                            <a:rPr lang="en-US" i="1">
                              <a:latin typeface="Cambria Math" charset="0"/>
                            </a:rPr>
                            <m:t>𝑛</m:t>
                          </m:r>
                          <m:r>
                            <a:rPr lang="en-US" i="1">
                              <a:latin typeface="Cambria Math" charset="0"/>
                            </a:rPr>
                            <m:t>−2</m:t>
                          </m:r>
                        </m:e>
                      </m:d>
                      <m:r>
                        <a:rPr lang="en-US" i="1">
                          <a:latin typeface="Cambria Math" charset="0"/>
                        </a:rPr>
                        <m:t>,  </m:t>
                      </m:r>
                      <m:r>
                        <a:rPr lang="en-US" i="1">
                          <a:latin typeface="Cambria Math" charset="0"/>
                        </a:rPr>
                        <m:t>𝑛</m:t>
                      </m:r>
                      <m:r>
                        <a:rPr lang="en-US" i="1">
                          <a:latin typeface="Cambria Math" charset="0"/>
                        </a:rPr>
                        <m:t>≥3</m:t>
                      </m:r>
                    </m:oMath>
                  </m:oMathPara>
                </a14:m>
                <a:endParaRPr lang="en-US" dirty="0"/>
              </a:p>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4" name="TextBox 3"/>
              <p:cNvSpPr txBox="1">
                <a:spLocks noRot="1" noChangeAspect="1" noMove="1" noResize="1" noEditPoints="1" noAdjustHandles="1" noChangeArrowheads="1" noChangeShapeType="1" noTextEdit="1"/>
              </p:cNvSpPr>
              <p:nvPr/>
            </p:nvSpPr>
            <p:spPr>
              <a:xfrm>
                <a:off x="1506494" y="5812037"/>
                <a:ext cx="7903639" cy="1107996"/>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1773953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3" name="Shape 173"/>
              <p:cNvSpPr>
                <a:spLocks noGrp="1"/>
              </p:cNvSpPr>
              <p:nvPr>
                <p:ph type="body" idx="1"/>
              </p:nvPr>
            </p:nvSpPr>
            <p:spPr>
              <a:xfrm>
                <a:off x="857021" y="3437748"/>
                <a:ext cx="11099801" cy="6315852"/>
              </a:xfrm>
              <a:prstGeom prst="rect">
                <a:avLst/>
              </a:prstGeom>
            </p:spPr>
            <p:txBody>
              <a:bodyPr anchor="t"/>
              <a:lstStyle/>
              <a:p>
                <a:r>
                  <a:rPr lang="en-US" dirty="0" smtClean="0"/>
                  <a:t>Hence </a:t>
                </a:r>
                <a14:m>
                  <m:oMath xmlns:m="http://schemas.openxmlformats.org/officeDocument/2006/math">
                    <m:r>
                      <a:rPr lang="en-US" b="1" i="1" smtClean="0">
                        <a:latin typeface="Cambria Math" charset="0"/>
                      </a:rPr>
                      <m:t>𝒙</m:t>
                    </m:r>
                  </m:oMath>
                </a14:m>
                <a:r>
                  <a:rPr lang="en-US" dirty="0" smtClean="0"/>
                  <a:t> </a:t>
                </a:r>
                <a:r>
                  <a:rPr lang="en-US" dirty="0"/>
                  <a:t>satisfies a quadratic</a:t>
                </a:r>
              </a:p>
              <a:p>
                <a:endParaRPr lang="en-US" dirty="0"/>
              </a:p>
              <a:p>
                <a:r>
                  <a:rPr lang="en-US" dirty="0"/>
                  <a:t>Two </a:t>
                </a:r>
                <a:r>
                  <a:rPr lang="en-US" dirty="0" smtClean="0"/>
                  <a:t>solutions</a:t>
                </a:r>
              </a:p>
              <a:p>
                <a:pPr marL="0" indent="0">
                  <a:buNone/>
                </a:pPr>
                <a:endParaRPr lang="en-US" dirty="0"/>
              </a:p>
              <a:p>
                <a:endParaRPr lang="en-US" dirty="0"/>
              </a:p>
              <a:p>
                <a:r>
                  <a:rPr lang="en-US" dirty="0"/>
                  <a:t>Define </a:t>
                </a:r>
                <a:r>
                  <a:rPr lang="en-US" dirty="0" smtClean="0"/>
                  <a:t>                      (</a:t>
                </a:r>
                <a:r>
                  <a:rPr lang="en-US" dirty="0"/>
                  <a:t>the Golden </a:t>
                </a:r>
                <a:r>
                  <a:rPr lang="en-US" dirty="0" smtClean="0"/>
                  <a:t>ratio), and </a:t>
                </a:r>
                <a:r>
                  <a:rPr lang="en-US" dirty="0"/>
                  <a:t>then</a:t>
                </a:r>
                <a:endParaRPr dirty="0"/>
              </a:p>
            </p:txBody>
          </p:sp>
        </mc:Choice>
        <mc:Fallback>
          <p:sp>
            <p:nvSpPr>
              <p:cNvPr id="173" name="Shape 173"/>
              <p:cNvSpPr>
                <a:spLocks noGrp="1" noRot="1" noChangeAspect="1" noMove="1" noResize="1" noEditPoints="1" noAdjustHandles="1" noChangeArrowheads="1" noChangeShapeType="1" noTextEdit="1"/>
              </p:cNvSpPr>
              <p:nvPr>
                <p:ph type="body" idx="1"/>
              </p:nvPr>
            </p:nvSpPr>
            <p:spPr>
              <a:xfrm>
                <a:off x="857021" y="3437748"/>
                <a:ext cx="11099801" cy="6315852"/>
              </a:xfrm>
              <a:prstGeom prst="rect">
                <a:avLst/>
              </a:prstGeom>
              <a:blipFill rotWithShape="0">
                <a:blip r:embed="rId2"/>
                <a:stretch>
                  <a:fillRect l="-1429" t="-2317"/>
                </a:stretch>
              </a:blipFill>
            </p:spPr>
            <p:txBody>
              <a:bodyPr/>
              <a:lstStyle/>
              <a:p>
                <a:r>
                  <a:rPr lang="en-US">
                    <a:noFill/>
                  </a:rPr>
                  <a:t> </a:t>
                </a:r>
              </a:p>
            </p:txBody>
          </p:sp>
        </mc:Fallback>
      </mc:AlternateContent>
      <p:sp>
        <p:nvSpPr>
          <p:cNvPr id="174" name="Shape 174"/>
          <p:cNvSpPr/>
          <p:nvPr/>
        </p:nvSpPr>
        <p:spPr>
          <a:xfrm>
            <a:off x="437232" y="444500"/>
            <a:ext cx="12130336" cy="16374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defTabSz="560831">
              <a:defRPr sz="5376" b="1">
                <a:solidFill>
                  <a:schemeClr val="accent1">
                    <a:hueOff val="47394"/>
                    <a:satOff val="-25753"/>
                    <a:lumOff val="-7544"/>
                  </a:schemeClr>
                </a:solidFill>
                <a:effectLst>
                  <a:outerShdw blurRad="85344" dist="36576" dir="2700000" rotWithShape="0">
                    <a:srgbClr val="000000">
                      <a:alpha val="30000"/>
                    </a:srgbClr>
                  </a:outerShdw>
                </a:effectLst>
                <a:latin typeface="+mj-lt"/>
                <a:ea typeface="+mj-ea"/>
                <a:cs typeface="+mj-cs"/>
                <a:sym typeface="Helvetica"/>
              </a:defRPr>
            </a:lvl1pPr>
          </a:lstStyle>
          <a:p>
            <a:r>
              <a:t>Aside: Fibonacci difference equation</a:t>
            </a:r>
          </a:p>
        </p:txBody>
      </p:sp>
      <mc:AlternateContent xmlns:mc="http://schemas.openxmlformats.org/markup-compatibility/2006">
        <mc:Choice xmlns:a14="http://schemas.microsoft.com/office/drawing/2010/main" Requires="a14">
          <p:sp>
            <p:nvSpPr>
              <p:cNvPr id="10" name="TextBox 9"/>
              <p:cNvSpPr txBox="1"/>
              <p:nvPr/>
            </p:nvSpPr>
            <p:spPr>
              <a:xfrm>
                <a:off x="1002852" y="2224213"/>
                <a:ext cx="10999100"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14:m>
                  <m:oMathPara xmlns:m="http://schemas.openxmlformats.org/officeDocument/2006/math">
                    <m:oMathParaPr>
                      <m:jc m:val="centerGroup"/>
                    </m:oMathParaPr>
                    <m:oMath xmlns:m="http://schemas.openxmlformats.org/officeDocument/2006/math">
                      <m:r>
                        <a:rPr lang="en-US" i="1" smtClean="0">
                          <a:latin typeface="Cambria Math" charset="0"/>
                        </a:rPr>
                        <m:t>𝐹</m:t>
                      </m:r>
                      <m:d>
                        <m:dPr>
                          <m:ctrlPr>
                            <a:rPr lang="en-US" i="1">
                              <a:latin typeface="Cambria Math" charset="0"/>
                            </a:rPr>
                          </m:ctrlPr>
                        </m:dPr>
                        <m:e>
                          <m:r>
                            <a:rPr lang="en-US" i="1">
                              <a:latin typeface="Cambria Math" charset="0"/>
                            </a:rPr>
                            <m:t>𝑛</m:t>
                          </m:r>
                        </m:e>
                      </m:d>
                      <m:r>
                        <a:rPr lang="en-US" b="0" i="1" smtClean="0">
                          <a:latin typeface="Cambria Math" charset="0"/>
                        </a:rPr>
                        <m:t>=</m:t>
                      </m:r>
                      <m:r>
                        <a:rPr lang="en-US" i="1">
                          <a:latin typeface="Cambria Math" charset="0"/>
                        </a:rPr>
                        <m:t>𝐹</m:t>
                      </m:r>
                      <m:d>
                        <m:dPr>
                          <m:ctrlPr>
                            <a:rPr lang="en-US" i="1">
                              <a:latin typeface="Cambria Math" charset="0"/>
                            </a:rPr>
                          </m:ctrlPr>
                        </m:dPr>
                        <m:e>
                          <m:r>
                            <a:rPr lang="en-US" i="1">
                              <a:latin typeface="Cambria Math" charset="0"/>
                            </a:rPr>
                            <m:t>𝑛</m:t>
                          </m:r>
                          <m:r>
                            <a:rPr lang="en-US" i="1">
                              <a:latin typeface="Cambria Math" charset="0"/>
                            </a:rPr>
                            <m:t>−1</m:t>
                          </m:r>
                        </m:e>
                      </m:d>
                      <m:r>
                        <a:rPr lang="en-US" i="1">
                          <a:latin typeface="Cambria Math" charset="0"/>
                        </a:rPr>
                        <m:t>+</m:t>
                      </m:r>
                      <m:r>
                        <a:rPr lang="en-US" i="1">
                          <a:latin typeface="Cambria Math" charset="0"/>
                        </a:rPr>
                        <m:t>𝐹</m:t>
                      </m:r>
                      <m:d>
                        <m:dPr>
                          <m:ctrlPr>
                            <a:rPr lang="en-US" i="1">
                              <a:latin typeface="Cambria Math" charset="0"/>
                            </a:rPr>
                          </m:ctrlPr>
                        </m:dPr>
                        <m:e>
                          <m:r>
                            <a:rPr lang="en-US" i="1">
                              <a:latin typeface="Cambria Math" charset="0"/>
                            </a:rPr>
                            <m:t>𝑛</m:t>
                          </m:r>
                          <m:r>
                            <a:rPr lang="en-US" i="1">
                              <a:latin typeface="Cambria Math" charset="0"/>
                            </a:rPr>
                            <m:t>−2</m:t>
                          </m:r>
                        </m:e>
                      </m:d>
                      <m:r>
                        <a:rPr lang="en-US" b="0" i="1" smtClean="0">
                          <a:latin typeface="Cambria Math" charset="0"/>
                        </a:rPr>
                        <m:t>     ⇒      </m:t>
                      </m:r>
                      <m:sSup>
                        <m:sSupPr>
                          <m:ctrlPr>
                            <a:rPr lang="en-US" b="0" i="1" smtClean="0">
                              <a:latin typeface="Cambria Math" charset="0"/>
                            </a:rPr>
                          </m:ctrlPr>
                        </m:sSupPr>
                        <m:e>
                          <m:r>
                            <a:rPr lang="en-US" b="0" i="1" smtClean="0">
                              <a:latin typeface="Cambria Math" charset="0"/>
                            </a:rPr>
                            <m:t>𝑥</m:t>
                          </m:r>
                        </m:e>
                        <m:sup>
                          <m:r>
                            <a:rPr lang="en-US" b="0" i="1" smtClean="0">
                              <a:latin typeface="Cambria Math" charset="0"/>
                            </a:rPr>
                            <m:t>𝑛</m:t>
                          </m:r>
                        </m:sup>
                      </m:sSup>
                      <m:r>
                        <a:rPr lang="en-US" b="0" i="1" smtClean="0">
                          <a:latin typeface="Cambria Math" charset="0"/>
                        </a:rPr>
                        <m:t>=</m:t>
                      </m:r>
                      <m:sSup>
                        <m:sSupPr>
                          <m:ctrlPr>
                            <a:rPr lang="en-US" b="0" i="1" smtClean="0">
                              <a:latin typeface="Cambria Math" charset="0"/>
                            </a:rPr>
                          </m:ctrlPr>
                        </m:sSupPr>
                        <m:e>
                          <m:r>
                            <a:rPr lang="en-US" b="0" i="1" smtClean="0">
                              <a:latin typeface="Cambria Math" charset="0"/>
                            </a:rPr>
                            <m:t>𝑥</m:t>
                          </m:r>
                        </m:e>
                        <m:sup>
                          <m:r>
                            <a:rPr lang="en-US" b="0" i="1" smtClean="0">
                              <a:latin typeface="Cambria Math" charset="0"/>
                            </a:rPr>
                            <m:t>𝑛</m:t>
                          </m:r>
                          <m:r>
                            <a:rPr lang="en-US" b="0" i="1" smtClean="0">
                              <a:latin typeface="Cambria Math" charset="0"/>
                            </a:rPr>
                            <m:t>−1</m:t>
                          </m:r>
                        </m:sup>
                      </m:sSup>
                      <m:r>
                        <a:rPr lang="en-US" b="0" i="1" smtClean="0">
                          <a:latin typeface="Cambria Math" charset="0"/>
                        </a:rPr>
                        <m:t>+</m:t>
                      </m:r>
                      <m:sSup>
                        <m:sSupPr>
                          <m:ctrlPr>
                            <a:rPr lang="en-US" b="0" i="1" smtClean="0">
                              <a:latin typeface="Cambria Math" charset="0"/>
                            </a:rPr>
                          </m:ctrlPr>
                        </m:sSupPr>
                        <m:e>
                          <m:r>
                            <a:rPr lang="en-US" b="0" i="1" smtClean="0">
                              <a:latin typeface="Cambria Math" charset="0"/>
                            </a:rPr>
                            <m:t>𝑥</m:t>
                          </m:r>
                        </m:e>
                        <m:sup>
                          <m:r>
                            <a:rPr lang="en-US" b="0" i="1" smtClean="0">
                              <a:latin typeface="Cambria Math" charset="0"/>
                            </a:rPr>
                            <m:t>𝑛</m:t>
                          </m:r>
                          <m:r>
                            <a:rPr lang="en-US" b="0" i="1" smtClean="0">
                              <a:latin typeface="Cambria Math" charset="0"/>
                            </a:rPr>
                            <m:t>−2</m:t>
                          </m:r>
                        </m:sup>
                      </m:sSup>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10" name="TextBox 9"/>
              <p:cNvSpPr txBox="1">
                <a:spLocks noRot="1" noChangeAspect="1" noMove="1" noResize="1" noEditPoints="1" noAdjustHandles="1" noChangeArrowheads="1" noChangeShapeType="1" noTextEdit="1"/>
              </p:cNvSpPr>
              <p:nvPr/>
            </p:nvSpPr>
            <p:spPr>
              <a:xfrm>
                <a:off x="1002852" y="2224213"/>
                <a:ext cx="10999100" cy="553998"/>
              </a:xfrm>
              <a:prstGeom prst="rect">
                <a:avLst/>
              </a:prstGeom>
              <a:blipFill rotWithShape="0">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p:cNvSpPr txBox="1"/>
              <p:nvPr/>
            </p:nvSpPr>
            <p:spPr>
              <a:xfrm>
                <a:off x="4910265" y="4332253"/>
                <a:ext cx="3184270"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−1=0</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2" name="TextBox 1"/>
              <p:cNvSpPr txBox="1">
                <a:spLocks noRot="1" noChangeAspect="1" noMove="1" noResize="1" noEditPoints="1" noAdjustHandles="1" noChangeArrowheads="1" noChangeShapeType="1" noTextEdit="1"/>
              </p:cNvSpPr>
              <p:nvPr/>
            </p:nvSpPr>
            <p:spPr>
              <a:xfrm>
                <a:off x="4910265" y="4332253"/>
                <a:ext cx="3184270" cy="553998"/>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p:cNvSpPr txBox="1"/>
              <p:nvPr/>
            </p:nvSpPr>
            <p:spPr>
              <a:xfrm>
                <a:off x="4375211" y="5705247"/>
                <a:ext cx="4063420" cy="11674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f>
                        <m:fPr>
                          <m:ctrlPr>
                            <a:rPr kumimoji="0" lang="mr-IN" sz="3600" b="0" i="1" u="none" strike="noStrike" cap="none" spc="0" normalizeH="0" baseline="0" smtClean="0">
                              <a:ln>
                                <a:noFill/>
                              </a:ln>
                              <a:solidFill>
                                <a:srgbClr val="000000"/>
                              </a:solidFill>
                              <a:effectLst/>
                              <a:uFillTx/>
                              <a:latin typeface="Cambria Math" charset="0"/>
                              <a:ea typeface="+mn-ea"/>
                              <a:cs typeface="+mn-cs"/>
                              <a:sym typeface="Helvetica Light"/>
                            </a:rPr>
                          </m:ctrlPr>
                        </m:fPr>
                        <m:num>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rad>
                            <m:radPr>
                              <m:degHide m:val="on"/>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radPr>
                            <m:deg/>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5</m:t>
                              </m:r>
                            </m:e>
                          </m:rad>
                        </m:num>
                        <m:den>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den>
                      </m:f>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f>
                        <m:fPr>
                          <m:ctrlPr>
                            <a:rPr kumimoji="0" lang="mr-IN" sz="3600" b="0" i="1" u="none" strike="noStrike" cap="none" spc="0" normalizeH="0" baseline="0" smtClean="0">
                              <a:ln>
                                <a:noFill/>
                              </a:ln>
                              <a:solidFill>
                                <a:srgbClr val="000000"/>
                              </a:solidFill>
                              <a:effectLst/>
                              <a:uFillTx/>
                              <a:latin typeface="Cambria Math" charset="0"/>
                              <a:ea typeface="+mn-ea"/>
                              <a:cs typeface="+mn-cs"/>
                              <a:sym typeface="Helvetica Light"/>
                            </a:rPr>
                          </m:ctrlPr>
                        </m:fPr>
                        <m:num>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1 −</m:t>
                          </m:r>
                          <m:rad>
                            <m:radPr>
                              <m:degHide m:val="on"/>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radPr>
                            <m:deg/>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5</m:t>
                              </m:r>
                            </m:e>
                          </m:rad>
                        </m:num>
                        <m:den>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den>
                      </m:f>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3" name="TextBox 2"/>
              <p:cNvSpPr txBox="1">
                <a:spLocks noRot="1" noChangeAspect="1" noMove="1" noResize="1" noEditPoints="1" noAdjustHandles="1" noChangeArrowheads="1" noChangeShapeType="1" noTextEdit="1"/>
              </p:cNvSpPr>
              <p:nvPr/>
            </p:nvSpPr>
            <p:spPr>
              <a:xfrm>
                <a:off x="4375211" y="5705247"/>
                <a:ext cx="4063420" cy="1167499"/>
              </a:xfrm>
              <a:prstGeom prst="rect">
                <a:avLst/>
              </a:prstGeom>
              <a:blipFill rotWithShape="0">
                <a:blip r:embed="rId5"/>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2735211" y="7123133"/>
                <a:ext cx="2703561" cy="12598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b="0" i="1" smtClean="0">
                          <a:latin typeface="Cambria Math" charset="0"/>
                        </a:rPr>
                        <m:t>𝜙</m:t>
                      </m:r>
                      <m:r>
                        <a:rPr lang="en-US" i="1">
                          <a:latin typeface="Cambria Math" charset="0"/>
                        </a:rPr>
                        <m:t>=</m:t>
                      </m:r>
                      <m:f>
                        <m:fPr>
                          <m:ctrlPr>
                            <a:rPr lang="mr-IN" i="1">
                              <a:latin typeface="Cambria Math" charset="0"/>
                            </a:rPr>
                          </m:ctrlPr>
                        </m:fPr>
                        <m:num>
                          <m:r>
                            <a:rPr lang="en-US" i="1">
                              <a:latin typeface="Cambria Math" charset="0"/>
                            </a:rPr>
                            <m:t>1+</m:t>
                          </m:r>
                          <m:rad>
                            <m:radPr>
                              <m:degHide m:val="on"/>
                              <m:ctrlPr>
                                <a:rPr lang="en-US" i="1">
                                  <a:latin typeface="Cambria Math" charset="0"/>
                                </a:rPr>
                              </m:ctrlPr>
                            </m:radPr>
                            <m:deg/>
                            <m:e>
                              <m:r>
                                <a:rPr lang="en-US" i="1">
                                  <a:latin typeface="Cambria Math" charset="0"/>
                                </a:rPr>
                                <m:t>5</m:t>
                              </m:r>
                            </m:e>
                          </m:rad>
                        </m:num>
                        <m:den>
                          <m:r>
                            <a:rPr lang="en-US" i="1">
                              <a:latin typeface="Cambria Math" charset="0"/>
                            </a:rPr>
                            <m:t>2</m:t>
                          </m:r>
                        </m:den>
                      </m:f>
                    </m:oMath>
                  </m:oMathPara>
                </a14:m>
                <a:endParaRPr lang="en-US" dirty="0"/>
              </a:p>
            </p:txBody>
          </p:sp>
        </mc:Choice>
        <mc:Fallback>
          <p:sp>
            <p:nvSpPr>
              <p:cNvPr id="4" name="Rectangle 3"/>
              <p:cNvSpPr>
                <a:spLocks noRot="1" noChangeAspect="1" noMove="1" noResize="1" noEditPoints="1" noAdjustHandles="1" noChangeArrowheads="1" noChangeShapeType="1" noTextEdit="1"/>
              </p:cNvSpPr>
              <p:nvPr/>
            </p:nvSpPr>
            <p:spPr>
              <a:xfrm>
                <a:off x="2735211" y="7123133"/>
                <a:ext cx="2703561" cy="12598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4394558" y="8633352"/>
                <a:ext cx="2625270"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sup>
                      </m:sSup>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14" name="TextBox 13"/>
              <p:cNvSpPr txBox="1">
                <a:spLocks noRot="1" noChangeAspect="1" noMove="1" noResize="1" noEditPoints="1" noAdjustHandles="1" noChangeArrowheads="1" noChangeShapeType="1" noTextEdit="1"/>
              </p:cNvSpPr>
              <p:nvPr/>
            </p:nvSpPr>
            <p:spPr>
              <a:xfrm>
                <a:off x="4394558" y="8633352"/>
                <a:ext cx="2625270" cy="553998"/>
              </a:xfrm>
              <a:prstGeom prst="rect">
                <a:avLst/>
              </a:prstGeom>
              <a:blipFill rotWithShape="0">
                <a:blip r:embed="rId7"/>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1809581306"/>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1" name="Shape 181"/>
              <p:cNvSpPr>
                <a:spLocks noGrp="1"/>
              </p:cNvSpPr>
              <p:nvPr>
                <p:ph type="body" idx="1"/>
              </p:nvPr>
            </p:nvSpPr>
            <p:spPr>
              <a:xfrm>
                <a:off x="952500" y="2772370"/>
                <a:ext cx="11869068" cy="6270030"/>
              </a:xfrm>
              <a:prstGeom prst="rect">
                <a:avLst/>
              </a:prstGeom>
            </p:spPr>
            <p:txBody>
              <a:bodyPr anchor="t"/>
              <a:lstStyle/>
              <a:p>
                <a:r>
                  <a:rPr lang="en-US" dirty="0" smtClean="0"/>
                  <a:t>General solution will be a "linear combination"</a:t>
                </a:r>
                <a:endParaRPr lang="en-US" dirty="0"/>
              </a:p>
              <a:p>
                <a:pPr marL="0" indent="0">
                  <a:buNone/>
                </a:pPr>
                <a:endParaRPr lang="en-US" dirty="0"/>
              </a:p>
              <a:p>
                <a:endParaRPr lang="en-US" dirty="0"/>
              </a:p>
              <a:p>
                <a:r>
                  <a:rPr lang="en-US" dirty="0"/>
                  <a:t>At large </a:t>
                </a:r>
                <a14:m>
                  <m:oMath xmlns:m="http://schemas.openxmlformats.org/officeDocument/2006/math">
                    <m:r>
                      <a:rPr lang="en-US" b="1" i="1" smtClean="0">
                        <a:latin typeface="Cambria Math" charset="0"/>
                      </a:rPr>
                      <m:t>𝒏</m:t>
                    </m:r>
                  </m:oMath>
                </a14:m>
                <a:r>
                  <a:rPr lang="en-US" dirty="0" smtClean="0"/>
                  <a:t>,</a:t>
                </a:r>
                <a:endParaRPr dirty="0"/>
              </a:p>
            </p:txBody>
          </p:sp>
        </mc:Choice>
        <mc:Fallback>
          <p:sp>
            <p:nvSpPr>
              <p:cNvPr id="181" name="Shape 181"/>
              <p:cNvSpPr>
                <a:spLocks noGrp="1" noRot="1" noChangeAspect="1" noMove="1" noResize="1" noEditPoints="1" noAdjustHandles="1" noChangeArrowheads="1" noChangeShapeType="1" noTextEdit="1"/>
              </p:cNvSpPr>
              <p:nvPr>
                <p:ph type="body" idx="1"/>
              </p:nvPr>
            </p:nvSpPr>
            <p:spPr>
              <a:xfrm>
                <a:off x="952500" y="2772370"/>
                <a:ext cx="11869068" cy="6270030"/>
              </a:xfrm>
              <a:prstGeom prst="rect">
                <a:avLst/>
              </a:prstGeom>
              <a:blipFill rotWithShape="0">
                <a:blip r:embed="rId2"/>
                <a:stretch>
                  <a:fillRect l="-1284" t="-2335"/>
                </a:stretch>
              </a:blipFill>
            </p:spPr>
            <p:txBody>
              <a:bodyPr/>
              <a:lstStyle/>
              <a:p>
                <a:r>
                  <a:rPr lang="en-US">
                    <a:noFill/>
                  </a:rPr>
                  <a:t> </a:t>
                </a:r>
              </a:p>
            </p:txBody>
          </p:sp>
        </mc:Fallback>
      </mc:AlternateContent>
      <p:sp>
        <p:nvSpPr>
          <p:cNvPr id="182" name="Shape 182"/>
          <p:cNvSpPr/>
          <p:nvPr/>
        </p:nvSpPr>
        <p:spPr>
          <a:xfrm>
            <a:off x="691232" y="698500"/>
            <a:ext cx="12130336" cy="16374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defTabSz="560831">
              <a:defRPr sz="5376" b="1">
                <a:solidFill>
                  <a:schemeClr val="accent1">
                    <a:hueOff val="47394"/>
                    <a:satOff val="-25753"/>
                    <a:lumOff val="-7544"/>
                  </a:schemeClr>
                </a:solidFill>
                <a:effectLst>
                  <a:outerShdw blurRad="85344" dist="36576" dir="2700000" rotWithShape="0">
                    <a:srgbClr val="000000">
                      <a:alpha val="30000"/>
                    </a:srgbClr>
                  </a:outerShdw>
                </a:effectLst>
                <a:latin typeface="+mj-lt"/>
                <a:ea typeface="+mj-ea"/>
                <a:cs typeface="+mj-cs"/>
                <a:sym typeface="Helvetica"/>
              </a:defRPr>
            </a:lvl1pPr>
          </a:lstStyle>
          <a:p>
            <a:r>
              <a:t>Aside: Fibonacci difference equation</a:t>
            </a:r>
          </a:p>
        </p:txBody>
      </p:sp>
      <mc:AlternateContent xmlns:mc="http://schemas.openxmlformats.org/markup-compatibility/2006">
        <mc:Choice xmlns:a14="http://schemas.microsoft.com/office/drawing/2010/main" Requires="a14">
          <p:sp>
            <p:nvSpPr>
              <p:cNvPr id="7" name="TextBox 6"/>
              <p:cNvSpPr txBox="1"/>
              <p:nvPr/>
            </p:nvSpPr>
            <p:spPr>
              <a:xfrm>
                <a:off x="1651637" y="3484538"/>
                <a:ext cx="8701870"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𝐹</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𝐴</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𝐵</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sup>
                            </m:sSup>
                          </m:e>
                        </m:d>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𝐴</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𝐶</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sup>
                    </m:sSup>
                  </m:oMath>
                </a14:m>
                <a:r>
                  <a:rPr kumimoji="0" lang="en-US" sz="3600" b="0" i="0" u="none" strike="noStrike" cap="none" spc="0" normalizeH="0" baseline="0" dirty="0" smtClean="0">
                    <a:ln>
                      <a:noFill/>
                    </a:ln>
                    <a:solidFill>
                      <a:srgbClr val="000000"/>
                    </a:solidFill>
                    <a:effectLst/>
                    <a:uFillTx/>
                    <a:latin typeface="+mn-lt"/>
                    <a:ea typeface="+mn-ea"/>
                    <a:cs typeface="+mn-cs"/>
                    <a:sym typeface="Helvetica Light"/>
                  </a:rPr>
                  <a:t>  </a:t>
                </a: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7" name="TextBox 6"/>
              <p:cNvSpPr txBox="1">
                <a:spLocks noRot="1" noChangeAspect="1" noMove="1" noResize="1" noEditPoints="1" noAdjustHandles="1" noChangeArrowheads="1" noChangeShapeType="1" noTextEdit="1"/>
              </p:cNvSpPr>
              <p:nvPr/>
            </p:nvSpPr>
            <p:spPr>
              <a:xfrm>
                <a:off x="1651637" y="3484538"/>
                <a:ext cx="8701870" cy="553998"/>
              </a:xfrm>
              <a:prstGeom prst="rect">
                <a:avLst/>
              </a:prstGeom>
              <a:blipFill rotWithShape="0">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3211425" y="6263469"/>
                <a:ext cx="4241546"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𝐹</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𝑎</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𝜙</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𝑎</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𝑛</m:t>
                        </m:r>
                      </m:sup>
                    </m:sSup>
                  </m:oMath>
                </a14:m>
                <a:r>
                  <a:rPr kumimoji="0" lang="en-US" sz="3600" b="0" i="0" u="none" strike="noStrike" cap="none" spc="0" normalizeH="0" baseline="0" dirty="0" smtClean="0">
                    <a:ln>
                      <a:noFill/>
                    </a:ln>
                    <a:solidFill>
                      <a:srgbClr val="000000"/>
                    </a:solidFill>
                    <a:effectLst/>
                    <a:uFillTx/>
                    <a:latin typeface="+mn-lt"/>
                    <a:ea typeface="+mn-ea"/>
                    <a:cs typeface="+mn-cs"/>
                    <a:sym typeface="Helvetica Light"/>
                  </a:rPr>
                  <a:t>  </a:t>
                </a: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9" name="TextBox 8"/>
              <p:cNvSpPr txBox="1">
                <a:spLocks noRot="1" noChangeAspect="1" noMove="1" noResize="1" noEditPoints="1" noAdjustHandles="1" noChangeArrowheads="1" noChangeShapeType="1" noTextEdit="1"/>
              </p:cNvSpPr>
              <p:nvPr/>
            </p:nvSpPr>
            <p:spPr>
              <a:xfrm>
                <a:off x="3211425" y="6263469"/>
                <a:ext cx="4241546" cy="553998"/>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88220433"/>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hape 187"/>
          <p:cNvSpPr>
            <a:spLocks noGrp="1"/>
          </p:cNvSpPr>
          <p:nvPr>
            <p:ph type="title"/>
          </p:nvPr>
        </p:nvSpPr>
        <p:spPr>
          <a:prstGeom prst="rect">
            <a:avLst/>
          </a:prstGeom>
        </p:spPr>
        <p:txBody>
          <a:bodyPr/>
          <a:lstStyle/>
          <a:p>
            <a:r>
              <a:t>Returning to the problem</a:t>
            </a:r>
          </a:p>
        </p:txBody>
      </p:sp>
      <mc:AlternateContent xmlns:mc="http://schemas.openxmlformats.org/markup-compatibility/2006">
        <mc:Choice xmlns:a14="http://schemas.microsoft.com/office/drawing/2010/main" Requires="a14">
          <p:sp>
            <p:nvSpPr>
              <p:cNvPr id="188" name="Shape 188"/>
              <p:cNvSpPr>
                <a:spLocks noGrp="1"/>
              </p:cNvSpPr>
              <p:nvPr>
                <p:ph type="body" idx="1"/>
              </p:nvPr>
            </p:nvSpPr>
            <p:spPr>
              <a:xfrm>
                <a:off x="721843" y="3975468"/>
                <a:ext cx="11099800" cy="5689650"/>
              </a:xfrm>
              <a:prstGeom prst="rect">
                <a:avLst/>
              </a:prstGeom>
            </p:spPr>
            <p:txBody>
              <a:bodyPr anchor="t"/>
              <a:lstStyle/>
              <a:p>
                <a:r>
                  <a:rPr lang="en-US" dirty="0" smtClean="0"/>
                  <a:t>Try solution of the </a:t>
                </a:r>
                <a:r>
                  <a:rPr lang="en-US" dirty="0"/>
                  <a:t>form </a:t>
                </a:r>
                <a14:m>
                  <m:oMath xmlns:m="http://schemas.openxmlformats.org/officeDocument/2006/math">
                    <m:r>
                      <a:rPr lang="en-US" b="1" i="1" smtClean="0">
                        <a:latin typeface="Cambria Math" charset="0"/>
                      </a:rPr>
                      <m:t>𝑵</m:t>
                    </m:r>
                    <m:d>
                      <m:dPr>
                        <m:ctrlPr>
                          <a:rPr lang="en-US" b="1" i="1" smtClean="0">
                            <a:latin typeface="Cambria Math" charset="0"/>
                          </a:rPr>
                        </m:ctrlPr>
                      </m:dPr>
                      <m:e>
                        <m:r>
                          <a:rPr lang="en-US" b="1" i="1" smtClean="0">
                            <a:latin typeface="Cambria Math" charset="0"/>
                          </a:rPr>
                          <m:t>𝒕</m:t>
                        </m:r>
                      </m:e>
                    </m:d>
                    <m:r>
                      <a:rPr lang="en-US" b="1" i="1" smtClean="0">
                        <a:latin typeface="Cambria Math" charset="0"/>
                      </a:rPr>
                      <m:t>=</m:t>
                    </m:r>
                    <m:sSup>
                      <m:sSupPr>
                        <m:ctrlPr>
                          <a:rPr lang="en-US" b="1" i="1" smtClean="0">
                            <a:latin typeface="Cambria Math" charset="0"/>
                          </a:rPr>
                        </m:ctrlPr>
                      </m:sSupPr>
                      <m:e>
                        <m:r>
                          <a:rPr lang="en-US" b="1" i="1" smtClean="0">
                            <a:latin typeface="Cambria Math" charset="0"/>
                          </a:rPr>
                          <m:t>𝒙</m:t>
                        </m:r>
                      </m:e>
                      <m:sup>
                        <m:r>
                          <a:rPr lang="en-US" b="1" i="1" smtClean="0">
                            <a:latin typeface="Cambria Math" charset="0"/>
                          </a:rPr>
                          <m:t>𝒕</m:t>
                        </m:r>
                      </m:sup>
                    </m:sSup>
                  </m:oMath>
                </a14:m>
                <a:endParaRPr lang="en-US" b="1" dirty="0" smtClean="0"/>
              </a:p>
              <a:p>
                <a:endParaRPr lang="en-US" b="0" i="1" baseline="31999" dirty="0"/>
              </a:p>
              <a:p>
                <a:r>
                  <a:rPr lang="en-US" dirty="0"/>
                  <a:t>Writing </a:t>
                </a:r>
                <a14:m>
                  <m:oMath xmlns:m="http://schemas.openxmlformats.org/officeDocument/2006/math">
                    <m:r>
                      <a:rPr lang="en-US" b="1" i="1" smtClean="0">
                        <a:latin typeface="Cambria Math" charset="0"/>
                      </a:rPr>
                      <m:t>𝒙</m:t>
                    </m:r>
                    <m:r>
                      <a:rPr lang="en-US" b="1" i="1" smtClean="0">
                        <a:latin typeface="Cambria Math" charset="0"/>
                      </a:rPr>
                      <m:t>= </m:t>
                    </m:r>
                    <m:f>
                      <m:fPr>
                        <m:ctrlPr>
                          <a:rPr lang="mr-IN" b="1" i="1" smtClean="0">
                            <a:latin typeface="Cambria Math" charset="0"/>
                          </a:rPr>
                        </m:ctrlPr>
                      </m:fPr>
                      <m:num>
                        <m:r>
                          <a:rPr lang="en-US" b="1" i="1" smtClean="0">
                            <a:latin typeface="Cambria Math" charset="0"/>
                          </a:rPr>
                          <m:t>𝟏</m:t>
                        </m:r>
                      </m:num>
                      <m:den>
                        <m:r>
                          <a:rPr lang="en-US" b="1" i="1" smtClean="0">
                            <a:latin typeface="Cambria Math" charset="0"/>
                          </a:rPr>
                          <m:t>𝝁</m:t>
                        </m:r>
                      </m:den>
                    </m:f>
                  </m:oMath>
                </a14:m>
                <a:r>
                  <a:rPr lang="en-US" dirty="0" smtClean="0"/>
                  <a:t>  gives</a:t>
                </a:r>
                <a:endParaRPr lang="en-US" dirty="0"/>
              </a:p>
              <a:p>
                <a:endParaRPr lang="en-US" dirty="0"/>
              </a:p>
              <a:p>
                <a:r>
                  <a:rPr lang="en-US" dirty="0"/>
                  <a:t>Largest value of </a:t>
                </a:r>
                <a14:m>
                  <m:oMath xmlns:m="http://schemas.openxmlformats.org/officeDocument/2006/math">
                    <m:r>
                      <a:rPr lang="en-US" b="1" i="1" smtClean="0">
                        <a:latin typeface="Cambria Math" charset="0"/>
                      </a:rPr>
                      <m:t>𝒙</m:t>
                    </m:r>
                  </m:oMath>
                </a14:m>
                <a:r>
                  <a:rPr lang="en-US" dirty="0" smtClean="0"/>
                  <a:t> </a:t>
                </a:r>
                <a:r>
                  <a:rPr lang="en-US" dirty="0"/>
                  <a:t>and smallest value of </a:t>
                </a:r>
                <a14:m>
                  <m:oMath xmlns:m="http://schemas.openxmlformats.org/officeDocument/2006/math">
                    <m:r>
                      <a:rPr lang="en-US" b="1" i="1" smtClean="0">
                        <a:latin typeface="Cambria Math" charset="0"/>
                      </a:rPr>
                      <m:t>𝝁</m:t>
                    </m:r>
                  </m:oMath>
                </a14:m>
                <a:endParaRPr dirty="0"/>
              </a:p>
            </p:txBody>
          </p:sp>
        </mc:Choice>
        <mc:Fallback>
          <p:sp>
            <p:nvSpPr>
              <p:cNvPr id="188" name="Shape 188"/>
              <p:cNvSpPr>
                <a:spLocks noGrp="1" noRot="1" noChangeAspect="1" noMove="1" noResize="1" noEditPoints="1" noAdjustHandles="1" noChangeArrowheads="1" noChangeShapeType="1" noTextEdit="1"/>
              </p:cNvSpPr>
              <p:nvPr>
                <p:ph type="body" idx="1"/>
              </p:nvPr>
            </p:nvSpPr>
            <p:spPr>
              <a:xfrm>
                <a:off x="721843" y="3975468"/>
                <a:ext cx="11099800" cy="5689650"/>
              </a:xfrm>
              <a:prstGeom prst="rect">
                <a:avLst/>
              </a:prstGeom>
              <a:blipFill rotWithShape="0">
                <a:blip r:embed="rId2"/>
                <a:stretch>
                  <a:fillRect l="-1373" t="-257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p:cNvSpPr txBox="1"/>
              <p:nvPr/>
            </p:nvSpPr>
            <p:spPr>
              <a:xfrm>
                <a:off x="-1565288" y="2134160"/>
                <a:ext cx="15241687"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−4</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−5</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−7</m:t>
                          </m:r>
                        </m:e>
                      </m:d>
                    </m:oMath>
                  </m:oMathPara>
                </a14:m>
                <a:endParaRPr kumimoji="0" lang="en-US" sz="3600" b="0" i="1" u="none" strike="noStrike" cap="none" spc="0" normalizeH="0" baseline="0" dirty="0" smtClean="0">
                  <a:ln>
                    <a:noFill/>
                  </a:ln>
                  <a:solidFill>
                    <a:srgbClr val="000000"/>
                  </a:solidFill>
                  <a:effectLst/>
                  <a:uFillTx/>
                  <a:latin typeface="Cambria Math" charset="0"/>
                  <a:ea typeface="+mn-ea"/>
                  <a:cs typeface="+mn-cs"/>
                  <a:sym typeface="Helvetica Light"/>
                </a:endParaRPr>
              </a:p>
            </p:txBody>
          </p:sp>
        </mc:Choice>
        <mc:Fallback>
          <p:sp>
            <p:nvSpPr>
              <p:cNvPr id="11" name="TextBox 10"/>
              <p:cNvSpPr txBox="1">
                <a:spLocks noRot="1" noChangeAspect="1" noMove="1" noResize="1" noEditPoints="1" noAdjustHandles="1" noChangeArrowheads="1" noChangeShapeType="1" noTextEdit="1"/>
              </p:cNvSpPr>
              <p:nvPr/>
            </p:nvSpPr>
            <p:spPr>
              <a:xfrm>
                <a:off x="-1565288" y="2134160"/>
                <a:ext cx="15241687" cy="553998"/>
              </a:xfrm>
              <a:prstGeom prst="rect">
                <a:avLst/>
              </a:prstGeom>
              <a:blipFill rotWithShape="0">
                <a:blip r:embed="rId3"/>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2210117" y="2935882"/>
                <a:ext cx="5044971"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−8</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−10)</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12" name="TextBox 11"/>
              <p:cNvSpPr txBox="1">
                <a:spLocks noRot="1" noChangeAspect="1" noMove="1" noResize="1" noEditPoints="1" noAdjustHandles="1" noChangeArrowheads="1" noChangeShapeType="1" noTextEdit="1"/>
              </p:cNvSpPr>
              <p:nvPr/>
            </p:nvSpPr>
            <p:spPr>
              <a:xfrm>
                <a:off x="2210117" y="2935882"/>
                <a:ext cx="5044971" cy="553998"/>
              </a:xfrm>
              <a:prstGeom prst="rect">
                <a:avLst/>
              </a:prstGeom>
              <a:blipFill rotWithShape="0">
                <a:blip r:embed="rId4"/>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p:cNvSpPr txBox="1"/>
              <p:nvPr/>
            </p:nvSpPr>
            <p:spPr>
              <a:xfrm>
                <a:off x="2241053" y="4612202"/>
                <a:ext cx="7031732"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−4</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−7</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−8</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−10</m:t>
                          </m:r>
                        </m:sup>
                      </m:sSup>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3" name="TextBox 2"/>
              <p:cNvSpPr txBox="1">
                <a:spLocks noRot="1" noChangeAspect="1" noMove="1" noResize="1" noEditPoints="1" noAdjustHandles="1" noChangeArrowheads="1" noChangeShapeType="1" noTextEdit="1"/>
              </p:cNvSpPr>
              <p:nvPr/>
            </p:nvSpPr>
            <p:spPr>
              <a:xfrm>
                <a:off x="2241053" y="4612202"/>
                <a:ext cx="7031732" cy="553998"/>
              </a:xfrm>
              <a:prstGeom prst="rect">
                <a:avLst/>
              </a:prstGeom>
              <a:blipFill rotWithShape="0">
                <a:blip r:embed="rId5"/>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2210117" y="6470472"/>
                <a:ext cx="9122882" cy="11143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0=</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𝑓</m:t>
                      </m:r>
                      <m:d>
                        <m:d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d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d>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10</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8</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7</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5</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4</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p>
                      </m:s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m:t>
                      </m:r>
                    </m:oMath>
                  </m:oMathPara>
                </a14:m>
                <a:endParaRPr kumimoji="0" lang="en-US" sz="3600" b="0" i="0" u="none" strike="noStrike" cap="none" spc="0" normalizeH="0" baseline="0" dirty="0" smtClean="0">
                  <a:ln>
                    <a:noFill/>
                  </a:ln>
                  <a:solidFill>
                    <a:srgbClr val="000000"/>
                  </a:solidFill>
                  <a:effectLst/>
                  <a:uFillTx/>
                  <a:latin typeface="+mn-lt"/>
                  <a:ea typeface="+mn-ea"/>
                  <a:cs typeface="+mn-cs"/>
                  <a:sym typeface="Helvetica Light"/>
                </a:endParaRPr>
              </a:p>
              <a:p>
                <a:pPr marL="0" marR="0" indent="0" algn="ctr" defTabSz="5842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4" name="TextBox 3"/>
              <p:cNvSpPr txBox="1">
                <a:spLocks noRot="1" noChangeAspect="1" noMove="1" noResize="1" noEditPoints="1" noAdjustHandles="1" noChangeArrowheads="1" noChangeShapeType="1" noTextEdit="1"/>
              </p:cNvSpPr>
              <p:nvPr/>
            </p:nvSpPr>
            <p:spPr>
              <a:xfrm>
                <a:off x="2210117" y="6470472"/>
                <a:ext cx="9122882" cy="1114344"/>
              </a:xfrm>
              <a:prstGeom prst="rect">
                <a:avLst/>
              </a:prstGeom>
              <a:blipFill rotWithShape="0">
                <a:blip r:embed="rId6"/>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p:cNvSpPr txBox="1"/>
              <p:nvPr/>
            </p:nvSpPr>
            <p:spPr>
              <a:xfrm>
                <a:off x="2241053" y="8263136"/>
                <a:ext cx="5197641"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≈1.453,   </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𝜇</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=0.688</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5" name="TextBox 4"/>
              <p:cNvSpPr txBox="1">
                <a:spLocks noRot="1" noChangeAspect="1" noMove="1" noResize="1" noEditPoints="1" noAdjustHandles="1" noChangeArrowheads="1" noChangeShapeType="1" noTextEdit="1"/>
              </p:cNvSpPr>
              <p:nvPr/>
            </p:nvSpPr>
            <p:spPr>
              <a:xfrm>
                <a:off x="2241053" y="8263136"/>
                <a:ext cx="5197641" cy="553998"/>
              </a:xfrm>
              <a:prstGeom prst="rect">
                <a:avLst/>
              </a:prstGeom>
              <a:blipFill rotWithShape="0">
                <a:blip r:embed="rId7"/>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957101001"/>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hape 85"/>
          <p:cNvSpPr>
            <a:spLocks noGrp="1"/>
          </p:cNvSpPr>
          <p:nvPr>
            <p:ph type="title"/>
          </p:nvPr>
        </p:nvSpPr>
        <p:spPr>
          <a:prstGeom prst="rect">
            <a:avLst/>
          </a:prstGeom>
        </p:spPr>
        <p:txBody>
          <a:bodyPr/>
          <a:lstStyle/>
          <a:p>
            <a:r>
              <a:rPr lang="en-US" dirty="0" smtClean="0"/>
              <a:t>Express rate in </a:t>
            </a:r>
            <a:r>
              <a:rPr lang="en-US" dirty="0"/>
              <a:t>b</a:t>
            </a:r>
            <a:r>
              <a:rPr dirty="0" smtClean="0"/>
              <a:t>inary</a:t>
            </a:r>
            <a:endParaRPr dirty="0"/>
          </a:p>
        </p:txBody>
      </p:sp>
      <p:sp>
        <p:nvSpPr>
          <p:cNvPr id="86" name="Shape 86"/>
          <p:cNvSpPr>
            <a:spLocks noGrp="1"/>
          </p:cNvSpPr>
          <p:nvPr>
            <p:ph type="body" sz="half" idx="1"/>
          </p:nvPr>
        </p:nvSpPr>
        <p:spPr>
          <a:xfrm>
            <a:off x="952500" y="4452143"/>
            <a:ext cx="11319223" cy="4437857"/>
          </a:xfrm>
          <a:prstGeom prst="rect">
            <a:avLst/>
          </a:prstGeom>
        </p:spPr>
        <p:txBody>
          <a:bodyPr/>
          <a:lstStyle/>
          <a:p>
            <a:r>
              <a:t>Paper also chooses to specifically measure information in terms of binary digits</a:t>
            </a:r>
          </a:p>
          <a:p>
            <a:r>
              <a:t>First use of the word “bit”, which is now ubiquitous (</a:t>
            </a:r>
            <a:r>
              <a:rPr i="1"/>
              <a:t>e.g.</a:t>
            </a:r>
            <a:r>
              <a:t> smartphone download speeds quoted in Mbit/s, </a:t>
            </a:r>
            <a:r>
              <a:rPr i="1"/>
              <a:t>etc.</a:t>
            </a:r>
            <a:r>
              <a:t>)</a:t>
            </a:r>
          </a:p>
          <a:p>
            <a:r>
              <a:t>Binary is highly practical for digital electronic circuitry</a:t>
            </a:r>
          </a:p>
        </p:txBody>
      </p:sp>
      <p:grpSp>
        <p:nvGrpSpPr>
          <p:cNvPr id="92" name="Group 92"/>
          <p:cNvGrpSpPr/>
          <p:nvPr/>
        </p:nvGrpSpPr>
        <p:grpSpPr>
          <a:xfrm>
            <a:off x="789529" y="2324100"/>
            <a:ext cx="11425742" cy="1714764"/>
            <a:chOff x="0" y="0"/>
            <a:chExt cx="11425741" cy="1714763"/>
          </a:xfrm>
        </p:grpSpPr>
        <p:pic>
          <p:nvPicPr>
            <p:cNvPr id="87" name="image21.jpg" descr="tradition.jpg"/>
            <p:cNvPicPr>
              <a:picLocks noChangeAspect="1"/>
            </p:cNvPicPr>
            <p:nvPr/>
          </p:nvPicPr>
          <p:blipFill>
            <a:blip r:embed="rId2">
              <a:extLst/>
            </a:blip>
            <a:stretch>
              <a:fillRect/>
            </a:stretch>
          </p:blipFill>
          <p:spPr>
            <a:xfrm>
              <a:off x="0" y="0"/>
              <a:ext cx="11425742" cy="1714764"/>
            </a:xfrm>
            <a:prstGeom prst="rect">
              <a:avLst/>
            </a:prstGeom>
            <a:ln w="12700" cap="flat">
              <a:noFill/>
              <a:miter lim="400000"/>
            </a:ln>
            <a:effectLst/>
          </p:spPr>
        </p:pic>
        <p:sp>
          <p:nvSpPr>
            <p:cNvPr id="88" name="Shape 88"/>
            <p:cNvSpPr/>
            <p:nvPr/>
          </p:nvSpPr>
          <p:spPr>
            <a:xfrm>
              <a:off x="162451" y="342952"/>
              <a:ext cx="11154990"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89" name="Shape 89"/>
            <p:cNvSpPr/>
            <p:nvPr/>
          </p:nvSpPr>
          <p:spPr>
            <a:xfrm>
              <a:off x="10478248" y="36100"/>
              <a:ext cx="839194"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90" name="Shape 90"/>
            <p:cNvSpPr/>
            <p:nvPr/>
          </p:nvSpPr>
          <p:spPr>
            <a:xfrm>
              <a:off x="162451" y="703955"/>
              <a:ext cx="1480113"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91" name="Shape 91"/>
            <p:cNvSpPr/>
            <p:nvPr/>
          </p:nvSpPr>
          <p:spPr>
            <a:xfrm>
              <a:off x="6425851" y="1245459"/>
              <a:ext cx="631756" cy="469305"/>
            </a:xfrm>
            <a:prstGeom prst="rect">
              <a:avLst/>
            </a:prstGeom>
            <a:solidFill>
              <a:srgbClr val="FFFFFF"/>
            </a:solidFill>
            <a:ln w="9525" cap="flat">
              <a:solidFill>
                <a:srgbClr val="FFFFFF"/>
              </a:solidFill>
              <a:prstDash val="solid"/>
              <a:round/>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Tree>
    <p:extLst>
      <p:ext uri="{BB962C8B-B14F-4D97-AF65-F5344CB8AC3E}">
        <p14:creationId xmlns:p14="http://schemas.microsoft.com/office/powerpoint/2010/main" val="1948369054"/>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hape 85"/>
          <p:cNvSpPr>
            <a:spLocks noGrp="1"/>
          </p:cNvSpPr>
          <p:nvPr>
            <p:ph type="title"/>
          </p:nvPr>
        </p:nvSpPr>
        <p:spPr>
          <a:prstGeom prst="rect">
            <a:avLst/>
          </a:prstGeom>
        </p:spPr>
        <p:txBody>
          <a:bodyPr/>
          <a:lstStyle/>
          <a:p>
            <a:r>
              <a:rPr lang="en-US" dirty="0" smtClean="0"/>
              <a:t>Can you count in binary?</a:t>
            </a:r>
            <a:endParaRPr dirty="0"/>
          </a:p>
        </p:txBody>
      </p:sp>
    </p:spTree>
    <p:extLst>
      <p:ext uri="{BB962C8B-B14F-4D97-AF65-F5344CB8AC3E}">
        <p14:creationId xmlns:p14="http://schemas.microsoft.com/office/powerpoint/2010/main" val="971881190"/>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480901" y="2980829"/>
            <a:ext cx="11433387" cy="1715911"/>
            <a:chOff x="444500" y="3810000"/>
            <a:chExt cx="8039100" cy="1206500"/>
          </a:xfrm>
        </p:grpSpPr>
        <p:pic>
          <p:nvPicPr>
            <p:cNvPr id="4" name="Picture 3" descr="traditio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500" y="3810000"/>
              <a:ext cx="8039100" cy="1206500"/>
            </a:xfrm>
            <a:prstGeom prst="rect">
              <a:avLst/>
            </a:prstGeom>
          </p:spPr>
        </p:pic>
        <p:sp>
          <p:nvSpPr>
            <p:cNvPr id="5" name="Rectangle 4"/>
            <p:cNvSpPr/>
            <p:nvPr/>
          </p:nvSpPr>
          <p:spPr>
            <a:xfrm>
              <a:off x="558800" y="4051300"/>
              <a:ext cx="7848600" cy="254000"/>
            </a:xfrm>
            <a:prstGeom prst="rect">
              <a:avLst/>
            </a:prstGeom>
            <a:solidFill>
              <a:srgbClr val="FFFF00">
                <a:alpha val="2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6" name="Rectangle 5"/>
            <p:cNvSpPr/>
            <p:nvPr/>
          </p:nvSpPr>
          <p:spPr>
            <a:xfrm>
              <a:off x="7816948" y="3835400"/>
              <a:ext cx="590452" cy="254000"/>
            </a:xfrm>
            <a:prstGeom prst="rect">
              <a:avLst/>
            </a:prstGeom>
            <a:solidFill>
              <a:srgbClr val="FFFF00">
                <a:alpha val="2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7" name="Rectangle 6"/>
            <p:cNvSpPr/>
            <p:nvPr/>
          </p:nvSpPr>
          <p:spPr>
            <a:xfrm>
              <a:off x="558800" y="4305300"/>
              <a:ext cx="1041400" cy="254000"/>
            </a:xfrm>
            <a:prstGeom prst="rect">
              <a:avLst/>
            </a:prstGeom>
            <a:solidFill>
              <a:srgbClr val="FFFF00">
                <a:alpha val="2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8" name="Rectangle 7"/>
            <p:cNvSpPr/>
            <p:nvPr/>
          </p:nvSpPr>
          <p:spPr>
            <a:xfrm>
              <a:off x="4965700" y="4686300"/>
              <a:ext cx="444500" cy="3302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grpSp>
      <p:pic>
        <p:nvPicPr>
          <p:cNvPr id="10" name="Picture 9"/>
          <p:cNvPicPr>
            <a:picLocks noChangeAspect="1"/>
          </p:cNvPicPr>
          <p:nvPr/>
        </p:nvPicPr>
        <p:blipFill>
          <a:blip r:embed="rId3"/>
          <a:stretch>
            <a:fillRect/>
          </a:stretch>
        </p:blipFill>
        <p:spPr>
          <a:xfrm>
            <a:off x="480901" y="4818692"/>
            <a:ext cx="4519600" cy="1216816"/>
          </a:xfrm>
          <a:prstGeom prst="rect">
            <a:avLst/>
          </a:prstGeom>
        </p:spPr>
      </p:pic>
      <p:sp>
        <p:nvSpPr>
          <p:cNvPr id="14" name="TextBox 13"/>
          <p:cNvSpPr txBox="1"/>
          <p:nvPr/>
        </p:nvSpPr>
        <p:spPr>
          <a:xfrm>
            <a:off x="5460675" y="8551373"/>
            <a:ext cx="1986441" cy="617541"/>
          </a:xfrm>
          <a:prstGeom prst="rect">
            <a:avLst/>
          </a:prstGeom>
          <a:noFill/>
        </p:spPr>
        <p:txBody>
          <a:bodyPr wrap="none" rtlCol="0">
            <a:spAutoFit/>
          </a:bodyPr>
          <a:lstStyle/>
          <a:p>
            <a:r>
              <a:rPr lang="en-US" sz="3413" b="1" dirty="0"/>
              <a:t>bits/time</a:t>
            </a:r>
          </a:p>
        </p:txBody>
      </p:sp>
      <p:sp>
        <p:nvSpPr>
          <p:cNvPr id="15" name="TextBox 14"/>
          <p:cNvSpPr txBox="1"/>
          <p:nvPr/>
        </p:nvSpPr>
        <p:spPr>
          <a:xfrm>
            <a:off x="617639" y="7791776"/>
            <a:ext cx="6609502" cy="617541"/>
          </a:xfrm>
          <a:prstGeom prst="rect">
            <a:avLst/>
          </a:prstGeom>
          <a:noFill/>
        </p:spPr>
        <p:txBody>
          <a:bodyPr wrap="none" rtlCol="0">
            <a:spAutoFit/>
          </a:bodyPr>
          <a:lstStyle/>
          <a:p>
            <a:r>
              <a:rPr lang="en-US" sz="3413" b="1" dirty="0"/>
              <a:t>I</a:t>
            </a:r>
            <a:r>
              <a:rPr lang="en-US" sz="3413" b="1" dirty="0" smtClean="0"/>
              <a:t>nformation </a:t>
            </a:r>
            <a:r>
              <a:rPr lang="en-US" sz="3413" b="1" dirty="0"/>
              <a:t>rate of </a:t>
            </a:r>
            <a:r>
              <a:rPr lang="en-US" sz="3413" b="1" dirty="0" smtClean="0"/>
              <a:t>Morse </a:t>
            </a:r>
            <a:r>
              <a:rPr lang="en-US" sz="3413" b="1" dirty="0" smtClean="0"/>
              <a:t>code</a:t>
            </a:r>
            <a:endParaRPr lang="en-US" sz="3413" b="1" dirty="0"/>
          </a:p>
        </p:txBody>
      </p:sp>
      <p:sp>
        <p:nvSpPr>
          <p:cNvPr id="16" name="TextBox 15"/>
          <p:cNvSpPr txBox="1"/>
          <p:nvPr/>
        </p:nvSpPr>
        <p:spPr>
          <a:xfrm>
            <a:off x="6911052" y="6044745"/>
            <a:ext cx="5370381" cy="1142749"/>
          </a:xfrm>
          <a:prstGeom prst="rect">
            <a:avLst/>
          </a:prstGeom>
          <a:noFill/>
        </p:spPr>
        <p:txBody>
          <a:bodyPr wrap="none" rtlCol="0">
            <a:spAutoFit/>
          </a:bodyPr>
          <a:lstStyle/>
          <a:p>
            <a:pPr algn="l"/>
            <a:r>
              <a:rPr lang="en-US" sz="3413" b="1" dirty="0"/>
              <a:t>channel capacity</a:t>
            </a:r>
          </a:p>
          <a:p>
            <a:pPr algn="l"/>
            <a:r>
              <a:rPr lang="en-US" sz="3413" b="1" dirty="0"/>
              <a:t>(</a:t>
            </a:r>
            <a:r>
              <a:rPr lang="en-US" sz="3413" b="1" dirty="0" smtClean="0"/>
              <a:t>max </a:t>
            </a:r>
            <a:r>
              <a:rPr lang="en-US" sz="3413" b="1" dirty="0"/>
              <a:t>transmission rate) </a:t>
            </a:r>
          </a:p>
        </p:txBody>
      </p:sp>
      <mc:AlternateContent xmlns:mc="http://schemas.openxmlformats.org/markup-compatibility/2006">
        <mc:Choice xmlns:a14="http://schemas.microsoft.com/office/drawing/2010/main" Requires="a14">
          <p:sp>
            <p:nvSpPr>
              <p:cNvPr id="18" name="Shape 159"/>
              <p:cNvSpPr/>
              <p:nvPr/>
            </p:nvSpPr>
            <p:spPr>
              <a:xfrm>
                <a:off x="480901" y="1499182"/>
                <a:ext cx="11405430" cy="65659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j-lt"/>
                    <a:ea typeface="+mj-ea"/>
                    <a:cs typeface="+mj-cs"/>
                    <a:sym typeface="Helvetica"/>
                  </a:defRPr>
                </a:pPr>
                <a14:m>
                  <m:oMath xmlns:m="http://schemas.openxmlformats.org/officeDocument/2006/math">
                    <m:r>
                      <a:rPr lang="en-US" b="1" i="1" smtClean="0">
                        <a:latin typeface="Cambria Math" charset="0"/>
                      </a:rPr>
                      <m:t>𝑵</m:t>
                    </m:r>
                    <m:d>
                      <m:dPr>
                        <m:ctrlPr>
                          <a:rPr lang="en-US" b="1" i="1" smtClean="0">
                            <a:latin typeface="Cambria Math" charset="0"/>
                          </a:rPr>
                        </m:ctrlPr>
                      </m:dPr>
                      <m:e>
                        <m:r>
                          <a:rPr lang="en-US" b="1" i="1" smtClean="0">
                            <a:latin typeface="Cambria Math" charset="0"/>
                          </a:rPr>
                          <m:t>𝒕</m:t>
                        </m:r>
                      </m:e>
                    </m:d>
                  </m:oMath>
                </a14:m>
                <a:r>
                  <a:rPr lang="en-US" dirty="0" smtClean="0"/>
                  <a:t> =  </a:t>
                </a:r>
                <a:r>
                  <a:rPr lang="en-US" dirty="0"/>
                  <a:t>the number of signals that can form in time </a:t>
                </a:r>
                <a:r>
                  <a:rPr lang="en-US" b="0" i="1" dirty="0"/>
                  <a:t>t</a:t>
                </a:r>
                <a:endParaRPr b="0" i="1" dirty="0"/>
              </a:p>
            </p:txBody>
          </p:sp>
        </mc:Choice>
        <mc:Fallback>
          <p:sp>
            <p:nvSpPr>
              <p:cNvPr id="18" name="Shape 159"/>
              <p:cNvSpPr>
                <a:spLocks noRot="1" noChangeAspect="1" noMove="1" noResize="1" noEditPoints="1" noAdjustHandles="1" noChangeArrowheads="1" noChangeShapeType="1" noTextEdit="1"/>
              </p:cNvSpPr>
              <p:nvPr/>
            </p:nvSpPr>
            <p:spPr>
              <a:xfrm>
                <a:off x="480901" y="1499182"/>
                <a:ext cx="11405430" cy="656590"/>
              </a:xfrm>
              <a:prstGeom prst="rect">
                <a:avLst/>
              </a:prstGeom>
              <a:blipFill rotWithShape="0">
                <a:blip r:embed="rId4"/>
                <a:stretch>
                  <a:fillRect t="-15741" r="-1497" b="-33333"/>
                </a:stretch>
              </a:blipFill>
              <a:ln w="12700">
                <a:miter lim="400000"/>
              </a:ln>
              <a:extLst>
                <a:ext uri="{C572A759-6A51-4108-AA02-DFA0A04FC94B}">
                  <ma14:wrappingTextBoxFlag xmlns:ma14="http://schemas.microsoft.com/office/mac/drawingml/2011/main" val="1"/>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p:cNvSpPr txBox="1"/>
              <p:nvPr/>
            </p:nvSpPr>
            <p:spPr>
              <a:xfrm>
                <a:off x="782845" y="8554329"/>
                <a:ext cx="4786310"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𝐶</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sSub>
                        <m:sSub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bPr>
                        <m:e>
                          <m:r>
                            <m:rPr>
                              <m:sty m:val="p"/>
                            </m:rPr>
                            <a:rPr kumimoji="0" lang="en-US" sz="3600" b="0" i="0" u="none" strike="noStrike" cap="none" spc="0" normalizeH="0" baseline="0" smtClean="0">
                              <a:ln>
                                <a:noFill/>
                              </a:ln>
                              <a:solidFill>
                                <a:srgbClr val="000000"/>
                              </a:solidFill>
                              <a:effectLst/>
                              <a:uFillTx/>
                              <a:latin typeface="Cambria Math" charset="0"/>
                              <a:ea typeface="+mn-ea"/>
                              <a:cs typeface="+mn-cs"/>
                              <a:sym typeface="Helvetica Light"/>
                            </a:rPr>
                            <m:t>log</m:t>
                          </m:r>
                        </m:e>
                        <m:sub>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b>
                      </m:sSub>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1.453=0.539</m:t>
                      </m:r>
                    </m:oMath>
                  </m:oMathPara>
                </a14:m>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2" name="TextBox 1"/>
              <p:cNvSpPr txBox="1">
                <a:spLocks noRot="1" noChangeAspect="1" noMove="1" noResize="1" noEditPoints="1" noAdjustHandles="1" noChangeArrowheads="1" noChangeShapeType="1" noTextEdit="1"/>
              </p:cNvSpPr>
              <p:nvPr/>
            </p:nvSpPr>
            <p:spPr>
              <a:xfrm>
                <a:off x="782845" y="8554329"/>
                <a:ext cx="4786310" cy="553998"/>
              </a:xfrm>
              <a:prstGeom prst="rect">
                <a:avLst/>
              </a:prstGeom>
              <a:blipFill rotWithShape="0">
                <a:blip r:embed="rId5"/>
                <a:stretch>
                  <a:fillRect/>
                </a:stretch>
              </a:blipFill>
              <a:ln w="12700" cap="flat">
                <a:noFill/>
                <a:miter lim="400000"/>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643461" y="6180520"/>
                <a:ext cx="6584046" cy="8712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14:m>
                  <m:oMath xmlns:m="http://schemas.openxmlformats.org/officeDocument/2006/math">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𝐶</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f>
                      <m:fPr>
                        <m:ctrlPr>
                          <a:rPr kumimoji="0" lang="mr-IN" sz="3600" b="0" i="1" u="none" strike="noStrike" cap="none" spc="0" normalizeH="0" baseline="0" smtClean="0">
                            <a:ln>
                              <a:noFill/>
                            </a:ln>
                            <a:solidFill>
                              <a:srgbClr val="000000"/>
                            </a:solidFill>
                            <a:effectLst/>
                            <a:uFillTx/>
                            <a:latin typeface="Cambria Math" charset="0"/>
                            <a:ea typeface="+mn-ea"/>
                            <a:cs typeface="+mn-cs"/>
                            <a:sym typeface="Helvetica Light"/>
                          </a:rPr>
                        </m:ctrlPr>
                      </m:fPr>
                      <m:num>
                        <m:func>
                          <m:func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funcPr>
                          <m:fName>
                            <m:sSub>
                              <m:sSub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bPr>
                              <m:e>
                                <m:r>
                                  <m:rPr>
                                    <m:sty m:val="p"/>
                                  </m:rPr>
                                  <a:rPr kumimoji="0" lang="en-US" sz="3600" b="0" i="0" u="none" strike="noStrike" cap="none" spc="0" normalizeH="0" baseline="0" smtClean="0">
                                    <a:ln>
                                      <a:noFill/>
                                    </a:ln>
                                    <a:solidFill>
                                      <a:srgbClr val="000000"/>
                                    </a:solidFill>
                                    <a:effectLst/>
                                    <a:uFillTx/>
                                    <a:latin typeface="Cambria Math" charset="0"/>
                                    <a:ea typeface="+mn-ea"/>
                                    <a:cs typeface="+mn-cs"/>
                                    <a:sym typeface="Helvetica Light"/>
                                  </a:rPr>
                                  <m:t>log</m:t>
                                </m:r>
                              </m:e>
                              <m:sub>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b>
                            </m:sSub>
                          </m:fName>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𝑁</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e>
                        </m:func>
                      </m:num>
                      <m:den>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den>
                    </m:f>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 </m:t>
                    </m:r>
                    <m:f>
                      <m:fPr>
                        <m:ctrlPr>
                          <a:rPr kumimoji="0" lang="mr-IN" sz="3600" b="0" i="1" u="none" strike="noStrike" cap="none" spc="0" normalizeH="0" baseline="0" smtClean="0">
                            <a:ln>
                              <a:noFill/>
                            </a:ln>
                            <a:solidFill>
                              <a:srgbClr val="000000"/>
                            </a:solidFill>
                            <a:effectLst/>
                            <a:uFillTx/>
                            <a:latin typeface="Cambria Math" charset="0"/>
                            <a:ea typeface="+mn-ea"/>
                            <a:cs typeface="+mn-cs"/>
                            <a:sym typeface="Helvetica Light"/>
                          </a:rPr>
                        </m:ctrlPr>
                      </m:fPr>
                      <m:num>
                        <m:func>
                          <m:func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funcPr>
                          <m:fName>
                            <m:sSub>
                              <m:sSub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bPr>
                              <m:e>
                                <m:r>
                                  <m:rPr>
                                    <m:sty m:val="p"/>
                                  </m:rPr>
                                  <a:rPr kumimoji="0" lang="en-US" sz="3600" b="0" i="0" u="none" strike="noStrike" cap="none" spc="0" normalizeH="0" baseline="0" smtClean="0">
                                    <a:ln>
                                      <a:noFill/>
                                    </a:ln>
                                    <a:solidFill>
                                      <a:srgbClr val="000000"/>
                                    </a:solidFill>
                                    <a:effectLst/>
                                    <a:uFillTx/>
                                    <a:latin typeface="Cambria Math" charset="0"/>
                                    <a:ea typeface="+mn-ea"/>
                                    <a:cs typeface="+mn-cs"/>
                                    <a:sym typeface="Helvetica Light"/>
                                  </a:rPr>
                                  <m:t>log</m:t>
                                </m:r>
                              </m:e>
                              <m:sub>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b>
                            </m:sSub>
                          </m:fName>
                          <m:e>
                            <m:sSup>
                              <m:sSup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pPr>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sup>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sup>
                            </m:sSup>
                          </m:e>
                        </m:func>
                      </m:num>
                      <m:den>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𝑡</m:t>
                        </m:r>
                      </m:den>
                    </m:f>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m:t>
                    </m:r>
                    <m:func>
                      <m:func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funcPr>
                      <m:fName>
                        <m:sSub>
                          <m:sSubPr>
                            <m:ctrlP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ctrlPr>
                          </m:sSubPr>
                          <m:e>
                            <m:r>
                              <m:rPr>
                                <m:sty m:val="p"/>
                              </m:rPr>
                              <a:rPr kumimoji="0" lang="en-US" sz="3600" b="0" i="0" u="none" strike="noStrike" cap="none" spc="0" normalizeH="0" baseline="0" smtClean="0">
                                <a:ln>
                                  <a:noFill/>
                                </a:ln>
                                <a:solidFill>
                                  <a:srgbClr val="000000"/>
                                </a:solidFill>
                                <a:effectLst/>
                                <a:uFillTx/>
                                <a:latin typeface="Cambria Math" charset="0"/>
                                <a:ea typeface="+mn-ea"/>
                                <a:cs typeface="+mn-cs"/>
                                <a:sym typeface="Helvetica Light"/>
                              </a:rPr>
                              <m:t>log</m:t>
                            </m:r>
                          </m:e>
                          <m:sub>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2</m:t>
                            </m:r>
                          </m:sub>
                        </m:sSub>
                      </m:fName>
                      <m:e>
                        <m:r>
                          <a:rPr kumimoji="0" lang="en-US" sz="3600" b="0" i="1" u="none" strike="noStrike" cap="none" spc="0" normalizeH="0" baseline="0" smtClean="0">
                            <a:ln>
                              <a:noFill/>
                            </a:ln>
                            <a:solidFill>
                              <a:srgbClr val="000000"/>
                            </a:solidFill>
                            <a:effectLst/>
                            <a:uFillTx/>
                            <a:latin typeface="Cambria Math" charset="0"/>
                            <a:ea typeface="+mn-ea"/>
                            <a:cs typeface="+mn-cs"/>
                            <a:sym typeface="Helvetica Light"/>
                          </a:rPr>
                          <m:t>𝑥</m:t>
                        </m:r>
                      </m:e>
                    </m:func>
                  </m:oMath>
                </a14:m>
                <a:r>
                  <a:rPr kumimoji="0" lang="en-US" sz="3600" b="0" i="0" u="none" strike="noStrike" cap="none" spc="0" normalizeH="0" baseline="0" dirty="0" smtClean="0">
                    <a:ln>
                      <a:noFill/>
                    </a:ln>
                    <a:solidFill>
                      <a:srgbClr val="000000"/>
                    </a:solidFill>
                    <a:effectLst/>
                    <a:uFillTx/>
                    <a:latin typeface="+mn-lt"/>
                    <a:ea typeface="+mn-ea"/>
                    <a:cs typeface="+mn-cs"/>
                    <a:sym typeface="Helvetica Light"/>
                  </a:rPr>
                  <a:t>   </a:t>
                </a:r>
                <a:endParaRPr kumimoji="0" lang="en-US" sz="3600" b="0" i="0" u="none" strike="noStrike" cap="none" spc="0" normalizeH="0" baseline="0" dirty="0">
                  <a:ln>
                    <a:noFill/>
                  </a:ln>
                  <a:solidFill>
                    <a:srgbClr val="000000"/>
                  </a:solidFill>
                  <a:effectLst/>
                  <a:uFillTx/>
                  <a:latin typeface="+mn-lt"/>
                  <a:ea typeface="+mn-ea"/>
                  <a:cs typeface="+mn-cs"/>
                  <a:sym typeface="Helvetica Light"/>
                </a:endParaRPr>
              </a:p>
            </p:txBody>
          </p:sp>
        </mc:Choice>
        <mc:Fallback>
          <p:sp>
            <p:nvSpPr>
              <p:cNvPr id="19" name="TextBox 18"/>
              <p:cNvSpPr txBox="1">
                <a:spLocks noRot="1" noChangeAspect="1" noMove="1" noResize="1" noEditPoints="1" noAdjustHandles="1" noChangeArrowheads="1" noChangeShapeType="1" noTextEdit="1"/>
              </p:cNvSpPr>
              <p:nvPr/>
            </p:nvSpPr>
            <p:spPr>
              <a:xfrm>
                <a:off x="643461" y="6180520"/>
                <a:ext cx="6584046" cy="871201"/>
              </a:xfrm>
              <a:prstGeom prst="rect">
                <a:avLst/>
              </a:prstGeom>
              <a:blipFill rotWithShape="0">
                <a:blip r:embed="rId6"/>
                <a:stretch>
                  <a:fillRect/>
                </a:stretch>
              </a:blipFill>
              <a:ln w="12700" cap="flat">
                <a:noFill/>
                <a:miter lim="400000"/>
              </a:ln>
              <a:effectLst/>
            </p:spPr>
            <p:txBody>
              <a:bodyPr/>
              <a:lstStyle/>
              <a:p>
                <a:r>
                  <a:rPr lang="en-US">
                    <a:noFill/>
                  </a:rPr>
                  <a:t> </a:t>
                </a:r>
              </a:p>
            </p:txBody>
          </p:sp>
        </mc:Fallback>
      </mc:AlternateContent>
    </p:spTree>
    <p:extLst>
      <p:ext uri="{BB962C8B-B14F-4D97-AF65-F5344CB8AC3E}">
        <p14:creationId xmlns:p14="http://schemas.microsoft.com/office/powerpoint/2010/main" val="4131233"/>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hape 203"/>
          <p:cNvSpPr>
            <a:spLocks noGrp="1"/>
          </p:cNvSpPr>
          <p:nvPr>
            <p:ph type="title"/>
          </p:nvPr>
        </p:nvSpPr>
        <p:spPr>
          <a:prstGeom prst="rect">
            <a:avLst/>
          </a:prstGeom>
        </p:spPr>
        <p:txBody>
          <a:bodyPr/>
          <a:lstStyle/>
          <a:p>
            <a:r>
              <a:t>Information content</a:t>
            </a:r>
          </a:p>
        </p:txBody>
      </p:sp>
      <p:sp>
        <p:nvSpPr>
          <p:cNvPr id="204" name="Shape 204"/>
          <p:cNvSpPr>
            <a:spLocks noGrp="1"/>
          </p:cNvSpPr>
          <p:nvPr>
            <p:ph type="body" idx="1"/>
          </p:nvPr>
        </p:nvSpPr>
        <p:spPr>
          <a:prstGeom prst="rect">
            <a:avLst/>
          </a:prstGeom>
        </p:spPr>
        <p:txBody>
          <a:bodyPr anchor="t"/>
          <a:lstStyle/>
          <a:p>
            <a:r>
              <a:t>How much information is coded by the information source?</a:t>
            </a:r>
          </a:p>
          <a:p>
            <a:r>
              <a:t>The distribution of letters in English is not uniform: “E” is more common than “Q”, “TH” is more common than “QZ”</a:t>
            </a:r>
          </a:p>
          <a:p>
            <a:r>
              <a:t>This means that the information source (if the source is speaking words of English) does not just choose random sequences of dots and dashes</a:t>
            </a:r>
          </a:p>
        </p:txBody>
      </p:sp>
    </p:spTree>
    <p:extLst>
      <p:ext uri="{BB962C8B-B14F-4D97-AF65-F5344CB8AC3E}">
        <p14:creationId xmlns:p14="http://schemas.microsoft.com/office/powerpoint/2010/main" val="1604848159"/>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p:cNvSpPr>
          <p:nvPr>
            <p:ph type="title"/>
          </p:nvPr>
        </p:nvSpPr>
        <p:spPr>
          <a:prstGeom prst="rect">
            <a:avLst/>
          </a:prstGeom>
        </p:spPr>
        <p:txBody>
          <a:bodyPr/>
          <a:lstStyle/>
          <a:p>
            <a:r>
              <a:t>Acronyms</a:t>
            </a:r>
          </a:p>
        </p:txBody>
      </p:sp>
      <p:sp>
        <p:nvSpPr>
          <p:cNvPr id="207" name="Shape 207"/>
          <p:cNvSpPr/>
          <p:nvPr/>
        </p:nvSpPr>
        <p:spPr>
          <a:xfrm>
            <a:off x="633945" y="3006666"/>
            <a:ext cx="5571084" cy="54928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500">
                <a:latin typeface="Arial"/>
                <a:ea typeface="Arial"/>
                <a:cs typeface="Arial"/>
                <a:sym typeface="Arial"/>
              </a:defRPr>
            </a:pPr>
            <a:r>
              <a:rPr u="sng">
                <a:solidFill>
                  <a:srgbClr val="293546"/>
                </a:solidFill>
                <a:uFill>
                  <a:solidFill>
                    <a:srgbClr val="293546"/>
                  </a:solidFill>
                </a:uFill>
                <a:hlinkClick r:id="rId2"/>
              </a:rPr>
              <a:t>2moro</a:t>
            </a:r>
            <a:r>
              <a:t> - Tomorrow</a:t>
            </a:r>
          </a:p>
          <a:p>
            <a:pPr algn="l" defTabSz="457200">
              <a:defRPr sz="1500">
                <a:latin typeface="Arial"/>
                <a:ea typeface="Arial"/>
                <a:cs typeface="Arial"/>
                <a:sym typeface="Arial"/>
              </a:defRPr>
            </a:pPr>
            <a:r>
              <a:rPr u="sng">
                <a:solidFill>
                  <a:srgbClr val="293546"/>
                </a:solidFill>
                <a:uFill>
                  <a:solidFill>
                    <a:srgbClr val="293546"/>
                  </a:solidFill>
                </a:uFill>
                <a:hlinkClick r:id="rId3"/>
              </a:rPr>
              <a:t>2nite</a:t>
            </a:r>
            <a:r>
              <a:t> - Tonight</a:t>
            </a:r>
          </a:p>
          <a:p>
            <a:pPr algn="l" defTabSz="457200">
              <a:defRPr sz="1500">
                <a:latin typeface="Arial"/>
                <a:ea typeface="Arial"/>
                <a:cs typeface="Arial"/>
                <a:sym typeface="Arial"/>
              </a:defRPr>
            </a:pPr>
            <a:r>
              <a:rPr u="sng">
                <a:solidFill>
                  <a:srgbClr val="293546"/>
                </a:solidFill>
                <a:uFill>
                  <a:solidFill>
                    <a:srgbClr val="293546"/>
                  </a:solidFill>
                </a:uFill>
                <a:hlinkClick r:id="rId4"/>
              </a:rPr>
              <a:t>BRB</a:t>
            </a:r>
            <a:r>
              <a:t> - Be Right Back</a:t>
            </a:r>
          </a:p>
          <a:p>
            <a:pPr algn="l" defTabSz="457200">
              <a:defRPr sz="1500">
                <a:latin typeface="Arial"/>
                <a:ea typeface="Arial"/>
                <a:cs typeface="Arial"/>
                <a:sym typeface="Arial"/>
              </a:defRPr>
            </a:pPr>
            <a:r>
              <a:rPr u="sng">
                <a:solidFill>
                  <a:srgbClr val="293546"/>
                </a:solidFill>
                <a:uFill>
                  <a:solidFill>
                    <a:srgbClr val="293546"/>
                  </a:solidFill>
                </a:uFill>
                <a:hlinkClick r:id="rId5"/>
              </a:rPr>
              <a:t>BTW</a:t>
            </a:r>
            <a:r>
              <a:t> - By The Way -or- Bring The Wheelchair</a:t>
            </a:r>
          </a:p>
          <a:p>
            <a:pPr algn="l" defTabSz="457200">
              <a:defRPr sz="1500">
                <a:latin typeface="Arial"/>
                <a:ea typeface="Arial"/>
                <a:cs typeface="Arial"/>
                <a:sym typeface="Arial"/>
              </a:defRPr>
            </a:pPr>
            <a:r>
              <a:rPr u="sng">
                <a:solidFill>
                  <a:srgbClr val="293546"/>
                </a:solidFill>
                <a:uFill>
                  <a:solidFill>
                    <a:srgbClr val="293546"/>
                  </a:solidFill>
                </a:uFill>
                <a:hlinkClick r:id="rId6"/>
              </a:rPr>
              <a:t>B4N</a:t>
            </a:r>
            <a:r>
              <a:t> - Bye For Now</a:t>
            </a:r>
          </a:p>
          <a:p>
            <a:pPr algn="l" defTabSz="457200">
              <a:defRPr sz="1500">
                <a:latin typeface="Arial"/>
                <a:ea typeface="Arial"/>
                <a:cs typeface="Arial"/>
                <a:sym typeface="Arial"/>
              </a:defRPr>
            </a:pPr>
            <a:r>
              <a:rPr u="sng">
                <a:solidFill>
                  <a:srgbClr val="293546"/>
                </a:solidFill>
                <a:uFill>
                  <a:solidFill>
                    <a:srgbClr val="293546"/>
                  </a:solidFill>
                </a:uFill>
                <a:hlinkClick r:id="rId7"/>
              </a:rPr>
              <a:t>BCNU</a:t>
            </a:r>
            <a:r>
              <a:t> - Be Seeing You</a:t>
            </a:r>
          </a:p>
          <a:p>
            <a:pPr algn="l" defTabSz="457200">
              <a:defRPr sz="1500">
                <a:latin typeface="Arial"/>
                <a:ea typeface="Arial"/>
                <a:cs typeface="Arial"/>
                <a:sym typeface="Arial"/>
              </a:defRPr>
            </a:pPr>
            <a:r>
              <a:rPr u="sng">
                <a:solidFill>
                  <a:srgbClr val="293546"/>
                </a:solidFill>
                <a:uFill>
                  <a:solidFill>
                    <a:srgbClr val="293546"/>
                  </a:solidFill>
                </a:uFill>
                <a:hlinkClick r:id="rId8"/>
              </a:rPr>
              <a:t>BFF</a:t>
            </a:r>
            <a:r>
              <a:t> - Best Friends Forever -or- Best Friend's Funeral</a:t>
            </a:r>
          </a:p>
          <a:p>
            <a:pPr algn="l" defTabSz="457200">
              <a:defRPr sz="1500">
                <a:latin typeface="Arial"/>
                <a:ea typeface="Arial"/>
                <a:cs typeface="Arial"/>
                <a:sym typeface="Arial"/>
              </a:defRPr>
            </a:pPr>
            <a:r>
              <a:rPr u="sng">
                <a:solidFill>
                  <a:srgbClr val="293546"/>
                </a:solidFill>
                <a:uFill>
                  <a:solidFill>
                    <a:srgbClr val="293546"/>
                  </a:solidFill>
                </a:uFill>
                <a:hlinkClick r:id="rId9"/>
              </a:rPr>
              <a:t>CYA</a:t>
            </a:r>
            <a:r>
              <a:t> - Cover Your Ass -or- See Ya</a:t>
            </a:r>
          </a:p>
          <a:p>
            <a:pPr algn="l" defTabSz="457200">
              <a:defRPr sz="1500">
                <a:latin typeface="Arial"/>
                <a:ea typeface="Arial"/>
                <a:cs typeface="Arial"/>
                <a:sym typeface="Arial"/>
              </a:defRPr>
            </a:pPr>
            <a:r>
              <a:rPr u="sng">
                <a:solidFill>
                  <a:srgbClr val="293546"/>
                </a:solidFill>
                <a:uFill>
                  <a:solidFill>
                    <a:srgbClr val="293546"/>
                  </a:solidFill>
                </a:uFill>
                <a:hlinkClick r:id="rId10"/>
              </a:rPr>
              <a:t>DBEYR</a:t>
            </a:r>
            <a:r>
              <a:t> - Don't Believe Everything You Read</a:t>
            </a:r>
          </a:p>
          <a:p>
            <a:pPr algn="l" defTabSz="457200">
              <a:defRPr sz="1500">
                <a:latin typeface="Arial"/>
                <a:ea typeface="Arial"/>
                <a:cs typeface="Arial"/>
                <a:sym typeface="Arial"/>
              </a:defRPr>
            </a:pPr>
            <a:r>
              <a:rPr u="sng">
                <a:solidFill>
                  <a:srgbClr val="293546"/>
                </a:solidFill>
                <a:uFill>
                  <a:solidFill>
                    <a:srgbClr val="293546"/>
                  </a:solidFill>
                </a:uFill>
                <a:hlinkClick r:id="rId11"/>
              </a:rPr>
              <a:t>DILLIGAS</a:t>
            </a:r>
            <a:r>
              <a:t> - Do I Look Like I Give A Sh**</a:t>
            </a:r>
          </a:p>
          <a:p>
            <a:pPr algn="l" defTabSz="457200">
              <a:defRPr sz="1500">
                <a:latin typeface="Arial"/>
                <a:ea typeface="Arial"/>
                <a:cs typeface="Arial"/>
                <a:sym typeface="Arial"/>
              </a:defRPr>
            </a:pPr>
            <a:r>
              <a:rPr u="sng">
                <a:solidFill>
                  <a:srgbClr val="293546"/>
                </a:solidFill>
                <a:uFill>
                  <a:solidFill>
                    <a:srgbClr val="293546"/>
                  </a:solidFill>
                </a:uFill>
                <a:hlinkClick r:id="rId12"/>
              </a:rPr>
              <a:t>FUD</a:t>
            </a:r>
            <a:r>
              <a:t> - Fear, Uncertainty, and Disinformation</a:t>
            </a:r>
          </a:p>
          <a:p>
            <a:pPr algn="l" defTabSz="457200">
              <a:defRPr sz="1500">
                <a:latin typeface="Arial"/>
                <a:ea typeface="Arial"/>
                <a:cs typeface="Arial"/>
                <a:sym typeface="Arial"/>
              </a:defRPr>
            </a:pPr>
            <a:r>
              <a:rPr u="sng">
                <a:solidFill>
                  <a:srgbClr val="293546"/>
                </a:solidFill>
                <a:uFill>
                  <a:solidFill>
                    <a:srgbClr val="293546"/>
                  </a:solidFill>
                </a:uFill>
                <a:hlinkClick r:id="rId13"/>
              </a:rPr>
              <a:t>FWIW</a:t>
            </a:r>
            <a:r>
              <a:t> - For What It's Worth -or- Forgot Where I Was</a:t>
            </a:r>
          </a:p>
          <a:p>
            <a:pPr algn="l" defTabSz="457200">
              <a:defRPr sz="1500">
                <a:latin typeface="Arial"/>
                <a:ea typeface="Arial"/>
                <a:cs typeface="Arial"/>
                <a:sym typeface="Arial"/>
              </a:defRPr>
            </a:pPr>
            <a:r>
              <a:rPr u="sng">
                <a:solidFill>
                  <a:srgbClr val="293546"/>
                </a:solidFill>
                <a:uFill>
                  <a:solidFill>
                    <a:srgbClr val="293546"/>
                  </a:solidFill>
                </a:uFill>
                <a:hlinkClick r:id="rId14"/>
              </a:rPr>
              <a:t>GR8</a:t>
            </a:r>
            <a:r>
              <a:t> - Great</a:t>
            </a:r>
          </a:p>
          <a:p>
            <a:pPr algn="l" defTabSz="457200">
              <a:defRPr sz="1500">
                <a:latin typeface="Arial"/>
                <a:ea typeface="Arial"/>
                <a:cs typeface="Arial"/>
                <a:sym typeface="Arial"/>
              </a:defRPr>
            </a:pPr>
            <a:r>
              <a:rPr u="sng">
                <a:solidFill>
                  <a:srgbClr val="293546"/>
                </a:solidFill>
                <a:uFill>
                  <a:solidFill>
                    <a:srgbClr val="293546"/>
                  </a:solidFill>
                </a:uFill>
                <a:hlinkClick r:id="rId15"/>
              </a:rPr>
              <a:t>ILY</a:t>
            </a:r>
            <a:r>
              <a:t> - I Love You</a:t>
            </a:r>
          </a:p>
          <a:p>
            <a:pPr algn="l" defTabSz="457200">
              <a:defRPr sz="1500">
                <a:latin typeface="Arial"/>
                <a:ea typeface="Arial"/>
                <a:cs typeface="Arial"/>
                <a:sym typeface="Arial"/>
              </a:defRPr>
            </a:pPr>
            <a:r>
              <a:rPr u="sng">
                <a:solidFill>
                  <a:srgbClr val="293546"/>
                </a:solidFill>
                <a:uFill>
                  <a:solidFill>
                    <a:srgbClr val="293546"/>
                  </a:solidFill>
                </a:uFill>
                <a:hlinkClick r:id="rId16"/>
              </a:rPr>
              <a:t>IMHO</a:t>
            </a:r>
            <a:r>
              <a:t> - In My Humble Opinion</a:t>
            </a:r>
          </a:p>
          <a:p>
            <a:pPr algn="l" defTabSz="457200">
              <a:defRPr sz="1500">
                <a:latin typeface="Arial"/>
                <a:ea typeface="Arial"/>
                <a:cs typeface="Arial"/>
                <a:sym typeface="Arial"/>
              </a:defRPr>
            </a:pPr>
            <a:r>
              <a:rPr u="sng">
                <a:solidFill>
                  <a:srgbClr val="293546"/>
                </a:solidFill>
                <a:uFill>
                  <a:solidFill>
                    <a:srgbClr val="293546"/>
                  </a:solidFill>
                </a:uFill>
                <a:hlinkClick r:id="rId17"/>
              </a:rPr>
              <a:t>IRL</a:t>
            </a:r>
            <a:r>
              <a:t> - In Real Life</a:t>
            </a:r>
          </a:p>
          <a:p>
            <a:pPr algn="l" defTabSz="457200">
              <a:defRPr sz="1500">
                <a:latin typeface="Arial"/>
                <a:ea typeface="Arial"/>
                <a:cs typeface="Arial"/>
                <a:sym typeface="Arial"/>
              </a:defRPr>
            </a:pPr>
            <a:r>
              <a:rPr u="sng">
                <a:solidFill>
                  <a:srgbClr val="293546"/>
                </a:solidFill>
                <a:uFill>
                  <a:solidFill>
                    <a:srgbClr val="293546"/>
                  </a:solidFill>
                </a:uFill>
                <a:hlinkClick r:id="rId18"/>
              </a:rPr>
              <a:t>ISO</a:t>
            </a:r>
            <a:r>
              <a:t> - In Search Of</a:t>
            </a:r>
          </a:p>
          <a:p>
            <a:pPr algn="l" defTabSz="457200">
              <a:defRPr sz="1500">
                <a:latin typeface="Arial"/>
                <a:ea typeface="Arial"/>
                <a:cs typeface="Arial"/>
                <a:sym typeface="Arial"/>
              </a:defRPr>
            </a:pPr>
            <a:r>
              <a:rPr u="sng">
                <a:solidFill>
                  <a:srgbClr val="293546"/>
                </a:solidFill>
                <a:uFill>
                  <a:solidFill>
                    <a:srgbClr val="293546"/>
                  </a:solidFill>
                </a:uFill>
                <a:hlinkClick r:id="rId19"/>
              </a:rPr>
              <a:t>J/K</a:t>
            </a:r>
            <a:r>
              <a:t> - Just Kidding</a:t>
            </a:r>
          </a:p>
          <a:p>
            <a:pPr algn="l" defTabSz="457200">
              <a:defRPr sz="1500">
                <a:latin typeface="Arial"/>
                <a:ea typeface="Arial"/>
                <a:cs typeface="Arial"/>
                <a:sym typeface="Arial"/>
              </a:defRPr>
            </a:pPr>
            <a:r>
              <a:rPr u="sng">
                <a:solidFill>
                  <a:srgbClr val="293546"/>
                </a:solidFill>
                <a:uFill>
                  <a:solidFill>
                    <a:srgbClr val="293546"/>
                  </a:solidFill>
                </a:uFill>
                <a:hlinkClick r:id="rId20"/>
              </a:rPr>
              <a:t>L8R</a:t>
            </a:r>
            <a:r>
              <a:t> - Later</a:t>
            </a:r>
          </a:p>
          <a:p>
            <a:pPr algn="l" defTabSz="457200">
              <a:defRPr sz="1500">
                <a:latin typeface="Arial"/>
                <a:ea typeface="Arial"/>
                <a:cs typeface="Arial"/>
                <a:sym typeface="Arial"/>
              </a:defRPr>
            </a:pPr>
            <a:r>
              <a:rPr u="sng">
                <a:solidFill>
                  <a:srgbClr val="293546"/>
                </a:solidFill>
                <a:uFill>
                  <a:solidFill>
                    <a:srgbClr val="293546"/>
                  </a:solidFill>
                </a:uFill>
                <a:hlinkClick r:id="rId21"/>
              </a:rPr>
              <a:t>LMAO</a:t>
            </a:r>
            <a:r>
              <a:t> - Laughing My Ass Off</a:t>
            </a:r>
          </a:p>
          <a:p>
            <a:pPr algn="l" defTabSz="457200">
              <a:defRPr sz="1500">
                <a:latin typeface="Arial"/>
                <a:ea typeface="Arial"/>
                <a:cs typeface="Arial"/>
                <a:sym typeface="Arial"/>
              </a:defRPr>
            </a:pPr>
            <a:r>
              <a:rPr u="sng">
                <a:solidFill>
                  <a:srgbClr val="293546"/>
                </a:solidFill>
                <a:uFill>
                  <a:solidFill>
                    <a:srgbClr val="293546"/>
                  </a:solidFill>
                </a:uFill>
                <a:hlinkClick r:id="rId22"/>
              </a:rPr>
              <a:t>LOL</a:t>
            </a:r>
            <a:r>
              <a:t> - Laughing Out Loud -or- Lots Of Love -or- Living On Lipitor</a:t>
            </a:r>
          </a:p>
          <a:p>
            <a:pPr algn="l" defTabSz="457200">
              <a:defRPr sz="1500">
                <a:latin typeface="Arial"/>
                <a:ea typeface="Arial"/>
                <a:cs typeface="Arial"/>
                <a:sym typeface="Arial"/>
              </a:defRPr>
            </a:pPr>
            <a:r>
              <a:rPr u="sng">
                <a:solidFill>
                  <a:srgbClr val="293546"/>
                </a:solidFill>
                <a:uFill>
                  <a:solidFill>
                    <a:srgbClr val="293546"/>
                  </a:solidFill>
                </a:uFill>
                <a:hlinkClick r:id="rId23"/>
              </a:rPr>
              <a:t>LYLAS</a:t>
            </a:r>
            <a:r>
              <a:t> - Love You Like A Sister</a:t>
            </a:r>
          </a:p>
          <a:p>
            <a:pPr algn="l" defTabSz="457200">
              <a:defRPr sz="1500">
                <a:latin typeface="Arial"/>
                <a:ea typeface="Arial"/>
                <a:cs typeface="Arial"/>
                <a:sym typeface="Arial"/>
              </a:defRPr>
            </a:pPr>
            <a:r>
              <a:rPr u="sng">
                <a:solidFill>
                  <a:srgbClr val="293546"/>
                </a:solidFill>
                <a:uFill>
                  <a:solidFill>
                    <a:srgbClr val="293546"/>
                  </a:solidFill>
                </a:uFill>
                <a:hlinkClick r:id="rId24"/>
              </a:rPr>
              <a:t>MHOTY</a:t>
            </a:r>
            <a:r>
              <a:t> - My Hat's Off To You</a:t>
            </a:r>
          </a:p>
          <a:p>
            <a:pPr algn="l" defTabSz="457200">
              <a:defRPr sz="1500">
                <a:latin typeface="Arial"/>
                <a:ea typeface="Arial"/>
                <a:cs typeface="Arial"/>
                <a:sym typeface="Arial"/>
              </a:defRPr>
            </a:pPr>
            <a:r>
              <a:rPr u="sng">
                <a:solidFill>
                  <a:srgbClr val="293546"/>
                </a:solidFill>
                <a:uFill>
                  <a:solidFill>
                    <a:srgbClr val="293546"/>
                  </a:solidFill>
                </a:uFill>
                <a:hlinkClick r:id="rId25"/>
              </a:rPr>
              <a:t>NIMBY</a:t>
            </a:r>
            <a:r>
              <a:t> - Not In My Back Yard</a:t>
            </a:r>
          </a:p>
          <a:p>
            <a:pPr algn="l" defTabSz="457200">
              <a:defRPr sz="1500">
                <a:latin typeface="Arial"/>
                <a:ea typeface="Arial"/>
                <a:cs typeface="Arial"/>
                <a:sym typeface="Arial"/>
              </a:defRPr>
            </a:pPr>
            <a:r>
              <a:rPr u="sng">
                <a:solidFill>
                  <a:srgbClr val="293546"/>
                </a:solidFill>
                <a:uFill>
                  <a:solidFill>
                    <a:srgbClr val="293546"/>
                  </a:solidFill>
                </a:uFill>
                <a:hlinkClick r:id="rId26"/>
              </a:rPr>
              <a:t>NP</a:t>
            </a:r>
            <a:r>
              <a:t> - No Problem -or- Nosy Parents</a:t>
            </a:r>
          </a:p>
        </p:txBody>
      </p:sp>
      <p:sp>
        <p:nvSpPr>
          <p:cNvPr id="208" name="Shape 208"/>
          <p:cNvSpPr/>
          <p:nvPr/>
        </p:nvSpPr>
        <p:spPr>
          <a:xfrm>
            <a:off x="6886054" y="3006666"/>
            <a:ext cx="5616290" cy="54928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500">
                <a:latin typeface="Arial"/>
                <a:ea typeface="Arial"/>
                <a:cs typeface="Arial"/>
                <a:sym typeface="Arial"/>
              </a:defRPr>
            </a:pPr>
            <a:r>
              <a:rPr u="sng">
                <a:solidFill>
                  <a:srgbClr val="293546"/>
                </a:solidFill>
                <a:uFill>
                  <a:solidFill>
                    <a:srgbClr val="293546"/>
                  </a:solidFill>
                </a:uFill>
                <a:hlinkClick r:id="rId27"/>
              </a:rPr>
              <a:t>NUB</a:t>
            </a:r>
            <a:r>
              <a:t> - New person to a site or game</a:t>
            </a:r>
          </a:p>
          <a:p>
            <a:pPr algn="l" defTabSz="457200">
              <a:defRPr sz="1500">
                <a:latin typeface="Arial"/>
                <a:ea typeface="Arial"/>
                <a:cs typeface="Arial"/>
                <a:sym typeface="Arial"/>
              </a:defRPr>
            </a:pPr>
            <a:r>
              <a:rPr u="sng">
                <a:solidFill>
                  <a:srgbClr val="293546"/>
                </a:solidFill>
                <a:uFill>
                  <a:solidFill>
                    <a:srgbClr val="293546"/>
                  </a:solidFill>
                </a:uFill>
                <a:hlinkClick r:id="rId28"/>
              </a:rPr>
              <a:t>OIC</a:t>
            </a:r>
            <a:r>
              <a:t> - Oh, I See</a:t>
            </a:r>
          </a:p>
          <a:p>
            <a:pPr algn="l" defTabSz="457200">
              <a:defRPr sz="1500">
                <a:latin typeface="Arial"/>
                <a:ea typeface="Arial"/>
                <a:cs typeface="Arial"/>
                <a:sym typeface="Arial"/>
              </a:defRPr>
            </a:pPr>
            <a:r>
              <a:rPr u="sng">
                <a:solidFill>
                  <a:srgbClr val="293546"/>
                </a:solidFill>
                <a:uFill>
                  <a:solidFill>
                    <a:srgbClr val="293546"/>
                  </a:solidFill>
                </a:uFill>
                <a:hlinkClick r:id="rId29"/>
              </a:rPr>
              <a:t>OMG</a:t>
            </a:r>
            <a:r>
              <a:t> - Oh My God</a:t>
            </a:r>
          </a:p>
          <a:p>
            <a:pPr algn="l" defTabSz="457200">
              <a:defRPr sz="1500">
                <a:latin typeface="Arial"/>
                <a:ea typeface="Arial"/>
                <a:cs typeface="Arial"/>
                <a:sym typeface="Arial"/>
              </a:defRPr>
            </a:pPr>
            <a:r>
              <a:rPr u="sng">
                <a:solidFill>
                  <a:srgbClr val="293546"/>
                </a:solidFill>
                <a:uFill>
                  <a:solidFill>
                    <a:srgbClr val="293546"/>
                  </a:solidFill>
                </a:uFill>
                <a:hlinkClick r:id="rId30"/>
              </a:rPr>
              <a:t>OT</a:t>
            </a:r>
            <a:r>
              <a:t> - Off Topic</a:t>
            </a:r>
          </a:p>
          <a:p>
            <a:pPr algn="l" defTabSz="457200">
              <a:defRPr sz="1500">
                <a:latin typeface="Arial"/>
                <a:ea typeface="Arial"/>
                <a:cs typeface="Arial"/>
                <a:sym typeface="Arial"/>
              </a:defRPr>
            </a:pPr>
            <a:r>
              <a:rPr u="sng">
                <a:solidFill>
                  <a:srgbClr val="293546"/>
                </a:solidFill>
                <a:uFill>
                  <a:solidFill>
                    <a:srgbClr val="293546"/>
                  </a:solidFill>
                </a:uFill>
                <a:hlinkClick r:id="rId31"/>
              </a:rPr>
              <a:t>POV</a:t>
            </a:r>
            <a:r>
              <a:t> - Point Of View</a:t>
            </a:r>
          </a:p>
          <a:p>
            <a:pPr algn="l" defTabSz="457200">
              <a:defRPr sz="1500">
                <a:latin typeface="Arial"/>
                <a:ea typeface="Arial"/>
                <a:cs typeface="Arial"/>
                <a:sym typeface="Arial"/>
              </a:defRPr>
            </a:pPr>
            <a:r>
              <a:rPr u="sng">
                <a:solidFill>
                  <a:srgbClr val="293546"/>
                </a:solidFill>
                <a:uFill>
                  <a:solidFill>
                    <a:srgbClr val="293546"/>
                  </a:solidFill>
                </a:uFill>
                <a:hlinkClick r:id="rId32"/>
              </a:rPr>
              <a:t>RBTL</a:t>
            </a:r>
            <a:r>
              <a:t> - Read Between The Lines</a:t>
            </a:r>
          </a:p>
          <a:p>
            <a:pPr algn="l" defTabSz="457200">
              <a:defRPr sz="1500">
                <a:latin typeface="Arial"/>
                <a:ea typeface="Arial"/>
                <a:cs typeface="Arial"/>
                <a:sym typeface="Arial"/>
              </a:defRPr>
            </a:pPr>
            <a:r>
              <a:rPr u="sng">
                <a:solidFill>
                  <a:srgbClr val="293546"/>
                </a:solidFill>
                <a:uFill>
                  <a:solidFill>
                    <a:srgbClr val="293546"/>
                  </a:solidFill>
                </a:uFill>
                <a:hlinkClick r:id="rId33"/>
              </a:rPr>
              <a:t>ROTFLMAO</a:t>
            </a:r>
            <a:r>
              <a:t> - Rolling On The Floor Laughing My Ass Off</a:t>
            </a:r>
          </a:p>
          <a:p>
            <a:pPr algn="l" defTabSz="457200">
              <a:defRPr sz="1500">
                <a:latin typeface="Arial"/>
                <a:ea typeface="Arial"/>
                <a:cs typeface="Arial"/>
                <a:sym typeface="Arial"/>
              </a:defRPr>
            </a:pPr>
            <a:r>
              <a:rPr u="sng">
                <a:solidFill>
                  <a:srgbClr val="293546"/>
                </a:solidFill>
                <a:uFill>
                  <a:solidFill>
                    <a:srgbClr val="293546"/>
                  </a:solidFill>
                </a:uFill>
                <a:hlinkClick r:id="rId34"/>
              </a:rPr>
              <a:t>RT</a:t>
            </a:r>
            <a:r>
              <a:t> - Real Time -or- ReTweet</a:t>
            </a:r>
          </a:p>
          <a:p>
            <a:pPr algn="l" defTabSz="457200">
              <a:defRPr sz="1500" u="sng">
                <a:solidFill>
                  <a:srgbClr val="293546"/>
                </a:solidFill>
                <a:uFill>
                  <a:solidFill>
                    <a:srgbClr val="293546"/>
                  </a:solidFill>
                </a:uFill>
                <a:latin typeface="Arial"/>
                <a:ea typeface="Arial"/>
                <a:cs typeface="Arial"/>
                <a:sym typeface="Arial"/>
              </a:defRPr>
            </a:pPr>
            <a:r>
              <a:rPr>
                <a:hlinkClick r:id="rId35"/>
              </a:rPr>
              <a:t>THX or TX or THKS</a:t>
            </a:r>
            <a:r>
              <a:rPr u="none">
                <a:solidFill>
                  <a:srgbClr val="000000"/>
                </a:solidFill>
              </a:rPr>
              <a:t> - Thanks</a:t>
            </a:r>
          </a:p>
          <a:p>
            <a:pPr algn="l" defTabSz="457200">
              <a:defRPr sz="1500">
                <a:latin typeface="Arial"/>
                <a:ea typeface="Arial"/>
                <a:cs typeface="Arial"/>
                <a:sym typeface="Arial"/>
              </a:defRPr>
            </a:pPr>
            <a:r>
              <a:rPr u="sng">
                <a:solidFill>
                  <a:srgbClr val="293546"/>
                </a:solidFill>
                <a:uFill>
                  <a:solidFill>
                    <a:srgbClr val="293546"/>
                  </a:solidFill>
                </a:uFill>
                <a:hlinkClick r:id="rId36"/>
              </a:rPr>
              <a:t>SH</a:t>
            </a:r>
            <a:r>
              <a:t> - Sh** Happens</a:t>
            </a:r>
          </a:p>
          <a:p>
            <a:pPr algn="l" defTabSz="457200">
              <a:defRPr sz="1500">
                <a:latin typeface="Arial"/>
                <a:ea typeface="Arial"/>
                <a:cs typeface="Arial"/>
                <a:sym typeface="Arial"/>
              </a:defRPr>
            </a:pPr>
            <a:r>
              <a:rPr u="sng">
                <a:solidFill>
                  <a:srgbClr val="293546"/>
                </a:solidFill>
                <a:uFill>
                  <a:solidFill>
                    <a:srgbClr val="293546"/>
                  </a:solidFill>
                </a:uFill>
                <a:hlinkClick r:id="rId37"/>
              </a:rPr>
              <a:t>SITD</a:t>
            </a:r>
            <a:r>
              <a:t> - Still In The Dark</a:t>
            </a:r>
          </a:p>
          <a:p>
            <a:pPr algn="l" defTabSz="457200">
              <a:defRPr sz="1500">
                <a:latin typeface="Arial"/>
                <a:ea typeface="Arial"/>
                <a:cs typeface="Arial"/>
                <a:sym typeface="Arial"/>
              </a:defRPr>
            </a:pPr>
            <a:r>
              <a:rPr u="sng">
                <a:solidFill>
                  <a:srgbClr val="293546"/>
                </a:solidFill>
                <a:uFill>
                  <a:solidFill>
                    <a:srgbClr val="293546"/>
                  </a:solidFill>
                </a:uFill>
                <a:hlinkClick r:id="rId38"/>
              </a:rPr>
              <a:t>SOL</a:t>
            </a:r>
            <a:r>
              <a:t> - Sh** Out of Luck -or- Sooner Or Later</a:t>
            </a:r>
          </a:p>
          <a:p>
            <a:pPr algn="l" defTabSz="457200">
              <a:defRPr sz="1500">
                <a:latin typeface="Arial"/>
                <a:ea typeface="Arial"/>
                <a:cs typeface="Arial"/>
                <a:sym typeface="Arial"/>
              </a:defRPr>
            </a:pPr>
            <a:r>
              <a:rPr u="sng">
                <a:solidFill>
                  <a:srgbClr val="293546"/>
                </a:solidFill>
                <a:uFill>
                  <a:solidFill>
                    <a:srgbClr val="293546"/>
                  </a:solidFill>
                </a:uFill>
                <a:hlinkClick r:id="rId39"/>
              </a:rPr>
              <a:t>STBY</a:t>
            </a:r>
            <a:r>
              <a:t> - Sucks To Be You</a:t>
            </a:r>
          </a:p>
          <a:p>
            <a:pPr algn="l" defTabSz="457200">
              <a:defRPr sz="1500">
                <a:latin typeface="Arial"/>
                <a:ea typeface="Arial"/>
                <a:cs typeface="Arial"/>
                <a:sym typeface="Arial"/>
              </a:defRPr>
            </a:pPr>
            <a:r>
              <a:rPr u="sng">
                <a:solidFill>
                  <a:srgbClr val="293546"/>
                </a:solidFill>
                <a:uFill>
                  <a:solidFill>
                    <a:srgbClr val="293546"/>
                  </a:solidFill>
                </a:uFill>
                <a:hlinkClick r:id="rId40"/>
              </a:rPr>
              <a:t>SWAK</a:t>
            </a:r>
            <a:r>
              <a:t> - Sealed (or Sent) With A Kiss</a:t>
            </a:r>
          </a:p>
          <a:p>
            <a:pPr algn="l" defTabSz="457200">
              <a:defRPr sz="1500">
                <a:latin typeface="Arial"/>
                <a:ea typeface="Arial"/>
                <a:cs typeface="Arial"/>
                <a:sym typeface="Arial"/>
              </a:defRPr>
            </a:pPr>
            <a:r>
              <a:rPr u="sng">
                <a:solidFill>
                  <a:srgbClr val="293546"/>
                </a:solidFill>
                <a:uFill>
                  <a:solidFill>
                    <a:srgbClr val="293546"/>
                  </a:solidFill>
                </a:uFill>
                <a:hlinkClick r:id="rId41"/>
              </a:rPr>
              <a:t>TFH</a:t>
            </a:r>
            <a:r>
              <a:t> - Thread From Hell</a:t>
            </a:r>
          </a:p>
          <a:p>
            <a:pPr algn="l" defTabSz="457200">
              <a:defRPr sz="1500">
                <a:latin typeface="Arial"/>
                <a:ea typeface="Arial"/>
                <a:cs typeface="Arial"/>
                <a:sym typeface="Arial"/>
              </a:defRPr>
            </a:pPr>
            <a:r>
              <a:rPr u="sng">
                <a:solidFill>
                  <a:srgbClr val="293546"/>
                </a:solidFill>
                <a:uFill>
                  <a:solidFill>
                    <a:srgbClr val="293546"/>
                  </a:solidFill>
                </a:uFill>
                <a:hlinkClick r:id="rId42"/>
              </a:rPr>
              <a:t>RTM or RTFM</a:t>
            </a:r>
            <a:r>
              <a:t> - Read The Manual -or- Read The F***ing Manual</a:t>
            </a:r>
          </a:p>
          <a:p>
            <a:pPr algn="l" defTabSz="457200">
              <a:defRPr sz="1500">
                <a:latin typeface="Arial"/>
                <a:ea typeface="Arial"/>
                <a:cs typeface="Arial"/>
                <a:sym typeface="Arial"/>
              </a:defRPr>
            </a:pPr>
            <a:r>
              <a:rPr u="sng">
                <a:solidFill>
                  <a:srgbClr val="293546"/>
                </a:solidFill>
                <a:uFill>
                  <a:solidFill>
                    <a:srgbClr val="293546"/>
                  </a:solidFill>
                </a:uFill>
                <a:hlinkClick r:id="rId43"/>
              </a:rPr>
              <a:t>TLC</a:t>
            </a:r>
            <a:r>
              <a:t> - Tender Loving Care</a:t>
            </a:r>
          </a:p>
          <a:p>
            <a:pPr algn="l" defTabSz="457200">
              <a:defRPr sz="1500">
                <a:latin typeface="Arial"/>
                <a:ea typeface="Arial"/>
                <a:cs typeface="Arial"/>
                <a:sym typeface="Arial"/>
              </a:defRPr>
            </a:pPr>
            <a:r>
              <a:rPr u="sng">
                <a:solidFill>
                  <a:srgbClr val="293546"/>
                </a:solidFill>
                <a:uFill>
                  <a:solidFill>
                    <a:srgbClr val="293546"/>
                  </a:solidFill>
                </a:uFill>
                <a:hlinkClick r:id="rId44"/>
              </a:rPr>
              <a:t>TMI</a:t>
            </a:r>
            <a:r>
              <a:t> - Too Much Information</a:t>
            </a:r>
          </a:p>
          <a:p>
            <a:pPr algn="l" defTabSz="457200">
              <a:defRPr sz="1500">
                <a:latin typeface="Arial"/>
                <a:ea typeface="Arial"/>
                <a:cs typeface="Arial"/>
                <a:sym typeface="Arial"/>
              </a:defRPr>
            </a:pPr>
            <a:r>
              <a:rPr u="sng">
                <a:solidFill>
                  <a:srgbClr val="293546"/>
                </a:solidFill>
                <a:uFill>
                  <a:solidFill>
                    <a:srgbClr val="293546"/>
                  </a:solidFill>
                </a:uFill>
                <a:hlinkClick r:id="rId45"/>
              </a:rPr>
              <a:t>TTYL</a:t>
            </a:r>
            <a:r>
              <a:t> - Talk To You Later -or- Type To You Later</a:t>
            </a:r>
          </a:p>
          <a:p>
            <a:pPr algn="l" defTabSz="457200">
              <a:defRPr sz="1500">
                <a:latin typeface="Arial"/>
                <a:ea typeface="Arial"/>
                <a:cs typeface="Arial"/>
                <a:sym typeface="Arial"/>
              </a:defRPr>
            </a:pPr>
            <a:r>
              <a:rPr u="sng">
                <a:solidFill>
                  <a:srgbClr val="293546"/>
                </a:solidFill>
                <a:uFill>
                  <a:solidFill>
                    <a:srgbClr val="293546"/>
                  </a:solidFill>
                </a:uFill>
                <a:hlinkClick r:id="rId46"/>
              </a:rPr>
              <a:t>TYVM</a:t>
            </a:r>
            <a:r>
              <a:t> - Thank You Very Much</a:t>
            </a:r>
          </a:p>
          <a:p>
            <a:pPr algn="l" defTabSz="457200">
              <a:defRPr sz="1500">
                <a:latin typeface="Arial"/>
                <a:ea typeface="Arial"/>
                <a:cs typeface="Arial"/>
                <a:sym typeface="Arial"/>
              </a:defRPr>
            </a:pPr>
            <a:r>
              <a:rPr u="sng">
                <a:solidFill>
                  <a:srgbClr val="293546"/>
                </a:solidFill>
                <a:uFill>
                  <a:solidFill>
                    <a:srgbClr val="293546"/>
                  </a:solidFill>
                </a:uFill>
                <a:hlinkClick r:id="rId47"/>
              </a:rPr>
              <a:t>VBG</a:t>
            </a:r>
            <a:r>
              <a:t> - Very Big Grin</a:t>
            </a:r>
          </a:p>
          <a:p>
            <a:pPr algn="l" defTabSz="457200">
              <a:defRPr sz="1500">
                <a:latin typeface="Arial"/>
                <a:ea typeface="Arial"/>
                <a:cs typeface="Arial"/>
                <a:sym typeface="Arial"/>
              </a:defRPr>
            </a:pPr>
            <a:r>
              <a:rPr u="sng">
                <a:solidFill>
                  <a:srgbClr val="293546"/>
                </a:solidFill>
                <a:uFill>
                  <a:solidFill>
                    <a:srgbClr val="293546"/>
                  </a:solidFill>
                </a:uFill>
                <a:hlinkClick r:id="rId48"/>
              </a:rPr>
              <a:t>WEG</a:t>
            </a:r>
            <a:r>
              <a:t> - Wicked Evil Grin</a:t>
            </a:r>
          </a:p>
          <a:p>
            <a:pPr algn="l" defTabSz="457200">
              <a:defRPr sz="1500">
                <a:latin typeface="Arial"/>
                <a:ea typeface="Arial"/>
                <a:cs typeface="Arial"/>
                <a:sym typeface="Arial"/>
              </a:defRPr>
            </a:pPr>
            <a:r>
              <a:rPr u="sng">
                <a:solidFill>
                  <a:srgbClr val="293546"/>
                </a:solidFill>
                <a:uFill>
                  <a:solidFill>
                    <a:srgbClr val="293546"/>
                  </a:solidFill>
                </a:uFill>
                <a:hlinkClick r:id="rId49"/>
              </a:rPr>
              <a:t>WTF</a:t>
            </a:r>
            <a:r>
              <a:t> - What The F***</a:t>
            </a:r>
          </a:p>
          <a:p>
            <a:pPr algn="l" defTabSz="457200">
              <a:defRPr sz="1500">
                <a:latin typeface="Arial"/>
                <a:ea typeface="Arial"/>
                <a:cs typeface="Arial"/>
                <a:sym typeface="Arial"/>
              </a:defRPr>
            </a:pPr>
            <a:r>
              <a:rPr u="sng">
                <a:solidFill>
                  <a:srgbClr val="293546"/>
                </a:solidFill>
                <a:uFill>
                  <a:solidFill>
                    <a:srgbClr val="293546"/>
                  </a:solidFill>
                </a:uFill>
                <a:hlinkClick r:id="rId50"/>
              </a:rPr>
              <a:t>WYWH</a:t>
            </a:r>
            <a:r>
              <a:t> - Wish You Were Here</a:t>
            </a:r>
          </a:p>
          <a:p>
            <a:pPr algn="l" defTabSz="457200">
              <a:defRPr sz="1500">
                <a:latin typeface="Arial"/>
                <a:ea typeface="Arial"/>
                <a:cs typeface="Arial"/>
                <a:sym typeface="Arial"/>
              </a:defRPr>
            </a:pPr>
            <a:r>
              <a:rPr u="sng">
                <a:solidFill>
                  <a:srgbClr val="293546"/>
                </a:solidFill>
                <a:uFill>
                  <a:solidFill>
                    <a:srgbClr val="293546"/>
                  </a:solidFill>
                </a:uFill>
                <a:hlinkClick r:id="rId51"/>
              </a:rPr>
              <a:t>XOXO</a:t>
            </a:r>
            <a:r>
              <a:t> - Hugs and Kisses</a:t>
            </a:r>
          </a:p>
        </p:txBody>
      </p:sp>
    </p:spTree>
    <p:extLst>
      <p:ext uri="{BB962C8B-B14F-4D97-AF65-F5344CB8AC3E}">
        <p14:creationId xmlns:p14="http://schemas.microsoft.com/office/powerpoint/2010/main" val="288401993"/>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p:cNvSpPr>
          <p:nvPr>
            <p:ph type="body" idx="13"/>
          </p:nvPr>
        </p:nvSpPr>
        <p:spPr>
          <a:prstGeom prst="rect">
            <a:avLst/>
          </a:prstGeom>
        </p:spPr>
        <p:txBody>
          <a:bodyPr/>
          <a:lstStyle/>
          <a:p>
            <a:r>
              <a:t>Partial information quiz</a:t>
            </a:r>
          </a:p>
        </p:txBody>
      </p:sp>
      <p:sp>
        <p:nvSpPr>
          <p:cNvPr id="211" name="Shape 211"/>
          <p:cNvSpPr/>
          <p:nvPr/>
        </p:nvSpPr>
        <p:spPr>
          <a:xfrm>
            <a:off x="1350528" y="2730500"/>
            <a:ext cx="1030374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To see a world in a grain of sand</a:t>
            </a:r>
          </a:p>
        </p:txBody>
      </p:sp>
      <p:sp>
        <p:nvSpPr>
          <p:cNvPr id="212" name="Shape 212"/>
          <p:cNvSpPr/>
          <p:nvPr/>
        </p:nvSpPr>
        <p:spPr>
          <a:xfrm>
            <a:off x="1257300" y="3200400"/>
            <a:ext cx="10278319" cy="492721"/>
          </a:xfrm>
          <a:prstGeom prst="rect">
            <a:avLst/>
          </a:prstGeom>
          <a:solidFill>
            <a:srgbClr val="FFFFFF"/>
          </a:solidFill>
          <a:ln w="12700">
            <a:miter lim="400000"/>
          </a:ln>
        </p:spPr>
        <p:txBody>
          <a:bodyPr lIns="50800" tIns="50800" rIns="50800" bIns="50800" anchor="ctr"/>
          <a:lstStyle/>
          <a:p>
            <a:pPr>
              <a:defRPr sz="2400">
                <a:solidFill>
                  <a:srgbClr val="FFFFFF"/>
                </a:solidFill>
              </a:defRPr>
            </a:pPr>
            <a:endParaRPr/>
          </a:p>
        </p:txBody>
      </p:sp>
      <p:sp>
        <p:nvSpPr>
          <p:cNvPr id="213" name="Shape 213"/>
          <p:cNvSpPr/>
          <p:nvPr/>
        </p:nvSpPr>
        <p:spPr>
          <a:xfrm>
            <a:off x="699541" y="4255731"/>
            <a:ext cx="11783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The five boxing wizards jump quickly</a:t>
            </a:r>
          </a:p>
        </p:txBody>
      </p:sp>
      <p:sp>
        <p:nvSpPr>
          <p:cNvPr id="214" name="Shape 214"/>
          <p:cNvSpPr/>
          <p:nvPr/>
        </p:nvSpPr>
        <p:spPr>
          <a:xfrm>
            <a:off x="1028700" y="4290020"/>
            <a:ext cx="11276757" cy="492721"/>
          </a:xfrm>
          <a:prstGeom prst="rect">
            <a:avLst/>
          </a:prstGeom>
          <a:solidFill>
            <a:srgbClr val="FFFFFF"/>
          </a:solidFill>
          <a:ln w="12700">
            <a:miter lim="400000"/>
          </a:ln>
        </p:spPr>
        <p:txBody>
          <a:bodyPr lIns="50800" tIns="50800" rIns="50800" bIns="50800" anchor="ctr"/>
          <a:lstStyle/>
          <a:p>
            <a:pPr>
              <a:defRPr sz="2400">
                <a:solidFill>
                  <a:srgbClr val="FFFFFF"/>
                </a:solidFill>
              </a:defRPr>
            </a:pPr>
            <a:endParaRPr/>
          </a:p>
        </p:txBody>
      </p:sp>
      <p:sp>
        <p:nvSpPr>
          <p:cNvPr id="215" name="Shape 215"/>
          <p:cNvSpPr/>
          <p:nvPr/>
        </p:nvSpPr>
        <p:spPr>
          <a:xfrm>
            <a:off x="1848247" y="8097481"/>
            <a:ext cx="9308307"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W_l_ d_n_ i_ b_t_e_ t_a_ w_l_ s_i_</a:t>
            </a:r>
          </a:p>
        </p:txBody>
      </p:sp>
      <p:sp>
        <p:nvSpPr>
          <p:cNvPr id="216" name="Shape 216"/>
          <p:cNvSpPr/>
          <p:nvPr/>
        </p:nvSpPr>
        <p:spPr>
          <a:xfrm>
            <a:off x="3820145" y="6231851"/>
            <a:ext cx="5364510"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H_r_a_d _n_v_r_i_y</a:t>
            </a:r>
          </a:p>
        </p:txBody>
      </p:sp>
    </p:spTree>
    <p:extLst>
      <p:ext uri="{BB962C8B-B14F-4D97-AF65-F5344CB8AC3E}">
        <p14:creationId xmlns:p14="http://schemas.microsoft.com/office/powerpoint/2010/main" val="30170507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xit" fill="hold" grpId="0" nodeType="clickEffect">
                                  <p:stCondLst>
                                    <p:cond delay="0"/>
                                  </p:stCondLst>
                                  <p:iterate>
                                    <p:tmAbs val="0"/>
                                  </p:iterate>
                                  <p:childTnLst>
                                    <p:animEffect transition="out" filter="dissolve">
                                      <p:cBhvr>
                                        <p:cTn id="6" dur="1000" fill="hold"/>
                                        <p:tgtEl>
                                          <p:spTgt spid="212"/>
                                        </p:tgtEl>
                                      </p:cBhvr>
                                    </p:animEffect>
                                    <p:set>
                                      <p:cBhvr>
                                        <p:cTn id="7" fill="hold">
                                          <p:stCondLst>
                                            <p:cond delay="999"/>
                                          </p:stCondLst>
                                        </p:cTn>
                                        <p:tgtEl>
                                          <p:spTgt spid="2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fill="hold" grpId="0" nodeType="clickEffect">
                                  <p:stCondLst>
                                    <p:cond delay="0"/>
                                  </p:stCondLst>
                                  <p:iterate>
                                    <p:tmAbs val="0"/>
                                  </p:iterate>
                                  <p:childTnLst>
                                    <p:set>
                                      <p:cBhvr>
                                        <p:cTn id="11" fill="hold"/>
                                        <p:tgtEl>
                                          <p:spTgt spid="213"/>
                                        </p:tgtEl>
                                        <p:attrNameLst>
                                          <p:attrName>style.visibility</p:attrName>
                                        </p:attrNameLst>
                                      </p:cBhvr>
                                      <p:to>
                                        <p:strVal val="visible"/>
                                      </p:to>
                                    </p:set>
                                    <p:animEffect transition="in" filter="dissolve">
                                      <p:cBhvr>
                                        <p:cTn id="12" dur="1000"/>
                                        <p:tgtEl>
                                          <p:spTgt spid="2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xit" fill="hold" grpId="0" nodeType="clickEffect">
                                  <p:stCondLst>
                                    <p:cond delay="0"/>
                                  </p:stCondLst>
                                  <p:iterate>
                                    <p:tmAbs val="0"/>
                                  </p:iterate>
                                  <p:childTnLst>
                                    <p:animEffect transition="out" filter="dissolve">
                                      <p:cBhvr>
                                        <p:cTn id="16" dur="1000" fill="hold"/>
                                        <p:tgtEl>
                                          <p:spTgt spid="214"/>
                                        </p:tgtEl>
                                      </p:cBhvr>
                                    </p:animEffect>
                                    <p:set>
                                      <p:cBhvr>
                                        <p:cTn id="17" fill="hold">
                                          <p:stCondLst>
                                            <p:cond delay="999"/>
                                          </p:stCondLst>
                                        </p:cTn>
                                        <p:tgtEl>
                                          <p:spTgt spid="2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ntr" fill="hold" grpId="0" nodeType="clickEffect">
                                  <p:stCondLst>
                                    <p:cond delay="0"/>
                                  </p:stCondLst>
                                  <p:iterate>
                                    <p:tmAbs val="0"/>
                                  </p:iterate>
                                  <p:childTnLst>
                                    <p:set>
                                      <p:cBhvr>
                                        <p:cTn id="21" fill="hold"/>
                                        <p:tgtEl>
                                          <p:spTgt spid="216"/>
                                        </p:tgtEl>
                                        <p:attrNameLst>
                                          <p:attrName>style.visibility</p:attrName>
                                        </p:attrNameLst>
                                      </p:cBhvr>
                                      <p:to>
                                        <p:strVal val="visible"/>
                                      </p:to>
                                    </p:set>
                                    <p:animEffect transition="in" filter="dissolve">
                                      <p:cBhvr>
                                        <p:cTn id="22" dur="1000"/>
                                        <p:tgtEl>
                                          <p:spTgt spid="2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fill="hold" grpId="0" nodeType="clickEffect">
                                  <p:stCondLst>
                                    <p:cond delay="0"/>
                                  </p:stCondLst>
                                  <p:iterate>
                                    <p:tmAbs val="0"/>
                                  </p:iterate>
                                  <p:childTnLst>
                                    <p:set>
                                      <p:cBhvr>
                                        <p:cTn id="26" fill="hold"/>
                                        <p:tgtEl>
                                          <p:spTgt spid="215"/>
                                        </p:tgtEl>
                                        <p:attrNameLst>
                                          <p:attrName>style.visibility</p:attrName>
                                        </p:attrNameLst>
                                      </p:cBhvr>
                                      <p:to>
                                        <p:strVal val="visible"/>
                                      </p:to>
                                    </p:set>
                                    <p:animEffect transition="in" filter="dissolve">
                                      <p:cBhvr>
                                        <p:cTn id="27" dur="10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animBg="1" advAuto="0"/>
      <p:bldP spid="213" grpId="0" animBg="1" advAuto="0"/>
      <p:bldP spid="214" grpId="0" animBg="1" advAuto="0"/>
      <p:bldP spid="215" grpId="0" animBg="1" advAuto="0"/>
      <p:bldP spid="216"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a:spLocks noGrp="1"/>
          </p:cNvSpPr>
          <p:nvPr>
            <p:ph type="body" idx="13"/>
          </p:nvPr>
        </p:nvSpPr>
        <p:spPr>
          <a:prstGeom prst="rect">
            <a:avLst/>
          </a:prstGeom>
        </p:spPr>
        <p:txBody>
          <a:bodyPr/>
          <a:lstStyle/>
          <a:p>
            <a:r>
              <a:t>Partial information quiz</a:t>
            </a:r>
          </a:p>
        </p:txBody>
      </p:sp>
      <p:sp>
        <p:nvSpPr>
          <p:cNvPr id="219" name="Shape 219"/>
          <p:cNvSpPr/>
          <p:nvPr/>
        </p:nvSpPr>
        <p:spPr>
          <a:xfrm>
            <a:off x="3960527" y="6231851"/>
            <a:ext cx="5083746"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Harvard University</a:t>
            </a:r>
          </a:p>
        </p:txBody>
      </p:sp>
      <p:sp>
        <p:nvSpPr>
          <p:cNvPr id="220" name="Shape 220"/>
          <p:cNvSpPr/>
          <p:nvPr/>
        </p:nvSpPr>
        <p:spPr>
          <a:xfrm>
            <a:off x="1350528" y="2730500"/>
            <a:ext cx="1030374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To see a world in a grain of sand</a:t>
            </a:r>
          </a:p>
        </p:txBody>
      </p:sp>
      <p:sp>
        <p:nvSpPr>
          <p:cNvPr id="221" name="Shape 221"/>
          <p:cNvSpPr/>
          <p:nvPr/>
        </p:nvSpPr>
        <p:spPr>
          <a:xfrm>
            <a:off x="2056569" y="8097481"/>
            <a:ext cx="8891663"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Well done is better than well said</a:t>
            </a:r>
          </a:p>
        </p:txBody>
      </p:sp>
      <p:sp>
        <p:nvSpPr>
          <p:cNvPr id="222" name="Shape 222"/>
          <p:cNvSpPr/>
          <p:nvPr/>
        </p:nvSpPr>
        <p:spPr>
          <a:xfrm>
            <a:off x="699541" y="4255731"/>
            <a:ext cx="11783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The five boxing wizards jump quickly</a:t>
            </a:r>
          </a:p>
        </p:txBody>
      </p:sp>
      <p:sp>
        <p:nvSpPr>
          <p:cNvPr id="223" name="Shape 223"/>
          <p:cNvSpPr/>
          <p:nvPr/>
        </p:nvSpPr>
        <p:spPr>
          <a:xfrm>
            <a:off x="10053161" y="3543300"/>
            <a:ext cx="2477999" cy="482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b="1" i="1">
                <a:solidFill>
                  <a:schemeClr val="accent1"/>
                </a:solidFill>
                <a:latin typeface="+mj-lt"/>
                <a:ea typeface="+mj-ea"/>
                <a:cs typeface="+mj-cs"/>
                <a:sym typeface="Helvetica"/>
              </a:defRPr>
            </a:lvl1pPr>
          </a:lstStyle>
          <a:p>
            <a:r>
              <a:t>William Blake</a:t>
            </a:r>
          </a:p>
        </p:txBody>
      </p:sp>
      <p:sp>
        <p:nvSpPr>
          <p:cNvPr id="224" name="Shape 224"/>
          <p:cNvSpPr/>
          <p:nvPr/>
        </p:nvSpPr>
        <p:spPr>
          <a:xfrm>
            <a:off x="10053161" y="5111730"/>
            <a:ext cx="2477999" cy="482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b="1" i="1">
                <a:solidFill>
                  <a:schemeClr val="accent1"/>
                </a:solidFill>
                <a:latin typeface="+mj-lt"/>
                <a:ea typeface="+mj-ea"/>
                <a:cs typeface="+mj-cs"/>
                <a:sym typeface="Helvetica"/>
              </a:defRPr>
            </a:lvl1pPr>
          </a:lstStyle>
          <a:p>
            <a:r>
              <a:t>Pangram</a:t>
            </a:r>
          </a:p>
        </p:txBody>
      </p:sp>
      <p:sp>
        <p:nvSpPr>
          <p:cNvPr id="225" name="Shape 225"/>
          <p:cNvSpPr/>
          <p:nvPr/>
        </p:nvSpPr>
        <p:spPr>
          <a:xfrm>
            <a:off x="10053161" y="8655030"/>
            <a:ext cx="2678967" cy="863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b="1" i="1">
                <a:solidFill>
                  <a:schemeClr val="accent1"/>
                </a:solidFill>
                <a:latin typeface="+mj-lt"/>
                <a:ea typeface="+mj-ea"/>
                <a:cs typeface="+mj-cs"/>
                <a:sym typeface="Helvetica"/>
              </a:defRPr>
            </a:lvl1pPr>
          </a:lstStyle>
          <a:p>
            <a:r>
              <a:t>Benjamin Franklin</a:t>
            </a:r>
          </a:p>
        </p:txBody>
      </p:sp>
    </p:spTree>
    <p:extLst>
      <p:ext uri="{BB962C8B-B14F-4D97-AF65-F5344CB8AC3E}">
        <p14:creationId xmlns:p14="http://schemas.microsoft.com/office/powerpoint/2010/main" val="548254537"/>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Shape 227"/>
          <p:cNvSpPr>
            <a:spLocks noGrp="1"/>
          </p:cNvSpPr>
          <p:nvPr>
            <p:ph type="body" idx="13"/>
          </p:nvPr>
        </p:nvSpPr>
        <p:spPr>
          <a:xfrm>
            <a:off x="437232" y="3797300"/>
            <a:ext cx="12130336" cy="2159000"/>
          </a:xfrm>
          <a:prstGeom prst="rect">
            <a:avLst/>
          </a:prstGeom>
        </p:spPr>
        <p:txBody>
          <a:bodyPr/>
          <a:lstStyle/>
          <a:p>
            <a:r>
              <a:t>Interlude: text game</a:t>
            </a:r>
          </a:p>
        </p:txBody>
      </p:sp>
    </p:spTree>
    <p:extLst>
      <p:ext uri="{BB962C8B-B14F-4D97-AF65-F5344CB8AC3E}">
        <p14:creationId xmlns:p14="http://schemas.microsoft.com/office/powerpoint/2010/main" val="603476800"/>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hape 232"/>
          <p:cNvSpPr>
            <a:spLocks noGrp="1"/>
          </p:cNvSpPr>
          <p:nvPr>
            <p:ph type="title"/>
          </p:nvPr>
        </p:nvSpPr>
        <p:spPr>
          <a:prstGeom prst="rect">
            <a:avLst/>
          </a:prstGeom>
        </p:spPr>
        <p:txBody>
          <a:bodyPr/>
          <a:lstStyle/>
          <a:p>
            <a:r>
              <a:t>Shannon’s key idea</a:t>
            </a:r>
          </a:p>
        </p:txBody>
      </p:sp>
      <p:sp>
        <p:nvSpPr>
          <p:cNvPr id="233" name="Shape 233"/>
          <p:cNvSpPr>
            <a:spLocks noGrp="1"/>
          </p:cNvSpPr>
          <p:nvPr>
            <p:ph type="body" idx="1"/>
          </p:nvPr>
        </p:nvSpPr>
        <p:spPr>
          <a:prstGeom prst="rect">
            <a:avLst/>
          </a:prstGeom>
        </p:spPr>
        <p:txBody>
          <a:bodyPr/>
          <a:lstStyle/>
          <a:p>
            <a:r>
              <a:t>A discrete information source is characterized by the probabilities for emitting signals from the source</a:t>
            </a:r>
          </a:p>
        </p:txBody>
      </p:sp>
    </p:spTree>
    <p:extLst>
      <p:ext uri="{BB962C8B-B14F-4D97-AF65-F5344CB8AC3E}">
        <p14:creationId xmlns:p14="http://schemas.microsoft.com/office/powerpoint/2010/main" val="205900117"/>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1666138"/>
            <a:ext cx="13600070" cy="6886191"/>
            <a:chOff x="1218589" y="966891"/>
            <a:chExt cx="11786211" cy="5837321"/>
          </a:xfrm>
        </p:grpSpPr>
        <p:grpSp>
          <p:nvGrpSpPr>
            <p:cNvPr id="239" name="Group 239"/>
            <p:cNvGrpSpPr/>
            <p:nvPr/>
          </p:nvGrpSpPr>
          <p:grpSpPr>
            <a:xfrm>
              <a:off x="1218589" y="966891"/>
              <a:ext cx="11786211" cy="4761556"/>
              <a:chOff x="-2" y="-2"/>
              <a:chExt cx="9952043" cy="3670024"/>
            </a:xfrm>
          </p:grpSpPr>
          <p:pic>
            <p:nvPicPr>
              <p:cNvPr id="235" name="image25.jpg" descr="approx1.jpg"/>
              <p:cNvPicPr>
                <a:picLocks noChangeAspect="1"/>
              </p:cNvPicPr>
              <p:nvPr/>
            </p:nvPicPr>
            <p:blipFill>
              <a:blip r:embed="rId2">
                <a:extLst/>
              </a:blip>
              <a:stretch>
                <a:fillRect/>
              </a:stretch>
            </p:blipFill>
            <p:spPr>
              <a:xfrm>
                <a:off x="-2" y="-2"/>
                <a:ext cx="9194897" cy="3670024"/>
              </a:xfrm>
              <a:prstGeom prst="rect">
                <a:avLst/>
              </a:prstGeom>
              <a:ln w="12700" cap="flat">
                <a:noFill/>
                <a:miter lim="400000"/>
              </a:ln>
              <a:effectLst/>
            </p:spPr>
          </p:pic>
          <p:sp>
            <p:nvSpPr>
              <p:cNvPr id="238" name="Shape 238"/>
              <p:cNvSpPr/>
              <p:nvPr/>
            </p:nvSpPr>
            <p:spPr>
              <a:xfrm>
                <a:off x="9026269" y="-1"/>
                <a:ext cx="925772" cy="3670023"/>
              </a:xfrm>
              <a:prstGeom prst="rect">
                <a:avLst/>
              </a:prstGeom>
              <a:solidFill>
                <a:srgbClr val="FFFFFF"/>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
          <p:nvSpPr>
            <p:cNvPr id="7" name="Shape 238"/>
            <p:cNvSpPr/>
            <p:nvPr/>
          </p:nvSpPr>
          <p:spPr>
            <a:xfrm>
              <a:off x="1218589" y="5109882"/>
              <a:ext cx="7333740" cy="1694330"/>
            </a:xfrm>
            <a:prstGeom prst="rect">
              <a:avLst/>
            </a:prstGeom>
            <a:solidFill>
              <a:srgbClr val="FFFFFF"/>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Tree>
    <p:extLst>
      <p:ext uri="{BB962C8B-B14F-4D97-AF65-F5344CB8AC3E}">
        <p14:creationId xmlns:p14="http://schemas.microsoft.com/office/powerpoint/2010/main" val="967111102"/>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9" name="Group 239"/>
          <p:cNvGrpSpPr/>
          <p:nvPr/>
        </p:nvGrpSpPr>
        <p:grpSpPr>
          <a:xfrm>
            <a:off x="438659" y="-3172063"/>
            <a:ext cx="13407631" cy="12130319"/>
            <a:chOff x="-810425" y="56523"/>
            <a:chExt cx="13407629" cy="12130317"/>
          </a:xfrm>
        </p:grpSpPr>
        <p:grpSp>
          <p:nvGrpSpPr>
            <p:cNvPr id="237" name="Group 237"/>
            <p:cNvGrpSpPr/>
            <p:nvPr/>
          </p:nvGrpSpPr>
          <p:grpSpPr>
            <a:xfrm>
              <a:off x="-810425" y="56523"/>
              <a:ext cx="13407629" cy="12130317"/>
              <a:chOff x="-810424" y="56524"/>
              <a:chExt cx="13407626" cy="12130315"/>
            </a:xfrm>
          </p:grpSpPr>
          <p:pic>
            <p:nvPicPr>
              <p:cNvPr id="235" name="image25.jpg" descr="approx1.jpg"/>
              <p:cNvPicPr>
                <a:picLocks noChangeAspect="1"/>
              </p:cNvPicPr>
              <p:nvPr/>
            </p:nvPicPr>
            <p:blipFill>
              <a:blip r:embed="rId2">
                <a:extLst/>
              </a:blip>
              <a:stretch>
                <a:fillRect/>
              </a:stretch>
            </p:blipFill>
            <p:spPr>
              <a:xfrm>
                <a:off x="-810424" y="56524"/>
                <a:ext cx="13407626" cy="5351481"/>
              </a:xfrm>
              <a:prstGeom prst="rect">
                <a:avLst/>
              </a:prstGeom>
              <a:ln w="12700" cap="flat">
                <a:noFill/>
                <a:miter lim="400000"/>
              </a:ln>
              <a:effectLst/>
            </p:spPr>
          </p:pic>
          <p:pic>
            <p:nvPicPr>
              <p:cNvPr id="236" name="image26.jpg" descr="approx2.jpg"/>
              <p:cNvPicPr>
                <a:picLocks noChangeAspect="1"/>
              </p:cNvPicPr>
              <p:nvPr/>
            </p:nvPicPr>
            <p:blipFill>
              <a:blip r:embed="rId3">
                <a:extLst/>
              </a:blip>
              <a:stretch>
                <a:fillRect/>
              </a:stretch>
            </p:blipFill>
            <p:spPr>
              <a:xfrm>
                <a:off x="-499822" y="5569369"/>
                <a:ext cx="11890969" cy="6617470"/>
              </a:xfrm>
              <a:prstGeom prst="rect">
                <a:avLst/>
              </a:prstGeom>
              <a:ln w="12700" cap="flat">
                <a:noFill/>
                <a:miter lim="400000"/>
              </a:ln>
              <a:effectLst/>
            </p:spPr>
          </p:pic>
        </p:grpSp>
        <p:sp>
          <p:nvSpPr>
            <p:cNvPr id="238" name="Shape 238"/>
            <p:cNvSpPr/>
            <p:nvPr/>
          </p:nvSpPr>
          <p:spPr>
            <a:xfrm>
              <a:off x="10664110" y="295834"/>
              <a:ext cx="925772" cy="4897533"/>
            </a:xfrm>
            <a:prstGeom prst="rect">
              <a:avLst/>
            </a:prstGeom>
            <a:solidFill>
              <a:srgbClr val="FFFFFF"/>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
        <p:nvSpPr>
          <p:cNvPr id="12" name="Shape 238"/>
          <p:cNvSpPr/>
          <p:nvPr/>
        </p:nvSpPr>
        <p:spPr>
          <a:xfrm>
            <a:off x="277295" y="-2852070"/>
            <a:ext cx="13130336" cy="4116097"/>
          </a:xfrm>
          <a:prstGeom prst="rect">
            <a:avLst/>
          </a:prstGeom>
          <a:solidFill>
            <a:srgbClr val="FFFFFF"/>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Tree>
    <p:extLst>
      <p:ext uri="{BB962C8B-B14F-4D97-AF65-F5344CB8AC3E}">
        <p14:creationId xmlns:p14="http://schemas.microsoft.com/office/powerpoint/2010/main" val="361915367"/>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a:spLocks noGrp="1"/>
          </p:cNvSpPr>
          <p:nvPr>
            <p:ph type="title"/>
          </p:nvPr>
        </p:nvSpPr>
        <p:spPr>
          <a:prstGeom prst="rect">
            <a:avLst/>
          </a:prstGeom>
        </p:spPr>
        <p:txBody>
          <a:bodyPr/>
          <a:lstStyle/>
          <a:p>
            <a:r>
              <a:t>How to simulate the digram structure</a:t>
            </a:r>
          </a:p>
        </p:txBody>
      </p:sp>
      <p:pic>
        <p:nvPicPr>
          <p:cNvPr id="242" name="image27.jpg" descr="approx31.jpg"/>
          <p:cNvPicPr>
            <a:picLocks noChangeAspect="1"/>
          </p:cNvPicPr>
          <p:nvPr/>
        </p:nvPicPr>
        <p:blipFill>
          <a:blip r:embed="rId2">
            <a:extLst/>
          </a:blip>
          <a:stretch>
            <a:fillRect/>
          </a:stretch>
        </p:blipFill>
        <p:spPr>
          <a:xfrm>
            <a:off x="43317" y="3043428"/>
            <a:ext cx="12961483" cy="1620186"/>
          </a:xfrm>
          <a:prstGeom prst="rect">
            <a:avLst/>
          </a:prstGeom>
          <a:ln w="12700">
            <a:miter lim="400000"/>
          </a:ln>
        </p:spPr>
      </p:pic>
      <p:grpSp>
        <p:nvGrpSpPr>
          <p:cNvPr id="247" name="Group 247"/>
          <p:cNvGrpSpPr/>
          <p:nvPr/>
        </p:nvGrpSpPr>
        <p:grpSpPr>
          <a:xfrm>
            <a:off x="437232" y="5103542"/>
            <a:ext cx="11958637" cy="2178424"/>
            <a:chOff x="0" y="0"/>
            <a:chExt cx="11443539" cy="1773468"/>
          </a:xfrm>
        </p:grpSpPr>
        <p:pic>
          <p:nvPicPr>
            <p:cNvPr id="243" name="image28.jpg" descr="approx4.jpg"/>
            <p:cNvPicPr>
              <a:picLocks noChangeAspect="1"/>
            </p:cNvPicPr>
            <p:nvPr/>
          </p:nvPicPr>
          <p:blipFill>
            <a:blip r:embed="rId3">
              <a:extLst/>
            </a:blip>
            <a:stretch>
              <a:fillRect/>
            </a:stretch>
          </p:blipFill>
          <p:spPr>
            <a:xfrm>
              <a:off x="0" y="0"/>
              <a:ext cx="11443540" cy="1773469"/>
            </a:xfrm>
            <a:prstGeom prst="rect">
              <a:avLst/>
            </a:prstGeom>
            <a:ln w="12700" cap="flat">
              <a:noFill/>
              <a:miter lim="400000"/>
            </a:ln>
            <a:effectLst/>
          </p:spPr>
        </p:pic>
        <p:sp>
          <p:nvSpPr>
            <p:cNvPr id="244" name="Shape 244"/>
            <p:cNvSpPr/>
            <p:nvPr/>
          </p:nvSpPr>
          <p:spPr>
            <a:xfrm>
              <a:off x="0" y="152642"/>
              <a:ext cx="11443540" cy="678841"/>
            </a:xfrm>
            <a:prstGeom prst="rect">
              <a:avLst/>
            </a:prstGeom>
            <a:solidFill>
              <a:srgbClr val="FFFF00">
                <a:alpha val="20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245" name="Shape 245"/>
            <p:cNvSpPr/>
            <p:nvPr/>
          </p:nvSpPr>
          <p:spPr>
            <a:xfrm>
              <a:off x="-1" y="831482"/>
              <a:ext cx="4281783" cy="322450"/>
            </a:xfrm>
            <a:prstGeom prst="rect">
              <a:avLst/>
            </a:prstGeom>
            <a:solidFill>
              <a:srgbClr val="FFFF00">
                <a:alpha val="20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246" name="Shape 246"/>
            <p:cNvSpPr/>
            <p:nvPr/>
          </p:nvSpPr>
          <p:spPr>
            <a:xfrm>
              <a:off x="4841823" y="1442438"/>
              <a:ext cx="6143500" cy="331030"/>
            </a:xfrm>
            <a:prstGeom prst="rect">
              <a:avLst/>
            </a:prstGeom>
            <a:solidFill>
              <a:srgbClr val="FFFF00">
                <a:alpha val="22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Tree>
    <p:extLst>
      <p:ext uri="{BB962C8B-B14F-4D97-AF65-F5344CB8AC3E}">
        <p14:creationId xmlns:p14="http://schemas.microsoft.com/office/powerpoint/2010/main" val="2080050818"/>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TextBox 11"/>
              <p:cNvSpPr txBox="1"/>
              <p:nvPr/>
            </p:nvSpPr>
            <p:spPr>
              <a:xfrm>
                <a:off x="496556" y="2178338"/>
                <a:ext cx="12181604" cy="617541"/>
              </a:xfrm>
              <a:prstGeom prst="rect">
                <a:avLst/>
              </a:prstGeom>
              <a:noFill/>
            </p:spPr>
            <p:txBody>
              <a:bodyPr wrap="none" rtlCol="0">
                <a:spAutoFit/>
              </a:bodyPr>
              <a:lstStyle/>
              <a:p>
                <a:r>
                  <a:rPr lang="en-US" sz="3413" b="1" dirty="0" smtClean="0">
                    <a:cs typeface="+mj-cs"/>
                  </a:rPr>
                  <a:t>Suppose we have syllables </a:t>
                </a:r>
                <a:r>
                  <a:rPr lang="en-US" sz="3413" b="1" dirty="0">
                    <a:cs typeface="+mj-cs"/>
                  </a:rPr>
                  <a:t>with </a:t>
                </a:r>
                <a:r>
                  <a:rPr lang="en-US" sz="3413" b="1" dirty="0" smtClean="0">
                    <a:cs typeface="+mj-cs"/>
                  </a:rPr>
                  <a:t>probabilities </a:t>
                </a:r>
                <a14:m>
                  <m:oMath xmlns:m="http://schemas.openxmlformats.org/officeDocument/2006/math">
                    <m:sSub>
                      <m:sSubPr>
                        <m:ctrlPr>
                          <a:rPr lang="en-US" sz="3413" b="1" i="1" smtClean="0">
                            <a:latin typeface="Cambria Math" charset="0"/>
                            <a:cs typeface="+mj-cs"/>
                          </a:rPr>
                        </m:ctrlPr>
                      </m:sSubPr>
                      <m:e>
                        <m:r>
                          <a:rPr lang="en-US" sz="3413" b="1" i="1" smtClean="0">
                            <a:latin typeface="Cambria Math" charset="0"/>
                            <a:cs typeface="+mj-cs"/>
                          </a:rPr>
                          <m:t>𝒑</m:t>
                        </m:r>
                      </m:e>
                      <m:sub>
                        <m:r>
                          <a:rPr lang="en-US" sz="3413" b="1" i="1" smtClean="0">
                            <a:latin typeface="Cambria Math" charset="0"/>
                            <a:cs typeface="+mj-cs"/>
                          </a:rPr>
                          <m:t>𝟏</m:t>
                        </m:r>
                      </m:sub>
                    </m:sSub>
                    <m:r>
                      <a:rPr lang="en-US" sz="3413" b="1" i="1" smtClean="0">
                        <a:latin typeface="Cambria Math" charset="0"/>
                        <a:cs typeface="+mj-cs"/>
                      </a:rPr>
                      <m:t>,</m:t>
                    </m:r>
                    <m:sSub>
                      <m:sSubPr>
                        <m:ctrlPr>
                          <a:rPr lang="en-US" sz="3413" b="1" i="1" smtClean="0">
                            <a:latin typeface="Cambria Math" charset="0"/>
                            <a:cs typeface="+mj-cs"/>
                          </a:rPr>
                        </m:ctrlPr>
                      </m:sSubPr>
                      <m:e>
                        <m:r>
                          <a:rPr lang="en-US" sz="3413" b="1" i="1" smtClean="0">
                            <a:latin typeface="Cambria Math" charset="0"/>
                            <a:cs typeface="+mj-cs"/>
                          </a:rPr>
                          <m:t>𝒑</m:t>
                        </m:r>
                      </m:e>
                      <m:sub>
                        <m:r>
                          <a:rPr lang="en-US" sz="3413" b="1" i="1" smtClean="0">
                            <a:latin typeface="Cambria Math" charset="0"/>
                            <a:cs typeface="+mj-cs"/>
                          </a:rPr>
                          <m:t>𝟐</m:t>
                        </m:r>
                      </m:sub>
                    </m:sSub>
                    <m:r>
                      <a:rPr lang="en-US" sz="3413" b="1" i="1" smtClean="0">
                        <a:latin typeface="Cambria Math" charset="0"/>
                        <a:cs typeface="+mj-cs"/>
                      </a:rPr>
                      <m:t>,…, </m:t>
                    </m:r>
                    <m:sSub>
                      <m:sSubPr>
                        <m:ctrlPr>
                          <a:rPr lang="en-US" sz="3413" b="1" i="1" smtClean="0">
                            <a:latin typeface="Cambria Math" charset="0"/>
                            <a:cs typeface="+mj-cs"/>
                          </a:rPr>
                        </m:ctrlPr>
                      </m:sSubPr>
                      <m:e>
                        <m:r>
                          <a:rPr lang="en-US" sz="3413" b="1" i="1" smtClean="0">
                            <a:latin typeface="Cambria Math" charset="0"/>
                            <a:cs typeface="+mj-cs"/>
                          </a:rPr>
                          <m:t>𝒑</m:t>
                        </m:r>
                      </m:e>
                      <m:sub>
                        <m:r>
                          <a:rPr lang="en-US" sz="3413" b="1" i="1" smtClean="0">
                            <a:latin typeface="Cambria Math" charset="0"/>
                            <a:cs typeface="+mj-cs"/>
                          </a:rPr>
                          <m:t>𝑵</m:t>
                        </m:r>
                      </m:sub>
                    </m:sSub>
                  </m:oMath>
                </a14:m>
                <a:r>
                  <a:rPr lang="en-US" sz="3413" b="1" dirty="0" smtClean="0">
                    <a:cs typeface="+mj-cs"/>
                  </a:rPr>
                  <a:t> </a:t>
                </a:r>
                <a:endParaRPr lang="en-US" sz="3413" b="1" dirty="0">
                  <a:cs typeface="+mj-cs"/>
                </a:endParaRPr>
              </a:p>
            </p:txBody>
          </p:sp>
        </mc:Choice>
        <mc:Fallback>
          <p:sp>
            <p:nvSpPr>
              <p:cNvPr id="12" name="TextBox 11"/>
              <p:cNvSpPr txBox="1">
                <a:spLocks noRot="1" noChangeAspect="1" noMove="1" noResize="1" noEditPoints="1" noAdjustHandles="1" noChangeArrowheads="1" noChangeShapeType="1" noTextEdit="1"/>
              </p:cNvSpPr>
              <p:nvPr/>
            </p:nvSpPr>
            <p:spPr>
              <a:xfrm>
                <a:off x="496556" y="2178338"/>
                <a:ext cx="12181604" cy="617541"/>
              </a:xfrm>
              <a:prstGeom prst="rect">
                <a:avLst/>
              </a:prstGeom>
              <a:blipFill rotWithShape="0">
                <a:blip r:embed="rId3"/>
                <a:stretch>
                  <a:fillRect l="-950" t="-13725" b="-33333"/>
                </a:stretch>
              </a:blipFill>
            </p:spPr>
            <p:txBody>
              <a:bodyPr/>
              <a:lstStyle/>
              <a:p>
                <a:r>
                  <a:rPr lang="en-US">
                    <a:noFill/>
                  </a:rPr>
                  <a:t> </a:t>
                </a:r>
              </a:p>
            </p:txBody>
          </p:sp>
        </mc:Fallback>
      </mc:AlternateContent>
      <p:sp>
        <p:nvSpPr>
          <p:cNvPr id="13" name="TextBox 12"/>
          <p:cNvSpPr txBox="1"/>
          <p:nvPr/>
        </p:nvSpPr>
        <p:spPr>
          <a:xfrm>
            <a:off x="543075" y="3254493"/>
            <a:ext cx="11625298" cy="1142749"/>
          </a:xfrm>
          <a:prstGeom prst="rect">
            <a:avLst/>
          </a:prstGeom>
          <a:noFill/>
        </p:spPr>
        <p:txBody>
          <a:bodyPr wrap="none" rtlCol="0">
            <a:spAutoFit/>
          </a:bodyPr>
          <a:lstStyle/>
          <a:p>
            <a:r>
              <a:rPr lang="en-US" sz="3413" b="1" dirty="0"/>
              <a:t>How much choice do we have in the selection a word? </a:t>
            </a:r>
          </a:p>
          <a:p>
            <a:r>
              <a:rPr lang="en-US" sz="3413" b="1" dirty="0"/>
              <a:t>How uncertain are we of the outcome?</a:t>
            </a:r>
          </a:p>
        </p:txBody>
      </p:sp>
      <p:sp>
        <p:nvSpPr>
          <p:cNvPr id="16" name="TextBox 15"/>
          <p:cNvSpPr txBox="1"/>
          <p:nvPr/>
        </p:nvSpPr>
        <p:spPr>
          <a:xfrm>
            <a:off x="543075" y="4838306"/>
            <a:ext cx="12088567" cy="1142749"/>
          </a:xfrm>
          <a:prstGeom prst="rect">
            <a:avLst/>
          </a:prstGeom>
          <a:noFill/>
        </p:spPr>
        <p:txBody>
          <a:bodyPr wrap="none" rtlCol="0">
            <a:spAutoFit/>
          </a:bodyPr>
          <a:lstStyle/>
          <a:p>
            <a:r>
              <a:rPr lang="en-US" sz="3413" b="1" dirty="0"/>
              <a:t>Entropy – measure of disorder or uncertainty in a system</a:t>
            </a:r>
          </a:p>
          <a:p>
            <a:endParaRPr lang="en-US" sz="3413" dirty="0"/>
          </a:p>
        </p:txBody>
      </p:sp>
      <p:sp>
        <p:nvSpPr>
          <p:cNvPr id="23" name="TextBox 22"/>
          <p:cNvSpPr txBox="1"/>
          <p:nvPr/>
        </p:nvSpPr>
        <p:spPr>
          <a:xfrm>
            <a:off x="543075" y="5812767"/>
            <a:ext cx="12088567" cy="2193164"/>
          </a:xfrm>
          <a:prstGeom prst="rect">
            <a:avLst/>
          </a:prstGeom>
          <a:noFill/>
        </p:spPr>
        <p:txBody>
          <a:bodyPr wrap="square" rtlCol="0">
            <a:spAutoFit/>
          </a:bodyPr>
          <a:lstStyle/>
          <a:p>
            <a:pPr algn="l"/>
            <a:r>
              <a:rPr lang="en-US" sz="3413" b="1" u="sng" dirty="0">
                <a:solidFill>
                  <a:srgbClr val="C00000"/>
                </a:solidFill>
              </a:rPr>
              <a:t>Maximum entropy </a:t>
            </a:r>
            <a:r>
              <a:rPr lang="en-US" sz="3413" b="1" u="sng" dirty="0" smtClean="0">
                <a:solidFill>
                  <a:srgbClr val="C00000"/>
                </a:solidFill>
              </a:rPr>
              <a:t>example</a:t>
            </a:r>
          </a:p>
          <a:p>
            <a:pPr algn="l"/>
            <a:r>
              <a:rPr lang="en-US" sz="3413" b="1" dirty="0" smtClean="0"/>
              <a:t>toss </a:t>
            </a:r>
            <a:r>
              <a:rPr lang="en-US" sz="3413" b="1" dirty="0"/>
              <a:t>a fair coin many </a:t>
            </a:r>
            <a:r>
              <a:rPr lang="en-US" sz="3413" b="1" dirty="0" smtClean="0"/>
              <a:t>times; no </a:t>
            </a:r>
            <a:r>
              <a:rPr lang="en-US" sz="3413" b="1" dirty="0"/>
              <a:t>way to predict outcome of </a:t>
            </a:r>
            <a:r>
              <a:rPr lang="en-US" sz="3413" b="1" dirty="0" smtClean="0"/>
              <a:t>  next </a:t>
            </a:r>
            <a:r>
              <a:rPr lang="en-US" sz="3413" b="1" dirty="0"/>
              <a:t>toss </a:t>
            </a:r>
          </a:p>
          <a:p>
            <a:endParaRPr lang="en-US" sz="3413" dirty="0"/>
          </a:p>
        </p:txBody>
      </p:sp>
      <p:sp>
        <p:nvSpPr>
          <p:cNvPr id="24" name="TextBox 23"/>
          <p:cNvSpPr txBox="1"/>
          <p:nvPr/>
        </p:nvSpPr>
        <p:spPr>
          <a:xfrm>
            <a:off x="543076" y="7762882"/>
            <a:ext cx="11543760" cy="1667957"/>
          </a:xfrm>
          <a:prstGeom prst="rect">
            <a:avLst/>
          </a:prstGeom>
          <a:noFill/>
        </p:spPr>
        <p:txBody>
          <a:bodyPr wrap="square" rtlCol="0">
            <a:spAutoFit/>
          </a:bodyPr>
          <a:lstStyle/>
          <a:p>
            <a:pPr algn="l"/>
            <a:r>
              <a:rPr lang="en-US" sz="3413" b="1" u="sng" dirty="0">
                <a:solidFill>
                  <a:srgbClr val="C00000"/>
                </a:solidFill>
              </a:rPr>
              <a:t>Minimum entropy </a:t>
            </a:r>
            <a:r>
              <a:rPr lang="en-US" sz="3413" b="1" u="sng" dirty="0" smtClean="0">
                <a:solidFill>
                  <a:srgbClr val="C00000"/>
                </a:solidFill>
              </a:rPr>
              <a:t>example</a:t>
            </a:r>
          </a:p>
          <a:p>
            <a:pPr algn="l"/>
            <a:r>
              <a:rPr lang="en-US" sz="3413" b="1" dirty="0" smtClean="0"/>
              <a:t>toss </a:t>
            </a:r>
            <a:r>
              <a:rPr lang="en-US" sz="3413" b="1" dirty="0"/>
              <a:t>a two-tailed coin many </a:t>
            </a:r>
            <a:r>
              <a:rPr lang="en-US" sz="3413" b="1" dirty="0" smtClean="0"/>
              <a:t>times; outcome </a:t>
            </a:r>
            <a:r>
              <a:rPr lang="en-US" sz="3413" b="1" dirty="0"/>
              <a:t>is certain, next toss is tails</a:t>
            </a:r>
          </a:p>
        </p:txBody>
      </p:sp>
      <p:sp>
        <p:nvSpPr>
          <p:cNvPr id="9" name="Shape 262"/>
          <p:cNvSpPr>
            <a:spLocks noGrp="1"/>
          </p:cNvSpPr>
          <p:nvPr>
            <p:ph type="title"/>
          </p:nvPr>
        </p:nvSpPr>
        <p:spPr>
          <a:xfrm>
            <a:off x="437232" y="63500"/>
            <a:ext cx="12130336" cy="2159000"/>
          </a:xfrm>
          <a:prstGeom prst="rect">
            <a:avLst/>
          </a:prstGeom>
        </p:spPr>
        <p:txBody>
          <a:bodyPr/>
          <a:lstStyle/>
          <a:p>
            <a:r>
              <a:rPr lang="en-US" dirty="0" smtClean="0"/>
              <a:t>Measuring information content</a:t>
            </a:r>
            <a:endParaRPr dirty="0"/>
          </a:p>
        </p:txBody>
      </p:sp>
    </p:spTree>
    <p:extLst>
      <p:ext uri="{BB962C8B-B14F-4D97-AF65-F5344CB8AC3E}">
        <p14:creationId xmlns:p14="http://schemas.microsoft.com/office/powerpoint/2010/main" val="1831956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3"/>
          <a:srcRect l="8493" t="13256" r="21072" b="9580"/>
          <a:stretch/>
        </p:blipFill>
        <p:spPr>
          <a:xfrm>
            <a:off x="6490996" y="1580533"/>
            <a:ext cx="6513805" cy="5352121"/>
          </a:xfrm>
          <a:prstGeom prst="rect">
            <a:avLst/>
          </a:prstGeom>
        </p:spPr>
      </p:pic>
      <p:sp>
        <p:nvSpPr>
          <p:cNvPr id="16" name="TextBox 15"/>
          <p:cNvSpPr txBox="1"/>
          <p:nvPr/>
        </p:nvSpPr>
        <p:spPr>
          <a:xfrm>
            <a:off x="486452" y="1846001"/>
            <a:ext cx="3834704" cy="617541"/>
          </a:xfrm>
          <a:prstGeom prst="rect">
            <a:avLst/>
          </a:prstGeom>
          <a:noFill/>
        </p:spPr>
        <p:txBody>
          <a:bodyPr wrap="none" rtlCol="0">
            <a:spAutoFit/>
          </a:bodyPr>
          <a:lstStyle/>
          <a:p>
            <a:r>
              <a:rPr lang="en-US" sz="3413" b="1" dirty="0"/>
              <a:t>Shannon Entropy</a:t>
            </a:r>
          </a:p>
        </p:txBody>
      </p:sp>
      <p:pic>
        <p:nvPicPr>
          <p:cNvPr id="6" name="Picture 5"/>
          <p:cNvPicPr>
            <a:picLocks noChangeAspect="1"/>
          </p:cNvPicPr>
          <p:nvPr/>
        </p:nvPicPr>
        <p:blipFill>
          <a:blip r:embed="rId4"/>
          <a:stretch>
            <a:fillRect/>
          </a:stretch>
        </p:blipFill>
        <p:spPr>
          <a:xfrm>
            <a:off x="2276032" y="2574838"/>
            <a:ext cx="3765973" cy="1463040"/>
          </a:xfrm>
          <a:prstGeom prst="rect">
            <a:avLst/>
          </a:prstGeom>
        </p:spPr>
      </p:pic>
      <p:pic>
        <p:nvPicPr>
          <p:cNvPr id="7" name="Picture 6"/>
          <p:cNvPicPr>
            <a:picLocks noChangeAspect="1"/>
          </p:cNvPicPr>
          <p:nvPr/>
        </p:nvPicPr>
        <p:blipFill>
          <a:blip r:embed="rId5"/>
          <a:stretch>
            <a:fillRect/>
          </a:stretch>
        </p:blipFill>
        <p:spPr>
          <a:xfrm>
            <a:off x="961667" y="5931284"/>
            <a:ext cx="6394027" cy="704427"/>
          </a:xfrm>
          <a:prstGeom prst="rect">
            <a:avLst/>
          </a:prstGeom>
        </p:spPr>
      </p:pic>
      <p:pic>
        <p:nvPicPr>
          <p:cNvPr id="8" name="Picture 7"/>
          <p:cNvPicPr>
            <a:picLocks noChangeAspect="1"/>
          </p:cNvPicPr>
          <p:nvPr/>
        </p:nvPicPr>
        <p:blipFill>
          <a:blip r:embed="rId6"/>
          <a:stretch>
            <a:fillRect/>
          </a:stretch>
        </p:blipFill>
        <p:spPr>
          <a:xfrm>
            <a:off x="860823" y="4698537"/>
            <a:ext cx="1761067" cy="731520"/>
          </a:xfrm>
          <a:prstGeom prst="rect">
            <a:avLst/>
          </a:prstGeom>
        </p:spPr>
      </p:pic>
      <p:pic>
        <p:nvPicPr>
          <p:cNvPr id="9" name="Picture 8"/>
          <p:cNvPicPr>
            <a:picLocks noChangeAspect="1"/>
          </p:cNvPicPr>
          <p:nvPr/>
        </p:nvPicPr>
        <p:blipFill>
          <a:blip r:embed="rId7"/>
          <a:stretch>
            <a:fillRect/>
          </a:stretch>
        </p:blipFill>
        <p:spPr>
          <a:xfrm>
            <a:off x="865337" y="5226857"/>
            <a:ext cx="3657600" cy="1056640"/>
          </a:xfrm>
          <a:prstGeom prst="rect">
            <a:avLst/>
          </a:prstGeom>
        </p:spPr>
      </p:pic>
      <p:sp>
        <p:nvSpPr>
          <p:cNvPr id="10" name="TextBox 9"/>
          <p:cNvSpPr txBox="1"/>
          <p:nvPr/>
        </p:nvSpPr>
        <p:spPr>
          <a:xfrm>
            <a:off x="596961" y="4014826"/>
            <a:ext cx="3457998" cy="617541"/>
          </a:xfrm>
          <a:prstGeom prst="rect">
            <a:avLst/>
          </a:prstGeom>
          <a:noFill/>
        </p:spPr>
        <p:txBody>
          <a:bodyPr wrap="none" rtlCol="0">
            <a:spAutoFit/>
          </a:bodyPr>
          <a:lstStyle/>
          <a:p>
            <a:r>
              <a:rPr lang="en-US" sz="3413" b="1" dirty="0"/>
              <a:t>Example (</a:t>
            </a:r>
            <a:r>
              <a:rPr lang="en-US" sz="3413" b="1" i="1" dirty="0"/>
              <a:t>N</a:t>
            </a:r>
            <a:r>
              <a:rPr lang="en-US" sz="3413" b="1" dirty="0"/>
              <a:t> = 2)</a:t>
            </a:r>
          </a:p>
        </p:txBody>
      </p:sp>
      <p:sp>
        <p:nvSpPr>
          <p:cNvPr id="18" name="TextBox 17"/>
          <p:cNvSpPr txBox="1"/>
          <p:nvPr/>
        </p:nvSpPr>
        <p:spPr>
          <a:xfrm>
            <a:off x="482623" y="7163705"/>
            <a:ext cx="11270432" cy="617541"/>
          </a:xfrm>
          <a:prstGeom prst="rect">
            <a:avLst/>
          </a:prstGeom>
          <a:noFill/>
        </p:spPr>
        <p:txBody>
          <a:bodyPr wrap="square" rtlCol="0">
            <a:spAutoFit/>
          </a:bodyPr>
          <a:lstStyle/>
          <a:p>
            <a:pPr algn="l"/>
            <a:r>
              <a:rPr lang="en-US" sz="3413" i="1" dirty="0"/>
              <a:t>H</a:t>
            </a:r>
            <a:r>
              <a:rPr lang="en-US" sz="3413" dirty="0"/>
              <a:t> = 0 only if </a:t>
            </a:r>
            <a:r>
              <a:rPr lang="en-US" sz="3413" i="1" dirty="0"/>
              <a:t>p</a:t>
            </a:r>
            <a:r>
              <a:rPr lang="en-US" sz="3413" dirty="0"/>
              <a:t> = 0 or </a:t>
            </a:r>
            <a:r>
              <a:rPr lang="en-US" sz="3413" i="1" dirty="0"/>
              <a:t>p</a:t>
            </a:r>
            <a:r>
              <a:rPr lang="en-US" sz="3413" dirty="0"/>
              <a:t> = 1.  </a:t>
            </a:r>
            <a:r>
              <a:rPr lang="en-US" sz="3413" dirty="0" smtClean="0"/>
              <a:t>Does this make sense?</a:t>
            </a:r>
            <a:endParaRPr lang="en-US" sz="3413" dirty="0"/>
          </a:p>
        </p:txBody>
      </p:sp>
      <p:sp>
        <p:nvSpPr>
          <p:cNvPr id="19" name="TextBox 18"/>
          <p:cNvSpPr txBox="1"/>
          <p:nvPr/>
        </p:nvSpPr>
        <p:spPr>
          <a:xfrm>
            <a:off x="0" y="8257535"/>
            <a:ext cx="13221451" cy="617541"/>
          </a:xfrm>
          <a:prstGeom prst="rect">
            <a:avLst/>
          </a:prstGeom>
          <a:noFill/>
        </p:spPr>
        <p:txBody>
          <a:bodyPr wrap="square" rtlCol="0">
            <a:spAutoFit/>
          </a:bodyPr>
          <a:lstStyle/>
          <a:p>
            <a:r>
              <a:rPr lang="en-US" sz="3413" i="1" dirty="0"/>
              <a:t>H </a:t>
            </a:r>
            <a:r>
              <a:rPr lang="en-US" sz="3413" dirty="0"/>
              <a:t>attains it’s maximum value at </a:t>
            </a:r>
            <a:r>
              <a:rPr lang="en-US" sz="3413" i="1" dirty="0"/>
              <a:t>p</a:t>
            </a:r>
            <a:r>
              <a:rPr lang="en-US" sz="3413" dirty="0"/>
              <a:t> = </a:t>
            </a:r>
            <a:r>
              <a:rPr lang="en-US" sz="3413" dirty="0" smtClean="0"/>
              <a:t>½.  Does this make sense?</a:t>
            </a:r>
            <a:endParaRPr lang="en-US" sz="3413" dirty="0"/>
          </a:p>
        </p:txBody>
      </p:sp>
      <p:sp>
        <p:nvSpPr>
          <p:cNvPr id="12" name="Shape 262"/>
          <p:cNvSpPr>
            <a:spLocks noGrp="1"/>
          </p:cNvSpPr>
          <p:nvPr>
            <p:ph type="title"/>
          </p:nvPr>
        </p:nvSpPr>
        <p:spPr>
          <a:xfrm>
            <a:off x="437232" y="63500"/>
            <a:ext cx="12130336" cy="2159000"/>
          </a:xfrm>
          <a:prstGeom prst="rect">
            <a:avLst/>
          </a:prstGeom>
        </p:spPr>
        <p:txBody>
          <a:bodyPr/>
          <a:lstStyle/>
          <a:p>
            <a:r>
              <a:rPr lang="en-US" dirty="0" smtClean="0"/>
              <a:t>Measuring information content</a:t>
            </a:r>
            <a:endParaRPr dirty="0"/>
          </a:p>
        </p:txBody>
      </p:sp>
    </p:spTree>
    <p:extLst>
      <p:ext uri="{BB962C8B-B14F-4D97-AF65-F5344CB8AC3E}">
        <p14:creationId xmlns:p14="http://schemas.microsoft.com/office/powerpoint/2010/main" val="15160850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459674" y="2684204"/>
            <a:ext cx="3834704" cy="617541"/>
          </a:xfrm>
          <a:prstGeom prst="rect">
            <a:avLst/>
          </a:prstGeom>
          <a:noFill/>
        </p:spPr>
        <p:txBody>
          <a:bodyPr wrap="none" rtlCol="0">
            <a:spAutoFit/>
          </a:bodyPr>
          <a:lstStyle/>
          <a:p>
            <a:r>
              <a:rPr lang="en-US" sz="3413" b="1" dirty="0"/>
              <a:t>Shannon Entropy</a:t>
            </a:r>
          </a:p>
        </p:txBody>
      </p:sp>
      <p:pic>
        <p:nvPicPr>
          <p:cNvPr id="6" name="Picture 5"/>
          <p:cNvPicPr>
            <a:picLocks noChangeAspect="1"/>
          </p:cNvPicPr>
          <p:nvPr/>
        </p:nvPicPr>
        <p:blipFill>
          <a:blip r:embed="rId2"/>
          <a:stretch>
            <a:fillRect/>
          </a:stretch>
        </p:blipFill>
        <p:spPr>
          <a:xfrm>
            <a:off x="2537498" y="3354767"/>
            <a:ext cx="3765973" cy="1463040"/>
          </a:xfrm>
          <a:prstGeom prst="rect">
            <a:avLst/>
          </a:prstGeom>
        </p:spPr>
      </p:pic>
      <p:sp>
        <p:nvSpPr>
          <p:cNvPr id="20" name="TextBox 19"/>
          <p:cNvSpPr txBox="1"/>
          <p:nvPr/>
        </p:nvSpPr>
        <p:spPr>
          <a:xfrm>
            <a:off x="459674" y="4724397"/>
            <a:ext cx="10261143" cy="617541"/>
          </a:xfrm>
          <a:prstGeom prst="rect">
            <a:avLst/>
          </a:prstGeom>
          <a:noFill/>
        </p:spPr>
        <p:txBody>
          <a:bodyPr wrap="none" rtlCol="0">
            <a:spAutoFit/>
          </a:bodyPr>
          <a:lstStyle/>
          <a:p>
            <a:r>
              <a:rPr lang="en-US" sz="3413" b="1" dirty="0"/>
              <a:t>Measures the amount of information transmitted</a:t>
            </a:r>
          </a:p>
        </p:txBody>
      </p:sp>
      <p:sp>
        <p:nvSpPr>
          <p:cNvPr id="21" name="TextBox 20"/>
          <p:cNvSpPr txBox="1"/>
          <p:nvPr/>
        </p:nvSpPr>
        <p:spPr>
          <a:xfrm>
            <a:off x="437232" y="5942340"/>
            <a:ext cx="12207189" cy="1142749"/>
          </a:xfrm>
          <a:prstGeom prst="rect">
            <a:avLst/>
          </a:prstGeom>
          <a:noFill/>
        </p:spPr>
        <p:txBody>
          <a:bodyPr wrap="none" rtlCol="0">
            <a:spAutoFit/>
          </a:bodyPr>
          <a:lstStyle/>
          <a:p>
            <a:r>
              <a:rPr lang="en-US" sz="3413" b="1" dirty="0"/>
              <a:t>When you utter a word, how many other choices of words</a:t>
            </a:r>
          </a:p>
          <a:p>
            <a:r>
              <a:rPr lang="en-US" sz="3413" b="1" dirty="0"/>
              <a:t>are you choosing between?</a:t>
            </a:r>
          </a:p>
        </p:txBody>
      </p:sp>
      <p:sp>
        <p:nvSpPr>
          <p:cNvPr id="7" name="Shape 262"/>
          <p:cNvSpPr>
            <a:spLocks noGrp="1"/>
          </p:cNvSpPr>
          <p:nvPr>
            <p:ph type="title"/>
          </p:nvPr>
        </p:nvSpPr>
        <p:spPr>
          <a:xfrm>
            <a:off x="437232" y="63500"/>
            <a:ext cx="12130336" cy="2159000"/>
          </a:xfrm>
          <a:prstGeom prst="rect">
            <a:avLst/>
          </a:prstGeom>
        </p:spPr>
        <p:txBody>
          <a:bodyPr/>
          <a:lstStyle/>
          <a:p>
            <a:r>
              <a:rPr lang="en-US" dirty="0" smtClean="0"/>
              <a:t>Measuring information content</a:t>
            </a:r>
            <a:endParaRPr dirty="0"/>
          </a:p>
        </p:txBody>
      </p:sp>
    </p:spTree>
    <p:extLst>
      <p:ext uri="{BB962C8B-B14F-4D97-AF65-F5344CB8AC3E}">
        <p14:creationId xmlns:p14="http://schemas.microsoft.com/office/powerpoint/2010/main" val="14862423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7232" y="1963120"/>
            <a:ext cx="13109106" cy="1142749"/>
          </a:xfrm>
          <a:prstGeom prst="rect">
            <a:avLst/>
          </a:prstGeom>
          <a:noFill/>
        </p:spPr>
        <p:txBody>
          <a:bodyPr wrap="square" rtlCol="0">
            <a:spAutoFit/>
          </a:bodyPr>
          <a:lstStyle/>
          <a:p>
            <a:pPr algn="l"/>
            <a:r>
              <a:rPr lang="en-US" sz="3413" b="1" dirty="0"/>
              <a:t>What is the probability of the MOST probable word of </a:t>
            </a:r>
            <a:r>
              <a:rPr lang="en-US" sz="3413" b="1" i="1" dirty="0"/>
              <a:t>N</a:t>
            </a:r>
            <a:r>
              <a:rPr lang="en-US" sz="3413" b="1" dirty="0"/>
              <a:t> symbols?</a:t>
            </a:r>
          </a:p>
        </p:txBody>
      </p:sp>
      <p:sp>
        <p:nvSpPr>
          <p:cNvPr id="5" name="TextBox 4"/>
          <p:cNvSpPr txBox="1"/>
          <p:nvPr/>
        </p:nvSpPr>
        <p:spPr>
          <a:xfrm>
            <a:off x="435640" y="3533545"/>
            <a:ext cx="11933267" cy="1667957"/>
          </a:xfrm>
          <a:prstGeom prst="rect">
            <a:avLst/>
          </a:prstGeom>
          <a:noFill/>
        </p:spPr>
        <p:txBody>
          <a:bodyPr wrap="square" rtlCol="0">
            <a:spAutoFit/>
          </a:bodyPr>
          <a:lstStyle/>
          <a:p>
            <a:pPr algn="l"/>
            <a:r>
              <a:rPr lang="en-US" sz="3413" b="1" dirty="0"/>
              <a:t>Suppose we have a word with </a:t>
            </a:r>
            <a:r>
              <a:rPr lang="en-US" sz="3413" b="1" i="1" dirty="0"/>
              <a:t>N</a:t>
            </a:r>
            <a:r>
              <a:rPr lang="en-US" sz="3413" b="1" dirty="0"/>
              <a:t> symbols</a:t>
            </a:r>
            <a:r>
              <a:rPr lang="en-US" sz="3413" b="1" dirty="0" smtClean="0"/>
              <a:t>.</a:t>
            </a:r>
          </a:p>
          <a:p>
            <a:pPr algn="l"/>
            <a:r>
              <a:rPr lang="en-US" sz="3413" b="1" dirty="0" smtClean="0"/>
              <a:t>  </a:t>
            </a:r>
            <a:endParaRPr lang="en-US" sz="3413" b="1" dirty="0"/>
          </a:p>
          <a:p>
            <a:pPr algn="l"/>
            <a:r>
              <a:rPr lang="en-US" sz="3413" b="1" dirty="0"/>
              <a:t>On average, there will be</a:t>
            </a:r>
          </a:p>
        </p:txBody>
      </p:sp>
      <p:sp>
        <p:nvSpPr>
          <p:cNvPr id="2" name="TextBox 1"/>
          <p:cNvSpPr txBox="1"/>
          <p:nvPr/>
        </p:nvSpPr>
        <p:spPr>
          <a:xfrm>
            <a:off x="1699155" y="5636863"/>
            <a:ext cx="9071714" cy="1667957"/>
          </a:xfrm>
          <a:prstGeom prst="rect">
            <a:avLst/>
          </a:prstGeom>
          <a:noFill/>
        </p:spPr>
        <p:txBody>
          <a:bodyPr wrap="none" rtlCol="0">
            <a:spAutoFit/>
          </a:bodyPr>
          <a:lstStyle/>
          <a:p>
            <a:pPr algn="l"/>
            <a:r>
              <a:rPr lang="en-US" sz="3413" b="1" dirty="0"/>
              <a:t>occurrences of the first symbol</a:t>
            </a:r>
          </a:p>
          <a:p>
            <a:pPr algn="l"/>
            <a:r>
              <a:rPr lang="en-US" sz="3413" b="1" dirty="0"/>
              <a:t>occurrences of the second second symbol</a:t>
            </a:r>
          </a:p>
          <a:p>
            <a:endParaRPr lang="en-US" sz="3413" dirty="0"/>
          </a:p>
        </p:txBody>
      </p:sp>
      <p:pic>
        <p:nvPicPr>
          <p:cNvPr id="6" name="Picture 5"/>
          <p:cNvPicPr>
            <a:picLocks noChangeAspect="1"/>
          </p:cNvPicPr>
          <p:nvPr/>
        </p:nvPicPr>
        <p:blipFill>
          <a:blip r:embed="rId2"/>
          <a:stretch>
            <a:fillRect/>
          </a:stretch>
        </p:blipFill>
        <p:spPr>
          <a:xfrm>
            <a:off x="647739" y="8208821"/>
            <a:ext cx="4450532" cy="1271580"/>
          </a:xfrm>
          <a:prstGeom prst="rect">
            <a:avLst/>
          </a:prstGeom>
        </p:spPr>
      </p:pic>
      <p:sp>
        <p:nvSpPr>
          <p:cNvPr id="9" name="TextBox 8"/>
          <p:cNvSpPr txBox="1"/>
          <p:nvPr/>
        </p:nvSpPr>
        <p:spPr>
          <a:xfrm>
            <a:off x="435640" y="7496279"/>
            <a:ext cx="7608173" cy="617541"/>
          </a:xfrm>
          <a:prstGeom prst="rect">
            <a:avLst/>
          </a:prstGeom>
          <a:noFill/>
        </p:spPr>
        <p:txBody>
          <a:bodyPr wrap="none" rtlCol="0">
            <a:spAutoFit/>
          </a:bodyPr>
          <a:lstStyle/>
          <a:p>
            <a:r>
              <a:rPr lang="en-US" sz="3413" b="1" dirty="0"/>
              <a:t>Hence the probability of the word is</a:t>
            </a:r>
          </a:p>
        </p:txBody>
      </p:sp>
      <p:sp>
        <p:nvSpPr>
          <p:cNvPr id="10" name="TextBox 9"/>
          <p:cNvSpPr txBox="1"/>
          <p:nvPr/>
        </p:nvSpPr>
        <p:spPr>
          <a:xfrm rot="5400000" flipV="1">
            <a:off x="826074" y="6934015"/>
            <a:ext cx="743711" cy="617541"/>
          </a:xfrm>
          <a:prstGeom prst="rect">
            <a:avLst/>
          </a:prstGeom>
          <a:noFill/>
          <a:scene3d>
            <a:camera prst="orthographicFront"/>
            <a:lightRig rig="threePt" dir="t"/>
          </a:scene3d>
        </p:spPr>
        <p:txBody>
          <a:bodyPr wrap="square" rtlCol="0">
            <a:spAutoFit/>
          </a:bodyPr>
          <a:lstStyle/>
          <a:p>
            <a:r>
              <a:rPr lang="en-US" sz="3413" b="1" dirty="0"/>
              <a:t>…</a:t>
            </a:r>
          </a:p>
        </p:txBody>
      </p:sp>
      <p:pic>
        <p:nvPicPr>
          <p:cNvPr id="11" name="Picture 10"/>
          <p:cNvPicPr>
            <a:picLocks noChangeAspect="1"/>
          </p:cNvPicPr>
          <p:nvPr/>
        </p:nvPicPr>
        <p:blipFill>
          <a:blip r:embed="rId3"/>
          <a:stretch>
            <a:fillRect/>
          </a:stretch>
        </p:blipFill>
        <p:spPr>
          <a:xfrm>
            <a:off x="696702" y="5701732"/>
            <a:ext cx="1002453" cy="1300480"/>
          </a:xfrm>
          <a:prstGeom prst="rect">
            <a:avLst/>
          </a:prstGeom>
        </p:spPr>
      </p:pic>
      <p:sp>
        <p:nvSpPr>
          <p:cNvPr id="14" name="Shape 262"/>
          <p:cNvSpPr>
            <a:spLocks noGrp="1"/>
          </p:cNvSpPr>
          <p:nvPr>
            <p:ph type="title"/>
          </p:nvPr>
        </p:nvSpPr>
        <p:spPr>
          <a:xfrm>
            <a:off x="437232" y="63500"/>
            <a:ext cx="12130336" cy="2159000"/>
          </a:xfrm>
          <a:prstGeom prst="rect">
            <a:avLst/>
          </a:prstGeom>
        </p:spPr>
        <p:txBody>
          <a:bodyPr/>
          <a:lstStyle/>
          <a:p>
            <a:r>
              <a:rPr lang="en-US" dirty="0" smtClean="0"/>
              <a:t>Measuring information content</a:t>
            </a:r>
            <a:endParaRPr dirty="0"/>
          </a:p>
        </p:txBody>
      </p:sp>
    </p:spTree>
    <p:extLst>
      <p:ext uri="{BB962C8B-B14F-4D97-AF65-F5344CB8AC3E}">
        <p14:creationId xmlns:p14="http://schemas.microsoft.com/office/powerpoint/2010/main" val="18923907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164378" y="2654814"/>
            <a:ext cx="4984348" cy="1424100"/>
          </a:xfrm>
          <a:prstGeom prst="rect">
            <a:avLst/>
          </a:prstGeom>
        </p:spPr>
      </p:pic>
      <p:pic>
        <p:nvPicPr>
          <p:cNvPr id="7" name="Picture 6"/>
          <p:cNvPicPr>
            <a:picLocks noChangeAspect="1"/>
          </p:cNvPicPr>
          <p:nvPr/>
        </p:nvPicPr>
        <p:blipFill>
          <a:blip r:embed="rId3"/>
          <a:stretch>
            <a:fillRect/>
          </a:stretch>
        </p:blipFill>
        <p:spPr>
          <a:xfrm>
            <a:off x="6823925" y="4794185"/>
            <a:ext cx="3765973" cy="1463040"/>
          </a:xfrm>
          <a:prstGeom prst="rect">
            <a:avLst/>
          </a:prstGeom>
        </p:spPr>
      </p:pic>
      <p:pic>
        <p:nvPicPr>
          <p:cNvPr id="8" name="Picture 7"/>
          <p:cNvPicPr>
            <a:picLocks noChangeAspect="1"/>
          </p:cNvPicPr>
          <p:nvPr/>
        </p:nvPicPr>
        <p:blipFill>
          <a:blip r:embed="rId4"/>
          <a:stretch>
            <a:fillRect/>
          </a:stretch>
        </p:blipFill>
        <p:spPr>
          <a:xfrm>
            <a:off x="2164378" y="5039028"/>
            <a:ext cx="2411307" cy="1002453"/>
          </a:xfrm>
          <a:prstGeom prst="rect">
            <a:avLst/>
          </a:prstGeom>
        </p:spPr>
      </p:pic>
      <p:sp>
        <p:nvSpPr>
          <p:cNvPr id="16" name="TextBox 15"/>
          <p:cNvSpPr txBox="1"/>
          <p:nvPr/>
        </p:nvSpPr>
        <p:spPr>
          <a:xfrm>
            <a:off x="530214" y="1998224"/>
            <a:ext cx="6293711" cy="617541"/>
          </a:xfrm>
          <a:prstGeom prst="rect">
            <a:avLst/>
          </a:prstGeom>
          <a:noFill/>
        </p:spPr>
        <p:txBody>
          <a:bodyPr wrap="none" rtlCol="0">
            <a:spAutoFit/>
          </a:bodyPr>
          <a:lstStyle/>
          <a:p>
            <a:r>
              <a:rPr lang="en-US" sz="3413" b="1" dirty="0"/>
              <a:t>The probability of the word is</a:t>
            </a:r>
          </a:p>
        </p:txBody>
      </p:sp>
      <p:sp>
        <p:nvSpPr>
          <p:cNvPr id="17" name="TextBox 16"/>
          <p:cNvSpPr txBox="1"/>
          <p:nvPr/>
        </p:nvSpPr>
        <p:spPr>
          <a:xfrm>
            <a:off x="530214" y="4078914"/>
            <a:ext cx="6195927" cy="617541"/>
          </a:xfrm>
          <a:prstGeom prst="rect">
            <a:avLst/>
          </a:prstGeom>
          <a:noFill/>
        </p:spPr>
        <p:txBody>
          <a:bodyPr wrap="none" rtlCol="0">
            <a:spAutoFit/>
          </a:bodyPr>
          <a:lstStyle/>
          <a:p>
            <a:r>
              <a:rPr lang="en-US" sz="3413" b="1" dirty="0"/>
              <a:t>In terms of Shannon Entropy</a:t>
            </a:r>
          </a:p>
        </p:txBody>
      </p:sp>
      <p:sp>
        <p:nvSpPr>
          <p:cNvPr id="18" name="TextBox 17"/>
          <p:cNvSpPr txBox="1"/>
          <p:nvPr/>
        </p:nvSpPr>
        <p:spPr>
          <a:xfrm>
            <a:off x="166332" y="6745055"/>
            <a:ext cx="11234166" cy="1667957"/>
          </a:xfrm>
          <a:prstGeom prst="rect">
            <a:avLst/>
          </a:prstGeom>
          <a:noFill/>
        </p:spPr>
        <p:txBody>
          <a:bodyPr wrap="none" rtlCol="0">
            <a:spAutoFit/>
          </a:bodyPr>
          <a:lstStyle/>
          <a:p>
            <a:r>
              <a:rPr lang="en-US" sz="3413" b="1" dirty="0"/>
              <a:t>How many “most probable” words are there?  About </a:t>
            </a:r>
          </a:p>
          <a:p>
            <a:endParaRPr lang="en-US" sz="3413" dirty="0"/>
          </a:p>
          <a:p>
            <a:endParaRPr lang="en-US" sz="3413" dirty="0"/>
          </a:p>
        </p:txBody>
      </p:sp>
      <p:pic>
        <p:nvPicPr>
          <p:cNvPr id="19" name="Picture 18"/>
          <p:cNvPicPr>
            <a:picLocks noChangeAspect="1"/>
          </p:cNvPicPr>
          <p:nvPr/>
        </p:nvPicPr>
        <p:blipFill>
          <a:blip r:embed="rId5"/>
          <a:stretch>
            <a:fillRect/>
          </a:stretch>
        </p:blipFill>
        <p:spPr>
          <a:xfrm>
            <a:off x="11060674" y="6552870"/>
            <a:ext cx="839893" cy="1219200"/>
          </a:xfrm>
          <a:prstGeom prst="rect">
            <a:avLst/>
          </a:prstGeom>
        </p:spPr>
      </p:pic>
      <p:sp>
        <p:nvSpPr>
          <p:cNvPr id="10" name="Shape 262"/>
          <p:cNvSpPr>
            <a:spLocks noGrp="1"/>
          </p:cNvSpPr>
          <p:nvPr>
            <p:ph type="title"/>
          </p:nvPr>
        </p:nvSpPr>
        <p:spPr>
          <a:xfrm>
            <a:off x="437232" y="63500"/>
            <a:ext cx="12130336" cy="2159000"/>
          </a:xfrm>
          <a:prstGeom prst="rect">
            <a:avLst/>
          </a:prstGeom>
        </p:spPr>
        <p:txBody>
          <a:bodyPr/>
          <a:lstStyle/>
          <a:p>
            <a:r>
              <a:rPr lang="en-US" dirty="0" smtClean="0"/>
              <a:t>Measuring information content</a:t>
            </a:r>
            <a:endParaRPr dirty="0"/>
          </a:p>
        </p:txBody>
      </p:sp>
    </p:spTree>
    <p:extLst>
      <p:ext uri="{BB962C8B-B14F-4D97-AF65-F5344CB8AC3E}">
        <p14:creationId xmlns:p14="http://schemas.microsoft.com/office/powerpoint/2010/main" val="117919546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hape 269"/>
          <p:cNvSpPr>
            <a:spLocks noGrp="1"/>
          </p:cNvSpPr>
          <p:nvPr>
            <p:ph type="title"/>
          </p:nvPr>
        </p:nvSpPr>
        <p:spPr>
          <a:prstGeom prst="rect">
            <a:avLst/>
          </a:prstGeom>
        </p:spPr>
        <p:txBody>
          <a:bodyPr/>
          <a:lstStyle/>
          <a:p>
            <a:r>
              <a:t>Shannon’s fundamental theorem</a:t>
            </a:r>
          </a:p>
        </p:txBody>
      </p:sp>
      <p:sp>
        <p:nvSpPr>
          <p:cNvPr id="270" name="Shape 270"/>
          <p:cNvSpPr>
            <a:spLocks noGrp="1"/>
          </p:cNvSpPr>
          <p:nvPr>
            <p:ph type="body" sz="half" idx="1"/>
          </p:nvPr>
        </p:nvSpPr>
        <p:spPr>
          <a:xfrm>
            <a:off x="952500" y="6037163"/>
            <a:ext cx="11099800" cy="2852837"/>
          </a:xfrm>
          <a:prstGeom prst="rect">
            <a:avLst/>
          </a:prstGeom>
        </p:spPr>
        <p:txBody>
          <a:bodyPr/>
          <a:lstStyle/>
          <a:p>
            <a:pPr marL="391159" indent="-391159" defTabSz="514095">
              <a:spcBef>
                <a:spcPts val="2200"/>
              </a:spcBef>
              <a:defRPr sz="3168"/>
            </a:pPr>
            <a:r>
              <a:rPr dirty="0"/>
              <a:t>Suppose the information source has entropy </a:t>
            </a:r>
            <a:r>
              <a:rPr b="0" i="1" dirty="0"/>
              <a:t>H</a:t>
            </a:r>
            <a:r>
              <a:rPr dirty="0"/>
              <a:t> and the channel has capacity </a:t>
            </a:r>
            <a:r>
              <a:rPr b="0" i="1" dirty="0"/>
              <a:t>C</a:t>
            </a:r>
          </a:p>
          <a:p>
            <a:pPr marL="391159" indent="-391159" defTabSz="514095">
              <a:spcBef>
                <a:spcPts val="2200"/>
              </a:spcBef>
              <a:defRPr sz="3168"/>
            </a:pPr>
            <a:r>
              <a:rPr dirty="0"/>
              <a:t>One can encode the output of the source </a:t>
            </a:r>
            <a:r>
              <a:rPr lang="en-US" dirty="0" smtClean="0"/>
              <a:t>s</a:t>
            </a:r>
            <a:r>
              <a:rPr dirty="0" smtClean="0"/>
              <a:t>o </a:t>
            </a:r>
            <a:r>
              <a:rPr dirty="0"/>
              <a:t>that it can be transmitted a rate of up to </a:t>
            </a:r>
            <a:r>
              <a:rPr b="0" i="1" dirty="0"/>
              <a:t>C</a:t>
            </a:r>
            <a:r>
              <a:rPr b="0" dirty="0"/>
              <a:t>/</a:t>
            </a:r>
            <a:r>
              <a:rPr b="0" i="1" dirty="0"/>
              <a:t>H</a:t>
            </a:r>
            <a:r>
              <a:rPr dirty="0"/>
              <a:t> symbols per second</a:t>
            </a:r>
          </a:p>
          <a:p>
            <a:pPr marL="391159" indent="-391159" defTabSz="514095">
              <a:spcBef>
                <a:spcPts val="2200"/>
              </a:spcBef>
              <a:defRPr sz="3168"/>
            </a:pPr>
            <a:r>
              <a:rPr dirty="0"/>
              <a:t>It is not possible to transmit faster </a:t>
            </a:r>
            <a:r>
              <a:rPr/>
              <a:t>than </a:t>
            </a:r>
            <a:r>
              <a:rPr b="0" i="1" smtClean="0"/>
              <a:t>C</a:t>
            </a:r>
            <a:r>
              <a:rPr b="0" smtClean="0"/>
              <a:t>/</a:t>
            </a:r>
            <a:r>
              <a:rPr b="0" i="1" smtClean="0"/>
              <a:t>H</a:t>
            </a:r>
            <a:r>
              <a:rPr lang="en-US" b="0" i="1"/>
              <a:t> </a:t>
            </a:r>
            <a:r>
              <a:rPr lang="en-US" b="0" i="1" smtClean="0"/>
              <a:t>!!</a:t>
            </a:r>
            <a:endParaRPr b="0" i="1" dirty="0"/>
          </a:p>
        </p:txBody>
      </p:sp>
      <p:pic>
        <p:nvPicPr>
          <p:cNvPr id="271" name="image43.jpg" descr="fundthm.jpg"/>
          <p:cNvPicPr>
            <a:picLocks noChangeAspect="1"/>
          </p:cNvPicPr>
          <p:nvPr/>
        </p:nvPicPr>
        <p:blipFill>
          <a:blip r:embed="rId2">
            <a:extLst/>
          </a:blip>
          <a:stretch>
            <a:fillRect/>
          </a:stretch>
        </p:blipFill>
        <p:spPr>
          <a:xfrm>
            <a:off x="437232" y="2603500"/>
            <a:ext cx="11984340" cy="3178735"/>
          </a:xfrm>
          <a:prstGeom prst="rect">
            <a:avLst/>
          </a:prstGeom>
          <a:ln w="12700">
            <a:miter lim="400000"/>
          </a:ln>
        </p:spPr>
      </p:pic>
    </p:spTree>
    <p:extLst>
      <p:ext uri="{BB962C8B-B14F-4D97-AF65-F5344CB8AC3E}">
        <p14:creationId xmlns:p14="http://schemas.microsoft.com/office/powerpoint/2010/main" val="1785734532"/>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Shape 309"/>
          <p:cNvSpPr>
            <a:spLocks noGrp="1"/>
          </p:cNvSpPr>
          <p:nvPr>
            <p:ph type="title"/>
          </p:nvPr>
        </p:nvSpPr>
        <p:spPr>
          <a:prstGeom prst="rect">
            <a:avLst/>
          </a:prstGeom>
        </p:spPr>
        <p:txBody>
          <a:bodyPr/>
          <a:lstStyle/>
          <a:p>
            <a:r>
              <a:rPr lang="en-US" dirty="0" smtClean="0"/>
              <a:t>Coming up</a:t>
            </a:r>
            <a:endParaRPr dirty="0"/>
          </a:p>
        </p:txBody>
      </p:sp>
      <p:sp>
        <p:nvSpPr>
          <p:cNvPr id="310" name="Shape 310"/>
          <p:cNvSpPr>
            <a:spLocks noGrp="1"/>
          </p:cNvSpPr>
          <p:nvPr>
            <p:ph type="body" idx="1"/>
          </p:nvPr>
        </p:nvSpPr>
        <p:spPr>
          <a:xfrm>
            <a:off x="952500" y="2603500"/>
            <a:ext cx="11391900" cy="6594288"/>
          </a:xfrm>
          <a:prstGeom prst="rect">
            <a:avLst/>
          </a:prstGeom>
        </p:spPr>
        <p:txBody>
          <a:bodyPr>
            <a:normAutofit lnSpcReduction="10000"/>
          </a:bodyPr>
          <a:lstStyle/>
          <a:p>
            <a:pPr marL="0" indent="0">
              <a:spcBef>
                <a:spcPts val="1700"/>
              </a:spcBef>
              <a:buNone/>
            </a:pPr>
            <a:r>
              <a:rPr lang="en-US" dirty="0" smtClean="0"/>
              <a:t>Thursday: Authorship </a:t>
            </a:r>
            <a:r>
              <a:rPr lang="mr-IN" dirty="0" smtClean="0"/>
              <a:t>–</a:t>
            </a:r>
            <a:r>
              <a:rPr lang="en-US" dirty="0" smtClean="0"/>
              <a:t> Who wrote the Federalist papers?</a:t>
            </a:r>
          </a:p>
          <a:p>
            <a:pPr marL="0" indent="0">
              <a:spcBef>
                <a:spcPts val="1700"/>
              </a:spcBef>
              <a:buNone/>
            </a:pPr>
            <a:endParaRPr lang="en-US" dirty="0" smtClean="0"/>
          </a:p>
          <a:p>
            <a:pPr marL="0" indent="0">
              <a:spcBef>
                <a:spcPts val="1700"/>
              </a:spcBef>
              <a:buNone/>
            </a:pPr>
            <a:r>
              <a:rPr lang="en-US" dirty="0" smtClean="0"/>
              <a:t>Lab: </a:t>
            </a:r>
            <a:r>
              <a:rPr dirty="0" smtClean="0"/>
              <a:t>Measure </a:t>
            </a:r>
            <a:r>
              <a:rPr dirty="0"/>
              <a:t>information content in a </a:t>
            </a:r>
            <a:r>
              <a:rPr dirty="0" smtClean="0"/>
              <a:t>text</a:t>
            </a:r>
            <a:endParaRPr dirty="0"/>
          </a:p>
          <a:p>
            <a:pPr marL="635000" indent="-635000">
              <a:spcBef>
                <a:spcPts val="1700"/>
              </a:spcBef>
              <a:buSzPct val="100000"/>
              <a:buAutoNum type="arabicPeriod"/>
            </a:pPr>
            <a:r>
              <a:rPr dirty="0"/>
              <a:t>Determine frequency distribution of a words in a text</a:t>
            </a:r>
          </a:p>
          <a:p>
            <a:pPr marL="635000" indent="-635000">
              <a:spcBef>
                <a:spcPts val="1700"/>
              </a:spcBef>
              <a:buSzPct val="100000"/>
              <a:buAutoNum type="arabicPeriod"/>
            </a:pPr>
            <a:r>
              <a:rPr dirty="0"/>
              <a:t>Check that the distribution obeys Zipf’s law (frequency of a word is inversely proportional to its rank in the frequency table) </a:t>
            </a:r>
          </a:p>
          <a:p>
            <a:pPr marL="635000" indent="-635000">
              <a:spcBef>
                <a:spcPts val="1700"/>
              </a:spcBef>
              <a:buSzPct val="100000"/>
              <a:buAutoNum type="arabicPeriod"/>
            </a:pPr>
            <a:r>
              <a:rPr dirty="0"/>
              <a:t>Compute the entropy of the frequency distribution</a:t>
            </a:r>
          </a:p>
        </p:txBody>
      </p:sp>
    </p:spTree>
    <p:extLst>
      <p:ext uri="{BB962C8B-B14F-4D97-AF65-F5344CB8AC3E}">
        <p14:creationId xmlns:p14="http://schemas.microsoft.com/office/powerpoint/2010/main" val="20748668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type="title"/>
          </p:nvPr>
        </p:nvSpPr>
        <p:spPr>
          <a:prstGeom prst="rect">
            <a:avLst/>
          </a:prstGeom>
        </p:spPr>
        <p:txBody>
          <a:bodyPr/>
          <a:lstStyle/>
          <a:p>
            <a:r>
              <a:rPr dirty="0"/>
              <a:t>Lecture 11: Information Theory</a:t>
            </a:r>
          </a:p>
        </p:txBody>
      </p:sp>
      <p:sp>
        <p:nvSpPr>
          <p:cNvPr id="65" name="Shape 65"/>
          <p:cNvSpPr>
            <a:spLocks noGrp="1"/>
          </p:cNvSpPr>
          <p:nvPr>
            <p:ph type="body" idx="1"/>
          </p:nvPr>
        </p:nvSpPr>
        <p:spPr>
          <a:xfrm>
            <a:off x="952500" y="2609850"/>
            <a:ext cx="11099800" cy="6286501"/>
          </a:xfrm>
          <a:prstGeom prst="rect">
            <a:avLst/>
          </a:prstGeom>
        </p:spPr>
        <p:txBody>
          <a:bodyPr/>
          <a:lstStyle/>
          <a:p>
            <a:r>
              <a:rPr dirty="0"/>
              <a:t>Today: introduction to information theory, Morse code analysis, information content of a message</a:t>
            </a:r>
          </a:p>
          <a:p>
            <a:r>
              <a:rPr dirty="0"/>
              <a:t>Lab: Analyzing information content of text from different sources</a:t>
            </a:r>
          </a:p>
          <a:p>
            <a:r>
              <a:rPr dirty="0"/>
              <a:t>Wednesday: determining authorship</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a:spLocks noGrp="1"/>
          </p:cNvSpPr>
          <p:nvPr>
            <p:ph type="title"/>
          </p:nvPr>
        </p:nvSpPr>
        <p:spPr>
          <a:prstGeom prst="rect">
            <a:avLst/>
          </a:prstGeom>
        </p:spPr>
        <p:txBody>
          <a:bodyPr/>
          <a:lstStyle/>
          <a:p>
            <a:r>
              <a:t>Claude Shannon (1916–2001)</a:t>
            </a:r>
          </a:p>
        </p:txBody>
      </p:sp>
      <p:sp>
        <p:nvSpPr>
          <p:cNvPr id="68" name="Shape 68"/>
          <p:cNvSpPr>
            <a:spLocks noGrp="1"/>
          </p:cNvSpPr>
          <p:nvPr>
            <p:ph type="body" sz="half" idx="1"/>
          </p:nvPr>
        </p:nvSpPr>
        <p:spPr>
          <a:xfrm>
            <a:off x="745380" y="2609850"/>
            <a:ext cx="6553598" cy="6286501"/>
          </a:xfrm>
          <a:prstGeom prst="rect">
            <a:avLst/>
          </a:prstGeom>
        </p:spPr>
        <p:txBody>
          <a:bodyPr/>
          <a:lstStyle/>
          <a:p>
            <a:pPr marL="346709" indent="-346709" defTabSz="455675">
              <a:spcBef>
                <a:spcPts val="2000"/>
              </a:spcBef>
              <a:defRPr sz="2807"/>
            </a:pPr>
            <a:r>
              <a:t>Born in Petoskey, Michigan</a:t>
            </a:r>
          </a:p>
          <a:p>
            <a:pPr marL="346709" indent="-346709" defTabSz="455675">
              <a:spcBef>
                <a:spcPts val="2000"/>
              </a:spcBef>
              <a:defRPr sz="2807"/>
            </a:pPr>
            <a:r>
              <a:t>Completed two undergraduate degrees at the University of Michigan</a:t>
            </a:r>
          </a:p>
          <a:p>
            <a:pPr marL="346709" indent="-346709" defTabSz="455675">
              <a:spcBef>
                <a:spcPts val="2000"/>
              </a:spcBef>
              <a:defRPr sz="2807"/>
            </a:pPr>
            <a:r>
              <a:t>Master’s thesis in electrical engineering on binary arithmetic revolutionized electrical engineering and formed the basic of digital circuit design</a:t>
            </a:r>
          </a:p>
          <a:p>
            <a:pPr marL="346709" indent="-346709" defTabSz="455675">
              <a:spcBef>
                <a:spcPts val="2000"/>
              </a:spcBef>
              <a:defRPr sz="2807"/>
            </a:pPr>
            <a:r>
              <a:t>PhD thesis: “An Algebra for Theoretical Genetics”</a:t>
            </a:r>
          </a:p>
          <a:p>
            <a:pPr marL="346709" indent="-346709" defTabSz="455675">
              <a:spcBef>
                <a:spcPts val="2000"/>
              </a:spcBef>
              <a:defRPr sz="2807"/>
            </a:pPr>
            <a:r>
              <a:t>Involved in code breaking during World War 2</a:t>
            </a:r>
          </a:p>
        </p:txBody>
      </p:sp>
      <p:pic>
        <p:nvPicPr>
          <p:cNvPr id="69" name="pasted-image.tif"/>
          <p:cNvPicPr>
            <a:picLocks noChangeAspect="1"/>
          </p:cNvPicPr>
          <p:nvPr/>
        </p:nvPicPr>
        <p:blipFill>
          <a:blip r:embed="rId2">
            <a:extLst/>
          </a:blip>
          <a:stretch>
            <a:fillRect/>
          </a:stretch>
        </p:blipFill>
        <p:spPr>
          <a:xfrm>
            <a:off x="7894736" y="2962622"/>
            <a:ext cx="4673601" cy="4229101"/>
          </a:xfrm>
          <a:prstGeom prst="rect">
            <a:avLst/>
          </a:prstGeom>
          <a:ln w="12700">
            <a:miter lim="400000"/>
          </a:ln>
        </p:spPr>
      </p:pic>
      <p:sp>
        <p:nvSpPr>
          <p:cNvPr id="70" name="Shape 70"/>
          <p:cNvSpPr/>
          <p:nvPr/>
        </p:nvSpPr>
        <p:spPr>
          <a:xfrm>
            <a:off x="8197353" y="7334249"/>
            <a:ext cx="4068367"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400" b="1">
                <a:latin typeface="+mj-lt"/>
                <a:ea typeface="+mj-ea"/>
                <a:cs typeface="+mj-cs"/>
                <a:sym typeface="Helvetica"/>
              </a:defRPr>
            </a:lvl1pPr>
          </a:lstStyle>
          <a:p>
            <a:r>
              <a:t>Shannon (+ robotic mouse)</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prstGeom prst="rect">
            <a:avLst/>
          </a:prstGeom>
        </p:spPr>
        <p:txBody>
          <a:bodyPr/>
          <a:lstStyle/>
          <a:p>
            <a:r>
              <a:t>Shannon’s paper</a:t>
            </a:r>
          </a:p>
        </p:txBody>
      </p:sp>
      <p:pic>
        <p:nvPicPr>
          <p:cNvPr id="73" name="Screen Shot 2014-02-18 at 10.30.49 PM.png"/>
          <p:cNvPicPr>
            <a:picLocks noChangeAspect="1"/>
          </p:cNvPicPr>
          <p:nvPr/>
        </p:nvPicPr>
        <p:blipFill>
          <a:blip r:embed="rId2">
            <a:extLst/>
          </a:blip>
          <a:stretch>
            <a:fillRect/>
          </a:stretch>
        </p:blipFill>
        <p:spPr>
          <a:xfrm>
            <a:off x="615950" y="2946400"/>
            <a:ext cx="11772900" cy="3860800"/>
          </a:xfrm>
          <a:prstGeom prst="rect">
            <a:avLst/>
          </a:prstGeom>
          <a:ln w="12700">
            <a:miter lim="400000"/>
          </a:ln>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title"/>
          </p:nvPr>
        </p:nvSpPr>
        <p:spPr>
          <a:xfrm>
            <a:off x="437232" y="38100"/>
            <a:ext cx="12130336" cy="2159000"/>
          </a:xfrm>
          <a:prstGeom prst="rect">
            <a:avLst/>
          </a:prstGeom>
        </p:spPr>
        <p:txBody>
          <a:bodyPr/>
          <a:lstStyle>
            <a:lvl1pPr>
              <a:defRPr sz="5100"/>
            </a:lvl1pPr>
          </a:lstStyle>
          <a:p>
            <a:r>
              <a:t>Mathematical theory of communication</a:t>
            </a:r>
          </a:p>
        </p:txBody>
      </p:sp>
      <p:pic>
        <p:nvPicPr>
          <p:cNvPr id="76" name="Screen Shot 2014-02-18 at 10.32.24 PM.png"/>
          <p:cNvPicPr>
            <a:picLocks noChangeAspect="1"/>
          </p:cNvPicPr>
          <p:nvPr/>
        </p:nvPicPr>
        <p:blipFill>
          <a:blip r:embed="rId2">
            <a:extLst/>
          </a:blip>
          <a:stretch>
            <a:fillRect/>
          </a:stretch>
        </p:blipFill>
        <p:spPr>
          <a:xfrm>
            <a:off x="685800" y="1922115"/>
            <a:ext cx="11633200" cy="3898901"/>
          </a:xfrm>
          <a:prstGeom prst="rect">
            <a:avLst/>
          </a:prstGeom>
          <a:ln w="12700">
            <a:miter lim="400000"/>
          </a:ln>
        </p:spPr>
      </p:pic>
      <p:pic>
        <p:nvPicPr>
          <p:cNvPr id="77" name="Screen Shot 2014-02-18 at 10.34.03 PM.png"/>
          <p:cNvPicPr>
            <a:picLocks noChangeAspect="1"/>
          </p:cNvPicPr>
          <p:nvPr/>
        </p:nvPicPr>
        <p:blipFill>
          <a:blip r:embed="rId3">
            <a:extLst/>
          </a:blip>
          <a:stretch>
            <a:fillRect/>
          </a:stretch>
        </p:blipFill>
        <p:spPr>
          <a:xfrm>
            <a:off x="2778658" y="6189278"/>
            <a:ext cx="7447484" cy="2977344"/>
          </a:xfrm>
          <a:prstGeom prst="rect">
            <a:avLst/>
          </a:prstGeom>
          <a:ln w="12700">
            <a:miter lim="400000"/>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9"/>
          <p:cNvSpPr>
            <a:spLocks noGrp="1"/>
          </p:cNvSpPr>
          <p:nvPr>
            <p:ph type="title"/>
          </p:nvPr>
        </p:nvSpPr>
        <p:spPr>
          <a:prstGeom prst="rect">
            <a:avLst/>
          </a:prstGeom>
        </p:spPr>
        <p:txBody>
          <a:bodyPr/>
          <a:lstStyle/>
          <a:p>
            <a:r>
              <a:t>Messages take many forms</a:t>
            </a:r>
          </a:p>
        </p:txBody>
      </p:sp>
      <p:sp>
        <p:nvSpPr>
          <p:cNvPr id="80" name="Shape 80"/>
          <p:cNvSpPr>
            <a:spLocks noGrp="1"/>
          </p:cNvSpPr>
          <p:nvPr>
            <p:ph type="body" sz="half" idx="1"/>
          </p:nvPr>
        </p:nvSpPr>
        <p:spPr>
          <a:xfrm>
            <a:off x="952500" y="2609850"/>
            <a:ext cx="11099800" cy="2328863"/>
          </a:xfrm>
          <a:prstGeom prst="rect">
            <a:avLst/>
          </a:prstGeom>
        </p:spPr>
        <p:txBody>
          <a:bodyPr/>
          <a:lstStyle/>
          <a:p>
            <a:r>
              <a:t>There are many ways to communicate</a:t>
            </a:r>
          </a:p>
          <a:p>
            <a:r>
              <a:t>Messages take many different forms</a:t>
            </a:r>
          </a:p>
        </p:txBody>
      </p:sp>
      <p:sp>
        <p:nvSpPr>
          <p:cNvPr id="81" name="Shape 81"/>
          <p:cNvSpPr/>
          <p:nvPr/>
        </p:nvSpPr>
        <p:spPr>
          <a:xfrm>
            <a:off x="8830705" y="5106880"/>
            <a:ext cx="3750790" cy="3759043"/>
          </a:xfrm>
          <a:prstGeom prst="roundRect">
            <a:avLst>
              <a:gd name="adj" fmla="val 6037"/>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Electronic</a:t>
            </a:r>
          </a:p>
          <a:p>
            <a:pPr marL="444500" indent="-444500" algn="l">
              <a:buSzPct val="75000"/>
              <a:buChar char="•"/>
              <a:defRPr b="1">
                <a:latin typeface="+mj-lt"/>
                <a:ea typeface="+mj-ea"/>
                <a:cs typeface="+mj-cs"/>
                <a:sym typeface="Helvetica"/>
              </a:defRPr>
            </a:pPr>
            <a:r>
              <a:t>…</a:t>
            </a:r>
          </a:p>
        </p:txBody>
      </p:sp>
      <p:sp>
        <p:nvSpPr>
          <p:cNvPr id="82" name="Shape 82"/>
          <p:cNvSpPr/>
          <p:nvPr/>
        </p:nvSpPr>
        <p:spPr>
          <a:xfrm>
            <a:off x="423305" y="5106880"/>
            <a:ext cx="3750790" cy="3759043"/>
          </a:xfrm>
          <a:prstGeom prst="roundRect">
            <a:avLst>
              <a:gd name="adj" fmla="val 6037"/>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Audio</a:t>
            </a:r>
          </a:p>
          <a:p>
            <a:pPr marL="444500" indent="-444500" algn="l">
              <a:buSzPct val="75000"/>
              <a:buChar char="•"/>
              <a:defRPr b="1">
                <a:latin typeface="+mj-lt"/>
                <a:ea typeface="+mj-ea"/>
                <a:cs typeface="+mj-cs"/>
                <a:sym typeface="Helvetica"/>
              </a:defRPr>
            </a:pPr>
            <a:r>
              <a:t>English</a:t>
            </a:r>
          </a:p>
          <a:p>
            <a:pPr marL="444500" indent="-444500" algn="l">
              <a:buSzPct val="75000"/>
              <a:buChar char="•"/>
              <a:defRPr b="1">
                <a:latin typeface="+mj-lt"/>
                <a:ea typeface="+mj-ea"/>
                <a:cs typeface="+mj-cs"/>
                <a:sym typeface="Helvetica"/>
              </a:defRPr>
            </a:pPr>
            <a:r>
              <a:t>French</a:t>
            </a:r>
          </a:p>
          <a:p>
            <a:pPr marL="444500" indent="-444500" algn="l">
              <a:buSzPct val="75000"/>
              <a:buChar char="•"/>
              <a:defRPr b="1">
                <a:latin typeface="+mj-lt"/>
                <a:ea typeface="+mj-ea"/>
                <a:cs typeface="+mj-cs"/>
                <a:sym typeface="Helvetica"/>
              </a:defRPr>
            </a:pPr>
            <a:r>
              <a:t>Mandarin</a:t>
            </a:r>
          </a:p>
          <a:p>
            <a:pPr marL="444500" indent="-444500" algn="l">
              <a:buSzPct val="75000"/>
              <a:buChar char="•"/>
              <a:defRPr b="1">
                <a:latin typeface="+mj-lt"/>
                <a:ea typeface="+mj-ea"/>
                <a:cs typeface="+mj-cs"/>
                <a:sym typeface="Helvetica"/>
              </a:defRPr>
            </a:pPr>
            <a:r>
              <a:t>Arabic</a:t>
            </a:r>
          </a:p>
        </p:txBody>
      </p:sp>
      <p:sp>
        <p:nvSpPr>
          <p:cNvPr id="83" name="Shape 83"/>
          <p:cNvSpPr/>
          <p:nvPr/>
        </p:nvSpPr>
        <p:spPr>
          <a:xfrm>
            <a:off x="4627005" y="5106880"/>
            <a:ext cx="3750790" cy="3759043"/>
          </a:xfrm>
          <a:prstGeom prst="roundRect">
            <a:avLst>
              <a:gd name="adj" fmla="val 6037"/>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b="1">
                <a:latin typeface="+mj-lt"/>
                <a:ea typeface="+mj-ea"/>
                <a:cs typeface="+mj-cs"/>
                <a:sym typeface="Helvetica"/>
              </a:defRPr>
            </a:pPr>
            <a:r>
              <a:t>Visual</a:t>
            </a:r>
          </a:p>
          <a:p>
            <a:pPr marL="444500" indent="-444500" algn="l">
              <a:buSzPct val="75000"/>
              <a:buChar char="•"/>
              <a:defRPr b="1">
                <a:latin typeface="+mj-lt"/>
                <a:ea typeface="+mj-ea"/>
                <a:cs typeface="+mj-cs"/>
                <a:sym typeface="Helvetica"/>
              </a:defRPr>
            </a:pPr>
            <a:r>
              <a:t>Sign language</a:t>
            </a:r>
          </a:p>
          <a:p>
            <a:pPr marL="444500" indent="-444500" algn="l">
              <a:buSzPct val="75000"/>
              <a:buChar char="•"/>
              <a:defRPr b="1">
                <a:latin typeface="+mj-lt"/>
                <a:ea typeface="+mj-ea"/>
                <a:cs typeface="+mj-cs"/>
                <a:sym typeface="Helvetica"/>
              </a:defRPr>
            </a:pPr>
            <a:r>
              <a:t>…</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hape 85"/>
          <p:cNvSpPr>
            <a:spLocks noGrp="1"/>
          </p:cNvSpPr>
          <p:nvPr>
            <p:ph type="title"/>
          </p:nvPr>
        </p:nvSpPr>
        <p:spPr>
          <a:prstGeom prst="rect">
            <a:avLst/>
          </a:prstGeom>
        </p:spPr>
        <p:txBody>
          <a:bodyPr/>
          <a:lstStyle/>
          <a:p>
            <a:r>
              <a:t>Binary</a:t>
            </a:r>
          </a:p>
        </p:txBody>
      </p:sp>
      <p:sp>
        <p:nvSpPr>
          <p:cNvPr id="86" name="Shape 86"/>
          <p:cNvSpPr>
            <a:spLocks noGrp="1"/>
          </p:cNvSpPr>
          <p:nvPr>
            <p:ph type="body" sz="half" idx="1"/>
          </p:nvPr>
        </p:nvSpPr>
        <p:spPr>
          <a:xfrm>
            <a:off x="952500" y="4452143"/>
            <a:ext cx="11319223" cy="4437857"/>
          </a:xfrm>
          <a:prstGeom prst="rect">
            <a:avLst/>
          </a:prstGeom>
        </p:spPr>
        <p:txBody>
          <a:bodyPr/>
          <a:lstStyle/>
          <a:p>
            <a:r>
              <a:t>Paper also chooses to specifically measure information in terms of binary digits</a:t>
            </a:r>
          </a:p>
          <a:p>
            <a:r>
              <a:t>First use of the word “bit”, which is now ubiquitous (</a:t>
            </a:r>
            <a:r>
              <a:rPr i="1"/>
              <a:t>e.g.</a:t>
            </a:r>
            <a:r>
              <a:t> smartphone download speeds quoted in Mbit/s, </a:t>
            </a:r>
            <a:r>
              <a:rPr i="1"/>
              <a:t>etc.</a:t>
            </a:r>
            <a:r>
              <a:t>)</a:t>
            </a:r>
          </a:p>
          <a:p>
            <a:r>
              <a:t>Binary is highly practical for digital electronic circuitry</a:t>
            </a:r>
          </a:p>
        </p:txBody>
      </p:sp>
      <p:grpSp>
        <p:nvGrpSpPr>
          <p:cNvPr id="92" name="Group 92"/>
          <p:cNvGrpSpPr/>
          <p:nvPr/>
        </p:nvGrpSpPr>
        <p:grpSpPr>
          <a:xfrm>
            <a:off x="789529" y="2324100"/>
            <a:ext cx="11425742" cy="1714764"/>
            <a:chOff x="0" y="0"/>
            <a:chExt cx="11425741" cy="1714763"/>
          </a:xfrm>
        </p:grpSpPr>
        <p:pic>
          <p:nvPicPr>
            <p:cNvPr id="87" name="image21.jpg" descr="tradition.jpg"/>
            <p:cNvPicPr>
              <a:picLocks noChangeAspect="1"/>
            </p:cNvPicPr>
            <p:nvPr/>
          </p:nvPicPr>
          <p:blipFill>
            <a:blip r:embed="rId2">
              <a:extLst/>
            </a:blip>
            <a:stretch>
              <a:fillRect/>
            </a:stretch>
          </p:blipFill>
          <p:spPr>
            <a:xfrm>
              <a:off x="0" y="0"/>
              <a:ext cx="11425742" cy="1714764"/>
            </a:xfrm>
            <a:prstGeom prst="rect">
              <a:avLst/>
            </a:prstGeom>
            <a:ln w="12700" cap="flat">
              <a:noFill/>
              <a:miter lim="400000"/>
            </a:ln>
            <a:effectLst/>
          </p:spPr>
        </p:pic>
        <p:sp>
          <p:nvSpPr>
            <p:cNvPr id="88" name="Shape 88"/>
            <p:cNvSpPr/>
            <p:nvPr/>
          </p:nvSpPr>
          <p:spPr>
            <a:xfrm>
              <a:off x="162451" y="342952"/>
              <a:ext cx="11154990"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89" name="Shape 89"/>
            <p:cNvSpPr/>
            <p:nvPr/>
          </p:nvSpPr>
          <p:spPr>
            <a:xfrm>
              <a:off x="10478248" y="36100"/>
              <a:ext cx="839194"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90" name="Shape 90"/>
            <p:cNvSpPr/>
            <p:nvPr/>
          </p:nvSpPr>
          <p:spPr>
            <a:xfrm>
              <a:off x="162451" y="703955"/>
              <a:ext cx="1480113" cy="361004"/>
            </a:xfrm>
            <a:prstGeom prst="rect">
              <a:avLst/>
            </a:prstGeom>
            <a:solidFill>
              <a:srgbClr val="FFFF00">
                <a:alpha val="23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91" name="Shape 91"/>
            <p:cNvSpPr/>
            <p:nvPr/>
          </p:nvSpPr>
          <p:spPr>
            <a:xfrm>
              <a:off x="6425851" y="1245459"/>
              <a:ext cx="631756" cy="469305"/>
            </a:xfrm>
            <a:prstGeom prst="rect">
              <a:avLst/>
            </a:prstGeom>
            <a:solidFill>
              <a:srgbClr val="FFFFFF"/>
            </a:solidFill>
            <a:ln w="9525" cap="flat">
              <a:solidFill>
                <a:srgbClr val="FFFFFF"/>
              </a:solidFill>
              <a:prstDash val="solid"/>
              <a:round/>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title"/>
          </p:nvPr>
        </p:nvSpPr>
        <p:spPr>
          <a:xfrm>
            <a:off x="437232" y="444500"/>
            <a:ext cx="12130336" cy="1850678"/>
          </a:xfrm>
          <a:prstGeom prst="rect">
            <a:avLst/>
          </a:prstGeom>
        </p:spPr>
        <p:txBody>
          <a:bodyPr/>
          <a:lstStyle>
            <a:lvl1pPr>
              <a:defRPr sz="5700"/>
            </a:lvl1pPr>
          </a:lstStyle>
          <a:p>
            <a:r>
              <a:t>Binary from Python</a:t>
            </a:r>
          </a:p>
        </p:txBody>
      </p:sp>
      <p:sp>
        <p:nvSpPr>
          <p:cNvPr id="95" name="Shape 95"/>
          <p:cNvSpPr/>
          <p:nvPr/>
        </p:nvSpPr>
        <p:spPr>
          <a:xfrm>
            <a:off x="848345" y="1981200"/>
            <a:ext cx="11308111" cy="7213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&gt;&gt;&gt; for i in range(17):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     print "Decimal: {0:02d} Binary: {0:05b}".format(i,i)</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00 Binary: 00000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01 Binary: 00001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02 Binary: 00010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03 Binary: 00011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04 Binary: 00100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05 Binary: 00101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06 Binary: 00110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07 Binary: 00111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08 Binary: 01000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09 Binary: 01001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10 Binary: 01010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11 Binary: 01011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12 Binary: 01100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13 Binary: 01101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14 Binary: 01110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15 Binary: 01111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Decimal: 16 Binary: 10000</a:t>
            </a:r>
          </a:p>
        </p:txBody>
      </p:sp>
      <p:pic>
        <p:nvPicPr>
          <p:cNvPr id="96" name="binary_pattern.jpg"/>
          <p:cNvPicPr>
            <a:picLocks noChangeAspect="1"/>
          </p:cNvPicPr>
          <p:nvPr/>
        </p:nvPicPr>
        <p:blipFill>
          <a:blip r:embed="rId2">
            <a:extLst/>
          </a:blip>
          <a:stretch>
            <a:fillRect/>
          </a:stretch>
        </p:blipFill>
        <p:spPr>
          <a:xfrm>
            <a:off x="7518668" y="5239087"/>
            <a:ext cx="4991355" cy="3743516"/>
          </a:xfrm>
          <a:prstGeom prst="rect">
            <a:avLst/>
          </a:prstGeom>
          <a:ln w="12700">
            <a:miter lim="400000"/>
          </a:ln>
        </p:spPr>
      </p:pic>
      <p:sp>
        <p:nvSpPr>
          <p:cNvPr id="97" name="Shape 97"/>
          <p:cNvSpPr/>
          <p:nvPr/>
        </p:nvSpPr>
        <p:spPr>
          <a:xfrm>
            <a:off x="7773524" y="8985249"/>
            <a:ext cx="4481643" cy="419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100" b="1">
                <a:latin typeface="+mj-lt"/>
                <a:ea typeface="+mj-ea"/>
                <a:cs typeface="+mj-cs"/>
                <a:sym typeface="Helvetica"/>
              </a:defRPr>
            </a:lvl1pPr>
          </a:lstStyle>
          <a:p>
            <a:r>
              <a:t>Tiles in Maxwell Dworkin restroom</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hape 99"/>
          <p:cNvSpPr>
            <a:spLocks noGrp="1"/>
          </p:cNvSpPr>
          <p:nvPr>
            <p:ph type="title"/>
          </p:nvPr>
        </p:nvSpPr>
        <p:spPr>
          <a:xfrm>
            <a:off x="119732" y="444499"/>
            <a:ext cx="4641553" cy="2159001"/>
          </a:xfrm>
          <a:prstGeom prst="rect">
            <a:avLst/>
          </a:prstGeom>
        </p:spPr>
        <p:txBody>
          <a:bodyPr/>
          <a:lstStyle/>
          <a:p>
            <a:r>
              <a:t>Teletype</a:t>
            </a:r>
          </a:p>
        </p:txBody>
      </p:sp>
      <p:sp>
        <p:nvSpPr>
          <p:cNvPr id="100" name="Shape 100"/>
          <p:cNvSpPr>
            <a:spLocks noGrp="1"/>
          </p:cNvSpPr>
          <p:nvPr>
            <p:ph type="body" sz="quarter" idx="1"/>
          </p:nvPr>
        </p:nvSpPr>
        <p:spPr>
          <a:xfrm>
            <a:off x="952500" y="2603500"/>
            <a:ext cx="7186117" cy="3226594"/>
          </a:xfrm>
          <a:prstGeom prst="rect">
            <a:avLst/>
          </a:prstGeom>
        </p:spPr>
        <p:txBody>
          <a:bodyPr/>
          <a:lstStyle/>
          <a:p>
            <a:r>
              <a:t>Originated in early twentieth century for sending messages of text electronically</a:t>
            </a:r>
          </a:p>
          <a:p>
            <a:r>
              <a:t>Could also be used to archive text</a:t>
            </a:r>
          </a:p>
        </p:txBody>
      </p:sp>
      <p:pic>
        <p:nvPicPr>
          <p:cNvPr id="101" name="pasted-image.tif"/>
          <p:cNvPicPr>
            <a:picLocks noChangeAspect="1"/>
          </p:cNvPicPr>
          <p:nvPr/>
        </p:nvPicPr>
        <p:blipFill>
          <a:blip r:embed="rId2">
            <a:extLst/>
          </a:blip>
          <a:stretch>
            <a:fillRect/>
          </a:stretch>
        </p:blipFill>
        <p:spPr>
          <a:xfrm>
            <a:off x="5611316" y="838200"/>
            <a:ext cx="2527301" cy="1371600"/>
          </a:xfrm>
          <a:prstGeom prst="rect">
            <a:avLst/>
          </a:prstGeom>
          <a:ln w="12700">
            <a:miter lim="400000"/>
          </a:ln>
        </p:spPr>
      </p:pic>
      <p:pic>
        <p:nvPicPr>
          <p:cNvPr id="102" name="Screen Shot 2014-02-18 at 10.46.46 PM.png"/>
          <p:cNvPicPr>
            <a:picLocks noChangeAspect="1"/>
          </p:cNvPicPr>
          <p:nvPr/>
        </p:nvPicPr>
        <p:blipFill>
          <a:blip r:embed="rId3">
            <a:extLst/>
          </a:blip>
          <a:stretch>
            <a:fillRect/>
          </a:stretch>
        </p:blipFill>
        <p:spPr>
          <a:xfrm>
            <a:off x="8988648" y="768350"/>
            <a:ext cx="3454401" cy="8216900"/>
          </a:xfrm>
          <a:prstGeom prst="rect">
            <a:avLst/>
          </a:prstGeom>
          <a:ln w="12700">
            <a:miter lim="400000"/>
          </a:ln>
        </p:spPr>
      </p:pic>
      <p:pic>
        <p:nvPicPr>
          <p:cNvPr id="103" name="pasted-image.tif"/>
          <p:cNvPicPr>
            <a:picLocks noChangeAspect="1"/>
          </p:cNvPicPr>
          <p:nvPr/>
        </p:nvPicPr>
        <p:blipFill>
          <a:blip r:embed="rId4">
            <a:extLst/>
          </a:blip>
          <a:stretch>
            <a:fillRect/>
          </a:stretch>
        </p:blipFill>
        <p:spPr>
          <a:xfrm>
            <a:off x="709560" y="6360731"/>
            <a:ext cx="2802874" cy="2589925"/>
          </a:xfrm>
          <a:prstGeom prst="rect">
            <a:avLst/>
          </a:prstGeom>
          <a:ln w="12700">
            <a:miter lim="400000"/>
          </a:ln>
        </p:spPr>
      </p:pic>
      <p:pic>
        <p:nvPicPr>
          <p:cNvPr id="104" name="pasted-image.tif"/>
          <p:cNvPicPr>
            <a:picLocks noChangeAspect="1"/>
          </p:cNvPicPr>
          <p:nvPr/>
        </p:nvPicPr>
        <p:blipFill>
          <a:blip r:embed="rId5">
            <a:extLst/>
          </a:blip>
          <a:stretch>
            <a:fillRect/>
          </a:stretch>
        </p:blipFill>
        <p:spPr>
          <a:xfrm>
            <a:off x="4214489" y="6360731"/>
            <a:ext cx="3924128" cy="2589925"/>
          </a:xfrm>
          <a:prstGeom prst="rect">
            <a:avLst/>
          </a:prstGeom>
          <a:ln w="12700">
            <a:miter lim="400000"/>
          </a:ln>
        </p:spPr>
      </p:pic>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hape 106"/>
          <p:cNvSpPr>
            <a:spLocks noGrp="1"/>
          </p:cNvSpPr>
          <p:nvPr>
            <p:ph type="title"/>
          </p:nvPr>
        </p:nvSpPr>
        <p:spPr>
          <a:xfrm>
            <a:off x="437232" y="279400"/>
            <a:ext cx="12130336" cy="2159000"/>
          </a:xfrm>
          <a:prstGeom prst="rect">
            <a:avLst/>
          </a:prstGeom>
        </p:spPr>
        <p:txBody>
          <a:bodyPr/>
          <a:lstStyle/>
          <a:p>
            <a:r>
              <a:t>ASCII</a:t>
            </a:r>
          </a:p>
        </p:txBody>
      </p:sp>
      <p:sp>
        <p:nvSpPr>
          <p:cNvPr id="107" name="Shape 107"/>
          <p:cNvSpPr>
            <a:spLocks noGrp="1"/>
          </p:cNvSpPr>
          <p:nvPr>
            <p:ph type="body" sz="half" idx="1"/>
          </p:nvPr>
        </p:nvSpPr>
        <p:spPr>
          <a:xfrm>
            <a:off x="774700" y="2609850"/>
            <a:ext cx="5190797" cy="6286501"/>
          </a:xfrm>
          <a:prstGeom prst="rect">
            <a:avLst/>
          </a:prstGeom>
        </p:spPr>
        <p:txBody>
          <a:bodyPr/>
          <a:lstStyle/>
          <a:p>
            <a:pPr marL="351155" indent="-351155" defTabSz="461518">
              <a:spcBef>
                <a:spcPts val="2000"/>
              </a:spcBef>
              <a:defRPr sz="2844"/>
            </a:pPr>
            <a:r>
              <a:t>Developed from teleprinter codes</a:t>
            </a:r>
          </a:p>
          <a:p>
            <a:pPr marL="351155" indent="-351155" defTabSz="461518">
              <a:spcBef>
                <a:spcPts val="2000"/>
              </a:spcBef>
              <a:defRPr sz="2844"/>
            </a:pPr>
            <a:r>
              <a:t>7 bits of information: 2</a:t>
            </a:r>
            <a:r>
              <a:rPr sz="2923" baseline="31999"/>
              <a:t>7</a:t>
            </a:r>
            <a:r>
              <a:t> = 128 combinations</a:t>
            </a:r>
          </a:p>
          <a:p>
            <a:pPr marL="351155" indent="-351155" defTabSz="461518">
              <a:spcBef>
                <a:spcPts val="2000"/>
              </a:spcBef>
              <a:defRPr sz="2844"/>
            </a:pPr>
            <a:r>
              <a:t>First commercial usage in 1963</a:t>
            </a:r>
          </a:p>
          <a:p>
            <a:pPr marL="351155" indent="-351155" defTabSz="461518">
              <a:spcBef>
                <a:spcPts val="2000"/>
              </a:spcBef>
              <a:defRPr sz="2844"/>
            </a:pPr>
            <a:r>
              <a:t>Lyndon Johnson mandates that all computers purchased by the government support ASCII</a:t>
            </a:r>
          </a:p>
          <a:p>
            <a:pPr marL="351155" indent="-351155" defTabSz="461518">
              <a:spcBef>
                <a:spcPts val="2000"/>
              </a:spcBef>
              <a:defRPr sz="2844"/>
            </a:pPr>
            <a:r>
              <a:t>Leads to near-universal adoption</a:t>
            </a:r>
          </a:p>
        </p:txBody>
      </p:sp>
      <p:pic>
        <p:nvPicPr>
          <p:cNvPr id="108" name="pasted-image.png"/>
          <p:cNvPicPr>
            <a:picLocks noChangeAspect="1"/>
          </p:cNvPicPr>
          <p:nvPr/>
        </p:nvPicPr>
        <p:blipFill>
          <a:blip r:embed="rId2">
            <a:extLst/>
          </a:blip>
          <a:stretch>
            <a:fillRect/>
          </a:stretch>
        </p:blipFill>
        <p:spPr>
          <a:xfrm>
            <a:off x="6106715" y="2675562"/>
            <a:ext cx="6840271" cy="4969884"/>
          </a:xfrm>
          <a:prstGeom prst="rect">
            <a:avLst/>
          </a:prstGeom>
          <a:ln w="12700">
            <a:miter lim="400000"/>
          </a:ln>
        </p:spPr>
      </p:pic>
      <p:sp>
        <p:nvSpPr>
          <p:cNvPr id="109" name="Shape 109"/>
          <p:cNvSpPr/>
          <p:nvPr/>
        </p:nvSpPr>
        <p:spPr>
          <a:xfrm>
            <a:off x="3420738" y="1797049"/>
            <a:ext cx="6856810" cy="419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defTabSz="457200">
              <a:spcBef>
                <a:spcPts val="600"/>
              </a:spcBef>
              <a:defRPr sz="2100" b="1">
                <a:latin typeface="+mj-lt"/>
                <a:ea typeface="+mj-ea"/>
                <a:cs typeface="+mj-cs"/>
                <a:sym typeface="Helvetica"/>
              </a:defRPr>
            </a:lvl1pPr>
          </a:lstStyle>
          <a:p>
            <a:r>
              <a:t>American Standard Code for Information Interchange</a:t>
            </a:r>
          </a:p>
        </p:txBody>
      </p:sp>
      <p:sp>
        <p:nvSpPr>
          <p:cNvPr id="110" name="Shape 110"/>
          <p:cNvSpPr/>
          <p:nvPr/>
        </p:nvSpPr>
        <p:spPr>
          <a:xfrm>
            <a:off x="6707870" y="7927057"/>
            <a:ext cx="563796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900" b="1">
                <a:latin typeface="+mj-lt"/>
                <a:ea typeface="+mj-ea"/>
                <a:cs typeface="+mj-cs"/>
                <a:sym typeface="Helvetica"/>
              </a:defRPr>
            </a:pPr>
            <a:r>
              <a:t>Code for “q”: 1110001</a:t>
            </a:r>
          </a:p>
          <a:p>
            <a:pPr>
              <a:defRPr sz="2900" b="1">
                <a:latin typeface="+mj-lt"/>
                <a:ea typeface="+mj-ea"/>
                <a:cs typeface="+mj-cs"/>
                <a:sym typeface="Helvetica"/>
              </a:defRPr>
            </a:pPr>
            <a:r>
              <a:t>2</a:t>
            </a:r>
            <a:r>
              <a:rPr baseline="31999"/>
              <a:t>6</a:t>
            </a:r>
            <a:r>
              <a:t>+2</a:t>
            </a:r>
            <a:r>
              <a:rPr baseline="31999"/>
              <a:t>5</a:t>
            </a:r>
            <a:r>
              <a:t>+2</a:t>
            </a:r>
            <a:r>
              <a:rPr baseline="31999"/>
              <a:t>4</a:t>
            </a:r>
            <a:r>
              <a:t>+2</a:t>
            </a:r>
            <a:r>
              <a:rPr baseline="31999"/>
              <a:t>0</a:t>
            </a:r>
            <a:r>
              <a:t> = 64+32+16+1 = 113</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hape 112"/>
          <p:cNvSpPr>
            <a:spLocks noGrp="1"/>
          </p:cNvSpPr>
          <p:nvPr>
            <p:ph type="title"/>
          </p:nvPr>
        </p:nvSpPr>
        <p:spPr>
          <a:prstGeom prst="rect">
            <a:avLst/>
          </a:prstGeom>
        </p:spPr>
        <p:txBody>
          <a:bodyPr/>
          <a:lstStyle/>
          <a:p>
            <a:r>
              <a:t>Your computer knows ASCII</a:t>
            </a:r>
          </a:p>
        </p:txBody>
      </p:sp>
      <p:sp>
        <p:nvSpPr>
          <p:cNvPr id="113" name="Shape 113"/>
          <p:cNvSpPr/>
          <p:nvPr/>
        </p:nvSpPr>
        <p:spPr>
          <a:xfrm>
            <a:off x="473689" y="2794000"/>
            <a:ext cx="12057423" cy="5181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Python 2.7.5 (default, Aug 25 2013, 00:04:04)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[GCC 4.2.1 Compatible Apple LLVM 5.0 (clang-500.0.68)] on darwin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Type "help", "copyright", "credits" or "license" for more information.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&gt;&gt;&gt; print ord("q")</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113</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&gt;&gt;&gt; for a in ("C","h","r","i","s"):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     print ord(a)</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104</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114</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105</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115</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&gt;&gt;&gt; print chr(113)</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200">
                <a:solidFill>
                  <a:schemeClr val="accent1">
                    <a:hueOff val="273561"/>
                    <a:satOff val="2937"/>
                    <a:lumOff val="-22233"/>
                  </a:schemeClr>
                </a:solidFill>
                <a:latin typeface="Menlo"/>
                <a:ea typeface="Menlo"/>
                <a:cs typeface="Menlo"/>
                <a:sym typeface="Menlo"/>
              </a:defRPr>
            </a:pPr>
            <a:r>
              <a:t>q</a:t>
            </a:r>
          </a:p>
        </p:txBody>
      </p:sp>
      <p:sp>
        <p:nvSpPr>
          <p:cNvPr id="114" name="Shape 114"/>
          <p:cNvSpPr/>
          <p:nvPr/>
        </p:nvSpPr>
        <p:spPr>
          <a:xfrm>
            <a:off x="6839764" y="6519217"/>
            <a:ext cx="5866360" cy="2975245"/>
          </a:xfrm>
          <a:prstGeom prst="roundRect">
            <a:avLst>
              <a:gd name="adj" fmla="val 9716"/>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Python has two commands to convert characters of text to and from ASCII. The ord command returns the ASCII code of a character. The chr command converts a character to ASCII. Note that the value of 113 for “q” matches that given in the table on the previous slide.</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Shape 116"/>
          <p:cNvSpPr>
            <a:spLocks noGrp="1"/>
          </p:cNvSpPr>
          <p:nvPr>
            <p:ph type="title"/>
          </p:nvPr>
        </p:nvSpPr>
        <p:spPr>
          <a:xfrm>
            <a:off x="437232" y="444500"/>
            <a:ext cx="12130336" cy="1179364"/>
          </a:xfrm>
          <a:prstGeom prst="rect">
            <a:avLst/>
          </a:prstGeom>
        </p:spPr>
        <p:txBody>
          <a:bodyPr/>
          <a:lstStyle/>
          <a:p>
            <a:r>
              <a:t>Unicode</a:t>
            </a:r>
          </a:p>
        </p:txBody>
      </p:sp>
      <p:sp>
        <p:nvSpPr>
          <p:cNvPr id="117" name="Shape 117"/>
          <p:cNvSpPr>
            <a:spLocks noGrp="1"/>
          </p:cNvSpPr>
          <p:nvPr>
            <p:ph type="body" sz="quarter" idx="1"/>
          </p:nvPr>
        </p:nvSpPr>
        <p:spPr>
          <a:xfrm>
            <a:off x="1282700" y="8044557"/>
            <a:ext cx="11099800" cy="1475830"/>
          </a:xfrm>
          <a:prstGeom prst="rect">
            <a:avLst/>
          </a:prstGeom>
        </p:spPr>
        <p:txBody>
          <a:bodyPr/>
          <a:lstStyle>
            <a:lvl1pPr marL="0" indent="0" defTabSz="490727">
              <a:spcBef>
                <a:spcPts val="2100"/>
              </a:spcBef>
              <a:buSzTx/>
              <a:buNone/>
              <a:defRPr sz="3024"/>
            </a:lvl1pPr>
          </a:lstStyle>
          <a:p>
            <a:r>
              <a:t>Further extensions such as UTF-8, UTF-16, UTF-32 offer near-universal support for international characters (even for languages with large numbers of characters like Chinese)</a:t>
            </a:r>
          </a:p>
        </p:txBody>
      </p:sp>
      <p:pic>
        <p:nvPicPr>
          <p:cNvPr id="118" name="pasted-image.tif"/>
          <p:cNvPicPr>
            <a:picLocks noChangeAspect="1"/>
          </p:cNvPicPr>
          <p:nvPr/>
        </p:nvPicPr>
        <p:blipFill>
          <a:blip r:embed="rId2">
            <a:extLst/>
          </a:blip>
          <a:stretch>
            <a:fillRect/>
          </a:stretch>
        </p:blipFill>
        <p:spPr>
          <a:xfrm>
            <a:off x="2853795" y="1679151"/>
            <a:ext cx="7297210" cy="6145018"/>
          </a:xfrm>
          <a:prstGeom prst="rect">
            <a:avLst/>
          </a:prstGeom>
          <a:ln w="12700">
            <a:miter lim="400000"/>
          </a:ln>
        </p:spPr>
      </p:pic>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Shape 120"/>
          <p:cNvSpPr>
            <a:spLocks noGrp="1"/>
          </p:cNvSpPr>
          <p:nvPr>
            <p:ph type="title"/>
          </p:nvPr>
        </p:nvSpPr>
        <p:spPr>
          <a:prstGeom prst="rect">
            <a:avLst/>
          </a:prstGeom>
        </p:spPr>
        <p:txBody>
          <a:bodyPr/>
          <a:lstStyle/>
          <a:p>
            <a:r>
              <a:t>Bit rate</a:t>
            </a:r>
          </a:p>
        </p:txBody>
      </p:sp>
      <p:sp>
        <p:nvSpPr>
          <p:cNvPr id="121" name="Shape 121"/>
          <p:cNvSpPr>
            <a:spLocks noGrp="1"/>
          </p:cNvSpPr>
          <p:nvPr>
            <p:ph type="body" idx="1"/>
          </p:nvPr>
        </p:nvSpPr>
        <p:spPr>
          <a:xfrm>
            <a:off x="952500" y="2609850"/>
            <a:ext cx="11099800" cy="6286500"/>
          </a:xfrm>
          <a:prstGeom prst="rect">
            <a:avLst/>
          </a:prstGeom>
        </p:spPr>
        <p:txBody>
          <a:bodyPr/>
          <a:lstStyle/>
          <a:p>
            <a:r>
              <a:t>Shannon introduces a channel transmission rate </a:t>
            </a:r>
            <a:r>
              <a:rPr b="0" i="1"/>
              <a:t>C</a:t>
            </a:r>
            <a:r>
              <a:t>, expressed in terms of bits/time</a:t>
            </a:r>
          </a:p>
          <a:p>
            <a:r>
              <a:t>Teletype printer in video prints approximately five characters per second</a:t>
            </a:r>
          </a:p>
          <a:p>
            <a:r>
              <a:t>Each character contains five bits of information</a:t>
            </a:r>
          </a:p>
          <a:p>
            <a:r>
              <a:rPr b="0" i="1"/>
              <a:t>C</a:t>
            </a:r>
            <a:r>
              <a:t> = 25 bits/second</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Shape 123"/>
          <p:cNvSpPr>
            <a:spLocks noGrp="1"/>
          </p:cNvSpPr>
          <p:nvPr>
            <p:ph type="body" idx="1"/>
          </p:nvPr>
        </p:nvSpPr>
        <p:spPr>
          <a:prstGeom prst="rect">
            <a:avLst/>
          </a:prstGeom>
        </p:spPr>
        <p:txBody>
          <a:bodyPr anchor="t"/>
          <a:lstStyle/>
          <a:p>
            <a:r>
              <a:t>Alternative method of calculation: how many possible messages in second?</a:t>
            </a:r>
          </a:p>
          <a:p>
            <a:endParaRPr/>
          </a:p>
          <a:p>
            <a:r>
              <a:t>In </a:t>
            </a:r>
            <a:r>
              <a:rPr b="0" i="1"/>
              <a:t>t</a:t>
            </a:r>
            <a:r>
              <a:t> seconds,</a:t>
            </a:r>
          </a:p>
          <a:p>
            <a:endParaRPr/>
          </a:p>
          <a:p>
            <a:r>
              <a:t>Channel capacity</a:t>
            </a:r>
          </a:p>
          <a:p>
            <a:endParaRPr/>
          </a:p>
          <a:p>
            <a:r>
              <a:t>Can this be applied to other codes?</a:t>
            </a:r>
          </a:p>
        </p:txBody>
      </p:sp>
      <p:sp>
        <p:nvSpPr>
          <p:cNvPr id="124" name="Shape 124"/>
          <p:cNvSpPr/>
          <p:nvPr/>
        </p:nvSpPr>
        <p:spPr>
          <a:xfrm>
            <a:off x="437232" y="444500"/>
            <a:ext cx="12130336"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a:defRPr sz="6400" b="1">
                <a:solidFill>
                  <a:schemeClr val="accent1">
                    <a:hueOff val="47394"/>
                    <a:satOff val="-25753"/>
                    <a:lumOff val="-7544"/>
                  </a:schemeClr>
                </a:solidFill>
                <a:effectLst>
                  <a:outerShdw blurRad="88900" dist="38100" dir="2700000" rotWithShape="0">
                    <a:srgbClr val="000000">
                      <a:alpha val="30000"/>
                    </a:srgbClr>
                  </a:outerShdw>
                </a:effectLst>
                <a:latin typeface="+mj-lt"/>
                <a:ea typeface="+mj-ea"/>
                <a:cs typeface="+mj-cs"/>
                <a:sym typeface="Helvetica"/>
              </a:defRPr>
            </a:lvl1pPr>
          </a:lstStyle>
          <a:p>
            <a:r>
              <a:t>Bit rate</a:t>
            </a:r>
          </a:p>
        </p:txBody>
      </p:sp>
      <p:pic>
        <p:nvPicPr>
          <p:cNvPr id="125" name="inf23.pdf"/>
          <p:cNvPicPr>
            <a:picLocks noChangeAspect="1"/>
          </p:cNvPicPr>
          <p:nvPr/>
        </p:nvPicPr>
        <p:blipFill>
          <a:blip r:embed="rId2">
            <a:extLst/>
          </a:blip>
          <a:stretch>
            <a:fillRect/>
          </a:stretch>
        </p:blipFill>
        <p:spPr>
          <a:xfrm>
            <a:off x="4715626" y="4019037"/>
            <a:ext cx="3573547" cy="496327"/>
          </a:xfrm>
          <a:prstGeom prst="rect">
            <a:avLst/>
          </a:prstGeom>
          <a:ln w="12700">
            <a:miter lim="400000"/>
          </a:ln>
        </p:spPr>
      </p:pic>
      <p:pic>
        <p:nvPicPr>
          <p:cNvPr id="126" name="inf24.pdf"/>
          <p:cNvPicPr>
            <a:picLocks noChangeAspect="1"/>
          </p:cNvPicPr>
          <p:nvPr/>
        </p:nvPicPr>
        <p:blipFill>
          <a:blip r:embed="rId3">
            <a:extLst/>
          </a:blip>
          <a:stretch>
            <a:fillRect/>
          </a:stretch>
        </p:blipFill>
        <p:spPr>
          <a:xfrm>
            <a:off x="4366412" y="5476894"/>
            <a:ext cx="4271976" cy="552412"/>
          </a:xfrm>
          <a:prstGeom prst="rect">
            <a:avLst/>
          </a:prstGeom>
          <a:ln w="12700">
            <a:miter lim="400000"/>
          </a:ln>
        </p:spPr>
      </p:pic>
      <p:pic>
        <p:nvPicPr>
          <p:cNvPr id="127" name="coe.pdf"/>
          <p:cNvPicPr>
            <a:picLocks noChangeAspect="1"/>
          </p:cNvPicPr>
          <p:nvPr/>
        </p:nvPicPr>
        <p:blipFill>
          <a:blip r:embed="rId4">
            <a:extLst/>
          </a:blip>
          <a:stretch>
            <a:fillRect/>
          </a:stretch>
        </p:blipFill>
        <p:spPr>
          <a:xfrm>
            <a:off x="2702540" y="7207735"/>
            <a:ext cx="7599720" cy="856832"/>
          </a:xfrm>
          <a:prstGeom prst="rect">
            <a:avLst/>
          </a:prstGeom>
          <a:ln w="12700">
            <a:miter lim="400000"/>
          </a:ln>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p:cNvSpPr>
          <p:nvPr>
            <p:ph type="title"/>
          </p:nvPr>
        </p:nvSpPr>
        <p:spPr>
          <a:prstGeom prst="rect">
            <a:avLst/>
          </a:prstGeom>
        </p:spPr>
        <p:txBody>
          <a:bodyPr/>
          <a:lstStyle/>
          <a:p>
            <a:r>
              <a:t>Morse code</a:t>
            </a:r>
          </a:p>
        </p:txBody>
      </p:sp>
      <p:sp>
        <p:nvSpPr>
          <p:cNvPr id="130" name="Shape 130"/>
          <p:cNvSpPr>
            <a:spLocks noGrp="1"/>
          </p:cNvSpPr>
          <p:nvPr>
            <p:ph type="body" sz="quarter" idx="1"/>
          </p:nvPr>
        </p:nvSpPr>
        <p:spPr>
          <a:xfrm>
            <a:off x="546100" y="2260600"/>
            <a:ext cx="6287592" cy="3421758"/>
          </a:xfrm>
          <a:prstGeom prst="rect">
            <a:avLst/>
          </a:prstGeom>
        </p:spPr>
        <p:txBody>
          <a:bodyPr/>
          <a:lstStyle/>
          <a:p>
            <a:pPr marL="333375" indent="-333375" defTabSz="438150">
              <a:spcBef>
                <a:spcPts val="1900"/>
              </a:spcBef>
              <a:defRPr sz="2700"/>
            </a:pPr>
            <a:r>
              <a:t>Developed in 1836 by artist Samuel Morse, physicist Joseph Henry, and inventor Alfred Vail for sending messages on a telegraph system</a:t>
            </a:r>
          </a:p>
          <a:p>
            <a:pPr marL="333375" indent="-333375" defTabSz="438150">
              <a:spcBef>
                <a:spcPts val="1900"/>
              </a:spcBef>
              <a:defRPr sz="2700"/>
            </a:pPr>
            <a:r>
              <a:t>Still in use today</a:t>
            </a:r>
          </a:p>
          <a:p>
            <a:pPr marL="333375" indent="-333375" defTabSz="438150">
              <a:spcBef>
                <a:spcPts val="1900"/>
              </a:spcBef>
              <a:defRPr sz="2700"/>
            </a:pPr>
            <a:r>
              <a:t>Experienced users can achieve speeds of 40 words per minute</a:t>
            </a:r>
          </a:p>
        </p:txBody>
      </p:sp>
      <p:pic>
        <p:nvPicPr>
          <p:cNvPr id="131" name="pasted-image.tif"/>
          <p:cNvPicPr>
            <a:picLocks noChangeAspect="1"/>
          </p:cNvPicPr>
          <p:nvPr/>
        </p:nvPicPr>
        <p:blipFill>
          <a:blip r:embed="rId2">
            <a:extLst/>
          </a:blip>
          <a:stretch>
            <a:fillRect/>
          </a:stretch>
        </p:blipFill>
        <p:spPr>
          <a:xfrm>
            <a:off x="7177385" y="2070100"/>
            <a:ext cx="5715001" cy="7366000"/>
          </a:xfrm>
          <a:prstGeom prst="rect">
            <a:avLst/>
          </a:prstGeom>
          <a:ln w="12700">
            <a:miter lim="400000"/>
          </a:ln>
        </p:spPr>
      </p:pic>
      <p:pic>
        <p:nvPicPr>
          <p:cNvPr id="132" name="pasted-image.tif"/>
          <p:cNvPicPr>
            <a:picLocks noChangeAspect="1"/>
          </p:cNvPicPr>
          <p:nvPr/>
        </p:nvPicPr>
        <p:blipFill>
          <a:blip r:embed="rId3">
            <a:extLst/>
          </a:blip>
          <a:stretch>
            <a:fillRect/>
          </a:stretch>
        </p:blipFill>
        <p:spPr>
          <a:xfrm>
            <a:off x="1531540" y="6123731"/>
            <a:ext cx="4064001" cy="3048001"/>
          </a:xfrm>
          <a:prstGeom prst="rect">
            <a:avLst/>
          </a:prstGeom>
          <a:ln w="12700">
            <a:miter lim="400000"/>
          </a:ln>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p:cNvSpPr>
          <p:nvPr>
            <p:ph type="title"/>
          </p:nvPr>
        </p:nvSpPr>
        <p:spPr>
          <a:prstGeom prst="rect">
            <a:avLst/>
          </a:prstGeom>
        </p:spPr>
        <p:txBody>
          <a:bodyPr/>
          <a:lstStyle>
            <a:lvl1pPr>
              <a:defRPr sz="5400"/>
            </a:lvl1pPr>
          </a:lstStyle>
          <a:p>
            <a:r>
              <a:t>Morse code design: letter frequencies</a:t>
            </a:r>
          </a:p>
        </p:txBody>
      </p:sp>
      <p:sp>
        <p:nvSpPr>
          <p:cNvPr id="135" name="Shape 135"/>
          <p:cNvSpPr>
            <a:spLocks noGrp="1"/>
          </p:cNvSpPr>
          <p:nvPr>
            <p:ph type="body" sz="half" idx="1"/>
          </p:nvPr>
        </p:nvSpPr>
        <p:spPr>
          <a:xfrm>
            <a:off x="952500" y="2114649"/>
            <a:ext cx="11099800" cy="4028778"/>
          </a:xfrm>
          <a:prstGeom prst="rect">
            <a:avLst/>
          </a:prstGeom>
        </p:spPr>
        <p:txBody>
          <a:bodyPr/>
          <a:lstStyle/>
          <a:p>
            <a:pPr marL="373379" indent="-373379" defTabSz="490727">
              <a:spcBef>
                <a:spcPts val="2100"/>
              </a:spcBef>
              <a:defRPr sz="3024"/>
            </a:pPr>
            <a:r>
              <a:t>Letter frequencies</a:t>
            </a:r>
          </a:p>
          <a:p>
            <a:pPr marL="373379" indent="-373379" defTabSz="490727">
              <a:spcBef>
                <a:spcPts val="2100"/>
              </a:spcBef>
              <a:defRPr sz="3024"/>
            </a:pPr>
            <a:endParaRPr/>
          </a:p>
          <a:p>
            <a:pPr marL="373379" indent="-373379" defTabSz="490727">
              <a:spcBef>
                <a:spcPts val="2100"/>
              </a:spcBef>
              <a:defRPr sz="3024"/>
            </a:pPr>
            <a:endParaRPr/>
          </a:p>
          <a:p>
            <a:pPr marL="373379" indent="-373379" defTabSz="490727">
              <a:spcBef>
                <a:spcPts val="2100"/>
              </a:spcBef>
              <a:defRPr sz="3024"/>
            </a:pPr>
            <a:endParaRPr/>
          </a:p>
          <a:p>
            <a:pPr marL="373379" indent="-373379" defTabSz="490727">
              <a:spcBef>
                <a:spcPts val="2100"/>
              </a:spcBef>
              <a:defRPr sz="3024"/>
            </a:pPr>
            <a:endParaRPr/>
          </a:p>
          <a:p>
            <a:pPr marL="373379" indent="-373379" defTabSz="490727">
              <a:spcBef>
                <a:spcPts val="2100"/>
              </a:spcBef>
              <a:defRPr sz="3024"/>
            </a:pPr>
            <a:r>
              <a:t>Most common letters have short codes</a:t>
            </a:r>
          </a:p>
        </p:txBody>
      </p:sp>
      <p:sp>
        <p:nvSpPr>
          <p:cNvPr id="136" name="Shape 136"/>
          <p:cNvSpPr/>
          <p:nvPr/>
        </p:nvSpPr>
        <p:spPr>
          <a:xfrm>
            <a:off x="1904875" y="2935237"/>
            <a:ext cx="9195050" cy="238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1200"/>
              </a:spcBef>
              <a:defRPr sz="3200" b="1">
                <a:latin typeface="+mj-lt"/>
                <a:ea typeface="+mj-ea"/>
                <a:cs typeface="+mj-cs"/>
                <a:sym typeface="Helvetica"/>
              </a:defRPr>
            </a:pPr>
            <a:r>
              <a:rPr sz="2700"/>
              <a:t>E 11.28%, T 8.46%, A 7.52%, I 7.52%, N 7.52%, O 7.52%,</a:t>
            </a:r>
            <a:br>
              <a:rPr sz="2700"/>
            </a:br>
            <a:r>
              <a:rPr sz="2700"/>
              <a:t>H 6.02%, R 5.83%, D 4.14%, L 3.76%, U 3.20%, C 2.82%,</a:t>
            </a:r>
            <a:br>
              <a:rPr sz="2700"/>
            </a:br>
            <a:r>
              <a:rPr sz="2700"/>
              <a:t>M 2.82%, F 2.35%, W 1.88%, Y 1.88%, G 1.60%, P 1.60%, B 1.50%, V 1.13%, K 0.75%, Q 0.47%, J 0.38%, X 0.38%,</a:t>
            </a:r>
            <a:r>
              <a:rPr sz="700"/>
              <a:t> </a:t>
            </a:r>
            <a:r>
              <a:rPr sz="2700"/>
              <a:t>Z 0.19%</a:t>
            </a:r>
            <a:endParaRPr sz="700"/>
          </a:p>
        </p:txBody>
      </p:sp>
      <p:sp>
        <p:nvSpPr>
          <p:cNvPr id="137" name="Shape 137"/>
          <p:cNvSpPr/>
          <p:nvPr/>
        </p:nvSpPr>
        <p:spPr>
          <a:xfrm>
            <a:off x="6314933" y="6540500"/>
            <a:ext cx="31895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I</a:t>
            </a:r>
          </a:p>
        </p:txBody>
      </p:sp>
      <p:sp>
        <p:nvSpPr>
          <p:cNvPr id="138" name="Shape 138"/>
          <p:cNvSpPr/>
          <p:nvPr/>
        </p:nvSpPr>
        <p:spPr>
          <a:xfrm>
            <a:off x="4338279" y="6540500"/>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A</a:t>
            </a:r>
          </a:p>
        </p:txBody>
      </p:sp>
      <p:sp>
        <p:nvSpPr>
          <p:cNvPr id="139" name="Shape 139"/>
          <p:cNvSpPr/>
          <p:nvPr/>
        </p:nvSpPr>
        <p:spPr>
          <a:xfrm>
            <a:off x="2566276" y="6540500"/>
            <a:ext cx="564245"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T</a:t>
            </a:r>
          </a:p>
        </p:txBody>
      </p:sp>
      <p:sp>
        <p:nvSpPr>
          <p:cNvPr id="140" name="Shape 140"/>
          <p:cNvSpPr/>
          <p:nvPr/>
        </p:nvSpPr>
        <p:spPr>
          <a:xfrm>
            <a:off x="732590" y="6540500"/>
            <a:ext cx="605607"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E</a:t>
            </a:r>
          </a:p>
        </p:txBody>
      </p:sp>
      <p:sp>
        <p:nvSpPr>
          <p:cNvPr id="141" name="Shape 141"/>
          <p:cNvSpPr/>
          <p:nvPr/>
        </p:nvSpPr>
        <p:spPr>
          <a:xfrm>
            <a:off x="7964289" y="6540500"/>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N</a:t>
            </a:r>
          </a:p>
        </p:txBody>
      </p:sp>
      <p:sp>
        <p:nvSpPr>
          <p:cNvPr id="142" name="Shape 142"/>
          <p:cNvSpPr/>
          <p:nvPr/>
        </p:nvSpPr>
        <p:spPr>
          <a:xfrm>
            <a:off x="9756794" y="6540500"/>
            <a:ext cx="687252"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O</a:t>
            </a:r>
          </a:p>
        </p:txBody>
      </p:sp>
      <p:sp>
        <p:nvSpPr>
          <p:cNvPr id="143" name="Shape 143"/>
          <p:cNvSpPr/>
          <p:nvPr/>
        </p:nvSpPr>
        <p:spPr>
          <a:xfrm>
            <a:off x="11590300" y="6540500"/>
            <a:ext cx="646250" cy="990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800" b="1">
                <a:solidFill>
                  <a:schemeClr val="accent6"/>
                </a:solidFill>
                <a:latin typeface="+mj-lt"/>
                <a:ea typeface="+mj-ea"/>
                <a:cs typeface="+mj-cs"/>
                <a:sym typeface="Helvetica"/>
              </a:defRPr>
            </a:lvl1pPr>
          </a:lstStyle>
          <a:p>
            <a:r>
              <a:t>H</a:t>
            </a:r>
          </a:p>
        </p:txBody>
      </p:sp>
      <p:sp>
        <p:nvSpPr>
          <p:cNvPr id="144" name="Shape 144"/>
          <p:cNvSpPr/>
          <p:nvPr/>
        </p:nvSpPr>
        <p:spPr>
          <a:xfrm>
            <a:off x="879446" y="7588250"/>
            <a:ext cx="311895"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5" name="Shape 145"/>
          <p:cNvSpPr/>
          <p:nvPr/>
        </p:nvSpPr>
        <p:spPr>
          <a:xfrm>
            <a:off x="2672831" y="7588250"/>
            <a:ext cx="351136"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6" name="Shape 146"/>
          <p:cNvSpPr/>
          <p:nvPr/>
        </p:nvSpPr>
        <p:spPr>
          <a:xfrm>
            <a:off x="4390814" y="7588250"/>
            <a:ext cx="54873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7" name="Shape 147"/>
          <p:cNvSpPr/>
          <p:nvPr/>
        </p:nvSpPr>
        <p:spPr>
          <a:xfrm>
            <a:off x="6208431" y="7588250"/>
            <a:ext cx="50949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8" name="Shape 148"/>
          <p:cNvSpPr/>
          <p:nvPr/>
        </p:nvSpPr>
        <p:spPr>
          <a:xfrm>
            <a:off x="8001817" y="7588250"/>
            <a:ext cx="548730"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49" name="Shape 149"/>
          <p:cNvSpPr/>
          <p:nvPr/>
        </p:nvSpPr>
        <p:spPr>
          <a:xfrm>
            <a:off x="9688017" y="7588250"/>
            <a:ext cx="824806"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
        <p:nvSpPr>
          <p:cNvPr id="150" name="Shape 150"/>
          <p:cNvSpPr/>
          <p:nvPr/>
        </p:nvSpPr>
        <p:spPr>
          <a:xfrm>
            <a:off x="11461086" y="7588250"/>
            <a:ext cx="904678" cy="952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600" b="1">
                <a:latin typeface="+mj-lt"/>
                <a:ea typeface="+mj-ea"/>
                <a:cs typeface="+mj-cs"/>
                <a:sym typeface="Helvetica"/>
              </a:defRPr>
            </a:lvl1pPr>
          </a:lstStyle>
          <a:p>
            <a:r>
              <a:t>····</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p:nvPr>
        </p:nvSpPr>
        <p:spPr>
          <a:prstGeom prst="rect">
            <a:avLst/>
          </a:prstGeom>
        </p:spPr>
        <p:txBody>
          <a:bodyPr/>
          <a:lstStyle/>
          <a:p>
            <a:r>
              <a:t>Timing specifics</a:t>
            </a:r>
          </a:p>
        </p:txBody>
      </p:sp>
      <p:sp>
        <p:nvSpPr>
          <p:cNvPr id="153" name="Shape 153"/>
          <p:cNvSpPr>
            <a:spLocks noGrp="1"/>
          </p:cNvSpPr>
          <p:nvPr>
            <p:ph type="body" idx="1"/>
          </p:nvPr>
        </p:nvSpPr>
        <p:spPr>
          <a:xfrm>
            <a:off x="952500" y="2609850"/>
            <a:ext cx="11099800" cy="6286500"/>
          </a:xfrm>
          <a:prstGeom prst="rect">
            <a:avLst/>
          </a:prstGeom>
        </p:spPr>
        <p:txBody>
          <a:bodyPr/>
          <a:lstStyle/>
          <a:p>
            <a:r>
              <a:t>Dot = line closure for one unit of time and then line open for one unit of time</a:t>
            </a:r>
          </a:p>
          <a:p>
            <a:r>
              <a:t>Dash = line closure for three units of time and line open for one unit of time</a:t>
            </a:r>
          </a:p>
          <a:p>
            <a:r>
              <a:t>Letter Space = line open for three units of time</a:t>
            </a:r>
          </a:p>
          <a:p>
            <a:r>
              <a:t>Word Space = line open for six units of time</a:t>
            </a:r>
          </a:p>
          <a:p>
            <a:r>
              <a:t>Additional Rule: cannot have two successive spaces</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p:cNvSpPr>
          <p:nvPr>
            <p:ph type="title"/>
          </p:nvPr>
        </p:nvSpPr>
        <p:spPr>
          <a:prstGeom prst="rect">
            <a:avLst/>
          </a:prstGeom>
        </p:spPr>
        <p:txBody>
          <a:bodyPr/>
          <a:lstStyle/>
          <a:p>
            <a:r>
              <a:t>Possible signals</a:t>
            </a:r>
          </a:p>
        </p:txBody>
      </p:sp>
      <p:sp>
        <p:nvSpPr>
          <p:cNvPr id="156" name="Shape 156"/>
          <p:cNvSpPr>
            <a:spLocks noGrp="1"/>
          </p:cNvSpPr>
          <p:nvPr>
            <p:ph type="body" idx="1"/>
          </p:nvPr>
        </p:nvSpPr>
        <p:spPr>
          <a:prstGeom prst="rect">
            <a:avLst/>
          </a:prstGeom>
        </p:spPr>
        <p:txBody>
          <a:bodyPr/>
          <a:lstStyle/>
          <a:p>
            <a:r>
              <a:t>Dot = 2 time units</a:t>
            </a:r>
          </a:p>
          <a:p>
            <a:r>
              <a:t>Dash = 4 time units</a:t>
            </a:r>
          </a:p>
          <a:p>
            <a:r>
              <a:t>Dot-space = 5 time units</a:t>
            </a:r>
          </a:p>
          <a:p>
            <a:r>
              <a:t>Dash-space = 7 time units</a:t>
            </a:r>
          </a:p>
          <a:p>
            <a:r>
              <a:t>Dot-wordspace = 8 time units</a:t>
            </a:r>
          </a:p>
          <a:p>
            <a:r>
              <a:t>Dash-wordspace = 10 time units</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body" idx="13"/>
          </p:nvPr>
        </p:nvSpPr>
        <p:spPr>
          <a:prstGeom prst="rect">
            <a:avLst/>
          </a:prstGeom>
        </p:spPr>
        <p:txBody>
          <a:bodyPr/>
          <a:lstStyle/>
          <a:p>
            <a:r>
              <a:t>Total number of signals transmitted in unit time</a:t>
            </a:r>
          </a:p>
        </p:txBody>
      </p:sp>
      <p:sp>
        <p:nvSpPr>
          <p:cNvPr id="159" name="Shape 159"/>
          <p:cNvSpPr/>
          <p:nvPr/>
        </p:nvSpPr>
        <p:spPr>
          <a:xfrm>
            <a:off x="450304" y="2838450"/>
            <a:ext cx="12104192"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j-lt"/>
                <a:ea typeface="+mj-ea"/>
                <a:cs typeface="+mj-cs"/>
                <a:sym typeface="Helvetica"/>
              </a:defRPr>
            </a:pPr>
            <a:r>
              <a:t>Let </a:t>
            </a:r>
            <a:r>
              <a:rPr b="0" i="1"/>
              <a:t>N</a:t>
            </a:r>
            <a:r>
              <a:rPr b="0"/>
              <a:t>(</a:t>
            </a:r>
            <a:r>
              <a:rPr b="0" i="1"/>
              <a:t>t</a:t>
            </a:r>
            <a:r>
              <a:rPr b="0"/>
              <a:t>)</a:t>
            </a:r>
            <a:r>
              <a:t> be the number of signals that can form in time </a:t>
            </a:r>
            <a:r>
              <a:rPr b="0" i="1"/>
              <a:t>t</a:t>
            </a:r>
          </a:p>
        </p:txBody>
      </p:sp>
      <p:sp>
        <p:nvSpPr>
          <p:cNvPr id="160" name="Shape 160"/>
          <p:cNvSpPr/>
          <p:nvPr/>
        </p:nvSpPr>
        <p:spPr>
          <a:xfrm>
            <a:off x="329792" y="3989349"/>
            <a:ext cx="12842622" cy="5088573"/>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p>
            <a:pPr algn="l">
              <a:lnSpc>
                <a:spcPct val="150000"/>
              </a:lnSpc>
              <a:defRPr b="1">
                <a:latin typeface="+mj-lt"/>
                <a:ea typeface="+mj-ea"/>
                <a:cs typeface="+mj-cs"/>
                <a:sym typeface="Helvetica"/>
              </a:defRPr>
            </a:pPr>
            <a:r>
              <a:rPr b="0" i="1" dirty="0"/>
              <a:t>N</a:t>
            </a:r>
            <a:r>
              <a:rPr b="0" dirty="0"/>
              <a:t>(</a:t>
            </a:r>
            <a:r>
              <a:rPr b="0" i="1" dirty="0"/>
              <a:t>t</a:t>
            </a:r>
            <a:r>
              <a:rPr b="0" dirty="0"/>
              <a:t>)</a:t>
            </a:r>
            <a:r>
              <a:rPr dirty="0"/>
              <a:t> </a:t>
            </a:r>
            <a:r>
              <a:rPr b="0" dirty="0"/>
              <a:t>=</a:t>
            </a:r>
            <a:r>
              <a:rPr dirty="0"/>
              <a:t> number of signals ending in a “dot</a:t>
            </a:r>
            <a:r>
              <a:rPr dirty="0" smtClean="0"/>
              <a:t>”</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“dash</a:t>
            </a:r>
            <a:r>
              <a:rPr dirty="0" smtClean="0"/>
              <a:t>”</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a:t>
            </a:r>
            <a:r>
              <a:rPr dirty="0" smtClean="0"/>
              <a:t>dash-space</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a:t>
            </a:r>
            <a:r>
              <a:rPr dirty="0" smtClean="0"/>
              <a:t>dot-space</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a:t>
            </a:r>
            <a:r>
              <a:rPr dirty="0" smtClean="0"/>
              <a:t>dot-wordspace</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“dash-wordspace”</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body" idx="13"/>
          </p:nvPr>
        </p:nvSpPr>
        <p:spPr>
          <a:prstGeom prst="rect">
            <a:avLst/>
          </a:prstGeom>
        </p:spPr>
        <p:txBody>
          <a:bodyPr/>
          <a:lstStyle/>
          <a:p>
            <a:r>
              <a:t>Total number of signals transmitted in unit time</a:t>
            </a:r>
          </a:p>
        </p:txBody>
      </p:sp>
      <p:sp>
        <p:nvSpPr>
          <p:cNvPr id="159" name="Shape 159"/>
          <p:cNvSpPr/>
          <p:nvPr/>
        </p:nvSpPr>
        <p:spPr>
          <a:xfrm>
            <a:off x="450304" y="2838450"/>
            <a:ext cx="12104192"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b="1">
                <a:latin typeface="+mj-lt"/>
                <a:ea typeface="+mj-ea"/>
                <a:cs typeface="+mj-cs"/>
                <a:sym typeface="Helvetica"/>
              </a:defRPr>
            </a:pPr>
            <a:r>
              <a:rPr dirty="0"/>
              <a:t>Let </a:t>
            </a:r>
            <a:r>
              <a:rPr b="0" i="1" dirty="0"/>
              <a:t>N</a:t>
            </a:r>
            <a:r>
              <a:rPr b="0" dirty="0"/>
              <a:t>(</a:t>
            </a:r>
            <a:r>
              <a:rPr b="0" i="1" dirty="0"/>
              <a:t>t</a:t>
            </a:r>
            <a:r>
              <a:rPr b="0" dirty="0"/>
              <a:t>)</a:t>
            </a:r>
            <a:r>
              <a:rPr dirty="0"/>
              <a:t> be the number of signals that can form in time </a:t>
            </a:r>
            <a:r>
              <a:rPr b="0" i="1" dirty="0"/>
              <a:t>t</a:t>
            </a:r>
          </a:p>
        </p:txBody>
      </p:sp>
      <p:sp>
        <p:nvSpPr>
          <p:cNvPr id="160" name="Shape 160"/>
          <p:cNvSpPr/>
          <p:nvPr/>
        </p:nvSpPr>
        <p:spPr>
          <a:xfrm>
            <a:off x="437232" y="3640314"/>
            <a:ext cx="12842622" cy="5088573"/>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p>
            <a:pPr algn="l">
              <a:lnSpc>
                <a:spcPct val="150000"/>
              </a:lnSpc>
              <a:defRPr b="1">
                <a:latin typeface="+mj-lt"/>
                <a:ea typeface="+mj-ea"/>
                <a:cs typeface="+mj-cs"/>
                <a:sym typeface="Helvetica"/>
              </a:defRPr>
            </a:pPr>
            <a:r>
              <a:rPr b="0" i="1" dirty="0"/>
              <a:t>N</a:t>
            </a:r>
            <a:r>
              <a:rPr b="0" dirty="0"/>
              <a:t>(</a:t>
            </a:r>
            <a:r>
              <a:rPr b="0" i="1" dirty="0"/>
              <a:t>t</a:t>
            </a:r>
            <a:r>
              <a:rPr b="0" dirty="0"/>
              <a:t>)</a:t>
            </a:r>
            <a:r>
              <a:rPr dirty="0"/>
              <a:t> </a:t>
            </a:r>
            <a:r>
              <a:rPr b="0" dirty="0"/>
              <a:t>=</a:t>
            </a:r>
            <a:r>
              <a:rPr dirty="0"/>
              <a:t> number of signals ending in a “dot</a:t>
            </a:r>
            <a:r>
              <a:rPr dirty="0" smtClean="0"/>
              <a:t>”</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“dash</a:t>
            </a:r>
            <a:r>
              <a:rPr dirty="0" smtClean="0"/>
              <a:t>”</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a:t>
            </a:r>
            <a:r>
              <a:rPr dirty="0" smtClean="0"/>
              <a:t>dash-space</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a:t>
            </a:r>
            <a:r>
              <a:rPr dirty="0" smtClean="0"/>
              <a:t>dot-space</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a:t>
            </a:r>
            <a:r>
              <a:rPr dirty="0" smtClean="0"/>
              <a:t>dot-wordspace</a:t>
            </a:r>
            <a:endParaRPr dirty="0"/>
          </a:p>
          <a:p>
            <a:pPr marL="1778000" lvl="3" indent="-444500" algn="l">
              <a:lnSpc>
                <a:spcPct val="150000"/>
              </a:lnSpc>
              <a:buSzPct val="75000"/>
              <a:buChar char="+"/>
              <a:defRPr b="1">
                <a:latin typeface="+mj-lt"/>
                <a:ea typeface="+mj-ea"/>
                <a:cs typeface="+mj-cs"/>
                <a:sym typeface="Helvetica"/>
              </a:defRPr>
            </a:pPr>
            <a:r>
              <a:rPr dirty="0"/>
              <a:t>number of signals ending in a “dash-wordspace”</a:t>
            </a:r>
          </a:p>
        </p:txBody>
      </p:sp>
      <p:sp>
        <p:nvSpPr>
          <p:cNvPr id="162" name="Shape 162"/>
          <p:cNvSpPr/>
          <p:nvPr/>
        </p:nvSpPr>
        <p:spPr>
          <a:xfrm>
            <a:off x="-3089674" y="1028699"/>
            <a:ext cx="3526906" cy="4953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600" b="1">
                <a:solidFill>
                  <a:schemeClr val="accent5"/>
                </a:solidFill>
                <a:latin typeface="+mj-lt"/>
                <a:ea typeface="+mj-ea"/>
                <a:cs typeface="+mj-cs"/>
                <a:sym typeface="Helvetica"/>
              </a:defRPr>
            </a:lvl1pPr>
          </a:lstStyle>
          <a:p>
            <a:r>
              <a:t>“Difference equation”</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92600"/>
            <a:ext cx="13004800" cy="412320"/>
          </a:xfrm>
          <a:prstGeom prst="rect">
            <a:avLst/>
          </a:prstGeom>
        </p:spPr>
      </p:pic>
    </p:spTree>
    <p:extLst>
      <p:ext uri="{BB962C8B-B14F-4D97-AF65-F5344CB8AC3E}">
        <p14:creationId xmlns:p14="http://schemas.microsoft.com/office/powerpoint/2010/main" val="1638027795"/>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p:cNvSpPr>
          <p:nvPr>
            <p:ph type="title"/>
          </p:nvPr>
        </p:nvSpPr>
        <p:spPr>
          <a:xfrm>
            <a:off x="437232" y="444500"/>
            <a:ext cx="12130336" cy="1637408"/>
          </a:xfrm>
          <a:prstGeom prst="rect">
            <a:avLst/>
          </a:prstGeom>
        </p:spPr>
        <p:txBody>
          <a:bodyPr/>
          <a:lstStyle>
            <a:lvl1pPr defTabSz="560831">
              <a:defRPr sz="5376">
                <a:effectLst>
                  <a:outerShdw blurRad="85344" dist="36576" dir="2700000" rotWithShape="0">
                    <a:srgbClr val="000000">
                      <a:alpha val="30000"/>
                    </a:srgbClr>
                  </a:outerShdw>
                </a:effectLst>
              </a:defRPr>
            </a:lvl1pPr>
          </a:lstStyle>
          <a:p>
            <a:r>
              <a:t>Aside: Fibonacci difference equation</a:t>
            </a:r>
          </a:p>
        </p:txBody>
      </p:sp>
      <p:sp>
        <p:nvSpPr>
          <p:cNvPr id="165" name="Shape 165"/>
          <p:cNvSpPr>
            <a:spLocks noGrp="1"/>
          </p:cNvSpPr>
          <p:nvPr>
            <p:ph type="body" idx="1"/>
          </p:nvPr>
        </p:nvSpPr>
        <p:spPr>
          <a:xfrm>
            <a:off x="889000" y="2495550"/>
            <a:ext cx="8773815" cy="6286500"/>
          </a:xfrm>
          <a:prstGeom prst="rect">
            <a:avLst/>
          </a:prstGeom>
        </p:spPr>
        <p:txBody>
          <a:bodyPr/>
          <a:lstStyle/>
          <a:p>
            <a:r>
              <a:t>Sequence of numbers where each is the sum of the previous two</a:t>
            </a:r>
          </a:p>
          <a:p>
            <a:endParaRPr/>
          </a:p>
          <a:p>
            <a:r>
              <a:t>Mathematically, let </a:t>
            </a:r>
            <a:r>
              <a:rPr b="0" i="1"/>
              <a:t>F</a:t>
            </a:r>
            <a:r>
              <a:rPr b="0"/>
              <a:t>(</a:t>
            </a:r>
            <a:r>
              <a:rPr b="0" i="1"/>
              <a:t>n</a:t>
            </a:r>
            <a:r>
              <a:rPr b="0"/>
              <a:t>)</a:t>
            </a:r>
            <a:r>
              <a:t> be the nth Fibonacci number</a:t>
            </a:r>
          </a:p>
          <a:p>
            <a:endParaRPr/>
          </a:p>
          <a:p>
            <a:r>
              <a:t>Try solution</a:t>
            </a:r>
          </a:p>
        </p:txBody>
      </p:sp>
      <p:pic>
        <p:nvPicPr>
          <p:cNvPr id="166" name="pasted-image.png"/>
          <p:cNvPicPr>
            <a:picLocks noChangeAspect="1"/>
          </p:cNvPicPr>
          <p:nvPr/>
        </p:nvPicPr>
        <p:blipFill>
          <a:blip r:embed="rId2">
            <a:extLst/>
          </a:blip>
          <a:stretch>
            <a:fillRect/>
          </a:stretch>
        </p:blipFill>
        <p:spPr>
          <a:xfrm>
            <a:off x="10013106" y="2067917"/>
            <a:ext cx="2794001" cy="3771901"/>
          </a:xfrm>
          <a:prstGeom prst="rect">
            <a:avLst/>
          </a:prstGeom>
          <a:ln w="12700">
            <a:miter lim="400000"/>
          </a:ln>
        </p:spPr>
      </p:pic>
      <p:sp>
        <p:nvSpPr>
          <p:cNvPr id="167" name="Shape 167"/>
          <p:cNvSpPr/>
          <p:nvPr/>
        </p:nvSpPr>
        <p:spPr>
          <a:xfrm>
            <a:off x="10286665" y="5892799"/>
            <a:ext cx="2246884" cy="711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000" b="1">
                <a:latin typeface="+mj-lt"/>
                <a:ea typeface="+mj-ea"/>
                <a:cs typeface="+mj-cs"/>
                <a:sym typeface="Helvetica"/>
              </a:defRPr>
            </a:pPr>
            <a:r>
              <a:t>Fibonacci</a:t>
            </a:r>
          </a:p>
          <a:p>
            <a:pPr>
              <a:defRPr sz="2000" b="1">
                <a:latin typeface="+mj-lt"/>
                <a:ea typeface="+mj-ea"/>
                <a:cs typeface="+mj-cs"/>
                <a:sym typeface="Helvetica"/>
              </a:defRPr>
            </a:pPr>
            <a:r>
              <a:t>(c. 1170 – c. 1250)</a:t>
            </a:r>
          </a:p>
        </p:txBody>
      </p:sp>
      <p:sp>
        <p:nvSpPr>
          <p:cNvPr id="168" name="Shape 168"/>
          <p:cNvSpPr/>
          <p:nvPr/>
        </p:nvSpPr>
        <p:spPr>
          <a:xfrm>
            <a:off x="2257338" y="4416025"/>
            <a:ext cx="6037139"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a:latin typeface="+mj-lt"/>
                <a:ea typeface="+mj-ea"/>
                <a:cs typeface="+mj-cs"/>
                <a:sym typeface="Helvetica"/>
              </a:defRPr>
            </a:lvl1pPr>
          </a:lstStyle>
          <a:p>
            <a:r>
              <a:t>1,1,2,3,5,8,13,21,34,55,89,…</a:t>
            </a:r>
          </a:p>
        </p:txBody>
      </p:sp>
      <p:pic>
        <p:nvPicPr>
          <p:cNvPr id="169" name="inf1.pdf"/>
          <p:cNvPicPr>
            <a:picLocks noChangeAspect="1"/>
          </p:cNvPicPr>
          <p:nvPr/>
        </p:nvPicPr>
        <p:blipFill>
          <a:blip r:embed="rId3">
            <a:extLst/>
          </a:blip>
          <a:stretch>
            <a:fillRect/>
          </a:stretch>
        </p:blipFill>
        <p:spPr>
          <a:xfrm>
            <a:off x="6229598" y="7324363"/>
            <a:ext cx="885910" cy="319913"/>
          </a:xfrm>
          <a:prstGeom prst="rect">
            <a:avLst/>
          </a:prstGeom>
          <a:ln w="12700">
            <a:miter lim="400000"/>
          </a:ln>
        </p:spPr>
      </p:pic>
      <p:pic>
        <p:nvPicPr>
          <p:cNvPr id="170" name="inf2.pdf"/>
          <p:cNvPicPr>
            <a:picLocks noChangeAspect="1"/>
          </p:cNvPicPr>
          <p:nvPr/>
        </p:nvPicPr>
        <p:blipFill>
          <a:blip r:embed="rId4">
            <a:extLst/>
          </a:blip>
          <a:stretch>
            <a:fillRect/>
          </a:stretch>
        </p:blipFill>
        <p:spPr>
          <a:xfrm>
            <a:off x="4210298" y="8586022"/>
            <a:ext cx="1415175" cy="360732"/>
          </a:xfrm>
          <a:prstGeom prst="rect">
            <a:avLst/>
          </a:prstGeom>
          <a:ln w="12700">
            <a:miter lim="400000"/>
          </a:ln>
        </p:spPr>
      </p:pic>
      <p:pic>
        <p:nvPicPr>
          <p:cNvPr id="171" name="inf15.pdf"/>
          <p:cNvPicPr>
            <a:picLocks noChangeAspect="1"/>
          </p:cNvPicPr>
          <p:nvPr/>
        </p:nvPicPr>
        <p:blipFill>
          <a:blip r:embed="rId5">
            <a:extLst/>
          </a:blip>
          <a:stretch>
            <a:fillRect/>
          </a:stretch>
        </p:blipFill>
        <p:spPr>
          <a:xfrm>
            <a:off x="1356349" y="6802014"/>
            <a:ext cx="7123072" cy="319311"/>
          </a:xfrm>
          <a:prstGeom prst="rect">
            <a:avLst/>
          </a:prstGeom>
          <a:ln w="12700">
            <a:miter lim="400000"/>
          </a:ln>
        </p:spPr>
      </p:pic>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hape 173"/>
          <p:cNvSpPr>
            <a:spLocks noGrp="1"/>
          </p:cNvSpPr>
          <p:nvPr>
            <p:ph type="body" idx="1"/>
          </p:nvPr>
        </p:nvSpPr>
        <p:spPr>
          <a:xfrm>
            <a:off x="952500" y="3151503"/>
            <a:ext cx="11099801" cy="6315852"/>
          </a:xfrm>
          <a:prstGeom prst="rect">
            <a:avLst/>
          </a:prstGeom>
        </p:spPr>
        <p:txBody>
          <a:bodyPr anchor="t"/>
          <a:lstStyle/>
          <a:p>
            <a:r>
              <a:t>Hence </a:t>
            </a:r>
            <a:r>
              <a:rPr b="0" i="1"/>
              <a:t>x</a:t>
            </a:r>
            <a:r>
              <a:t> satisfies a quadratic</a:t>
            </a:r>
          </a:p>
          <a:p>
            <a:endParaRPr/>
          </a:p>
          <a:p>
            <a:r>
              <a:t>Two solutions</a:t>
            </a:r>
          </a:p>
          <a:p>
            <a:endParaRPr/>
          </a:p>
          <a:p>
            <a:r>
              <a:t>Define the Golden ratio as             , and then</a:t>
            </a:r>
          </a:p>
        </p:txBody>
      </p:sp>
      <p:sp>
        <p:nvSpPr>
          <p:cNvPr id="174" name="Shape 174"/>
          <p:cNvSpPr/>
          <p:nvPr/>
        </p:nvSpPr>
        <p:spPr>
          <a:xfrm>
            <a:off x="437232" y="444500"/>
            <a:ext cx="12130336" cy="16374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defTabSz="560831">
              <a:defRPr sz="5376" b="1">
                <a:solidFill>
                  <a:schemeClr val="accent1">
                    <a:hueOff val="47394"/>
                    <a:satOff val="-25753"/>
                    <a:lumOff val="-7544"/>
                  </a:schemeClr>
                </a:solidFill>
                <a:effectLst>
                  <a:outerShdw blurRad="85344" dist="36576" dir="2700000" rotWithShape="0">
                    <a:srgbClr val="000000">
                      <a:alpha val="30000"/>
                    </a:srgbClr>
                  </a:outerShdw>
                </a:effectLst>
                <a:latin typeface="+mj-lt"/>
                <a:ea typeface="+mj-ea"/>
                <a:cs typeface="+mj-cs"/>
                <a:sym typeface="Helvetica"/>
              </a:defRPr>
            </a:lvl1pPr>
          </a:lstStyle>
          <a:p>
            <a:r>
              <a:t>Aside: Fibonacci difference equation</a:t>
            </a:r>
          </a:p>
        </p:txBody>
      </p:sp>
      <p:pic>
        <p:nvPicPr>
          <p:cNvPr id="175" name="inf3.pdf"/>
          <p:cNvPicPr>
            <a:picLocks noChangeAspect="1"/>
          </p:cNvPicPr>
          <p:nvPr/>
        </p:nvPicPr>
        <p:blipFill>
          <a:blip r:embed="rId2">
            <a:extLst/>
          </a:blip>
          <a:stretch>
            <a:fillRect/>
          </a:stretch>
        </p:blipFill>
        <p:spPr>
          <a:xfrm>
            <a:off x="1869182" y="2394991"/>
            <a:ext cx="9075481" cy="443429"/>
          </a:xfrm>
          <a:prstGeom prst="rect">
            <a:avLst/>
          </a:prstGeom>
          <a:ln w="12700">
            <a:miter lim="400000"/>
          </a:ln>
        </p:spPr>
      </p:pic>
      <p:pic>
        <p:nvPicPr>
          <p:cNvPr id="176" name="inf4.pdf"/>
          <p:cNvPicPr>
            <a:picLocks noChangeAspect="1"/>
          </p:cNvPicPr>
          <p:nvPr/>
        </p:nvPicPr>
        <p:blipFill>
          <a:blip r:embed="rId3">
            <a:extLst/>
          </a:blip>
          <a:stretch>
            <a:fillRect/>
          </a:stretch>
        </p:blipFill>
        <p:spPr>
          <a:xfrm>
            <a:off x="5351836" y="4163824"/>
            <a:ext cx="2301128" cy="388924"/>
          </a:xfrm>
          <a:prstGeom prst="rect">
            <a:avLst/>
          </a:prstGeom>
          <a:ln w="12700">
            <a:miter lim="400000"/>
          </a:ln>
        </p:spPr>
      </p:pic>
      <p:pic>
        <p:nvPicPr>
          <p:cNvPr id="177" name="inf6.pdf"/>
          <p:cNvPicPr>
            <a:picLocks noChangeAspect="1"/>
          </p:cNvPicPr>
          <p:nvPr/>
        </p:nvPicPr>
        <p:blipFill>
          <a:blip r:embed="rId4">
            <a:extLst/>
          </a:blip>
          <a:stretch>
            <a:fillRect/>
          </a:stretch>
        </p:blipFill>
        <p:spPr>
          <a:xfrm>
            <a:off x="6803132" y="6733594"/>
            <a:ext cx="1783209" cy="618665"/>
          </a:xfrm>
          <a:prstGeom prst="rect">
            <a:avLst/>
          </a:prstGeom>
          <a:ln w="12700">
            <a:miter lim="400000"/>
          </a:ln>
        </p:spPr>
      </p:pic>
      <p:pic>
        <p:nvPicPr>
          <p:cNvPr id="178" name="inf10.pdf"/>
          <p:cNvPicPr>
            <a:picLocks noChangeAspect="1"/>
          </p:cNvPicPr>
          <p:nvPr/>
        </p:nvPicPr>
        <p:blipFill>
          <a:blip r:embed="rId5">
            <a:extLst/>
          </a:blip>
          <a:stretch>
            <a:fillRect/>
          </a:stretch>
        </p:blipFill>
        <p:spPr>
          <a:xfrm>
            <a:off x="4971256" y="5738453"/>
            <a:ext cx="2871332" cy="767584"/>
          </a:xfrm>
          <a:prstGeom prst="rect">
            <a:avLst/>
          </a:prstGeom>
          <a:ln w="12700">
            <a:miter lim="400000"/>
          </a:ln>
        </p:spPr>
      </p:pic>
      <p:pic>
        <p:nvPicPr>
          <p:cNvPr id="179" name="inf14.pdf"/>
          <p:cNvPicPr>
            <a:picLocks noChangeAspect="1"/>
          </p:cNvPicPr>
          <p:nvPr/>
        </p:nvPicPr>
        <p:blipFill>
          <a:blip r:embed="rId6">
            <a:extLst/>
          </a:blip>
          <a:stretch>
            <a:fillRect/>
          </a:stretch>
        </p:blipFill>
        <p:spPr>
          <a:xfrm>
            <a:off x="5208500" y="7691742"/>
            <a:ext cx="2396845" cy="524310"/>
          </a:xfrm>
          <a:prstGeom prst="rect">
            <a:avLst/>
          </a:prstGeom>
          <a:ln w="12700">
            <a:miter lim="400000"/>
          </a:ln>
        </p:spPr>
      </p:pic>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body" idx="1"/>
          </p:nvPr>
        </p:nvSpPr>
        <p:spPr>
          <a:xfrm>
            <a:off x="952500" y="2772370"/>
            <a:ext cx="11099801" cy="6123981"/>
          </a:xfrm>
          <a:prstGeom prst="rect">
            <a:avLst/>
          </a:prstGeom>
        </p:spPr>
        <p:txBody>
          <a:bodyPr anchor="t"/>
          <a:lstStyle/>
          <a:p>
            <a:r>
              <a:t>General solution will be a linear combination</a:t>
            </a:r>
          </a:p>
          <a:p>
            <a:endParaRPr/>
          </a:p>
          <a:p>
            <a:r>
              <a:t>Using </a:t>
            </a:r>
            <a:r>
              <a:rPr b="0" i="1"/>
              <a:t>F</a:t>
            </a:r>
            <a:r>
              <a:rPr b="0"/>
              <a:t>(1) = </a:t>
            </a:r>
            <a:r>
              <a:rPr b="0" i="1"/>
              <a:t>F</a:t>
            </a:r>
            <a:r>
              <a:rPr b="0"/>
              <a:t>(2) = 1</a:t>
            </a:r>
            <a:r>
              <a:t> gives particular solution</a:t>
            </a:r>
          </a:p>
          <a:p>
            <a:endParaRPr/>
          </a:p>
          <a:p>
            <a:r>
              <a:t>At large </a:t>
            </a:r>
            <a:r>
              <a:rPr b="0" i="1"/>
              <a:t>n</a:t>
            </a:r>
            <a:r>
              <a:t>,</a:t>
            </a:r>
          </a:p>
        </p:txBody>
      </p:sp>
      <p:sp>
        <p:nvSpPr>
          <p:cNvPr id="182" name="Shape 182"/>
          <p:cNvSpPr/>
          <p:nvPr/>
        </p:nvSpPr>
        <p:spPr>
          <a:xfrm>
            <a:off x="691232" y="698500"/>
            <a:ext cx="12130336" cy="1637408"/>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lvl1pPr defTabSz="560831">
              <a:defRPr sz="5376" b="1">
                <a:solidFill>
                  <a:schemeClr val="accent1">
                    <a:hueOff val="47394"/>
                    <a:satOff val="-25753"/>
                    <a:lumOff val="-7544"/>
                  </a:schemeClr>
                </a:solidFill>
                <a:effectLst>
                  <a:outerShdw blurRad="85344" dist="36576" dir="2700000" rotWithShape="0">
                    <a:srgbClr val="000000">
                      <a:alpha val="30000"/>
                    </a:srgbClr>
                  </a:outerShdw>
                </a:effectLst>
                <a:latin typeface="+mj-lt"/>
                <a:ea typeface="+mj-ea"/>
                <a:cs typeface="+mj-cs"/>
                <a:sym typeface="Helvetica"/>
              </a:defRPr>
            </a:lvl1pPr>
          </a:lstStyle>
          <a:p>
            <a:r>
              <a:t>Aside: Fibonacci difference equation</a:t>
            </a:r>
          </a:p>
        </p:txBody>
      </p:sp>
      <p:pic>
        <p:nvPicPr>
          <p:cNvPr id="183" name="inf13.pdf"/>
          <p:cNvPicPr>
            <a:picLocks noChangeAspect="1"/>
          </p:cNvPicPr>
          <p:nvPr/>
        </p:nvPicPr>
        <p:blipFill>
          <a:blip r:embed="rId2">
            <a:extLst/>
          </a:blip>
          <a:stretch>
            <a:fillRect/>
          </a:stretch>
        </p:blipFill>
        <p:spPr>
          <a:xfrm>
            <a:off x="5515077" y="7109213"/>
            <a:ext cx="1974646" cy="427841"/>
          </a:xfrm>
          <a:prstGeom prst="rect">
            <a:avLst/>
          </a:prstGeom>
          <a:ln w="12700">
            <a:miter lim="400000"/>
          </a:ln>
        </p:spPr>
      </p:pic>
      <p:pic>
        <p:nvPicPr>
          <p:cNvPr id="184" name="inf16.pdf"/>
          <p:cNvPicPr>
            <a:picLocks noChangeAspect="1"/>
          </p:cNvPicPr>
          <p:nvPr/>
        </p:nvPicPr>
        <p:blipFill>
          <a:blip r:embed="rId3">
            <a:extLst/>
          </a:blip>
          <a:stretch>
            <a:fillRect/>
          </a:stretch>
        </p:blipFill>
        <p:spPr>
          <a:xfrm>
            <a:off x="4679354" y="5304702"/>
            <a:ext cx="3277939" cy="896796"/>
          </a:xfrm>
          <a:prstGeom prst="rect">
            <a:avLst/>
          </a:prstGeom>
          <a:ln w="12700">
            <a:miter lim="400000"/>
          </a:ln>
        </p:spPr>
      </p:pic>
      <p:pic>
        <p:nvPicPr>
          <p:cNvPr id="185" name="inf17.pdf"/>
          <p:cNvPicPr>
            <a:picLocks noChangeAspect="1"/>
          </p:cNvPicPr>
          <p:nvPr/>
        </p:nvPicPr>
        <p:blipFill>
          <a:blip r:embed="rId4">
            <a:extLst/>
          </a:blip>
          <a:stretch>
            <a:fillRect/>
          </a:stretch>
        </p:blipFill>
        <p:spPr>
          <a:xfrm>
            <a:off x="3367761" y="3763154"/>
            <a:ext cx="6269278" cy="417953"/>
          </a:xfrm>
          <a:prstGeom prst="rect">
            <a:avLst/>
          </a:prstGeom>
          <a:ln w="12700">
            <a:miter lim="400000"/>
          </a:ln>
        </p:spPr>
      </p:pic>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hape 187"/>
          <p:cNvSpPr>
            <a:spLocks noGrp="1"/>
          </p:cNvSpPr>
          <p:nvPr>
            <p:ph type="title"/>
          </p:nvPr>
        </p:nvSpPr>
        <p:spPr>
          <a:prstGeom prst="rect">
            <a:avLst/>
          </a:prstGeom>
        </p:spPr>
        <p:txBody>
          <a:bodyPr/>
          <a:lstStyle/>
          <a:p>
            <a:r>
              <a:t>Returning to the problem</a:t>
            </a:r>
          </a:p>
        </p:txBody>
      </p:sp>
      <p:sp>
        <p:nvSpPr>
          <p:cNvPr id="188" name="Shape 188"/>
          <p:cNvSpPr>
            <a:spLocks noGrp="1"/>
          </p:cNvSpPr>
          <p:nvPr>
            <p:ph type="body" idx="1"/>
          </p:nvPr>
        </p:nvSpPr>
        <p:spPr>
          <a:xfrm>
            <a:off x="952500" y="3200350"/>
            <a:ext cx="11099800" cy="5689650"/>
          </a:xfrm>
          <a:prstGeom prst="rect">
            <a:avLst/>
          </a:prstGeom>
        </p:spPr>
        <p:txBody>
          <a:bodyPr anchor="t"/>
          <a:lstStyle/>
          <a:p>
            <a:r>
              <a:t>Try solution of the form </a:t>
            </a:r>
            <a:r>
              <a:rPr b="0" i="1"/>
              <a:t>N</a:t>
            </a:r>
            <a:r>
              <a:rPr b="0"/>
              <a:t>(</a:t>
            </a:r>
            <a:r>
              <a:rPr b="0" i="1"/>
              <a:t>t</a:t>
            </a:r>
            <a:r>
              <a:rPr b="0"/>
              <a:t>) = </a:t>
            </a:r>
            <a:r>
              <a:rPr b="0" i="1"/>
              <a:t>x</a:t>
            </a:r>
            <a:r>
              <a:rPr b="0" i="1" baseline="31999"/>
              <a:t>t</a:t>
            </a:r>
          </a:p>
          <a:p>
            <a:endParaRPr b="0" i="1" baseline="31999"/>
          </a:p>
          <a:p>
            <a:r>
              <a:t>Writing          gives</a:t>
            </a:r>
          </a:p>
          <a:p>
            <a:endParaRPr/>
          </a:p>
          <a:p>
            <a:r>
              <a:t>Largest value of </a:t>
            </a:r>
            <a:r>
              <a:rPr i="1"/>
              <a:t>x</a:t>
            </a:r>
            <a:r>
              <a:t> and smallest value of </a:t>
            </a:r>
          </a:p>
        </p:txBody>
      </p:sp>
      <p:pic>
        <p:nvPicPr>
          <p:cNvPr id="189" name="inf7.pdf"/>
          <p:cNvPicPr>
            <a:picLocks noChangeAspect="1"/>
          </p:cNvPicPr>
          <p:nvPr/>
        </p:nvPicPr>
        <p:blipFill>
          <a:blip r:embed="rId2">
            <a:extLst/>
          </a:blip>
          <a:stretch>
            <a:fillRect/>
          </a:stretch>
        </p:blipFill>
        <p:spPr>
          <a:xfrm>
            <a:off x="1285214" y="2568510"/>
            <a:ext cx="10434372" cy="368607"/>
          </a:xfrm>
          <a:prstGeom prst="rect">
            <a:avLst/>
          </a:prstGeom>
          <a:ln w="12700">
            <a:miter lim="400000"/>
          </a:ln>
        </p:spPr>
      </p:pic>
      <p:pic>
        <p:nvPicPr>
          <p:cNvPr id="190" name="inf8.pdf"/>
          <p:cNvPicPr>
            <a:picLocks noChangeAspect="1"/>
          </p:cNvPicPr>
          <p:nvPr/>
        </p:nvPicPr>
        <p:blipFill>
          <a:blip r:embed="rId3">
            <a:extLst/>
          </a:blip>
          <a:stretch>
            <a:fillRect/>
          </a:stretch>
        </p:blipFill>
        <p:spPr>
          <a:xfrm>
            <a:off x="3638619" y="4187825"/>
            <a:ext cx="5727562" cy="368606"/>
          </a:xfrm>
          <a:prstGeom prst="rect">
            <a:avLst/>
          </a:prstGeom>
          <a:ln w="12700">
            <a:miter lim="400000"/>
          </a:ln>
        </p:spPr>
      </p:pic>
      <p:pic>
        <p:nvPicPr>
          <p:cNvPr id="191" name="inf9.pdf"/>
          <p:cNvPicPr>
            <a:picLocks noChangeAspect="1"/>
          </p:cNvPicPr>
          <p:nvPr/>
        </p:nvPicPr>
        <p:blipFill>
          <a:blip r:embed="rId4">
            <a:extLst/>
          </a:blip>
          <a:stretch>
            <a:fillRect/>
          </a:stretch>
        </p:blipFill>
        <p:spPr>
          <a:xfrm>
            <a:off x="3088034" y="5018583"/>
            <a:ext cx="1093743" cy="678875"/>
          </a:xfrm>
          <a:prstGeom prst="rect">
            <a:avLst/>
          </a:prstGeom>
          <a:ln w="12700">
            <a:miter lim="400000"/>
          </a:ln>
        </p:spPr>
      </p:pic>
      <p:pic>
        <p:nvPicPr>
          <p:cNvPr id="192" name="inf18.pdf"/>
          <p:cNvPicPr>
            <a:picLocks noChangeAspect="1"/>
          </p:cNvPicPr>
          <p:nvPr/>
        </p:nvPicPr>
        <p:blipFill>
          <a:blip r:embed="rId5">
            <a:extLst/>
          </a:blip>
          <a:stretch>
            <a:fillRect/>
          </a:stretch>
        </p:blipFill>
        <p:spPr>
          <a:xfrm>
            <a:off x="3290258" y="5938647"/>
            <a:ext cx="6424283" cy="434075"/>
          </a:xfrm>
          <a:prstGeom prst="rect">
            <a:avLst/>
          </a:prstGeom>
          <a:ln w="12700">
            <a:miter lim="400000"/>
          </a:ln>
        </p:spPr>
      </p:pic>
      <p:pic>
        <p:nvPicPr>
          <p:cNvPr id="193" name="inf19.pdf"/>
          <p:cNvPicPr>
            <a:picLocks noChangeAspect="1"/>
          </p:cNvPicPr>
          <p:nvPr/>
        </p:nvPicPr>
        <p:blipFill>
          <a:blip r:embed="rId6">
            <a:extLst/>
          </a:blip>
          <a:stretch>
            <a:fillRect/>
          </a:stretch>
        </p:blipFill>
        <p:spPr>
          <a:xfrm>
            <a:off x="9272785" y="7005480"/>
            <a:ext cx="327651" cy="368607"/>
          </a:xfrm>
          <a:prstGeom prst="rect">
            <a:avLst/>
          </a:prstGeom>
          <a:ln w="12700">
            <a:miter lim="400000"/>
          </a:ln>
        </p:spPr>
      </p:pic>
      <p:pic>
        <p:nvPicPr>
          <p:cNvPr id="194" name="inf38.pdf"/>
          <p:cNvPicPr>
            <a:picLocks noChangeAspect="1"/>
          </p:cNvPicPr>
          <p:nvPr/>
        </p:nvPicPr>
        <p:blipFill>
          <a:blip r:embed="rId7">
            <a:extLst/>
          </a:blip>
          <a:stretch>
            <a:fillRect/>
          </a:stretch>
        </p:blipFill>
        <p:spPr>
          <a:xfrm>
            <a:off x="4649667" y="7885364"/>
            <a:ext cx="3705466" cy="311147"/>
          </a:xfrm>
          <a:prstGeom prst="rect">
            <a:avLst/>
          </a:prstGeom>
          <a:ln w="12700">
            <a:miter lim="400000"/>
          </a:ln>
        </p:spPr>
      </p:pic>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 196"/>
          <p:cNvSpPr>
            <a:spLocks noGrp="1"/>
          </p:cNvSpPr>
          <p:nvPr>
            <p:ph type="title"/>
          </p:nvPr>
        </p:nvSpPr>
        <p:spPr>
          <a:prstGeom prst="rect">
            <a:avLst/>
          </a:prstGeom>
        </p:spPr>
        <p:txBody>
          <a:bodyPr/>
          <a:lstStyle/>
          <a:p>
            <a:r>
              <a:t>Data rate for Morse code</a:t>
            </a:r>
          </a:p>
        </p:txBody>
      </p:sp>
      <p:sp>
        <p:nvSpPr>
          <p:cNvPr id="197" name="Shape 197"/>
          <p:cNvSpPr>
            <a:spLocks noGrp="1"/>
          </p:cNvSpPr>
          <p:nvPr>
            <p:ph type="body" idx="1"/>
          </p:nvPr>
        </p:nvSpPr>
        <p:spPr>
          <a:prstGeom prst="rect">
            <a:avLst/>
          </a:prstGeom>
        </p:spPr>
        <p:txBody>
          <a:bodyPr anchor="t"/>
          <a:lstStyle/>
          <a:p>
            <a:r>
              <a:t>Hence for large </a:t>
            </a:r>
            <a:r>
              <a:rPr b="0" i="1"/>
              <a:t>t</a:t>
            </a:r>
          </a:p>
          <a:p>
            <a:endParaRPr b="0" i="1"/>
          </a:p>
          <a:p>
            <a:r>
              <a:t>Shannon’s data transmission rate</a:t>
            </a:r>
          </a:p>
          <a:p>
            <a:endParaRPr/>
          </a:p>
          <a:p>
            <a:r>
              <a:t>Hence</a:t>
            </a:r>
          </a:p>
        </p:txBody>
      </p:sp>
      <p:pic>
        <p:nvPicPr>
          <p:cNvPr id="198" name="inf22.pdf"/>
          <p:cNvPicPr>
            <a:picLocks noChangeAspect="1"/>
          </p:cNvPicPr>
          <p:nvPr/>
        </p:nvPicPr>
        <p:blipFill>
          <a:blip r:embed="rId2">
            <a:extLst/>
          </a:blip>
          <a:srcRect/>
          <a:stretch>
            <a:fillRect/>
          </a:stretch>
        </p:blipFill>
        <p:spPr>
          <a:xfrm>
            <a:off x="3277393" y="5179764"/>
            <a:ext cx="6450087" cy="872476"/>
          </a:xfrm>
          <a:prstGeom prst="rect">
            <a:avLst/>
          </a:prstGeom>
          <a:ln w="12700">
            <a:miter lim="400000"/>
          </a:ln>
        </p:spPr>
      </p:pic>
      <p:pic>
        <p:nvPicPr>
          <p:cNvPr id="199" name="inf33.pdf"/>
          <p:cNvPicPr>
            <a:picLocks noChangeAspect="1"/>
          </p:cNvPicPr>
          <p:nvPr/>
        </p:nvPicPr>
        <p:blipFill>
          <a:blip r:embed="rId3">
            <a:extLst/>
          </a:blip>
          <a:stretch>
            <a:fillRect/>
          </a:stretch>
        </p:blipFill>
        <p:spPr>
          <a:xfrm>
            <a:off x="5505508" y="3554462"/>
            <a:ext cx="1993784" cy="481258"/>
          </a:xfrm>
          <a:prstGeom prst="rect">
            <a:avLst/>
          </a:prstGeom>
          <a:ln w="12700">
            <a:miter lim="400000"/>
          </a:ln>
        </p:spPr>
      </p:pic>
      <p:pic>
        <p:nvPicPr>
          <p:cNvPr id="200" name="inf36.pdf"/>
          <p:cNvPicPr>
            <a:picLocks noChangeAspect="1"/>
          </p:cNvPicPr>
          <p:nvPr/>
        </p:nvPicPr>
        <p:blipFill>
          <a:blip r:embed="rId4">
            <a:extLst/>
          </a:blip>
          <a:stretch>
            <a:fillRect/>
          </a:stretch>
        </p:blipFill>
        <p:spPr>
          <a:xfrm>
            <a:off x="4067768" y="7196139"/>
            <a:ext cx="4869264" cy="379046"/>
          </a:xfrm>
          <a:prstGeom prst="rect">
            <a:avLst/>
          </a:prstGeom>
          <a:ln w="12700">
            <a:miter lim="400000"/>
          </a:ln>
        </p:spPr>
      </p:pic>
      <p:pic>
        <p:nvPicPr>
          <p:cNvPr id="201" name="inf37.pdf"/>
          <p:cNvPicPr>
            <a:picLocks noChangeAspect="1"/>
          </p:cNvPicPr>
          <p:nvPr/>
        </p:nvPicPr>
        <p:blipFill>
          <a:blip r:embed="rId5">
            <a:extLst/>
          </a:blip>
          <a:stretch>
            <a:fillRect/>
          </a:stretch>
        </p:blipFill>
        <p:spPr>
          <a:xfrm>
            <a:off x="10494664" y="3639943"/>
            <a:ext cx="1723866" cy="310296"/>
          </a:xfrm>
          <a:prstGeom prst="rect">
            <a:avLst/>
          </a:prstGeom>
          <a:ln w="12700">
            <a:miter lim="400000"/>
          </a:ln>
        </p:spPr>
      </p:pic>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hape 203"/>
          <p:cNvSpPr>
            <a:spLocks noGrp="1"/>
          </p:cNvSpPr>
          <p:nvPr>
            <p:ph type="title"/>
          </p:nvPr>
        </p:nvSpPr>
        <p:spPr>
          <a:prstGeom prst="rect">
            <a:avLst/>
          </a:prstGeom>
        </p:spPr>
        <p:txBody>
          <a:bodyPr/>
          <a:lstStyle/>
          <a:p>
            <a:r>
              <a:t>Information content</a:t>
            </a:r>
          </a:p>
        </p:txBody>
      </p:sp>
      <p:sp>
        <p:nvSpPr>
          <p:cNvPr id="204" name="Shape 204"/>
          <p:cNvSpPr>
            <a:spLocks noGrp="1"/>
          </p:cNvSpPr>
          <p:nvPr>
            <p:ph type="body" idx="1"/>
          </p:nvPr>
        </p:nvSpPr>
        <p:spPr>
          <a:prstGeom prst="rect">
            <a:avLst/>
          </a:prstGeom>
        </p:spPr>
        <p:txBody>
          <a:bodyPr anchor="t"/>
          <a:lstStyle/>
          <a:p>
            <a:r>
              <a:t>How much information is coded by the information source?</a:t>
            </a:r>
          </a:p>
          <a:p>
            <a:r>
              <a:t>The distribution of letters in English is not uniform: “E” is more common than “Q”, “TH” is more common than “QZ”</a:t>
            </a:r>
          </a:p>
          <a:p>
            <a:r>
              <a:t>This means that the information source (if the source is speaking words of English) does not just choose random sequences of dots and dashes</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p:cNvSpPr>
          <p:nvPr>
            <p:ph type="title"/>
          </p:nvPr>
        </p:nvSpPr>
        <p:spPr>
          <a:prstGeom prst="rect">
            <a:avLst/>
          </a:prstGeom>
        </p:spPr>
        <p:txBody>
          <a:bodyPr/>
          <a:lstStyle/>
          <a:p>
            <a:r>
              <a:t>Acronyms</a:t>
            </a:r>
          </a:p>
        </p:txBody>
      </p:sp>
      <p:sp>
        <p:nvSpPr>
          <p:cNvPr id="207" name="Shape 207"/>
          <p:cNvSpPr/>
          <p:nvPr/>
        </p:nvSpPr>
        <p:spPr>
          <a:xfrm>
            <a:off x="633945" y="3006666"/>
            <a:ext cx="5571084" cy="54928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500">
                <a:latin typeface="Arial"/>
                <a:ea typeface="Arial"/>
                <a:cs typeface="Arial"/>
                <a:sym typeface="Arial"/>
              </a:defRPr>
            </a:pPr>
            <a:r>
              <a:rPr u="sng">
                <a:solidFill>
                  <a:srgbClr val="293546"/>
                </a:solidFill>
                <a:uFill>
                  <a:solidFill>
                    <a:srgbClr val="293546"/>
                  </a:solidFill>
                </a:uFill>
                <a:hlinkClick r:id="rId2"/>
              </a:rPr>
              <a:t>2moro</a:t>
            </a:r>
            <a:r>
              <a:t> - Tomorrow</a:t>
            </a:r>
          </a:p>
          <a:p>
            <a:pPr algn="l" defTabSz="457200">
              <a:defRPr sz="1500">
                <a:latin typeface="Arial"/>
                <a:ea typeface="Arial"/>
                <a:cs typeface="Arial"/>
                <a:sym typeface="Arial"/>
              </a:defRPr>
            </a:pPr>
            <a:r>
              <a:rPr u="sng">
                <a:solidFill>
                  <a:srgbClr val="293546"/>
                </a:solidFill>
                <a:uFill>
                  <a:solidFill>
                    <a:srgbClr val="293546"/>
                  </a:solidFill>
                </a:uFill>
                <a:hlinkClick r:id="rId3"/>
              </a:rPr>
              <a:t>2nite</a:t>
            </a:r>
            <a:r>
              <a:t> - Tonight</a:t>
            </a:r>
          </a:p>
          <a:p>
            <a:pPr algn="l" defTabSz="457200">
              <a:defRPr sz="1500">
                <a:latin typeface="Arial"/>
                <a:ea typeface="Arial"/>
                <a:cs typeface="Arial"/>
                <a:sym typeface="Arial"/>
              </a:defRPr>
            </a:pPr>
            <a:r>
              <a:rPr u="sng">
                <a:solidFill>
                  <a:srgbClr val="293546"/>
                </a:solidFill>
                <a:uFill>
                  <a:solidFill>
                    <a:srgbClr val="293546"/>
                  </a:solidFill>
                </a:uFill>
                <a:hlinkClick r:id="rId4"/>
              </a:rPr>
              <a:t>BRB</a:t>
            </a:r>
            <a:r>
              <a:t> - Be Right Back</a:t>
            </a:r>
          </a:p>
          <a:p>
            <a:pPr algn="l" defTabSz="457200">
              <a:defRPr sz="1500">
                <a:latin typeface="Arial"/>
                <a:ea typeface="Arial"/>
                <a:cs typeface="Arial"/>
                <a:sym typeface="Arial"/>
              </a:defRPr>
            </a:pPr>
            <a:r>
              <a:rPr u="sng">
                <a:solidFill>
                  <a:srgbClr val="293546"/>
                </a:solidFill>
                <a:uFill>
                  <a:solidFill>
                    <a:srgbClr val="293546"/>
                  </a:solidFill>
                </a:uFill>
                <a:hlinkClick r:id="rId5"/>
              </a:rPr>
              <a:t>BTW</a:t>
            </a:r>
            <a:r>
              <a:t> - By The Way -or- Bring The Wheelchair</a:t>
            </a:r>
          </a:p>
          <a:p>
            <a:pPr algn="l" defTabSz="457200">
              <a:defRPr sz="1500">
                <a:latin typeface="Arial"/>
                <a:ea typeface="Arial"/>
                <a:cs typeface="Arial"/>
                <a:sym typeface="Arial"/>
              </a:defRPr>
            </a:pPr>
            <a:r>
              <a:rPr u="sng">
                <a:solidFill>
                  <a:srgbClr val="293546"/>
                </a:solidFill>
                <a:uFill>
                  <a:solidFill>
                    <a:srgbClr val="293546"/>
                  </a:solidFill>
                </a:uFill>
                <a:hlinkClick r:id="rId6"/>
              </a:rPr>
              <a:t>B4N</a:t>
            </a:r>
            <a:r>
              <a:t> - Bye For Now</a:t>
            </a:r>
          </a:p>
          <a:p>
            <a:pPr algn="l" defTabSz="457200">
              <a:defRPr sz="1500">
                <a:latin typeface="Arial"/>
                <a:ea typeface="Arial"/>
                <a:cs typeface="Arial"/>
                <a:sym typeface="Arial"/>
              </a:defRPr>
            </a:pPr>
            <a:r>
              <a:rPr u="sng">
                <a:solidFill>
                  <a:srgbClr val="293546"/>
                </a:solidFill>
                <a:uFill>
                  <a:solidFill>
                    <a:srgbClr val="293546"/>
                  </a:solidFill>
                </a:uFill>
                <a:hlinkClick r:id="rId7"/>
              </a:rPr>
              <a:t>BCNU</a:t>
            </a:r>
            <a:r>
              <a:t> - Be Seeing You</a:t>
            </a:r>
          </a:p>
          <a:p>
            <a:pPr algn="l" defTabSz="457200">
              <a:defRPr sz="1500">
                <a:latin typeface="Arial"/>
                <a:ea typeface="Arial"/>
                <a:cs typeface="Arial"/>
                <a:sym typeface="Arial"/>
              </a:defRPr>
            </a:pPr>
            <a:r>
              <a:rPr u="sng">
                <a:solidFill>
                  <a:srgbClr val="293546"/>
                </a:solidFill>
                <a:uFill>
                  <a:solidFill>
                    <a:srgbClr val="293546"/>
                  </a:solidFill>
                </a:uFill>
                <a:hlinkClick r:id="rId8"/>
              </a:rPr>
              <a:t>BFF</a:t>
            </a:r>
            <a:r>
              <a:t> - Best Friends Forever -or- Best Friend's Funeral</a:t>
            </a:r>
          </a:p>
          <a:p>
            <a:pPr algn="l" defTabSz="457200">
              <a:defRPr sz="1500">
                <a:latin typeface="Arial"/>
                <a:ea typeface="Arial"/>
                <a:cs typeface="Arial"/>
                <a:sym typeface="Arial"/>
              </a:defRPr>
            </a:pPr>
            <a:r>
              <a:rPr u="sng">
                <a:solidFill>
                  <a:srgbClr val="293546"/>
                </a:solidFill>
                <a:uFill>
                  <a:solidFill>
                    <a:srgbClr val="293546"/>
                  </a:solidFill>
                </a:uFill>
                <a:hlinkClick r:id="rId9"/>
              </a:rPr>
              <a:t>CYA</a:t>
            </a:r>
            <a:r>
              <a:t> - Cover Your Ass -or- See Ya</a:t>
            </a:r>
          </a:p>
          <a:p>
            <a:pPr algn="l" defTabSz="457200">
              <a:defRPr sz="1500">
                <a:latin typeface="Arial"/>
                <a:ea typeface="Arial"/>
                <a:cs typeface="Arial"/>
                <a:sym typeface="Arial"/>
              </a:defRPr>
            </a:pPr>
            <a:r>
              <a:rPr u="sng">
                <a:solidFill>
                  <a:srgbClr val="293546"/>
                </a:solidFill>
                <a:uFill>
                  <a:solidFill>
                    <a:srgbClr val="293546"/>
                  </a:solidFill>
                </a:uFill>
                <a:hlinkClick r:id="rId10"/>
              </a:rPr>
              <a:t>DBEYR</a:t>
            </a:r>
            <a:r>
              <a:t> - Don't Believe Everything You Read</a:t>
            </a:r>
          </a:p>
          <a:p>
            <a:pPr algn="l" defTabSz="457200">
              <a:defRPr sz="1500">
                <a:latin typeface="Arial"/>
                <a:ea typeface="Arial"/>
                <a:cs typeface="Arial"/>
                <a:sym typeface="Arial"/>
              </a:defRPr>
            </a:pPr>
            <a:r>
              <a:rPr u="sng">
                <a:solidFill>
                  <a:srgbClr val="293546"/>
                </a:solidFill>
                <a:uFill>
                  <a:solidFill>
                    <a:srgbClr val="293546"/>
                  </a:solidFill>
                </a:uFill>
                <a:hlinkClick r:id="rId11"/>
              </a:rPr>
              <a:t>DILLIGAS</a:t>
            </a:r>
            <a:r>
              <a:t> - Do I Look Like I Give A Sh**</a:t>
            </a:r>
          </a:p>
          <a:p>
            <a:pPr algn="l" defTabSz="457200">
              <a:defRPr sz="1500">
                <a:latin typeface="Arial"/>
                <a:ea typeface="Arial"/>
                <a:cs typeface="Arial"/>
                <a:sym typeface="Arial"/>
              </a:defRPr>
            </a:pPr>
            <a:r>
              <a:rPr u="sng">
                <a:solidFill>
                  <a:srgbClr val="293546"/>
                </a:solidFill>
                <a:uFill>
                  <a:solidFill>
                    <a:srgbClr val="293546"/>
                  </a:solidFill>
                </a:uFill>
                <a:hlinkClick r:id="rId12"/>
              </a:rPr>
              <a:t>FUD</a:t>
            </a:r>
            <a:r>
              <a:t> - Fear, Uncertainty, and Disinformation</a:t>
            </a:r>
          </a:p>
          <a:p>
            <a:pPr algn="l" defTabSz="457200">
              <a:defRPr sz="1500">
                <a:latin typeface="Arial"/>
                <a:ea typeface="Arial"/>
                <a:cs typeface="Arial"/>
                <a:sym typeface="Arial"/>
              </a:defRPr>
            </a:pPr>
            <a:r>
              <a:rPr u="sng">
                <a:solidFill>
                  <a:srgbClr val="293546"/>
                </a:solidFill>
                <a:uFill>
                  <a:solidFill>
                    <a:srgbClr val="293546"/>
                  </a:solidFill>
                </a:uFill>
                <a:hlinkClick r:id="rId13"/>
              </a:rPr>
              <a:t>FWIW</a:t>
            </a:r>
            <a:r>
              <a:t> - For What It's Worth -or- Forgot Where I Was</a:t>
            </a:r>
          </a:p>
          <a:p>
            <a:pPr algn="l" defTabSz="457200">
              <a:defRPr sz="1500">
                <a:latin typeface="Arial"/>
                <a:ea typeface="Arial"/>
                <a:cs typeface="Arial"/>
                <a:sym typeface="Arial"/>
              </a:defRPr>
            </a:pPr>
            <a:r>
              <a:rPr u="sng">
                <a:solidFill>
                  <a:srgbClr val="293546"/>
                </a:solidFill>
                <a:uFill>
                  <a:solidFill>
                    <a:srgbClr val="293546"/>
                  </a:solidFill>
                </a:uFill>
                <a:hlinkClick r:id="rId14"/>
              </a:rPr>
              <a:t>GR8</a:t>
            </a:r>
            <a:r>
              <a:t> - Great</a:t>
            </a:r>
          </a:p>
          <a:p>
            <a:pPr algn="l" defTabSz="457200">
              <a:defRPr sz="1500">
                <a:latin typeface="Arial"/>
                <a:ea typeface="Arial"/>
                <a:cs typeface="Arial"/>
                <a:sym typeface="Arial"/>
              </a:defRPr>
            </a:pPr>
            <a:r>
              <a:rPr u="sng">
                <a:solidFill>
                  <a:srgbClr val="293546"/>
                </a:solidFill>
                <a:uFill>
                  <a:solidFill>
                    <a:srgbClr val="293546"/>
                  </a:solidFill>
                </a:uFill>
                <a:hlinkClick r:id="rId15"/>
              </a:rPr>
              <a:t>ILY</a:t>
            </a:r>
            <a:r>
              <a:t> - I Love You</a:t>
            </a:r>
          </a:p>
          <a:p>
            <a:pPr algn="l" defTabSz="457200">
              <a:defRPr sz="1500">
                <a:latin typeface="Arial"/>
                <a:ea typeface="Arial"/>
                <a:cs typeface="Arial"/>
                <a:sym typeface="Arial"/>
              </a:defRPr>
            </a:pPr>
            <a:r>
              <a:rPr u="sng">
                <a:solidFill>
                  <a:srgbClr val="293546"/>
                </a:solidFill>
                <a:uFill>
                  <a:solidFill>
                    <a:srgbClr val="293546"/>
                  </a:solidFill>
                </a:uFill>
                <a:hlinkClick r:id="rId16"/>
              </a:rPr>
              <a:t>IMHO</a:t>
            </a:r>
            <a:r>
              <a:t> - In My Humble Opinion</a:t>
            </a:r>
          </a:p>
          <a:p>
            <a:pPr algn="l" defTabSz="457200">
              <a:defRPr sz="1500">
                <a:latin typeface="Arial"/>
                <a:ea typeface="Arial"/>
                <a:cs typeface="Arial"/>
                <a:sym typeface="Arial"/>
              </a:defRPr>
            </a:pPr>
            <a:r>
              <a:rPr u="sng">
                <a:solidFill>
                  <a:srgbClr val="293546"/>
                </a:solidFill>
                <a:uFill>
                  <a:solidFill>
                    <a:srgbClr val="293546"/>
                  </a:solidFill>
                </a:uFill>
                <a:hlinkClick r:id="rId17"/>
              </a:rPr>
              <a:t>IRL</a:t>
            </a:r>
            <a:r>
              <a:t> - In Real Life</a:t>
            </a:r>
          </a:p>
          <a:p>
            <a:pPr algn="l" defTabSz="457200">
              <a:defRPr sz="1500">
                <a:latin typeface="Arial"/>
                <a:ea typeface="Arial"/>
                <a:cs typeface="Arial"/>
                <a:sym typeface="Arial"/>
              </a:defRPr>
            </a:pPr>
            <a:r>
              <a:rPr u="sng">
                <a:solidFill>
                  <a:srgbClr val="293546"/>
                </a:solidFill>
                <a:uFill>
                  <a:solidFill>
                    <a:srgbClr val="293546"/>
                  </a:solidFill>
                </a:uFill>
                <a:hlinkClick r:id="rId18"/>
              </a:rPr>
              <a:t>ISO</a:t>
            </a:r>
            <a:r>
              <a:t> - In Search Of</a:t>
            </a:r>
          </a:p>
          <a:p>
            <a:pPr algn="l" defTabSz="457200">
              <a:defRPr sz="1500">
                <a:latin typeface="Arial"/>
                <a:ea typeface="Arial"/>
                <a:cs typeface="Arial"/>
                <a:sym typeface="Arial"/>
              </a:defRPr>
            </a:pPr>
            <a:r>
              <a:rPr u="sng">
                <a:solidFill>
                  <a:srgbClr val="293546"/>
                </a:solidFill>
                <a:uFill>
                  <a:solidFill>
                    <a:srgbClr val="293546"/>
                  </a:solidFill>
                </a:uFill>
                <a:hlinkClick r:id="rId19"/>
              </a:rPr>
              <a:t>J/K</a:t>
            </a:r>
            <a:r>
              <a:t> - Just Kidding</a:t>
            </a:r>
          </a:p>
          <a:p>
            <a:pPr algn="l" defTabSz="457200">
              <a:defRPr sz="1500">
                <a:latin typeface="Arial"/>
                <a:ea typeface="Arial"/>
                <a:cs typeface="Arial"/>
                <a:sym typeface="Arial"/>
              </a:defRPr>
            </a:pPr>
            <a:r>
              <a:rPr u="sng">
                <a:solidFill>
                  <a:srgbClr val="293546"/>
                </a:solidFill>
                <a:uFill>
                  <a:solidFill>
                    <a:srgbClr val="293546"/>
                  </a:solidFill>
                </a:uFill>
                <a:hlinkClick r:id="rId20"/>
              </a:rPr>
              <a:t>L8R</a:t>
            </a:r>
            <a:r>
              <a:t> - Later</a:t>
            </a:r>
          </a:p>
          <a:p>
            <a:pPr algn="l" defTabSz="457200">
              <a:defRPr sz="1500">
                <a:latin typeface="Arial"/>
                <a:ea typeface="Arial"/>
                <a:cs typeface="Arial"/>
                <a:sym typeface="Arial"/>
              </a:defRPr>
            </a:pPr>
            <a:r>
              <a:rPr u="sng">
                <a:solidFill>
                  <a:srgbClr val="293546"/>
                </a:solidFill>
                <a:uFill>
                  <a:solidFill>
                    <a:srgbClr val="293546"/>
                  </a:solidFill>
                </a:uFill>
                <a:hlinkClick r:id="rId21"/>
              </a:rPr>
              <a:t>LMAO</a:t>
            </a:r>
            <a:r>
              <a:t> - Laughing My Ass Off</a:t>
            </a:r>
          </a:p>
          <a:p>
            <a:pPr algn="l" defTabSz="457200">
              <a:defRPr sz="1500">
                <a:latin typeface="Arial"/>
                <a:ea typeface="Arial"/>
                <a:cs typeface="Arial"/>
                <a:sym typeface="Arial"/>
              </a:defRPr>
            </a:pPr>
            <a:r>
              <a:rPr u="sng">
                <a:solidFill>
                  <a:srgbClr val="293546"/>
                </a:solidFill>
                <a:uFill>
                  <a:solidFill>
                    <a:srgbClr val="293546"/>
                  </a:solidFill>
                </a:uFill>
                <a:hlinkClick r:id="rId22"/>
              </a:rPr>
              <a:t>LOL</a:t>
            </a:r>
            <a:r>
              <a:t> - Laughing Out Loud -or- Lots Of Love -or- Living On Lipitor</a:t>
            </a:r>
          </a:p>
          <a:p>
            <a:pPr algn="l" defTabSz="457200">
              <a:defRPr sz="1500">
                <a:latin typeface="Arial"/>
                <a:ea typeface="Arial"/>
                <a:cs typeface="Arial"/>
                <a:sym typeface="Arial"/>
              </a:defRPr>
            </a:pPr>
            <a:r>
              <a:rPr u="sng">
                <a:solidFill>
                  <a:srgbClr val="293546"/>
                </a:solidFill>
                <a:uFill>
                  <a:solidFill>
                    <a:srgbClr val="293546"/>
                  </a:solidFill>
                </a:uFill>
                <a:hlinkClick r:id="rId23"/>
              </a:rPr>
              <a:t>LYLAS</a:t>
            </a:r>
            <a:r>
              <a:t> - Love You Like A Sister</a:t>
            </a:r>
          </a:p>
          <a:p>
            <a:pPr algn="l" defTabSz="457200">
              <a:defRPr sz="1500">
                <a:latin typeface="Arial"/>
                <a:ea typeface="Arial"/>
                <a:cs typeface="Arial"/>
                <a:sym typeface="Arial"/>
              </a:defRPr>
            </a:pPr>
            <a:r>
              <a:rPr u="sng">
                <a:solidFill>
                  <a:srgbClr val="293546"/>
                </a:solidFill>
                <a:uFill>
                  <a:solidFill>
                    <a:srgbClr val="293546"/>
                  </a:solidFill>
                </a:uFill>
                <a:hlinkClick r:id="rId24"/>
              </a:rPr>
              <a:t>MHOTY</a:t>
            </a:r>
            <a:r>
              <a:t> - My Hat's Off To You</a:t>
            </a:r>
          </a:p>
          <a:p>
            <a:pPr algn="l" defTabSz="457200">
              <a:defRPr sz="1500">
                <a:latin typeface="Arial"/>
                <a:ea typeface="Arial"/>
                <a:cs typeface="Arial"/>
                <a:sym typeface="Arial"/>
              </a:defRPr>
            </a:pPr>
            <a:r>
              <a:rPr u="sng">
                <a:solidFill>
                  <a:srgbClr val="293546"/>
                </a:solidFill>
                <a:uFill>
                  <a:solidFill>
                    <a:srgbClr val="293546"/>
                  </a:solidFill>
                </a:uFill>
                <a:hlinkClick r:id="rId25"/>
              </a:rPr>
              <a:t>NIMBY</a:t>
            </a:r>
            <a:r>
              <a:t> - Not In My Back Yard</a:t>
            </a:r>
          </a:p>
          <a:p>
            <a:pPr algn="l" defTabSz="457200">
              <a:defRPr sz="1500">
                <a:latin typeface="Arial"/>
                <a:ea typeface="Arial"/>
                <a:cs typeface="Arial"/>
                <a:sym typeface="Arial"/>
              </a:defRPr>
            </a:pPr>
            <a:r>
              <a:rPr u="sng">
                <a:solidFill>
                  <a:srgbClr val="293546"/>
                </a:solidFill>
                <a:uFill>
                  <a:solidFill>
                    <a:srgbClr val="293546"/>
                  </a:solidFill>
                </a:uFill>
                <a:hlinkClick r:id="rId26"/>
              </a:rPr>
              <a:t>NP</a:t>
            </a:r>
            <a:r>
              <a:t> - No Problem -or- Nosy Parents</a:t>
            </a:r>
          </a:p>
        </p:txBody>
      </p:sp>
      <p:sp>
        <p:nvSpPr>
          <p:cNvPr id="208" name="Shape 208"/>
          <p:cNvSpPr/>
          <p:nvPr/>
        </p:nvSpPr>
        <p:spPr>
          <a:xfrm>
            <a:off x="6886054" y="3006666"/>
            <a:ext cx="5616290" cy="5492868"/>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defRPr sz="1500">
                <a:latin typeface="Arial"/>
                <a:ea typeface="Arial"/>
                <a:cs typeface="Arial"/>
                <a:sym typeface="Arial"/>
              </a:defRPr>
            </a:pPr>
            <a:r>
              <a:rPr u="sng">
                <a:solidFill>
                  <a:srgbClr val="293546"/>
                </a:solidFill>
                <a:uFill>
                  <a:solidFill>
                    <a:srgbClr val="293546"/>
                  </a:solidFill>
                </a:uFill>
                <a:hlinkClick r:id="rId27"/>
              </a:rPr>
              <a:t>NUB</a:t>
            </a:r>
            <a:r>
              <a:t> - New person to a site or game</a:t>
            </a:r>
          </a:p>
          <a:p>
            <a:pPr algn="l" defTabSz="457200">
              <a:defRPr sz="1500">
                <a:latin typeface="Arial"/>
                <a:ea typeface="Arial"/>
                <a:cs typeface="Arial"/>
                <a:sym typeface="Arial"/>
              </a:defRPr>
            </a:pPr>
            <a:r>
              <a:rPr u="sng">
                <a:solidFill>
                  <a:srgbClr val="293546"/>
                </a:solidFill>
                <a:uFill>
                  <a:solidFill>
                    <a:srgbClr val="293546"/>
                  </a:solidFill>
                </a:uFill>
                <a:hlinkClick r:id="rId28"/>
              </a:rPr>
              <a:t>OIC</a:t>
            </a:r>
            <a:r>
              <a:t> - Oh, I See</a:t>
            </a:r>
          </a:p>
          <a:p>
            <a:pPr algn="l" defTabSz="457200">
              <a:defRPr sz="1500">
                <a:latin typeface="Arial"/>
                <a:ea typeface="Arial"/>
                <a:cs typeface="Arial"/>
                <a:sym typeface="Arial"/>
              </a:defRPr>
            </a:pPr>
            <a:r>
              <a:rPr u="sng">
                <a:solidFill>
                  <a:srgbClr val="293546"/>
                </a:solidFill>
                <a:uFill>
                  <a:solidFill>
                    <a:srgbClr val="293546"/>
                  </a:solidFill>
                </a:uFill>
                <a:hlinkClick r:id="rId29"/>
              </a:rPr>
              <a:t>OMG</a:t>
            </a:r>
            <a:r>
              <a:t> - Oh My God</a:t>
            </a:r>
          </a:p>
          <a:p>
            <a:pPr algn="l" defTabSz="457200">
              <a:defRPr sz="1500">
                <a:latin typeface="Arial"/>
                <a:ea typeface="Arial"/>
                <a:cs typeface="Arial"/>
                <a:sym typeface="Arial"/>
              </a:defRPr>
            </a:pPr>
            <a:r>
              <a:rPr u="sng">
                <a:solidFill>
                  <a:srgbClr val="293546"/>
                </a:solidFill>
                <a:uFill>
                  <a:solidFill>
                    <a:srgbClr val="293546"/>
                  </a:solidFill>
                </a:uFill>
                <a:hlinkClick r:id="rId30"/>
              </a:rPr>
              <a:t>OT</a:t>
            </a:r>
            <a:r>
              <a:t> - Off Topic</a:t>
            </a:r>
          </a:p>
          <a:p>
            <a:pPr algn="l" defTabSz="457200">
              <a:defRPr sz="1500">
                <a:latin typeface="Arial"/>
                <a:ea typeface="Arial"/>
                <a:cs typeface="Arial"/>
                <a:sym typeface="Arial"/>
              </a:defRPr>
            </a:pPr>
            <a:r>
              <a:rPr u="sng">
                <a:solidFill>
                  <a:srgbClr val="293546"/>
                </a:solidFill>
                <a:uFill>
                  <a:solidFill>
                    <a:srgbClr val="293546"/>
                  </a:solidFill>
                </a:uFill>
                <a:hlinkClick r:id="rId31"/>
              </a:rPr>
              <a:t>POV</a:t>
            </a:r>
            <a:r>
              <a:t> - Point Of View</a:t>
            </a:r>
          </a:p>
          <a:p>
            <a:pPr algn="l" defTabSz="457200">
              <a:defRPr sz="1500">
                <a:latin typeface="Arial"/>
                <a:ea typeface="Arial"/>
                <a:cs typeface="Arial"/>
                <a:sym typeface="Arial"/>
              </a:defRPr>
            </a:pPr>
            <a:r>
              <a:rPr u="sng">
                <a:solidFill>
                  <a:srgbClr val="293546"/>
                </a:solidFill>
                <a:uFill>
                  <a:solidFill>
                    <a:srgbClr val="293546"/>
                  </a:solidFill>
                </a:uFill>
                <a:hlinkClick r:id="rId32"/>
              </a:rPr>
              <a:t>RBTL</a:t>
            </a:r>
            <a:r>
              <a:t> - Read Between The Lines</a:t>
            </a:r>
          </a:p>
          <a:p>
            <a:pPr algn="l" defTabSz="457200">
              <a:defRPr sz="1500">
                <a:latin typeface="Arial"/>
                <a:ea typeface="Arial"/>
                <a:cs typeface="Arial"/>
                <a:sym typeface="Arial"/>
              </a:defRPr>
            </a:pPr>
            <a:r>
              <a:rPr u="sng">
                <a:solidFill>
                  <a:srgbClr val="293546"/>
                </a:solidFill>
                <a:uFill>
                  <a:solidFill>
                    <a:srgbClr val="293546"/>
                  </a:solidFill>
                </a:uFill>
                <a:hlinkClick r:id="rId33"/>
              </a:rPr>
              <a:t>ROTFLMAO</a:t>
            </a:r>
            <a:r>
              <a:t> - Rolling On The Floor Laughing My Ass Off</a:t>
            </a:r>
          </a:p>
          <a:p>
            <a:pPr algn="l" defTabSz="457200">
              <a:defRPr sz="1500">
                <a:latin typeface="Arial"/>
                <a:ea typeface="Arial"/>
                <a:cs typeface="Arial"/>
                <a:sym typeface="Arial"/>
              </a:defRPr>
            </a:pPr>
            <a:r>
              <a:rPr u="sng">
                <a:solidFill>
                  <a:srgbClr val="293546"/>
                </a:solidFill>
                <a:uFill>
                  <a:solidFill>
                    <a:srgbClr val="293546"/>
                  </a:solidFill>
                </a:uFill>
                <a:hlinkClick r:id="rId34"/>
              </a:rPr>
              <a:t>RT</a:t>
            </a:r>
            <a:r>
              <a:t> - Real Time -or- ReTweet</a:t>
            </a:r>
          </a:p>
          <a:p>
            <a:pPr algn="l" defTabSz="457200">
              <a:defRPr sz="1500" u="sng">
                <a:solidFill>
                  <a:srgbClr val="293546"/>
                </a:solidFill>
                <a:uFill>
                  <a:solidFill>
                    <a:srgbClr val="293546"/>
                  </a:solidFill>
                </a:uFill>
                <a:latin typeface="Arial"/>
                <a:ea typeface="Arial"/>
                <a:cs typeface="Arial"/>
                <a:sym typeface="Arial"/>
              </a:defRPr>
            </a:pPr>
            <a:r>
              <a:rPr>
                <a:hlinkClick r:id="rId35"/>
              </a:rPr>
              <a:t>THX or TX or THKS</a:t>
            </a:r>
            <a:r>
              <a:rPr u="none">
                <a:solidFill>
                  <a:srgbClr val="000000"/>
                </a:solidFill>
              </a:rPr>
              <a:t> - Thanks</a:t>
            </a:r>
          </a:p>
          <a:p>
            <a:pPr algn="l" defTabSz="457200">
              <a:defRPr sz="1500">
                <a:latin typeface="Arial"/>
                <a:ea typeface="Arial"/>
                <a:cs typeface="Arial"/>
                <a:sym typeface="Arial"/>
              </a:defRPr>
            </a:pPr>
            <a:r>
              <a:rPr u="sng">
                <a:solidFill>
                  <a:srgbClr val="293546"/>
                </a:solidFill>
                <a:uFill>
                  <a:solidFill>
                    <a:srgbClr val="293546"/>
                  </a:solidFill>
                </a:uFill>
                <a:hlinkClick r:id="rId36"/>
              </a:rPr>
              <a:t>SH</a:t>
            </a:r>
            <a:r>
              <a:t> - Sh** Happens</a:t>
            </a:r>
          </a:p>
          <a:p>
            <a:pPr algn="l" defTabSz="457200">
              <a:defRPr sz="1500">
                <a:latin typeface="Arial"/>
                <a:ea typeface="Arial"/>
                <a:cs typeface="Arial"/>
                <a:sym typeface="Arial"/>
              </a:defRPr>
            </a:pPr>
            <a:r>
              <a:rPr u="sng">
                <a:solidFill>
                  <a:srgbClr val="293546"/>
                </a:solidFill>
                <a:uFill>
                  <a:solidFill>
                    <a:srgbClr val="293546"/>
                  </a:solidFill>
                </a:uFill>
                <a:hlinkClick r:id="rId37"/>
              </a:rPr>
              <a:t>SITD</a:t>
            </a:r>
            <a:r>
              <a:t> - Still In The Dark</a:t>
            </a:r>
          </a:p>
          <a:p>
            <a:pPr algn="l" defTabSz="457200">
              <a:defRPr sz="1500">
                <a:latin typeface="Arial"/>
                <a:ea typeface="Arial"/>
                <a:cs typeface="Arial"/>
                <a:sym typeface="Arial"/>
              </a:defRPr>
            </a:pPr>
            <a:r>
              <a:rPr u="sng">
                <a:solidFill>
                  <a:srgbClr val="293546"/>
                </a:solidFill>
                <a:uFill>
                  <a:solidFill>
                    <a:srgbClr val="293546"/>
                  </a:solidFill>
                </a:uFill>
                <a:hlinkClick r:id="rId38"/>
              </a:rPr>
              <a:t>SOL</a:t>
            </a:r>
            <a:r>
              <a:t> - Sh** Out of Luck -or- Sooner Or Later</a:t>
            </a:r>
          </a:p>
          <a:p>
            <a:pPr algn="l" defTabSz="457200">
              <a:defRPr sz="1500">
                <a:latin typeface="Arial"/>
                <a:ea typeface="Arial"/>
                <a:cs typeface="Arial"/>
                <a:sym typeface="Arial"/>
              </a:defRPr>
            </a:pPr>
            <a:r>
              <a:rPr u="sng">
                <a:solidFill>
                  <a:srgbClr val="293546"/>
                </a:solidFill>
                <a:uFill>
                  <a:solidFill>
                    <a:srgbClr val="293546"/>
                  </a:solidFill>
                </a:uFill>
                <a:hlinkClick r:id="rId39"/>
              </a:rPr>
              <a:t>STBY</a:t>
            </a:r>
            <a:r>
              <a:t> - Sucks To Be You</a:t>
            </a:r>
          </a:p>
          <a:p>
            <a:pPr algn="l" defTabSz="457200">
              <a:defRPr sz="1500">
                <a:latin typeface="Arial"/>
                <a:ea typeface="Arial"/>
                <a:cs typeface="Arial"/>
                <a:sym typeface="Arial"/>
              </a:defRPr>
            </a:pPr>
            <a:r>
              <a:rPr u="sng">
                <a:solidFill>
                  <a:srgbClr val="293546"/>
                </a:solidFill>
                <a:uFill>
                  <a:solidFill>
                    <a:srgbClr val="293546"/>
                  </a:solidFill>
                </a:uFill>
                <a:hlinkClick r:id="rId40"/>
              </a:rPr>
              <a:t>SWAK</a:t>
            </a:r>
            <a:r>
              <a:t> - Sealed (or Sent) With A Kiss</a:t>
            </a:r>
          </a:p>
          <a:p>
            <a:pPr algn="l" defTabSz="457200">
              <a:defRPr sz="1500">
                <a:latin typeface="Arial"/>
                <a:ea typeface="Arial"/>
                <a:cs typeface="Arial"/>
                <a:sym typeface="Arial"/>
              </a:defRPr>
            </a:pPr>
            <a:r>
              <a:rPr u="sng">
                <a:solidFill>
                  <a:srgbClr val="293546"/>
                </a:solidFill>
                <a:uFill>
                  <a:solidFill>
                    <a:srgbClr val="293546"/>
                  </a:solidFill>
                </a:uFill>
                <a:hlinkClick r:id="rId41"/>
              </a:rPr>
              <a:t>TFH</a:t>
            </a:r>
            <a:r>
              <a:t> - Thread From Hell</a:t>
            </a:r>
          </a:p>
          <a:p>
            <a:pPr algn="l" defTabSz="457200">
              <a:defRPr sz="1500">
                <a:latin typeface="Arial"/>
                <a:ea typeface="Arial"/>
                <a:cs typeface="Arial"/>
                <a:sym typeface="Arial"/>
              </a:defRPr>
            </a:pPr>
            <a:r>
              <a:rPr u="sng">
                <a:solidFill>
                  <a:srgbClr val="293546"/>
                </a:solidFill>
                <a:uFill>
                  <a:solidFill>
                    <a:srgbClr val="293546"/>
                  </a:solidFill>
                </a:uFill>
                <a:hlinkClick r:id="rId42"/>
              </a:rPr>
              <a:t>RTM or RTFM</a:t>
            </a:r>
            <a:r>
              <a:t> - Read The Manual -or- Read The F***ing Manual</a:t>
            </a:r>
          </a:p>
          <a:p>
            <a:pPr algn="l" defTabSz="457200">
              <a:defRPr sz="1500">
                <a:latin typeface="Arial"/>
                <a:ea typeface="Arial"/>
                <a:cs typeface="Arial"/>
                <a:sym typeface="Arial"/>
              </a:defRPr>
            </a:pPr>
            <a:r>
              <a:rPr u="sng">
                <a:solidFill>
                  <a:srgbClr val="293546"/>
                </a:solidFill>
                <a:uFill>
                  <a:solidFill>
                    <a:srgbClr val="293546"/>
                  </a:solidFill>
                </a:uFill>
                <a:hlinkClick r:id="rId43"/>
              </a:rPr>
              <a:t>TLC</a:t>
            </a:r>
            <a:r>
              <a:t> - Tender Loving Care</a:t>
            </a:r>
          </a:p>
          <a:p>
            <a:pPr algn="l" defTabSz="457200">
              <a:defRPr sz="1500">
                <a:latin typeface="Arial"/>
                <a:ea typeface="Arial"/>
                <a:cs typeface="Arial"/>
                <a:sym typeface="Arial"/>
              </a:defRPr>
            </a:pPr>
            <a:r>
              <a:rPr u="sng">
                <a:solidFill>
                  <a:srgbClr val="293546"/>
                </a:solidFill>
                <a:uFill>
                  <a:solidFill>
                    <a:srgbClr val="293546"/>
                  </a:solidFill>
                </a:uFill>
                <a:hlinkClick r:id="rId44"/>
              </a:rPr>
              <a:t>TMI</a:t>
            </a:r>
            <a:r>
              <a:t> - Too Much Information</a:t>
            </a:r>
          </a:p>
          <a:p>
            <a:pPr algn="l" defTabSz="457200">
              <a:defRPr sz="1500">
                <a:latin typeface="Arial"/>
                <a:ea typeface="Arial"/>
                <a:cs typeface="Arial"/>
                <a:sym typeface="Arial"/>
              </a:defRPr>
            </a:pPr>
            <a:r>
              <a:rPr u="sng">
                <a:solidFill>
                  <a:srgbClr val="293546"/>
                </a:solidFill>
                <a:uFill>
                  <a:solidFill>
                    <a:srgbClr val="293546"/>
                  </a:solidFill>
                </a:uFill>
                <a:hlinkClick r:id="rId45"/>
              </a:rPr>
              <a:t>TTYL</a:t>
            </a:r>
            <a:r>
              <a:t> - Talk To You Later -or- Type To You Later</a:t>
            </a:r>
          </a:p>
          <a:p>
            <a:pPr algn="l" defTabSz="457200">
              <a:defRPr sz="1500">
                <a:latin typeface="Arial"/>
                <a:ea typeface="Arial"/>
                <a:cs typeface="Arial"/>
                <a:sym typeface="Arial"/>
              </a:defRPr>
            </a:pPr>
            <a:r>
              <a:rPr u="sng">
                <a:solidFill>
                  <a:srgbClr val="293546"/>
                </a:solidFill>
                <a:uFill>
                  <a:solidFill>
                    <a:srgbClr val="293546"/>
                  </a:solidFill>
                </a:uFill>
                <a:hlinkClick r:id="rId46"/>
              </a:rPr>
              <a:t>TYVM</a:t>
            </a:r>
            <a:r>
              <a:t> - Thank You Very Much</a:t>
            </a:r>
          </a:p>
          <a:p>
            <a:pPr algn="l" defTabSz="457200">
              <a:defRPr sz="1500">
                <a:latin typeface="Arial"/>
                <a:ea typeface="Arial"/>
                <a:cs typeface="Arial"/>
                <a:sym typeface="Arial"/>
              </a:defRPr>
            </a:pPr>
            <a:r>
              <a:rPr u="sng">
                <a:solidFill>
                  <a:srgbClr val="293546"/>
                </a:solidFill>
                <a:uFill>
                  <a:solidFill>
                    <a:srgbClr val="293546"/>
                  </a:solidFill>
                </a:uFill>
                <a:hlinkClick r:id="rId47"/>
              </a:rPr>
              <a:t>VBG</a:t>
            </a:r>
            <a:r>
              <a:t> - Very Big Grin</a:t>
            </a:r>
          </a:p>
          <a:p>
            <a:pPr algn="l" defTabSz="457200">
              <a:defRPr sz="1500">
                <a:latin typeface="Arial"/>
                <a:ea typeface="Arial"/>
                <a:cs typeface="Arial"/>
                <a:sym typeface="Arial"/>
              </a:defRPr>
            </a:pPr>
            <a:r>
              <a:rPr u="sng">
                <a:solidFill>
                  <a:srgbClr val="293546"/>
                </a:solidFill>
                <a:uFill>
                  <a:solidFill>
                    <a:srgbClr val="293546"/>
                  </a:solidFill>
                </a:uFill>
                <a:hlinkClick r:id="rId48"/>
              </a:rPr>
              <a:t>WEG</a:t>
            </a:r>
            <a:r>
              <a:t> - Wicked Evil Grin</a:t>
            </a:r>
          </a:p>
          <a:p>
            <a:pPr algn="l" defTabSz="457200">
              <a:defRPr sz="1500">
                <a:latin typeface="Arial"/>
                <a:ea typeface="Arial"/>
                <a:cs typeface="Arial"/>
                <a:sym typeface="Arial"/>
              </a:defRPr>
            </a:pPr>
            <a:r>
              <a:rPr u="sng">
                <a:solidFill>
                  <a:srgbClr val="293546"/>
                </a:solidFill>
                <a:uFill>
                  <a:solidFill>
                    <a:srgbClr val="293546"/>
                  </a:solidFill>
                </a:uFill>
                <a:hlinkClick r:id="rId49"/>
              </a:rPr>
              <a:t>WTF</a:t>
            </a:r>
            <a:r>
              <a:t> - What The F***</a:t>
            </a:r>
          </a:p>
          <a:p>
            <a:pPr algn="l" defTabSz="457200">
              <a:defRPr sz="1500">
                <a:latin typeface="Arial"/>
                <a:ea typeface="Arial"/>
                <a:cs typeface="Arial"/>
                <a:sym typeface="Arial"/>
              </a:defRPr>
            </a:pPr>
            <a:r>
              <a:rPr u="sng">
                <a:solidFill>
                  <a:srgbClr val="293546"/>
                </a:solidFill>
                <a:uFill>
                  <a:solidFill>
                    <a:srgbClr val="293546"/>
                  </a:solidFill>
                </a:uFill>
                <a:hlinkClick r:id="rId50"/>
              </a:rPr>
              <a:t>WYWH</a:t>
            </a:r>
            <a:r>
              <a:t> - Wish You Were Here</a:t>
            </a:r>
          </a:p>
          <a:p>
            <a:pPr algn="l" defTabSz="457200">
              <a:defRPr sz="1500">
                <a:latin typeface="Arial"/>
                <a:ea typeface="Arial"/>
                <a:cs typeface="Arial"/>
                <a:sym typeface="Arial"/>
              </a:defRPr>
            </a:pPr>
            <a:r>
              <a:rPr u="sng">
                <a:solidFill>
                  <a:srgbClr val="293546"/>
                </a:solidFill>
                <a:uFill>
                  <a:solidFill>
                    <a:srgbClr val="293546"/>
                  </a:solidFill>
                </a:uFill>
                <a:hlinkClick r:id="rId51"/>
              </a:rPr>
              <a:t>XOXO</a:t>
            </a:r>
            <a:r>
              <a:t> - Hugs and Kisses</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p:cNvSpPr>
          <p:nvPr>
            <p:ph type="body" idx="13"/>
          </p:nvPr>
        </p:nvSpPr>
        <p:spPr>
          <a:prstGeom prst="rect">
            <a:avLst/>
          </a:prstGeom>
        </p:spPr>
        <p:txBody>
          <a:bodyPr/>
          <a:lstStyle/>
          <a:p>
            <a:r>
              <a:t>Partial information quiz</a:t>
            </a:r>
          </a:p>
        </p:txBody>
      </p:sp>
      <p:sp>
        <p:nvSpPr>
          <p:cNvPr id="211" name="Shape 211"/>
          <p:cNvSpPr/>
          <p:nvPr/>
        </p:nvSpPr>
        <p:spPr>
          <a:xfrm>
            <a:off x="1350528" y="2730500"/>
            <a:ext cx="1030374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To see a world in a grain of sand</a:t>
            </a:r>
          </a:p>
        </p:txBody>
      </p:sp>
      <p:sp>
        <p:nvSpPr>
          <p:cNvPr id="212" name="Shape 212"/>
          <p:cNvSpPr/>
          <p:nvPr/>
        </p:nvSpPr>
        <p:spPr>
          <a:xfrm>
            <a:off x="1257300" y="3200400"/>
            <a:ext cx="10278319" cy="492721"/>
          </a:xfrm>
          <a:prstGeom prst="rect">
            <a:avLst/>
          </a:prstGeom>
          <a:solidFill>
            <a:srgbClr val="FFFFFF"/>
          </a:solidFill>
          <a:ln w="12700">
            <a:miter lim="400000"/>
          </a:ln>
        </p:spPr>
        <p:txBody>
          <a:bodyPr lIns="50800" tIns="50800" rIns="50800" bIns="50800" anchor="ctr"/>
          <a:lstStyle/>
          <a:p>
            <a:pPr>
              <a:defRPr sz="2400">
                <a:solidFill>
                  <a:srgbClr val="FFFFFF"/>
                </a:solidFill>
              </a:defRPr>
            </a:pPr>
            <a:endParaRPr/>
          </a:p>
        </p:txBody>
      </p:sp>
      <p:sp>
        <p:nvSpPr>
          <p:cNvPr id="213" name="Shape 213"/>
          <p:cNvSpPr/>
          <p:nvPr/>
        </p:nvSpPr>
        <p:spPr>
          <a:xfrm>
            <a:off x="699541" y="4255731"/>
            <a:ext cx="11783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The five boxing wizards jump quickly</a:t>
            </a:r>
          </a:p>
        </p:txBody>
      </p:sp>
      <p:sp>
        <p:nvSpPr>
          <p:cNvPr id="214" name="Shape 214"/>
          <p:cNvSpPr/>
          <p:nvPr/>
        </p:nvSpPr>
        <p:spPr>
          <a:xfrm>
            <a:off x="1028700" y="4290020"/>
            <a:ext cx="11276757" cy="492721"/>
          </a:xfrm>
          <a:prstGeom prst="rect">
            <a:avLst/>
          </a:prstGeom>
          <a:solidFill>
            <a:srgbClr val="FFFFFF"/>
          </a:solidFill>
          <a:ln w="12700">
            <a:miter lim="400000"/>
          </a:ln>
        </p:spPr>
        <p:txBody>
          <a:bodyPr lIns="50800" tIns="50800" rIns="50800" bIns="50800" anchor="ctr"/>
          <a:lstStyle/>
          <a:p>
            <a:pPr>
              <a:defRPr sz="2400">
                <a:solidFill>
                  <a:srgbClr val="FFFFFF"/>
                </a:solidFill>
              </a:defRPr>
            </a:pPr>
            <a:endParaRPr/>
          </a:p>
        </p:txBody>
      </p:sp>
      <p:sp>
        <p:nvSpPr>
          <p:cNvPr id="215" name="Shape 215"/>
          <p:cNvSpPr/>
          <p:nvPr/>
        </p:nvSpPr>
        <p:spPr>
          <a:xfrm>
            <a:off x="1848247" y="8097481"/>
            <a:ext cx="9308307"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W_l_ d_n_ i_ b_t_e_ t_a_ w_l_ s_i_</a:t>
            </a:r>
          </a:p>
        </p:txBody>
      </p:sp>
      <p:sp>
        <p:nvSpPr>
          <p:cNvPr id="216" name="Shape 216"/>
          <p:cNvSpPr/>
          <p:nvPr/>
        </p:nvSpPr>
        <p:spPr>
          <a:xfrm>
            <a:off x="3820145" y="6231851"/>
            <a:ext cx="5364510"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H_r_a_d _n_v_r_i_y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xit" fill="hold" grpId="1" nodeType="clickEffect">
                                  <p:stCondLst>
                                    <p:cond delay="0"/>
                                  </p:stCondLst>
                                  <p:iterate>
                                    <p:tmAbs val="0"/>
                                  </p:iterate>
                                  <p:childTnLst>
                                    <p:animEffect transition="out" filter="dissolve">
                                      <p:cBhvr>
                                        <p:cTn id="6" dur="1000" fill="hold"/>
                                        <p:tgtEl>
                                          <p:spTgt spid="212"/>
                                        </p:tgtEl>
                                      </p:cBhvr>
                                    </p:animEffect>
                                    <p:set>
                                      <p:cBhvr>
                                        <p:cTn id="7" fill="hold">
                                          <p:stCondLst>
                                            <p:cond delay="999"/>
                                          </p:stCondLst>
                                        </p:cTn>
                                        <p:tgtEl>
                                          <p:spTgt spid="2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ntr" fill="hold" grpId="2" nodeType="clickEffect">
                                  <p:stCondLst>
                                    <p:cond delay="0"/>
                                  </p:stCondLst>
                                  <p:iterate>
                                    <p:tmAbs val="0"/>
                                  </p:iterate>
                                  <p:childTnLst>
                                    <p:set>
                                      <p:cBhvr>
                                        <p:cTn id="11" fill="hold"/>
                                        <p:tgtEl>
                                          <p:spTgt spid="213"/>
                                        </p:tgtEl>
                                        <p:attrNameLst>
                                          <p:attrName>style.visibility</p:attrName>
                                        </p:attrNameLst>
                                      </p:cBhvr>
                                      <p:to>
                                        <p:strVal val="visible"/>
                                      </p:to>
                                    </p:set>
                                    <p:animEffect transition="in" filter="dissolve">
                                      <p:cBhvr>
                                        <p:cTn id="12" dur="1000"/>
                                        <p:tgtEl>
                                          <p:spTgt spid="2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xit" fill="hold" grpId="3" nodeType="clickEffect">
                                  <p:stCondLst>
                                    <p:cond delay="0"/>
                                  </p:stCondLst>
                                  <p:iterate>
                                    <p:tmAbs val="0"/>
                                  </p:iterate>
                                  <p:childTnLst>
                                    <p:animEffect transition="out" filter="dissolve">
                                      <p:cBhvr>
                                        <p:cTn id="16" dur="1000" fill="hold"/>
                                        <p:tgtEl>
                                          <p:spTgt spid="214"/>
                                        </p:tgtEl>
                                      </p:cBhvr>
                                    </p:animEffect>
                                    <p:set>
                                      <p:cBhvr>
                                        <p:cTn id="17" fill="hold">
                                          <p:stCondLst>
                                            <p:cond delay="999"/>
                                          </p:stCondLst>
                                        </p:cTn>
                                        <p:tgtEl>
                                          <p:spTgt spid="21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ntr" fill="hold" grpId="4" nodeType="clickEffect">
                                  <p:stCondLst>
                                    <p:cond delay="0"/>
                                  </p:stCondLst>
                                  <p:iterate>
                                    <p:tmAbs val="0"/>
                                  </p:iterate>
                                  <p:childTnLst>
                                    <p:set>
                                      <p:cBhvr>
                                        <p:cTn id="21" fill="hold"/>
                                        <p:tgtEl>
                                          <p:spTgt spid="216"/>
                                        </p:tgtEl>
                                        <p:attrNameLst>
                                          <p:attrName>style.visibility</p:attrName>
                                        </p:attrNameLst>
                                      </p:cBhvr>
                                      <p:to>
                                        <p:strVal val="visible"/>
                                      </p:to>
                                    </p:set>
                                    <p:animEffect transition="in" filter="dissolve">
                                      <p:cBhvr>
                                        <p:cTn id="22" dur="1000"/>
                                        <p:tgtEl>
                                          <p:spTgt spid="2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fill="hold" grpId="5" nodeType="clickEffect">
                                  <p:stCondLst>
                                    <p:cond delay="0"/>
                                  </p:stCondLst>
                                  <p:iterate>
                                    <p:tmAbs val="0"/>
                                  </p:iterate>
                                  <p:childTnLst>
                                    <p:set>
                                      <p:cBhvr>
                                        <p:cTn id="26" fill="hold"/>
                                        <p:tgtEl>
                                          <p:spTgt spid="215"/>
                                        </p:tgtEl>
                                        <p:attrNameLst>
                                          <p:attrName>style.visibility</p:attrName>
                                        </p:attrNameLst>
                                      </p:cBhvr>
                                      <p:to>
                                        <p:strVal val="visible"/>
                                      </p:to>
                                    </p:set>
                                    <p:animEffect transition="in" filter="dissolve">
                                      <p:cBhvr>
                                        <p:cTn id="27" dur="10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1" animBg="1" advAuto="0"/>
      <p:bldP spid="213" grpId="2" animBg="1" advAuto="0"/>
      <p:bldP spid="214" grpId="3" animBg="1" advAuto="0"/>
      <p:bldP spid="215" grpId="5" animBg="1" advAuto="0"/>
      <p:bldP spid="216" grpId="4" animBg="1" advAuto="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a:spLocks noGrp="1"/>
          </p:cNvSpPr>
          <p:nvPr>
            <p:ph type="body" idx="13"/>
          </p:nvPr>
        </p:nvSpPr>
        <p:spPr>
          <a:prstGeom prst="rect">
            <a:avLst/>
          </a:prstGeom>
        </p:spPr>
        <p:txBody>
          <a:bodyPr/>
          <a:lstStyle/>
          <a:p>
            <a:r>
              <a:t>Partial information quiz</a:t>
            </a:r>
          </a:p>
        </p:txBody>
      </p:sp>
      <p:sp>
        <p:nvSpPr>
          <p:cNvPr id="219" name="Shape 219"/>
          <p:cNvSpPr/>
          <p:nvPr/>
        </p:nvSpPr>
        <p:spPr>
          <a:xfrm>
            <a:off x="3960527" y="6231851"/>
            <a:ext cx="5083746"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Harvard University</a:t>
            </a:r>
          </a:p>
        </p:txBody>
      </p:sp>
      <p:sp>
        <p:nvSpPr>
          <p:cNvPr id="220" name="Shape 220"/>
          <p:cNvSpPr/>
          <p:nvPr/>
        </p:nvSpPr>
        <p:spPr>
          <a:xfrm>
            <a:off x="1350528" y="2730500"/>
            <a:ext cx="10303744"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To see a world in a grain of sand</a:t>
            </a:r>
          </a:p>
        </p:txBody>
      </p:sp>
      <p:sp>
        <p:nvSpPr>
          <p:cNvPr id="221" name="Shape 221"/>
          <p:cNvSpPr/>
          <p:nvPr/>
        </p:nvSpPr>
        <p:spPr>
          <a:xfrm>
            <a:off x="2056569" y="8097481"/>
            <a:ext cx="8891663"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400" b="1">
                <a:latin typeface="+mj-lt"/>
                <a:ea typeface="+mj-ea"/>
                <a:cs typeface="+mj-cs"/>
                <a:sym typeface="Helvetica"/>
              </a:defRPr>
            </a:lvl1pPr>
          </a:lstStyle>
          <a:p>
            <a:r>
              <a:t>Well done is better than well said</a:t>
            </a:r>
          </a:p>
        </p:txBody>
      </p:sp>
      <p:sp>
        <p:nvSpPr>
          <p:cNvPr id="222" name="Shape 222"/>
          <p:cNvSpPr/>
          <p:nvPr/>
        </p:nvSpPr>
        <p:spPr>
          <a:xfrm>
            <a:off x="699541" y="4255731"/>
            <a:ext cx="11783518" cy="88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5200" b="1">
                <a:latin typeface="+mj-lt"/>
                <a:ea typeface="+mj-ea"/>
                <a:cs typeface="+mj-cs"/>
                <a:sym typeface="Helvetica"/>
              </a:defRPr>
            </a:lvl1pPr>
          </a:lstStyle>
          <a:p>
            <a:r>
              <a:t>The five boxing wizards jump quickly</a:t>
            </a:r>
          </a:p>
        </p:txBody>
      </p:sp>
      <p:sp>
        <p:nvSpPr>
          <p:cNvPr id="223" name="Shape 223"/>
          <p:cNvSpPr/>
          <p:nvPr/>
        </p:nvSpPr>
        <p:spPr>
          <a:xfrm>
            <a:off x="10053161" y="3543300"/>
            <a:ext cx="2477999" cy="482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b="1" i="1">
                <a:solidFill>
                  <a:schemeClr val="accent1"/>
                </a:solidFill>
                <a:latin typeface="+mj-lt"/>
                <a:ea typeface="+mj-ea"/>
                <a:cs typeface="+mj-cs"/>
                <a:sym typeface="Helvetica"/>
              </a:defRPr>
            </a:lvl1pPr>
          </a:lstStyle>
          <a:p>
            <a:r>
              <a:t>William Blake</a:t>
            </a:r>
          </a:p>
        </p:txBody>
      </p:sp>
      <p:sp>
        <p:nvSpPr>
          <p:cNvPr id="224" name="Shape 224"/>
          <p:cNvSpPr/>
          <p:nvPr/>
        </p:nvSpPr>
        <p:spPr>
          <a:xfrm>
            <a:off x="10053161" y="5111730"/>
            <a:ext cx="2477999" cy="482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b="1" i="1">
                <a:solidFill>
                  <a:schemeClr val="accent1"/>
                </a:solidFill>
                <a:latin typeface="+mj-lt"/>
                <a:ea typeface="+mj-ea"/>
                <a:cs typeface="+mj-cs"/>
                <a:sym typeface="Helvetica"/>
              </a:defRPr>
            </a:lvl1pPr>
          </a:lstStyle>
          <a:p>
            <a:r>
              <a:t>Pangram</a:t>
            </a:r>
          </a:p>
        </p:txBody>
      </p:sp>
      <p:sp>
        <p:nvSpPr>
          <p:cNvPr id="225" name="Shape 225"/>
          <p:cNvSpPr/>
          <p:nvPr/>
        </p:nvSpPr>
        <p:spPr>
          <a:xfrm>
            <a:off x="10053161" y="8655030"/>
            <a:ext cx="2678967" cy="863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a:defRPr sz="2500" b="1" i="1">
                <a:solidFill>
                  <a:schemeClr val="accent1"/>
                </a:solidFill>
                <a:latin typeface="+mj-lt"/>
                <a:ea typeface="+mj-ea"/>
                <a:cs typeface="+mj-cs"/>
                <a:sym typeface="Helvetica"/>
              </a:defRPr>
            </a:lvl1pPr>
          </a:lstStyle>
          <a:p>
            <a:r>
              <a:t>Benjamin Franklin</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Shape 227"/>
          <p:cNvSpPr>
            <a:spLocks noGrp="1"/>
          </p:cNvSpPr>
          <p:nvPr>
            <p:ph type="body" idx="13"/>
          </p:nvPr>
        </p:nvSpPr>
        <p:spPr>
          <a:xfrm>
            <a:off x="437232" y="3797300"/>
            <a:ext cx="12130336" cy="2159000"/>
          </a:xfrm>
          <a:prstGeom prst="rect">
            <a:avLst/>
          </a:prstGeom>
        </p:spPr>
        <p:txBody>
          <a:bodyPr/>
          <a:lstStyle/>
          <a:p>
            <a:r>
              <a:t>Interlude: text game</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IMG_0608.jpeg"/>
          <p:cNvPicPr>
            <a:picLocks noChangeAspect="1"/>
          </p:cNvPicPr>
          <p:nvPr/>
        </p:nvPicPr>
        <p:blipFill>
          <a:blip r:embed="rId2">
            <a:extLst/>
          </a:blip>
          <a:stretch>
            <a:fillRect/>
          </a:stretch>
        </p:blipFill>
        <p:spPr>
          <a:xfrm>
            <a:off x="0" y="0"/>
            <a:ext cx="13004800" cy="9753600"/>
          </a:xfrm>
          <a:prstGeom prst="rect">
            <a:avLst/>
          </a:prstGeom>
          <a:ln w="12700">
            <a:miter lim="400000"/>
          </a:ln>
        </p:spPr>
      </p:pic>
      <p:sp>
        <p:nvSpPr>
          <p:cNvPr id="230" name="Shape 230"/>
          <p:cNvSpPr/>
          <p:nvPr/>
        </p:nvSpPr>
        <p:spPr>
          <a:xfrm>
            <a:off x="3856719" y="7391783"/>
            <a:ext cx="8900205" cy="1831745"/>
          </a:xfrm>
          <a:prstGeom prst="roundRect">
            <a:avLst>
              <a:gd name="adj" fmla="val 15781"/>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lnSpc>
                <a:spcPct val="90000"/>
              </a:lnSpc>
              <a:defRPr sz="1900" b="1">
                <a:latin typeface="+mj-lt"/>
                <a:ea typeface="+mj-ea"/>
                <a:cs typeface="+mj-cs"/>
                <a:sym typeface="Helvetica"/>
              </a:defRPr>
            </a:pPr>
            <a:r>
              <a:t>Notes:</a:t>
            </a:r>
          </a:p>
          <a:p>
            <a:pPr algn="l">
              <a:lnSpc>
                <a:spcPct val="90000"/>
              </a:lnSpc>
              <a:defRPr sz="1900" b="1">
                <a:latin typeface="+mj-lt"/>
                <a:ea typeface="+mj-ea"/>
                <a:cs typeface="+mj-cs"/>
                <a:sym typeface="Helvetica"/>
              </a:defRPr>
            </a:pPr>
            <a:r>
              <a:t>Each letter of a mystery text message was revealed one-by-one. Before each letter was revealed, plausible guesses were listed. The number of plausible guesses varies dramatically. The most information about the message is revealed when there were many guesses.</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Shape 232"/>
          <p:cNvSpPr>
            <a:spLocks noGrp="1"/>
          </p:cNvSpPr>
          <p:nvPr>
            <p:ph type="title"/>
          </p:nvPr>
        </p:nvSpPr>
        <p:spPr>
          <a:prstGeom prst="rect">
            <a:avLst/>
          </a:prstGeom>
        </p:spPr>
        <p:txBody>
          <a:bodyPr/>
          <a:lstStyle/>
          <a:p>
            <a:r>
              <a:t>Shannon’s key idea</a:t>
            </a:r>
          </a:p>
        </p:txBody>
      </p:sp>
      <p:sp>
        <p:nvSpPr>
          <p:cNvPr id="233" name="Shape 233"/>
          <p:cNvSpPr>
            <a:spLocks noGrp="1"/>
          </p:cNvSpPr>
          <p:nvPr>
            <p:ph type="body" idx="1"/>
          </p:nvPr>
        </p:nvSpPr>
        <p:spPr>
          <a:prstGeom prst="rect">
            <a:avLst/>
          </a:prstGeom>
        </p:spPr>
        <p:txBody>
          <a:bodyPr/>
          <a:lstStyle/>
          <a:p>
            <a:r>
              <a:t>A discrete information source is characterized by the probabilities for emitting signals from the source</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9" name="Group 239"/>
          <p:cNvGrpSpPr/>
          <p:nvPr/>
        </p:nvGrpSpPr>
        <p:grpSpPr>
          <a:xfrm>
            <a:off x="1526379" y="509693"/>
            <a:ext cx="9952042" cy="8734213"/>
            <a:chOff x="0" y="0"/>
            <a:chExt cx="9952040" cy="8734211"/>
          </a:xfrm>
        </p:grpSpPr>
        <p:grpSp>
          <p:nvGrpSpPr>
            <p:cNvPr id="237" name="Group 237"/>
            <p:cNvGrpSpPr/>
            <p:nvPr/>
          </p:nvGrpSpPr>
          <p:grpSpPr>
            <a:xfrm>
              <a:off x="-1" y="-1"/>
              <a:ext cx="9424133" cy="8734213"/>
              <a:chOff x="0" y="0"/>
              <a:chExt cx="9424131" cy="8734211"/>
            </a:xfrm>
          </p:grpSpPr>
          <p:pic>
            <p:nvPicPr>
              <p:cNvPr id="235" name="image25.jpg" descr="approx1.jpg"/>
              <p:cNvPicPr>
                <a:picLocks noChangeAspect="1"/>
              </p:cNvPicPr>
              <p:nvPr/>
            </p:nvPicPr>
            <p:blipFill>
              <a:blip r:embed="rId2">
                <a:extLst/>
              </a:blip>
              <a:stretch>
                <a:fillRect/>
              </a:stretch>
            </p:blipFill>
            <p:spPr>
              <a:xfrm>
                <a:off x="-1" y="-1"/>
                <a:ext cx="9194895" cy="3670023"/>
              </a:xfrm>
              <a:prstGeom prst="rect">
                <a:avLst/>
              </a:prstGeom>
              <a:ln w="12700" cap="flat">
                <a:noFill/>
                <a:miter lim="400000"/>
              </a:ln>
              <a:effectLst/>
            </p:spPr>
          </p:pic>
          <p:pic>
            <p:nvPicPr>
              <p:cNvPr id="236" name="image26.jpg" descr="approx2.jpg"/>
              <p:cNvPicPr>
                <a:picLocks noChangeAspect="1"/>
              </p:cNvPicPr>
              <p:nvPr/>
            </p:nvPicPr>
            <p:blipFill>
              <a:blip r:embed="rId3">
                <a:extLst/>
              </a:blip>
              <a:stretch>
                <a:fillRect/>
              </a:stretch>
            </p:blipFill>
            <p:spPr>
              <a:xfrm>
                <a:off x="209399" y="3606100"/>
                <a:ext cx="9214733" cy="5128112"/>
              </a:xfrm>
              <a:prstGeom prst="rect">
                <a:avLst/>
              </a:prstGeom>
              <a:ln w="12700" cap="flat">
                <a:noFill/>
                <a:miter lim="400000"/>
              </a:ln>
              <a:effectLst/>
            </p:spPr>
          </p:pic>
        </p:grpSp>
        <p:sp>
          <p:nvSpPr>
            <p:cNvPr id="238" name="Shape 238"/>
            <p:cNvSpPr/>
            <p:nvPr/>
          </p:nvSpPr>
          <p:spPr>
            <a:xfrm>
              <a:off x="9026269" y="-1"/>
              <a:ext cx="925772" cy="3670023"/>
            </a:xfrm>
            <a:prstGeom prst="rect">
              <a:avLst/>
            </a:prstGeom>
            <a:solidFill>
              <a:srgbClr val="FFFFFF"/>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a:spLocks noGrp="1"/>
          </p:cNvSpPr>
          <p:nvPr>
            <p:ph type="title"/>
          </p:nvPr>
        </p:nvSpPr>
        <p:spPr>
          <a:prstGeom prst="rect">
            <a:avLst/>
          </a:prstGeom>
        </p:spPr>
        <p:txBody>
          <a:bodyPr/>
          <a:lstStyle/>
          <a:p>
            <a:r>
              <a:t>How to simulate the digram structure</a:t>
            </a:r>
          </a:p>
        </p:txBody>
      </p:sp>
      <p:pic>
        <p:nvPicPr>
          <p:cNvPr id="242" name="image27.jpg" descr="approx31.jpg"/>
          <p:cNvPicPr>
            <a:picLocks noChangeAspect="1"/>
          </p:cNvPicPr>
          <p:nvPr/>
        </p:nvPicPr>
        <p:blipFill>
          <a:blip r:embed="rId2">
            <a:extLst/>
          </a:blip>
          <a:stretch>
            <a:fillRect/>
          </a:stretch>
        </p:blipFill>
        <p:spPr>
          <a:xfrm>
            <a:off x="905558" y="3146925"/>
            <a:ext cx="11193684" cy="1399211"/>
          </a:xfrm>
          <a:prstGeom prst="rect">
            <a:avLst/>
          </a:prstGeom>
          <a:ln w="12700">
            <a:miter lim="400000"/>
          </a:ln>
        </p:spPr>
      </p:pic>
      <p:grpSp>
        <p:nvGrpSpPr>
          <p:cNvPr id="247" name="Group 247"/>
          <p:cNvGrpSpPr/>
          <p:nvPr/>
        </p:nvGrpSpPr>
        <p:grpSpPr>
          <a:xfrm>
            <a:off x="780630" y="5089560"/>
            <a:ext cx="11443540" cy="1773470"/>
            <a:chOff x="0" y="0"/>
            <a:chExt cx="11443539" cy="1773468"/>
          </a:xfrm>
        </p:grpSpPr>
        <p:pic>
          <p:nvPicPr>
            <p:cNvPr id="243" name="image28.jpg" descr="approx4.jpg"/>
            <p:cNvPicPr>
              <a:picLocks noChangeAspect="1"/>
            </p:cNvPicPr>
            <p:nvPr/>
          </p:nvPicPr>
          <p:blipFill>
            <a:blip r:embed="rId3">
              <a:extLst/>
            </a:blip>
            <a:stretch>
              <a:fillRect/>
            </a:stretch>
          </p:blipFill>
          <p:spPr>
            <a:xfrm>
              <a:off x="0" y="0"/>
              <a:ext cx="11443540" cy="1773469"/>
            </a:xfrm>
            <a:prstGeom prst="rect">
              <a:avLst/>
            </a:prstGeom>
            <a:ln w="12700" cap="flat">
              <a:noFill/>
              <a:miter lim="400000"/>
            </a:ln>
            <a:effectLst/>
          </p:spPr>
        </p:pic>
        <p:sp>
          <p:nvSpPr>
            <p:cNvPr id="244" name="Shape 244"/>
            <p:cNvSpPr/>
            <p:nvPr/>
          </p:nvSpPr>
          <p:spPr>
            <a:xfrm>
              <a:off x="0" y="152642"/>
              <a:ext cx="11443540" cy="678841"/>
            </a:xfrm>
            <a:prstGeom prst="rect">
              <a:avLst/>
            </a:prstGeom>
            <a:solidFill>
              <a:srgbClr val="FFFF00">
                <a:alpha val="20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245" name="Shape 245"/>
            <p:cNvSpPr/>
            <p:nvPr/>
          </p:nvSpPr>
          <p:spPr>
            <a:xfrm>
              <a:off x="-1" y="831482"/>
              <a:ext cx="4281783" cy="322450"/>
            </a:xfrm>
            <a:prstGeom prst="rect">
              <a:avLst/>
            </a:prstGeom>
            <a:solidFill>
              <a:srgbClr val="FFFF00">
                <a:alpha val="20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sp>
          <p:nvSpPr>
            <p:cNvPr id="246" name="Shape 246"/>
            <p:cNvSpPr/>
            <p:nvPr/>
          </p:nvSpPr>
          <p:spPr>
            <a:xfrm>
              <a:off x="4841823" y="1442438"/>
              <a:ext cx="6143500" cy="331030"/>
            </a:xfrm>
            <a:prstGeom prst="rect">
              <a:avLst/>
            </a:prstGeom>
            <a:solidFill>
              <a:srgbClr val="FFFF00">
                <a:alpha val="22000"/>
              </a:srgbClr>
            </a:solidFill>
            <a:ln w="12700" cap="flat">
              <a:noFill/>
              <a:miter lim="400000"/>
            </a:ln>
            <a:effectLst/>
          </p:spPr>
          <p:txBody>
            <a:bodyPr wrap="square" lIns="45719" tIns="45719" rIns="45719" bIns="45719" numCol="1" anchor="ctr">
              <a:noAutofit/>
            </a:bodyPr>
            <a:lstStyle/>
            <a:p>
              <a:pPr defTabSz="457200">
                <a:defRPr sz="1800">
                  <a:solidFill>
                    <a:srgbClr val="FFFFFF"/>
                  </a:solidFill>
                  <a:uFill>
                    <a:solidFill>
                      <a:srgbClr val="FFFFFF"/>
                    </a:solidFill>
                  </a:uFill>
                  <a:latin typeface="Calibri"/>
                  <a:ea typeface="Calibri"/>
                  <a:cs typeface="Calibri"/>
                  <a:sym typeface="Calibri"/>
                </a:defRPr>
              </a:pPr>
              <a:endParaRPr/>
            </a:p>
          </p:txBody>
        </p:sp>
      </p:gr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a:spLocks noGrp="1"/>
          </p:cNvSpPr>
          <p:nvPr>
            <p:ph type="title"/>
          </p:nvPr>
        </p:nvSpPr>
        <p:spPr>
          <a:xfrm>
            <a:off x="437232" y="461433"/>
            <a:ext cx="12130336" cy="2159001"/>
          </a:xfrm>
          <a:prstGeom prst="rect">
            <a:avLst/>
          </a:prstGeom>
        </p:spPr>
        <p:txBody>
          <a:bodyPr/>
          <a:lstStyle/>
          <a:p>
            <a:r>
              <a:t>Information content</a:t>
            </a:r>
          </a:p>
        </p:txBody>
      </p:sp>
      <p:sp>
        <p:nvSpPr>
          <p:cNvPr id="250" name="Shape 250"/>
          <p:cNvSpPr>
            <a:spLocks noGrp="1"/>
          </p:cNvSpPr>
          <p:nvPr>
            <p:ph type="body" idx="1"/>
          </p:nvPr>
        </p:nvSpPr>
        <p:spPr>
          <a:xfrm>
            <a:off x="952500" y="2609850"/>
            <a:ext cx="11099801" cy="6286501"/>
          </a:xfrm>
          <a:prstGeom prst="rect">
            <a:avLst/>
          </a:prstGeom>
        </p:spPr>
        <p:txBody>
          <a:bodyPr anchor="t"/>
          <a:lstStyle/>
          <a:p>
            <a:r>
              <a:t>Numbers in 0 to 63, such as 47=101111, need six bits of information</a:t>
            </a:r>
          </a:p>
          <a:p>
            <a:r>
              <a:t>If the numbers are equally probable, then being told the number has information content</a:t>
            </a:r>
          </a:p>
          <a:p>
            <a:endParaRPr/>
          </a:p>
          <a:p>
            <a:r>
              <a:t>Each binary digit has one bit of information content</a:t>
            </a:r>
          </a:p>
        </p:txBody>
      </p:sp>
      <p:sp>
        <p:nvSpPr>
          <p:cNvPr id="251" name="Shape 251"/>
          <p:cNvSpPr/>
          <p:nvPr/>
        </p:nvSpPr>
        <p:spPr>
          <a:xfrm>
            <a:off x="-254087" y="9347200"/>
            <a:ext cx="1127777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000" b="1">
                <a:latin typeface="+mj-lt"/>
                <a:ea typeface="+mj-ea"/>
                <a:cs typeface="+mj-cs"/>
                <a:sym typeface="Helvetica"/>
              </a:defRPr>
            </a:pPr>
            <a:r>
              <a:t>Adapted from </a:t>
            </a:r>
            <a:r>
              <a:rPr i="1"/>
              <a:t>Information Theory</a:t>
            </a:r>
            <a:r>
              <a:t> by Iain Murray, </a:t>
            </a:r>
            <a:r>
              <a:rPr u="sng">
                <a:hlinkClick r:id="rId2"/>
              </a:rPr>
              <a:t>http://www.inf.ed.ac.uk/teaching/courses/it/</a:t>
            </a:r>
          </a:p>
        </p:txBody>
      </p:sp>
      <p:pic>
        <p:nvPicPr>
          <p:cNvPr id="252" name="inf32.pdf"/>
          <p:cNvPicPr>
            <a:picLocks noChangeAspect="1"/>
          </p:cNvPicPr>
          <p:nvPr/>
        </p:nvPicPr>
        <p:blipFill>
          <a:blip r:embed="rId3">
            <a:extLst/>
          </a:blip>
          <a:stretch>
            <a:fillRect/>
          </a:stretch>
        </p:blipFill>
        <p:spPr>
          <a:xfrm>
            <a:off x="5257688" y="5372364"/>
            <a:ext cx="2489424" cy="761472"/>
          </a:xfrm>
          <a:prstGeom prst="rect">
            <a:avLst/>
          </a:prstGeom>
          <a:ln w="12700">
            <a:miter lim="400000"/>
          </a:ln>
        </p:spPr>
      </p:pic>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p:cNvSpPr>
          <p:nvPr>
            <p:ph type="title"/>
          </p:nvPr>
        </p:nvSpPr>
        <p:spPr>
          <a:xfrm>
            <a:off x="437232" y="101600"/>
            <a:ext cx="12130336" cy="2159000"/>
          </a:xfrm>
          <a:prstGeom prst="rect">
            <a:avLst/>
          </a:prstGeom>
        </p:spPr>
        <p:txBody>
          <a:bodyPr/>
          <a:lstStyle/>
          <a:p>
            <a:r>
              <a:t>Guess a number from 0 to 63</a:t>
            </a:r>
          </a:p>
        </p:txBody>
      </p:sp>
      <p:sp>
        <p:nvSpPr>
          <p:cNvPr id="255" name="Shape 255"/>
          <p:cNvSpPr>
            <a:spLocks noGrp="1"/>
          </p:cNvSpPr>
          <p:nvPr>
            <p:ph type="body" idx="1"/>
          </p:nvPr>
        </p:nvSpPr>
        <p:spPr>
          <a:xfrm>
            <a:off x="952500" y="2195115"/>
            <a:ext cx="11099801" cy="6531770"/>
          </a:xfrm>
          <a:prstGeom prst="rect">
            <a:avLst/>
          </a:prstGeom>
        </p:spPr>
        <p:txBody>
          <a:bodyPr anchor="t"/>
          <a:lstStyle/>
          <a:p>
            <a:pPr marL="493888" indent="-493888">
              <a:defRPr sz="4000"/>
            </a:pPr>
            <a:r>
              <a:t>Is the number 36? </a:t>
            </a:r>
            <a:r>
              <a:rPr b="0" i="1"/>
              <a:t>a</a:t>
            </a:r>
            <a:r>
              <a:rPr b="0" baseline="-5999"/>
              <a:t>1</a:t>
            </a:r>
            <a:r>
              <a:t>=</a:t>
            </a:r>
            <a:r>
              <a:rPr>
                <a:solidFill>
                  <a:schemeClr val="accent5"/>
                </a:solidFill>
              </a:rPr>
              <a:t>No</a:t>
            </a:r>
          </a:p>
          <a:p>
            <a:pPr marL="493888" indent="-493888">
              <a:defRPr sz="4000"/>
            </a:pPr>
            <a:endParaRPr>
              <a:solidFill>
                <a:schemeClr val="accent5"/>
              </a:solidFill>
            </a:endParaRPr>
          </a:p>
          <a:p>
            <a:pPr marL="493888" indent="-493888">
              <a:defRPr sz="4000"/>
            </a:pPr>
            <a:r>
              <a:t>Is the number 42? </a:t>
            </a:r>
            <a:r>
              <a:rPr b="0" i="1"/>
              <a:t>a</a:t>
            </a:r>
            <a:r>
              <a:rPr b="0" baseline="-5999"/>
              <a:t>2</a:t>
            </a:r>
            <a:r>
              <a:t>=</a:t>
            </a:r>
            <a:r>
              <a:rPr>
                <a:solidFill>
                  <a:schemeClr val="accent5"/>
                </a:solidFill>
              </a:rPr>
              <a:t>No</a:t>
            </a:r>
          </a:p>
          <a:p>
            <a:pPr marL="493888" indent="-493888">
              <a:defRPr sz="4000"/>
            </a:pPr>
            <a:endParaRPr>
              <a:solidFill>
                <a:schemeClr val="accent5"/>
              </a:solidFill>
            </a:endParaRPr>
          </a:p>
          <a:p>
            <a:pPr marL="493888" indent="-493888">
              <a:defRPr sz="4000"/>
            </a:pPr>
            <a:r>
              <a:t>Is the number 47? </a:t>
            </a:r>
            <a:r>
              <a:rPr b="0" i="1"/>
              <a:t>a</a:t>
            </a:r>
            <a:r>
              <a:rPr b="0" baseline="-5999"/>
              <a:t>3</a:t>
            </a:r>
            <a:r>
              <a:t>=</a:t>
            </a:r>
            <a:r>
              <a:rPr>
                <a:solidFill>
                  <a:schemeClr val="accent2"/>
                </a:solidFill>
              </a:rPr>
              <a:t>Yes</a:t>
            </a:r>
          </a:p>
        </p:txBody>
      </p:sp>
      <p:sp>
        <p:nvSpPr>
          <p:cNvPr id="256" name="Shape 256"/>
          <p:cNvSpPr/>
          <p:nvPr/>
        </p:nvSpPr>
        <p:spPr>
          <a:xfrm>
            <a:off x="-254087" y="9347200"/>
            <a:ext cx="1127777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2000" b="1">
                <a:latin typeface="+mj-lt"/>
                <a:ea typeface="+mj-ea"/>
                <a:cs typeface="+mj-cs"/>
                <a:sym typeface="Helvetica"/>
              </a:defRPr>
            </a:pPr>
            <a:r>
              <a:t>Adapted from </a:t>
            </a:r>
            <a:r>
              <a:rPr i="1"/>
              <a:t>Information Theory</a:t>
            </a:r>
            <a:r>
              <a:t> by Iain Murray, </a:t>
            </a:r>
            <a:r>
              <a:rPr u="sng">
                <a:hlinkClick r:id="rId2"/>
              </a:rPr>
              <a:t>http://www.inf.ed.ac.uk/teaching/courses/it/</a:t>
            </a:r>
          </a:p>
        </p:txBody>
      </p:sp>
      <p:pic>
        <p:nvPicPr>
          <p:cNvPr id="257" name="inf26.pdf"/>
          <p:cNvPicPr>
            <a:picLocks noChangeAspect="1"/>
          </p:cNvPicPr>
          <p:nvPr/>
        </p:nvPicPr>
        <p:blipFill>
          <a:blip r:embed="rId3">
            <a:extLst/>
          </a:blip>
          <a:stretch>
            <a:fillRect/>
          </a:stretch>
        </p:blipFill>
        <p:spPr>
          <a:xfrm>
            <a:off x="3573528" y="3232719"/>
            <a:ext cx="5857744" cy="680568"/>
          </a:xfrm>
          <a:prstGeom prst="rect">
            <a:avLst/>
          </a:prstGeom>
          <a:ln w="12700">
            <a:miter lim="400000"/>
          </a:ln>
        </p:spPr>
      </p:pic>
      <p:pic>
        <p:nvPicPr>
          <p:cNvPr id="258" name="inf27.pdf"/>
          <p:cNvPicPr>
            <a:picLocks noChangeAspect="1"/>
          </p:cNvPicPr>
          <p:nvPr/>
        </p:nvPicPr>
        <p:blipFill>
          <a:blip r:embed="rId4">
            <a:extLst/>
          </a:blip>
          <a:stretch>
            <a:fillRect/>
          </a:stretch>
        </p:blipFill>
        <p:spPr>
          <a:xfrm>
            <a:off x="3232772" y="5132865"/>
            <a:ext cx="6539256" cy="656270"/>
          </a:xfrm>
          <a:prstGeom prst="rect">
            <a:avLst/>
          </a:prstGeom>
          <a:ln w="12700">
            <a:miter lim="400000"/>
          </a:ln>
        </p:spPr>
      </p:pic>
      <p:pic>
        <p:nvPicPr>
          <p:cNvPr id="259" name="inf28.pdf"/>
          <p:cNvPicPr>
            <a:picLocks noChangeAspect="1"/>
          </p:cNvPicPr>
          <p:nvPr/>
        </p:nvPicPr>
        <p:blipFill>
          <a:blip r:embed="rId5">
            <a:extLst/>
          </a:blip>
          <a:stretch>
            <a:fillRect/>
          </a:stretch>
        </p:blipFill>
        <p:spPr>
          <a:xfrm>
            <a:off x="2734650" y="7092494"/>
            <a:ext cx="7535500" cy="665597"/>
          </a:xfrm>
          <a:prstGeom prst="rect">
            <a:avLst/>
          </a:prstGeom>
          <a:ln w="12700">
            <a:miter lim="400000"/>
          </a:ln>
        </p:spPr>
      </p:pic>
      <p:sp>
        <p:nvSpPr>
          <p:cNvPr id="260" name="Shape 260"/>
          <p:cNvSpPr/>
          <p:nvPr/>
        </p:nvSpPr>
        <p:spPr>
          <a:xfrm>
            <a:off x="1227199" y="8318500"/>
            <a:ext cx="10550402" cy="660401"/>
          </a:xfrm>
          <a:prstGeom prst="rect">
            <a:avLst/>
          </a:prstGeom>
          <a:solidFill>
            <a:srgbClr val="FFFDAA"/>
          </a:solidFill>
          <a:ln w="12700">
            <a:solidFill>
              <a:schemeClr val="accent3">
                <a:satOff val="18648"/>
                <a:lumOff val="5971"/>
              </a:schemeClr>
            </a:solidFill>
            <a:miter lim="400000"/>
          </a:ln>
          <a:effectLst>
            <a:outerShdw blurRad="63500" dist="50800" dir="2689991" rotWithShape="0">
              <a:srgbClr val="000000">
                <a:alpha val="20033"/>
              </a:srgbClr>
            </a:outerShdw>
          </a:effectLst>
          <a:extLst>
            <a:ext uri="{C572A759-6A51-4108-AA02-DFA0A04FC94B}">
              <ma14:wrappingTextBoxFlag xmlns:ma14="http://schemas.microsoft.com/office/mac/drawingml/2011/main" val="1"/>
            </a:ext>
          </a:extLst>
        </p:spPr>
        <p:txBody>
          <a:bodyPr wrap="none" lIns="50800" tIns="50800" rIns="50800" bIns="50800" anchor="ctr">
            <a:spAutoFit/>
          </a:bodyPr>
          <a:lstStyle>
            <a:lvl1pPr>
              <a:defRPr b="1">
                <a:latin typeface="+mj-lt"/>
                <a:ea typeface="+mj-ea"/>
                <a:cs typeface="+mj-cs"/>
                <a:sym typeface="Helvetica"/>
              </a:defRPr>
            </a:lvl1pPr>
          </a:lstStyle>
          <a:p>
            <a:r>
              <a:t>Total information: 0.0227+0.0231+5.9532 = 6 bits</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hape 262"/>
          <p:cNvSpPr>
            <a:spLocks noGrp="1"/>
          </p:cNvSpPr>
          <p:nvPr>
            <p:ph type="title"/>
          </p:nvPr>
        </p:nvSpPr>
        <p:spPr>
          <a:xfrm>
            <a:off x="437232" y="63500"/>
            <a:ext cx="12130336" cy="2159000"/>
          </a:xfrm>
          <a:prstGeom prst="rect">
            <a:avLst/>
          </a:prstGeom>
        </p:spPr>
        <p:txBody>
          <a:bodyPr/>
          <a:lstStyle/>
          <a:p>
            <a:r>
              <a:t>Shannon entropy</a:t>
            </a:r>
          </a:p>
        </p:txBody>
      </p:sp>
      <p:sp>
        <p:nvSpPr>
          <p:cNvPr id="263" name="Shape 263"/>
          <p:cNvSpPr>
            <a:spLocks noGrp="1"/>
          </p:cNvSpPr>
          <p:nvPr>
            <p:ph type="body" sz="half" idx="1"/>
          </p:nvPr>
        </p:nvSpPr>
        <p:spPr>
          <a:xfrm>
            <a:off x="952500" y="1803400"/>
            <a:ext cx="11099800" cy="3885159"/>
          </a:xfrm>
          <a:prstGeom prst="rect">
            <a:avLst/>
          </a:prstGeom>
        </p:spPr>
        <p:txBody>
          <a:bodyPr anchor="t"/>
          <a:lstStyle/>
          <a:p>
            <a:pPr marL="382763" indent="-382763">
              <a:spcBef>
                <a:spcPts val="1700"/>
              </a:spcBef>
              <a:defRPr sz="3100"/>
            </a:pPr>
            <a:r>
              <a:t>Source has syllables with probabilities </a:t>
            </a:r>
            <a:r>
              <a:rPr b="0" i="1"/>
              <a:t>p</a:t>
            </a:r>
            <a:r>
              <a:rPr b="0" baseline="-5999"/>
              <a:t>1</a:t>
            </a:r>
            <a:r>
              <a:rPr b="0"/>
              <a:t>, </a:t>
            </a:r>
            <a:r>
              <a:rPr b="0" i="1"/>
              <a:t>p</a:t>
            </a:r>
            <a:r>
              <a:rPr b="0" baseline="-5999"/>
              <a:t>2</a:t>
            </a:r>
            <a:r>
              <a:rPr b="0"/>
              <a:t>, …, </a:t>
            </a:r>
            <a:r>
              <a:rPr b="0" i="1"/>
              <a:t>p</a:t>
            </a:r>
            <a:r>
              <a:rPr b="0" i="1" baseline="-5999"/>
              <a:t>n</a:t>
            </a:r>
          </a:p>
          <a:p>
            <a:pPr marL="382763" indent="-382763">
              <a:spcBef>
                <a:spcPts val="1700"/>
              </a:spcBef>
              <a:defRPr sz="3100"/>
            </a:pPr>
            <a:r>
              <a:t>Shannon entropy: average information content of a source</a:t>
            </a:r>
          </a:p>
          <a:p>
            <a:pPr marL="382763" indent="-382763">
              <a:spcBef>
                <a:spcPts val="1700"/>
              </a:spcBef>
              <a:defRPr sz="3100"/>
            </a:pPr>
            <a:endParaRPr/>
          </a:p>
          <a:p>
            <a:pPr marL="382763" indent="-382763">
              <a:spcBef>
                <a:spcPts val="800"/>
              </a:spcBef>
              <a:defRPr sz="3100"/>
            </a:pPr>
            <a:endParaRPr/>
          </a:p>
          <a:p>
            <a:pPr marL="382763" indent="-382763">
              <a:spcBef>
                <a:spcPts val="1700"/>
              </a:spcBef>
              <a:defRPr sz="3100"/>
            </a:pPr>
            <a:r>
              <a:t>Example: unfair coin </a:t>
            </a:r>
            <a:r>
              <a:rPr b="0" i="1"/>
              <a:t>p</a:t>
            </a:r>
            <a:r>
              <a:rPr b="0" baseline="-5999"/>
              <a:t>1</a:t>
            </a:r>
            <a:r>
              <a:rPr b="0"/>
              <a:t> = </a:t>
            </a:r>
            <a:r>
              <a:rPr b="0" i="1"/>
              <a:t>p</a:t>
            </a:r>
            <a:r>
              <a:rPr b="0"/>
              <a:t>, </a:t>
            </a:r>
            <a:r>
              <a:rPr b="0" i="1"/>
              <a:t>p</a:t>
            </a:r>
            <a:r>
              <a:rPr b="0" baseline="-5999"/>
              <a:t>2</a:t>
            </a:r>
            <a:r>
              <a:rPr b="0"/>
              <a:t> = 1–</a:t>
            </a:r>
            <a:r>
              <a:rPr b="0" i="1"/>
              <a:t>p</a:t>
            </a:r>
          </a:p>
        </p:txBody>
      </p:sp>
      <p:pic>
        <p:nvPicPr>
          <p:cNvPr id="264" name="lec6_1.pdf"/>
          <p:cNvPicPr>
            <a:picLocks noChangeAspect="1"/>
          </p:cNvPicPr>
          <p:nvPr/>
        </p:nvPicPr>
        <p:blipFill>
          <a:blip r:embed="rId2">
            <a:extLst/>
          </a:blip>
          <a:stretch>
            <a:fillRect/>
          </a:stretch>
        </p:blipFill>
        <p:spPr>
          <a:xfrm>
            <a:off x="1049337" y="6221257"/>
            <a:ext cx="4937883" cy="3456518"/>
          </a:xfrm>
          <a:prstGeom prst="rect">
            <a:avLst/>
          </a:prstGeom>
          <a:ln w="12700">
            <a:miter lim="400000"/>
          </a:ln>
        </p:spPr>
      </p:pic>
      <p:pic>
        <p:nvPicPr>
          <p:cNvPr id="265" name="inf30.pdf"/>
          <p:cNvPicPr>
            <a:picLocks noChangeAspect="1"/>
          </p:cNvPicPr>
          <p:nvPr/>
        </p:nvPicPr>
        <p:blipFill>
          <a:blip r:embed="rId3">
            <a:extLst/>
          </a:blip>
          <a:stretch>
            <a:fillRect/>
          </a:stretch>
        </p:blipFill>
        <p:spPr>
          <a:xfrm>
            <a:off x="5174174" y="3355224"/>
            <a:ext cx="2656452" cy="895109"/>
          </a:xfrm>
          <a:prstGeom prst="rect">
            <a:avLst/>
          </a:prstGeom>
          <a:ln w="12700">
            <a:miter lim="400000"/>
          </a:ln>
        </p:spPr>
      </p:pic>
      <p:pic>
        <p:nvPicPr>
          <p:cNvPr id="266" name="inf31.pdf"/>
          <p:cNvPicPr>
            <a:picLocks noChangeAspect="1"/>
          </p:cNvPicPr>
          <p:nvPr/>
        </p:nvPicPr>
        <p:blipFill>
          <a:blip r:embed="rId4">
            <a:extLst/>
          </a:blip>
          <a:stretch>
            <a:fillRect/>
          </a:stretch>
        </p:blipFill>
        <p:spPr>
          <a:xfrm>
            <a:off x="3690056" y="5383057"/>
            <a:ext cx="5624688" cy="422665"/>
          </a:xfrm>
          <a:prstGeom prst="rect">
            <a:avLst/>
          </a:prstGeom>
          <a:ln w="12700">
            <a:miter lim="400000"/>
          </a:ln>
        </p:spPr>
      </p:pic>
      <p:sp>
        <p:nvSpPr>
          <p:cNvPr id="267" name="Shape 267"/>
          <p:cNvSpPr/>
          <p:nvPr/>
        </p:nvSpPr>
        <p:spPr>
          <a:xfrm>
            <a:off x="6052820" y="6559550"/>
            <a:ext cx="6391563" cy="2451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3100" b="1">
                <a:latin typeface="+mj-lt"/>
                <a:ea typeface="+mj-ea"/>
                <a:cs typeface="+mj-cs"/>
                <a:sym typeface="Helvetica"/>
              </a:defRPr>
            </a:pPr>
            <a:r>
              <a:t>Makes sense:</a:t>
            </a:r>
          </a:p>
          <a:p>
            <a:pPr marL="382763" indent="-382763" algn="l">
              <a:buSzPct val="75000"/>
              <a:buChar char="•"/>
              <a:defRPr sz="3100" b="1">
                <a:latin typeface="+mj-lt"/>
                <a:ea typeface="+mj-ea"/>
                <a:cs typeface="+mj-cs"/>
                <a:sym typeface="Helvetica"/>
              </a:defRPr>
            </a:pPr>
            <a:r>
              <a:rPr b="0" i="1"/>
              <a:t>H</a:t>
            </a:r>
            <a:r>
              <a:rPr b="0"/>
              <a:t>=0</a:t>
            </a:r>
            <a:r>
              <a:t> if </a:t>
            </a:r>
            <a:r>
              <a:rPr b="0" i="1"/>
              <a:t>p</a:t>
            </a:r>
            <a:r>
              <a:rPr b="0"/>
              <a:t>=0</a:t>
            </a:r>
            <a:r>
              <a:t> or </a:t>
            </a:r>
            <a:r>
              <a:rPr b="0" i="1"/>
              <a:t>p</a:t>
            </a:r>
            <a:r>
              <a:rPr b="0"/>
              <a:t>=1</a:t>
            </a:r>
            <a:r>
              <a:t> as we gain no information</a:t>
            </a:r>
          </a:p>
          <a:p>
            <a:pPr marL="382763" indent="-382763" algn="l">
              <a:buSzPct val="75000"/>
              <a:buChar char="•"/>
              <a:defRPr sz="3100" b="1">
                <a:latin typeface="+mj-lt"/>
                <a:ea typeface="+mj-ea"/>
                <a:cs typeface="+mj-cs"/>
                <a:sym typeface="Helvetica"/>
              </a:defRPr>
            </a:pPr>
            <a:r>
              <a:rPr b="0" i="1"/>
              <a:t>H</a:t>
            </a:r>
            <a:r>
              <a:t> is maximum if </a:t>
            </a:r>
            <a:r>
              <a:rPr b="0" i="1"/>
              <a:t>p</a:t>
            </a:r>
            <a:r>
              <a:rPr b="0"/>
              <a:t>=0.5</a:t>
            </a:r>
            <a:r>
              <a:t> as it’s the most uncertain case</a:t>
            </a: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hape 269"/>
          <p:cNvSpPr>
            <a:spLocks noGrp="1"/>
          </p:cNvSpPr>
          <p:nvPr>
            <p:ph type="title"/>
          </p:nvPr>
        </p:nvSpPr>
        <p:spPr>
          <a:prstGeom prst="rect">
            <a:avLst/>
          </a:prstGeom>
        </p:spPr>
        <p:txBody>
          <a:bodyPr/>
          <a:lstStyle/>
          <a:p>
            <a:r>
              <a:t>Shannon’s fundamental theorem</a:t>
            </a:r>
          </a:p>
        </p:txBody>
      </p:sp>
      <p:sp>
        <p:nvSpPr>
          <p:cNvPr id="270" name="Shape 270"/>
          <p:cNvSpPr>
            <a:spLocks noGrp="1"/>
          </p:cNvSpPr>
          <p:nvPr>
            <p:ph type="body" sz="half" idx="1"/>
          </p:nvPr>
        </p:nvSpPr>
        <p:spPr>
          <a:xfrm>
            <a:off x="952500" y="6037163"/>
            <a:ext cx="11099800" cy="2852837"/>
          </a:xfrm>
          <a:prstGeom prst="rect">
            <a:avLst/>
          </a:prstGeom>
        </p:spPr>
        <p:txBody>
          <a:bodyPr/>
          <a:lstStyle/>
          <a:p>
            <a:pPr marL="391159" indent="-391159" defTabSz="514095">
              <a:spcBef>
                <a:spcPts val="2200"/>
              </a:spcBef>
              <a:defRPr sz="3168"/>
            </a:pPr>
            <a:r>
              <a:t>Suppose the information source has entropy </a:t>
            </a:r>
            <a:r>
              <a:rPr b="0" i="1"/>
              <a:t>H</a:t>
            </a:r>
            <a:r>
              <a:t> and the channel has capacity </a:t>
            </a:r>
            <a:r>
              <a:rPr b="0" i="1"/>
              <a:t>C</a:t>
            </a:r>
          </a:p>
          <a:p>
            <a:pPr marL="391159" indent="-391159" defTabSz="514095">
              <a:spcBef>
                <a:spcPts val="2200"/>
              </a:spcBef>
              <a:defRPr sz="3168"/>
            </a:pPr>
            <a:r>
              <a:t>One can encode the output of the source to that it can be transmitted a rate of up to </a:t>
            </a:r>
            <a:r>
              <a:rPr b="0" i="1"/>
              <a:t>C</a:t>
            </a:r>
            <a:r>
              <a:rPr b="0"/>
              <a:t>/</a:t>
            </a:r>
            <a:r>
              <a:rPr b="0" i="1"/>
              <a:t>H</a:t>
            </a:r>
            <a:r>
              <a:t> symbols per second</a:t>
            </a:r>
          </a:p>
          <a:p>
            <a:pPr marL="391159" indent="-391159" defTabSz="514095">
              <a:spcBef>
                <a:spcPts val="2200"/>
              </a:spcBef>
              <a:defRPr sz="3168"/>
            </a:pPr>
            <a:r>
              <a:t>It is not possible to transmit faster than </a:t>
            </a:r>
            <a:r>
              <a:rPr b="0" i="1"/>
              <a:t>C</a:t>
            </a:r>
            <a:r>
              <a:rPr b="0"/>
              <a:t>/</a:t>
            </a:r>
            <a:r>
              <a:rPr b="0" i="1"/>
              <a:t>H</a:t>
            </a:r>
          </a:p>
        </p:txBody>
      </p:sp>
      <p:pic>
        <p:nvPicPr>
          <p:cNvPr id="271" name="image43.jpg" descr="fundthm.jpg"/>
          <p:cNvPicPr>
            <a:picLocks noChangeAspect="1"/>
          </p:cNvPicPr>
          <p:nvPr/>
        </p:nvPicPr>
        <p:blipFill>
          <a:blip r:embed="rId2">
            <a:extLst/>
          </a:blip>
          <a:stretch>
            <a:fillRect/>
          </a:stretch>
        </p:blipFill>
        <p:spPr>
          <a:xfrm>
            <a:off x="1124572" y="2290232"/>
            <a:ext cx="10755656" cy="2852838"/>
          </a:xfrm>
          <a:prstGeom prst="rect">
            <a:avLst/>
          </a:prstGeom>
          <a:ln w="12700">
            <a:miter lim="400000"/>
          </a:ln>
        </p:spPr>
      </p:pic>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hape 273"/>
          <p:cNvSpPr>
            <a:spLocks noGrp="1"/>
          </p:cNvSpPr>
          <p:nvPr>
            <p:ph type="title"/>
          </p:nvPr>
        </p:nvSpPr>
        <p:spPr>
          <a:prstGeom prst="rect">
            <a:avLst/>
          </a:prstGeom>
        </p:spPr>
        <p:txBody>
          <a:bodyPr/>
          <a:lstStyle/>
          <a:p>
            <a:r>
              <a:t>Dictionary example</a:t>
            </a:r>
          </a:p>
        </p:txBody>
      </p:sp>
      <p:sp>
        <p:nvSpPr>
          <p:cNvPr id="274" name="Shape 274"/>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75" name="Shape 275"/>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276" name="Shape 276"/>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Output</a:t>
            </a:r>
          </a:p>
        </p:txBody>
      </p:sp>
      <p:sp>
        <p:nvSpPr>
          <p:cNvPr id="277" name="Shape 277"/>
          <p:cNvSpPr/>
          <p:nvPr/>
        </p:nvSpPr>
        <p:spPr>
          <a:xfrm>
            <a:off x="1135826" y="2832099"/>
            <a:ext cx="4663698" cy="6197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List recap</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a:t>
            </a:r>
            <a:r>
              <a:rPr>
                <a:solidFill>
                  <a:srgbClr val="0433FF"/>
                </a:solidFill>
              </a:rPr>
              <a:t>1</a:t>
            </a:r>
            <a:r>
              <a:t>,</a:t>
            </a:r>
            <a:r>
              <a:rPr>
                <a:solidFill>
                  <a:srgbClr val="0433FF"/>
                </a:solidFill>
              </a:rPr>
              <a:t>2</a:t>
            </a:r>
            <a:r>
              <a:t>,</a:t>
            </a:r>
            <a:r>
              <a:rPr>
                <a:solidFill>
                  <a:srgbClr val="0433FF"/>
                </a:solidFill>
              </a:rPr>
              <a:t>6</a:t>
            </a:r>
            <a:r>
              <a:t>,</a:t>
            </a:r>
            <a:r>
              <a:rPr>
                <a:solidFill>
                  <a:srgbClr val="0433FF"/>
                </a:solidFill>
              </a:rPr>
              <a:t>4</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a[</a:t>
            </a:r>
            <a:r>
              <a:rPr>
                <a:solidFill>
                  <a:srgbClr val="0433FF"/>
                </a:solidFill>
              </a:rPr>
              <a:t>1</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Modify the list and print it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a:t>
            </a:r>
            <a:r>
              <a:rPr>
                <a:solidFill>
                  <a:srgbClr val="0433FF"/>
                </a:solidFill>
              </a:rPr>
              <a:t>3</a:t>
            </a:r>
            <a:r>
              <a:t>]=</a:t>
            </a:r>
            <a:r>
              <a:rPr>
                <a:solidFill>
                  <a:srgbClr val="0433FF"/>
                </a:solidFill>
              </a:rPr>
              <a:t>10</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Initialize a dictionary</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b={</a:t>
            </a:r>
            <a:r>
              <a:t>'alice'</a:t>
            </a:r>
            <a:r>
              <a:rPr>
                <a:solidFill>
                  <a:srgbClr val="000000"/>
                </a:solidFill>
              </a:rPr>
              <a:t>:</a:t>
            </a:r>
            <a:r>
              <a:rPr>
                <a:solidFill>
                  <a:srgbClr val="0433FF"/>
                </a:solidFill>
              </a:rPr>
              <a:t>67</a:t>
            </a:r>
            <a:r>
              <a:rPr>
                <a:solidFill>
                  <a:srgbClr val="000000"/>
                </a:solidFill>
              </a:rPr>
              <a:t>,</a:t>
            </a:r>
            <a:r>
              <a:t>'bob'</a:t>
            </a:r>
            <a:r>
              <a:rPr>
                <a:solidFill>
                  <a:srgbClr val="000000"/>
                </a:solidFill>
              </a:rPr>
              <a:t>:</a:t>
            </a:r>
            <a:r>
              <a:rPr>
                <a:solidFill>
                  <a:srgbClr val="0433FF"/>
                </a:solidFill>
              </a:rPr>
              <a:t>32</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AF5F00"/>
                </a:solidFill>
              </a:rPr>
              <a:t>print</a:t>
            </a:r>
            <a:r>
              <a:rPr>
                <a:solidFill>
                  <a:srgbClr val="000000"/>
                </a:solidFill>
              </a:rPr>
              <a:t> b[</a:t>
            </a:r>
            <a:r>
              <a:t>'alice'</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Add another dictionary element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b[</a:t>
            </a:r>
            <a:r>
              <a:t>'charlie'</a:t>
            </a:r>
            <a:r>
              <a:rPr>
                <a:solidFill>
                  <a:srgbClr val="000000"/>
                </a:solidFill>
              </a:rPr>
              <a:t>]=</a:t>
            </a:r>
            <a:r>
              <a:rPr>
                <a:solidFill>
                  <a:srgbClr val="0433FF"/>
                </a:solidFill>
              </a:rPr>
              <a:t>12</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r>
              <a:rPr>
                <a:solidFill>
                  <a:srgbClr val="000000"/>
                </a:solidFill>
              </a:rPr>
              <a:t> b</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Print the keys of the dictionary</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AF5F00"/>
                </a:solidFill>
              </a:rPr>
              <a:t>print</a:t>
            </a:r>
            <a:r>
              <a:t> b.keys()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t>print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Loop using keys and values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E539E5"/>
                </a:solidFill>
              </a:rPr>
              <a:t>for</a:t>
            </a:r>
            <a:r>
              <a:t> c,d </a:t>
            </a:r>
            <a:r>
              <a:rPr>
                <a:solidFill>
                  <a:schemeClr val="accent2"/>
                </a:solidFill>
              </a:rPr>
              <a:t>in</a:t>
            </a:r>
            <a:r>
              <a:t> b.iteritems():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AF5F00"/>
                </a:solidFill>
                <a:latin typeface="Menlo"/>
                <a:ea typeface="Menlo"/>
                <a:cs typeface="Menlo"/>
                <a:sym typeface="Menlo"/>
              </a:defRPr>
            </a:pPr>
            <a:r>
              <a:rPr>
                <a:solidFill>
                  <a:srgbClr val="000000"/>
                </a:solidFill>
              </a:rPr>
              <a:t>    </a:t>
            </a:r>
            <a:r>
              <a:t>print</a:t>
            </a:r>
            <a:r>
              <a:rPr>
                <a:solidFill>
                  <a:srgbClr val="000000"/>
                </a:solidFill>
              </a:rPr>
              <a:t> c,d</a:t>
            </a:r>
          </a:p>
        </p:txBody>
      </p:sp>
      <p:sp>
        <p:nvSpPr>
          <p:cNvPr id="278" name="Shape 278"/>
          <p:cNvSpPr/>
          <p:nvPr/>
        </p:nvSpPr>
        <p:spPr>
          <a:xfrm>
            <a:off x="7186736" y="2984500"/>
            <a:ext cx="5313612" cy="2641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[1, 2, 6, 10]</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12, 'bob': 32, 'alice': 67}</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'bob', 'alice']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charlie 12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bob 32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alice 67</a:t>
            </a:r>
          </a:p>
        </p:txBody>
      </p:sp>
      <p:sp>
        <p:nvSpPr>
          <p:cNvPr id="279" name="Shape 279"/>
          <p:cNvSpPr/>
          <p:nvPr/>
        </p:nvSpPr>
        <p:spPr>
          <a:xfrm>
            <a:off x="97383" y="9213849"/>
            <a:ext cx="2536479"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dict.py</a:t>
            </a:r>
          </a:p>
        </p:txBody>
      </p:sp>
      <p:sp>
        <p:nvSpPr>
          <p:cNvPr id="280" name="Shape 280"/>
          <p:cNvSpPr/>
          <p:nvPr/>
        </p:nvSpPr>
        <p:spPr>
          <a:xfrm>
            <a:off x="6839764" y="6865560"/>
            <a:ext cx="5866360" cy="2628901"/>
          </a:xfrm>
          <a:prstGeom prst="roundRect">
            <a:avLst>
              <a:gd name="adj" fmla="val 10996"/>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In a list, the entries are indexed by integers starting from zero. A dictionary is a more general data structure, where its entries can be indexed by any string. This a very similar to the organization of a physical dictionary.</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Shape 282"/>
          <p:cNvSpPr>
            <a:spLocks noGrp="1"/>
          </p:cNvSpPr>
          <p:nvPr>
            <p:ph type="title"/>
          </p:nvPr>
        </p:nvSpPr>
        <p:spPr>
          <a:prstGeom prst="rect">
            <a:avLst/>
          </a:prstGeom>
        </p:spPr>
        <p:txBody>
          <a:bodyPr/>
          <a:lstStyle/>
          <a:p>
            <a:r>
              <a:t>Counting frequencies</a:t>
            </a:r>
          </a:p>
        </p:txBody>
      </p:sp>
      <p:sp>
        <p:nvSpPr>
          <p:cNvPr id="283" name="Shape 283"/>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84" name="Shape 284"/>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285" name="Shape 285"/>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Output</a:t>
            </a:r>
          </a:p>
        </p:txBody>
      </p:sp>
      <p:sp>
        <p:nvSpPr>
          <p:cNvPr id="286" name="Shape 286"/>
          <p:cNvSpPr/>
          <p:nvPr/>
        </p:nvSpPr>
        <p:spPr>
          <a:xfrm>
            <a:off x="638833" y="3035299"/>
            <a:ext cx="5573577" cy="5435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String of text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0220B3"/>
                </a:solidFill>
                <a:latin typeface="Menlo"/>
                <a:ea typeface="Menlo"/>
                <a:cs typeface="Menlo"/>
                <a:sym typeface="Menlo"/>
              </a:defRPr>
            </a:pPr>
            <a:r>
              <a:rPr>
                <a:solidFill>
                  <a:srgbClr val="000000"/>
                </a:solidFill>
              </a:rPr>
              <a:t>a=</a:t>
            </a:r>
            <a:r>
              <a:t>'She sells sea shells on the sea shore'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Split elements into a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b=a.split(</a:t>
            </a:r>
            <a:r>
              <a:rPr>
                <a:solidFill>
                  <a:srgbClr val="0220B3"/>
                </a:solidFill>
              </a:rPr>
              <a:t>' '</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Count the words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E539E5"/>
                </a:solidFill>
                <a:latin typeface="Menlo"/>
                <a:ea typeface="Menlo"/>
                <a:cs typeface="Menlo"/>
                <a:sym typeface="Menlo"/>
              </a:defRPr>
            </a:pPr>
            <a:r>
              <a:t>for</a:t>
            </a:r>
            <a:r>
              <a:rPr>
                <a:solidFill>
                  <a:srgbClr val="000000"/>
                </a:solidFill>
              </a:rPr>
              <a:t> w </a:t>
            </a:r>
            <a:r>
              <a:rPr>
                <a:solidFill>
                  <a:schemeClr val="accent2"/>
                </a:solidFill>
              </a:rPr>
              <a:t>in </a:t>
            </a:r>
            <a:r>
              <a:rPr>
                <a:solidFill>
                  <a:srgbClr val="000000"/>
                </a:solidFill>
              </a:rPr>
              <a:t>b:</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a:t>
            </a:r>
            <a:r>
              <a:rPr>
                <a:solidFill>
                  <a:srgbClr val="E539E5"/>
                </a:solidFill>
              </a:rPr>
              <a:t>if</a:t>
            </a:r>
            <a:r>
              <a:t>(w </a:t>
            </a:r>
            <a:r>
              <a:rPr>
                <a:solidFill>
                  <a:schemeClr val="accent2"/>
                </a:solidFill>
              </a:rPr>
              <a:t>in </a:t>
            </a:r>
            <a:r>
              <a:t>c):</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 Add 1 to existing counter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c[w]+=</a:t>
            </a:r>
            <a:r>
              <a:rPr>
                <a:solidFill>
                  <a:srgbClr val="0433FF"/>
                </a:solidFill>
              </a:rP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a:t>
            </a:r>
            <a:r>
              <a:rPr>
                <a:solidFill>
                  <a:srgbClr val="E539E5"/>
                </a:solidFill>
              </a:rPr>
              <a:t>else</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r>
              <a:t>               </a:t>
            </a:r>
            <a:r>
              <a:rPr>
                <a:solidFill>
                  <a:srgbClr val="000000"/>
                </a:solidFill>
              </a:rP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 New counter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t>        c[w]=</a:t>
            </a:r>
            <a:r>
              <a:rPr>
                <a:solidFill>
                  <a:srgbClr val="0433FF"/>
                </a:solidFill>
              </a:rPr>
              <a:t>1</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chemeClr val="accent6">
                    <a:satOff val="24555"/>
                    <a:lumOff val="22232"/>
                  </a:schemeClr>
                </a:solidFill>
                <a:latin typeface="Menlo"/>
                <a:ea typeface="Menlo"/>
                <a:cs typeface="Menlo"/>
                <a:sym typeface="Menlo"/>
              </a:defRPr>
            </a:pPr>
            <a:r>
              <a:t># Print frequencies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latin typeface="Menlo"/>
                <a:ea typeface="Menlo"/>
                <a:cs typeface="Menlo"/>
                <a:sym typeface="Menlo"/>
              </a:defRPr>
            </a:pPr>
            <a:r>
              <a:rPr>
                <a:solidFill>
                  <a:srgbClr val="E539E5"/>
                </a:solidFill>
              </a:rPr>
              <a:t>for</a:t>
            </a:r>
            <a:r>
              <a:t> w,f </a:t>
            </a:r>
            <a:r>
              <a:rPr>
                <a:solidFill>
                  <a:schemeClr val="accent2"/>
                </a:solidFill>
              </a:rPr>
              <a:t>in</a:t>
            </a:r>
            <a:r>
              <a:t> c.iteritems():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700">
                <a:solidFill>
                  <a:srgbClr val="FFF678"/>
                </a:solidFill>
                <a:latin typeface="Menlo"/>
                <a:ea typeface="Menlo"/>
                <a:cs typeface="Menlo"/>
                <a:sym typeface="Menlo"/>
              </a:defRPr>
            </a:pPr>
            <a:r>
              <a:t>       </a:t>
            </a:r>
            <a:r>
              <a:rPr>
                <a:solidFill>
                  <a:srgbClr val="000000"/>
                </a:solidFill>
              </a:rPr>
              <a:t> </a:t>
            </a:r>
            <a:r>
              <a:rPr>
                <a:solidFill>
                  <a:srgbClr val="AF5F00"/>
                </a:solidFill>
              </a:rPr>
              <a:t>print</a:t>
            </a:r>
            <a:r>
              <a:rPr>
                <a:solidFill>
                  <a:srgbClr val="000000"/>
                </a:solidFill>
              </a:rPr>
              <a:t> w,f</a:t>
            </a:r>
          </a:p>
        </p:txBody>
      </p:sp>
      <p:sp>
        <p:nvSpPr>
          <p:cNvPr id="287" name="Shape 287"/>
          <p:cNvSpPr/>
          <p:nvPr/>
        </p:nvSpPr>
        <p:spPr>
          <a:xfrm>
            <a:off x="7554741" y="3047999"/>
            <a:ext cx="1903476" cy="2768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on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shells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shore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She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sea 2</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sells 1</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600">
                <a:latin typeface="Menlo"/>
                <a:ea typeface="Menlo"/>
                <a:cs typeface="Menlo"/>
                <a:sym typeface="Menlo"/>
              </a:defRPr>
            </a:pPr>
            <a:r>
              <a:t>the 1</a:t>
            </a:r>
          </a:p>
        </p:txBody>
      </p:sp>
      <p:sp>
        <p:nvSpPr>
          <p:cNvPr id="288" name="Shape 288"/>
          <p:cNvSpPr/>
          <p:nvPr/>
        </p:nvSpPr>
        <p:spPr>
          <a:xfrm>
            <a:off x="97383" y="9213849"/>
            <a:ext cx="3179863"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d_count.py</a:t>
            </a:r>
          </a:p>
        </p:txBody>
      </p:sp>
      <p:sp>
        <p:nvSpPr>
          <p:cNvPr id="289" name="Shape 289"/>
          <p:cNvSpPr/>
          <p:nvPr/>
        </p:nvSpPr>
        <p:spPr>
          <a:xfrm>
            <a:off x="6839764" y="5903118"/>
            <a:ext cx="5866360" cy="3591343"/>
          </a:xfrm>
          <a:prstGeom prst="roundRect">
            <a:avLst>
              <a:gd name="adj" fmla="val 8049"/>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Dictionaries are very useful for counting frequencies of words in text. Here, a string of text is broken into words, and then the frequencies of each word is counted in a dictionary. Note that “She”, “she”, or “she!” would all be stored as different keys—Python does not make any attempt to recognize these as the same word.</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Shape 291"/>
          <p:cNvSpPr>
            <a:spLocks noGrp="1"/>
          </p:cNvSpPr>
          <p:nvPr>
            <p:ph type="body" idx="13"/>
          </p:nvPr>
        </p:nvSpPr>
        <p:spPr>
          <a:prstGeom prst="rect">
            <a:avLst/>
          </a:prstGeom>
        </p:spPr>
        <p:txBody>
          <a:bodyPr/>
          <a:lstStyle/>
          <a:p>
            <a:r>
              <a:t>Regular expression example</a:t>
            </a:r>
          </a:p>
        </p:txBody>
      </p:sp>
      <p:sp>
        <p:nvSpPr>
          <p:cNvPr id="292" name="Shape 292"/>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293" name="Shape 293"/>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294" name="Shape 294"/>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Output</a:t>
            </a:r>
          </a:p>
        </p:txBody>
      </p:sp>
      <p:sp>
        <p:nvSpPr>
          <p:cNvPr id="295" name="Shape 295"/>
          <p:cNvSpPr/>
          <p:nvPr/>
        </p:nvSpPr>
        <p:spPr>
          <a:xfrm>
            <a:off x="7377723" y="3048000"/>
            <a:ext cx="1031826" cy="2235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cat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dog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bear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latin typeface="Menlo"/>
                <a:ea typeface="Menlo"/>
                <a:cs typeface="Menlo"/>
                <a:sym typeface="Menlo"/>
              </a:defRPr>
            </a:pPr>
            <a:r>
              <a:t>bird</a:t>
            </a:r>
          </a:p>
        </p:txBody>
      </p:sp>
      <p:sp>
        <p:nvSpPr>
          <p:cNvPr id="296" name="Shape 296"/>
          <p:cNvSpPr/>
          <p:nvPr/>
        </p:nvSpPr>
        <p:spPr>
          <a:xfrm>
            <a:off x="627696" y="3020465"/>
            <a:ext cx="5619454" cy="5969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Import regular expression functions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import</a:t>
            </a:r>
            <a:r>
              <a:rPr>
                <a:solidFill>
                  <a:srgbClr val="000000"/>
                </a:solidFill>
              </a:rPr>
              <a:t> 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test list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0220B3"/>
                </a:solidFill>
                <a:latin typeface="Menlo"/>
                <a:ea typeface="Menlo"/>
                <a:cs typeface="Menlo"/>
                <a:sym typeface="Menlo"/>
              </a:defRPr>
            </a:pPr>
            <a:r>
              <a:rPr>
                <a:solidFill>
                  <a:srgbClr val="000000"/>
                </a:solidFill>
              </a:rPr>
              <a:t>a=[</a:t>
            </a:r>
            <a:r>
              <a:t>"cat"</a:t>
            </a:r>
            <a:r>
              <a:rPr>
                <a:solidFill>
                  <a:srgbClr val="000000"/>
                </a:solidFill>
              </a:rPr>
              <a:t>,</a:t>
            </a:r>
            <a:r>
              <a:t>"dog"</a:t>
            </a:r>
            <a:r>
              <a:rPr>
                <a:solidFill>
                  <a:srgbClr val="000000"/>
                </a:solidFill>
              </a:rPr>
              <a:t>,</a:t>
            </a:r>
            <a:r>
              <a:t>"bear"</a:t>
            </a:r>
            <a:r>
              <a:rPr>
                <a:solidFill>
                  <a:srgbClr val="000000"/>
                </a:solidFill>
              </a:rPr>
              <a:t>,</a:t>
            </a:r>
            <a:r>
              <a:t>"bird"</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pattern to match "a" character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000000"/>
                </a:solidFill>
              </a:rPr>
              <a:t>p=re.</a:t>
            </a:r>
            <a:r>
              <a:t>compile</a:t>
            </a:r>
            <a:r>
              <a:rPr>
                <a:solidFill>
                  <a:srgbClr val="000000"/>
                </a:solidFill>
              </a:rPr>
              <a:t>(</a:t>
            </a:r>
            <a:r>
              <a:rPr>
                <a:solidFill>
                  <a:srgbClr val="0220B3"/>
                </a:solidFill>
              </a:rPr>
              <a:t>"a"</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Print elements in list that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for</a:t>
            </a:r>
            <a:r>
              <a:rPr>
                <a:solidFill>
                  <a:srgbClr val="000000"/>
                </a:solidFill>
              </a:rPr>
              <a:t> x </a:t>
            </a:r>
            <a:r>
              <a:rPr>
                <a:solidFill>
                  <a:srgbClr val="E6E600"/>
                </a:solidFill>
              </a:rPr>
              <a:t>in</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    </a:t>
            </a:r>
            <a:r>
              <a:rPr>
                <a:solidFill>
                  <a:srgbClr val="E539E5"/>
                </a:solidFill>
              </a:rPr>
              <a:t>if</a:t>
            </a:r>
            <a:r>
              <a:t>(p.search(x)):</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t>       </a:t>
            </a:r>
            <a:r>
              <a:rPr>
                <a:solidFill>
                  <a:srgbClr val="000000"/>
                </a:solidFill>
              </a:rPr>
              <a:t> </a:t>
            </a:r>
            <a:r>
              <a:rPr>
                <a:solidFill>
                  <a:srgbClr val="AF5F00"/>
                </a:solidFill>
              </a:rPr>
              <a:t>print</a:t>
            </a:r>
            <a:r>
              <a:rPr>
                <a:solidFill>
                  <a:srgbClr val="000000"/>
                </a:solidFill>
              </a:rPr>
              <a:t> x</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endParaRPr>
              <a:solidFill>
                <a:srgbClr val="000000"/>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Create pattern to match "b" or "d"</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AF5F00"/>
                </a:solidFill>
                <a:latin typeface="Menlo"/>
                <a:ea typeface="Menlo"/>
                <a:cs typeface="Menlo"/>
                <a:sym typeface="Menlo"/>
              </a:defRPr>
            </a:pPr>
            <a:r>
              <a:rPr>
                <a:solidFill>
                  <a:srgbClr val="000000"/>
                </a:solidFill>
              </a:rPr>
              <a:t>p2=re.</a:t>
            </a:r>
            <a:r>
              <a:t>compile</a:t>
            </a:r>
            <a:r>
              <a:rPr>
                <a:solidFill>
                  <a:srgbClr val="000000"/>
                </a:solidFill>
              </a:rPr>
              <a:t>(</a:t>
            </a:r>
            <a:r>
              <a:rPr>
                <a:solidFill>
                  <a:srgbClr val="0220B3"/>
                </a:solidFill>
              </a:rPr>
              <a:t>"[bd]"</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chemeClr val="accent6">
                    <a:satOff val="24555"/>
                    <a:lumOff val="22232"/>
                  </a:schemeClr>
                </a:solidFill>
                <a:latin typeface="Menlo"/>
                <a:ea typeface="Menlo"/>
                <a:cs typeface="Menlo"/>
                <a:sym typeface="Menlo"/>
              </a:defRPr>
            </a:pPr>
            <a:r>
              <a:t># Print elements in list that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FFF678"/>
                </a:solidFill>
                <a:latin typeface="Menlo"/>
                <a:ea typeface="Menlo"/>
                <a:cs typeface="Menlo"/>
                <a:sym typeface="Menlo"/>
              </a:defRPr>
            </a:pPr>
            <a:r>
              <a:rPr>
                <a:solidFill>
                  <a:srgbClr val="AF5F00"/>
                </a:solidFill>
              </a:rPr>
              <a:t>print</a:t>
            </a:r>
            <a:r>
              <a:t>     </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solidFill>
                  <a:srgbClr val="E539E5"/>
                </a:solidFill>
                <a:latin typeface="Menlo"/>
                <a:ea typeface="Menlo"/>
                <a:cs typeface="Menlo"/>
                <a:sym typeface="Menlo"/>
              </a:defRPr>
            </a:pPr>
            <a:r>
              <a:t>for</a:t>
            </a:r>
            <a:r>
              <a:rPr>
                <a:solidFill>
                  <a:srgbClr val="000000"/>
                </a:solidFill>
              </a:rPr>
              <a:t> x </a:t>
            </a:r>
            <a:r>
              <a:rPr>
                <a:solidFill>
                  <a:srgbClr val="E6E600"/>
                </a:solidFill>
              </a:rPr>
              <a:t>in</a:t>
            </a:r>
            <a:r>
              <a:rPr>
                <a:solidFill>
                  <a:srgbClr val="000000"/>
                </a:solidFill>
              </a:rPr>
              <a:t> a:</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rPr>
                <a:solidFill>
                  <a:srgbClr val="FFF678"/>
                </a:solidFill>
              </a:rPr>
              <a:t>   </a:t>
            </a:r>
            <a:r>
              <a:t> </a:t>
            </a:r>
            <a:r>
              <a:rPr>
                <a:solidFill>
                  <a:srgbClr val="E539E5"/>
                </a:solidFill>
              </a:rPr>
              <a:t>if</a:t>
            </a:r>
            <a:r>
              <a:t>(p2.search(x)):</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Menlo"/>
                <a:ea typeface="Menlo"/>
                <a:cs typeface="Menlo"/>
                <a:sym typeface="Menlo"/>
              </a:defRPr>
            </a:pPr>
            <a:r>
              <a:t>        </a:t>
            </a:r>
            <a:r>
              <a:rPr>
                <a:solidFill>
                  <a:srgbClr val="AF5F00"/>
                </a:solidFill>
              </a:rPr>
              <a:t>print</a:t>
            </a:r>
            <a:r>
              <a:t> x</a:t>
            </a:r>
          </a:p>
        </p:txBody>
      </p:sp>
      <p:sp>
        <p:nvSpPr>
          <p:cNvPr id="297" name="Shape 297"/>
          <p:cNvSpPr/>
          <p:nvPr/>
        </p:nvSpPr>
        <p:spPr>
          <a:xfrm>
            <a:off x="97383" y="9213849"/>
            <a:ext cx="3163640"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reg_exp.py</a:t>
            </a:r>
          </a:p>
        </p:txBody>
      </p:sp>
      <p:sp>
        <p:nvSpPr>
          <p:cNvPr id="298" name="Shape 298"/>
          <p:cNvSpPr/>
          <p:nvPr/>
        </p:nvSpPr>
        <p:spPr>
          <a:xfrm>
            <a:off x="6839764" y="5903118"/>
            <a:ext cx="5866360" cy="3591343"/>
          </a:xfrm>
          <a:prstGeom prst="roundRect">
            <a:avLst>
              <a:gd name="adj" fmla="val 8049"/>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Regular expressions are a general and very flexible way to process and transform strings of text. While the details may differ slightly, regular expressions are found in many programming languages and tools, and are not unique to Python. In the first example here, elements in a list with an “a” are found. In the second example, elements with either a “b” or “d” are found.</a:t>
            </a: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Shape 300"/>
          <p:cNvSpPr>
            <a:spLocks noGrp="1"/>
          </p:cNvSpPr>
          <p:nvPr>
            <p:ph type="body" idx="13"/>
          </p:nvPr>
        </p:nvSpPr>
        <p:spPr>
          <a:prstGeom prst="rect">
            <a:avLst/>
          </a:prstGeom>
        </p:spPr>
        <p:txBody>
          <a:bodyPr/>
          <a:lstStyle/>
          <a:p>
            <a:r>
              <a:t>Regular expression example</a:t>
            </a:r>
          </a:p>
        </p:txBody>
      </p:sp>
      <p:sp>
        <p:nvSpPr>
          <p:cNvPr id="301" name="Shape 301"/>
          <p:cNvSpPr/>
          <p:nvPr/>
        </p:nvSpPr>
        <p:spPr>
          <a:xfrm flipV="1">
            <a:off x="6566594" y="2345431"/>
            <a:ext cx="1" cy="6607869"/>
          </a:xfrm>
          <a:prstGeom prst="line">
            <a:avLst/>
          </a:prstGeom>
          <a:ln w="63500">
            <a:solidFill>
              <a:schemeClr val="accent1">
                <a:satOff val="-3355"/>
                <a:lumOff val="26614"/>
              </a:schemeClr>
            </a:solidFill>
            <a:miter lim="400000"/>
          </a:ln>
        </p:spPr>
        <p:txBody>
          <a:bodyPr lIns="50800" tIns="50800" rIns="50800" bIns="50800" anchor="ctr"/>
          <a:lstStyle/>
          <a:p>
            <a:pPr>
              <a:defRPr sz="2400"/>
            </a:pPr>
            <a:endParaRPr/>
          </a:p>
        </p:txBody>
      </p:sp>
      <p:sp>
        <p:nvSpPr>
          <p:cNvPr id="302" name="Shape 302"/>
          <p:cNvSpPr/>
          <p:nvPr/>
        </p:nvSpPr>
        <p:spPr>
          <a:xfrm>
            <a:off x="883462" y="2190750"/>
            <a:ext cx="3212903"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Input program</a:t>
            </a:r>
          </a:p>
        </p:txBody>
      </p:sp>
      <p:sp>
        <p:nvSpPr>
          <p:cNvPr id="303" name="Shape 303"/>
          <p:cNvSpPr/>
          <p:nvPr/>
        </p:nvSpPr>
        <p:spPr>
          <a:xfrm>
            <a:off x="7333665" y="2190750"/>
            <a:ext cx="1612256"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solidFill>
                  <a:srgbClr val="53585F"/>
                </a:solidFill>
                <a:latin typeface="+mj-lt"/>
                <a:ea typeface="+mj-ea"/>
                <a:cs typeface="+mj-cs"/>
                <a:sym typeface="Helvetica"/>
              </a:defRPr>
            </a:lvl1pPr>
          </a:lstStyle>
          <a:p>
            <a:r>
              <a:t>Output</a:t>
            </a:r>
          </a:p>
        </p:txBody>
      </p:sp>
      <p:sp>
        <p:nvSpPr>
          <p:cNvPr id="304" name="Shape 304"/>
          <p:cNvSpPr/>
          <p:nvPr/>
        </p:nvSpPr>
        <p:spPr>
          <a:xfrm>
            <a:off x="549228" y="3175000"/>
            <a:ext cx="5734144" cy="5359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Import regular expression functions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E539E5"/>
                </a:solidFill>
                <a:latin typeface="Menlo"/>
                <a:ea typeface="Menlo"/>
                <a:cs typeface="Menlo"/>
                <a:sym typeface="Menlo"/>
              </a:defRPr>
            </a:pPr>
            <a:r>
              <a:t>import</a:t>
            </a:r>
            <a:r>
              <a:rPr>
                <a:solidFill>
                  <a:srgbClr val="000000"/>
                </a:solidFill>
              </a:rPr>
              <a:t> re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Pattern to match color names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p=re.</a:t>
            </a:r>
            <a:r>
              <a:rPr>
                <a:solidFill>
                  <a:srgbClr val="AF5F00"/>
                </a:solidFill>
              </a:rPr>
              <a:t>compile</a:t>
            </a:r>
            <a:r>
              <a:rPr>
                <a:solidFill>
                  <a:srgbClr val="000000"/>
                </a:solidFill>
              </a:rPr>
              <a:t>(</a:t>
            </a:r>
            <a:r>
              <a:t>"(green|red|blue)"</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Test string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s=</a:t>
            </a:r>
            <a:r>
              <a:t>"The primary colors are red, green, and blue."</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Change all matches</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p.sub(</a:t>
            </a:r>
            <a:r>
              <a:rPr>
                <a:solidFill>
                  <a:srgbClr val="0220B3"/>
                </a:solidFill>
              </a:rPr>
              <a:t>"color"</a:t>
            </a:r>
            <a:r>
              <a:t>,s)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Only change the first match</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p.sub(</a:t>
            </a:r>
            <a:r>
              <a:rPr>
                <a:solidFill>
                  <a:srgbClr val="0220B3"/>
                </a:solidFill>
              </a:rPr>
              <a:t>"color"</a:t>
            </a:r>
            <a:r>
              <a:t>,s,count=</a:t>
            </a:r>
            <a:r>
              <a:rPr>
                <a:solidFill>
                  <a:srgbClr val="0433FF"/>
                </a:solidFill>
              </a:rPr>
              <a:t>1</a:t>
            </a:r>
            <a: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Second test string</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t=</a:t>
            </a:r>
            <a:r>
              <a:t>"You can't touch this!"</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Pattern to remove punctuation</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0220B3"/>
                </a:solidFill>
                <a:latin typeface="Menlo"/>
                <a:ea typeface="Menlo"/>
                <a:cs typeface="Menlo"/>
                <a:sym typeface="Menlo"/>
              </a:defRPr>
            </a:pPr>
            <a:r>
              <a:rPr>
                <a:solidFill>
                  <a:srgbClr val="000000"/>
                </a:solidFill>
              </a:rPr>
              <a:t>p2=re.</a:t>
            </a:r>
            <a:r>
              <a:rPr>
                <a:solidFill>
                  <a:srgbClr val="AF5F00"/>
                </a:solidFill>
              </a:rPr>
              <a:t>compile</a:t>
            </a:r>
            <a:r>
              <a:rPr>
                <a:solidFill>
                  <a:srgbClr val="000000"/>
                </a:solidFill>
              </a:rPr>
              <a:t>(</a:t>
            </a:r>
            <a:r>
              <a:t>"[!,'\.]"</a:t>
            </a:r>
            <a:r>
              <a:rPr>
                <a:solidFill>
                  <a:srgbClr val="000000"/>
                </a:solidFill>
              </a:rPr>
              <a:t>)</a:t>
            </a: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FFF678"/>
                </a:solidFill>
                <a:latin typeface="Menlo"/>
                <a:ea typeface="Menlo"/>
                <a:cs typeface="Menlo"/>
                <a:sym typeface="Menlo"/>
              </a:defRPr>
            </a:pPr>
            <a:endParaRPr>
              <a:solidFill>
                <a:srgbClr val="FFF678"/>
              </a:solidFill>
            </a:endParaRP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chemeClr val="accent6">
                    <a:satOff val="24555"/>
                    <a:lumOff val="22232"/>
                  </a:schemeClr>
                </a:solidFill>
                <a:latin typeface="Menlo"/>
                <a:ea typeface="Menlo"/>
                <a:cs typeface="Menlo"/>
                <a:sym typeface="Menlo"/>
              </a:defRPr>
            </a:pPr>
            <a:r>
              <a:t># Apply it</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rPr>
                <a:solidFill>
                  <a:srgbClr val="AF5F00"/>
                </a:solidFill>
              </a:rPr>
              <a:t>print</a:t>
            </a:r>
            <a:r>
              <a:t> p2.sub(</a:t>
            </a:r>
            <a:r>
              <a:rPr>
                <a:solidFill>
                  <a:srgbClr val="0220B3"/>
                </a:solidFill>
              </a:rPr>
              <a:t>""</a:t>
            </a:r>
            <a:r>
              <a:t>,t).lower()</a:t>
            </a:r>
          </a:p>
        </p:txBody>
      </p:sp>
      <p:sp>
        <p:nvSpPr>
          <p:cNvPr id="305" name="Shape 305"/>
          <p:cNvSpPr/>
          <p:nvPr/>
        </p:nvSpPr>
        <p:spPr>
          <a:xfrm>
            <a:off x="6943873" y="3124199"/>
            <a:ext cx="5619454" cy="787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The primary colors are color, color, and color.</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The primary colors are color, green, and blue.</a:t>
            </a:r>
          </a:p>
          <a:p>
            <a:pPr algn="l" defTabSz="4572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latin typeface="Menlo"/>
                <a:ea typeface="Menlo"/>
                <a:cs typeface="Menlo"/>
                <a:sym typeface="Menlo"/>
              </a:defRPr>
            </a:pPr>
            <a:r>
              <a:t>you cant touch this</a:t>
            </a:r>
          </a:p>
        </p:txBody>
      </p:sp>
      <p:sp>
        <p:nvSpPr>
          <p:cNvPr id="306" name="Shape 306"/>
          <p:cNvSpPr/>
          <p:nvPr/>
        </p:nvSpPr>
        <p:spPr>
          <a:xfrm>
            <a:off x="97383" y="9213849"/>
            <a:ext cx="3333156"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sz="2400" b="1">
                <a:latin typeface="+mj-lt"/>
                <a:ea typeface="+mj-ea"/>
                <a:cs typeface="+mj-cs"/>
                <a:sym typeface="Helvetica"/>
              </a:defRPr>
            </a:lvl1pPr>
          </a:lstStyle>
          <a:p>
            <a:r>
              <a:t>Example: reg_exp2.py</a:t>
            </a:r>
          </a:p>
        </p:txBody>
      </p:sp>
      <p:sp>
        <p:nvSpPr>
          <p:cNvPr id="307" name="Shape 307"/>
          <p:cNvSpPr/>
          <p:nvPr/>
        </p:nvSpPr>
        <p:spPr>
          <a:xfrm>
            <a:off x="6839764" y="5482728"/>
            <a:ext cx="5866360" cy="4011733"/>
          </a:xfrm>
          <a:prstGeom prst="roundRect">
            <a:avLst>
              <a:gd name="adj" fmla="val 7206"/>
            </a:avLst>
          </a:prstGeom>
          <a:solidFill>
            <a:srgbClr val="FFFBD1"/>
          </a:solidFill>
          <a:ln w="12700">
            <a:solidFill>
              <a:schemeClr val="accent3"/>
            </a:solidFill>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val="1"/>
            </a:ext>
          </a:extLst>
        </p:spPr>
        <p:txBody>
          <a:bodyPr lIns="101600" tIns="101600" rIns="101600" bIns="101600"/>
          <a:lstStyle/>
          <a:p>
            <a:pPr algn="l">
              <a:defRPr sz="2100" b="1">
                <a:latin typeface="+mj-lt"/>
                <a:ea typeface="+mj-ea"/>
                <a:cs typeface="+mj-cs"/>
                <a:sym typeface="Helvetica"/>
              </a:defRPr>
            </a:pPr>
            <a:r>
              <a:t>Notes:</a:t>
            </a:r>
          </a:p>
          <a:p>
            <a:pPr algn="l">
              <a:defRPr sz="2100" b="1">
                <a:latin typeface="+mj-lt"/>
                <a:ea typeface="+mj-ea"/>
                <a:cs typeface="+mj-cs"/>
                <a:sym typeface="Helvetica"/>
              </a:defRPr>
            </a:pPr>
            <a:r>
              <a:t>Regular expressions can be used to substitute some text in a string for something else. The can either apply to multiple times to the string (as in the first output line) or just to the first occurrence (as in the second output line). In the context of word analysis, regular expressions can be used to strip out punctuation. The string command “lower()” can also be used, to convert a string to lower case.</a:t>
            </a: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Shape 309"/>
          <p:cNvSpPr>
            <a:spLocks noGrp="1"/>
          </p:cNvSpPr>
          <p:nvPr>
            <p:ph type="title"/>
          </p:nvPr>
        </p:nvSpPr>
        <p:spPr>
          <a:prstGeom prst="rect">
            <a:avLst/>
          </a:prstGeom>
        </p:spPr>
        <p:txBody>
          <a:bodyPr/>
          <a:lstStyle/>
          <a:p>
            <a:r>
              <a:t>This week’s lab</a:t>
            </a:r>
          </a:p>
        </p:txBody>
      </p:sp>
      <p:sp>
        <p:nvSpPr>
          <p:cNvPr id="310" name="Shape 310"/>
          <p:cNvSpPr>
            <a:spLocks noGrp="1"/>
          </p:cNvSpPr>
          <p:nvPr>
            <p:ph type="body" idx="1"/>
          </p:nvPr>
        </p:nvSpPr>
        <p:spPr>
          <a:prstGeom prst="rect">
            <a:avLst/>
          </a:prstGeom>
        </p:spPr>
        <p:txBody>
          <a:bodyPr/>
          <a:lstStyle/>
          <a:p>
            <a:pPr marL="0" indent="0">
              <a:spcBef>
                <a:spcPts val="1700"/>
              </a:spcBef>
              <a:buNone/>
            </a:pPr>
            <a:r>
              <a:rPr dirty="0"/>
              <a:t>Measure information content in a text:</a:t>
            </a:r>
          </a:p>
          <a:p>
            <a:pPr marL="635000" indent="-635000">
              <a:spcBef>
                <a:spcPts val="1700"/>
              </a:spcBef>
              <a:buSzPct val="100000"/>
              <a:buAutoNum type="arabicPeriod"/>
            </a:pPr>
            <a:r>
              <a:rPr dirty="0"/>
              <a:t>Determine frequency distribution of a words in a text</a:t>
            </a:r>
          </a:p>
          <a:p>
            <a:pPr marL="635000" indent="-635000">
              <a:spcBef>
                <a:spcPts val="1700"/>
              </a:spcBef>
              <a:buSzPct val="100000"/>
              <a:buAutoNum type="arabicPeriod"/>
            </a:pPr>
            <a:r>
              <a:rPr dirty="0"/>
              <a:t>Check that the distribution obeys Zipf’s law (frequency of a word is inversely proportional to its rank in the frequency table) </a:t>
            </a:r>
          </a:p>
          <a:p>
            <a:pPr marL="635000" indent="-635000">
              <a:spcBef>
                <a:spcPts val="1700"/>
              </a:spcBef>
              <a:buSzPct val="100000"/>
              <a:buAutoNum type="arabicPeriod"/>
            </a:pPr>
            <a:r>
              <a:rPr dirty="0"/>
              <a:t>Compute the entropy of the frequency distribution</a:t>
            </a: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38252" y="552243"/>
            <a:ext cx="4217821" cy="705129"/>
          </a:xfrm>
          <a:prstGeom prst="rect">
            <a:avLst/>
          </a:prstGeom>
        </p:spPr>
        <p:txBody>
          <a:bodyPr wrap="none">
            <a:spAutoFit/>
          </a:bodyPr>
          <a:lstStyle/>
          <a:p>
            <a:r>
              <a:rPr lang="en-US" sz="3982" b="1" u="sng" dirty="0">
                <a:solidFill>
                  <a:srgbClr val="0000FF"/>
                </a:solidFill>
              </a:rPr>
              <a:t>Claude Shannon</a:t>
            </a:r>
          </a:p>
        </p:txBody>
      </p:sp>
      <p:pic>
        <p:nvPicPr>
          <p:cNvPr id="6" name="Picture 5" descr="Shannon.png"/>
          <p:cNvPicPr>
            <a:picLocks noChangeAspect="1"/>
          </p:cNvPicPr>
          <p:nvPr/>
        </p:nvPicPr>
        <p:blipFill rotWithShape="1">
          <a:blip r:embed="rId2">
            <a:extLst>
              <a:ext uri="{28A0092B-C50C-407E-A947-70E740481C1C}">
                <a14:useLocalDpi xmlns:a14="http://schemas.microsoft.com/office/drawing/2010/main" val="0"/>
              </a:ext>
            </a:extLst>
          </a:blip>
          <a:srcRect b="14435"/>
          <a:stretch/>
        </p:blipFill>
        <p:spPr>
          <a:xfrm>
            <a:off x="3781533" y="1600565"/>
            <a:ext cx="5236127" cy="4060725"/>
          </a:xfrm>
          <a:prstGeom prst="rect">
            <a:avLst/>
          </a:prstGeom>
        </p:spPr>
      </p:pic>
      <p:sp>
        <p:nvSpPr>
          <p:cNvPr id="11" name="TextBox 10"/>
          <p:cNvSpPr txBox="1"/>
          <p:nvPr/>
        </p:nvSpPr>
        <p:spPr>
          <a:xfrm>
            <a:off x="4411357" y="522157"/>
            <a:ext cx="3334566" cy="705129"/>
          </a:xfrm>
          <a:prstGeom prst="rect">
            <a:avLst/>
          </a:prstGeom>
          <a:noFill/>
        </p:spPr>
        <p:txBody>
          <a:bodyPr wrap="none" rtlCol="0">
            <a:spAutoFit/>
          </a:bodyPr>
          <a:lstStyle/>
          <a:p>
            <a:r>
              <a:rPr lang="en-US" sz="3982" dirty="0"/>
              <a:t>(1916 – 2001)</a:t>
            </a:r>
          </a:p>
        </p:txBody>
      </p:sp>
      <p:sp>
        <p:nvSpPr>
          <p:cNvPr id="13" name="Rectangle 12"/>
          <p:cNvSpPr/>
          <p:nvPr/>
        </p:nvSpPr>
        <p:spPr>
          <a:xfrm>
            <a:off x="479059" y="5855996"/>
            <a:ext cx="12572673" cy="2718436"/>
          </a:xfrm>
          <a:prstGeom prst="rect">
            <a:avLst/>
          </a:prstGeom>
        </p:spPr>
        <p:txBody>
          <a:bodyPr wrap="none">
            <a:spAutoFit/>
          </a:bodyPr>
          <a:lstStyle/>
          <a:p>
            <a:r>
              <a:rPr lang="en-US" sz="2844" dirty="0"/>
              <a:t>Shannon completed two undergraduate degrees at the University of</a:t>
            </a:r>
          </a:p>
          <a:p>
            <a:r>
              <a:rPr lang="en-US" sz="2844" dirty="0"/>
              <a:t>Michigan before entering graduate school at MIT.  The applications of</a:t>
            </a:r>
          </a:p>
          <a:p>
            <a:r>
              <a:rPr lang="en-US" sz="2844" dirty="0"/>
              <a:t>Boolean algebra and binary arithmetic described in his MIT masters thesis</a:t>
            </a:r>
          </a:p>
          <a:p>
            <a:r>
              <a:rPr lang="en-US" sz="2844" dirty="0"/>
              <a:t>revolutionized electrical engineering and formed the basis of digital circuit</a:t>
            </a:r>
          </a:p>
          <a:p>
            <a:r>
              <a:rPr lang="en-US" sz="2844" dirty="0"/>
              <a:t>Design.  Similar applications to genetics lead to his PhD thesis, “An Algebra</a:t>
            </a:r>
          </a:p>
          <a:p>
            <a:r>
              <a:rPr lang="en-US" sz="2844" dirty="0"/>
              <a:t>for Theoretical Genetics.”</a:t>
            </a:r>
          </a:p>
        </p:txBody>
      </p:sp>
      <p:sp>
        <p:nvSpPr>
          <p:cNvPr id="14" name="TextBox 13"/>
          <p:cNvSpPr txBox="1"/>
          <p:nvPr/>
        </p:nvSpPr>
        <p:spPr>
          <a:xfrm>
            <a:off x="-4965380" y="8814904"/>
            <a:ext cx="22493657" cy="880241"/>
          </a:xfrm>
          <a:prstGeom prst="rect">
            <a:avLst/>
          </a:prstGeom>
          <a:noFill/>
        </p:spPr>
        <p:txBody>
          <a:bodyPr wrap="none" rtlCol="0">
            <a:spAutoFit/>
          </a:bodyPr>
          <a:lstStyle/>
          <a:p>
            <a:r>
              <a:rPr lang="en-US" sz="5120" dirty="0"/>
              <a:t>Information theory, cryptography, chess, artificial intelligence, game theory  </a:t>
            </a:r>
          </a:p>
        </p:txBody>
      </p:sp>
    </p:spTree>
    <p:extLst>
      <p:ext uri="{BB962C8B-B14F-4D97-AF65-F5344CB8AC3E}">
        <p14:creationId xmlns:p14="http://schemas.microsoft.com/office/powerpoint/2010/main" val="1459624864"/>
      </p:ext>
    </p:extLst>
  </p:cSld>
  <p:clrMapOvr>
    <a:masterClrMapping/>
  </p:clrMapOvr>
  <p:transition spd="med"/>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yste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164" y="4863897"/>
            <a:ext cx="9889067" cy="4280747"/>
          </a:xfrm>
          <a:prstGeom prst="rect">
            <a:avLst/>
          </a:prstGeom>
        </p:spPr>
      </p:pic>
      <p:pic>
        <p:nvPicPr>
          <p:cNvPr id="9" name="Picture 8" descr="text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618" y="1966071"/>
            <a:ext cx="11796437" cy="1909177"/>
          </a:xfrm>
          <a:prstGeom prst="rect">
            <a:avLst/>
          </a:prstGeom>
        </p:spPr>
      </p:pic>
      <p:sp>
        <p:nvSpPr>
          <p:cNvPr id="10" name="TextBox 9"/>
          <p:cNvSpPr txBox="1"/>
          <p:nvPr/>
        </p:nvSpPr>
        <p:spPr>
          <a:xfrm>
            <a:off x="639330" y="520221"/>
            <a:ext cx="10947228" cy="705129"/>
          </a:xfrm>
          <a:prstGeom prst="rect">
            <a:avLst/>
          </a:prstGeom>
          <a:noFill/>
        </p:spPr>
        <p:txBody>
          <a:bodyPr wrap="none" rtlCol="0">
            <a:spAutoFit/>
          </a:bodyPr>
          <a:lstStyle/>
          <a:p>
            <a:r>
              <a:rPr lang="en-US" sz="3982" b="1" i="1" u="sng" dirty="0">
                <a:solidFill>
                  <a:srgbClr val="0000FF"/>
                </a:solidFill>
              </a:rPr>
              <a:t>The Mathematical Theory of Communication</a:t>
            </a:r>
          </a:p>
        </p:txBody>
      </p:sp>
    </p:spTree>
    <p:extLst>
      <p:ext uri="{BB962C8B-B14F-4D97-AF65-F5344CB8AC3E}">
        <p14:creationId xmlns:p14="http://schemas.microsoft.com/office/powerpoint/2010/main" val="1209389567"/>
      </p:ext>
    </p:extLst>
  </p:cSld>
  <p:clrMapOvr>
    <a:masterClrMapping/>
  </p:clrMapOvr>
  <p:transition spd="med"/>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yste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074" y="3449885"/>
            <a:ext cx="7911253" cy="3424597"/>
          </a:xfrm>
          <a:prstGeom prst="rect">
            <a:avLst/>
          </a:prstGeom>
        </p:spPr>
      </p:pic>
      <p:pic>
        <p:nvPicPr>
          <p:cNvPr id="9" name="Picture 8" descr="text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618" y="1011483"/>
            <a:ext cx="11796437" cy="1909177"/>
          </a:xfrm>
          <a:prstGeom prst="rect">
            <a:avLst/>
          </a:prstGeom>
        </p:spPr>
      </p:pic>
      <p:sp>
        <p:nvSpPr>
          <p:cNvPr id="3" name="TextBox 2"/>
          <p:cNvSpPr txBox="1"/>
          <p:nvPr/>
        </p:nvSpPr>
        <p:spPr>
          <a:xfrm>
            <a:off x="6614394" y="5955257"/>
            <a:ext cx="5735866" cy="1667957"/>
          </a:xfrm>
          <a:prstGeom prst="rect">
            <a:avLst/>
          </a:prstGeom>
          <a:noFill/>
        </p:spPr>
        <p:txBody>
          <a:bodyPr wrap="none" rtlCol="0">
            <a:spAutoFit/>
          </a:bodyPr>
          <a:lstStyle/>
          <a:p>
            <a:r>
              <a:rPr lang="en-US" sz="3413" dirty="0"/>
              <a:t>Message must be </a:t>
            </a:r>
            <a:r>
              <a:rPr lang="en-US" sz="3413" b="1" i="1" dirty="0">
                <a:solidFill>
                  <a:srgbClr val="FF0000"/>
                </a:solidFill>
              </a:rPr>
              <a:t>encoded</a:t>
            </a:r>
            <a:r>
              <a:rPr lang="en-US" sz="3413" dirty="0"/>
              <a:t>,</a:t>
            </a:r>
          </a:p>
          <a:p>
            <a:r>
              <a:rPr lang="en-US" sz="3413" dirty="0"/>
              <a:t>then </a:t>
            </a:r>
            <a:r>
              <a:rPr lang="en-US" sz="3413" b="1" i="1" dirty="0">
                <a:solidFill>
                  <a:srgbClr val="FF0000"/>
                </a:solidFill>
              </a:rPr>
              <a:t>transmitted</a:t>
            </a:r>
            <a:r>
              <a:rPr lang="en-US" sz="3413" dirty="0"/>
              <a:t>,</a:t>
            </a:r>
          </a:p>
          <a:p>
            <a:r>
              <a:rPr lang="en-US" sz="3413" dirty="0"/>
              <a:t>then </a:t>
            </a:r>
            <a:r>
              <a:rPr lang="en-US" sz="3413" b="1" i="1" dirty="0">
                <a:solidFill>
                  <a:srgbClr val="FF0000"/>
                </a:solidFill>
              </a:rPr>
              <a:t>decoded</a:t>
            </a:r>
            <a:r>
              <a:rPr lang="en-US" sz="3413" dirty="0"/>
              <a:t>.</a:t>
            </a:r>
          </a:p>
        </p:txBody>
      </p:sp>
      <p:sp>
        <p:nvSpPr>
          <p:cNvPr id="4" name="TextBox 3"/>
          <p:cNvSpPr txBox="1"/>
          <p:nvPr/>
        </p:nvSpPr>
        <p:spPr>
          <a:xfrm>
            <a:off x="657283" y="7804328"/>
            <a:ext cx="9100568" cy="617541"/>
          </a:xfrm>
          <a:prstGeom prst="rect">
            <a:avLst/>
          </a:prstGeom>
          <a:noFill/>
        </p:spPr>
        <p:txBody>
          <a:bodyPr wrap="none" rtlCol="0">
            <a:spAutoFit/>
          </a:bodyPr>
          <a:lstStyle/>
          <a:p>
            <a:r>
              <a:rPr lang="en-US" sz="3413" dirty="0"/>
              <a:t>What is the best way to encode and transmit?</a:t>
            </a:r>
          </a:p>
        </p:txBody>
      </p:sp>
      <p:sp>
        <p:nvSpPr>
          <p:cNvPr id="6" name="TextBox 5"/>
          <p:cNvSpPr txBox="1"/>
          <p:nvPr/>
        </p:nvSpPr>
        <p:spPr>
          <a:xfrm>
            <a:off x="581421" y="8556552"/>
            <a:ext cx="8198077" cy="617541"/>
          </a:xfrm>
          <a:prstGeom prst="rect">
            <a:avLst/>
          </a:prstGeom>
          <a:noFill/>
        </p:spPr>
        <p:txBody>
          <a:bodyPr wrap="none" rtlCol="0">
            <a:spAutoFit/>
          </a:bodyPr>
          <a:lstStyle/>
          <a:p>
            <a:r>
              <a:rPr lang="en-US" sz="3413" i="1" dirty="0"/>
              <a:t>(Aside: decoding is an inverse problem!)</a:t>
            </a:r>
          </a:p>
        </p:txBody>
      </p:sp>
    </p:spTree>
    <p:extLst>
      <p:ext uri="{BB962C8B-B14F-4D97-AF65-F5344CB8AC3E}">
        <p14:creationId xmlns:p14="http://schemas.microsoft.com/office/powerpoint/2010/main" val="277733714"/>
      </p:ext>
    </p:extLst>
  </p:cSld>
  <p:clrMapOvr>
    <a:masterClrMapping/>
  </p:clrMapOvr>
  <p:transition spd="med"/>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3062" y="2116734"/>
            <a:ext cx="9586279" cy="617541"/>
          </a:xfrm>
          <a:prstGeom prst="rect">
            <a:avLst/>
          </a:prstGeom>
          <a:noFill/>
        </p:spPr>
        <p:txBody>
          <a:bodyPr wrap="none" rtlCol="0">
            <a:spAutoFit/>
          </a:bodyPr>
          <a:lstStyle/>
          <a:p>
            <a:r>
              <a:rPr lang="en-US" sz="3413" dirty="0"/>
              <a:t>There are lots of different ways to communicate.</a:t>
            </a:r>
          </a:p>
        </p:txBody>
      </p:sp>
      <p:sp>
        <p:nvSpPr>
          <p:cNvPr id="3" name="Rectangle 2"/>
          <p:cNvSpPr/>
          <p:nvPr/>
        </p:nvSpPr>
        <p:spPr>
          <a:xfrm>
            <a:off x="958433" y="924310"/>
            <a:ext cx="3280065" cy="705129"/>
          </a:xfrm>
          <a:prstGeom prst="rect">
            <a:avLst/>
          </a:prstGeom>
        </p:spPr>
        <p:txBody>
          <a:bodyPr wrap="none">
            <a:spAutoFit/>
          </a:bodyPr>
          <a:lstStyle/>
          <a:p>
            <a:r>
              <a:rPr lang="en-US" sz="3982" b="1" u="sng" dirty="0">
                <a:solidFill>
                  <a:srgbClr val="0000FF"/>
                </a:solidFill>
              </a:rPr>
              <a:t>The Problem</a:t>
            </a:r>
          </a:p>
        </p:txBody>
      </p:sp>
      <p:sp>
        <p:nvSpPr>
          <p:cNvPr id="4" name="TextBox 3"/>
          <p:cNvSpPr txBox="1"/>
          <p:nvPr/>
        </p:nvSpPr>
        <p:spPr>
          <a:xfrm>
            <a:off x="685420" y="3038578"/>
            <a:ext cx="11679800" cy="617541"/>
          </a:xfrm>
          <a:prstGeom prst="rect">
            <a:avLst/>
          </a:prstGeom>
          <a:noFill/>
        </p:spPr>
        <p:txBody>
          <a:bodyPr wrap="none" rtlCol="0">
            <a:spAutoFit/>
          </a:bodyPr>
          <a:lstStyle/>
          <a:p>
            <a:r>
              <a:rPr lang="en-US" sz="3413" dirty="0"/>
              <a:t>Messages (information sources) take many different forms.</a:t>
            </a:r>
          </a:p>
        </p:txBody>
      </p:sp>
      <p:sp>
        <p:nvSpPr>
          <p:cNvPr id="5" name="TextBox 4"/>
          <p:cNvSpPr txBox="1"/>
          <p:nvPr/>
        </p:nvSpPr>
        <p:spPr>
          <a:xfrm>
            <a:off x="752480" y="4313256"/>
            <a:ext cx="9988632" cy="1667957"/>
          </a:xfrm>
          <a:prstGeom prst="rect">
            <a:avLst/>
          </a:prstGeom>
          <a:noFill/>
        </p:spPr>
        <p:txBody>
          <a:bodyPr wrap="none" rtlCol="0">
            <a:spAutoFit/>
          </a:bodyPr>
          <a:lstStyle/>
          <a:p>
            <a:r>
              <a:rPr lang="en-US" sz="3413" b="1" dirty="0">
                <a:solidFill>
                  <a:srgbClr val="008000"/>
                </a:solidFill>
              </a:rPr>
              <a:t>Audio</a:t>
            </a:r>
          </a:p>
          <a:p>
            <a:pPr lvl="1"/>
            <a:r>
              <a:rPr lang="en-US" sz="3413" dirty="0"/>
              <a:t>Languages: English, French, Chinese, Arabic, …</a:t>
            </a:r>
          </a:p>
          <a:p>
            <a:pPr marL="650230" indent="-650230">
              <a:buAutoNum type="arabicPeriod"/>
            </a:pPr>
            <a:endParaRPr lang="en-US" sz="3413" dirty="0"/>
          </a:p>
        </p:txBody>
      </p:sp>
      <p:sp>
        <p:nvSpPr>
          <p:cNvPr id="6" name="TextBox 5"/>
          <p:cNvSpPr txBox="1"/>
          <p:nvPr/>
        </p:nvSpPr>
        <p:spPr>
          <a:xfrm>
            <a:off x="1082911" y="6079213"/>
            <a:ext cx="6019597" cy="1667957"/>
          </a:xfrm>
          <a:prstGeom prst="rect">
            <a:avLst/>
          </a:prstGeom>
          <a:noFill/>
        </p:spPr>
        <p:txBody>
          <a:bodyPr wrap="none" rtlCol="0">
            <a:spAutoFit/>
          </a:bodyPr>
          <a:lstStyle/>
          <a:p>
            <a:r>
              <a:rPr lang="en-US" sz="3413" b="1" dirty="0">
                <a:solidFill>
                  <a:srgbClr val="FF6600"/>
                </a:solidFill>
              </a:rPr>
              <a:t>Visual</a:t>
            </a:r>
          </a:p>
          <a:p>
            <a:pPr lvl="1"/>
            <a:r>
              <a:rPr lang="en-US" sz="3413" dirty="0"/>
              <a:t>Sign language, television, …</a:t>
            </a:r>
          </a:p>
          <a:p>
            <a:pPr marL="650230" indent="-650230">
              <a:buAutoNum type="arabicPeriod"/>
            </a:pPr>
            <a:endParaRPr lang="en-US" sz="3413" dirty="0"/>
          </a:p>
        </p:txBody>
      </p:sp>
      <p:sp>
        <p:nvSpPr>
          <p:cNvPr id="7" name="TextBox 6"/>
          <p:cNvSpPr txBox="1"/>
          <p:nvPr/>
        </p:nvSpPr>
        <p:spPr>
          <a:xfrm>
            <a:off x="1049595" y="7697579"/>
            <a:ext cx="3007554" cy="617541"/>
          </a:xfrm>
          <a:prstGeom prst="rect">
            <a:avLst/>
          </a:prstGeom>
          <a:noFill/>
        </p:spPr>
        <p:txBody>
          <a:bodyPr wrap="none" rtlCol="0">
            <a:spAutoFit/>
          </a:bodyPr>
          <a:lstStyle/>
          <a:p>
            <a:r>
              <a:rPr lang="en-US" sz="3413" b="1" dirty="0">
                <a:solidFill>
                  <a:srgbClr val="FF0000"/>
                </a:solidFill>
              </a:rPr>
              <a:t>Other codes?</a:t>
            </a:r>
          </a:p>
        </p:txBody>
      </p:sp>
    </p:spTree>
    <p:extLst>
      <p:ext uri="{BB962C8B-B14F-4D97-AF65-F5344CB8AC3E}">
        <p14:creationId xmlns:p14="http://schemas.microsoft.com/office/powerpoint/2010/main" val="1388566267"/>
      </p:ext>
    </p:extLst>
  </p:cSld>
  <p:clrMapOvr>
    <a:masterClrMapping/>
  </p:clrMapOvr>
  <p:transition spd="med"/>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242" y="722231"/>
            <a:ext cx="13092046" cy="1930657"/>
          </a:xfrm>
          <a:prstGeom prst="rect">
            <a:avLst/>
          </a:prstGeom>
          <a:noFill/>
        </p:spPr>
        <p:txBody>
          <a:bodyPr wrap="none" rtlCol="0">
            <a:spAutoFit/>
          </a:bodyPr>
          <a:lstStyle/>
          <a:p>
            <a:r>
              <a:rPr lang="en-US" sz="3413" dirty="0"/>
              <a:t>How we choose to communicate depends critically on the </a:t>
            </a:r>
          </a:p>
          <a:p>
            <a:r>
              <a:rPr lang="en-US" sz="3413" b="1" i="1" dirty="0">
                <a:solidFill>
                  <a:srgbClr val="FF0000"/>
                </a:solidFill>
              </a:rPr>
              <a:t>medium (channel) </a:t>
            </a:r>
            <a:r>
              <a:rPr lang="en-US" sz="3413" dirty="0"/>
              <a:t>through which the the message is transmitted.</a:t>
            </a:r>
          </a:p>
          <a:p>
            <a:endParaRPr lang="en-US" sz="5120" dirty="0"/>
          </a:p>
        </p:txBody>
      </p:sp>
      <p:sp>
        <p:nvSpPr>
          <p:cNvPr id="3" name="TextBox 2"/>
          <p:cNvSpPr txBox="1"/>
          <p:nvPr/>
        </p:nvSpPr>
        <p:spPr>
          <a:xfrm>
            <a:off x="1204733" y="2359492"/>
            <a:ext cx="5421676" cy="4819204"/>
          </a:xfrm>
          <a:prstGeom prst="rect">
            <a:avLst/>
          </a:prstGeom>
          <a:noFill/>
        </p:spPr>
        <p:txBody>
          <a:bodyPr wrap="none" rtlCol="0">
            <a:spAutoFit/>
          </a:bodyPr>
          <a:lstStyle/>
          <a:p>
            <a:r>
              <a:rPr lang="en-US" sz="3413" dirty="0"/>
              <a:t>Speech (phone)</a:t>
            </a:r>
          </a:p>
          <a:p>
            <a:endParaRPr lang="en-US" sz="3413" dirty="0"/>
          </a:p>
          <a:p>
            <a:r>
              <a:rPr lang="en-US" sz="3413" dirty="0"/>
              <a:t>Speech with video (Skype)</a:t>
            </a:r>
          </a:p>
          <a:p>
            <a:endParaRPr lang="en-US" sz="3413" dirty="0"/>
          </a:p>
          <a:p>
            <a:r>
              <a:rPr lang="en-US" sz="3413" dirty="0"/>
              <a:t>Underwater (no speech)</a:t>
            </a:r>
          </a:p>
          <a:p>
            <a:endParaRPr lang="en-US" sz="3413" dirty="0"/>
          </a:p>
          <a:p>
            <a:r>
              <a:rPr lang="en-US" sz="3413" dirty="0"/>
              <a:t>e-mail</a:t>
            </a:r>
          </a:p>
          <a:p>
            <a:endParaRPr lang="en-US" sz="3413" dirty="0"/>
          </a:p>
          <a:p>
            <a:r>
              <a:rPr lang="en-US" sz="3413" dirty="0"/>
              <a:t>Others?</a:t>
            </a:r>
          </a:p>
        </p:txBody>
      </p:sp>
      <p:sp>
        <p:nvSpPr>
          <p:cNvPr id="4" name="TextBox 3"/>
          <p:cNvSpPr txBox="1"/>
          <p:nvPr/>
        </p:nvSpPr>
        <p:spPr>
          <a:xfrm>
            <a:off x="579805" y="7617629"/>
            <a:ext cx="11810135" cy="1930657"/>
          </a:xfrm>
          <a:prstGeom prst="rect">
            <a:avLst/>
          </a:prstGeom>
          <a:noFill/>
        </p:spPr>
        <p:txBody>
          <a:bodyPr wrap="square" rtlCol="0">
            <a:spAutoFit/>
          </a:bodyPr>
          <a:lstStyle/>
          <a:p>
            <a:r>
              <a:rPr lang="en-US" sz="3413" dirty="0"/>
              <a:t>The </a:t>
            </a:r>
            <a:r>
              <a:rPr lang="en-US" sz="3413" b="1" i="1" dirty="0">
                <a:solidFill>
                  <a:srgbClr val="FF0000"/>
                </a:solidFill>
              </a:rPr>
              <a:t>best</a:t>
            </a:r>
            <a:r>
              <a:rPr lang="en-US" sz="3413" dirty="0"/>
              <a:t> way to communicate depends very greatly on the</a:t>
            </a:r>
          </a:p>
          <a:p>
            <a:r>
              <a:rPr lang="en-US" sz="3413" dirty="0"/>
              <a:t>transmitting medium.</a:t>
            </a:r>
          </a:p>
          <a:p>
            <a:endParaRPr lang="en-US" sz="5120" dirty="0"/>
          </a:p>
        </p:txBody>
      </p:sp>
    </p:spTree>
    <p:extLst>
      <p:ext uri="{BB962C8B-B14F-4D97-AF65-F5344CB8AC3E}">
        <p14:creationId xmlns:p14="http://schemas.microsoft.com/office/powerpoint/2010/main" val="928457520"/>
      </p:ext>
    </p:extLst>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19" y="663723"/>
            <a:ext cx="2257348" cy="705129"/>
          </a:xfrm>
          <a:prstGeom prst="rect">
            <a:avLst/>
          </a:prstGeom>
          <a:noFill/>
        </p:spPr>
        <p:txBody>
          <a:bodyPr wrap="none" rtlCol="0">
            <a:spAutoFit/>
          </a:bodyPr>
          <a:lstStyle/>
          <a:p>
            <a:r>
              <a:rPr lang="en-US" sz="3982" b="1" u="sng" dirty="0">
                <a:solidFill>
                  <a:srgbClr val="0000FF"/>
                </a:solidFill>
              </a:rPr>
              <a:t>Teletype</a:t>
            </a:r>
          </a:p>
        </p:txBody>
      </p:sp>
      <p:pic>
        <p:nvPicPr>
          <p:cNvPr id="6" name="Picture 5" descr="ttype1.jpg"/>
          <p:cNvPicPr>
            <a:picLocks noChangeAspect="1"/>
          </p:cNvPicPr>
          <p:nvPr/>
        </p:nvPicPr>
        <p:blipFill rotWithShape="1">
          <a:blip r:embed="rId2">
            <a:extLst>
              <a:ext uri="{28A0092B-C50C-407E-A947-70E740481C1C}">
                <a14:useLocalDpi xmlns:a14="http://schemas.microsoft.com/office/drawing/2010/main" val="0"/>
              </a:ext>
            </a:extLst>
          </a:blip>
          <a:srcRect t="-1" b="30797"/>
          <a:stretch/>
        </p:blipFill>
        <p:spPr>
          <a:xfrm>
            <a:off x="874728" y="1610118"/>
            <a:ext cx="4082062" cy="6437376"/>
          </a:xfrm>
          <a:prstGeom prst="rect">
            <a:avLst/>
          </a:prstGeom>
        </p:spPr>
      </p:pic>
      <p:sp>
        <p:nvSpPr>
          <p:cNvPr id="10" name="Rectangle 9"/>
          <p:cNvSpPr/>
          <p:nvPr/>
        </p:nvSpPr>
        <p:spPr>
          <a:xfrm>
            <a:off x="1130649" y="8495836"/>
            <a:ext cx="11874152" cy="617541"/>
          </a:xfrm>
          <a:prstGeom prst="rect">
            <a:avLst/>
          </a:prstGeom>
        </p:spPr>
        <p:txBody>
          <a:bodyPr wrap="square">
            <a:spAutoFit/>
          </a:bodyPr>
          <a:lstStyle/>
          <a:p>
            <a:r>
              <a:rPr lang="pl-PL" sz="3413" dirty="0"/>
              <a:t>http://</a:t>
            </a:r>
            <a:r>
              <a:rPr lang="pl-PL" sz="3413" dirty="0" err="1"/>
              <a:t>www.youtube.com</a:t>
            </a:r>
            <a:r>
              <a:rPr lang="pl-PL" sz="3413" dirty="0"/>
              <a:t>/</a:t>
            </a:r>
            <a:r>
              <a:rPr lang="pl-PL" sz="3413" dirty="0" err="1"/>
              <a:t>watchv</a:t>
            </a:r>
            <a:r>
              <a:rPr lang="pl-PL" sz="3413" dirty="0"/>
              <a:t>=DFMQ1qT_RFM</a:t>
            </a:r>
            <a:endParaRPr lang="en-US" sz="3413" dirty="0"/>
          </a:p>
        </p:txBody>
      </p:sp>
      <p:sp>
        <p:nvSpPr>
          <p:cNvPr id="2" name="TextBox 1"/>
          <p:cNvSpPr txBox="1"/>
          <p:nvPr/>
        </p:nvSpPr>
        <p:spPr>
          <a:xfrm>
            <a:off x="5875058" y="2062642"/>
            <a:ext cx="6688048" cy="2193164"/>
          </a:xfrm>
          <a:prstGeom prst="rect">
            <a:avLst/>
          </a:prstGeom>
          <a:noFill/>
        </p:spPr>
        <p:txBody>
          <a:bodyPr wrap="none" rtlCol="0">
            <a:spAutoFit/>
          </a:bodyPr>
          <a:lstStyle/>
          <a:p>
            <a:r>
              <a:rPr lang="en-US" sz="3413" dirty="0"/>
              <a:t>Letters have the same duration</a:t>
            </a:r>
          </a:p>
          <a:p>
            <a:endParaRPr lang="en-US" sz="3413" dirty="0"/>
          </a:p>
          <a:p>
            <a:r>
              <a:rPr lang="en-US" sz="3413" dirty="0"/>
              <a:t>Letters mapped to 5 binary digits</a:t>
            </a:r>
          </a:p>
          <a:p>
            <a:r>
              <a:rPr lang="en-US" sz="3413" dirty="0"/>
              <a:t>    				  [</a:t>
            </a:r>
            <a:r>
              <a:rPr lang="en-US" sz="3413" dirty="0" err="1"/>
              <a:t>abcde</a:t>
            </a:r>
            <a:r>
              <a:rPr lang="en-US" sz="3413" dirty="0"/>
              <a:t>] = [10000] </a:t>
            </a:r>
          </a:p>
        </p:txBody>
      </p:sp>
    </p:spTree>
    <p:extLst>
      <p:ext uri="{BB962C8B-B14F-4D97-AF65-F5344CB8AC3E}">
        <p14:creationId xmlns:p14="http://schemas.microsoft.com/office/powerpoint/2010/main" val="969359538"/>
      </p:ext>
    </p:extLst>
  </p:cSld>
  <p:clrMapOvr>
    <a:masterClrMapping/>
  </p:clrMapOvr>
  <p:transition spd="med"/>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96244" y="1246384"/>
            <a:ext cx="3818673" cy="705129"/>
          </a:xfrm>
          <a:prstGeom prst="rect">
            <a:avLst/>
          </a:prstGeom>
          <a:noFill/>
        </p:spPr>
        <p:txBody>
          <a:bodyPr wrap="none" rtlCol="0">
            <a:spAutoFit/>
          </a:bodyPr>
          <a:lstStyle/>
          <a:p>
            <a:r>
              <a:rPr lang="en-US" sz="3982" b="1" u="sng" dirty="0">
                <a:solidFill>
                  <a:srgbClr val="0000FF"/>
                </a:solidFill>
              </a:rPr>
              <a:t>Weather codes</a:t>
            </a:r>
          </a:p>
        </p:txBody>
      </p:sp>
      <p:pic>
        <p:nvPicPr>
          <p:cNvPr id="3" name="Picture 2" descr="weather.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09" y="2720836"/>
            <a:ext cx="12098076" cy="4390926"/>
          </a:xfrm>
          <a:prstGeom prst="rect">
            <a:avLst/>
          </a:prstGeom>
        </p:spPr>
      </p:pic>
    </p:spTree>
    <p:extLst>
      <p:ext uri="{BB962C8B-B14F-4D97-AF65-F5344CB8AC3E}">
        <p14:creationId xmlns:p14="http://schemas.microsoft.com/office/powerpoint/2010/main" val="1214809024"/>
      </p:ext>
    </p:extLst>
  </p:cSld>
  <p:clrMapOvr>
    <a:masterClrMapping/>
  </p:clrMapOvr>
  <p:transition spd="med"/>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orseco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3186" y="830978"/>
            <a:ext cx="5761849" cy="7430798"/>
          </a:xfrm>
          <a:prstGeom prst="rect">
            <a:avLst/>
          </a:prstGeom>
        </p:spPr>
      </p:pic>
      <p:sp>
        <p:nvSpPr>
          <p:cNvPr id="4" name="TextBox 3"/>
          <p:cNvSpPr txBox="1"/>
          <p:nvPr/>
        </p:nvSpPr>
        <p:spPr>
          <a:xfrm>
            <a:off x="1030815" y="633935"/>
            <a:ext cx="3108543" cy="705129"/>
          </a:xfrm>
          <a:prstGeom prst="rect">
            <a:avLst/>
          </a:prstGeom>
          <a:noFill/>
        </p:spPr>
        <p:txBody>
          <a:bodyPr wrap="none" rtlCol="0">
            <a:spAutoFit/>
          </a:bodyPr>
          <a:lstStyle/>
          <a:p>
            <a:r>
              <a:rPr lang="en-US" sz="3982" b="1" u="sng" dirty="0">
                <a:solidFill>
                  <a:srgbClr val="0000FF"/>
                </a:solidFill>
              </a:rPr>
              <a:t>Morse Code</a:t>
            </a:r>
          </a:p>
        </p:txBody>
      </p:sp>
      <p:sp>
        <p:nvSpPr>
          <p:cNvPr id="2" name="TextBox 1"/>
          <p:cNvSpPr txBox="1"/>
          <p:nvPr/>
        </p:nvSpPr>
        <p:spPr>
          <a:xfrm>
            <a:off x="875589" y="1902118"/>
            <a:ext cx="6301725" cy="2718373"/>
          </a:xfrm>
          <a:prstGeom prst="rect">
            <a:avLst/>
          </a:prstGeom>
          <a:noFill/>
        </p:spPr>
        <p:txBody>
          <a:bodyPr wrap="none" rtlCol="0">
            <a:spAutoFit/>
          </a:bodyPr>
          <a:lstStyle/>
          <a:p>
            <a:r>
              <a:rPr lang="en-US" sz="3413" b="1" dirty="0"/>
              <a:t>Telegraphy</a:t>
            </a:r>
            <a:r>
              <a:rPr lang="en-US" sz="3413" dirty="0"/>
              <a:t> </a:t>
            </a:r>
          </a:p>
          <a:p>
            <a:endParaRPr lang="en-US" sz="3413" dirty="0"/>
          </a:p>
          <a:p>
            <a:r>
              <a:rPr lang="en-US" sz="3413" dirty="0"/>
              <a:t>    message: letters</a:t>
            </a:r>
          </a:p>
          <a:p>
            <a:r>
              <a:rPr lang="en-US" sz="3413" dirty="0"/>
              <a:t>    signal: dots, dashes, spaces</a:t>
            </a:r>
          </a:p>
          <a:p>
            <a:endParaRPr lang="en-US" sz="3413" dirty="0"/>
          </a:p>
        </p:txBody>
      </p:sp>
    </p:spTree>
    <p:extLst>
      <p:ext uri="{BB962C8B-B14F-4D97-AF65-F5344CB8AC3E}">
        <p14:creationId xmlns:p14="http://schemas.microsoft.com/office/powerpoint/2010/main" val="1168234339"/>
      </p:ext>
    </p:extLst>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58749" y="1246384"/>
            <a:ext cx="6178294" cy="705129"/>
          </a:xfrm>
          <a:prstGeom prst="rect">
            <a:avLst/>
          </a:prstGeom>
          <a:noFill/>
        </p:spPr>
        <p:txBody>
          <a:bodyPr wrap="none" rtlCol="0">
            <a:spAutoFit/>
          </a:bodyPr>
          <a:lstStyle/>
          <a:p>
            <a:r>
              <a:rPr lang="en-US" sz="3982" b="1" u="sng" dirty="0">
                <a:solidFill>
                  <a:srgbClr val="0000FF"/>
                </a:solidFill>
              </a:rPr>
              <a:t>Chinese Telegraph Code</a:t>
            </a:r>
          </a:p>
        </p:txBody>
      </p:sp>
      <p:pic>
        <p:nvPicPr>
          <p:cNvPr id="2" name="Picture 1" descr="chinesetcod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4145" y="2504599"/>
            <a:ext cx="3973689" cy="5725724"/>
          </a:xfrm>
          <a:prstGeom prst="rect">
            <a:avLst/>
          </a:prstGeom>
        </p:spPr>
      </p:pic>
    </p:spTree>
    <p:extLst>
      <p:ext uri="{BB962C8B-B14F-4D97-AF65-F5344CB8AC3E}">
        <p14:creationId xmlns:p14="http://schemas.microsoft.com/office/powerpoint/2010/main" val="71551052"/>
      </p:ext>
    </p:extLst>
  </p:cSld>
  <p:clrMapOvr>
    <a:masterClrMapping/>
  </p:clrMapOvr>
  <p:transition spd="med"/>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0770" y="1246384"/>
            <a:ext cx="3308919" cy="705129"/>
          </a:xfrm>
          <a:prstGeom prst="rect">
            <a:avLst/>
          </a:prstGeom>
          <a:noFill/>
        </p:spPr>
        <p:txBody>
          <a:bodyPr wrap="none" rtlCol="0">
            <a:spAutoFit/>
          </a:bodyPr>
          <a:lstStyle/>
          <a:p>
            <a:r>
              <a:rPr lang="en-US" sz="3982" b="1" u="sng" dirty="0" err="1">
                <a:solidFill>
                  <a:srgbClr val="0000FF"/>
                </a:solidFill>
              </a:rPr>
              <a:t>Wabun</a:t>
            </a:r>
            <a:r>
              <a:rPr lang="en-US" sz="3982" b="1" u="sng" dirty="0">
                <a:solidFill>
                  <a:srgbClr val="0000FF"/>
                </a:solidFill>
              </a:rPr>
              <a:t> Code</a:t>
            </a:r>
          </a:p>
        </p:txBody>
      </p:sp>
      <p:sp>
        <p:nvSpPr>
          <p:cNvPr id="3" name="TextBox 2"/>
          <p:cNvSpPr txBox="1"/>
          <p:nvPr/>
        </p:nvSpPr>
        <p:spPr>
          <a:xfrm>
            <a:off x="1713099" y="3126323"/>
            <a:ext cx="184730" cy="880241"/>
          </a:xfrm>
          <a:prstGeom prst="rect">
            <a:avLst/>
          </a:prstGeom>
          <a:noFill/>
        </p:spPr>
        <p:txBody>
          <a:bodyPr wrap="none" rtlCol="0">
            <a:spAutoFit/>
          </a:bodyPr>
          <a:lstStyle/>
          <a:p>
            <a:endParaRPr lang="en-US" sz="5120" dirty="0"/>
          </a:p>
        </p:txBody>
      </p:sp>
      <p:sp>
        <p:nvSpPr>
          <p:cNvPr id="5" name="Rectangle 4"/>
          <p:cNvSpPr/>
          <p:nvPr/>
        </p:nvSpPr>
        <p:spPr>
          <a:xfrm>
            <a:off x="769684" y="2444279"/>
            <a:ext cx="7660575" cy="1142749"/>
          </a:xfrm>
          <a:prstGeom prst="rect">
            <a:avLst/>
          </a:prstGeom>
        </p:spPr>
        <p:txBody>
          <a:bodyPr wrap="square">
            <a:spAutoFit/>
          </a:bodyPr>
          <a:lstStyle/>
          <a:p>
            <a:pPr lvl="0"/>
            <a:r>
              <a:rPr lang="en-US" sz="3413" dirty="0">
                <a:solidFill>
                  <a:prstClr val="black"/>
                </a:solidFill>
              </a:rPr>
              <a:t>Morse code used to send Japanese texts</a:t>
            </a:r>
          </a:p>
        </p:txBody>
      </p:sp>
      <p:sp>
        <p:nvSpPr>
          <p:cNvPr id="6" name="Rectangle 5"/>
          <p:cNvSpPr/>
          <p:nvPr/>
        </p:nvSpPr>
        <p:spPr>
          <a:xfrm>
            <a:off x="769684" y="3373715"/>
            <a:ext cx="11948854" cy="967701"/>
          </a:xfrm>
          <a:prstGeom prst="rect">
            <a:avLst/>
          </a:prstGeom>
        </p:spPr>
        <p:txBody>
          <a:bodyPr wrap="square">
            <a:spAutoFit/>
          </a:bodyPr>
          <a:lstStyle/>
          <a:p>
            <a:r>
              <a:rPr lang="en-US" sz="2844" dirty="0"/>
              <a:t>Used to transmit the message "NIITAKA-YAMA NOBORE 12 08” </a:t>
            </a:r>
          </a:p>
          <a:p>
            <a:r>
              <a:rPr lang="en-US" sz="2844" dirty="0"/>
              <a:t>signaling go-ahead of the Japanese attack on Pearl Harbor </a:t>
            </a:r>
          </a:p>
        </p:txBody>
      </p:sp>
      <p:pic>
        <p:nvPicPr>
          <p:cNvPr id="7" name="Picture 6" descr="wo.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684" y="4974770"/>
            <a:ext cx="3287324" cy="1083733"/>
          </a:xfrm>
          <a:prstGeom prst="rect">
            <a:avLst/>
          </a:prstGeom>
        </p:spPr>
      </p:pic>
      <p:pic>
        <p:nvPicPr>
          <p:cNvPr id="8" name="Picture 7" descr="i.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3020" y="5002203"/>
            <a:ext cx="3251200" cy="1083733"/>
          </a:xfrm>
          <a:prstGeom prst="rect">
            <a:avLst/>
          </a:prstGeom>
        </p:spPr>
      </p:pic>
      <p:pic>
        <p:nvPicPr>
          <p:cNvPr id="9" name="Picture 8" descr="o.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3842" y="5002557"/>
            <a:ext cx="3251200" cy="1047609"/>
          </a:xfrm>
          <a:prstGeom prst="rect">
            <a:avLst/>
          </a:prstGeom>
        </p:spPr>
      </p:pic>
      <p:sp>
        <p:nvSpPr>
          <p:cNvPr id="10" name="Rectangle 9"/>
          <p:cNvSpPr/>
          <p:nvPr/>
        </p:nvSpPr>
        <p:spPr>
          <a:xfrm>
            <a:off x="769684" y="6376424"/>
            <a:ext cx="7660575" cy="617541"/>
          </a:xfrm>
          <a:prstGeom prst="rect">
            <a:avLst/>
          </a:prstGeom>
        </p:spPr>
        <p:txBody>
          <a:bodyPr wrap="square">
            <a:spAutoFit/>
          </a:bodyPr>
          <a:lstStyle/>
          <a:p>
            <a:pPr lvl="0"/>
            <a:r>
              <a:rPr lang="en-US" sz="3413" dirty="0">
                <a:solidFill>
                  <a:prstClr val="black"/>
                </a:solidFill>
              </a:rPr>
              <a:t>(</a:t>
            </a:r>
            <a:r>
              <a:rPr lang="en-US" sz="3413" dirty="0" err="1">
                <a:solidFill>
                  <a:prstClr val="black"/>
                </a:solidFill>
              </a:rPr>
              <a:t>wikipedia</a:t>
            </a:r>
            <a:r>
              <a:rPr lang="en-US" sz="3413" dirty="0">
                <a:solidFill>
                  <a:prstClr val="black"/>
                </a:solidFill>
              </a:rPr>
              <a:t>)</a:t>
            </a:r>
          </a:p>
        </p:txBody>
      </p:sp>
    </p:spTree>
    <p:extLst>
      <p:ext uri="{BB962C8B-B14F-4D97-AF65-F5344CB8AC3E}">
        <p14:creationId xmlns:p14="http://schemas.microsoft.com/office/powerpoint/2010/main" val="2115172291"/>
      </p:ext>
    </p:extLst>
  </p:cSld>
  <p:clrMapOvr>
    <a:masterClrMapping/>
  </p:clrMapOvr>
  <p:transition spd="med"/>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89976" y="1246384"/>
            <a:ext cx="3733714" cy="705129"/>
          </a:xfrm>
          <a:prstGeom prst="rect">
            <a:avLst/>
          </a:prstGeom>
          <a:noFill/>
        </p:spPr>
        <p:txBody>
          <a:bodyPr wrap="none" rtlCol="0">
            <a:spAutoFit/>
          </a:bodyPr>
          <a:lstStyle/>
          <a:p>
            <a:r>
              <a:rPr lang="en-US" sz="3982" b="1" u="sng" dirty="0">
                <a:solidFill>
                  <a:srgbClr val="0000FF"/>
                </a:solidFill>
              </a:rPr>
              <a:t>Modern Codes</a:t>
            </a:r>
          </a:p>
        </p:txBody>
      </p:sp>
      <p:pic>
        <p:nvPicPr>
          <p:cNvPr id="5" name="Picture 4" descr="mcode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392" y="2185030"/>
            <a:ext cx="9067236" cy="6267591"/>
          </a:xfrm>
          <a:prstGeom prst="rect">
            <a:avLst/>
          </a:prstGeom>
        </p:spPr>
      </p:pic>
    </p:spTree>
    <p:extLst>
      <p:ext uri="{BB962C8B-B14F-4D97-AF65-F5344CB8AC3E}">
        <p14:creationId xmlns:p14="http://schemas.microsoft.com/office/powerpoint/2010/main" val="256402399"/>
      </p:ext>
    </p:extLst>
  </p:cSld>
  <p:clrMapOvr>
    <a:masterClrMapping/>
  </p:clrMapOvr>
  <p:transition spd="med"/>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acebook-Chat-Emoticons-list.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4145" y="1229153"/>
            <a:ext cx="9013049" cy="8326684"/>
          </a:xfrm>
          <a:prstGeom prst="rect">
            <a:avLst/>
          </a:prstGeom>
        </p:spPr>
      </p:pic>
      <p:sp>
        <p:nvSpPr>
          <p:cNvPr id="4" name="TextBox 3"/>
          <p:cNvSpPr txBox="1"/>
          <p:nvPr/>
        </p:nvSpPr>
        <p:spPr>
          <a:xfrm>
            <a:off x="1348073" y="601424"/>
            <a:ext cx="5267789" cy="705129"/>
          </a:xfrm>
          <a:prstGeom prst="rect">
            <a:avLst/>
          </a:prstGeom>
          <a:noFill/>
        </p:spPr>
        <p:txBody>
          <a:bodyPr wrap="none" rtlCol="0">
            <a:spAutoFit/>
          </a:bodyPr>
          <a:lstStyle/>
          <a:p>
            <a:r>
              <a:rPr lang="en-US" sz="3982" b="1" u="sng" dirty="0">
                <a:solidFill>
                  <a:srgbClr val="0000FF"/>
                </a:solidFill>
              </a:rPr>
              <a:t>Facebook emoticons</a:t>
            </a:r>
          </a:p>
        </p:txBody>
      </p:sp>
    </p:spTree>
    <p:extLst>
      <p:ext uri="{BB962C8B-B14F-4D97-AF65-F5344CB8AC3E}">
        <p14:creationId xmlns:p14="http://schemas.microsoft.com/office/powerpoint/2010/main" val="1502924111"/>
      </p:ext>
    </p:extLst>
  </p:cSld>
  <p:clrMapOvr>
    <a:masterClrMapping/>
  </p:clrMapOvr>
  <p:transition spd="med"/>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30338" y="1029547"/>
            <a:ext cx="2400016" cy="705129"/>
          </a:xfrm>
          <a:prstGeom prst="rect">
            <a:avLst/>
          </a:prstGeom>
          <a:noFill/>
        </p:spPr>
        <p:txBody>
          <a:bodyPr wrap="none" rtlCol="0">
            <a:spAutoFit/>
          </a:bodyPr>
          <a:lstStyle/>
          <a:p>
            <a:r>
              <a:rPr lang="en-US" sz="3982" b="1" u="sng" dirty="0">
                <a:solidFill>
                  <a:srgbClr val="0000FF"/>
                </a:solidFill>
              </a:rPr>
              <a:t>Question</a:t>
            </a:r>
          </a:p>
        </p:txBody>
      </p:sp>
      <p:sp>
        <p:nvSpPr>
          <p:cNvPr id="4" name="TextBox 3"/>
          <p:cNvSpPr txBox="1"/>
          <p:nvPr/>
        </p:nvSpPr>
        <p:spPr>
          <a:xfrm>
            <a:off x="682610" y="2080058"/>
            <a:ext cx="11142794" cy="1405449"/>
          </a:xfrm>
          <a:prstGeom prst="rect">
            <a:avLst/>
          </a:prstGeom>
          <a:noFill/>
        </p:spPr>
        <p:txBody>
          <a:bodyPr wrap="none" rtlCol="0">
            <a:spAutoFit/>
          </a:bodyPr>
          <a:lstStyle/>
          <a:p>
            <a:r>
              <a:rPr lang="en-US" sz="3413" dirty="0"/>
              <a:t>How should one define a “code?”  How did Morse do it?</a:t>
            </a:r>
          </a:p>
          <a:p>
            <a:endParaRPr lang="en-US" sz="5120" dirty="0"/>
          </a:p>
        </p:txBody>
      </p:sp>
      <p:sp>
        <p:nvSpPr>
          <p:cNvPr id="5" name="TextBox 4"/>
          <p:cNvSpPr txBox="1"/>
          <p:nvPr/>
        </p:nvSpPr>
        <p:spPr>
          <a:xfrm>
            <a:off x="574341" y="3130601"/>
            <a:ext cx="12486110" cy="4031488"/>
          </a:xfrm>
          <a:prstGeom prst="rect">
            <a:avLst/>
          </a:prstGeom>
          <a:noFill/>
        </p:spPr>
        <p:txBody>
          <a:bodyPr wrap="none" rtlCol="0">
            <a:spAutoFit/>
          </a:bodyPr>
          <a:lstStyle/>
          <a:p>
            <a:r>
              <a:rPr lang="en-US" sz="3413" dirty="0"/>
              <a:t>How would you define an “efficient code” of English language?</a:t>
            </a:r>
          </a:p>
          <a:p>
            <a:endParaRPr lang="en-US" sz="3413" dirty="0"/>
          </a:p>
          <a:p>
            <a:r>
              <a:rPr lang="en-US" sz="3413" dirty="0"/>
              <a:t>What does “efficient” mean?</a:t>
            </a:r>
          </a:p>
          <a:p>
            <a:endParaRPr lang="en-US" sz="3413" dirty="0"/>
          </a:p>
          <a:p>
            <a:r>
              <a:rPr lang="en-US" sz="3413" dirty="0"/>
              <a:t>Why might Morse code be more efficient than teletype?</a:t>
            </a:r>
          </a:p>
          <a:p>
            <a:endParaRPr lang="en-US" sz="3413" dirty="0"/>
          </a:p>
          <a:p>
            <a:endParaRPr lang="en-US" sz="5120" dirty="0"/>
          </a:p>
        </p:txBody>
      </p:sp>
      <p:sp>
        <p:nvSpPr>
          <p:cNvPr id="8" name="TextBox 7"/>
          <p:cNvSpPr txBox="1"/>
          <p:nvPr/>
        </p:nvSpPr>
        <p:spPr>
          <a:xfrm>
            <a:off x="239988" y="7348115"/>
            <a:ext cx="11487440" cy="617541"/>
          </a:xfrm>
          <a:prstGeom prst="rect">
            <a:avLst/>
          </a:prstGeom>
          <a:noFill/>
        </p:spPr>
        <p:txBody>
          <a:bodyPr wrap="none" rtlCol="0">
            <a:spAutoFit/>
          </a:bodyPr>
          <a:lstStyle/>
          <a:p>
            <a:r>
              <a:rPr lang="en-US" sz="3413" b="1" dirty="0">
                <a:solidFill>
                  <a:srgbClr val="FF0000"/>
                </a:solidFill>
              </a:rPr>
              <a:t>DISCUSS WITH YOUR NEIGHBOR!  5 MINUTE BREAK!</a:t>
            </a:r>
          </a:p>
        </p:txBody>
      </p:sp>
    </p:spTree>
    <p:extLst>
      <p:ext uri="{BB962C8B-B14F-4D97-AF65-F5344CB8AC3E}">
        <p14:creationId xmlns:p14="http://schemas.microsoft.com/office/powerpoint/2010/main" val="942877563"/>
      </p:ext>
    </p:extLst>
  </p:cSld>
  <p:clrMapOvr>
    <a:masterClrMapping/>
  </p:clrMapOvr>
  <p:transition spd="med"/>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3367" y="875043"/>
            <a:ext cx="11998798" cy="2280945"/>
          </a:xfrm>
          <a:prstGeom prst="rect">
            <a:avLst/>
          </a:prstGeom>
          <a:noFill/>
        </p:spPr>
        <p:txBody>
          <a:bodyPr wrap="none" rtlCol="0">
            <a:spAutoFit/>
          </a:bodyPr>
          <a:lstStyle/>
          <a:p>
            <a:r>
              <a:rPr lang="en-US" sz="3982" b="1" dirty="0">
                <a:solidFill>
                  <a:srgbClr val="0000FF"/>
                </a:solidFill>
              </a:rPr>
              <a:t>Morse</a:t>
            </a:r>
            <a:r>
              <a:rPr lang="en-US" sz="3982" dirty="0">
                <a:solidFill>
                  <a:srgbClr val="0000FF"/>
                </a:solidFill>
              </a:rPr>
              <a:t>: design code according to letter frequencies</a:t>
            </a:r>
          </a:p>
          <a:p>
            <a:endParaRPr lang="en-US" sz="5120" dirty="0"/>
          </a:p>
          <a:p>
            <a:endParaRPr lang="en-US" sz="5120" dirty="0"/>
          </a:p>
        </p:txBody>
      </p:sp>
      <p:sp>
        <p:nvSpPr>
          <p:cNvPr id="5" name="TextBox 4"/>
          <p:cNvSpPr txBox="1"/>
          <p:nvPr/>
        </p:nvSpPr>
        <p:spPr>
          <a:xfrm>
            <a:off x="462089" y="5456996"/>
            <a:ext cx="4589718" cy="792653"/>
          </a:xfrm>
          <a:prstGeom prst="rect">
            <a:avLst/>
          </a:prstGeom>
          <a:noFill/>
        </p:spPr>
        <p:txBody>
          <a:bodyPr wrap="none" rtlCol="0">
            <a:spAutoFit/>
          </a:bodyPr>
          <a:lstStyle/>
          <a:p>
            <a:r>
              <a:rPr lang="en-US" sz="4551" dirty="0">
                <a:solidFill>
                  <a:srgbClr val="008000"/>
                </a:solidFill>
              </a:rPr>
              <a:t>E, T, A, I, N, O, S</a:t>
            </a:r>
          </a:p>
        </p:txBody>
      </p:sp>
      <p:sp>
        <p:nvSpPr>
          <p:cNvPr id="6" name="TextBox 5"/>
          <p:cNvSpPr txBox="1"/>
          <p:nvPr/>
        </p:nvSpPr>
        <p:spPr>
          <a:xfrm>
            <a:off x="750187" y="6899473"/>
            <a:ext cx="11309249" cy="2193164"/>
          </a:xfrm>
          <a:prstGeom prst="rect">
            <a:avLst/>
          </a:prstGeom>
          <a:noFill/>
        </p:spPr>
        <p:txBody>
          <a:bodyPr wrap="square" rtlCol="0">
            <a:spAutoFit/>
          </a:bodyPr>
          <a:lstStyle/>
          <a:p>
            <a:r>
              <a:rPr lang="en-US" sz="3413" dirty="0"/>
              <a:t>Presumably “modern” chat symbols are chosen for their </a:t>
            </a:r>
          </a:p>
          <a:p>
            <a:r>
              <a:rPr lang="en-US" sz="3413" dirty="0"/>
              <a:t>common usage</a:t>
            </a:r>
          </a:p>
          <a:p>
            <a:endParaRPr lang="en-US" sz="3413" dirty="0"/>
          </a:p>
          <a:p>
            <a:r>
              <a:rPr lang="en-US" sz="3413" dirty="0"/>
              <a:t>(interesting senior thesis topic?)</a:t>
            </a:r>
          </a:p>
        </p:txBody>
      </p:sp>
      <p:sp>
        <p:nvSpPr>
          <p:cNvPr id="7" name="TextBox 6"/>
          <p:cNvSpPr txBox="1"/>
          <p:nvPr/>
        </p:nvSpPr>
        <p:spPr>
          <a:xfrm>
            <a:off x="-117165" y="2074957"/>
            <a:ext cx="13043955" cy="3243580"/>
          </a:xfrm>
          <a:prstGeom prst="rect">
            <a:avLst/>
          </a:prstGeom>
          <a:noFill/>
        </p:spPr>
        <p:txBody>
          <a:bodyPr wrap="none" rtlCol="0">
            <a:spAutoFit/>
          </a:bodyPr>
          <a:lstStyle/>
          <a:p>
            <a:r>
              <a:rPr lang="en-US" sz="3413" dirty="0"/>
              <a:t>E  11.28%,  T  8.46%,  A  7.52%, I  7.52%, N  7.52%, O  7.52%, </a:t>
            </a:r>
          </a:p>
          <a:p>
            <a:r>
              <a:rPr lang="en-US" sz="3413" dirty="0"/>
              <a:t>H  6.02%,  R  5.83%, D  4.14%, L  3.76%, U  3.20%, C  2.82%, </a:t>
            </a:r>
          </a:p>
          <a:p>
            <a:r>
              <a:rPr lang="en-US" sz="3413" dirty="0"/>
              <a:t>M  2.82%,  F  2.35%,  W  1.88%,  Y  1.88%,  G  1.60%,  P  1.60%, </a:t>
            </a:r>
          </a:p>
          <a:p>
            <a:r>
              <a:rPr lang="en-US" sz="3413" dirty="0"/>
              <a:t>B  1.50%,  V  1.13%,  K  0.75%,  Q  0.47%,  J  0.38%,  X  0.38%, </a:t>
            </a:r>
          </a:p>
          <a:p>
            <a:r>
              <a:rPr lang="en-US" sz="3413" dirty="0"/>
              <a:t> Z  0.19% </a:t>
            </a:r>
          </a:p>
          <a:p>
            <a:r>
              <a:rPr lang="en-US" sz="3413" dirty="0"/>
              <a:t>  </a:t>
            </a:r>
          </a:p>
        </p:txBody>
      </p:sp>
    </p:spTree>
    <p:extLst>
      <p:ext uri="{BB962C8B-B14F-4D97-AF65-F5344CB8AC3E}">
        <p14:creationId xmlns:p14="http://schemas.microsoft.com/office/powerpoint/2010/main" val="661370128"/>
      </p:ext>
    </p:extLst>
  </p:cSld>
  <p:clrMapOvr>
    <a:masterClrMapping/>
  </p:clrMapOvr>
  <p:transition spd="med"/>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orsecod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441" y="704427"/>
            <a:ext cx="5761849" cy="7430798"/>
          </a:xfrm>
          <a:prstGeom prst="rect">
            <a:avLst/>
          </a:prstGeom>
        </p:spPr>
      </p:pic>
      <p:sp>
        <p:nvSpPr>
          <p:cNvPr id="4" name="Rectangle 3"/>
          <p:cNvSpPr/>
          <p:nvPr/>
        </p:nvSpPr>
        <p:spPr>
          <a:xfrm>
            <a:off x="1176441" y="2492587"/>
            <a:ext cx="1589476" cy="313079"/>
          </a:xfrm>
          <a:prstGeom prst="rect">
            <a:avLst/>
          </a:prstGeom>
          <a:solidFill>
            <a:srgbClr val="FFFF00">
              <a:alpha val="38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5" name="Rectangle 4"/>
          <p:cNvSpPr/>
          <p:nvPr/>
        </p:nvSpPr>
        <p:spPr>
          <a:xfrm>
            <a:off x="1176441" y="3522134"/>
            <a:ext cx="1589476" cy="313079"/>
          </a:xfrm>
          <a:prstGeom prst="rect">
            <a:avLst/>
          </a:prstGeom>
          <a:solidFill>
            <a:srgbClr val="FFFF00">
              <a:alpha val="38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6" name="Rectangle 5"/>
          <p:cNvSpPr/>
          <p:nvPr/>
        </p:nvSpPr>
        <p:spPr>
          <a:xfrm>
            <a:off x="1176441" y="4551680"/>
            <a:ext cx="1589476" cy="313079"/>
          </a:xfrm>
          <a:prstGeom prst="rect">
            <a:avLst/>
          </a:prstGeom>
          <a:solidFill>
            <a:srgbClr val="FFFF00">
              <a:alpha val="38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7" name="Rectangle 6"/>
          <p:cNvSpPr/>
          <p:nvPr/>
        </p:nvSpPr>
        <p:spPr>
          <a:xfrm>
            <a:off x="1217358" y="5852160"/>
            <a:ext cx="2108487" cy="541867"/>
          </a:xfrm>
          <a:prstGeom prst="rect">
            <a:avLst/>
          </a:prstGeom>
          <a:solidFill>
            <a:srgbClr val="FFFF00">
              <a:alpha val="38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8" name="Rectangle 7"/>
          <p:cNvSpPr/>
          <p:nvPr/>
        </p:nvSpPr>
        <p:spPr>
          <a:xfrm>
            <a:off x="1217358" y="7152641"/>
            <a:ext cx="1589476" cy="541868"/>
          </a:xfrm>
          <a:prstGeom prst="rect">
            <a:avLst/>
          </a:prstGeom>
          <a:solidFill>
            <a:srgbClr val="FFFF00">
              <a:alpha val="38000"/>
            </a:srgbClr>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10" name="TextBox 9"/>
          <p:cNvSpPr txBox="1"/>
          <p:nvPr/>
        </p:nvSpPr>
        <p:spPr>
          <a:xfrm>
            <a:off x="7808000" y="2529191"/>
            <a:ext cx="2425664" cy="3768789"/>
          </a:xfrm>
          <a:prstGeom prst="rect">
            <a:avLst/>
          </a:prstGeom>
          <a:noFill/>
        </p:spPr>
        <p:txBody>
          <a:bodyPr wrap="none" rtlCol="0">
            <a:spAutoFit/>
          </a:bodyPr>
          <a:lstStyle/>
          <a:p>
            <a:r>
              <a:rPr lang="en-US" sz="3413" dirty="0"/>
              <a:t>E    11.28%</a:t>
            </a:r>
          </a:p>
          <a:p>
            <a:r>
              <a:rPr lang="en-US" sz="3413" dirty="0"/>
              <a:t>T    8.46%</a:t>
            </a:r>
          </a:p>
          <a:p>
            <a:r>
              <a:rPr lang="en-US" sz="3413" dirty="0"/>
              <a:t>A    7.52%</a:t>
            </a:r>
          </a:p>
          <a:p>
            <a:r>
              <a:rPr lang="en-US" sz="3413" dirty="0"/>
              <a:t>I     7.52%</a:t>
            </a:r>
          </a:p>
          <a:p>
            <a:r>
              <a:rPr lang="en-US" sz="3413" dirty="0"/>
              <a:t>N   7.52%</a:t>
            </a:r>
          </a:p>
          <a:p>
            <a:r>
              <a:rPr lang="en-US" sz="3413" dirty="0"/>
              <a:t>O   7.52%</a:t>
            </a:r>
          </a:p>
          <a:p>
            <a:r>
              <a:rPr lang="en-US" sz="3413" dirty="0"/>
              <a:t>S    7.52%</a:t>
            </a:r>
          </a:p>
        </p:txBody>
      </p:sp>
    </p:spTree>
    <p:extLst>
      <p:ext uri="{BB962C8B-B14F-4D97-AF65-F5344CB8AC3E}">
        <p14:creationId xmlns:p14="http://schemas.microsoft.com/office/powerpoint/2010/main" val="272384424"/>
      </p:ext>
    </p:extLst>
  </p:cSld>
  <p:clrMapOvr>
    <a:masterClrMapping/>
  </p:clrMapOvr>
  <p:transition spd="med"/>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2650" y="577992"/>
            <a:ext cx="2400016" cy="705129"/>
          </a:xfrm>
          <a:prstGeom prst="rect">
            <a:avLst/>
          </a:prstGeom>
          <a:noFill/>
        </p:spPr>
        <p:txBody>
          <a:bodyPr wrap="none" rtlCol="0">
            <a:spAutoFit/>
          </a:bodyPr>
          <a:lstStyle/>
          <a:p>
            <a:r>
              <a:rPr lang="en-US" sz="3982" b="1" u="sng" dirty="0">
                <a:solidFill>
                  <a:srgbClr val="0000FF"/>
                </a:solidFill>
              </a:rPr>
              <a:t>Question</a:t>
            </a:r>
          </a:p>
        </p:txBody>
      </p:sp>
      <p:sp>
        <p:nvSpPr>
          <p:cNvPr id="4" name="TextBox 3"/>
          <p:cNvSpPr txBox="1"/>
          <p:nvPr/>
        </p:nvSpPr>
        <p:spPr>
          <a:xfrm>
            <a:off x="268031" y="1492815"/>
            <a:ext cx="12458860" cy="1142749"/>
          </a:xfrm>
          <a:prstGeom prst="rect">
            <a:avLst/>
          </a:prstGeom>
          <a:noFill/>
        </p:spPr>
        <p:txBody>
          <a:bodyPr wrap="none" rtlCol="0">
            <a:spAutoFit/>
          </a:bodyPr>
          <a:lstStyle/>
          <a:p>
            <a:r>
              <a:rPr lang="en-US" sz="3413" dirty="0"/>
              <a:t>Now we have a code.  How many signals/symbols of the code </a:t>
            </a:r>
          </a:p>
          <a:p>
            <a:r>
              <a:rPr lang="en-US" sz="3413" dirty="0"/>
              <a:t>can be transmitted per unit time? </a:t>
            </a:r>
          </a:p>
        </p:txBody>
      </p:sp>
      <p:pic>
        <p:nvPicPr>
          <p:cNvPr id="5" name="Picture 4" descr="syste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063" y="2936036"/>
            <a:ext cx="7911253" cy="3424597"/>
          </a:xfrm>
          <a:prstGeom prst="rect">
            <a:avLst/>
          </a:prstGeom>
        </p:spPr>
      </p:pic>
      <p:sp>
        <p:nvSpPr>
          <p:cNvPr id="6" name="Rectangle 5"/>
          <p:cNvSpPr/>
          <p:nvPr/>
        </p:nvSpPr>
        <p:spPr>
          <a:xfrm>
            <a:off x="834958" y="7306612"/>
            <a:ext cx="11889360" cy="1142749"/>
          </a:xfrm>
          <a:prstGeom prst="rect">
            <a:avLst/>
          </a:prstGeom>
        </p:spPr>
        <p:txBody>
          <a:bodyPr wrap="square">
            <a:spAutoFit/>
          </a:bodyPr>
          <a:lstStyle/>
          <a:p>
            <a:r>
              <a:rPr lang="en-US" sz="3413" dirty="0"/>
              <a:t>Once the code and channel are defined, this is a well-defined math problem!</a:t>
            </a:r>
          </a:p>
        </p:txBody>
      </p:sp>
    </p:spTree>
    <p:extLst>
      <p:ext uri="{BB962C8B-B14F-4D97-AF65-F5344CB8AC3E}">
        <p14:creationId xmlns:p14="http://schemas.microsoft.com/office/powerpoint/2010/main" val="1677362411"/>
      </p:ext>
    </p:extLst>
  </p:cSld>
  <p:clrMapOvr>
    <a:masterClrMapping/>
  </p:clrMapOvr>
  <p:transition spd="med"/>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75757" y="1082568"/>
            <a:ext cx="3108543" cy="705129"/>
          </a:xfrm>
          <a:prstGeom prst="rect">
            <a:avLst/>
          </a:prstGeom>
          <a:noFill/>
        </p:spPr>
        <p:txBody>
          <a:bodyPr wrap="none" rtlCol="0">
            <a:spAutoFit/>
          </a:bodyPr>
          <a:lstStyle/>
          <a:p>
            <a:r>
              <a:rPr lang="en-US" sz="3982" b="1" u="sng" dirty="0">
                <a:solidFill>
                  <a:srgbClr val="0000FF"/>
                </a:solidFill>
              </a:rPr>
              <a:t>Morse Code</a:t>
            </a:r>
          </a:p>
        </p:txBody>
      </p:sp>
      <p:sp>
        <p:nvSpPr>
          <p:cNvPr id="4" name="TextBox 3"/>
          <p:cNvSpPr txBox="1"/>
          <p:nvPr/>
        </p:nvSpPr>
        <p:spPr>
          <a:xfrm>
            <a:off x="458254" y="2217668"/>
            <a:ext cx="11923456" cy="6920036"/>
          </a:xfrm>
          <a:prstGeom prst="rect">
            <a:avLst/>
          </a:prstGeom>
          <a:noFill/>
        </p:spPr>
        <p:txBody>
          <a:bodyPr wrap="none" rtlCol="0">
            <a:spAutoFit/>
          </a:bodyPr>
          <a:lstStyle/>
          <a:p>
            <a:r>
              <a:rPr lang="en-US" sz="3413" dirty="0"/>
              <a:t>Dot = line closure for one unit of time and then line open for </a:t>
            </a:r>
          </a:p>
          <a:p>
            <a:r>
              <a:rPr lang="en-US" sz="3413" dirty="0"/>
              <a:t>   	    one unit of time</a:t>
            </a:r>
          </a:p>
          <a:p>
            <a:endParaRPr lang="en-US" sz="3413" dirty="0"/>
          </a:p>
          <a:p>
            <a:r>
              <a:rPr lang="en-US" sz="3413" dirty="0"/>
              <a:t>Dash = line closure for three units of time and line open for </a:t>
            </a:r>
          </a:p>
          <a:p>
            <a:r>
              <a:rPr lang="en-US" sz="3413" dirty="0"/>
              <a:t>             one unit of time</a:t>
            </a:r>
          </a:p>
          <a:p>
            <a:endParaRPr lang="en-US" sz="3413" dirty="0"/>
          </a:p>
          <a:p>
            <a:r>
              <a:rPr lang="en-US" sz="3413" dirty="0"/>
              <a:t>Letter Space = line open for three units of time</a:t>
            </a:r>
          </a:p>
          <a:p>
            <a:endParaRPr lang="en-US" sz="3413" dirty="0"/>
          </a:p>
          <a:p>
            <a:r>
              <a:rPr lang="en-US" sz="3413" dirty="0"/>
              <a:t>Word Space = line open for six units of time</a:t>
            </a:r>
          </a:p>
          <a:p>
            <a:endParaRPr lang="en-US" sz="3413" dirty="0"/>
          </a:p>
          <a:p>
            <a:r>
              <a:rPr lang="en-US" sz="3413" dirty="0"/>
              <a:t>Additional Rule: cannot have two successive spaces</a:t>
            </a:r>
          </a:p>
          <a:p>
            <a:endParaRPr lang="en-US" sz="3413" dirty="0"/>
          </a:p>
          <a:p>
            <a:endParaRPr lang="en-US" sz="3413" dirty="0"/>
          </a:p>
        </p:txBody>
      </p:sp>
    </p:spTree>
    <p:extLst>
      <p:ext uri="{BB962C8B-B14F-4D97-AF65-F5344CB8AC3E}">
        <p14:creationId xmlns:p14="http://schemas.microsoft.com/office/powerpoint/2010/main" val="1412207508"/>
      </p:ext>
    </p:extLst>
  </p:cSld>
  <p:clrMapOvr>
    <a:masterClrMapping/>
  </p:clrMapOvr>
  <p:transition spd="med"/>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8059" y="886577"/>
            <a:ext cx="4246675" cy="705129"/>
          </a:xfrm>
          <a:prstGeom prst="rect">
            <a:avLst/>
          </a:prstGeom>
          <a:noFill/>
        </p:spPr>
        <p:txBody>
          <a:bodyPr wrap="none" rtlCol="0">
            <a:spAutoFit/>
          </a:bodyPr>
          <a:lstStyle/>
          <a:p>
            <a:r>
              <a:rPr lang="en-US" sz="3982" b="1" u="sng" dirty="0">
                <a:solidFill>
                  <a:srgbClr val="0000FF"/>
                </a:solidFill>
              </a:rPr>
              <a:t>Possible Signals</a:t>
            </a:r>
          </a:p>
        </p:txBody>
      </p:sp>
      <p:sp>
        <p:nvSpPr>
          <p:cNvPr id="3" name="TextBox 2"/>
          <p:cNvSpPr txBox="1"/>
          <p:nvPr/>
        </p:nvSpPr>
        <p:spPr>
          <a:xfrm>
            <a:off x="1462210" y="2176097"/>
            <a:ext cx="6683240" cy="5869620"/>
          </a:xfrm>
          <a:prstGeom prst="rect">
            <a:avLst/>
          </a:prstGeom>
          <a:noFill/>
        </p:spPr>
        <p:txBody>
          <a:bodyPr wrap="none" rtlCol="0">
            <a:spAutoFit/>
          </a:bodyPr>
          <a:lstStyle/>
          <a:p>
            <a:r>
              <a:rPr lang="en-US" sz="3413" dirty="0"/>
              <a:t>Dot = 2 time units</a:t>
            </a:r>
          </a:p>
          <a:p>
            <a:endParaRPr lang="en-US" sz="3413" dirty="0"/>
          </a:p>
          <a:p>
            <a:r>
              <a:rPr lang="en-US" sz="3413" dirty="0"/>
              <a:t>Dash = 4 time units</a:t>
            </a:r>
          </a:p>
          <a:p>
            <a:endParaRPr lang="en-US" sz="3413" dirty="0"/>
          </a:p>
          <a:p>
            <a:r>
              <a:rPr lang="en-US" sz="3413" dirty="0"/>
              <a:t>Dot-space = 5 time units</a:t>
            </a:r>
          </a:p>
          <a:p>
            <a:endParaRPr lang="en-US" sz="3413" dirty="0"/>
          </a:p>
          <a:p>
            <a:r>
              <a:rPr lang="en-US" sz="3413" dirty="0"/>
              <a:t>Dash-space = 7 time units</a:t>
            </a:r>
          </a:p>
          <a:p>
            <a:endParaRPr lang="en-US" sz="3413" dirty="0"/>
          </a:p>
          <a:p>
            <a:r>
              <a:rPr lang="en-US" sz="3413" dirty="0"/>
              <a:t>Dot-word space = 8 time units</a:t>
            </a:r>
          </a:p>
          <a:p>
            <a:endParaRPr lang="en-US" sz="3413" dirty="0"/>
          </a:p>
          <a:p>
            <a:r>
              <a:rPr lang="en-US" sz="3413" dirty="0"/>
              <a:t>Dash-word space = 10 time units</a:t>
            </a:r>
          </a:p>
        </p:txBody>
      </p:sp>
    </p:spTree>
    <p:extLst>
      <p:ext uri="{BB962C8B-B14F-4D97-AF65-F5344CB8AC3E}">
        <p14:creationId xmlns:p14="http://schemas.microsoft.com/office/powerpoint/2010/main" val="982320312"/>
      </p:ext>
    </p:extLst>
  </p:cSld>
  <p:clrMapOvr>
    <a:masterClrMapping/>
  </p:clrMapOvr>
  <p:transition spd="med"/>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7486" y="813282"/>
            <a:ext cx="11617919" cy="1317925"/>
          </a:xfrm>
          <a:prstGeom prst="rect">
            <a:avLst/>
          </a:prstGeom>
        </p:spPr>
        <p:txBody>
          <a:bodyPr wrap="square">
            <a:spAutoFit/>
          </a:bodyPr>
          <a:lstStyle/>
          <a:p>
            <a:r>
              <a:rPr lang="en-US" sz="3982" b="1" u="sng" dirty="0">
                <a:solidFill>
                  <a:srgbClr val="0000FF"/>
                </a:solidFill>
              </a:rPr>
              <a:t>How many signals can be transmitted per unit time? </a:t>
            </a:r>
          </a:p>
        </p:txBody>
      </p:sp>
      <p:pic>
        <p:nvPicPr>
          <p:cNvPr id="3" name="Picture 2"/>
          <p:cNvPicPr>
            <a:picLocks noChangeAspect="1"/>
          </p:cNvPicPr>
          <p:nvPr/>
        </p:nvPicPr>
        <p:blipFill>
          <a:blip r:embed="rId2"/>
          <a:stretch>
            <a:fillRect/>
          </a:stretch>
        </p:blipFill>
        <p:spPr>
          <a:xfrm>
            <a:off x="1715911" y="2144889"/>
            <a:ext cx="1598507" cy="677333"/>
          </a:xfrm>
          <a:prstGeom prst="rect">
            <a:avLst/>
          </a:prstGeom>
        </p:spPr>
      </p:pic>
      <p:pic>
        <p:nvPicPr>
          <p:cNvPr id="4" name="Picture 3"/>
          <p:cNvPicPr>
            <a:picLocks noChangeAspect="1"/>
          </p:cNvPicPr>
          <p:nvPr/>
        </p:nvPicPr>
        <p:blipFill>
          <a:blip r:embed="rId3"/>
          <a:stretch>
            <a:fillRect/>
          </a:stretch>
        </p:blipFill>
        <p:spPr>
          <a:xfrm>
            <a:off x="11315982" y="2063609"/>
            <a:ext cx="785707" cy="1056640"/>
          </a:xfrm>
          <a:prstGeom prst="rect">
            <a:avLst/>
          </a:prstGeom>
        </p:spPr>
      </p:pic>
      <p:sp>
        <p:nvSpPr>
          <p:cNvPr id="5" name="TextBox 4"/>
          <p:cNvSpPr txBox="1"/>
          <p:nvPr/>
        </p:nvSpPr>
        <p:spPr>
          <a:xfrm>
            <a:off x="647174" y="2138172"/>
            <a:ext cx="11485837" cy="617541"/>
          </a:xfrm>
          <a:prstGeom prst="rect">
            <a:avLst/>
          </a:prstGeom>
          <a:noFill/>
        </p:spPr>
        <p:txBody>
          <a:bodyPr wrap="none" rtlCol="0">
            <a:spAutoFit/>
          </a:bodyPr>
          <a:lstStyle/>
          <a:p>
            <a:r>
              <a:rPr lang="en-US" sz="3413" dirty="0"/>
              <a:t>Let             be the number of signals that can form in time </a:t>
            </a:r>
          </a:p>
        </p:txBody>
      </p:sp>
      <p:pic>
        <p:nvPicPr>
          <p:cNvPr id="7" name="Picture 6"/>
          <p:cNvPicPr>
            <a:picLocks noChangeAspect="1"/>
          </p:cNvPicPr>
          <p:nvPr/>
        </p:nvPicPr>
        <p:blipFill>
          <a:blip r:embed="rId4"/>
          <a:stretch>
            <a:fillRect/>
          </a:stretch>
        </p:blipFill>
        <p:spPr>
          <a:xfrm>
            <a:off x="1986844" y="3120249"/>
            <a:ext cx="1625600" cy="866987"/>
          </a:xfrm>
          <a:prstGeom prst="rect">
            <a:avLst/>
          </a:prstGeom>
        </p:spPr>
      </p:pic>
      <p:sp>
        <p:nvSpPr>
          <p:cNvPr id="8" name="TextBox 7"/>
          <p:cNvSpPr txBox="1"/>
          <p:nvPr/>
        </p:nvSpPr>
        <p:spPr>
          <a:xfrm>
            <a:off x="2768174" y="3187982"/>
            <a:ext cx="9970999" cy="6657528"/>
          </a:xfrm>
          <a:prstGeom prst="rect">
            <a:avLst/>
          </a:prstGeom>
          <a:noFill/>
        </p:spPr>
        <p:txBody>
          <a:bodyPr wrap="none" rtlCol="0">
            <a:spAutoFit/>
          </a:bodyPr>
          <a:lstStyle/>
          <a:p>
            <a:r>
              <a:rPr lang="en-US" sz="5120" dirty="0"/>
              <a:t>   </a:t>
            </a:r>
            <a:r>
              <a:rPr lang="en-US" sz="3413" dirty="0"/>
              <a:t>number of signals ending in “dot”</a:t>
            </a:r>
          </a:p>
          <a:p>
            <a:endParaRPr lang="en-US" sz="3413" dirty="0"/>
          </a:p>
          <a:p>
            <a:r>
              <a:rPr lang="en-US" sz="3413" dirty="0"/>
              <a:t>+ number of signals ending in “dash”</a:t>
            </a:r>
          </a:p>
          <a:p>
            <a:endParaRPr lang="en-US" sz="3413" dirty="0"/>
          </a:p>
          <a:p>
            <a:r>
              <a:rPr lang="en-US" sz="3413" dirty="0"/>
              <a:t>+ number of signals ending in “dash-space”</a:t>
            </a:r>
          </a:p>
          <a:p>
            <a:endParaRPr lang="en-US" sz="3413" dirty="0"/>
          </a:p>
          <a:p>
            <a:r>
              <a:rPr lang="en-US" sz="3413" dirty="0"/>
              <a:t>+ number of signals ending in “dot-space”</a:t>
            </a:r>
          </a:p>
          <a:p>
            <a:endParaRPr lang="en-US" sz="3413" dirty="0"/>
          </a:p>
          <a:p>
            <a:r>
              <a:rPr lang="en-US" sz="3413" dirty="0"/>
              <a:t>+ number of signals ending in “dot-word-space”</a:t>
            </a:r>
          </a:p>
          <a:p>
            <a:endParaRPr lang="en-US" sz="3413" dirty="0"/>
          </a:p>
          <a:p>
            <a:r>
              <a:rPr lang="en-US" sz="3413" dirty="0"/>
              <a:t>+ number of signals ending in “dash-word-space”</a:t>
            </a:r>
          </a:p>
          <a:p>
            <a:endParaRPr lang="en-US" sz="3413" dirty="0"/>
          </a:p>
        </p:txBody>
      </p:sp>
    </p:spTree>
    <p:extLst>
      <p:ext uri="{BB962C8B-B14F-4D97-AF65-F5344CB8AC3E}">
        <p14:creationId xmlns:p14="http://schemas.microsoft.com/office/powerpoint/2010/main" val="3205648"/>
      </p:ext>
    </p:extLst>
  </p:cSld>
  <p:clrMapOvr>
    <a:masterClrMapping/>
  </p:clrMapOvr>
  <p:transition spd="med"/>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70738" y="1593991"/>
            <a:ext cx="1625600" cy="866987"/>
          </a:xfrm>
          <a:prstGeom prst="rect">
            <a:avLst/>
          </a:prstGeom>
        </p:spPr>
      </p:pic>
      <p:sp>
        <p:nvSpPr>
          <p:cNvPr id="8" name="TextBox 7"/>
          <p:cNvSpPr txBox="1"/>
          <p:nvPr/>
        </p:nvSpPr>
        <p:spPr>
          <a:xfrm>
            <a:off x="1526487" y="1638319"/>
            <a:ext cx="9970999" cy="6920228"/>
          </a:xfrm>
          <a:prstGeom prst="rect">
            <a:avLst/>
          </a:prstGeom>
          <a:noFill/>
        </p:spPr>
        <p:txBody>
          <a:bodyPr wrap="none" rtlCol="0">
            <a:spAutoFit/>
          </a:bodyPr>
          <a:lstStyle/>
          <a:p>
            <a:r>
              <a:rPr lang="en-US" sz="5120" dirty="0"/>
              <a:t>  </a:t>
            </a:r>
            <a:r>
              <a:rPr lang="en-US" sz="3413" dirty="0"/>
              <a:t> number of signals ending in “dot”</a:t>
            </a:r>
          </a:p>
          <a:p>
            <a:endParaRPr lang="en-US" sz="3413" dirty="0"/>
          </a:p>
          <a:p>
            <a:r>
              <a:rPr lang="en-US" sz="3413" dirty="0"/>
              <a:t>+ number of signals ending in “dash”</a:t>
            </a:r>
          </a:p>
          <a:p>
            <a:endParaRPr lang="en-US" sz="3413" dirty="0"/>
          </a:p>
          <a:p>
            <a:r>
              <a:rPr lang="en-US" sz="3413" dirty="0"/>
              <a:t>+ number of signals ending in “dash-space”</a:t>
            </a:r>
          </a:p>
          <a:p>
            <a:endParaRPr lang="en-US" sz="3413" dirty="0"/>
          </a:p>
          <a:p>
            <a:r>
              <a:rPr lang="en-US" sz="3413" dirty="0"/>
              <a:t>+ number of signals ending in “dot-space”</a:t>
            </a:r>
          </a:p>
          <a:p>
            <a:endParaRPr lang="en-US" sz="3413" dirty="0"/>
          </a:p>
          <a:p>
            <a:r>
              <a:rPr lang="en-US" sz="3413" dirty="0"/>
              <a:t>+ number of signals ending in “dot-word-space”</a:t>
            </a:r>
          </a:p>
          <a:p>
            <a:endParaRPr lang="en-US" sz="3413" dirty="0"/>
          </a:p>
          <a:p>
            <a:r>
              <a:rPr lang="en-US" sz="3413" dirty="0"/>
              <a:t>+ number of signals ending in “dash-word-space”</a:t>
            </a:r>
          </a:p>
          <a:p>
            <a:endParaRPr lang="en-US" sz="5120" dirty="0"/>
          </a:p>
        </p:txBody>
      </p:sp>
      <p:pic>
        <p:nvPicPr>
          <p:cNvPr id="6" name="Picture 5"/>
          <p:cNvPicPr>
            <a:picLocks noChangeAspect="1"/>
          </p:cNvPicPr>
          <p:nvPr/>
        </p:nvPicPr>
        <p:blipFill>
          <a:blip r:embed="rId3"/>
          <a:stretch>
            <a:fillRect/>
          </a:stretch>
        </p:blipFill>
        <p:spPr>
          <a:xfrm>
            <a:off x="505742" y="7793876"/>
            <a:ext cx="12087239" cy="1036772"/>
          </a:xfrm>
          <a:prstGeom prst="rect">
            <a:avLst/>
          </a:prstGeom>
        </p:spPr>
      </p:pic>
      <p:sp>
        <p:nvSpPr>
          <p:cNvPr id="9" name="Rectangle 8"/>
          <p:cNvSpPr/>
          <p:nvPr/>
        </p:nvSpPr>
        <p:spPr>
          <a:xfrm>
            <a:off x="670739" y="441214"/>
            <a:ext cx="11617919" cy="1317925"/>
          </a:xfrm>
          <a:prstGeom prst="rect">
            <a:avLst/>
          </a:prstGeom>
        </p:spPr>
        <p:txBody>
          <a:bodyPr wrap="square">
            <a:spAutoFit/>
          </a:bodyPr>
          <a:lstStyle/>
          <a:p>
            <a:r>
              <a:rPr lang="en-US" sz="3982" b="1" u="sng" dirty="0">
                <a:solidFill>
                  <a:srgbClr val="0000FF"/>
                </a:solidFill>
              </a:rPr>
              <a:t>How many signals can be transmitted per unit time? </a:t>
            </a:r>
          </a:p>
        </p:txBody>
      </p:sp>
    </p:spTree>
    <p:extLst>
      <p:ext uri="{BB962C8B-B14F-4D97-AF65-F5344CB8AC3E}">
        <p14:creationId xmlns:p14="http://schemas.microsoft.com/office/powerpoint/2010/main" val="190234761"/>
      </p:ext>
    </p:extLst>
  </p:cSld>
  <p:clrMapOvr>
    <a:masterClrMapping/>
  </p:clrMapOvr>
  <p:transition spd="med"/>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88648" y="3003432"/>
            <a:ext cx="12087239" cy="1036772"/>
          </a:xfrm>
          <a:prstGeom prst="rect">
            <a:avLst/>
          </a:prstGeom>
        </p:spPr>
      </p:pic>
      <p:sp>
        <p:nvSpPr>
          <p:cNvPr id="3" name="TextBox 2"/>
          <p:cNvSpPr txBox="1"/>
          <p:nvPr/>
        </p:nvSpPr>
        <p:spPr>
          <a:xfrm>
            <a:off x="497789" y="2126042"/>
            <a:ext cx="4642617" cy="705129"/>
          </a:xfrm>
          <a:prstGeom prst="rect">
            <a:avLst/>
          </a:prstGeom>
          <a:noFill/>
        </p:spPr>
        <p:txBody>
          <a:bodyPr wrap="none" rtlCol="0">
            <a:spAutoFit/>
          </a:bodyPr>
          <a:lstStyle/>
          <a:p>
            <a:r>
              <a:rPr lang="en-US" sz="3982" dirty="0"/>
              <a:t>This is an equation!</a:t>
            </a:r>
          </a:p>
        </p:txBody>
      </p:sp>
      <p:sp>
        <p:nvSpPr>
          <p:cNvPr id="9" name="TextBox 8"/>
          <p:cNvSpPr txBox="1"/>
          <p:nvPr/>
        </p:nvSpPr>
        <p:spPr>
          <a:xfrm>
            <a:off x="275578" y="4966020"/>
            <a:ext cx="10403809" cy="705129"/>
          </a:xfrm>
          <a:prstGeom prst="rect">
            <a:avLst/>
          </a:prstGeom>
          <a:noFill/>
        </p:spPr>
        <p:txBody>
          <a:bodyPr wrap="none" rtlCol="0">
            <a:spAutoFit/>
          </a:bodyPr>
          <a:lstStyle/>
          <a:p>
            <a:r>
              <a:rPr lang="en-US" sz="3982" dirty="0">
                <a:solidFill>
                  <a:srgbClr val="FF0000"/>
                </a:solidFill>
              </a:rPr>
              <a:t>Discuss for five minutes with your neighbors!</a:t>
            </a:r>
          </a:p>
        </p:txBody>
      </p:sp>
      <p:sp>
        <p:nvSpPr>
          <p:cNvPr id="10" name="Rectangle 9"/>
          <p:cNvSpPr/>
          <p:nvPr/>
        </p:nvSpPr>
        <p:spPr>
          <a:xfrm>
            <a:off x="670739" y="441214"/>
            <a:ext cx="11617919" cy="1317925"/>
          </a:xfrm>
          <a:prstGeom prst="rect">
            <a:avLst/>
          </a:prstGeom>
        </p:spPr>
        <p:txBody>
          <a:bodyPr wrap="square">
            <a:spAutoFit/>
          </a:bodyPr>
          <a:lstStyle/>
          <a:p>
            <a:r>
              <a:rPr lang="en-US" sz="3982" b="1" u="sng" dirty="0">
                <a:solidFill>
                  <a:srgbClr val="0000FF"/>
                </a:solidFill>
              </a:rPr>
              <a:t>How many signals can be transmitted per unit time? </a:t>
            </a:r>
          </a:p>
        </p:txBody>
      </p:sp>
    </p:spTree>
    <p:extLst>
      <p:ext uri="{BB962C8B-B14F-4D97-AF65-F5344CB8AC3E}">
        <p14:creationId xmlns:p14="http://schemas.microsoft.com/office/powerpoint/2010/main" val="1819961391"/>
      </p:ext>
    </p:extLst>
  </p:cSld>
  <p:clrMapOvr>
    <a:masterClrMapping/>
  </p:clrMapOvr>
  <p:transition spd="med"/>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75360" y="2783090"/>
            <a:ext cx="11223865" cy="962716"/>
          </a:xfrm>
          <a:prstGeom prst="rect">
            <a:avLst/>
          </a:prstGeom>
        </p:spPr>
      </p:pic>
      <p:sp>
        <p:nvSpPr>
          <p:cNvPr id="3" name="TextBox 2"/>
          <p:cNvSpPr txBox="1"/>
          <p:nvPr/>
        </p:nvSpPr>
        <p:spPr>
          <a:xfrm>
            <a:off x="975991" y="1740579"/>
            <a:ext cx="4544834" cy="617541"/>
          </a:xfrm>
          <a:prstGeom prst="rect">
            <a:avLst/>
          </a:prstGeom>
          <a:noFill/>
        </p:spPr>
        <p:txBody>
          <a:bodyPr wrap="none" rtlCol="0">
            <a:spAutoFit/>
          </a:bodyPr>
          <a:lstStyle/>
          <a:p>
            <a:r>
              <a:rPr lang="en-US" sz="3413" dirty="0"/>
              <a:t>How do we solve this?</a:t>
            </a:r>
          </a:p>
        </p:txBody>
      </p:sp>
      <p:pic>
        <p:nvPicPr>
          <p:cNvPr id="4" name="Picture 3"/>
          <p:cNvPicPr>
            <a:picLocks noChangeAspect="1"/>
          </p:cNvPicPr>
          <p:nvPr/>
        </p:nvPicPr>
        <p:blipFill>
          <a:blip r:embed="rId3"/>
          <a:stretch>
            <a:fillRect/>
          </a:stretch>
        </p:blipFill>
        <p:spPr>
          <a:xfrm>
            <a:off x="1766468" y="4031977"/>
            <a:ext cx="1948914" cy="751388"/>
          </a:xfrm>
          <a:prstGeom prst="rect">
            <a:avLst/>
          </a:prstGeom>
        </p:spPr>
      </p:pic>
      <p:pic>
        <p:nvPicPr>
          <p:cNvPr id="5" name="Picture 4"/>
          <p:cNvPicPr>
            <a:picLocks noChangeAspect="1"/>
          </p:cNvPicPr>
          <p:nvPr/>
        </p:nvPicPr>
        <p:blipFill>
          <a:blip r:embed="rId4"/>
          <a:stretch>
            <a:fillRect/>
          </a:stretch>
        </p:blipFill>
        <p:spPr>
          <a:xfrm>
            <a:off x="1237803" y="5385827"/>
            <a:ext cx="7138190" cy="704427"/>
          </a:xfrm>
          <a:prstGeom prst="rect">
            <a:avLst/>
          </a:prstGeom>
        </p:spPr>
      </p:pic>
      <p:sp>
        <p:nvSpPr>
          <p:cNvPr id="8" name="TextBox 7"/>
          <p:cNvSpPr txBox="1"/>
          <p:nvPr/>
        </p:nvSpPr>
        <p:spPr>
          <a:xfrm>
            <a:off x="1114410" y="4105948"/>
            <a:ext cx="692818" cy="530017"/>
          </a:xfrm>
          <a:prstGeom prst="rect">
            <a:avLst/>
          </a:prstGeom>
          <a:noFill/>
        </p:spPr>
        <p:txBody>
          <a:bodyPr wrap="none" rtlCol="0">
            <a:spAutoFit/>
          </a:bodyPr>
          <a:lstStyle/>
          <a:p>
            <a:r>
              <a:rPr lang="en-US" sz="2844" dirty="0"/>
              <a:t>Let</a:t>
            </a:r>
          </a:p>
        </p:txBody>
      </p:sp>
      <p:sp>
        <p:nvSpPr>
          <p:cNvPr id="10" name="TextBox 9"/>
          <p:cNvSpPr txBox="1"/>
          <p:nvPr/>
        </p:nvSpPr>
        <p:spPr>
          <a:xfrm>
            <a:off x="3230082" y="4090595"/>
            <a:ext cx="6441187" cy="530017"/>
          </a:xfrm>
          <a:prstGeom prst="rect">
            <a:avLst/>
          </a:prstGeom>
          <a:noFill/>
        </p:spPr>
        <p:txBody>
          <a:bodyPr wrap="none" rtlCol="0">
            <a:spAutoFit/>
          </a:bodyPr>
          <a:lstStyle/>
          <a:p>
            <a:r>
              <a:rPr lang="en-US" sz="2844" dirty="0"/>
              <a:t>and substitute into the above equation</a:t>
            </a:r>
          </a:p>
        </p:txBody>
      </p:sp>
      <p:sp>
        <p:nvSpPr>
          <p:cNvPr id="11" name="Rectangle 10"/>
          <p:cNvSpPr/>
          <p:nvPr/>
        </p:nvSpPr>
        <p:spPr>
          <a:xfrm>
            <a:off x="670739" y="441214"/>
            <a:ext cx="11617919" cy="1317925"/>
          </a:xfrm>
          <a:prstGeom prst="rect">
            <a:avLst/>
          </a:prstGeom>
        </p:spPr>
        <p:txBody>
          <a:bodyPr wrap="square">
            <a:spAutoFit/>
          </a:bodyPr>
          <a:lstStyle/>
          <a:p>
            <a:r>
              <a:rPr lang="en-US" sz="3982" b="1" u="sng" dirty="0">
                <a:solidFill>
                  <a:srgbClr val="0000FF"/>
                </a:solidFill>
              </a:rPr>
              <a:t>How many signals can be transmitted per unit time? </a:t>
            </a:r>
          </a:p>
        </p:txBody>
      </p:sp>
    </p:spTree>
    <p:extLst>
      <p:ext uri="{BB962C8B-B14F-4D97-AF65-F5344CB8AC3E}">
        <p14:creationId xmlns:p14="http://schemas.microsoft.com/office/powerpoint/2010/main" val="1481514316"/>
      </p:ext>
    </p:extLst>
  </p:cSld>
  <p:clrMapOvr>
    <a:masterClrMapping/>
  </p:clrMapOvr>
  <p:transition spd="med"/>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320634" y="2403250"/>
            <a:ext cx="7231828" cy="713667"/>
          </a:xfrm>
          <a:prstGeom prst="rect">
            <a:avLst/>
          </a:prstGeom>
        </p:spPr>
      </p:pic>
      <p:pic>
        <p:nvPicPr>
          <p:cNvPr id="7" name="Picture 6"/>
          <p:cNvPicPr>
            <a:picLocks noChangeAspect="1"/>
          </p:cNvPicPr>
          <p:nvPr/>
        </p:nvPicPr>
        <p:blipFill>
          <a:blip r:embed="rId3"/>
          <a:stretch>
            <a:fillRect/>
          </a:stretch>
        </p:blipFill>
        <p:spPr>
          <a:xfrm>
            <a:off x="7500232" y="3647441"/>
            <a:ext cx="1633084" cy="1115941"/>
          </a:xfrm>
          <a:prstGeom prst="rect">
            <a:avLst/>
          </a:prstGeom>
        </p:spPr>
      </p:pic>
      <p:pic>
        <p:nvPicPr>
          <p:cNvPr id="8" name="Picture 7"/>
          <p:cNvPicPr>
            <a:picLocks noChangeAspect="1"/>
          </p:cNvPicPr>
          <p:nvPr/>
        </p:nvPicPr>
        <p:blipFill>
          <a:blip r:embed="rId4"/>
          <a:stretch>
            <a:fillRect/>
          </a:stretch>
        </p:blipFill>
        <p:spPr>
          <a:xfrm>
            <a:off x="1320634" y="3845865"/>
            <a:ext cx="5590056" cy="660429"/>
          </a:xfrm>
          <a:prstGeom prst="rect">
            <a:avLst/>
          </a:prstGeom>
        </p:spPr>
      </p:pic>
      <p:sp>
        <p:nvSpPr>
          <p:cNvPr id="10" name="TextBox 9"/>
          <p:cNvSpPr txBox="1"/>
          <p:nvPr/>
        </p:nvSpPr>
        <p:spPr>
          <a:xfrm>
            <a:off x="869320" y="7370615"/>
            <a:ext cx="9834744" cy="617541"/>
          </a:xfrm>
          <a:prstGeom prst="rect">
            <a:avLst/>
          </a:prstGeom>
          <a:noFill/>
        </p:spPr>
        <p:txBody>
          <a:bodyPr wrap="none" rtlCol="0">
            <a:spAutoFit/>
          </a:bodyPr>
          <a:lstStyle/>
          <a:p>
            <a:r>
              <a:rPr lang="en-US" sz="3413" dirty="0"/>
              <a:t>where </a:t>
            </a:r>
            <a:r>
              <a:rPr lang="en-US" sz="3413" i="1" dirty="0"/>
              <a:t>x</a:t>
            </a:r>
            <a:r>
              <a:rPr lang="en-US" sz="3413" dirty="0"/>
              <a:t> is the largest solution to the this equation</a:t>
            </a:r>
          </a:p>
        </p:txBody>
      </p:sp>
      <p:pic>
        <p:nvPicPr>
          <p:cNvPr id="13" name="Picture 12"/>
          <p:cNvPicPr>
            <a:picLocks noChangeAspect="1"/>
          </p:cNvPicPr>
          <p:nvPr/>
        </p:nvPicPr>
        <p:blipFill>
          <a:blip r:embed="rId5"/>
          <a:stretch>
            <a:fillRect/>
          </a:stretch>
        </p:blipFill>
        <p:spPr>
          <a:xfrm>
            <a:off x="1320634" y="6364462"/>
            <a:ext cx="2492032" cy="960784"/>
          </a:xfrm>
          <a:prstGeom prst="rect">
            <a:avLst/>
          </a:prstGeom>
        </p:spPr>
      </p:pic>
      <p:sp>
        <p:nvSpPr>
          <p:cNvPr id="14" name="TextBox 13"/>
          <p:cNvSpPr txBox="1"/>
          <p:nvPr/>
        </p:nvSpPr>
        <p:spPr>
          <a:xfrm>
            <a:off x="1051295" y="5320538"/>
            <a:ext cx="4179349" cy="617541"/>
          </a:xfrm>
          <a:prstGeom prst="rect">
            <a:avLst/>
          </a:prstGeom>
          <a:noFill/>
        </p:spPr>
        <p:txBody>
          <a:bodyPr wrap="none" rtlCol="0">
            <a:spAutoFit/>
          </a:bodyPr>
          <a:lstStyle/>
          <a:p>
            <a:r>
              <a:rPr lang="en-US" sz="3413" dirty="0"/>
              <a:t>For large </a:t>
            </a:r>
            <a:r>
              <a:rPr lang="en-US" sz="3413" i="1" dirty="0"/>
              <a:t>t,</a:t>
            </a:r>
            <a:r>
              <a:rPr lang="en-US" sz="3413" dirty="0"/>
              <a:t> we have </a:t>
            </a:r>
          </a:p>
        </p:txBody>
      </p:sp>
      <p:sp>
        <p:nvSpPr>
          <p:cNvPr id="15" name="Rectangle 14"/>
          <p:cNvSpPr/>
          <p:nvPr/>
        </p:nvSpPr>
        <p:spPr>
          <a:xfrm>
            <a:off x="670739" y="441214"/>
            <a:ext cx="11617919" cy="1317925"/>
          </a:xfrm>
          <a:prstGeom prst="rect">
            <a:avLst/>
          </a:prstGeom>
        </p:spPr>
        <p:txBody>
          <a:bodyPr wrap="square">
            <a:spAutoFit/>
          </a:bodyPr>
          <a:lstStyle/>
          <a:p>
            <a:r>
              <a:rPr lang="en-US" sz="3982" b="1" u="sng" dirty="0">
                <a:solidFill>
                  <a:srgbClr val="0000FF"/>
                </a:solidFill>
              </a:rPr>
              <a:t>How many signals can be transmitted per unit time? </a:t>
            </a:r>
          </a:p>
        </p:txBody>
      </p:sp>
    </p:spTree>
    <p:extLst>
      <p:ext uri="{BB962C8B-B14F-4D97-AF65-F5344CB8AC3E}">
        <p14:creationId xmlns:p14="http://schemas.microsoft.com/office/powerpoint/2010/main" val="1885705694"/>
      </p:ext>
    </p:extLst>
  </p:cSld>
  <p:clrMapOvr>
    <a:masterClrMapping/>
  </p:clrMapOvr>
  <p:transition spd="med"/>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3856" y="1079749"/>
            <a:ext cx="13170592" cy="1142749"/>
          </a:xfrm>
          <a:prstGeom prst="rect">
            <a:avLst/>
          </a:prstGeom>
          <a:noFill/>
        </p:spPr>
        <p:txBody>
          <a:bodyPr wrap="none" rtlCol="0">
            <a:spAutoFit/>
          </a:bodyPr>
          <a:lstStyle/>
          <a:p>
            <a:r>
              <a:rPr lang="en-US" sz="3413" dirty="0"/>
              <a:t>It is </a:t>
            </a:r>
            <a:r>
              <a:rPr lang="en-US" sz="3413" i="1" dirty="0"/>
              <a:t>tradition</a:t>
            </a:r>
            <a:r>
              <a:rPr lang="en-US" sz="3413" dirty="0"/>
              <a:t> to express this rate as the number of bits per second </a:t>
            </a:r>
          </a:p>
          <a:p>
            <a:r>
              <a:rPr lang="en-US" sz="3413" dirty="0"/>
              <a:t>(bits/sec)</a:t>
            </a:r>
          </a:p>
        </p:txBody>
      </p:sp>
      <p:grpSp>
        <p:nvGrpSpPr>
          <p:cNvPr id="9" name="Group 8"/>
          <p:cNvGrpSpPr/>
          <p:nvPr/>
        </p:nvGrpSpPr>
        <p:grpSpPr>
          <a:xfrm>
            <a:off x="523804" y="2763520"/>
            <a:ext cx="11433387" cy="1715911"/>
            <a:chOff x="444500" y="3810000"/>
            <a:chExt cx="8039100" cy="1206500"/>
          </a:xfrm>
        </p:grpSpPr>
        <p:pic>
          <p:nvPicPr>
            <p:cNvPr id="4" name="Picture 3" descr="tradition.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500" y="3810000"/>
              <a:ext cx="8039100" cy="1206500"/>
            </a:xfrm>
            <a:prstGeom prst="rect">
              <a:avLst/>
            </a:prstGeom>
          </p:spPr>
        </p:pic>
        <p:sp>
          <p:nvSpPr>
            <p:cNvPr id="5" name="Rectangle 4"/>
            <p:cNvSpPr/>
            <p:nvPr/>
          </p:nvSpPr>
          <p:spPr>
            <a:xfrm>
              <a:off x="558800" y="4051300"/>
              <a:ext cx="7848600" cy="254000"/>
            </a:xfrm>
            <a:prstGeom prst="rect">
              <a:avLst/>
            </a:prstGeom>
            <a:solidFill>
              <a:srgbClr val="FFFF00">
                <a:alpha val="2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6" name="Rectangle 5"/>
            <p:cNvSpPr/>
            <p:nvPr/>
          </p:nvSpPr>
          <p:spPr>
            <a:xfrm>
              <a:off x="7816948" y="3835400"/>
              <a:ext cx="590452" cy="254000"/>
            </a:xfrm>
            <a:prstGeom prst="rect">
              <a:avLst/>
            </a:prstGeom>
            <a:solidFill>
              <a:srgbClr val="FFFF00">
                <a:alpha val="2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7" name="Rectangle 6"/>
            <p:cNvSpPr/>
            <p:nvPr/>
          </p:nvSpPr>
          <p:spPr>
            <a:xfrm>
              <a:off x="558800" y="4305300"/>
              <a:ext cx="1041400" cy="254000"/>
            </a:xfrm>
            <a:prstGeom prst="rect">
              <a:avLst/>
            </a:prstGeom>
            <a:solidFill>
              <a:srgbClr val="FFFF00">
                <a:alpha val="2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8" name="Rectangle 7"/>
            <p:cNvSpPr/>
            <p:nvPr/>
          </p:nvSpPr>
          <p:spPr>
            <a:xfrm>
              <a:off x="4965700" y="4686300"/>
              <a:ext cx="444500" cy="3302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grpSp>
      <p:pic>
        <p:nvPicPr>
          <p:cNvPr id="10" name="Picture 9"/>
          <p:cNvPicPr>
            <a:picLocks noChangeAspect="1"/>
          </p:cNvPicPr>
          <p:nvPr/>
        </p:nvPicPr>
        <p:blipFill>
          <a:blip r:embed="rId3"/>
          <a:stretch>
            <a:fillRect/>
          </a:stretch>
        </p:blipFill>
        <p:spPr>
          <a:xfrm>
            <a:off x="686365" y="4818692"/>
            <a:ext cx="3522133" cy="948267"/>
          </a:xfrm>
          <a:prstGeom prst="rect">
            <a:avLst/>
          </a:prstGeom>
        </p:spPr>
      </p:pic>
      <p:pic>
        <p:nvPicPr>
          <p:cNvPr id="12" name="Picture 11"/>
          <p:cNvPicPr>
            <a:picLocks noChangeAspect="1"/>
          </p:cNvPicPr>
          <p:nvPr/>
        </p:nvPicPr>
        <p:blipFill>
          <a:blip r:embed="rId4"/>
          <a:stretch>
            <a:fillRect/>
          </a:stretch>
        </p:blipFill>
        <p:spPr>
          <a:xfrm>
            <a:off x="564444" y="6013252"/>
            <a:ext cx="5770880" cy="1354667"/>
          </a:xfrm>
          <a:prstGeom prst="rect">
            <a:avLst/>
          </a:prstGeom>
        </p:spPr>
      </p:pic>
      <p:pic>
        <p:nvPicPr>
          <p:cNvPr id="13" name="Picture 12"/>
          <p:cNvPicPr>
            <a:picLocks noChangeAspect="1"/>
          </p:cNvPicPr>
          <p:nvPr/>
        </p:nvPicPr>
        <p:blipFill>
          <a:blip r:embed="rId5"/>
          <a:stretch>
            <a:fillRect/>
          </a:stretch>
        </p:blipFill>
        <p:spPr>
          <a:xfrm>
            <a:off x="686364" y="7763705"/>
            <a:ext cx="2275840" cy="677333"/>
          </a:xfrm>
          <a:prstGeom prst="rect">
            <a:avLst/>
          </a:prstGeom>
        </p:spPr>
      </p:pic>
      <p:sp>
        <p:nvSpPr>
          <p:cNvPr id="14" name="TextBox 13"/>
          <p:cNvSpPr txBox="1"/>
          <p:nvPr/>
        </p:nvSpPr>
        <p:spPr>
          <a:xfrm>
            <a:off x="2960200" y="7806290"/>
            <a:ext cx="1840568" cy="617541"/>
          </a:xfrm>
          <a:prstGeom prst="rect">
            <a:avLst/>
          </a:prstGeom>
          <a:noFill/>
        </p:spPr>
        <p:txBody>
          <a:bodyPr wrap="none" rtlCol="0">
            <a:spAutoFit/>
          </a:bodyPr>
          <a:lstStyle/>
          <a:p>
            <a:r>
              <a:rPr lang="en-US" sz="3413" dirty="0"/>
              <a:t>bits/time</a:t>
            </a:r>
          </a:p>
        </p:txBody>
      </p:sp>
      <p:sp>
        <p:nvSpPr>
          <p:cNvPr id="15" name="TextBox 14"/>
          <p:cNvSpPr txBox="1"/>
          <p:nvPr/>
        </p:nvSpPr>
        <p:spPr>
          <a:xfrm>
            <a:off x="6341669" y="7903436"/>
            <a:ext cx="5641288" cy="617541"/>
          </a:xfrm>
          <a:prstGeom prst="rect">
            <a:avLst/>
          </a:prstGeom>
          <a:noFill/>
        </p:spPr>
        <p:txBody>
          <a:bodyPr wrap="none" rtlCol="0">
            <a:spAutoFit/>
          </a:bodyPr>
          <a:lstStyle/>
          <a:p>
            <a:r>
              <a:rPr lang="en-US" sz="3413" dirty="0"/>
              <a:t>information rate of this code</a:t>
            </a:r>
          </a:p>
        </p:txBody>
      </p:sp>
      <p:sp>
        <p:nvSpPr>
          <p:cNvPr id="16" name="TextBox 15"/>
          <p:cNvSpPr txBox="1"/>
          <p:nvPr/>
        </p:nvSpPr>
        <p:spPr>
          <a:xfrm>
            <a:off x="6276476" y="6088814"/>
            <a:ext cx="5953873" cy="1142749"/>
          </a:xfrm>
          <a:prstGeom prst="rect">
            <a:avLst/>
          </a:prstGeom>
          <a:noFill/>
        </p:spPr>
        <p:txBody>
          <a:bodyPr wrap="none" rtlCol="0">
            <a:spAutoFit/>
          </a:bodyPr>
          <a:lstStyle/>
          <a:p>
            <a:r>
              <a:rPr lang="en-US" sz="3413" dirty="0"/>
              <a:t>channel capacity</a:t>
            </a:r>
          </a:p>
          <a:p>
            <a:r>
              <a:rPr lang="en-US" sz="3413" dirty="0"/>
              <a:t>(maximum transmission rate) </a:t>
            </a:r>
          </a:p>
        </p:txBody>
      </p:sp>
    </p:spTree>
    <p:extLst>
      <p:ext uri="{BB962C8B-B14F-4D97-AF65-F5344CB8AC3E}">
        <p14:creationId xmlns:p14="http://schemas.microsoft.com/office/powerpoint/2010/main" val="491936632"/>
      </p:ext>
    </p:extLst>
  </p:cSld>
  <p:clrMapOvr>
    <a:masterClrMapping/>
  </p:clrMapOvr>
  <p:transition spd="med"/>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7494" y="7646251"/>
            <a:ext cx="13122502" cy="1142749"/>
          </a:xfrm>
          <a:prstGeom prst="rect">
            <a:avLst/>
          </a:prstGeom>
        </p:spPr>
        <p:txBody>
          <a:bodyPr wrap="none">
            <a:spAutoFit/>
          </a:bodyPr>
          <a:lstStyle/>
          <a:p>
            <a:r>
              <a:rPr lang="en-US" sz="3413" b="1" dirty="0">
                <a:solidFill>
                  <a:srgbClr val="FF0000"/>
                </a:solidFill>
              </a:rPr>
              <a:t>Note: </a:t>
            </a:r>
            <a:r>
              <a:rPr lang="en-US" sz="3413" dirty="0"/>
              <a:t>this is not the whole story.  We still need to characterize the </a:t>
            </a:r>
          </a:p>
          <a:p>
            <a:r>
              <a:rPr lang="en-US" sz="3413" dirty="0"/>
              <a:t>	     information content of what we’re expressing!</a:t>
            </a:r>
          </a:p>
        </p:txBody>
      </p:sp>
      <p:pic>
        <p:nvPicPr>
          <p:cNvPr id="4" name="Picture 3" descr="Facebook-Chat-Emoticons-list.jpg"/>
          <p:cNvPicPr>
            <a:picLocks noChangeAspect="1"/>
          </p:cNvPicPr>
          <p:nvPr/>
        </p:nvPicPr>
        <p:blipFill rotWithShape="1">
          <a:blip r:embed="rId2">
            <a:extLst>
              <a:ext uri="{28A0092B-C50C-407E-A947-70E740481C1C}">
                <a14:useLocalDpi xmlns:a14="http://schemas.microsoft.com/office/drawing/2010/main" val="0"/>
              </a:ext>
            </a:extLst>
          </a:blip>
          <a:srcRect l="5" t="-3" r="38962" b="34405"/>
          <a:stretch/>
        </p:blipFill>
        <p:spPr>
          <a:xfrm>
            <a:off x="7011981" y="1591592"/>
            <a:ext cx="5501030" cy="5462016"/>
          </a:xfrm>
          <a:prstGeom prst="rect">
            <a:avLst/>
          </a:prstGeom>
        </p:spPr>
      </p:pic>
      <p:sp>
        <p:nvSpPr>
          <p:cNvPr id="2" name="TextBox 1"/>
          <p:cNvSpPr txBox="1"/>
          <p:nvPr/>
        </p:nvSpPr>
        <p:spPr>
          <a:xfrm>
            <a:off x="234095" y="628681"/>
            <a:ext cx="13021513" cy="1142749"/>
          </a:xfrm>
          <a:prstGeom prst="rect">
            <a:avLst/>
          </a:prstGeom>
          <a:noFill/>
        </p:spPr>
        <p:txBody>
          <a:bodyPr wrap="none" rtlCol="0">
            <a:spAutoFit/>
          </a:bodyPr>
          <a:lstStyle/>
          <a:p>
            <a:r>
              <a:rPr lang="en-US" sz="3413" dirty="0"/>
              <a:t>An exercise (or project!)</a:t>
            </a:r>
          </a:p>
          <a:p>
            <a:r>
              <a:rPr lang="en-US" sz="3413" dirty="0"/>
              <a:t>Compute the channel capacity of your favorite encoding scheme!</a:t>
            </a:r>
          </a:p>
        </p:txBody>
      </p:sp>
      <p:pic>
        <p:nvPicPr>
          <p:cNvPr id="6" name="Picture 5" descr="mcode2.jpg"/>
          <p:cNvPicPr>
            <a:picLocks noChangeAspect="1"/>
          </p:cNvPicPr>
          <p:nvPr/>
        </p:nvPicPr>
        <p:blipFill rotWithShape="1">
          <a:blip r:embed="rId3">
            <a:extLst>
              <a:ext uri="{28A0092B-C50C-407E-A947-70E740481C1C}">
                <a14:useLocalDpi xmlns:a14="http://schemas.microsoft.com/office/drawing/2010/main" val="0"/>
              </a:ext>
            </a:extLst>
          </a:blip>
          <a:srcRect r="53295" b="12866"/>
          <a:stretch/>
        </p:blipFill>
        <p:spPr>
          <a:xfrm>
            <a:off x="1461725" y="1921693"/>
            <a:ext cx="4234823" cy="5461221"/>
          </a:xfrm>
          <a:prstGeom prst="rect">
            <a:avLst/>
          </a:prstGeom>
        </p:spPr>
      </p:pic>
    </p:spTree>
    <p:extLst>
      <p:ext uri="{BB962C8B-B14F-4D97-AF65-F5344CB8AC3E}">
        <p14:creationId xmlns:p14="http://schemas.microsoft.com/office/powerpoint/2010/main" val="166933074"/>
      </p:ext>
    </p:extLst>
  </p:cSld>
  <p:clrMapOvr>
    <a:masterClrMapping/>
  </p:clrMapOvr>
  <p:transition spd="med"/>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2645" y="577992"/>
            <a:ext cx="2683747" cy="705129"/>
          </a:xfrm>
          <a:prstGeom prst="rect">
            <a:avLst/>
          </a:prstGeom>
          <a:noFill/>
        </p:spPr>
        <p:txBody>
          <a:bodyPr wrap="none" rtlCol="0">
            <a:spAutoFit/>
          </a:bodyPr>
          <a:lstStyle/>
          <a:p>
            <a:r>
              <a:rPr lang="en-US" sz="3982" b="1" u="sng" dirty="0">
                <a:solidFill>
                  <a:srgbClr val="0000FF"/>
                </a:solidFill>
              </a:rPr>
              <a:t>Questions</a:t>
            </a:r>
          </a:p>
        </p:txBody>
      </p:sp>
      <p:pic>
        <p:nvPicPr>
          <p:cNvPr id="3" name="Picture 2" descr="syste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0151" y="4341666"/>
            <a:ext cx="7911253" cy="3424597"/>
          </a:xfrm>
          <a:prstGeom prst="rect">
            <a:avLst/>
          </a:prstGeom>
        </p:spPr>
      </p:pic>
      <p:sp>
        <p:nvSpPr>
          <p:cNvPr id="4" name="TextBox 3"/>
          <p:cNvSpPr txBox="1"/>
          <p:nvPr/>
        </p:nvSpPr>
        <p:spPr>
          <a:xfrm>
            <a:off x="398334" y="1620804"/>
            <a:ext cx="12824345" cy="2193164"/>
          </a:xfrm>
          <a:prstGeom prst="rect">
            <a:avLst/>
          </a:prstGeom>
          <a:noFill/>
        </p:spPr>
        <p:txBody>
          <a:bodyPr wrap="none" rtlCol="0">
            <a:spAutoFit/>
          </a:bodyPr>
          <a:lstStyle/>
          <a:p>
            <a:r>
              <a:rPr lang="en-US" sz="3413" dirty="0"/>
              <a:t>How much information is expressed by the information source?</a:t>
            </a:r>
          </a:p>
          <a:p>
            <a:endParaRPr lang="en-US" sz="3413" dirty="0"/>
          </a:p>
          <a:p>
            <a:r>
              <a:rPr lang="en-US" sz="3413" dirty="0"/>
              <a:t>How can we mathematically characterize the information content</a:t>
            </a:r>
          </a:p>
          <a:p>
            <a:r>
              <a:rPr lang="en-US" sz="3413" dirty="0"/>
              <a:t>in this source?</a:t>
            </a:r>
          </a:p>
        </p:txBody>
      </p:sp>
      <p:sp>
        <p:nvSpPr>
          <p:cNvPr id="5" name="Rectangle 4"/>
          <p:cNvSpPr/>
          <p:nvPr/>
        </p:nvSpPr>
        <p:spPr>
          <a:xfrm>
            <a:off x="834960" y="8002517"/>
            <a:ext cx="6502400" cy="1142749"/>
          </a:xfrm>
          <a:prstGeom prst="rect">
            <a:avLst/>
          </a:prstGeom>
        </p:spPr>
        <p:txBody>
          <a:bodyPr>
            <a:spAutoFit/>
          </a:bodyPr>
          <a:lstStyle/>
          <a:p>
            <a:r>
              <a:rPr lang="en-US" sz="3413" dirty="0"/>
              <a:t>Discuss briefly with your neighbor</a:t>
            </a:r>
          </a:p>
        </p:txBody>
      </p:sp>
    </p:spTree>
    <p:extLst>
      <p:ext uri="{BB962C8B-B14F-4D97-AF65-F5344CB8AC3E}">
        <p14:creationId xmlns:p14="http://schemas.microsoft.com/office/powerpoint/2010/main" val="1030531736"/>
      </p:ext>
    </p:extLst>
  </p:cSld>
  <p:clrMapOvr>
    <a:masterClrMapping/>
  </p:clrMapOvr>
  <p:transition spd="med"/>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1531" y="950059"/>
            <a:ext cx="5466560" cy="705129"/>
          </a:xfrm>
          <a:prstGeom prst="rect">
            <a:avLst/>
          </a:prstGeom>
          <a:noFill/>
        </p:spPr>
        <p:txBody>
          <a:bodyPr wrap="none" rtlCol="0">
            <a:spAutoFit/>
          </a:bodyPr>
          <a:lstStyle/>
          <a:p>
            <a:r>
              <a:rPr lang="en-US" sz="3982" b="1" u="sng" dirty="0">
                <a:solidFill>
                  <a:srgbClr val="0000FF"/>
                </a:solidFill>
              </a:rPr>
              <a:t>Consider Morse Code</a:t>
            </a:r>
          </a:p>
        </p:txBody>
      </p:sp>
      <p:sp>
        <p:nvSpPr>
          <p:cNvPr id="3" name="TextBox 2"/>
          <p:cNvSpPr txBox="1"/>
          <p:nvPr/>
        </p:nvSpPr>
        <p:spPr>
          <a:xfrm>
            <a:off x="342584" y="2293902"/>
            <a:ext cx="12705722" cy="3243580"/>
          </a:xfrm>
          <a:prstGeom prst="rect">
            <a:avLst/>
          </a:prstGeom>
          <a:noFill/>
        </p:spPr>
        <p:txBody>
          <a:bodyPr wrap="none" rtlCol="0">
            <a:spAutoFit/>
          </a:bodyPr>
          <a:lstStyle/>
          <a:p>
            <a:r>
              <a:rPr lang="en-US" sz="3413" dirty="0"/>
              <a:t>The dot-dash codes map to the letters of a language (English).  </a:t>
            </a:r>
          </a:p>
          <a:p>
            <a:endParaRPr lang="en-US" sz="3413" dirty="0"/>
          </a:p>
          <a:p>
            <a:r>
              <a:rPr lang="en-US" sz="3413" dirty="0"/>
              <a:t>We know that the distribution of letters in English is not uniform</a:t>
            </a:r>
          </a:p>
          <a:p>
            <a:endParaRPr lang="en-US" sz="3413" dirty="0"/>
          </a:p>
          <a:p>
            <a:r>
              <a:rPr lang="en-US" sz="3413" dirty="0"/>
              <a:t>        Example: “E” occurs more frequently than “Q”</a:t>
            </a:r>
          </a:p>
          <a:p>
            <a:r>
              <a:rPr lang="en-US" sz="3413" dirty="0"/>
              <a:t>                         “TH” occurs more frequently than “XP”</a:t>
            </a:r>
          </a:p>
        </p:txBody>
      </p:sp>
      <p:sp>
        <p:nvSpPr>
          <p:cNvPr id="4" name="TextBox 3"/>
          <p:cNvSpPr txBox="1"/>
          <p:nvPr/>
        </p:nvSpPr>
        <p:spPr>
          <a:xfrm>
            <a:off x="174141" y="6567083"/>
            <a:ext cx="12705722" cy="1667957"/>
          </a:xfrm>
          <a:prstGeom prst="rect">
            <a:avLst/>
          </a:prstGeom>
          <a:noFill/>
        </p:spPr>
        <p:txBody>
          <a:bodyPr wrap="none" rtlCol="0">
            <a:spAutoFit/>
          </a:bodyPr>
          <a:lstStyle/>
          <a:p>
            <a:r>
              <a:rPr lang="en-US" sz="3413" dirty="0">
                <a:solidFill>
                  <a:srgbClr val="FF0000"/>
                </a:solidFill>
              </a:rPr>
              <a:t>This means that we know the information source (if the source is</a:t>
            </a:r>
          </a:p>
          <a:p>
            <a:r>
              <a:rPr lang="en-US" sz="3413" dirty="0">
                <a:solidFill>
                  <a:srgbClr val="FF0000"/>
                </a:solidFill>
              </a:rPr>
              <a:t> speaking words of English) does not just choose random </a:t>
            </a:r>
          </a:p>
          <a:p>
            <a:r>
              <a:rPr lang="en-US" sz="3413" dirty="0">
                <a:solidFill>
                  <a:srgbClr val="FF0000"/>
                </a:solidFill>
              </a:rPr>
              <a:t>sequences of dots and dashes.</a:t>
            </a:r>
          </a:p>
        </p:txBody>
      </p:sp>
    </p:spTree>
    <p:extLst>
      <p:ext uri="{BB962C8B-B14F-4D97-AF65-F5344CB8AC3E}">
        <p14:creationId xmlns:p14="http://schemas.microsoft.com/office/powerpoint/2010/main" val="691273897"/>
      </p:ext>
    </p:extLst>
  </p:cSld>
  <p:clrMapOvr>
    <a:masterClrMapping/>
  </p:clrMapOvr>
  <p:transition spd="med"/>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2503" y="608605"/>
            <a:ext cx="3962943" cy="705129"/>
          </a:xfrm>
          <a:prstGeom prst="rect">
            <a:avLst/>
          </a:prstGeom>
          <a:noFill/>
        </p:spPr>
        <p:txBody>
          <a:bodyPr wrap="none" rtlCol="0">
            <a:spAutoFit/>
          </a:bodyPr>
          <a:lstStyle/>
          <a:p>
            <a:r>
              <a:rPr lang="en-US" sz="3982" b="1" u="sng" dirty="0">
                <a:solidFill>
                  <a:srgbClr val="0000FF"/>
                </a:solidFill>
              </a:rPr>
              <a:t>Shannon’s Idea</a:t>
            </a:r>
          </a:p>
        </p:txBody>
      </p:sp>
      <p:sp>
        <p:nvSpPr>
          <p:cNvPr id="6" name="TextBox 5"/>
          <p:cNvSpPr txBox="1"/>
          <p:nvPr/>
        </p:nvSpPr>
        <p:spPr>
          <a:xfrm>
            <a:off x="303959" y="2059094"/>
            <a:ext cx="13072809" cy="1142749"/>
          </a:xfrm>
          <a:prstGeom prst="rect">
            <a:avLst/>
          </a:prstGeom>
          <a:noFill/>
        </p:spPr>
        <p:txBody>
          <a:bodyPr wrap="none" rtlCol="0">
            <a:spAutoFit/>
          </a:bodyPr>
          <a:lstStyle/>
          <a:p>
            <a:r>
              <a:rPr lang="en-US" sz="3413" dirty="0"/>
              <a:t>A discrete information source is characterized by the probabilities</a:t>
            </a:r>
          </a:p>
          <a:p>
            <a:r>
              <a:rPr lang="en-US" sz="3413" dirty="0"/>
              <a:t>for emitting signals from the source </a:t>
            </a:r>
          </a:p>
        </p:txBody>
      </p:sp>
    </p:spTree>
    <p:extLst>
      <p:ext uri="{BB962C8B-B14F-4D97-AF65-F5344CB8AC3E}">
        <p14:creationId xmlns:p14="http://schemas.microsoft.com/office/powerpoint/2010/main" val="353856609"/>
      </p:ext>
    </p:extLst>
  </p:cSld>
  <p:clrMapOvr>
    <a:masterClrMapping/>
  </p:clrMapOvr>
  <p:transition spd="med"/>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2503" y="608605"/>
            <a:ext cx="3962943" cy="705129"/>
          </a:xfrm>
          <a:prstGeom prst="rect">
            <a:avLst/>
          </a:prstGeom>
          <a:noFill/>
        </p:spPr>
        <p:txBody>
          <a:bodyPr wrap="none" rtlCol="0">
            <a:spAutoFit/>
          </a:bodyPr>
          <a:lstStyle/>
          <a:p>
            <a:r>
              <a:rPr lang="en-US" sz="3982" b="1" u="sng" dirty="0">
                <a:solidFill>
                  <a:srgbClr val="0000FF"/>
                </a:solidFill>
              </a:rPr>
              <a:t>Shannon’s Idea</a:t>
            </a:r>
          </a:p>
        </p:txBody>
      </p:sp>
      <p:sp>
        <p:nvSpPr>
          <p:cNvPr id="6" name="TextBox 5"/>
          <p:cNvSpPr txBox="1"/>
          <p:nvPr/>
        </p:nvSpPr>
        <p:spPr>
          <a:xfrm>
            <a:off x="303959" y="2059094"/>
            <a:ext cx="13072809" cy="1142749"/>
          </a:xfrm>
          <a:prstGeom prst="rect">
            <a:avLst/>
          </a:prstGeom>
          <a:noFill/>
        </p:spPr>
        <p:txBody>
          <a:bodyPr wrap="none" rtlCol="0">
            <a:spAutoFit/>
          </a:bodyPr>
          <a:lstStyle/>
          <a:p>
            <a:r>
              <a:rPr lang="en-US" sz="3413" dirty="0"/>
              <a:t>A discrete information source is characterized by the probabilities</a:t>
            </a:r>
          </a:p>
          <a:p>
            <a:r>
              <a:rPr lang="en-US" sz="3413" dirty="0"/>
              <a:t>for emitting signals from the source </a:t>
            </a:r>
          </a:p>
        </p:txBody>
      </p:sp>
      <p:sp>
        <p:nvSpPr>
          <p:cNvPr id="7" name="TextBox 6"/>
          <p:cNvSpPr txBox="1"/>
          <p:nvPr/>
        </p:nvSpPr>
        <p:spPr>
          <a:xfrm>
            <a:off x="396202" y="3953720"/>
            <a:ext cx="12540613" cy="3944221"/>
          </a:xfrm>
          <a:prstGeom prst="rect">
            <a:avLst/>
          </a:prstGeom>
          <a:noFill/>
        </p:spPr>
        <p:txBody>
          <a:bodyPr wrap="none" rtlCol="0">
            <a:spAutoFit/>
          </a:bodyPr>
          <a:lstStyle/>
          <a:p>
            <a:r>
              <a:rPr lang="en-US" sz="3982" dirty="0"/>
              <a:t>For example, the probabilities of emitting single letters</a:t>
            </a:r>
          </a:p>
          <a:p>
            <a:endParaRPr lang="en-US" sz="3982" dirty="0"/>
          </a:p>
          <a:p>
            <a:r>
              <a:rPr lang="en-US" sz="3982" dirty="0"/>
              <a:t>EAI JKKOAD DDSPIELVOEIAHE   </a:t>
            </a:r>
          </a:p>
          <a:p>
            <a:endParaRPr lang="en-US" sz="3982" dirty="0"/>
          </a:p>
          <a:p>
            <a:r>
              <a:rPr lang="en-US" sz="3982" dirty="0"/>
              <a:t>:-) :-&lt; TTFN :-&gt;</a:t>
            </a:r>
          </a:p>
          <a:p>
            <a:endParaRPr lang="en-US" sz="5120" dirty="0"/>
          </a:p>
        </p:txBody>
      </p:sp>
    </p:spTree>
    <p:extLst>
      <p:ext uri="{BB962C8B-B14F-4D97-AF65-F5344CB8AC3E}">
        <p14:creationId xmlns:p14="http://schemas.microsoft.com/office/powerpoint/2010/main" val="885808920"/>
      </p:ext>
    </p:extLst>
  </p:cSld>
  <p:clrMapOvr>
    <a:masterClrMapping/>
  </p:clrMapOvr>
  <p:transition spd="med"/>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240275" y="-15653"/>
            <a:ext cx="10873456" cy="9542875"/>
            <a:chOff x="127001" y="114300"/>
            <a:chExt cx="7645399" cy="6709834"/>
          </a:xfrm>
        </p:grpSpPr>
        <p:grpSp>
          <p:nvGrpSpPr>
            <p:cNvPr id="7" name="Group 6"/>
            <p:cNvGrpSpPr/>
            <p:nvPr/>
          </p:nvGrpSpPr>
          <p:grpSpPr>
            <a:xfrm>
              <a:off x="127001" y="114300"/>
              <a:ext cx="7239846" cy="6709834"/>
              <a:chOff x="127001" y="114300"/>
              <a:chExt cx="7239846" cy="6709834"/>
            </a:xfrm>
          </p:grpSpPr>
          <p:pic>
            <p:nvPicPr>
              <p:cNvPr id="5" name="Picture 4" descr="approx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1" y="114300"/>
                <a:ext cx="7063740" cy="2819400"/>
              </a:xfrm>
              <a:prstGeom prst="rect">
                <a:avLst/>
              </a:prstGeom>
            </p:spPr>
          </p:pic>
          <p:pic>
            <p:nvPicPr>
              <p:cNvPr id="6" name="Picture 5" descr="approx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867" y="2884594"/>
                <a:ext cx="7078980" cy="3939540"/>
              </a:xfrm>
              <a:prstGeom prst="rect">
                <a:avLst/>
              </a:prstGeom>
            </p:spPr>
          </p:pic>
        </p:grpSp>
        <p:sp>
          <p:nvSpPr>
            <p:cNvPr id="8" name="Rectangle 7"/>
            <p:cNvSpPr/>
            <p:nvPr/>
          </p:nvSpPr>
          <p:spPr>
            <a:xfrm>
              <a:off x="7061200" y="114300"/>
              <a:ext cx="711200" cy="28194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grpSp>
    </p:spTree>
    <p:extLst>
      <p:ext uri="{BB962C8B-B14F-4D97-AF65-F5344CB8AC3E}">
        <p14:creationId xmlns:p14="http://schemas.microsoft.com/office/powerpoint/2010/main" val="11658021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pprox3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871" y="2167469"/>
            <a:ext cx="12246187" cy="1530773"/>
          </a:xfrm>
          <a:prstGeom prst="rect">
            <a:avLst/>
          </a:prstGeom>
        </p:spPr>
      </p:pic>
      <p:grpSp>
        <p:nvGrpSpPr>
          <p:cNvPr id="14" name="Group 13"/>
          <p:cNvGrpSpPr/>
          <p:nvPr/>
        </p:nvGrpSpPr>
        <p:grpSpPr>
          <a:xfrm>
            <a:off x="482262" y="4118289"/>
            <a:ext cx="12179356" cy="1887502"/>
            <a:chOff x="339090" y="2895672"/>
            <a:chExt cx="8563610" cy="1327150"/>
          </a:xfrm>
        </p:grpSpPr>
        <p:pic>
          <p:nvPicPr>
            <p:cNvPr id="4" name="Picture 3" descr="approx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090" y="2895672"/>
              <a:ext cx="8563610" cy="1327150"/>
            </a:xfrm>
            <a:prstGeom prst="rect">
              <a:avLst/>
            </a:prstGeom>
          </p:spPr>
        </p:pic>
        <p:sp>
          <p:nvSpPr>
            <p:cNvPr id="11" name="Rectangle 10"/>
            <p:cNvSpPr/>
            <p:nvPr/>
          </p:nvSpPr>
          <p:spPr>
            <a:xfrm>
              <a:off x="339090" y="3009900"/>
              <a:ext cx="8563610" cy="508000"/>
            </a:xfrm>
            <a:prstGeom prst="rect">
              <a:avLst/>
            </a:prstGeom>
            <a:solidFill>
              <a:srgbClr val="FFFF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12" name="Rectangle 11"/>
            <p:cNvSpPr/>
            <p:nvPr/>
          </p:nvSpPr>
          <p:spPr>
            <a:xfrm>
              <a:off x="339090" y="3517900"/>
              <a:ext cx="3204210" cy="241300"/>
            </a:xfrm>
            <a:prstGeom prst="rect">
              <a:avLst/>
            </a:prstGeom>
            <a:solidFill>
              <a:srgbClr val="FFFF0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sp>
          <p:nvSpPr>
            <p:cNvPr id="13" name="Rectangle 12"/>
            <p:cNvSpPr/>
            <p:nvPr/>
          </p:nvSpPr>
          <p:spPr>
            <a:xfrm>
              <a:off x="3962400" y="3975100"/>
              <a:ext cx="4597400" cy="247722"/>
            </a:xfrm>
            <a:prstGeom prst="rect">
              <a:avLst/>
            </a:prstGeom>
            <a:solidFill>
              <a:srgbClr val="FFFF00">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5120"/>
            </a:p>
          </p:txBody>
        </p:sp>
      </p:grpSp>
    </p:spTree>
    <p:extLst>
      <p:ext uri="{BB962C8B-B14F-4D97-AF65-F5344CB8AC3E}">
        <p14:creationId xmlns:p14="http://schemas.microsoft.com/office/powerpoint/2010/main" val="85863786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pprox3.jpg"/>
          <p:cNvPicPr>
            <a:picLocks noChangeAspect="1"/>
          </p:cNvPicPr>
          <p:nvPr/>
        </p:nvPicPr>
        <p:blipFill rotWithShape="1">
          <a:blip r:embed="rId2">
            <a:extLst>
              <a:ext uri="{28A0092B-C50C-407E-A947-70E740481C1C}">
                <a14:useLocalDpi xmlns:a14="http://schemas.microsoft.com/office/drawing/2010/main" val="0"/>
              </a:ext>
            </a:extLst>
          </a:blip>
          <a:srcRect t="26662" b="28338"/>
          <a:stretch/>
        </p:blipFill>
        <p:spPr>
          <a:xfrm>
            <a:off x="410579" y="834231"/>
            <a:ext cx="11322304" cy="3686861"/>
          </a:xfrm>
          <a:prstGeom prst="rect">
            <a:avLst/>
          </a:prstGeom>
        </p:spPr>
      </p:pic>
      <p:pic>
        <p:nvPicPr>
          <p:cNvPr id="3" name="Picture 2" descr="graph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1759" y="3733402"/>
            <a:ext cx="6719147" cy="4822613"/>
          </a:xfrm>
          <a:prstGeom prst="rect">
            <a:avLst/>
          </a:prstGeom>
        </p:spPr>
      </p:pic>
    </p:spTree>
    <p:extLst>
      <p:ext uri="{BB962C8B-B14F-4D97-AF65-F5344CB8AC3E}">
        <p14:creationId xmlns:p14="http://schemas.microsoft.com/office/powerpoint/2010/main" val="36438794"/>
      </p:ext>
    </p:extLst>
  </p:cSld>
  <p:clrMapOvr>
    <a:masterClrMapping/>
  </p:clrMapOvr>
  <p:transition spd="med"/>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pprox3.jpg"/>
          <p:cNvPicPr>
            <a:picLocks noChangeAspect="1"/>
          </p:cNvPicPr>
          <p:nvPr/>
        </p:nvPicPr>
        <p:blipFill rotWithShape="1">
          <a:blip r:embed="rId2">
            <a:extLst>
              <a:ext uri="{28A0092B-C50C-407E-A947-70E740481C1C}">
                <a14:useLocalDpi xmlns:a14="http://schemas.microsoft.com/office/drawing/2010/main" val="0"/>
              </a:ext>
            </a:extLst>
          </a:blip>
          <a:srcRect t="70063" b="-63"/>
          <a:stretch/>
        </p:blipFill>
        <p:spPr>
          <a:xfrm>
            <a:off x="378627" y="708595"/>
            <a:ext cx="11861461" cy="2574950"/>
          </a:xfrm>
          <a:prstGeom prst="rect">
            <a:avLst/>
          </a:prstGeom>
        </p:spPr>
      </p:pic>
      <p:pic>
        <p:nvPicPr>
          <p:cNvPr id="6" name="Picture 5" descr="exm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1749" y="3506293"/>
            <a:ext cx="10042596" cy="3756942"/>
          </a:xfrm>
          <a:prstGeom prst="rect">
            <a:avLst/>
          </a:prstGeom>
        </p:spPr>
      </p:pic>
    </p:spTree>
    <p:extLst>
      <p:ext uri="{BB962C8B-B14F-4D97-AF65-F5344CB8AC3E}">
        <p14:creationId xmlns:p14="http://schemas.microsoft.com/office/powerpoint/2010/main" val="39397136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raph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644" y="1513273"/>
            <a:ext cx="9609102" cy="4985173"/>
          </a:xfrm>
          <a:prstGeom prst="rect">
            <a:avLst/>
          </a:prstGeom>
        </p:spPr>
      </p:pic>
    </p:spTree>
    <p:extLst>
      <p:ext uri="{BB962C8B-B14F-4D97-AF65-F5344CB8AC3E}">
        <p14:creationId xmlns:p14="http://schemas.microsoft.com/office/powerpoint/2010/main" val="78461424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7712" y="1442877"/>
            <a:ext cx="12837169" cy="4644285"/>
          </a:xfrm>
          <a:prstGeom prst="rect">
            <a:avLst/>
          </a:prstGeom>
          <a:noFill/>
        </p:spPr>
        <p:txBody>
          <a:bodyPr wrap="none" rtlCol="0">
            <a:spAutoFit/>
          </a:bodyPr>
          <a:lstStyle/>
          <a:p>
            <a:r>
              <a:rPr lang="en-US" sz="3413" dirty="0"/>
              <a:t>Stochastic processes of this type are called  </a:t>
            </a:r>
          </a:p>
          <a:p>
            <a:endParaRPr lang="en-US" sz="3413" dirty="0"/>
          </a:p>
          <a:p>
            <a:r>
              <a:rPr lang="en-US" sz="3982" i="1" dirty="0">
                <a:solidFill>
                  <a:srgbClr val="FF0000"/>
                </a:solidFill>
              </a:rPr>
              <a:t>                   Markov processes</a:t>
            </a:r>
          </a:p>
          <a:p>
            <a:endParaRPr lang="en-US" sz="3413" dirty="0"/>
          </a:p>
          <a:p>
            <a:r>
              <a:rPr lang="en-US" sz="3413" dirty="0"/>
              <a:t>This is now a mathematical model for an information source.</a:t>
            </a:r>
          </a:p>
          <a:p>
            <a:endParaRPr lang="en-US" sz="3413" dirty="0"/>
          </a:p>
          <a:p>
            <a:endParaRPr lang="en-US" sz="3413" dirty="0"/>
          </a:p>
          <a:p>
            <a:r>
              <a:rPr lang="en-US" sz="3413" dirty="0"/>
              <a:t>Now we need to quantify the “information content” of the source</a:t>
            </a:r>
            <a:r>
              <a:rPr lang="en-US" sz="5120" dirty="0"/>
              <a:t>.</a:t>
            </a:r>
          </a:p>
        </p:txBody>
      </p:sp>
    </p:spTree>
    <p:extLst>
      <p:ext uri="{BB962C8B-B14F-4D97-AF65-F5344CB8AC3E}">
        <p14:creationId xmlns:p14="http://schemas.microsoft.com/office/powerpoint/2010/main" val="146193910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17800" y="745176"/>
            <a:ext cx="7766870" cy="705129"/>
          </a:xfrm>
          <a:prstGeom prst="rect">
            <a:avLst/>
          </a:prstGeom>
          <a:noFill/>
        </p:spPr>
        <p:txBody>
          <a:bodyPr wrap="none" rtlCol="0">
            <a:spAutoFit/>
          </a:bodyPr>
          <a:lstStyle/>
          <a:p>
            <a:r>
              <a:rPr lang="en-US" sz="3982" b="1" u="sng" dirty="0">
                <a:solidFill>
                  <a:srgbClr val="008000"/>
                </a:solidFill>
              </a:rPr>
              <a:t>Measuring Information Content</a:t>
            </a:r>
          </a:p>
        </p:txBody>
      </p:sp>
      <p:sp>
        <p:nvSpPr>
          <p:cNvPr id="12" name="TextBox 11"/>
          <p:cNvSpPr txBox="1"/>
          <p:nvPr/>
        </p:nvSpPr>
        <p:spPr>
          <a:xfrm>
            <a:off x="373602" y="1848154"/>
            <a:ext cx="9078126" cy="617541"/>
          </a:xfrm>
          <a:prstGeom prst="rect">
            <a:avLst/>
          </a:prstGeom>
          <a:noFill/>
        </p:spPr>
        <p:txBody>
          <a:bodyPr wrap="none" rtlCol="0">
            <a:spAutoFit/>
          </a:bodyPr>
          <a:lstStyle/>
          <a:p>
            <a:r>
              <a:rPr lang="en-US" sz="3413" dirty="0"/>
              <a:t>Suppose we have syllables with probabilities </a:t>
            </a:r>
          </a:p>
        </p:txBody>
      </p:sp>
      <p:sp>
        <p:nvSpPr>
          <p:cNvPr id="13" name="TextBox 12"/>
          <p:cNvSpPr txBox="1"/>
          <p:nvPr/>
        </p:nvSpPr>
        <p:spPr>
          <a:xfrm>
            <a:off x="305047" y="2863159"/>
            <a:ext cx="10974479" cy="1142749"/>
          </a:xfrm>
          <a:prstGeom prst="rect">
            <a:avLst/>
          </a:prstGeom>
          <a:noFill/>
        </p:spPr>
        <p:txBody>
          <a:bodyPr wrap="none" rtlCol="0">
            <a:spAutoFit/>
          </a:bodyPr>
          <a:lstStyle/>
          <a:p>
            <a:r>
              <a:rPr lang="en-US" sz="3413" dirty="0"/>
              <a:t>How much choice do we have in the selection a word? </a:t>
            </a:r>
          </a:p>
          <a:p>
            <a:r>
              <a:rPr lang="en-US" sz="3413" dirty="0"/>
              <a:t>How uncertain are we of the outcome?</a:t>
            </a:r>
          </a:p>
        </p:txBody>
      </p:sp>
      <p:sp>
        <p:nvSpPr>
          <p:cNvPr id="16" name="TextBox 15"/>
          <p:cNvSpPr txBox="1"/>
          <p:nvPr/>
        </p:nvSpPr>
        <p:spPr>
          <a:xfrm>
            <a:off x="408814" y="4416368"/>
            <a:ext cx="11243783" cy="1142749"/>
          </a:xfrm>
          <a:prstGeom prst="rect">
            <a:avLst/>
          </a:prstGeom>
          <a:noFill/>
        </p:spPr>
        <p:txBody>
          <a:bodyPr wrap="none" rtlCol="0">
            <a:spAutoFit/>
          </a:bodyPr>
          <a:lstStyle/>
          <a:p>
            <a:r>
              <a:rPr lang="en-US" sz="3413" dirty="0"/>
              <a:t>Entropy – measure of disorder or uncertainty in a system</a:t>
            </a:r>
          </a:p>
          <a:p>
            <a:endParaRPr lang="en-US" sz="3413" dirty="0"/>
          </a:p>
        </p:txBody>
      </p:sp>
      <p:pic>
        <p:nvPicPr>
          <p:cNvPr id="19" name="Picture 18"/>
          <p:cNvPicPr>
            <a:picLocks noChangeAspect="1"/>
          </p:cNvPicPr>
          <p:nvPr/>
        </p:nvPicPr>
        <p:blipFill>
          <a:blip r:embed="rId2"/>
          <a:stretch>
            <a:fillRect/>
          </a:stretch>
        </p:blipFill>
        <p:spPr>
          <a:xfrm>
            <a:off x="8690332" y="1910427"/>
            <a:ext cx="2655147" cy="677333"/>
          </a:xfrm>
          <a:prstGeom prst="rect">
            <a:avLst/>
          </a:prstGeom>
        </p:spPr>
      </p:pic>
      <p:sp>
        <p:nvSpPr>
          <p:cNvPr id="23" name="TextBox 22"/>
          <p:cNvSpPr txBox="1"/>
          <p:nvPr/>
        </p:nvSpPr>
        <p:spPr>
          <a:xfrm>
            <a:off x="618648" y="5598230"/>
            <a:ext cx="11440953" cy="1667957"/>
          </a:xfrm>
          <a:prstGeom prst="rect">
            <a:avLst/>
          </a:prstGeom>
          <a:noFill/>
        </p:spPr>
        <p:txBody>
          <a:bodyPr wrap="none" rtlCol="0">
            <a:spAutoFit/>
          </a:bodyPr>
          <a:lstStyle/>
          <a:p>
            <a:r>
              <a:rPr lang="en-US" sz="3413" dirty="0"/>
              <a:t>Maximum entropy – </a:t>
            </a:r>
            <a:r>
              <a:rPr lang="en-US" sz="3413" dirty="0" err="1"/>
              <a:t>exm</a:t>
            </a:r>
            <a:r>
              <a:rPr lang="en-US" sz="3413" dirty="0"/>
              <a:t>: toss a fair coin many times</a:t>
            </a:r>
          </a:p>
          <a:p>
            <a:r>
              <a:rPr lang="en-US" sz="3413" dirty="0"/>
              <a:t>					     no way to predict outcome of next toss </a:t>
            </a:r>
          </a:p>
          <a:p>
            <a:endParaRPr lang="en-US" sz="3413" dirty="0"/>
          </a:p>
        </p:txBody>
      </p:sp>
      <p:sp>
        <p:nvSpPr>
          <p:cNvPr id="24" name="TextBox 23"/>
          <p:cNvSpPr txBox="1"/>
          <p:nvPr/>
        </p:nvSpPr>
        <p:spPr>
          <a:xfrm>
            <a:off x="461537" y="7302486"/>
            <a:ext cx="11604459" cy="1142749"/>
          </a:xfrm>
          <a:prstGeom prst="rect">
            <a:avLst/>
          </a:prstGeom>
          <a:noFill/>
        </p:spPr>
        <p:txBody>
          <a:bodyPr wrap="none" rtlCol="0">
            <a:spAutoFit/>
          </a:bodyPr>
          <a:lstStyle/>
          <a:p>
            <a:r>
              <a:rPr lang="en-US" sz="3413" dirty="0"/>
              <a:t>Minimum entropy – </a:t>
            </a:r>
            <a:r>
              <a:rPr lang="en-US" sz="3413" dirty="0" err="1"/>
              <a:t>exm</a:t>
            </a:r>
            <a:r>
              <a:rPr lang="en-US" sz="3413" dirty="0"/>
              <a:t>: toss a two-tailed coin many times</a:t>
            </a:r>
          </a:p>
          <a:p>
            <a:r>
              <a:rPr lang="en-US" sz="3413" dirty="0"/>
              <a:t>	  				    outcome is certain, next toss is tails</a:t>
            </a:r>
          </a:p>
        </p:txBody>
      </p:sp>
    </p:spTree>
    <p:extLst>
      <p:ext uri="{BB962C8B-B14F-4D97-AF65-F5344CB8AC3E}">
        <p14:creationId xmlns:p14="http://schemas.microsoft.com/office/powerpoint/2010/main" val="145004837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2"/>
          <a:srcRect l="8493" t="13256" r="21072" b="9580"/>
          <a:stretch/>
        </p:blipFill>
        <p:spPr>
          <a:xfrm>
            <a:off x="6490996" y="1580533"/>
            <a:ext cx="6513805" cy="5352121"/>
          </a:xfrm>
          <a:prstGeom prst="rect">
            <a:avLst/>
          </a:prstGeom>
        </p:spPr>
      </p:pic>
      <p:sp>
        <p:nvSpPr>
          <p:cNvPr id="11" name="TextBox 10"/>
          <p:cNvSpPr txBox="1"/>
          <p:nvPr/>
        </p:nvSpPr>
        <p:spPr>
          <a:xfrm>
            <a:off x="425948" y="745176"/>
            <a:ext cx="7766870" cy="705129"/>
          </a:xfrm>
          <a:prstGeom prst="rect">
            <a:avLst/>
          </a:prstGeom>
          <a:noFill/>
        </p:spPr>
        <p:txBody>
          <a:bodyPr wrap="none" rtlCol="0">
            <a:spAutoFit/>
          </a:bodyPr>
          <a:lstStyle/>
          <a:p>
            <a:r>
              <a:rPr lang="en-US" sz="3982" b="1" u="sng" dirty="0">
                <a:solidFill>
                  <a:srgbClr val="008000"/>
                </a:solidFill>
              </a:rPr>
              <a:t>Measuring Information Content</a:t>
            </a:r>
          </a:p>
        </p:txBody>
      </p:sp>
      <p:sp>
        <p:nvSpPr>
          <p:cNvPr id="16" name="TextBox 15"/>
          <p:cNvSpPr txBox="1"/>
          <p:nvPr/>
        </p:nvSpPr>
        <p:spPr>
          <a:xfrm>
            <a:off x="630722" y="1846001"/>
            <a:ext cx="3546164" cy="617541"/>
          </a:xfrm>
          <a:prstGeom prst="rect">
            <a:avLst/>
          </a:prstGeom>
          <a:noFill/>
        </p:spPr>
        <p:txBody>
          <a:bodyPr wrap="none" rtlCol="0">
            <a:spAutoFit/>
          </a:bodyPr>
          <a:lstStyle/>
          <a:p>
            <a:r>
              <a:rPr lang="en-US" sz="3413" dirty="0"/>
              <a:t>Shannon Entropy</a:t>
            </a:r>
          </a:p>
        </p:txBody>
      </p:sp>
      <p:pic>
        <p:nvPicPr>
          <p:cNvPr id="6" name="Picture 5"/>
          <p:cNvPicPr>
            <a:picLocks noChangeAspect="1"/>
          </p:cNvPicPr>
          <p:nvPr/>
        </p:nvPicPr>
        <p:blipFill>
          <a:blip r:embed="rId3"/>
          <a:stretch>
            <a:fillRect/>
          </a:stretch>
        </p:blipFill>
        <p:spPr>
          <a:xfrm>
            <a:off x="2276032" y="2574838"/>
            <a:ext cx="3765973" cy="1463040"/>
          </a:xfrm>
          <a:prstGeom prst="rect">
            <a:avLst/>
          </a:prstGeom>
        </p:spPr>
      </p:pic>
      <p:pic>
        <p:nvPicPr>
          <p:cNvPr id="7" name="Picture 6"/>
          <p:cNvPicPr>
            <a:picLocks noChangeAspect="1"/>
          </p:cNvPicPr>
          <p:nvPr/>
        </p:nvPicPr>
        <p:blipFill>
          <a:blip r:embed="rId4"/>
          <a:stretch>
            <a:fillRect/>
          </a:stretch>
        </p:blipFill>
        <p:spPr>
          <a:xfrm>
            <a:off x="961667" y="5931284"/>
            <a:ext cx="6394027" cy="704427"/>
          </a:xfrm>
          <a:prstGeom prst="rect">
            <a:avLst/>
          </a:prstGeom>
        </p:spPr>
      </p:pic>
      <p:pic>
        <p:nvPicPr>
          <p:cNvPr id="8" name="Picture 7"/>
          <p:cNvPicPr>
            <a:picLocks noChangeAspect="1"/>
          </p:cNvPicPr>
          <p:nvPr/>
        </p:nvPicPr>
        <p:blipFill>
          <a:blip r:embed="rId5"/>
          <a:stretch>
            <a:fillRect/>
          </a:stretch>
        </p:blipFill>
        <p:spPr>
          <a:xfrm>
            <a:off x="860823" y="4698537"/>
            <a:ext cx="1761067" cy="731520"/>
          </a:xfrm>
          <a:prstGeom prst="rect">
            <a:avLst/>
          </a:prstGeom>
        </p:spPr>
      </p:pic>
      <p:pic>
        <p:nvPicPr>
          <p:cNvPr id="9" name="Picture 8"/>
          <p:cNvPicPr>
            <a:picLocks noChangeAspect="1"/>
          </p:cNvPicPr>
          <p:nvPr/>
        </p:nvPicPr>
        <p:blipFill>
          <a:blip r:embed="rId6"/>
          <a:stretch>
            <a:fillRect/>
          </a:stretch>
        </p:blipFill>
        <p:spPr>
          <a:xfrm>
            <a:off x="865337" y="5226857"/>
            <a:ext cx="3657600" cy="1056640"/>
          </a:xfrm>
          <a:prstGeom prst="rect">
            <a:avLst/>
          </a:prstGeom>
        </p:spPr>
      </p:pic>
      <p:sp>
        <p:nvSpPr>
          <p:cNvPr id="10" name="TextBox 9"/>
          <p:cNvSpPr txBox="1"/>
          <p:nvPr/>
        </p:nvSpPr>
        <p:spPr>
          <a:xfrm>
            <a:off x="596478" y="3885240"/>
            <a:ext cx="3393878" cy="617541"/>
          </a:xfrm>
          <a:prstGeom prst="rect">
            <a:avLst/>
          </a:prstGeom>
          <a:noFill/>
        </p:spPr>
        <p:txBody>
          <a:bodyPr wrap="none" rtlCol="0">
            <a:spAutoFit/>
          </a:bodyPr>
          <a:lstStyle/>
          <a:p>
            <a:r>
              <a:rPr lang="en-US" sz="3413" dirty="0"/>
              <a:t>Example (</a:t>
            </a:r>
            <a:r>
              <a:rPr lang="en-US" sz="3413" i="1" dirty="0"/>
              <a:t>N</a:t>
            </a:r>
            <a:r>
              <a:rPr lang="en-US" sz="3413" dirty="0"/>
              <a:t> = 2)</a:t>
            </a:r>
          </a:p>
        </p:txBody>
      </p:sp>
      <p:sp>
        <p:nvSpPr>
          <p:cNvPr id="18" name="TextBox 17"/>
          <p:cNvSpPr txBox="1"/>
          <p:nvPr/>
        </p:nvSpPr>
        <p:spPr>
          <a:xfrm>
            <a:off x="457663" y="6932654"/>
            <a:ext cx="12000401" cy="1142749"/>
          </a:xfrm>
          <a:prstGeom prst="rect">
            <a:avLst/>
          </a:prstGeom>
          <a:noFill/>
        </p:spPr>
        <p:txBody>
          <a:bodyPr wrap="none" rtlCol="0">
            <a:spAutoFit/>
          </a:bodyPr>
          <a:lstStyle/>
          <a:p>
            <a:r>
              <a:rPr lang="en-US" sz="3413" i="1" dirty="0"/>
              <a:t>H</a:t>
            </a:r>
            <a:r>
              <a:rPr lang="en-US" sz="3413" dirty="0"/>
              <a:t> = 0 only if </a:t>
            </a:r>
            <a:r>
              <a:rPr lang="en-US" sz="3413" i="1" dirty="0"/>
              <a:t>p</a:t>
            </a:r>
            <a:r>
              <a:rPr lang="en-US" sz="3413" dirty="0"/>
              <a:t> = 0 or </a:t>
            </a:r>
            <a:r>
              <a:rPr lang="en-US" sz="3413" i="1" dirty="0"/>
              <a:t>p</a:t>
            </a:r>
            <a:r>
              <a:rPr lang="en-US" sz="3413" dirty="0"/>
              <a:t> = 1.  </a:t>
            </a:r>
          </a:p>
          <a:p>
            <a:r>
              <a:rPr lang="en-US" sz="3413" dirty="0"/>
              <a:t>Makes sense – in these cases we are certain of the outcome</a:t>
            </a:r>
          </a:p>
        </p:txBody>
      </p:sp>
      <p:sp>
        <p:nvSpPr>
          <p:cNvPr id="19" name="TextBox 18"/>
          <p:cNvSpPr txBox="1"/>
          <p:nvPr/>
        </p:nvSpPr>
        <p:spPr>
          <a:xfrm>
            <a:off x="629021" y="8254783"/>
            <a:ext cx="7931980" cy="1142749"/>
          </a:xfrm>
          <a:prstGeom prst="rect">
            <a:avLst/>
          </a:prstGeom>
          <a:noFill/>
        </p:spPr>
        <p:txBody>
          <a:bodyPr wrap="none" rtlCol="0">
            <a:spAutoFit/>
          </a:bodyPr>
          <a:lstStyle/>
          <a:p>
            <a:r>
              <a:rPr lang="en-US" sz="3413" i="1" dirty="0"/>
              <a:t>H </a:t>
            </a:r>
            <a:r>
              <a:rPr lang="en-US" sz="3413" dirty="0"/>
              <a:t>attains it’s maximum value at </a:t>
            </a:r>
            <a:r>
              <a:rPr lang="en-US" sz="3413" i="1" dirty="0"/>
              <a:t>p</a:t>
            </a:r>
            <a:r>
              <a:rPr lang="en-US" sz="3413" dirty="0"/>
              <a:t> = ½</a:t>
            </a:r>
          </a:p>
          <a:p>
            <a:r>
              <a:rPr lang="en-US" sz="3413" dirty="0"/>
              <a:t>Makes sense – the most uncertain case</a:t>
            </a:r>
          </a:p>
        </p:txBody>
      </p:sp>
    </p:spTree>
    <p:extLst>
      <p:ext uri="{BB962C8B-B14F-4D97-AF65-F5344CB8AC3E}">
        <p14:creationId xmlns:p14="http://schemas.microsoft.com/office/powerpoint/2010/main" val="131857885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25948" y="745176"/>
            <a:ext cx="7766870" cy="705129"/>
          </a:xfrm>
          <a:prstGeom prst="rect">
            <a:avLst/>
          </a:prstGeom>
          <a:noFill/>
        </p:spPr>
        <p:txBody>
          <a:bodyPr wrap="none" rtlCol="0">
            <a:spAutoFit/>
          </a:bodyPr>
          <a:lstStyle/>
          <a:p>
            <a:r>
              <a:rPr lang="en-US" sz="3982" b="1" u="sng" dirty="0">
                <a:solidFill>
                  <a:srgbClr val="008000"/>
                </a:solidFill>
              </a:rPr>
              <a:t>Measuring Information Content</a:t>
            </a:r>
          </a:p>
        </p:txBody>
      </p:sp>
      <p:sp>
        <p:nvSpPr>
          <p:cNvPr id="16" name="TextBox 15"/>
          <p:cNvSpPr txBox="1"/>
          <p:nvPr/>
        </p:nvSpPr>
        <p:spPr>
          <a:xfrm>
            <a:off x="630722" y="1846001"/>
            <a:ext cx="3546164" cy="617541"/>
          </a:xfrm>
          <a:prstGeom prst="rect">
            <a:avLst/>
          </a:prstGeom>
          <a:noFill/>
        </p:spPr>
        <p:txBody>
          <a:bodyPr wrap="none" rtlCol="0">
            <a:spAutoFit/>
          </a:bodyPr>
          <a:lstStyle/>
          <a:p>
            <a:r>
              <a:rPr lang="en-US" sz="3413" dirty="0"/>
              <a:t>Shannon Entropy</a:t>
            </a:r>
          </a:p>
        </p:txBody>
      </p:sp>
      <p:pic>
        <p:nvPicPr>
          <p:cNvPr id="6" name="Picture 5"/>
          <p:cNvPicPr>
            <a:picLocks noChangeAspect="1"/>
          </p:cNvPicPr>
          <p:nvPr/>
        </p:nvPicPr>
        <p:blipFill>
          <a:blip r:embed="rId2"/>
          <a:stretch>
            <a:fillRect/>
          </a:stretch>
        </p:blipFill>
        <p:spPr>
          <a:xfrm>
            <a:off x="2276032" y="2574838"/>
            <a:ext cx="3765973" cy="1463040"/>
          </a:xfrm>
          <a:prstGeom prst="rect">
            <a:avLst/>
          </a:prstGeom>
        </p:spPr>
      </p:pic>
      <p:sp>
        <p:nvSpPr>
          <p:cNvPr id="20" name="TextBox 19"/>
          <p:cNvSpPr txBox="1"/>
          <p:nvPr/>
        </p:nvSpPr>
        <p:spPr>
          <a:xfrm>
            <a:off x="573311" y="3944468"/>
            <a:ext cx="9510937" cy="617541"/>
          </a:xfrm>
          <a:prstGeom prst="rect">
            <a:avLst/>
          </a:prstGeom>
          <a:noFill/>
        </p:spPr>
        <p:txBody>
          <a:bodyPr wrap="none" rtlCol="0">
            <a:spAutoFit/>
          </a:bodyPr>
          <a:lstStyle/>
          <a:p>
            <a:r>
              <a:rPr lang="en-US" sz="3413" dirty="0"/>
              <a:t>Measures the amount of information transmitted</a:t>
            </a:r>
          </a:p>
        </p:txBody>
      </p:sp>
      <p:sp>
        <p:nvSpPr>
          <p:cNvPr id="21" name="TextBox 20"/>
          <p:cNvSpPr txBox="1"/>
          <p:nvPr/>
        </p:nvSpPr>
        <p:spPr>
          <a:xfrm>
            <a:off x="439289" y="5064848"/>
            <a:ext cx="11412098" cy="1142749"/>
          </a:xfrm>
          <a:prstGeom prst="rect">
            <a:avLst/>
          </a:prstGeom>
          <a:noFill/>
        </p:spPr>
        <p:txBody>
          <a:bodyPr wrap="none" rtlCol="0">
            <a:spAutoFit/>
          </a:bodyPr>
          <a:lstStyle/>
          <a:p>
            <a:r>
              <a:rPr lang="en-US" sz="3413" dirty="0"/>
              <a:t>When you utter a word, how many other choices of words</a:t>
            </a:r>
          </a:p>
          <a:p>
            <a:r>
              <a:rPr lang="en-US" sz="3413" dirty="0"/>
              <a:t>are you choosing between?</a:t>
            </a:r>
          </a:p>
        </p:txBody>
      </p:sp>
    </p:spTree>
    <p:extLst>
      <p:ext uri="{BB962C8B-B14F-4D97-AF65-F5344CB8AC3E}">
        <p14:creationId xmlns:p14="http://schemas.microsoft.com/office/powerpoint/2010/main" val="1471062592"/>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9307" y="1963540"/>
            <a:ext cx="12994262" cy="617541"/>
          </a:xfrm>
          <a:prstGeom prst="rect">
            <a:avLst/>
          </a:prstGeom>
          <a:noFill/>
        </p:spPr>
        <p:txBody>
          <a:bodyPr wrap="none" rtlCol="0">
            <a:spAutoFit/>
          </a:bodyPr>
          <a:lstStyle/>
          <a:p>
            <a:r>
              <a:rPr lang="en-US" sz="3413" dirty="0"/>
              <a:t>What is the probability of the MOST probable word of </a:t>
            </a:r>
            <a:r>
              <a:rPr lang="en-US" sz="3413" i="1" dirty="0"/>
              <a:t>N</a:t>
            </a:r>
            <a:r>
              <a:rPr lang="en-US" sz="3413" dirty="0"/>
              <a:t> symbols?</a:t>
            </a:r>
          </a:p>
        </p:txBody>
      </p:sp>
      <p:sp>
        <p:nvSpPr>
          <p:cNvPr id="5" name="TextBox 4"/>
          <p:cNvSpPr txBox="1"/>
          <p:nvPr/>
        </p:nvSpPr>
        <p:spPr>
          <a:xfrm>
            <a:off x="338551" y="2948846"/>
            <a:ext cx="8610049" cy="1142749"/>
          </a:xfrm>
          <a:prstGeom prst="rect">
            <a:avLst/>
          </a:prstGeom>
          <a:noFill/>
        </p:spPr>
        <p:txBody>
          <a:bodyPr wrap="none" rtlCol="0">
            <a:spAutoFit/>
          </a:bodyPr>
          <a:lstStyle/>
          <a:p>
            <a:r>
              <a:rPr lang="en-US" sz="3413" dirty="0"/>
              <a:t>Suppose we have a word with </a:t>
            </a:r>
            <a:r>
              <a:rPr lang="en-US" sz="3413" i="1" dirty="0"/>
              <a:t>N</a:t>
            </a:r>
            <a:r>
              <a:rPr lang="en-US" sz="3413" dirty="0"/>
              <a:t> symbols.  </a:t>
            </a:r>
          </a:p>
          <a:p>
            <a:r>
              <a:rPr lang="en-US" sz="3413" dirty="0"/>
              <a:t>On average, there will be</a:t>
            </a:r>
          </a:p>
        </p:txBody>
      </p:sp>
      <p:sp>
        <p:nvSpPr>
          <p:cNvPr id="2" name="TextBox 1"/>
          <p:cNvSpPr txBox="1"/>
          <p:nvPr/>
        </p:nvSpPr>
        <p:spPr>
          <a:xfrm>
            <a:off x="1372702" y="4524663"/>
            <a:ext cx="8565165" cy="1667957"/>
          </a:xfrm>
          <a:prstGeom prst="rect">
            <a:avLst/>
          </a:prstGeom>
          <a:noFill/>
        </p:spPr>
        <p:txBody>
          <a:bodyPr wrap="none" rtlCol="0">
            <a:spAutoFit/>
          </a:bodyPr>
          <a:lstStyle/>
          <a:p>
            <a:r>
              <a:rPr lang="en-US" sz="3413" dirty="0"/>
              <a:t>occurrences of the first symbol</a:t>
            </a:r>
          </a:p>
          <a:p>
            <a:r>
              <a:rPr lang="en-US" sz="3413" dirty="0"/>
              <a:t>occurrences of the second second symbol</a:t>
            </a:r>
          </a:p>
          <a:p>
            <a:endParaRPr lang="en-US" sz="3413" dirty="0"/>
          </a:p>
        </p:txBody>
      </p:sp>
      <p:pic>
        <p:nvPicPr>
          <p:cNvPr id="6" name="Picture 5"/>
          <p:cNvPicPr>
            <a:picLocks noChangeAspect="1"/>
          </p:cNvPicPr>
          <p:nvPr/>
        </p:nvPicPr>
        <p:blipFill>
          <a:blip r:embed="rId2"/>
          <a:stretch>
            <a:fillRect/>
          </a:stretch>
        </p:blipFill>
        <p:spPr>
          <a:xfrm>
            <a:off x="1009941" y="7290321"/>
            <a:ext cx="4450532" cy="1271580"/>
          </a:xfrm>
          <a:prstGeom prst="rect">
            <a:avLst/>
          </a:prstGeom>
        </p:spPr>
      </p:pic>
      <p:sp>
        <p:nvSpPr>
          <p:cNvPr id="9" name="TextBox 8"/>
          <p:cNvSpPr txBox="1"/>
          <p:nvPr/>
        </p:nvSpPr>
        <p:spPr>
          <a:xfrm>
            <a:off x="764340" y="6451417"/>
            <a:ext cx="7151317" cy="617541"/>
          </a:xfrm>
          <a:prstGeom prst="rect">
            <a:avLst/>
          </a:prstGeom>
          <a:noFill/>
        </p:spPr>
        <p:txBody>
          <a:bodyPr wrap="none" rtlCol="0">
            <a:spAutoFit/>
          </a:bodyPr>
          <a:lstStyle/>
          <a:p>
            <a:r>
              <a:rPr lang="en-US" sz="3413" dirty="0"/>
              <a:t>Hence the probability of the word is</a:t>
            </a:r>
          </a:p>
        </p:txBody>
      </p:sp>
      <p:sp>
        <p:nvSpPr>
          <p:cNvPr id="10" name="TextBox 9"/>
          <p:cNvSpPr txBox="1"/>
          <p:nvPr/>
        </p:nvSpPr>
        <p:spPr>
          <a:xfrm rot="5400000" flipV="1">
            <a:off x="788736" y="5795100"/>
            <a:ext cx="743711" cy="617541"/>
          </a:xfrm>
          <a:prstGeom prst="rect">
            <a:avLst/>
          </a:prstGeom>
          <a:noFill/>
          <a:scene3d>
            <a:camera prst="orthographicFront"/>
            <a:lightRig rig="threePt" dir="t"/>
          </a:scene3d>
        </p:spPr>
        <p:txBody>
          <a:bodyPr wrap="square" rtlCol="0">
            <a:spAutoFit/>
          </a:bodyPr>
          <a:lstStyle/>
          <a:p>
            <a:r>
              <a:rPr lang="en-US" sz="3413" b="1" dirty="0"/>
              <a:t>…</a:t>
            </a:r>
          </a:p>
        </p:txBody>
      </p:sp>
      <p:pic>
        <p:nvPicPr>
          <p:cNvPr id="11" name="Picture 10"/>
          <p:cNvPicPr>
            <a:picLocks noChangeAspect="1"/>
          </p:cNvPicPr>
          <p:nvPr/>
        </p:nvPicPr>
        <p:blipFill>
          <a:blip r:embed="rId3"/>
          <a:stretch>
            <a:fillRect/>
          </a:stretch>
        </p:blipFill>
        <p:spPr>
          <a:xfrm>
            <a:off x="801678" y="4631609"/>
            <a:ext cx="1002453" cy="1300480"/>
          </a:xfrm>
          <a:prstGeom prst="rect">
            <a:avLst/>
          </a:prstGeom>
        </p:spPr>
      </p:pic>
      <p:sp>
        <p:nvSpPr>
          <p:cNvPr id="12" name="TextBox 11"/>
          <p:cNvSpPr txBox="1"/>
          <p:nvPr/>
        </p:nvSpPr>
        <p:spPr>
          <a:xfrm>
            <a:off x="554206" y="745176"/>
            <a:ext cx="7766870" cy="705129"/>
          </a:xfrm>
          <a:prstGeom prst="rect">
            <a:avLst/>
          </a:prstGeom>
          <a:noFill/>
        </p:spPr>
        <p:txBody>
          <a:bodyPr wrap="none" rtlCol="0">
            <a:spAutoFit/>
          </a:bodyPr>
          <a:lstStyle/>
          <a:p>
            <a:r>
              <a:rPr lang="en-US" sz="3982" b="1" u="sng" dirty="0"/>
              <a:t>Measuring Information Content</a:t>
            </a:r>
          </a:p>
        </p:txBody>
      </p:sp>
      <p:sp>
        <p:nvSpPr>
          <p:cNvPr id="13" name="TextBox 12"/>
          <p:cNvSpPr txBox="1"/>
          <p:nvPr/>
        </p:nvSpPr>
        <p:spPr>
          <a:xfrm>
            <a:off x="517800" y="745176"/>
            <a:ext cx="7766870" cy="705129"/>
          </a:xfrm>
          <a:prstGeom prst="rect">
            <a:avLst/>
          </a:prstGeom>
          <a:noFill/>
        </p:spPr>
        <p:txBody>
          <a:bodyPr wrap="none" rtlCol="0">
            <a:spAutoFit/>
          </a:bodyPr>
          <a:lstStyle/>
          <a:p>
            <a:r>
              <a:rPr lang="en-US" sz="3982" b="1" u="sng" dirty="0">
                <a:solidFill>
                  <a:srgbClr val="008000"/>
                </a:solidFill>
              </a:rPr>
              <a:t>Measuring Information Content</a:t>
            </a:r>
          </a:p>
        </p:txBody>
      </p:sp>
    </p:spTree>
    <p:extLst>
      <p:ext uri="{BB962C8B-B14F-4D97-AF65-F5344CB8AC3E}">
        <p14:creationId xmlns:p14="http://schemas.microsoft.com/office/powerpoint/2010/main" val="16975583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164378" y="2654814"/>
            <a:ext cx="4172373" cy="1192107"/>
          </a:xfrm>
          <a:prstGeom prst="rect">
            <a:avLst/>
          </a:prstGeom>
        </p:spPr>
      </p:pic>
      <p:pic>
        <p:nvPicPr>
          <p:cNvPr id="7" name="Picture 6"/>
          <p:cNvPicPr>
            <a:picLocks noChangeAspect="1"/>
          </p:cNvPicPr>
          <p:nvPr/>
        </p:nvPicPr>
        <p:blipFill>
          <a:blip r:embed="rId3"/>
          <a:stretch>
            <a:fillRect/>
          </a:stretch>
        </p:blipFill>
        <p:spPr>
          <a:xfrm>
            <a:off x="6974579" y="4503093"/>
            <a:ext cx="3765973" cy="1463040"/>
          </a:xfrm>
          <a:prstGeom prst="rect">
            <a:avLst/>
          </a:prstGeom>
        </p:spPr>
      </p:pic>
      <p:pic>
        <p:nvPicPr>
          <p:cNvPr id="8" name="Picture 7"/>
          <p:cNvPicPr>
            <a:picLocks noChangeAspect="1"/>
          </p:cNvPicPr>
          <p:nvPr/>
        </p:nvPicPr>
        <p:blipFill>
          <a:blip r:embed="rId4"/>
          <a:stretch>
            <a:fillRect/>
          </a:stretch>
        </p:blipFill>
        <p:spPr>
          <a:xfrm>
            <a:off x="2164377" y="4629528"/>
            <a:ext cx="2411307" cy="1002453"/>
          </a:xfrm>
          <a:prstGeom prst="rect">
            <a:avLst/>
          </a:prstGeom>
        </p:spPr>
      </p:pic>
      <p:sp>
        <p:nvSpPr>
          <p:cNvPr id="15" name="TextBox 14"/>
          <p:cNvSpPr txBox="1"/>
          <p:nvPr/>
        </p:nvSpPr>
        <p:spPr>
          <a:xfrm>
            <a:off x="517800" y="745176"/>
            <a:ext cx="7766870" cy="705129"/>
          </a:xfrm>
          <a:prstGeom prst="rect">
            <a:avLst/>
          </a:prstGeom>
          <a:noFill/>
        </p:spPr>
        <p:txBody>
          <a:bodyPr wrap="none" rtlCol="0">
            <a:spAutoFit/>
          </a:bodyPr>
          <a:lstStyle/>
          <a:p>
            <a:r>
              <a:rPr lang="en-US" sz="3982" b="1" u="sng" dirty="0">
                <a:solidFill>
                  <a:srgbClr val="008000"/>
                </a:solidFill>
              </a:rPr>
              <a:t>Measuring Information Content</a:t>
            </a:r>
          </a:p>
        </p:txBody>
      </p:sp>
      <p:sp>
        <p:nvSpPr>
          <p:cNvPr id="16" name="TextBox 15"/>
          <p:cNvSpPr txBox="1"/>
          <p:nvPr/>
        </p:nvSpPr>
        <p:spPr>
          <a:xfrm>
            <a:off x="746620" y="1998224"/>
            <a:ext cx="5860899" cy="617541"/>
          </a:xfrm>
          <a:prstGeom prst="rect">
            <a:avLst/>
          </a:prstGeom>
          <a:noFill/>
        </p:spPr>
        <p:txBody>
          <a:bodyPr wrap="none" rtlCol="0">
            <a:spAutoFit/>
          </a:bodyPr>
          <a:lstStyle/>
          <a:p>
            <a:r>
              <a:rPr lang="en-US" sz="3413" dirty="0"/>
              <a:t>The probability of the word is</a:t>
            </a:r>
          </a:p>
        </p:txBody>
      </p:sp>
      <p:sp>
        <p:nvSpPr>
          <p:cNvPr id="17" name="TextBox 16"/>
          <p:cNvSpPr txBox="1"/>
          <p:nvPr/>
        </p:nvSpPr>
        <p:spPr>
          <a:xfrm>
            <a:off x="747696" y="3846921"/>
            <a:ext cx="5737468" cy="617541"/>
          </a:xfrm>
          <a:prstGeom prst="rect">
            <a:avLst/>
          </a:prstGeom>
          <a:noFill/>
        </p:spPr>
        <p:txBody>
          <a:bodyPr wrap="none" rtlCol="0">
            <a:spAutoFit/>
          </a:bodyPr>
          <a:lstStyle/>
          <a:p>
            <a:r>
              <a:rPr lang="en-US" sz="3413" dirty="0"/>
              <a:t>In terms of Shannon Entropy</a:t>
            </a:r>
          </a:p>
        </p:txBody>
      </p:sp>
      <p:sp>
        <p:nvSpPr>
          <p:cNvPr id="18" name="TextBox 17"/>
          <p:cNvSpPr txBox="1"/>
          <p:nvPr/>
        </p:nvSpPr>
        <p:spPr>
          <a:xfrm>
            <a:off x="528680" y="5947650"/>
            <a:ext cx="10506401" cy="1667957"/>
          </a:xfrm>
          <a:prstGeom prst="rect">
            <a:avLst/>
          </a:prstGeom>
          <a:noFill/>
        </p:spPr>
        <p:txBody>
          <a:bodyPr wrap="none" rtlCol="0">
            <a:spAutoFit/>
          </a:bodyPr>
          <a:lstStyle/>
          <a:p>
            <a:r>
              <a:rPr lang="en-US" sz="3413" dirty="0"/>
              <a:t>How many “most probable” words are there?  About </a:t>
            </a:r>
          </a:p>
          <a:p>
            <a:endParaRPr lang="en-US" sz="3413" dirty="0"/>
          </a:p>
          <a:p>
            <a:endParaRPr lang="en-US" sz="3413" dirty="0"/>
          </a:p>
        </p:txBody>
      </p:sp>
      <p:pic>
        <p:nvPicPr>
          <p:cNvPr id="19" name="Picture 18"/>
          <p:cNvPicPr>
            <a:picLocks noChangeAspect="1"/>
          </p:cNvPicPr>
          <p:nvPr/>
        </p:nvPicPr>
        <p:blipFill>
          <a:blip r:embed="rId5"/>
          <a:stretch>
            <a:fillRect/>
          </a:stretch>
        </p:blipFill>
        <p:spPr>
          <a:xfrm>
            <a:off x="10379315" y="5752816"/>
            <a:ext cx="839893" cy="1219200"/>
          </a:xfrm>
          <a:prstGeom prst="rect">
            <a:avLst/>
          </a:prstGeom>
        </p:spPr>
      </p:pic>
    </p:spTree>
    <p:extLst>
      <p:ext uri="{BB962C8B-B14F-4D97-AF65-F5344CB8AC3E}">
        <p14:creationId xmlns:p14="http://schemas.microsoft.com/office/powerpoint/2010/main" val="122800201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undth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84" y="999443"/>
            <a:ext cx="12666133" cy="3359573"/>
          </a:xfrm>
          <a:prstGeom prst="rect">
            <a:avLst/>
          </a:prstGeom>
        </p:spPr>
      </p:pic>
      <p:sp>
        <p:nvSpPr>
          <p:cNvPr id="3" name="TextBox 2"/>
          <p:cNvSpPr txBox="1"/>
          <p:nvPr/>
        </p:nvSpPr>
        <p:spPr>
          <a:xfrm>
            <a:off x="81027" y="4778682"/>
            <a:ext cx="9416360" cy="1142749"/>
          </a:xfrm>
          <a:prstGeom prst="rect">
            <a:avLst/>
          </a:prstGeom>
          <a:noFill/>
        </p:spPr>
        <p:txBody>
          <a:bodyPr wrap="none" rtlCol="0">
            <a:spAutoFit/>
          </a:bodyPr>
          <a:lstStyle/>
          <a:p>
            <a:r>
              <a:rPr lang="en-US" sz="3413" dirty="0"/>
              <a:t>Suppose the information source has entropy</a:t>
            </a:r>
            <a:r>
              <a:rPr lang="en-US" sz="3413" i="1" dirty="0"/>
              <a:t> H </a:t>
            </a:r>
          </a:p>
          <a:p>
            <a:r>
              <a:rPr lang="en-US" sz="3413" dirty="0"/>
              <a:t>and channel has capacity</a:t>
            </a:r>
            <a:r>
              <a:rPr lang="en-US" sz="3413" i="1" dirty="0"/>
              <a:t> C</a:t>
            </a:r>
            <a:r>
              <a:rPr lang="en-US" sz="3413" dirty="0"/>
              <a:t>.</a:t>
            </a:r>
          </a:p>
        </p:txBody>
      </p:sp>
      <p:sp>
        <p:nvSpPr>
          <p:cNvPr id="4" name="TextBox 3"/>
          <p:cNvSpPr txBox="1"/>
          <p:nvPr/>
        </p:nvSpPr>
        <p:spPr>
          <a:xfrm>
            <a:off x="-21662" y="6308670"/>
            <a:ext cx="13218683" cy="2193164"/>
          </a:xfrm>
          <a:prstGeom prst="rect">
            <a:avLst/>
          </a:prstGeom>
          <a:noFill/>
        </p:spPr>
        <p:txBody>
          <a:bodyPr wrap="none" rtlCol="0">
            <a:spAutoFit/>
          </a:bodyPr>
          <a:lstStyle/>
          <a:p>
            <a:r>
              <a:rPr lang="en-US" sz="3413" dirty="0"/>
              <a:t>Then one can encode the output of the source so that one transmit</a:t>
            </a:r>
          </a:p>
          <a:p>
            <a:r>
              <a:rPr lang="en-US" sz="3413" dirty="0"/>
              <a:t>at the average rate of </a:t>
            </a:r>
            <a:r>
              <a:rPr lang="en-US" sz="3413" i="1" dirty="0"/>
              <a:t>C/H </a:t>
            </a:r>
            <a:r>
              <a:rPr lang="en-US" sz="3413" dirty="0"/>
              <a:t>symbols per second.  </a:t>
            </a:r>
          </a:p>
          <a:p>
            <a:endParaRPr lang="en-US" sz="3413" dirty="0"/>
          </a:p>
          <a:p>
            <a:r>
              <a:rPr lang="en-US" sz="3413" dirty="0"/>
              <a:t>One cannot transmit any faster than </a:t>
            </a:r>
            <a:r>
              <a:rPr lang="en-US" sz="3413" i="1" dirty="0"/>
              <a:t>C/H</a:t>
            </a:r>
            <a:r>
              <a:rPr lang="en-US" sz="3413" dirty="0"/>
              <a:t>! </a:t>
            </a:r>
          </a:p>
        </p:txBody>
      </p:sp>
    </p:spTree>
    <p:extLst>
      <p:ext uri="{BB962C8B-B14F-4D97-AF65-F5344CB8AC3E}">
        <p14:creationId xmlns:p14="http://schemas.microsoft.com/office/powerpoint/2010/main" val="1712018435"/>
      </p:ext>
    </p:extLst>
  </p:cSld>
  <p:clrMapOvr>
    <a:masterClrMapping/>
  </p:clrMapOvr>
  <p:transition spd="med"/>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02222" y="1121077"/>
            <a:ext cx="3935693" cy="705129"/>
          </a:xfrm>
          <a:prstGeom prst="rect">
            <a:avLst/>
          </a:prstGeom>
          <a:noFill/>
        </p:spPr>
        <p:txBody>
          <a:bodyPr wrap="none" rtlCol="0">
            <a:spAutoFit/>
          </a:bodyPr>
          <a:lstStyle/>
          <a:p>
            <a:r>
              <a:rPr lang="en-US" sz="3982" b="1" u="sng" dirty="0">
                <a:solidFill>
                  <a:srgbClr val="FF6600"/>
                </a:solidFill>
              </a:rPr>
              <a:t>This week’s lab</a:t>
            </a:r>
          </a:p>
        </p:txBody>
      </p:sp>
      <p:sp>
        <p:nvSpPr>
          <p:cNvPr id="3" name="TextBox 2"/>
          <p:cNvSpPr txBox="1"/>
          <p:nvPr/>
        </p:nvSpPr>
        <p:spPr>
          <a:xfrm>
            <a:off x="624742" y="2366151"/>
            <a:ext cx="11782393" cy="4819204"/>
          </a:xfrm>
          <a:prstGeom prst="rect">
            <a:avLst/>
          </a:prstGeom>
          <a:noFill/>
        </p:spPr>
        <p:txBody>
          <a:bodyPr wrap="none" rtlCol="0">
            <a:spAutoFit/>
          </a:bodyPr>
          <a:lstStyle/>
          <a:p>
            <a:r>
              <a:rPr lang="en-US" sz="3413" dirty="0"/>
              <a:t>Measure information content in a text.   </a:t>
            </a:r>
          </a:p>
          <a:p>
            <a:endParaRPr lang="en-US" sz="3413" dirty="0"/>
          </a:p>
          <a:p>
            <a:pPr marL="487672" indent="-487672">
              <a:buAutoNum type="arabicPeriod"/>
            </a:pPr>
            <a:r>
              <a:rPr lang="en-US" sz="3413" dirty="0"/>
              <a:t>Determine frequency distribution of a words in a text</a:t>
            </a:r>
          </a:p>
          <a:p>
            <a:pPr marL="487672" indent="-487672">
              <a:buAutoNum type="arabicPeriod"/>
            </a:pPr>
            <a:endParaRPr lang="en-US" sz="3413" dirty="0"/>
          </a:p>
          <a:p>
            <a:pPr marL="487672" indent="-487672">
              <a:buAutoNum type="arabicPeriod"/>
            </a:pPr>
            <a:r>
              <a:rPr lang="en-US" sz="3413" dirty="0"/>
              <a:t>Check that the distribution obeys </a:t>
            </a:r>
            <a:r>
              <a:rPr lang="en-US" sz="3413" dirty="0" err="1"/>
              <a:t>Zipf’s</a:t>
            </a:r>
            <a:r>
              <a:rPr lang="en-US" sz="3413" dirty="0"/>
              <a:t> law</a:t>
            </a:r>
          </a:p>
          <a:p>
            <a:r>
              <a:rPr lang="en-US" sz="3413" dirty="0"/>
              <a:t>     (frequency of a word is inversely proportional to its rank </a:t>
            </a:r>
          </a:p>
          <a:p>
            <a:r>
              <a:rPr lang="en-US" sz="3413" dirty="0"/>
              <a:t>      in the frequency table) </a:t>
            </a:r>
          </a:p>
          <a:p>
            <a:pPr marL="487672" indent="-487672">
              <a:buAutoNum type="arabicPeriod"/>
            </a:pPr>
            <a:endParaRPr lang="en-US" sz="3413" dirty="0"/>
          </a:p>
          <a:p>
            <a:r>
              <a:rPr lang="en-US" sz="3413" dirty="0"/>
              <a:t>3.  Compute the entropy of the frequency distribution</a:t>
            </a:r>
          </a:p>
        </p:txBody>
      </p:sp>
    </p:spTree>
    <p:extLst>
      <p:ext uri="{BB962C8B-B14F-4D97-AF65-F5344CB8AC3E}">
        <p14:creationId xmlns:p14="http://schemas.microsoft.com/office/powerpoint/2010/main" val="1907934539"/>
      </p:ext>
    </p:extLst>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471</TotalTime>
  <Words>5689</Words>
  <Application>Microsoft Macintosh PowerPoint</Application>
  <PresentationFormat>Custom</PresentationFormat>
  <Paragraphs>979</Paragraphs>
  <Slides>123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123</vt:i4>
      </vt:variant>
    </vt:vector>
  </HeadingPairs>
  <TitlesOfParts>
    <vt:vector size="131" baseType="lpstr">
      <vt:lpstr>Avenir Roman</vt:lpstr>
      <vt:lpstr>Calibri</vt:lpstr>
      <vt:lpstr>Cambria Math</vt:lpstr>
      <vt:lpstr>Helvetica</vt:lpstr>
      <vt:lpstr>Helvetica Light</vt:lpstr>
      <vt:lpstr>Menlo</vt:lpstr>
      <vt:lpstr>Arial</vt:lpstr>
      <vt:lpstr>White</vt:lpstr>
      <vt:lpstr>Class 13: Information Theory</vt:lpstr>
      <vt:lpstr>Claude Shannon (1916–2001)</vt:lpstr>
      <vt:lpstr>Shannon’s paper</vt:lpstr>
      <vt:lpstr>Mathematical theory of communication</vt:lpstr>
      <vt:lpstr>Mathematical theory of communication</vt:lpstr>
      <vt:lpstr>Mathematical theory of communication</vt:lpstr>
      <vt:lpstr>Messages take many forms</vt:lpstr>
      <vt:lpstr>Teletype</vt:lpstr>
      <vt:lpstr>Morse code</vt:lpstr>
      <vt:lpstr>Morse code design: letter frequencies</vt:lpstr>
      <vt:lpstr>Code design: timing specifics</vt:lpstr>
      <vt:lpstr>Possible signals</vt:lpstr>
      <vt:lpstr>PowerPoint Presentation</vt:lpstr>
      <vt:lpstr>PowerPoint Presentation</vt:lpstr>
      <vt:lpstr>Aside: another difference equation (Fibonacci sequence)</vt:lpstr>
      <vt:lpstr>Aside: another difference equation (Fibonacci sequence)</vt:lpstr>
      <vt:lpstr>Aside: another difference equation (Fibonacci sequence)</vt:lpstr>
      <vt:lpstr>PowerPoint Presentation</vt:lpstr>
      <vt:lpstr>PowerPoint Presentation</vt:lpstr>
      <vt:lpstr>Returning to the problem</vt:lpstr>
      <vt:lpstr>Express rate in binary</vt:lpstr>
      <vt:lpstr>Can you count in binary?</vt:lpstr>
      <vt:lpstr>PowerPoint Presentation</vt:lpstr>
      <vt:lpstr>Information content</vt:lpstr>
      <vt:lpstr>Acronyms</vt:lpstr>
      <vt:lpstr>PowerPoint Presentation</vt:lpstr>
      <vt:lpstr>PowerPoint Presentation</vt:lpstr>
      <vt:lpstr>PowerPoint Presentation</vt:lpstr>
      <vt:lpstr>Shannon’s key idea</vt:lpstr>
      <vt:lpstr>PowerPoint Presentation</vt:lpstr>
      <vt:lpstr>PowerPoint Presentation</vt:lpstr>
      <vt:lpstr>How to simulate the digram structure</vt:lpstr>
      <vt:lpstr>Measuring information content</vt:lpstr>
      <vt:lpstr>Measuring information content</vt:lpstr>
      <vt:lpstr>Measuring information content</vt:lpstr>
      <vt:lpstr>Measuring information content</vt:lpstr>
      <vt:lpstr>Measuring information content</vt:lpstr>
      <vt:lpstr>Shannon’s fundamental theorem</vt:lpstr>
      <vt:lpstr>Coming up</vt:lpstr>
      <vt:lpstr>Lecture 11: Information Theory</vt:lpstr>
      <vt:lpstr>Claude Shannon (1916–2001)</vt:lpstr>
      <vt:lpstr>Shannon’s paper</vt:lpstr>
      <vt:lpstr>Mathematical theory of communication</vt:lpstr>
      <vt:lpstr>Messages take many forms</vt:lpstr>
      <vt:lpstr>Binary</vt:lpstr>
      <vt:lpstr>Binary from Python</vt:lpstr>
      <vt:lpstr>Teletype</vt:lpstr>
      <vt:lpstr>ASCII</vt:lpstr>
      <vt:lpstr>Your computer knows ASCII</vt:lpstr>
      <vt:lpstr>Unicode</vt:lpstr>
      <vt:lpstr>Bit rate</vt:lpstr>
      <vt:lpstr>PowerPoint Presentation</vt:lpstr>
      <vt:lpstr>Morse code</vt:lpstr>
      <vt:lpstr>Morse code design: letter frequencies</vt:lpstr>
      <vt:lpstr>Timing specifics</vt:lpstr>
      <vt:lpstr>Possible signals</vt:lpstr>
      <vt:lpstr>PowerPoint Presentation</vt:lpstr>
      <vt:lpstr>PowerPoint Presentation</vt:lpstr>
      <vt:lpstr>Aside: Fibonacci difference equation</vt:lpstr>
      <vt:lpstr>PowerPoint Presentation</vt:lpstr>
      <vt:lpstr>PowerPoint Presentation</vt:lpstr>
      <vt:lpstr>Returning to the problem</vt:lpstr>
      <vt:lpstr>Data rate for Morse code</vt:lpstr>
      <vt:lpstr>Information content</vt:lpstr>
      <vt:lpstr>Acronyms</vt:lpstr>
      <vt:lpstr>PowerPoint Presentation</vt:lpstr>
      <vt:lpstr>PowerPoint Presentation</vt:lpstr>
      <vt:lpstr>PowerPoint Presentation</vt:lpstr>
      <vt:lpstr>PowerPoint Presentation</vt:lpstr>
      <vt:lpstr>Shannon’s key idea</vt:lpstr>
      <vt:lpstr>PowerPoint Presentation</vt:lpstr>
      <vt:lpstr>How to simulate the digram structure</vt:lpstr>
      <vt:lpstr>Information content</vt:lpstr>
      <vt:lpstr>Guess a number from 0 to 63</vt:lpstr>
      <vt:lpstr>Shannon entropy</vt:lpstr>
      <vt:lpstr>Shannon’s fundamental theorem</vt:lpstr>
      <vt:lpstr>Dictionary example</vt:lpstr>
      <vt:lpstr>Counting frequencies</vt:lpstr>
      <vt:lpstr>PowerPoint Presentation</vt:lpstr>
      <vt:lpstr>PowerPoint Presentation</vt:lpstr>
      <vt:lpstr>This week’s lab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Information Theory</dc:title>
  <cp:lastModifiedBy>Microsoft Office User</cp:lastModifiedBy>
  <cp:revision>32</cp:revision>
  <dcterms:modified xsi:type="dcterms:W3CDTF">2017-03-21T17:05:10Z</dcterms:modified>
</cp:coreProperties>
</file>