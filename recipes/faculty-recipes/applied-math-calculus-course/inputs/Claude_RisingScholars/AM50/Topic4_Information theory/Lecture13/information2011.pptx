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2" r:id="rId10"/>
    <p:sldId id="293" r:id="rId11"/>
    <p:sldId id="264" r:id="rId12"/>
    <p:sldId id="265" r:id="rId13"/>
    <p:sldId id="266" r:id="rId14"/>
    <p:sldId id="267" r:id="rId15"/>
    <p:sldId id="268" r:id="rId16"/>
    <p:sldId id="270" r:id="rId17"/>
    <p:sldId id="269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1" r:id="rId28"/>
    <p:sldId id="280" r:id="rId29"/>
    <p:sldId id="299" r:id="rId30"/>
    <p:sldId id="282" r:id="rId31"/>
    <p:sldId id="295" r:id="rId32"/>
    <p:sldId id="283" r:id="rId33"/>
    <p:sldId id="285" r:id="rId34"/>
    <p:sldId id="294" r:id="rId35"/>
    <p:sldId id="286" r:id="rId36"/>
    <p:sldId id="296" r:id="rId37"/>
    <p:sldId id="298" r:id="rId38"/>
    <p:sldId id="297" r:id="rId39"/>
    <p:sldId id="287" r:id="rId40"/>
    <p:sldId id="288" r:id="rId41"/>
    <p:sldId id="290" r:id="rId42"/>
    <p:sldId id="291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0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5620"/>
    <p:restoredTop sz="92908" autoAdjust="0"/>
  </p:normalViewPr>
  <p:slideViewPr>
    <p:cSldViewPr snapToGrid="0" snapToObjects="1">
      <p:cViewPr varScale="1">
        <p:scale>
          <a:sx n="72" d="100"/>
          <a:sy n="72" d="100"/>
        </p:scale>
        <p:origin x="-1430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A799E-2561-3242-9C7D-4F8BC20EE162}" type="datetimeFigureOut">
              <a:rPr lang="en-US" smtClean="0"/>
              <a:pPr/>
              <a:t>4/11/2011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E9E94-8C56-1A4D-89E6-23F9BDFEE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14583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A799E-2561-3242-9C7D-4F8BC20EE162}" type="datetimeFigureOut">
              <a:rPr lang="en-US" smtClean="0"/>
              <a:pPr/>
              <a:t>4/11/2011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E9E94-8C56-1A4D-89E6-23F9BDFEE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18657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A799E-2561-3242-9C7D-4F8BC20EE162}" type="datetimeFigureOut">
              <a:rPr lang="en-US" smtClean="0"/>
              <a:pPr/>
              <a:t>4/11/2011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E9E94-8C56-1A4D-89E6-23F9BDFEE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2700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A799E-2561-3242-9C7D-4F8BC20EE162}" type="datetimeFigureOut">
              <a:rPr lang="en-US" smtClean="0"/>
              <a:pPr/>
              <a:t>4/11/2011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E9E94-8C56-1A4D-89E6-23F9BDFEE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0631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A799E-2561-3242-9C7D-4F8BC20EE162}" type="datetimeFigureOut">
              <a:rPr lang="en-US" smtClean="0"/>
              <a:pPr/>
              <a:t>4/11/2011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E9E94-8C56-1A4D-89E6-23F9BDFEE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29304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A799E-2561-3242-9C7D-4F8BC20EE162}" type="datetimeFigureOut">
              <a:rPr lang="en-US" smtClean="0"/>
              <a:pPr/>
              <a:t>4/11/2011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E9E94-8C56-1A4D-89E6-23F9BDFEE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43310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A799E-2561-3242-9C7D-4F8BC20EE162}" type="datetimeFigureOut">
              <a:rPr lang="en-US" smtClean="0"/>
              <a:pPr/>
              <a:t>4/11/2011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E9E94-8C56-1A4D-89E6-23F9BDFEE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255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A799E-2561-3242-9C7D-4F8BC20EE162}" type="datetimeFigureOut">
              <a:rPr lang="en-US" smtClean="0"/>
              <a:pPr/>
              <a:t>4/11/2011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E9E94-8C56-1A4D-89E6-23F9BDFEE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91553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A799E-2561-3242-9C7D-4F8BC20EE162}" type="datetimeFigureOut">
              <a:rPr lang="en-US" smtClean="0"/>
              <a:pPr/>
              <a:t>4/11/2011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E9E94-8C56-1A4D-89E6-23F9BDFEE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03282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A799E-2561-3242-9C7D-4F8BC20EE162}" type="datetimeFigureOut">
              <a:rPr lang="en-US" smtClean="0"/>
              <a:pPr/>
              <a:t>4/11/2011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E9E94-8C56-1A4D-89E6-23F9BDFEE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19990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A799E-2561-3242-9C7D-4F8BC20EE162}" type="datetimeFigureOut">
              <a:rPr lang="en-US" smtClean="0"/>
              <a:pPr/>
              <a:t>4/11/2011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E9E94-8C56-1A4D-89E6-23F9BDFEE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0808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A799E-2561-3242-9C7D-4F8BC20EE162}" type="datetimeFigureOut">
              <a:rPr lang="en-US" smtClean="0"/>
              <a:pPr/>
              <a:t>4/11/2011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E9E94-8C56-1A4D-89E6-23F9BDFEE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46357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emf"/><Relationship Id="rId4" Type="http://schemas.openxmlformats.org/officeDocument/2006/relationships/image" Target="../media/image2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emf"/><Relationship Id="rId5" Type="http://schemas.openxmlformats.org/officeDocument/2006/relationships/image" Target="../media/image37.emf"/><Relationship Id="rId4" Type="http://schemas.openxmlformats.org/officeDocument/2006/relationships/image" Target="../media/image36.e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32480" y="388295"/>
            <a:ext cx="25982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 smtClean="0">
                <a:solidFill>
                  <a:srgbClr val="0000FF"/>
                </a:solidFill>
              </a:rPr>
              <a:t>Claude Shannon</a:t>
            </a:r>
            <a:endParaRPr lang="en-US" sz="2800" b="1" u="sng" dirty="0">
              <a:solidFill>
                <a:srgbClr val="0000FF"/>
              </a:solidFill>
            </a:endParaRPr>
          </a:p>
        </p:txBody>
      </p:sp>
      <p:pic>
        <p:nvPicPr>
          <p:cNvPr id="6" name="Picture 5" descr="Shannon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14435"/>
          <a:stretch/>
        </p:blipFill>
        <p:spPr>
          <a:xfrm>
            <a:off x="2658890" y="1125397"/>
            <a:ext cx="3681652" cy="28551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74273" y="367141"/>
            <a:ext cx="2199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(1916 – 2001)</a:t>
            </a:r>
            <a:endParaRPr lang="en-US" sz="2800" dirty="0"/>
          </a:p>
        </p:txBody>
      </p:sp>
      <p:sp>
        <p:nvSpPr>
          <p:cNvPr id="13" name="Rectangle 12"/>
          <p:cNvSpPr/>
          <p:nvPr/>
        </p:nvSpPr>
        <p:spPr>
          <a:xfrm>
            <a:off x="784880" y="4117497"/>
            <a:ext cx="7944077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/>
              <a:t>Shannon completed </a:t>
            </a:r>
            <a:r>
              <a:rPr lang="en-US" sz="2000" dirty="0" smtClean="0"/>
              <a:t>two </a:t>
            </a:r>
            <a:r>
              <a:rPr lang="en-US" sz="2000" dirty="0" smtClean="0"/>
              <a:t>undergraduate degrees at the University of</a:t>
            </a:r>
          </a:p>
          <a:p>
            <a:r>
              <a:rPr lang="en-US" sz="2000" dirty="0" smtClean="0"/>
              <a:t>Michigan before entering graduate school at MIT.  The applications of</a:t>
            </a:r>
          </a:p>
          <a:p>
            <a:r>
              <a:rPr lang="en-US" sz="2000" dirty="0" smtClean="0"/>
              <a:t>Boolean algebra and binary arithmetic described in his MIT masters thesis</a:t>
            </a:r>
          </a:p>
          <a:p>
            <a:r>
              <a:rPr lang="en-US" sz="2000" dirty="0"/>
              <a:t>r</a:t>
            </a:r>
            <a:r>
              <a:rPr lang="en-US" sz="2000" dirty="0" smtClean="0"/>
              <a:t>evolutionized electrical engineering and formed the basis of digital circuit</a:t>
            </a:r>
          </a:p>
          <a:p>
            <a:r>
              <a:rPr lang="en-US" sz="2000" dirty="0" smtClean="0"/>
              <a:t>Design.  Similar applications to genetics lead to his PhD thesis, “An Algebra</a:t>
            </a:r>
          </a:p>
          <a:p>
            <a:r>
              <a:rPr lang="en-US" sz="2000" dirty="0" smtClean="0"/>
              <a:t>for Theoretical Genetics.”</a:t>
            </a:r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784880" y="6197979"/>
            <a:ext cx="7263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Information theory, cryptography, chess, artificial intelligence, game theory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16163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yste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4100" y="3419928"/>
            <a:ext cx="6953250" cy="3009900"/>
          </a:xfrm>
          <a:prstGeom prst="rect">
            <a:avLst/>
          </a:prstGeom>
        </p:spPr>
      </p:pic>
      <p:pic>
        <p:nvPicPr>
          <p:cNvPr id="9" name="Picture 8" descr="text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0200" y="1382394"/>
            <a:ext cx="8294370" cy="13423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4571" y="365780"/>
            <a:ext cx="69271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u="sng" dirty="0" smtClean="0">
                <a:solidFill>
                  <a:srgbClr val="0000FF"/>
                </a:solidFill>
              </a:rPr>
              <a:t>The Mathematical Theory of Communication</a:t>
            </a:r>
            <a:endParaRPr lang="en-US" sz="2800" b="1" i="1" u="sng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04951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yste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04661" y="2425700"/>
            <a:ext cx="5562600" cy="2407920"/>
          </a:xfrm>
          <a:prstGeom prst="rect">
            <a:avLst/>
          </a:prstGeom>
        </p:spPr>
      </p:pic>
      <p:pic>
        <p:nvPicPr>
          <p:cNvPr id="9" name="Picture 8" descr="text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0200" y="711199"/>
            <a:ext cx="8294370" cy="13423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80654" y="4187290"/>
            <a:ext cx="3573214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Message must be </a:t>
            </a:r>
            <a:r>
              <a:rPr lang="en-US" sz="2400" b="1" i="1" dirty="0" smtClean="0">
                <a:solidFill>
                  <a:srgbClr val="FF0000"/>
                </a:solidFill>
              </a:rPr>
              <a:t>encoded</a:t>
            </a:r>
            <a:r>
              <a:rPr lang="en-US" sz="2400" dirty="0" smtClean="0"/>
              <a:t>,</a:t>
            </a:r>
            <a:endParaRPr lang="en-US" sz="2400" dirty="0"/>
          </a:p>
          <a:p>
            <a:r>
              <a:rPr lang="en-US" sz="2400" dirty="0"/>
              <a:t>t</a:t>
            </a:r>
            <a:r>
              <a:rPr lang="en-US" sz="2400" dirty="0" smtClean="0"/>
              <a:t>hen </a:t>
            </a:r>
            <a:r>
              <a:rPr lang="en-US" sz="2400" b="1" i="1" dirty="0" smtClean="0">
                <a:solidFill>
                  <a:srgbClr val="FF0000"/>
                </a:solidFill>
              </a:rPr>
              <a:t>transmitted</a:t>
            </a:r>
            <a:r>
              <a:rPr lang="en-US" sz="2400" dirty="0" smtClean="0"/>
              <a:t>,</a:t>
            </a:r>
          </a:p>
          <a:p>
            <a:r>
              <a:rPr lang="en-US" sz="2400" dirty="0" smtClean="0"/>
              <a:t>then </a:t>
            </a:r>
            <a:r>
              <a:rPr lang="en-US" sz="2400" b="1" i="1" dirty="0" smtClean="0">
                <a:solidFill>
                  <a:srgbClr val="FF0000"/>
                </a:solidFill>
              </a:rPr>
              <a:t>decoded</a:t>
            </a:r>
            <a:r>
              <a:rPr lang="en-US" sz="2400" dirty="0" smtClean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5880" y="5487418"/>
            <a:ext cx="6011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What is the best way to encode and transmit?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681067" y="6016325"/>
            <a:ext cx="5219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smtClean="0"/>
              <a:t>(Aside: decoding is an inverse problem!)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xmlns="" val="2887787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3890" y="1488328"/>
            <a:ext cx="62900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There are lots of different ways to communicate.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785747" y="649905"/>
            <a:ext cx="20825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 smtClean="0">
                <a:solidFill>
                  <a:srgbClr val="0000FF"/>
                </a:solidFill>
              </a:rPr>
              <a:t>The Problem</a:t>
            </a:r>
            <a:endParaRPr lang="en-US" sz="2800" b="1" u="sng" dirty="0">
              <a:solidFill>
                <a:srgbClr val="00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9289" y="2136500"/>
            <a:ext cx="75176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Messages (information sources) take many different forms.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829289" y="3032758"/>
            <a:ext cx="6422852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8000"/>
                </a:solidFill>
              </a:rPr>
              <a:t>Audio</a:t>
            </a:r>
          </a:p>
          <a:p>
            <a:pPr lvl="1"/>
            <a:r>
              <a:rPr lang="en-US" sz="2400" dirty="0" smtClean="0"/>
              <a:t>Languages: English, French, Chinese, Arabic, …</a:t>
            </a:r>
            <a:endParaRPr lang="en-US" sz="2400" dirty="0"/>
          </a:p>
          <a:p>
            <a:pPr marL="457200" indent="-457200">
              <a:buAutoNum type="arabicPeriod"/>
            </a:pP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829289" y="4274446"/>
            <a:ext cx="4096795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6600"/>
                </a:solidFill>
              </a:rPr>
              <a:t>Visual</a:t>
            </a:r>
          </a:p>
          <a:p>
            <a:pPr lvl="1"/>
            <a:r>
              <a:rPr lang="en-US" sz="2400" dirty="0" smtClean="0"/>
              <a:t>Sign language, television, …</a:t>
            </a:r>
            <a:endParaRPr lang="en-US" sz="2400" dirty="0"/>
          </a:p>
          <a:p>
            <a:pPr marL="457200" indent="-457200">
              <a:buAutoNum type="arabicPeriod"/>
            </a:pP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856170" y="5412360"/>
            <a:ext cx="1878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Other codes?</a:t>
            </a:r>
          </a:p>
        </p:txBody>
      </p:sp>
    </p:spTree>
    <p:extLst>
      <p:ext uri="{BB962C8B-B14F-4D97-AF65-F5344CB8AC3E}">
        <p14:creationId xmlns:p14="http://schemas.microsoft.com/office/powerpoint/2010/main" xmlns="" val="1925061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9955" y="507818"/>
            <a:ext cx="830400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How we choose to communicate depends critically on the </a:t>
            </a:r>
          </a:p>
          <a:p>
            <a:r>
              <a:rPr lang="en-US" sz="2400" b="1" i="1" dirty="0">
                <a:solidFill>
                  <a:srgbClr val="FF0000"/>
                </a:solidFill>
              </a:rPr>
              <a:t>m</a:t>
            </a:r>
            <a:r>
              <a:rPr lang="en-US" sz="2400" b="1" i="1" dirty="0" smtClean="0">
                <a:solidFill>
                  <a:srgbClr val="FF0000"/>
                </a:solidFill>
              </a:rPr>
              <a:t>edium (channel) </a:t>
            </a:r>
            <a:r>
              <a:rPr lang="en-US" sz="2400" dirty="0" smtClean="0"/>
              <a:t>through which the the message is transmitted.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23635" y="1659018"/>
            <a:ext cx="345900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Speech (phone)</a:t>
            </a:r>
          </a:p>
          <a:p>
            <a:endParaRPr lang="en-US" sz="2400" dirty="0"/>
          </a:p>
          <a:p>
            <a:r>
              <a:rPr lang="en-US" sz="2400" dirty="0" smtClean="0"/>
              <a:t>Speech with video (Skype)</a:t>
            </a:r>
          </a:p>
          <a:p>
            <a:endParaRPr lang="en-US" sz="2400" dirty="0"/>
          </a:p>
          <a:p>
            <a:r>
              <a:rPr lang="en-US" sz="2400" dirty="0" smtClean="0"/>
              <a:t>Underwater (no speech)</a:t>
            </a:r>
          </a:p>
          <a:p>
            <a:endParaRPr lang="en-US" sz="2400" dirty="0"/>
          </a:p>
          <a:p>
            <a:r>
              <a:rPr lang="en-US" sz="2400" dirty="0" smtClean="0"/>
              <a:t>e-mail</a:t>
            </a:r>
          </a:p>
          <a:p>
            <a:endParaRPr lang="en-US" sz="2400" dirty="0"/>
          </a:p>
          <a:p>
            <a:r>
              <a:rPr lang="en-US" sz="2400" dirty="0" smtClean="0"/>
              <a:t>Others?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407675" y="5356145"/>
            <a:ext cx="83040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 </a:t>
            </a:r>
            <a:r>
              <a:rPr lang="en-US" sz="2400" b="1" i="1" dirty="0" smtClean="0">
                <a:solidFill>
                  <a:srgbClr val="FF0000"/>
                </a:solidFill>
              </a:rPr>
              <a:t>best</a:t>
            </a:r>
            <a:r>
              <a:rPr lang="en-US" sz="2400" dirty="0" smtClean="0"/>
              <a:t> way to communicate depends very greatly on the</a:t>
            </a:r>
          </a:p>
          <a:p>
            <a:r>
              <a:rPr lang="en-US" sz="2400" dirty="0"/>
              <a:t>t</a:t>
            </a:r>
            <a:r>
              <a:rPr lang="en-US" sz="2400" dirty="0" smtClean="0"/>
              <a:t>ransmitting medium.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46555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15043" y="466680"/>
            <a:ext cx="1480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solidFill>
                  <a:srgbClr val="0000FF"/>
                </a:solidFill>
              </a:rPr>
              <a:t>Teletype</a:t>
            </a:r>
            <a:endParaRPr lang="en-US" sz="2800" b="1" u="sng" dirty="0">
              <a:solidFill>
                <a:srgbClr val="0000FF"/>
              </a:solidFill>
            </a:endParaRPr>
          </a:p>
        </p:txBody>
      </p:sp>
      <p:pic>
        <p:nvPicPr>
          <p:cNvPr id="6" name="Picture 5" descr="ttype1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-1" b="30797"/>
          <a:stretch/>
        </p:blipFill>
        <p:spPr>
          <a:xfrm>
            <a:off x="615043" y="1132114"/>
            <a:ext cx="2870200" cy="4526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94987" y="5973634"/>
            <a:ext cx="83490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2400" dirty="0" smtClean="0"/>
              <a:t>http://</a:t>
            </a:r>
            <a:r>
              <a:rPr lang="pl-PL" sz="2400" dirty="0" err="1" smtClean="0"/>
              <a:t>www.youtube.com</a:t>
            </a:r>
            <a:r>
              <a:rPr lang="pl-PL" sz="2400" dirty="0" smtClean="0"/>
              <a:t>/</a:t>
            </a:r>
            <a:r>
              <a:rPr lang="pl-PL" sz="2400" dirty="0" err="1" smtClean="0"/>
              <a:t>watchv</a:t>
            </a:r>
            <a:r>
              <a:rPr lang="pl-PL" sz="2400" dirty="0" smtClean="0"/>
              <a:t>=DFMQ1qT_RFM</a:t>
            </a:r>
            <a:endParaRPr lang="en-US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4294909" y="1450295"/>
            <a:ext cx="43745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</a:t>
            </a:r>
            <a:r>
              <a:rPr lang="en-US" sz="2400" dirty="0" smtClean="0"/>
              <a:t>etters have the same duration</a:t>
            </a:r>
          </a:p>
          <a:p>
            <a:endParaRPr lang="en-US" sz="2400" dirty="0" smtClean="0"/>
          </a:p>
          <a:p>
            <a:r>
              <a:rPr lang="en-US" sz="2400" dirty="0" smtClean="0"/>
              <a:t>Letters mapped to 5 binary digits</a:t>
            </a:r>
            <a:endParaRPr lang="en-US" sz="2400" dirty="0"/>
          </a:p>
          <a:p>
            <a:r>
              <a:rPr lang="en-US" sz="2400" dirty="0" smtClean="0"/>
              <a:t>    				  [</a:t>
            </a:r>
            <a:r>
              <a:rPr lang="en-US" sz="2400" dirty="0" err="1" smtClean="0"/>
              <a:t>abcde</a:t>
            </a:r>
            <a:r>
              <a:rPr lang="en-US" sz="2400" dirty="0" smtClean="0"/>
              <a:t>] = [10000]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671057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7133" y="876363"/>
            <a:ext cx="24348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solidFill>
                  <a:srgbClr val="0000FF"/>
                </a:solidFill>
              </a:rPr>
              <a:t>Weather codes</a:t>
            </a:r>
            <a:endParaRPr lang="en-US" sz="2800" b="1" u="sng" dirty="0">
              <a:solidFill>
                <a:srgbClr val="0000FF"/>
              </a:solidFill>
            </a:endParaRPr>
          </a:p>
        </p:txBody>
      </p:sp>
      <p:pic>
        <p:nvPicPr>
          <p:cNvPr id="3" name="Picture 2" descr="weather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23217" y="1913088"/>
            <a:ext cx="8506460" cy="308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71057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orseco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769428" y="584281"/>
            <a:ext cx="4051300" cy="522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7185" y="445735"/>
            <a:ext cx="19809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solidFill>
                  <a:srgbClr val="0000FF"/>
                </a:solidFill>
              </a:rPr>
              <a:t>Morse Code</a:t>
            </a:r>
            <a:endParaRPr lang="en-US" sz="2800" b="1" u="sng" dirty="0">
              <a:solidFill>
                <a:srgbClr val="0000FF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7185" y="1337426"/>
            <a:ext cx="400782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Telegraphy</a:t>
            </a:r>
            <a:r>
              <a:rPr lang="en-US" sz="2400" dirty="0" smtClean="0"/>
              <a:t> </a:t>
            </a:r>
          </a:p>
          <a:p>
            <a:endParaRPr lang="en-US" sz="2400" dirty="0"/>
          </a:p>
          <a:p>
            <a:r>
              <a:rPr lang="en-US" sz="2400" dirty="0" smtClean="0"/>
              <a:t>    message: letters</a:t>
            </a:r>
          </a:p>
          <a:p>
            <a:r>
              <a:rPr lang="en-US" sz="2400" dirty="0" smtClean="0"/>
              <a:t>    signal: dots, dashes, spaces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218306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77133" y="876363"/>
            <a:ext cx="3759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solidFill>
                  <a:srgbClr val="0000FF"/>
                </a:solidFill>
              </a:rPr>
              <a:t>Chinese Telegraph Code</a:t>
            </a:r>
            <a:endParaRPr lang="en-US" sz="2800" b="1" u="sng" dirty="0">
              <a:solidFill>
                <a:srgbClr val="0000FF"/>
              </a:solidFill>
            </a:endParaRPr>
          </a:p>
        </p:txBody>
      </p:sp>
      <p:pic>
        <p:nvPicPr>
          <p:cNvPr id="2" name="Picture 1" descr="chinesetcod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77133" y="1761046"/>
            <a:ext cx="2794000" cy="402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06412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1184" y="876363"/>
            <a:ext cx="2103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err="1" smtClean="0">
                <a:solidFill>
                  <a:srgbClr val="0000FF"/>
                </a:solidFill>
              </a:rPr>
              <a:t>Wabun</a:t>
            </a:r>
            <a:r>
              <a:rPr lang="en-US" sz="2800" b="1" u="sng" dirty="0" smtClean="0">
                <a:solidFill>
                  <a:srgbClr val="0000FF"/>
                </a:solidFill>
              </a:rPr>
              <a:t> Code</a:t>
            </a:r>
            <a:endParaRPr lang="en-US" sz="2800" b="1" u="sng" dirty="0">
              <a:solidFill>
                <a:srgbClr val="0000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77133" y="2198195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41184" y="1718633"/>
            <a:ext cx="5386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solidFill>
                  <a:prstClr val="black"/>
                </a:solidFill>
              </a:rPr>
              <a:t>Morse code </a:t>
            </a:r>
            <a:r>
              <a:rPr lang="en-US" sz="2400" dirty="0" smtClean="0">
                <a:solidFill>
                  <a:prstClr val="black"/>
                </a:solidFill>
              </a:rPr>
              <a:t>used to send Japanese texts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1184" y="2372143"/>
            <a:ext cx="84015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Used to </a:t>
            </a:r>
            <a:r>
              <a:rPr lang="en-US" sz="2000" dirty="0"/>
              <a:t>transmit the message "NIITAKA-YAMA NOBORE 12 </a:t>
            </a:r>
            <a:r>
              <a:rPr lang="en-US" sz="2000" dirty="0" smtClean="0"/>
              <a:t>08” </a:t>
            </a:r>
          </a:p>
          <a:p>
            <a:r>
              <a:rPr lang="en-US" sz="2000" dirty="0" smtClean="0"/>
              <a:t>signaling </a:t>
            </a:r>
            <a:r>
              <a:rPr lang="en-US" sz="2000" dirty="0"/>
              <a:t>go-ahead of the </a:t>
            </a:r>
            <a:r>
              <a:rPr lang="en-US" sz="2000" dirty="0" smtClean="0"/>
              <a:t>Japanese attack on Pearl Harbor </a:t>
            </a:r>
            <a:endParaRPr lang="en-US" sz="2000" dirty="0"/>
          </a:p>
        </p:txBody>
      </p:sp>
      <p:pic>
        <p:nvPicPr>
          <p:cNvPr id="7" name="Picture 6" descr="wo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1184" y="3497885"/>
            <a:ext cx="2311400" cy="762000"/>
          </a:xfrm>
          <a:prstGeom prst="rect">
            <a:avLst/>
          </a:prstGeom>
        </p:spPr>
      </p:pic>
      <p:pic>
        <p:nvPicPr>
          <p:cNvPr id="8" name="Picture 7" descr="i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91186" y="3517174"/>
            <a:ext cx="2286000" cy="762000"/>
          </a:xfrm>
          <a:prstGeom prst="rect">
            <a:avLst/>
          </a:prstGeom>
        </p:spPr>
      </p:pic>
      <p:pic>
        <p:nvPicPr>
          <p:cNvPr id="9" name="Picture 8" descr="o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155045" y="3517423"/>
            <a:ext cx="2286000" cy="736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1184" y="4483423"/>
            <a:ext cx="5386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 smtClean="0">
                <a:solidFill>
                  <a:prstClr val="black"/>
                </a:solidFill>
              </a:rPr>
              <a:t>(</a:t>
            </a:r>
            <a:r>
              <a:rPr lang="en-US" sz="2400" dirty="0" err="1" smtClean="0">
                <a:solidFill>
                  <a:prstClr val="black"/>
                </a:solidFill>
              </a:rPr>
              <a:t>wikipedia</a:t>
            </a:r>
            <a:r>
              <a:rPr lang="en-US" sz="2400" dirty="0" smtClean="0">
                <a:solidFill>
                  <a:prstClr val="black"/>
                </a:solidFill>
              </a:rPr>
              <a:t>)</a:t>
            </a:r>
            <a:endParaRPr lang="en-US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4936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7133" y="876363"/>
            <a:ext cx="2366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solidFill>
                  <a:srgbClr val="0000FF"/>
                </a:solidFill>
              </a:rPr>
              <a:t>Modern Codes</a:t>
            </a:r>
            <a:endParaRPr lang="en-US" sz="2800" b="1" u="sng" dirty="0">
              <a:solidFill>
                <a:srgbClr val="0000FF"/>
              </a:solidFill>
            </a:endParaRPr>
          </a:p>
        </p:txBody>
      </p:sp>
      <p:pic>
        <p:nvPicPr>
          <p:cNvPr id="5" name="Picture 4" descr="mcode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42698" y="1536349"/>
            <a:ext cx="6375400" cy="440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1709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acebook-Chat-Emoticons-list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77133" y="864248"/>
            <a:ext cx="6337300" cy="585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7133" y="422876"/>
            <a:ext cx="32453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solidFill>
                  <a:srgbClr val="0000FF"/>
                </a:solidFill>
              </a:rPr>
              <a:t>Facebook emoticons</a:t>
            </a:r>
            <a:endParaRPr lang="en-US" sz="2800" b="1" u="sng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30773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96393" y="723900"/>
            <a:ext cx="15436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solidFill>
                  <a:srgbClr val="0000FF"/>
                </a:solidFill>
              </a:rPr>
              <a:t>Question</a:t>
            </a:r>
            <a:endParaRPr lang="en-US" sz="2800" b="1" u="sng" dirty="0">
              <a:solidFill>
                <a:srgbClr val="00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6393" y="1462540"/>
            <a:ext cx="720191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How should one define a “code?”  How did Morse do it?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96393" y="2201204"/>
            <a:ext cx="799417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How would you define an “efficient code” of English language?</a:t>
            </a:r>
          </a:p>
          <a:p>
            <a:endParaRPr lang="en-US" sz="2400" dirty="0"/>
          </a:p>
          <a:p>
            <a:r>
              <a:rPr lang="en-US" sz="2400" dirty="0" smtClean="0"/>
              <a:t>What does “efficient” mean?</a:t>
            </a:r>
          </a:p>
          <a:p>
            <a:endParaRPr lang="en-US" sz="2400" dirty="0"/>
          </a:p>
          <a:p>
            <a:r>
              <a:rPr lang="en-US" sz="2400" dirty="0" smtClean="0"/>
              <a:t>Why might Morse code be more efficient than teletype?</a:t>
            </a:r>
          </a:p>
          <a:p>
            <a:endParaRPr lang="en-US" sz="2400" dirty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96393" y="5166643"/>
            <a:ext cx="68218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DISCUSS WITH YOUR NEIGHBOR!  5 MINUTE BREAK!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32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7475" y="615264"/>
            <a:ext cx="759737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0000FF"/>
                </a:solidFill>
              </a:rPr>
              <a:t>Morse</a:t>
            </a:r>
            <a:r>
              <a:rPr lang="en-US" sz="2800" dirty="0" smtClean="0">
                <a:solidFill>
                  <a:srgbClr val="0000FF"/>
                </a:solidFill>
              </a:rPr>
              <a:t>: design code according to letter frequencies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27475" y="3836950"/>
            <a:ext cx="282200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008000"/>
                </a:solidFill>
              </a:rPr>
              <a:t>E, T, A, I, N, O, S</a:t>
            </a:r>
            <a:endParaRPr lang="en-US" sz="3200" dirty="0">
              <a:solidFill>
                <a:srgbClr val="008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7475" y="4851191"/>
            <a:ext cx="79518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Presumably “modern” chat symbols are chosen for their </a:t>
            </a:r>
          </a:p>
          <a:p>
            <a:r>
              <a:rPr lang="en-US" sz="2400" dirty="0" smtClean="0"/>
              <a:t>common usage</a:t>
            </a:r>
          </a:p>
          <a:p>
            <a:endParaRPr lang="en-US" sz="2400" dirty="0"/>
          </a:p>
          <a:p>
            <a:r>
              <a:rPr lang="en-US" sz="2400" dirty="0" smtClean="0"/>
              <a:t>(interesting senior thesis topic?)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527475" y="1458954"/>
            <a:ext cx="795181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E  11.28%,  T  8.46%,  A  7.52%, I  7.52%, N  7.52%, O  7.52%, </a:t>
            </a:r>
          </a:p>
          <a:p>
            <a:r>
              <a:rPr lang="en-US" sz="2400" dirty="0" smtClean="0"/>
              <a:t>H  6.02%,  R  5.83%, D  4.14%, L  3.76%, U  3.20%, C  2.82%, </a:t>
            </a:r>
          </a:p>
          <a:p>
            <a:r>
              <a:rPr lang="en-US" sz="2400" dirty="0" smtClean="0"/>
              <a:t>M  2.82%,  F  2.35%,  W  1.88%,  Y  1.88%,  G  1.60%,  P  1.60%, </a:t>
            </a:r>
          </a:p>
          <a:p>
            <a:r>
              <a:rPr lang="en-US" sz="2400" dirty="0" smtClean="0"/>
              <a:t>B  1.50%,  V  1.13%,  K  0.75%,  Q  0.47%,  J  0.38%,  X  0.38%, </a:t>
            </a:r>
          </a:p>
          <a:p>
            <a:r>
              <a:rPr lang="en-US" sz="2400" dirty="0" smtClean="0"/>
              <a:t> Z  0.19% </a:t>
            </a:r>
          </a:p>
          <a:p>
            <a:r>
              <a:rPr lang="en-US" sz="2400" dirty="0" smtClean="0"/>
              <a:t> 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1659419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orseco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27185" y="495300"/>
            <a:ext cx="4051300" cy="52247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27185" y="1752600"/>
            <a:ext cx="1117600" cy="220134"/>
          </a:xfrm>
          <a:prstGeom prst="rect">
            <a:avLst/>
          </a:prstGeom>
          <a:solidFill>
            <a:srgbClr val="FFFF00">
              <a:alpha val="38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27185" y="2476500"/>
            <a:ext cx="1117600" cy="220134"/>
          </a:xfrm>
          <a:prstGeom prst="rect">
            <a:avLst/>
          </a:prstGeom>
          <a:solidFill>
            <a:srgbClr val="FFFF00">
              <a:alpha val="38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27185" y="3200400"/>
            <a:ext cx="1117600" cy="220134"/>
          </a:xfrm>
          <a:prstGeom prst="rect">
            <a:avLst/>
          </a:prstGeom>
          <a:solidFill>
            <a:srgbClr val="FFFF00">
              <a:alpha val="38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55955" y="4114800"/>
            <a:ext cx="1482530" cy="381000"/>
          </a:xfrm>
          <a:prstGeom prst="rect">
            <a:avLst/>
          </a:prstGeom>
          <a:solidFill>
            <a:srgbClr val="FFFF00">
              <a:alpha val="38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55955" y="5029200"/>
            <a:ext cx="1117600" cy="381001"/>
          </a:xfrm>
          <a:prstGeom prst="rect">
            <a:avLst/>
          </a:prstGeom>
          <a:solidFill>
            <a:srgbClr val="FFFF00">
              <a:alpha val="38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575300" y="1778337"/>
            <a:ext cx="153494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E    11.28%</a:t>
            </a:r>
          </a:p>
          <a:p>
            <a:r>
              <a:rPr lang="en-US" sz="2400" dirty="0" smtClean="0"/>
              <a:t>T    8.46%</a:t>
            </a:r>
          </a:p>
          <a:p>
            <a:r>
              <a:rPr lang="en-US" sz="2400" dirty="0" smtClean="0"/>
              <a:t>A    7.52%</a:t>
            </a:r>
          </a:p>
          <a:p>
            <a:r>
              <a:rPr lang="en-US" sz="2400" dirty="0" smtClean="0"/>
              <a:t>I     7.52%</a:t>
            </a:r>
          </a:p>
          <a:p>
            <a:r>
              <a:rPr lang="en-US" sz="2400" dirty="0" smtClean="0"/>
              <a:t>N   7.52%</a:t>
            </a:r>
          </a:p>
          <a:p>
            <a:r>
              <a:rPr lang="en-US" sz="2400" dirty="0" smtClean="0"/>
              <a:t>O   7.52%</a:t>
            </a:r>
          </a:p>
          <a:p>
            <a:r>
              <a:rPr lang="en-US" sz="2400" dirty="0" smtClean="0"/>
              <a:t>S    7.52%</a:t>
            </a:r>
          </a:p>
        </p:txBody>
      </p:sp>
    </p:spTree>
    <p:extLst>
      <p:ext uri="{BB962C8B-B14F-4D97-AF65-F5344CB8AC3E}">
        <p14:creationId xmlns:p14="http://schemas.microsoft.com/office/powerpoint/2010/main" xmlns="" val="3985486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081" y="406400"/>
            <a:ext cx="15436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solidFill>
                  <a:srgbClr val="0000FF"/>
                </a:solidFill>
              </a:rPr>
              <a:t>Question</a:t>
            </a:r>
            <a:endParaRPr lang="en-US" sz="2800" b="1" u="sng" dirty="0">
              <a:solidFill>
                <a:srgbClr val="00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7371" y="1049635"/>
            <a:ext cx="80023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Now we have a code.  How many signals/symbols of the code </a:t>
            </a:r>
          </a:p>
          <a:p>
            <a:r>
              <a:rPr lang="en-US" sz="2400" dirty="0" smtClean="0"/>
              <a:t>can be transmitted per unit time? </a:t>
            </a:r>
            <a:endParaRPr lang="en-US" sz="2400" dirty="0"/>
          </a:p>
        </p:txBody>
      </p:sp>
      <p:pic>
        <p:nvPicPr>
          <p:cNvPr id="5" name="Picture 4" descr="syste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90747" y="2064400"/>
            <a:ext cx="5562600" cy="2407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7080" y="5137461"/>
            <a:ext cx="83597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Once the code and channel are defined, this is a well-defined math problem!</a:t>
            </a:r>
          </a:p>
        </p:txBody>
      </p:sp>
    </p:spTree>
    <p:extLst>
      <p:ext uri="{BB962C8B-B14F-4D97-AF65-F5344CB8AC3E}">
        <p14:creationId xmlns:p14="http://schemas.microsoft.com/office/powerpoint/2010/main" xmlns="" val="3664022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7847" y="761180"/>
            <a:ext cx="19809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solidFill>
                  <a:srgbClr val="0000FF"/>
                </a:solidFill>
              </a:rPr>
              <a:t>Morse Code</a:t>
            </a:r>
            <a:endParaRPr lang="en-US" sz="2800" b="1" u="sng" dirty="0">
              <a:solidFill>
                <a:srgbClr val="00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7847" y="1559298"/>
            <a:ext cx="7732405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Dot = line closure for one unit of time and then line open for 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	    one unit of time</a:t>
            </a:r>
          </a:p>
          <a:p>
            <a:endParaRPr lang="en-US" sz="2400" dirty="0"/>
          </a:p>
          <a:p>
            <a:r>
              <a:rPr lang="en-US" sz="2400" dirty="0" smtClean="0"/>
              <a:t>Dash = line closure for three units of time and line open for 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        one unit of time</a:t>
            </a:r>
          </a:p>
          <a:p>
            <a:endParaRPr lang="en-US" sz="2400" dirty="0"/>
          </a:p>
          <a:p>
            <a:r>
              <a:rPr lang="en-US" sz="2400" dirty="0" smtClean="0"/>
              <a:t>Letter Space = line open for three units of time</a:t>
            </a:r>
          </a:p>
          <a:p>
            <a:endParaRPr lang="en-US" sz="2400" dirty="0"/>
          </a:p>
          <a:p>
            <a:r>
              <a:rPr lang="en-US" sz="2400" dirty="0" smtClean="0"/>
              <a:t>Word Space = line open for six units of time</a:t>
            </a:r>
          </a:p>
          <a:p>
            <a:endParaRPr lang="en-US" sz="2400" dirty="0"/>
          </a:p>
          <a:p>
            <a:r>
              <a:rPr lang="en-US" sz="2400" dirty="0" smtClean="0"/>
              <a:t>Additional Rule: cannot have two successive spaces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664022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46190" y="623374"/>
            <a:ext cx="25158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solidFill>
                  <a:srgbClr val="0000FF"/>
                </a:solidFill>
              </a:rPr>
              <a:t>Possible Signals</a:t>
            </a:r>
            <a:endParaRPr lang="en-US" sz="2800" b="1" u="sng" dirty="0">
              <a:solidFill>
                <a:srgbClr val="0000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46190" y="1530068"/>
            <a:ext cx="4263006" cy="41549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Dot = 2 time units</a:t>
            </a:r>
          </a:p>
          <a:p>
            <a:endParaRPr lang="en-US" sz="2400" dirty="0"/>
          </a:p>
          <a:p>
            <a:r>
              <a:rPr lang="en-US" sz="2400" dirty="0" smtClean="0"/>
              <a:t>Dash = 4 time units</a:t>
            </a:r>
          </a:p>
          <a:p>
            <a:endParaRPr lang="en-US" sz="2400" dirty="0"/>
          </a:p>
          <a:p>
            <a:r>
              <a:rPr lang="en-US" sz="2400" dirty="0" smtClean="0"/>
              <a:t>Dot-space = 5 time units</a:t>
            </a:r>
          </a:p>
          <a:p>
            <a:endParaRPr lang="en-US" sz="2400" dirty="0"/>
          </a:p>
          <a:p>
            <a:r>
              <a:rPr lang="en-US" sz="2400" dirty="0" smtClean="0"/>
              <a:t>Dash-space = 7 time units</a:t>
            </a:r>
          </a:p>
          <a:p>
            <a:endParaRPr lang="en-US" sz="2400" dirty="0"/>
          </a:p>
          <a:p>
            <a:r>
              <a:rPr lang="en-US" sz="2400" dirty="0" smtClean="0"/>
              <a:t>Dot-word space = 8 time units</a:t>
            </a:r>
          </a:p>
          <a:p>
            <a:endParaRPr lang="en-US" sz="2400" dirty="0"/>
          </a:p>
          <a:p>
            <a:r>
              <a:rPr lang="en-US" sz="2400" dirty="0" smtClean="0"/>
              <a:t>Dash-word space = 10 time units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705025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4013" y="571838"/>
            <a:ext cx="81688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solidFill>
                  <a:srgbClr val="0000FF"/>
                </a:solidFill>
              </a:rPr>
              <a:t>How many signals can be transmitted per unit time? </a:t>
            </a:r>
            <a:endParaRPr lang="en-US" sz="2800" b="1" u="sng" dirty="0">
              <a:solidFill>
                <a:srgbClr val="0000FF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0" y="1508125"/>
            <a:ext cx="1123950" cy="4762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550" y="1450975"/>
            <a:ext cx="552450" cy="742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900" y="1503402"/>
            <a:ext cx="7284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Let             be the number of signals that can form in time </a:t>
            </a:r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2193925"/>
            <a:ext cx="1143000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8541" y="2241550"/>
            <a:ext cx="632652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  </a:t>
            </a:r>
            <a:r>
              <a:rPr lang="en-US" sz="2400" dirty="0" smtClean="0"/>
              <a:t>number of signals ending in “dot”</a:t>
            </a:r>
          </a:p>
          <a:p>
            <a:endParaRPr lang="en-US" sz="2400" dirty="0"/>
          </a:p>
          <a:p>
            <a:r>
              <a:rPr lang="en-US" sz="2400" dirty="0" smtClean="0"/>
              <a:t>+ number of signals ending in “dash”</a:t>
            </a:r>
          </a:p>
          <a:p>
            <a:endParaRPr lang="en-US" sz="2400" dirty="0"/>
          </a:p>
          <a:p>
            <a:r>
              <a:rPr lang="en-US" sz="2400" dirty="0" smtClean="0"/>
              <a:t>+ number of signals ending in “dash-space”</a:t>
            </a:r>
          </a:p>
          <a:p>
            <a:endParaRPr lang="en-US" sz="2400" dirty="0"/>
          </a:p>
          <a:p>
            <a:r>
              <a:rPr lang="en-US" sz="2400" dirty="0" smtClean="0"/>
              <a:t>+ number of signals ending in “dot-space”</a:t>
            </a:r>
          </a:p>
          <a:p>
            <a:endParaRPr lang="en-US" sz="2400" dirty="0"/>
          </a:p>
          <a:p>
            <a:r>
              <a:rPr lang="en-US" sz="2400" dirty="0" smtClean="0"/>
              <a:t>+ number of signals ending in “dot-word-space”</a:t>
            </a:r>
          </a:p>
          <a:p>
            <a:endParaRPr lang="en-US" sz="2400" dirty="0"/>
          </a:p>
          <a:p>
            <a:r>
              <a:rPr lang="en-US" sz="2400" dirty="0" smtClean="0"/>
              <a:t>+ number of signals ending in “dash-word-space”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21145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13" y="1120775"/>
            <a:ext cx="1143000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15480" y="1151943"/>
            <a:ext cx="6326521" cy="44319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 </a:t>
            </a:r>
            <a:r>
              <a:rPr lang="en-US" sz="2400" dirty="0" smtClean="0"/>
              <a:t> number of signals ending in “dot”</a:t>
            </a:r>
          </a:p>
          <a:p>
            <a:endParaRPr lang="en-US" sz="2400" dirty="0"/>
          </a:p>
          <a:p>
            <a:r>
              <a:rPr lang="en-US" sz="2400" dirty="0" smtClean="0"/>
              <a:t>+ number of signals ending in “dash”</a:t>
            </a:r>
          </a:p>
          <a:p>
            <a:endParaRPr lang="en-US" sz="2400" dirty="0"/>
          </a:p>
          <a:p>
            <a:r>
              <a:rPr lang="en-US" sz="2400" dirty="0" smtClean="0"/>
              <a:t>+ number of signals ending in “dash-space”</a:t>
            </a:r>
          </a:p>
          <a:p>
            <a:endParaRPr lang="en-US" sz="2400" dirty="0"/>
          </a:p>
          <a:p>
            <a:r>
              <a:rPr lang="en-US" sz="2400" dirty="0" smtClean="0"/>
              <a:t>+ number of signals ending in “dot-space”</a:t>
            </a:r>
          </a:p>
          <a:p>
            <a:endParaRPr lang="en-US" sz="2400" dirty="0"/>
          </a:p>
          <a:p>
            <a:r>
              <a:rPr lang="en-US" sz="2400" dirty="0" smtClean="0"/>
              <a:t>+ number of signals ending in “dot-word-space”</a:t>
            </a:r>
          </a:p>
          <a:p>
            <a:endParaRPr lang="en-US" sz="2400" dirty="0"/>
          </a:p>
          <a:p>
            <a:r>
              <a:rPr lang="en-US" sz="2400" dirty="0" smtClean="0"/>
              <a:t>+ number of signals ending in “dash-word-space”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5480069"/>
            <a:ext cx="8498840" cy="7289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1613" y="310228"/>
            <a:ext cx="81688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solidFill>
                  <a:srgbClr val="0000FF"/>
                </a:solidFill>
              </a:rPr>
              <a:t>How many signals can be transmitted per unit time? </a:t>
            </a:r>
            <a:endParaRPr lang="en-US" sz="2800" b="1" u="sng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31922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93" y="2111788"/>
            <a:ext cx="8498840" cy="7289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1613" y="1494873"/>
            <a:ext cx="30211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This is an equation!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471613" y="3491732"/>
            <a:ext cx="67594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Discuss for five minutes with your neighbors!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1613" y="310228"/>
            <a:ext cx="81688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solidFill>
                  <a:srgbClr val="0000FF"/>
                </a:solidFill>
              </a:rPr>
              <a:t>How many signals can be transmitted per unit time? </a:t>
            </a:r>
            <a:endParaRPr lang="en-US" sz="2800" b="1" u="sng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2041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56860"/>
            <a:ext cx="7891780" cy="6769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223844"/>
            <a:ext cx="3044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How do we solve this?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48" y="2834984"/>
            <a:ext cx="1370330" cy="5283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330" y="3786910"/>
            <a:ext cx="501904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4130" y="2886994"/>
            <a:ext cx="5060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Let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2412430" y="2876199"/>
            <a:ext cx="42464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and substitute into the above equation</a:t>
            </a:r>
            <a:endParaRPr lang="en-US" sz="2000" dirty="0"/>
          </a:p>
        </p:txBody>
      </p:sp>
      <p:sp>
        <p:nvSpPr>
          <p:cNvPr id="11" name="Rectangle 10"/>
          <p:cNvSpPr/>
          <p:nvPr/>
        </p:nvSpPr>
        <p:spPr>
          <a:xfrm>
            <a:off x="471613" y="310228"/>
            <a:ext cx="81688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solidFill>
                  <a:srgbClr val="0000FF"/>
                </a:solidFill>
              </a:rPr>
              <a:t>How many signals can be transmitted per unit time? </a:t>
            </a:r>
            <a:endParaRPr lang="en-US" sz="2800" b="1" u="sng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20412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570" y="1689785"/>
            <a:ext cx="5084879" cy="50179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601" y="2564607"/>
            <a:ext cx="1148262" cy="78464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571" y="2704124"/>
            <a:ext cx="3930508" cy="4643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7853" y="5182463"/>
            <a:ext cx="64418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where </a:t>
            </a:r>
            <a:r>
              <a:rPr lang="en-US" sz="2400" i="1" dirty="0" smtClean="0"/>
              <a:t>x</a:t>
            </a:r>
            <a:r>
              <a:rPr lang="en-US" sz="2400" dirty="0" smtClean="0"/>
              <a:t> is the largest </a:t>
            </a:r>
            <a:r>
              <a:rPr lang="en-US" sz="2400" dirty="0" smtClean="0"/>
              <a:t>solution to </a:t>
            </a:r>
            <a:r>
              <a:rPr lang="en-US" sz="2400" dirty="0" smtClean="0"/>
              <a:t>the </a:t>
            </a:r>
            <a:r>
              <a:rPr lang="en-US" sz="2400" dirty="0" smtClean="0"/>
              <a:t>this </a:t>
            </a:r>
            <a:r>
              <a:rPr lang="en-US" sz="2400" dirty="0" smtClean="0"/>
              <a:t>equation</a:t>
            </a:r>
            <a:endParaRPr lang="en-US" sz="24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571" y="4475012"/>
            <a:ext cx="1752210" cy="67555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2650" y="3741003"/>
            <a:ext cx="26516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For large </a:t>
            </a:r>
            <a:r>
              <a:rPr lang="en-US" sz="2400" i="1" dirty="0" smtClean="0"/>
              <a:t>t,</a:t>
            </a:r>
            <a:r>
              <a:rPr lang="en-US" sz="2400" dirty="0" smtClean="0"/>
              <a:t> we have 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471613" y="310228"/>
            <a:ext cx="81688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solidFill>
                  <a:srgbClr val="0000FF"/>
                </a:solidFill>
              </a:rPr>
              <a:t>How many signals can be transmitted per unit time? </a:t>
            </a:r>
            <a:endParaRPr lang="en-US" sz="2800" b="1" u="sng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29180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5622" y="759198"/>
            <a:ext cx="84264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It is </a:t>
            </a:r>
            <a:r>
              <a:rPr lang="en-US" sz="2400" i="1" dirty="0" smtClean="0"/>
              <a:t>tradition</a:t>
            </a:r>
            <a:r>
              <a:rPr lang="en-US" sz="2400" dirty="0" smtClean="0"/>
              <a:t> to express this rate as the number of bits per second </a:t>
            </a:r>
          </a:p>
          <a:p>
            <a:r>
              <a:rPr lang="en-US" sz="2400" dirty="0" smtClean="0"/>
              <a:t>(bits/sec)</a:t>
            </a:r>
            <a:endParaRPr lang="en-US" sz="2400" dirty="0"/>
          </a:p>
        </p:txBody>
      </p:sp>
      <p:grpSp>
        <p:nvGrpSpPr>
          <p:cNvPr id="9" name="Group 8"/>
          <p:cNvGrpSpPr/>
          <p:nvPr/>
        </p:nvGrpSpPr>
        <p:grpSpPr>
          <a:xfrm>
            <a:off x="368300" y="1943100"/>
            <a:ext cx="8039100" cy="1206500"/>
            <a:chOff x="444500" y="3810000"/>
            <a:chExt cx="8039100" cy="1206500"/>
          </a:xfrm>
        </p:grpSpPr>
        <p:pic>
          <p:nvPicPr>
            <p:cNvPr id="4" name="Picture 3" descr="tradition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444500" y="3810000"/>
              <a:ext cx="8039100" cy="1206500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558800" y="4051300"/>
              <a:ext cx="7848600" cy="254000"/>
            </a:xfrm>
            <a:prstGeom prst="rect">
              <a:avLst/>
            </a:prstGeom>
            <a:solidFill>
              <a:srgbClr val="FFFF00">
                <a:alpha val="23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7816948" y="3835400"/>
              <a:ext cx="590452" cy="254000"/>
            </a:xfrm>
            <a:prstGeom prst="rect">
              <a:avLst/>
            </a:prstGeom>
            <a:solidFill>
              <a:srgbClr val="FFFF00">
                <a:alpha val="23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58800" y="4305300"/>
              <a:ext cx="1041400" cy="254000"/>
            </a:xfrm>
            <a:prstGeom prst="rect">
              <a:avLst/>
            </a:prstGeom>
            <a:solidFill>
              <a:srgbClr val="FFFF00">
                <a:alpha val="23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965700" y="4686300"/>
              <a:ext cx="444500" cy="330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3388143"/>
            <a:ext cx="2476500" cy="6667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75" y="4228068"/>
            <a:ext cx="4057650" cy="9525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00" y="5458855"/>
            <a:ext cx="160020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63560" y="5488797"/>
            <a:ext cx="1329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  <a:r>
              <a:rPr lang="en-US" sz="2400" dirty="0" smtClean="0"/>
              <a:t>its/time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4553303" y="5557103"/>
            <a:ext cx="3777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information rate of this code</a:t>
            </a:r>
            <a:endParaRPr lang="en-US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4553303" y="4281197"/>
            <a:ext cx="39060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  <a:r>
              <a:rPr lang="en-US" sz="2400" dirty="0" smtClean="0"/>
              <a:t>hannel </a:t>
            </a:r>
            <a:r>
              <a:rPr lang="en-US" sz="2400" dirty="0" smtClean="0"/>
              <a:t>capacity</a:t>
            </a:r>
          </a:p>
          <a:p>
            <a:r>
              <a:rPr lang="en-US" sz="2400" dirty="0" smtClean="0"/>
              <a:t>(maximum transmission rate)</a:t>
            </a:r>
            <a:r>
              <a:rPr lang="en-US" sz="2400" dirty="0" smtClean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4147582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3634" y="5376270"/>
            <a:ext cx="846457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Note: </a:t>
            </a:r>
            <a:r>
              <a:rPr lang="en-US" sz="2400" dirty="0" smtClean="0"/>
              <a:t>this is not the whole story.  We still need to characterize the </a:t>
            </a:r>
          </a:p>
          <a:p>
            <a:r>
              <a:rPr lang="en-US" sz="2400" dirty="0" smtClean="0"/>
              <a:t>	     information content of what we’re expressing!</a:t>
            </a:r>
          </a:p>
        </p:txBody>
      </p:sp>
      <p:pic>
        <p:nvPicPr>
          <p:cNvPr id="4" name="Picture 3" descr="Facebook-Chat-Emoticons-list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5" t="-3" r="38962" b="34405"/>
          <a:stretch/>
        </p:blipFill>
        <p:spPr>
          <a:xfrm>
            <a:off x="4930299" y="1119088"/>
            <a:ext cx="3867912" cy="384048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71500" y="442041"/>
            <a:ext cx="8341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An exercise (or project!)</a:t>
            </a:r>
            <a:endParaRPr lang="en-US" sz="2400" dirty="0"/>
          </a:p>
          <a:p>
            <a:r>
              <a:rPr lang="en-US" sz="2400" dirty="0" smtClean="0"/>
              <a:t>Compute the channel capacity of your favorite encoding scheme!</a:t>
            </a:r>
            <a:endParaRPr lang="en-US" sz="2400" dirty="0"/>
          </a:p>
        </p:txBody>
      </p:sp>
      <p:pic>
        <p:nvPicPr>
          <p:cNvPr id="6" name="Picture 5" descr="mcode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53295" b="12866"/>
          <a:stretch/>
        </p:blipFill>
        <p:spPr>
          <a:xfrm>
            <a:off x="1027775" y="1351190"/>
            <a:ext cx="2977610" cy="383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349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081" y="406400"/>
            <a:ext cx="1686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solidFill>
                  <a:srgbClr val="0000FF"/>
                </a:solidFill>
              </a:rPr>
              <a:t>Questions</a:t>
            </a:r>
            <a:endParaRPr lang="en-US" sz="2800" b="1" u="sng" dirty="0">
              <a:solidFill>
                <a:srgbClr val="0000FF"/>
              </a:solidFill>
            </a:endParaRPr>
          </a:p>
        </p:txBody>
      </p:sp>
      <p:pic>
        <p:nvPicPr>
          <p:cNvPr id="3" name="Picture 2" descr="syste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85262" y="3052734"/>
            <a:ext cx="5562600" cy="2407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7081" y="1139628"/>
            <a:ext cx="840311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How much information is expressed by the information source?</a:t>
            </a:r>
          </a:p>
          <a:p>
            <a:endParaRPr lang="en-US" sz="2400" dirty="0"/>
          </a:p>
          <a:p>
            <a:r>
              <a:rPr lang="en-US" sz="2400" dirty="0" smtClean="0"/>
              <a:t>How can we mathematically characterize the information content</a:t>
            </a:r>
          </a:p>
          <a:p>
            <a:r>
              <a:rPr lang="en-US" sz="2400" dirty="0" smtClean="0"/>
              <a:t>in this source?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587081" y="562676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smtClean="0"/>
              <a:t>Discuss briefly with your neighbor</a:t>
            </a:r>
          </a:p>
        </p:txBody>
      </p:sp>
    </p:spTree>
    <p:extLst>
      <p:ext uri="{BB962C8B-B14F-4D97-AF65-F5344CB8AC3E}">
        <p14:creationId xmlns:p14="http://schemas.microsoft.com/office/powerpoint/2010/main" xmlns="" val="33349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9284" y="668010"/>
            <a:ext cx="33703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solidFill>
                  <a:srgbClr val="0000FF"/>
                </a:solidFill>
              </a:rPr>
              <a:t>Consider Morse Code</a:t>
            </a:r>
            <a:endParaRPr lang="en-US" sz="2800" b="1" u="sng" dirty="0">
              <a:solidFill>
                <a:srgbClr val="0000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9284" y="1612900"/>
            <a:ext cx="823690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The dot-dash codes map to the letters of a language (English).  </a:t>
            </a:r>
          </a:p>
          <a:p>
            <a:endParaRPr lang="en-US" sz="2400" dirty="0"/>
          </a:p>
          <a:p>
            <a:r>
              <a:rPr lang="en-US" sz="2400" dirty="0" smtClean="0"/>
              <a:t>We know that the distribution of letters in English is not uniform</a:t>
            </a:r>
          </a:p>
          <a:p>
            <a:endParaRPr lang="en-US" sz="2400" dirty="0"/>
          </a:p>
          <a:p>
            <a:r>
              <a:rPr lang="en-US" sz="2400" dirty="0" smtClean="0"/>
              <a:t>        Example: “E” occurs more frequently than “Q”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                    “TH” occurs more frequently than “XP”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458840" y="4617480"/>
            <a:ext cx="82609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This means that we know </a:t>
            </a:r>
            <a:r>
              <a:rPr lang="en-US" sz="2400" dirty="0" smtClean="0">
                <a:solidFill>
                  <a:srgbClr val="FF0000"/>
                </a:solidFill>
              </a:rPr>
              <a:t>the </a:t>
            </a:r>
            <a:r>
              <a:rPr lang="en-US" sz="2400" dirty="0" smtClean="0">
                <a:solidFill>
                  <a:srgbClr val="FF0000"/>
                </a:solidFill>
              </a:rPr>
              <a:t>information source (if the </a:t>
            </a:r>
            <a:r>
              <a:rPr lang="en-US" sz="2400" dirty="0" smtClean="0">
                <a:solidFill>
                  <a:srgbClr val="FF0000"/>
                </a:solidFill>
              </a:rPr>
              <a:t>source is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speaking words of English) does not just choose random </a:t>
            </a:r>
            <a:endParaRPr lang="en-US" sz="2400" dirty="0" smtClean="0">
              <a:solidFill>
                <a:srgbClr val="FF0000"/>
              </a:solidFill>
            </a:endParaRPr>
          </a:p>
          <a:p>
            <a:r>
              <a:rPr lang="en-US" sz="2400" dirty="0" smtClean="0">
                <a:solidFill>
                  <a:srgbClr val="FF0000"/>
                </a:solidFill>
              </a:rPr>
              <a:t>sequences </a:t>
            </a:r>
            <a:r>
              <a:rPr lang="en-US" sz="2400" dirty="0" smtClean="0">
                <a:solidFill>
                  <a:srgbClr val="FF0000"/>
                </a:solidFill>
              </a:rPr>
              <a:t>of dots and dashes.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87837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8525" y="427925"/>
            <a:ext cx="24588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solidFill>
                  <a:srgbClr val="0000FF"/>
                </a:solidFill>
              </a:rPr>
              <a:t>Shannon’s Idea</a:t>
            </a:r>
            <a:endParaRPr lang="en-US" sz="2800" b="1" u="sng" dirty="0">
              <a:solidFill>
                <a:srgbClr val="0000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8525" y="1447800"/>
            <a:ext cx="84022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A discrete information source is characterized by the probabilities</a:t>
            </a:r>
          </a:p>
          <a:p>
            <a:r>
              <a:rPr lang="en-US" sz="2400" dirty="0" smtClean="0"/>
              <a:t>for emitting signals from the source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54104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8525" y="427925"/>
            <a:ext cx="24588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solidFill>
                  <a:srgbClr val="0000FF"/>
                </a:solidFill>
              </a:rPr>
              <a:t>Shannon’s Idea</a:t>
            </a:r>
            <a:endParaRPr lang="en-US" sz="2800" b="1" u="sng" dirty="0">
              <a:solidFill>
                <a:srgbClr val="0000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8525" y="1447800"/>
            <a:ext cx="84022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A discrete information source is characterized by the probabilities</a:t>
            </a:r>
          </a:p>
          <a:p>
            <a:r>
              <a:rPr lang="en-US" sz="2400" dirty="0" smtClean="0"/>
              <a:t>for emitting signals from the source 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608525" y="2779959"/>
            <a:ext cx="8157727" cy="2523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For example, the probabilities of emitting single letters</a:t>
            </a:r>
          </a:p>
          <a:p>
            <a:endParaRPr lang="en-US" sz="2800" dirty="0"/>
          </a:p>
          <a:p>
            <a:r>
              <a:rPr lang="en-US" sz="2800" dirty="0" smtClean="0"/>
              <a:t>EAI JKKOAD DDSPIELVOEIAHE   </a:t>
            </a:r>
          </a:p>
          <a:p>
            <a:endParaRPr lang="en-US" sz="2800" dirty="0"/>
          </a:p>
          <a:p>
            <a:r>
              <a:rPr lang="en-US" sz="2800" dirty="0" smtClean="0"/>
              <a:t>:-) :-&lt; TTFN :-&gt;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4104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872068" y="-11006"/>
            <a:ext cx="7645399" cy="6709834"/>
            <a:chOff x="127001" y="114300"/>
            <a:chExt cx="7645399" cy="6709834"/>
          </a:xfrm>
        </p:grpSpPr>
        <p:grpSp>
          <p:nvGrpSpPr>
            <p:cNvPr id="7" name="Group 6"/>
            <p:cNvGrpSpPr/>
            <p:nvPr/>
          </p:nvGrpSpPr>
          <p:grpSpPr>
            <a:xfrm>
              <a:off x="127001" y="114300"/>
              <a:ext cx="7239846" cy="6709834"/>
              <a:chOff x="127001" y="114300"/>
              <a:chExt cx="7239846" cy="6709834"/>
            </a:xfrm>
          </p:grpSpPr>
          <p:pic>
            <p:nvPicPr>
              <p:cNvPr id="5" name="Picture 4" descr="approx1.jpg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tretch>
                <a:fillRect/>
              </a:stretch>
            </p:blipFill>
            <p:spPr>
              <a:xfrm>
                <a:off x="127001" y="114300"/>
                <a:ext cx="7063740" cy="2819400"/>
              </a:xfrm>
              <a:prstGeom prst="rect">
                <a:avLst/>
              </a:prstGeom>
            </p:spPr>
          </p:pic>
          <p:pic>
            <p:nvPicPr>
              <p:cNvPr id="6" name="Picture 5" descr="approx2.jpg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tretch>
                <a:fillRect/>
              </a:stretch>
            </p:blipFill>
            <p:spPr>
              <a:xfrm>
                <a:off x="287867" y="2884594"/>
                <a:ext cx="7078980" cy="3939540"/>
              </a:xfrm>
              <a:prstGeom prst="rect">
                <a:avLst/>
              </a:prstGeom>
            </p:spPr>
          </p:pic>
        </p:grpSp>
        <p:sp>
          <p:nvSpPr>
            <p:cNvPr id="8" name="Rectangle 7"/>
            <p:cNvSpPr/>
            <p:nvPr/>
          </p:nvSpPr>
          <p:spPr>
            <a:xfrm>
              <a:off x="7061200" y="114300"/>
              <a:ext cx="711200" cy="2819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2836090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pprox3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77800" y="1524001"/>
            <a:ext cx="8610600" cy="1076325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339090" y="2895672"/>
            <a:ext cx="8563610" cy="1327150"/>
            <a:chOff x="339090" y="2895672"/>
            <a:chExt cx="8563610" cy="1327150"/>
          </a:xfrm>
        </p:grpSpPr>
        <p:pic>
          <p:nvPicPr>
            <p:cNvPr id="4" name="Picture 3" descr="approx4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39090" y="2895672"/>
              <a:ext cx="8563610" cy="132715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339090" y="3009900"/>
              <a:ext cx="8563610" cy="508000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39090" y="3517900"/>
              <a:ext cx="3204210" cy="241300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62400" y="3975100"/>
              <a:ext cx="4597400" cy="247722"/>
            </a:xfrm>
            <a:prstGeom prst="rect">
              <a:avLst/>
            </a:prstGeom>
            <a:solidFill>
              <a:srgbClr val="FFFF00">
                <a:alpha val="22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314891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pprox3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6662" b="28338"/>
          <a:stretch/>
        </p:blipFill>
        <p:spPr>
          <a:xfrm>
            <a:off x="288688" y="586569"/>
            <a:ext cx="7960995" cy="2592324"/>
          </a:xfrm>
          <a:prstGeom prst="rect">
            <a:avLst/>
          </a:prstGeom>
        </p:spPr>
      </p:pic>
      <p:pic>
        <p:nvPicPr>
          <p:cNvPr id="3" name="Picture 2" descr="graph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100456" y="2625048"/>
            <a:ext cx="472440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09395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pprox3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70063" b="-63"/>
          <a:stretch/>
        </p:blipFill>
        <p:spPr>
          <a:xfrm>
            <a:off x="266222" y="498231"/>
            <a:ext cx="8340090" cy="1810512"/>
          </a:xfrm>
          <a:prstGeom prst="rect">
            <a:avLst/>
          </a:prstGeom>
        </p:spPr>
      </p:pic>
      <p:pic>
        <p:nvPicPr>
          <p:cNvPr id="6" name="Picture 5" descr="exm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22324" y="2465362"/>
            <a:ext cx="7061200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50207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73734" y="1064020"/>
            <a:ext cx="67564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65767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9646" y="1014522"/>
            <a:ext cx="8490187" cy="31085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Stochastic processes of this type are called  </a:t>
            </a:r>
          </a:p>
          <a:p>
            <a:endParaRPr lang="en-US" sz="2400" dirty="0"/>
          </a:p>
          <a:p>
            <a:r>
              <a:rPr lang="en-US" sz="2800" i="1" dirty="0" smtClean="0">
                <a:solidFill>
                  <a:srgbClr val="FF0000"/>
                </a:solidFill>
              </a:rPr>
              <a:t>                   Markov processes</a:t>
            </a:r>
          </a:p>
          <a:p>
            <a:endParaRPr lang="en-US" sz="2400" dirty="0"/>
          </a:p>
          <a:p>
            <a:r>
              <a:rPr lang="en-US" sz="2400" dirty="0" smtClean="0"/>
              <a:t>This is now a mathematical model for an information source.</a:t>
            </a:r>
          </a:p>
          <a:p>
            <a:endParaRPr lang="en-US" sz="2400" dirty="0"/>
          </a:p>
          <a:p>
            <a:endParaRPr lang="en-US" sz="2400" dirty="0" smtClean="0"/>
          </a:p>
          <a:p>
            <a:r>
              <a:rPr lang="en-US" sz="2400" dirty="0" smtClean="0"/>
              <a:t>Now we need to quantify the “information content” of the source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10610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85208" y="523951"/>
            <a:ext cx="5018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solidFill>
                  <a:srgbClr val="008000"/>
                </a:solidFill>
              </a:rPr>
              <a:t>Measuring Information Content</a:t>
            </a:r>
            <a:endParaRPr lang="en-US" sz="2800" b="1" u="sng" dirty="0">
              <a:solidFill>
                <a:srgbClr val="008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5208" y="1299483"/>
            <a:ext cx="57380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Suppose we have syllables with probabilities 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85208" y="2013158"/>
            <a:ext cx="69749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How much choice do we have in the selection a word? </a:t>
            </a:r>
          </a:p>
          <a:p>
            <a:r>
              <a:rPr lang="en-US" sz="2400" dirty="0" smtClean="0"/>
              <a:t>How uncertain are we of the outcome?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08" y="3105258"/>
            <a:ext cx="73102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Entropy – measure of disorder or uncertainty in a system</a:t>
            </a:r>
          </a:p>
          <a:p>
            <a:endParaRPr lang="en-US" sz="24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390" y="1343269"/>
            <a:ext cx="1866900" cy="476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5208" y="3936255"/>
            <a:ext cx="7743977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Maximum entropy – </a:t>
            </a:r>
            <a:r>
              <a:rPr lang="en-US" sz="2400" dirty="0" err="1" smtClean="0"/>
              <a:t>exm</a:t>
            </a:r>
            <a:r>
              <a:rPr lang="en-US" sz="2400" dirty="0" smtClean="0"/>
              <a:t>: toss a fair coin many times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				     no way to predict outcome of next toss </a:t>
            </a:r>
          </a:p>
          <a:p>
            <a:endParaRPr lang="en-US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620662" y="5134560"/>
            <a:ext cx="75670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Minimum entropy – </a:t>
            </a:r>
            <a:r>
              <a:rPr lang="en-US" sz="2400" dirty="0" err="1" smtClean="0"/>
              <a:t>exm</a:t>
            </a:r>
            <a:r>
              <a:rPr lang="en-US" sz="2400" dirty="0" smtClean="0"/>
              <a:t>: toss a two-tailed coin many times</a:t>
            </a:r>
          </a:p>
          <a:p>
            <a:r>
              <a:rPr lang="en-US" sz="2400" dirty="0" smtClean="0"/>
              <a:t>	  				    outcome is certain, next toss is tails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056703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/>
          <a:srcRect l="8493" t="13256" r="21072" b="9580"/>
          <a:stretch/>
        </p:blipFill>
        <p:spPr>
          <a:xfrm>
            <a:off x="4563981" y="1111312"/>
            <a:ext cx="4580019" cy="37632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0624" y="523951"/>
            <a:ext cx="5018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solidFill>
                  <a:srgbClr val="008000"/>
                </a:solidFill>
              </a:rPr>
              <a:t>Measuring Information Content</a:t>
            </a:r>
            <a:endParaRPr lang="en-US" sz="2800" b="1" u="sng" dirty="0">
              <a:solidFill>
                <a:srgbClr val="008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0624" y="129796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Shannon Entropy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335" y="1810433"/>
            <a:ext cx="2647950" cy="1028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72" y="4170434"/>
            <a:ext cx="4495800" cy="495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266" y="3303659"/>
            <a:ext cx="1238250" cy="5143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440" y="3675134"/>
            <a:ext cx="2571750" cy="742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7534" y="2731809"/>
            <a:ext cx="21500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Example (</a:t>
            </a:r>
            <a:r>
              <a:rPr lang="en-US" sz="2400" i="1" dirty="0" smtClean="0"/>
              <a:t>N</a:t>
            </a:r>
            <a:r>
              <a:rPr lang="en-US" sz="2400" dirty="0" smtClean="0"/>
              <a:t> = 2)</a:t>
            </a:r>
            <a:endParaRPr lang="en-US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676172" y="4874522"/>
            <a:ext cx="77290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smtClean="0"/>
              <a:t>H</a:t>
            </a:r>
            <a:r>
              <a:rPr lang="en-US" sz="2400" dirty="0" smtClean="0"/>
              <a:t> = 0 </a:t>
            </a:r>
            <a:r>
              <a:rPr lang="en-US" sz="2400" dirty="0" smtClean="0"/>
              <a:t>only </a:t>
            </a:r>
            <a:r>
              <a:rPr lang="en-US" sz="2400" dirty="0" smtClean="0"/>
              <a:t>if </a:t>
            </a:r>
            <a:r>
              <a:rPr lang="en-US" sz="2400" i="1" dirty="0" smtClean="0"/>
              <a:t>p</a:t>
            </a:r>
            <a:r>
              <a:rPr lang="en-US" sz="2400" dirty="0" smtClean="0"/>
              <a:t> = 0 or </a:t>
            </a:r>
            <a:r>
              <a:rPr lang="en-US" sz="2400" i="1" dirty="0" smtClean="0"/>
              <a:t>p</a:t>
            </a:r>
            <a:r>
              <a:rPr lang="en-US" sz="2400" dirty="0" smtClean="0"/>
              <a:t> = 1.  </a:t>
            </a:r>
          </a:p>
          <a:p>
            <a:r>
              <a:rPr lang="en-US" sz="2400" dirty="0" smtClean="0"/>
              <a:t>Makes sense – in these cases we are certain of the outcome</a:t>
            </a:r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680341" y="5804144"/>
            <a:ext cx="51010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smtClean="0"/>
              <a:t>H </a:t>
            </a:r>
            <a:r>
              <a:rPr lang="en-US" sz="2400" dirty="0" smtClean="0"/>
              <a:t>attains it’s maximum value at </a:t>
            </a:r>
            <a:r>
              <a:rPr lang="en-US" sz="2400" i="1" dirty="0" smtClean="0"/>
              <a:t>p</a:t>
            </a:r>
            <a:r>
              <a:rPr lang="en-US" sz="2400" dirty="0" smtClean="0"/>
              <a:t> = ½</a:t>
            </a:r>
          </a:p>
          <a:p>
            <a:r>
              <a:rPr lang="en-US" sz="2400" dirty="0" smtClean="0"/>
              <a:t>Makes sense – the most uncertain case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621788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624" y="523951"/>
            <a:ext cx="5018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solidFill>
                  <a:srgbClr val="008000"/>
                </a:solidFill>
              </a:rPr>
              <a:t>Measuring Information Content</a:t>
            </a:r>
            <a:endParaRPr lang="en-US" sz="2800" b="1" u="sng" dirty="0">
              <a:solidFill>
                <a:srgbClr val="008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0624" y="129796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Shannon Entropy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335" y="1810433"/>
            <a:ext cx="2647950" cy="1028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3549" y="2773454"/>
            <a:ext cx="63664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Measures the amount of information transmitted</a:t>
            </a:r>
            <a:endParaRPr lang="en-US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586309" y="3561221"/>
            <a:ext cx="74692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When you utter a word, how many other choices of words</a:t>
            </a:r>
          </a:p>
          <a:p>
            <a:r>
              <a:rPr lang="en-US" sz="2400" dirty="0"/>
              <a:t>a</a:t>
            </a:r>
            <a:r>
              <a:rPr lang="en-US" sz="2400" dirty="0" smtClean="0"/>
              <a:t>re you choosing between?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85096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5208" y="1380614"/>
            <a:ext cx="84292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What is the probability of the MOST probable word of </a:t>
            </a:r>
            <a:r>
              <a:rPr lang="en-US" sz="2400" i="1" dirty="0" smtClean="0"/>
              <a:t>N</a:t>
            </a:r>
            <a:r>
              <a:rPr lang="en-US" sz="2400" dirty="0" smtClean="0"/>
              <a:t> symbols?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85208" y="2073407"/>
            <a:ext cx="5359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Suppose we have a word with </a:t>
            </a:r>
            <a:r>
              <a:rPr lang="en-US" sz="2400" i="1" dirty="0" smtClean="0"/>
              <a:t>N</a:t>
            </a:r>
            <a:r>
              <a:rPr lang="en-US" sz="2400" dirty="0" smtClean="0"/>
              <a:t> symbols.  </a:t>
            </a:r>
          </a:p>
          <a:p>
            <a:r>
              <a:rPr lang="en-US" sz="2400" dirty="0" smtClean="0"/>
              <a:t>On average, there will be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93999" y="3181403"/>
            <a:ext cx="5564745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occurrences of the first symbol</a:t>
            </a:r>
          </a:p>
          <a:p>
            <a:r>
              <a:rPr lang="en-US" sz="2400" dirty="0" smtClean="0"/>
              <a:t>occurrences of the second second symbol</a:t>
            </a:r>
          </a:p>
          <a:p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15" y="5126007"/>
            <a:ext cx="3129280" cy="894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0115" y="4536152"/>
            <a:ext cx="4682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Hence the probability of the word is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 rot="5400000" flipV="1">
            <a:off x="554580" y="4060951"/>
            <a:ext cx="522922" cy="4616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…</a:t>
            </a:r>
            <a:endParaRPr lang="en-US" sz="24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80" y="3256600"/>
            <a:ext cx="70485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5208" y="523951"/>
            <a:ext cx="50700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/>
              <a:t>Measuring Information Content</a:t>
            </a:r>
            <a:endParaRPr lang="en-US" sz="2800" b="1" u="sng" dirty="0"/>
          </a:p>
        </p:txBody>
      </p:sp>
      <p:sp>
        <p:nvSpPr>
          <p:cNvPr id="13" name="TextBox 12"/>
          <p:cNvSpPr txBox="1"/>
          <p:nvPr/>
        </p:nvSpPr>
        <p:spPr>
          <a:xfrm>
            <a:off x="585208" y="523951"/>
            <a:ext cx="5018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solidFill>
                  <a:srgbClr val="008000"/>
                </a:solidFill>
              </a:rPr>
              <a:t>Measuring Information Content</a:t>
            </a:r>
            <a:endParaRPr lang="en-US" sz="2800" b="1" u="sng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46335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828" y="1866666"/>
            <a:ext cx="2933700" cy="838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001" y="3166237"/>
            <a:ext cx="2647950" cy="1028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1828" y="3255137"/>
            <a:ext cx="1695450" cy="7048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208" y="523951"/>
            <a:ext cx="5018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solidFill>
                  <a:srgbClr val="008000"/>
                </a:solidFill>
              </a:rPr>
              <a:t>Measuring Information Content</a:t>
            </a:r>
            <a:endParaRPr lang="en-US" sz="2800" b="1" u="sng" dirty="0">
              <a:solidFill>
                <a:srgbClr val="008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5208" y="1405001"/>
            <a:ext cx="40004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The probability of the word is</a:t>
            </a:r>
            <a:endParaRPr lang="en-US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618461" y="2704866"/>
            <a:ext cx="3848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In terms of Shannon Entropy</a:t>
            </a:r>
            <a:endParaRPr lang="en-US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669263" y="4181941"/>
            <a:ext cx="6792244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How many “most probable” words are there?  About 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7956" y="4044949"/>
            <a:ext cx="59055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42221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th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535" y="702733"/>
            <a:ext cx="8905875" cy="2362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1971" y="3360010"/>
            <a:ext cx="60708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Suppose the information source has entropy</a:t>
            </a:r>
            <a:r>
              <a:rPr lang="en-US" sz="2400" i="1" dirty="0" smtClean="0"/>
              <a:t> H </a:t>
            </a:r>
          </a:p>
          <a:p>
            <a:r>
              <a:rPr lang="en-US" sz="2400" dirty="0" smtClean="0"/>
              <a:t>and channel has capacity</a:t>
            </a:r>
            <a:r>
              <a:rPr lang="en-US" sz="2400" i="1" dirty="0" smtClean="0"/>
              <a:t> C</a:t>
            </a:r>
            <a:r>
              <a:rPr lang="en-US" sz="2400" dirty="0" smtClean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1971" y="4435784"/>
            <a:ext cx="859998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Then one can encode the output of the source so that one transmit</a:t>
            </a:r>
          </a:p>
          <a:p>
            <a:r>
              <a:rPr lang="en-US" sz="2400" dirty="0" smtClean="0"/>
              <a:t>at the average rate of </a:t>
            </a:r>
            <a:r>
              <a:rPr lang="en-US" sz="2400" i="1" dirty="0" smtClean="0"/>
              <a:t>C/H </a:t>
            </a:r>
            <a:r>
              <a:rPr lang="en-US" sz="2400" dirty="0" smtClean="0"/>
              <a:t>symbols per second.  </a:t>
            </a:r>
          </a:p>
          <a:p>
            <a:endParaRPr lang="en-US" sz="2400" dirty="0"/>
          </a:p>
          <a:p>
            <a:r>
              <a:rPr lang="en-US" sz="2400" dirty="0" smtClean="0"/>
              <a:t>One cannot transmit any faster than </a:t>
            </a:r>
            <a:r>
              <a:rPr lang="en-US" sz="2400" i="1" dirty="0" smtClean="0"/>
              <a:t>C/H</a:t>
            </a:r>
            <a:r>
              <a:rPr lang="en-US" sz="2400" dirty="0"/>
              <a:t>!</a:t>
            </a:r>
            <a:r>
              <a:rPr lang="en-US" sz="24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3552168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5867" y="788257"/>
            <a:ext cx="24442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solidFill>
                  <a:srgbClr val="FF6600"/>
                </a:solidFill>
              </a:rPr>
              <a:t>This week’s lab</a:t>
            </a:r>
            <a:endParaRPr lang="en-US" sz="2800" b="1" u="sng" dirty="0">
              <a:solidFill>
                <a:srgbClr val="FF66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95867" y="1663700"/>
            <a:ext cx="757130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Measure information content in a text.   </a:t>
            </a:r>
          </a:p>
          <a:p>
            <a:endParaRPr lang="en-US" sz="2400" dirty="0"/>
          </a:p>
          <a:p>
            <a:pPr marL="342900" indent="-342900">
              <a:buAutoNum type="arabicPeriod"/>
            </a:pPr>
            <a:r>
              <a:rPr lang="en-US" sz="2400" dirty="0" smtClean="0"/>
              <a:t>Determine frequency distribution of a words in a text</a:t>
            </a:r>
          </a:p>
          <a:p>
            <a:pPr marL="342900" indent="-342900">
              <a:buAutoNum type="arabicPeriod"/>
            </a:pPr>
            <a:endParaRPr lang="en-US" sz="2400" dirty="0" smtClean="0"/>
          </a:p>
          <a:p>
            <a:pPr marL="342900" indent="-342900">
              <a:buAutoNum type="arabicPeriod"/>
            </a:pPr>
            <a:r>
              <a:rPr lang="en-US" sz="2400" dirty="0" smtClean="0"/>
              <a:t>Check that the distribution obeys </a:t>
            </a:r>
            <a:r>
              <a:rPr lang="en-US" sz="2400" dirty="0" err="1" smtClean="0"/>
              <a:t>Zipf’s</a:t>
            </a:r>
            <a:r>
              <a:rPr lang="en-US" sz="2400" dirty="0" smtClean="0"/>
              <a:t> law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(frequency of a word is inversely proportional to its rank 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 in the frequency table) </a:t>
            </a:r>
          </a:p>
          <a:p>
            <a:pPr marL="342900" indent="-342900">
              <a:buAutoNum type="arabicPeriod"/>
            </a:pPr>
            <a:endParaRPr lang="en-US" sz="2400" dirty="0" smtClean="0"/>
          </a:p>
          <a:p>
            <a:r>
              <a:rPr lang="en-US" sz="2400" dirty="0" smtClean="0"/>
              <a:t>3.  Compute the entropy of the frequency distribution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29823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</TotalTime>
  <Words>1341</Words>
  <Application>Microsoft Office PowerPoint</Application>
  <PresentationFormat>On-screen Show (4:3)</PresentationFormat>
  <Paragraphs>241</Paragraphs>
  <Slides>42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Harvard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Margo Levine</dc:creator>
  <cp:lastModifiedBy>mlevine</cp:lastModifiedBy>
  <cp:revision>63</cp:revision>
  <dcterms:created xsi:type="dcterms:W3CDTF">2011-04-10T12:31:10Z</dcterms:created>
  <dcterms:modified xsi:type="dcterms:W3CDTF">2011-04-11T16:43:48Z</dcterms:modified>
</cp:coreProperties>
</file>