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Override PartName="/ppt/media/image8.jpeg" ContentType="image/jpeg"/>
</Types>
</file>

<file path=_rels/.rels><?xml version="1.0" encoding="UTF-8" standalone="yes"?><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1pPr>
    <a:lvl2pPr marL="0" marR="0" indent="22860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2pPr>
    <a:lvl3pPr marL="0" marR="0" indent="45720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3pPr>
    <a:lvl4pPr marL="0" marR="0" indent="68580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4pPr>
    <a:lvl5pPr marL="0" marR="0" indent="91440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5pPr>
    <a:lvl6pPr marL="0" marR="0" indent="114300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6pPr>
    <a:lvl7pPr marL="0" marR="0" indent="137160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7pPr>
    <a:lvl8pPr marL="0" marR="0" indent="160020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8pPr>
    <a:lvl9pPr marL="0" marR="0" indent="182880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file>

<file path=ppt/presProps.xml><?xml version="1.0" encoding="utf-8"?>
<p:presentationPr xmlns:a="http://schemas.openxmlformats.org/drawingml/2006/main" xmlns:r="http://schemas.openxmlformats.org/officeDocument/2006/relationships" xmlns:p="http://schemas.openxmlformats.org/presentationml/2006/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b="def" i="def"/>
      <a:tcStyle>
        <a:tcBdr/>
        <a:fill>
          <a:solidFill>
            <a:srgbClr val="E1E0DA"/>
          </a:solidFill>
        </a:fill>
      </a:tcStyle>
    </a:band2H>
    <a:firstCol>
      <a:tcTxStyle b="on" i="off">
        <a:fontRef idx="maj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Ref idx="maj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b="def" i="def"/>
      <a:tcStyle>
        <a:tcBdr/>
        <a:fill>
          <a:solidFill>
            <a:srgbClr val="C3C2C2"/>
          </a:solidFill>
        </a:fill>
      </a:tcStyle>
    </a:band2H>
    <a:firstCol>
      <a:tcTxStyle b="on" i="off">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b="def" i="def"/>
      <a:tcStyle>
        <a:tcBdr/>
        <a:fill>
          <a:solidFill>
            <a:srgbClr val="DCE5E6"/>
          </a:solidFill>
        </a:fill>
      </a:tcStyle>
    </a:band2H>
    <a:firstCol>
      <a:tcTxStyle b="on" i="off">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b="def" i="def"/>
      <a:tcStyle>
        <a:tcBdr/>
        <a:fill>
          <a:solidFill>
            <a:srgbClr val="DEDEDF"/>
          </a:solidFill>
        </a:fill>
      </a:tcStyle>
    </a:band2H>
    <a:firstCol>
      <a:tcTxStyle b="on" i="off">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b="def" i="def"/>
      <a:tcStyle>
        <a:tcBdr/>
        <a:fill>
          <a:solidFill>
            <a:srgbClr val="EDEEEE"/>
          </a:solidFill>
        </a:fill>
      </a:tcStyle>
    </a:band2H>
    <a:firstCol>
      <a:tcTxStyle b="on" i="off">
        <a:fontRef idx="major">
          <a:srgbClr val="000000"/>
        </a:fontRef>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Ref idx="maj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Ref idx="maj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showComments="1"/>
</file>

<file path=ppt/_rels/presentation.xml.rels><?xml version="1.0" encoding="UTF-8" standalone="yes"?><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hape 61"/>
          <p:cNvSpPr/>
          <p:nvPr>
            <p:ph type="sldImg"/>
          </p:nvPr>
        </p:nvSpPr>
        <p:spPr>
          <a:xfrm>
            <a:off x="1143000" y="685800"/>
            <a:ext cx="4572000" cy="3429000"/>
          </a:xfrm>
          <a:prstGeom prst="rect">
            <a:avLst/>
          </a:prstGeom>
        </p:spPr>
        <p:txBody>
          <a:bodyPr/>
          <a:lstStyle/>
          <a:p>
            <a:pPr/>
          </a:p>
        </p:txBody>
      </p:sp>
      <p:sp>
        <p:nvSpPr>
          <p:cNvPr id="62" name="Shape 6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25000"/>
      </a:lnSpc>
      <a:defRPr sz="2400">
        <a:latin typeface="Avenir Roman"/>
        <a:ea typeface="Avenir Roman"/>
        <a:cs typeface="Avenir Roman"/>
        <a:sym typeface="Avenir Roman"/>
      </a:defRPr>
    </a:lvl1pPr>
    <a:lvl2pPr indent="228600" defTabSz="457200" latinLnBrk="0">
      <a:lnSpc>
        <a:spcPct val="125000"/>
      </a:lnSpc>
      <a:defRPr sz="2400">
        <a:latin typeface="Avenir Roman"/>
        <a:ea typeface="Avenir Roman"/>
        <a:cs typeface="Avenir Roman"/>
        <a:sym typeface="Avenir Roman"/>
      </a:defRPr>
    </a:lvl2pPr>
    <a:lvl3pPr indent="457200" defTabSz="457200" latinLnBrk="0">
      <a:lnSpc>
        <a:spcPct val="125000"/>
      </a:lnSpc>
      <a:defRPr sz="2400">
        <a:latin typeface="Avenir Roman"/>
        <a:ea typeface="Avenir Roman"/>
        <a:cs typeface="Avenir Roman"/>
        <a:sym typeface="Avenir Roman"/>
      </a:defRPr>
    </a:lvl3pPr>
    <a:lvl4pPr indent="685800" defTabSz="457200" latinLnBrk="0">
      <a:lnSpc>
        <a:spcPct val="125000"/>
      </a:lnSpc>
      <a:defRPr sz="2400">
        <a:latin typeface="Avenir Roman"/>
        <a:ea typeface="Avenir Roman"/>
        <a:cs typeface="Avenir Roman"/>
        <a:sym typeface="Avenir Roman"/>
      </a:defRPr>
    </a:lvl4pPr>
    <a:lvl5pPr indent="914400" defTabSz="457200" latinLnBrk="0">
      <a:lnSpc>
        <a:spcPct val="125000"/>
      </a:lnSpc>
      <a:defRPr sz="2400">
        <a:latin typeface="Avenir Roman"/>
        <a:ea typeface="Avenir Roman"/>
        <a:cs typeface="Avenir Roman"/>
        <a:sym typeface="Avenir Roman"/>
      </a:defRPr>
    </a:lvl5pPr>
    <a:lvl6pPr indent="1143000" defTabSz="457200" latinLnBrk="0">
      <a:lnSpc>
        <a:spcPct val="125000"/>
      </a:lnSpc>
      <a:defRPr sz="2400">
        <a:latin typeface="Avenir Roman"/>
        <a:ea typeface="Avenir Roman"/>
        <a:cs typeface="Avenir Roman"/>
        <a:sym typeface="Avenir Roman"/>
      </a:defRPr>
    </a:lvl6pPr>
    <a:lvl7pPr indent="1371600" defTabSz="457200" latinLnBrk="0">
      <a:lnSpc>
        <a:spcPct val="125000"/>
      </a:lnSpc>
      <a:defRPr sz="2400">
        <a:latin typeface="Avenir Roman"/>
        <a:ea typeface="Avenir Roman"/>
        <a:cs typeface="Avenir Roman"/>
        <a:sym typeface="Avenir Roman"/>
      </a:defRPr>
    </a:lvl7pPr>
    <a:lvl8pPr indent="1600200" defTabSz="457200" latinLnBrk="0">
      <a:lnSpc>
        <a:spcPct val="125000"/>
      </a:lnSpc>
      <a:defRPr sz="2400">
        <a:latin typeface="Avenir Roman"/>
        <a:ea typeface="Avenir Roman"/>
        <a:cs typeface="Avenir Roman"/>
        <a:sym typeface="Avenir Roman"/>
      </a:defRPr>
    </a:lvl8pPr>
    <a:lvl9pPr indent="1828800" defTabSz="457200" latinLnBrk="0">
      <a:lnSpc>
        <a:spcPct val="125000"/>
      </a:lnSpc>
      <a:defRPr sz="2400">
        <a:latin typeface="Avenir Roman"/>
        <a:ea typeface="Avenir Roman"/>
        <a:cs typeface="Avenir Roman"/>
        <a:sym typeface="Avenir Roman"/>
      </a:defRPr>
    </a:lvl9pPr>
  </p:notesStyle>
</p:notesMaster>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1" showMasterPhAnim="1">
  <p:cSld name="Title &amp; Subtitle">
    <p:spTree>
      <p:nvGrpSpPr>
        <p:cNvPr id="1" name=""/>
        <p:cNvGrpSpPr/>
        <p:nvPr/>
      </p:nvGrpSpPr>
      <p:grpSpPr>
        <a:xfrm>
          <a:off x="0" y="0"/>
          <a:ext cx="0" cy="0"/>
          <a:chOff x="0" y="0"/>
          <a:chExt cx="0" cy="0"/>
        </a:xfrm>
      </p:grpSpPr>
      <p:sp>
        <p:nvSpPr>
          <p:cNvPr id="11" name="Shape 11"/>
          <p:cNvSpPr/>
          <p:nvPr>
            <p:ph type="title"/>
          </p:nvPr>
        </p:nvSpPr>
        <p:spPr>
          <a:xfrm>
            <a:off x="1270000" y="1638300"/>
            <a:ext cx="10464800" cy="3302000"/>
          </a:xfrm>
          <a:prstGeom prst="rect">
            <a:avLst/>
          </a:prstGeom>
        </p:spPr>
        <p:txBody>
          <a:bodyPr anchor="b"/>
          <a:lstStyle/>
          <a:p>
            <a:pPr/>
            <a:r>
              <a:t>Title Text</a:t>
            </a:r>
          </a:p>
        </p:txBody>
      </p:sp>
      <p:sp>
        <p:nvSpPr>
          <p:cNvPr id="12" name="Shape 12"/>
          <p:cNvSpPr/>
          <p:nvPr>
            <p:ph type="body" sz="quarter" idx="1"/>
          </p:nvPr>
        </p:nvSpPr>
        <p:spPr>
          <a:xfrm>
            <a:off x="1270000" y="5029200"/>
            <a:ext cx="10464800" cy="1130300"/>
          </a:xfrm>
          <a:prstGeom prst="rect">
            <a:avLst/>
          </a:prstGeom>
        </p:spPr>
        <p:txBody>
          <a:bodyPr anchor="t"/>
          <a:lstStyle>
            <a:lvl1pPr marL="0" indent="0" algn="ctr">
              <a:lnSpc>
                <a:spcPct val="100000"/>
              </a:lnSpc>
              <a:spcBef>
                <a:spcPts val="0"/>
              </a:spcBef>
              <a:buSzTx/>
              <a:buNone/>
              <a:defRPr sz="3200"/>
            </a:lvl1pPr>
            <a:lvl2pPr marL="0" indent="228600" algn="ctr">
              <a:lnSpc>
                <a:spcPct val="100000"/>
              </a:lnSpc>
              <a:spcBef>
                <a:spcPts val="0"/>
              </a:spcBef>
              <a:buSzTx/>
              <a:buNone/>
              <a:defRPr sz="3200"/>
            </a:lvl2pPr>
            <a:lvl3pPr marL="0" indent="457200" algn="ctr">
              <a:lnSpc>
                <a:spcPct val="100000"/>
              </a:lnSpc>
              <a:spcBef>
                <a:spcPts val="0"/>
              </a:spcBef>
              <a:buSzTx/>
              <a:buNone/>
              <a:defRPr sz="3200"/>
            </a:lvl3pPr>
            <a:lvl4pPr marL="0" indent="685800" algn="ctr">
              <a:lnSpc>
                <a:spcPct val="100000"/>
              </a:lnSpc>
              <a:spcBef>
                <a:spcPts val="0"/>
              </a:spcBef>
              <a:buSzTx/>
              <a:buNone/>
              <a:defRPr sz="3200"/>
            </a:lvl4pPr>
            <a:lvl5pPr marL="0" indent="914400" algn="ctr">
              <a:lnSpc>
                <a:spcPct val="100000"/>
              </a:lnSpc>
              <a:spcBef>
                <a:spcPts val="0"/>
              </a:spcBef>
              <a:buSzTx/>
              <a:buNone/>
              <a:defRPr sz="3200"/>
            </a:lvl5pPr>
          </a:lstStyle>
          <a:p>
            <a:pPr/>
            <a:r>
              <a:t>Body Level One</a:t>
            </a:r>
          </a:p>
          <a:p>
            <a:pPr lvl="1"/>
            <a:r>
              <a:t>Body Level Two</a:t>
            </a:r>
          </a:p>
          <a:p>
            <a:pPr lvl="2"/>
            <a:r>
              <a:t>Body Level Three</a:t>
            </a:r>
          </a:p>
          <a:p>
            <a:pPr lvl="3"/>
            <a:r>
              <a:t>Body Level Four</a:t>
            </a:r>
          </a:p>
          <a:p>
            <a:pPr lvl="4"/>
            <a:r>
              <a:t>Body Level Five</a:t>
            </a:r>
          </a:p>
        </p:txBody>
      </p:sp>
      <p:sp>
        <p:nvSpPr>
          <p:cNvPr id="13" name="Shape 13"/>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type="tx" showMasterSp="1" showMasterPhAnim="1">
  <p:cSld name="Photo - Horizontal">
    <p:spTree>
      <p:nvGrpSpPr>
        <p:cNvPr id="1" name=""/>
        <p:cNvGrpSpPr/>
        <p:nvPr/>
      </p:nvGrpSpPr>
      <p:grpSpPr>
        <a:xfrm>
          <a:off x="0" y="0"/>
          <a:ext cx="0" cy="0"/>
          <a:chOff x="0" y="0"/>
          <a:chExt cx="0" cy="0"/>
        </a:xfrm>
      </p:grpSpPr>
      <p:sp>
        <p:nvSpPr>
          <p:cNvPr id="20" name="Shape 20"/>
          <p:cNvSpPr/>
          <p:nvPr>
            <p:ph type="pic" idx="13"/>
          </p:nvPr>
        </p:nvSpPr>
        <p:spPr>
          <a:xfrm>
            <a:off x="1606550" y="635000"/>
            <a:ext cx="9779000" cy="5918200"/>
          </a:xfrm>
          <a:prstGeom prst="rect">
            <a:avLst/>
          </a:prstGeom>
        </p:spPr>
        <p:txBody>
          <a:bodyPr lIns="91439" tIns="45719" rIns="91439" bIns="45719" anchor="t">
            <a:noAutofit/>
          </a:bodyPr>
          <a:lstStyle/>
          <a:p>
            <a:pPr/>
          </a:p>
        </p:txBody>
      </p:sp>
      <p:sp>
        <p:nvSpPr>
          <p:cNvPr id="21" name="Shape 21"/>
          <p:cNvSpPr/>
          <p:nvPr>
            <p:ph type="title"/>
          </p:nvPr>
        </p:nvSpPr>
        <p:spPr>
          <a:xfrm>
            <a:off x="1270000" y="6718300"/>
            <a:ext cx="10464800" cy="1422400"/>
          </a:xfrm>
          <a:prstGeom prst="rect">
            <a:avLst/>
          </a:prstGeom>
        </p:spPr>
        <p:txBody>
          <a:bodyPr anchor="b"/>
          <a:lstStyle/>
          <a:p>
            <a:pPr/>
            <a:r>
              <a:t>Title Text</a:t>
            </a:r>
          </a:p>
        </p:txBody>
      </p:sp>
      <p:sp>
        <p:nvSpPr>
          <p:cNvPr id="22" name="Shape 22"/>
          <p:cNvSpPr/>
          <p:nvPr>
            <p:ph type="body" sz="quarter" idx="1"/>
          </p:nvPr>
        </p:nvSpPr>
        <p:spPr>
          <a:xfrm>
            <a:off x="1270000" y="8191500"/>
            <a:ext cx="10464800" cy="1130300"/>
          </a:xfrm>
          <a:prstGeom prst="rect">
            <a:avLst/>
          </a:prstGeom>
        </p:spPr>
        <p:txBody>
          <a:bodyPr anchor="t"/>
          <a:lstStyle>
            <a:lvl1pPr marL="0" indent="0" algn="ctr">
              <a:lnSpc>
                <a:spcPct val="100000"/>
              </a:lnSpc>
              <a:spcBef>
                <a:spcPts val="0"/>
              </a:spcBef>
              <a:buSzTx/>
              <a:buNone/>
              <a:defRPr b="0" sz="3200">
                <a:latin typeface="+mn-lt"/>
                <a:ea typeface="+mn-ea"/>
                <a:cs typeface="+mn-cs"/>
                <a:sym typeface="Helvetica Light"/>
              </a:defRPr>
            </a:lvl1pPr>
            <a:lvl2pPr marL="0" indent="228600" algn="ctr">
              <a:lnSpc>
                <a:spcPct val="100000"/>
              </a:lnSpc>
              <a:spcBef>
                <a:spcPts val="0"/>
              </a:spcBef>
              <a:buSzTx/>
              <a:buNone/>
              <a:defRPr b="0" sz="3200">
                <a:latin typeface="+mn-lt"/>
                <a:ea typeface="+mn-ea"/>
                <a:cs typeface="+mn-cs"/>
                <a:sym typeface="Helvetica Light"/>
              </a:defRPr>
            </a:lvl2pPr>
            <a:lvl3pPr marL="0" indent="457200" algn="ctr">
              <a:lnSpc>
                <a:spcPct val="100000"/>
              </a:lnSpc>
              <a:spcBef>
                <a:spcPts val="0"/>
              </a:spcBef>
              <a:buSzTx/>
              <a:buNone/>
              <a:defRPr b="0" sz="3200">
                <a:latin typeface="+mn-lt"/>
                <a:ea typeface="+mn-ea"/>
                <a:cs typeface="+mn-cs"/>
                <a:sym typeface="Helvetica Light"/>
              </a:defRPr>
            </a:lvl3pPr>
            <a:lvl4pPr marL="0" indent="685800" algn="ctr">
              <a:lnSpc>
                <a:spcPct val="100000"/>
              </a:lnSpc>
              <a:spcBef>
                <a:spcPts val="0"/>
              </a:spcBef>
              <a:buSzTx/>
              <a:buNone/>
              <a:defRPr b="0" sz="3200">
                <a:latin typeface="+mn-lt"/>
                <a:ea typeface="+mn-ea"/>
                <a:cs typeface="+mn-cs"/>
                <a:sym typeface="Helvetica Light"/>
              </a:defRPr>
            </a:lvl4pPr>
            <a:lvl5pPr marL="0" indent="914400" algn="ctr">
              <a:lnSpc>
                <a:spcPct val="100000"/>
              </a:lnSpc>
              <a:spcBef>
                <a:spcPts val="0"/>
              </a:spcBef>
              <a:buSzTx/>
              <a:buNone/>
              <a:defRPr b="0" sz="3200">
                <a:latin typeface="+mn-lt"/>
                <a:ea typeface="+mn-ea"/>
                <a:cs typeface="+mn-cs"/>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3" name="Shape 23"/>
          <p:cNvSpPr/>
          <p:nvPr>
            <p:ph type="sldNum" sz="quarter" idx="2"/>
          </p:nvPr>
        </p:nvSpPr>
        <p:spPr>
          <a:xfrm>
            <a:off x="6311798" y="9245600"/>
            <a:ext cx="368504" cy="3810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type="tx" showMasterSp="1" showMasterPhAnim="1">
  <p:cSld name="Title - Center">
    <p:spTree>
      <p:nvGrpSpPr>
        <p:cNvPr id="1" name=""/>
        <p:cNvGrpSpPr/>
        <p:nvPr/>
      </p:nvGrpSpPr>
      <p:grpSpPr>
        <a:xfrm>
          <a:off x="0" y="0"/>
          <a:ext cx="0" cy="0"/>
          <a:chOff x="0" y="0"/>
          <a:chExt cx="0" cy="0"/>
        </a:xfrm>
      </p:grpSpPr>
      <p:sp>
        <p:nvSpPr>
          <p:cNvPr id="30" name="Shape 30"/>
          <p:cNvSpPr/>
          <p:nvPr>
            <p:ph type="title"/>
          </p:nvPr>
        </p:nvSpPr>
        <p:spPr>
          <a:xfrm>
            <a:off x="1270000" y="3225800"/>
            <a:ext cx="10464800" cy="3302000"/>
          </a:xfrm>
          <a:prstGeom prst="rect">
            <a:avLst/>
          </a:prstGeom>
        </p:spPr>
        <p:txBody>
          <a:bodyPr/>
          <a:lstStyle/>
          <a:p>
            <a:pPr/>
            <a:r>
              <a:t>Title Text</a:t>
            </a:r>
          </a:p>
        </p:txBody>
      </p:sp>
      <p:sp>
        <p:nvSpPr>
          <p:cNvPr id="31" name="Shape 31"/>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type="tx" showMasterSp="1" showMasterPhAnim="1">
  <p:cSld name="Title - Top">
    <p:spTree>
      <p:nvGrpSpPr>
        <p:cNvPr id="1" name=""/>
        <p:cNvGrpSpPr/>
        <p:nvPr/>
      </p:nvGrpSpPr>
      <p:grpSpPr>
        <a:xfrm>
          <a:off x="0" y="0"/>
          <a:ext cx="0" cy="0"/>
          <a:chOff x="0" y="0"/>
          <a:chExt cx="0" cy="0"/>
        </a:xfrm>
      </p:grpSpPr>
      <p:sp>
        <p:nvSpPr>
          <p:cNvPr id="38" name="Shape 38"/>
          <p:cNvSpPr/>
          <p:nvPr>
            <p:ph type="body" sz="half" idx="13"/>
          </p:nvPr>
        </p:nvSpPr>
        <p:spPr>
          <a:xfrm>
            <a:off x="437232" y="444500"/>
            <a:ext cx="12130336" cy="2159000"/>
          </a:xfrm>
          <a:prstGeom prst="rect">
            <a:avLst/>
          </a:prstGeom>
        </p:spPr>
        <p:txBody>
          <a:bodyPr/>
          <a:lstStyle>
            <a:lvl1pPr marL="0" indent="0" algn="ctr">
              <a:lnSpc>
                <a:spcPct val="100000"/>
              </a:lnSpc>
              <a:spcBef>
                <a:spcPts val="0"/>
              </a:spcBef>
              <a:buSzTx/>
              <a:buNone/>
              <a:defRPr sz="6400">
                <a:solidFill>
                  <a:schemeClr val="accent1">
                    <a:hueOff val="47394"/>
                    <a:satOff val="-25753"/>
                    <a:lumOff val="-7544"/>
                  </a:schemeClr>
                </a:solidFill>
                <a:effectLst>
                  <a:outerShdw sx="100000" sy="100000" kx="0" ky="0" algn="b" rotWithShape="0" blurRad="88900" dist="38100" dir="2700000">
                    <a:srgbClr val="000000">
                      <a:alpha val="30000"/>
                    </a:srgbClr>
                  </a:outerShdw>
                </a:effectLst>
              </a:defRPr>
            </a:lvl1pPr>
          </a:lstStyle>
          <a:p>
            <a:pPr/>
            <a:r>
              <a:t>Title Text</a:t>
            </a:r>
          </a:p>
        </p:txBody>
      </p:sp>
      <p:sp>
        <p:nvSpPr>
          <p:cNvPr id="39" name="Shape 39"/>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type="tx" showMasterSp="1" showMasterPhAnim="1">
  <p:cSld name="Title &amp; Bullets">
    <p:spTree>
      <p:nvGrpSpPr>
        <p:cNvPr id="1" name=""/>
        <p:cNvGrpSpPr/>
        <p:nvPr/>
      </p:nvGrpSpPr>
      <p:grpSpPr>
        <a:xfrm>
          <a:off x="0" y="0"/>
          <a:ext cx="0" cy="0"/>
          <a:chOff x="0" y="0"/>
          <a:chExt cx="0" cy="0"/>
        </a:xfrm>
      </p:grpSpPr>
      <p:sp>
        <p:nvSpPr>
          <p:cNvPr id="46" name="Shape 46"/>
          <p:cNvSpPr/>
          <p:nvPr>
            <p:ph type="title"/>
          </p:nvPr>
        </p:nvSpPr>
        <p:spPr>
          <a:xfrm>
            <a:off x="437232" y="444500"/>
            <a:ext cx="12130336" cy="2159000"/>
          </a:xfrm>
          <a:prstGeom prst="rect">
            <a:avLst/>
          </a:prstGeom>
        </p:spPr>
        <p:txBody>
          <a:bodyPr/>
          <a:lstStyle/>
          <a:p>
            <a:pPr/>
            <a:r>
              <a:t>Title Text</a:t>
            </a:r>
          </a:p>
        </p:txBody>
      </p:sp>
      <p:sp>
        <p:nvSpPr>
          <p:cNvPr id="47" name="Shape 47"/>
          <p:cNvSpPr/>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8" name="Shape 48"/>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type="tx" showMasterSp="1" showMasterPhAnim="1">
  <p:cSld name="Blank">
    <p:spTree>
      <p:nvGrpSpPr>
        <p:cNvPr id="1" name=""/>
        <p:cNvGrpSpPr/>
        <p:nvPr/>
      </p:nvGrpSpPr>
      <p:grpSpPr>
        <a:xfrm>
          <a:off x="0" y="0"/>
          <a:ext cx="0" cy="0"/>
          <a:chOff x="0" y="0"/>
          <a:chExt cx="0" cy="0"/>
        </a:xfrm>
      </p:grpSpPr>
      <p:sp>
        <p:nvSpPr>
          <p:cNvPr id="55" name="Shape 55"/>
          <p:cNvSpPr/>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hape 2"/>
          <p:cNvSpPr/>
          <p:nvPr>
            <p:ph type="title"/>
          </p:nvPr>
        </p:nvSpPr>
        <p:spPr>
          <a:xfrm>
            <a:off x="952500" y="444500"/>
            <a:ext cx="11099800" cy="2159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Title Text</a:t>
            </a:r>
          </a:p>
        </p:txBody>
      </p:sp>
      <p:sp>
        <p:nvSpPr>
          <p:cNvPr id="3" name="Shape 3"/>
          <p:cNvSpPr/>
          <p:nvPr>
            <p:ph type="body" idx="1"/>
          </p:nvPr>
        </p:nvSpPr>
        <p:spPr>
          <a:xfrm>
            <a:off x="952500" y="2603500"/>
            <a:ext cx="11099800" cy="62865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hape 4"/>
          <p:cNvSpPr/>
          <p:nvPr>
            <p:ph type="sldNum" sz="quarter" idx="2"/>
          </p:nvPr>
        </p:nvSpPr>
        <p:spPr>
          <a:xfrm>
            <a:off x="6311798" y="9251950"/>
            <a:ext cx="368504" cy="381000"/>
          </a:xfrm>
          <a:prstGeom prst="rect">
            <a:avLst/>
          </a:prstGeom>
          <a:ln w="12700">
            <a:miter lim="400000"/>
          </a:ln>
        </p:spPr>
        <p:txBody>
          <a:bodyPr wrap="none" lIns="50800" tIns="50800" rIns="50800" bIns="50800">
            <a:normAutofit fontScale="100000" lnSpcReduction="0"/>
          </a:bodyPr>
          <a:lstStyle>
            <a:lvl1pPr>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transition xmlns:p14="http://schemas.microsoft.com/office/powerpoint/2010/main" spd="med" advClick="1"/>
  <p:txStyles>
    <p:titleStyle>
      <a:lvl1pPr marL="0" marR="0" indent="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1pPr>
      <a:lvl2pPr marL="0" marR="0" indent="22860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2pPr>
      <a:lvl3pPr marL="0" marR="0" indent="45720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3pPr>
      <a:lvl4pPr marL="0" marR="0" indent="68580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4pPr>
      <a:lvl5pPr marL="0" marR="0" indent="91440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5pPr>
      <a:lvl6pPr marL="0" marR="0" indent="114300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6pPr>
      <a:lvl7pPr marL="0" marR="0" indent="137160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7pPr>
      <a:lvl8pPr marL="0" marR="0" indent="160020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8pPr>
      <a:lvl9pPr marL="0" marR="0" indent="1828800" algn="ctr" defTabSz="584200" rtl="0" latinLnBrk="0">
        <a:lnSpc>
          <a:spcPct val="100000"/>
        </a:lnSpc>
        <a:spcBef>
          <a:spcPts val="0"/>
        </a:spcBef>
        <a:spcAft>
          <a:spcPts val="0"/>
        </a:spcAft>
        <a:buClrTx/>
        <a:buSzTx/>
        <a:buFontTx/>
        <a:buNone/>
        <a:tabLst/>
        <a:defRPr b="1" baseline="0" cap="none" i="0" spc="0" strike="noStrike" sz="6400" u="none">
          <a:ln>
            <a:noFill/>
          </a:ln>
          <a:solidFill>
            <a:schemeClr val="accent1">
              <a:hueOff val="47394"/>
              <a:satOff val="-25753"/>
              <a:lumOff val="-7544"/>
            </a:schemeClr>
          </a:solidFill>
          <a:effectLst>
            <a:outerShdw sx="100000" sy="100000" kx="0" ky="0" algn="b" rotWithShape="0" blurRad="88900" dist="38100" dir="2700000">
              <a:srgbClr val="000000">
                <a:alpha val="30000"/>
              </a:srgbClr>
            </a:outerShdw>
          </a:effectLst>
          <a:uFillTx/>
          <a:latin typeface="+mj-lt"/>
          <a:ea typeface="+mj-ea"/>
          <a:cs typeface="+mj-cs"/>
          <a:sym typeface="Helvetica"/>
        </a:defRPr>
      </a:lvl9pPr>
    </p:titleStyle>
    <p:bodyStyle>
      <a:lvl1pPr marL="4445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1pPr>
      <a:lvl2pPr marL="8890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2pPr>
      <a:lvl3pPr marL="13335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3pPr>
      <a:lvl4pPr marL="17780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4pPr>
      <a:lvl5pPr marL="22225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5pPr>
      <a:lvl6pPr marL="26670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6pPr>
      <a:lvl7pPr marL="31115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7pPr>
      <a:lvl8pPr marL="35560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8pPr>
      <a:lvl9pPr marL="4000500" marR="0" indent="-444500" algn="l" defTabSz="584200" rtl="0" latinLnBrk="0">
        <a:lnSpc>
          <a:spcPct val="90000"/>
        </a:lnSpc>
        <a:spcBef>
          <a:spcPts val="2600"/>
        </a:spcBef>
        <a:spcAft>
          <a:spcPts val="0"/>
        </a:spcAft>
        <a:buClrTx/>
        <a:buSzPct val="75000"/>
        <a:buFontTx/>
        <a:buChar char="•"/>
        <a:tabLst/>
        <a:defRPr b="1" baseline="0" cap="none" i="0" spc="0" strike="noStrike" sz="3600" u="none">
          <a:ln>
            <a:noFill/>
          </a:ln>
          <a:solidFill>
            <a:srgbClr val="000000"/>
          </a:solidFill>
          <a:uFillTx/>
          <a:latin typeface="+mj-lt"/>
          <a:ea typeface="+mj-ea"/>
          <a:cs typeface="+mj-cs"/>
          <a:sym typeface="Helvetica"/>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b="0" baseline="0" cap="none" i="0" spc="0" strike="noStrike" sz="1800" u="none">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tif"/></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 Id="rId3" Type="http://schemas.openxmlformats.org/officeDocument/2006/relationships/image" Target="../media/image4.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e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jpe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tif"/><Relationship Id="rId3" Type="http://schemas.openxmlformats.org/officeDocument/2006/relationships/image" Target="../media/image5.png"/><Relationship Id="rId4" Type="http://schemas.openxmlformats.org/officeDocument/2006/relationships/image" Target="../media/image3.tif"/><Relationship Id="rId5" Type="http://schemas.openxmlformats.org/officeDocument/2006/relationships/image" Target="../media/image4.tif"/></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tif"/></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tif"/><Relationship Id="rId3" Type="http://schemas.openxmlformats.org/officeDocument/2006/relationships/image" Target="../media/image7.tif"/></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www.netlingo.com/word/2moro.php" TargetMode="External"/><Relationship Id="rId3" Type="http://schemas.openxmlformats.org/officeDocument/2006/relationships/hyperlink" Target="http://www.netlingo.com/word/2nite.php" TargetMode="External"/><Relationship Id="rId4" Type="http://schemas.openxmlformats.org/officeDocument/2006/relationships/hyperlink" Target="http://www.netlingo.com/word/brb.php" TargetMode="External"/><Relationship Id="rId5" Type="http://schemas.openxmlformats.org/officeDocument/2006/relationships/hyperlink" Target="http://www.netlingo.com/word/btw.php" TargetMode="External"/><Relationship Id="rId6" Type="http://schemas.openxmlformats.org/officeDocument/2006/relationships/hyperlink" Target="http://www.netlingo.com/word/b4n.php" TargetMode="External"/><Relationship Id="rId7" Type="http://schemas.openxmlformats.org/officeDocument/2006/relationships/hyperlink" Target="http://www.netlingo.com/word/bcnu.php" TargetMode="External"/><Relationship Id="rId8" Type="http://schemas.openxmlformats.org/officeDocument/2006/relationships/hyperlink" Target="http://www.netlingo.com/word/bff.php" TargetMode="External"/><Relationship Id="rId9" Type="http://schemas.openxmlformats.org/officeDocument/2006/relationships/hyperlink" Target="http://www.netlingo.com/word/cya.php" TargetMode="External"/><Relationship Id="rId10" Type="http://schemas.openxmlformats.org/officeDocument/2006/relationships/hyperlink" Target="http://www.netlingo.com/word/dbeyr.php" TargetMode="External"/><Relationship Id="rId11" Type="http://schemas.openxmlformats.org/officeDocument/2006/relationships/hyperlink" Target="http://www.netlingo.com/word/dilligas.php" TargetMode="External"/><Relationship Id="rId12" Type="http://schemas.openxmlformats.org/officeDocument/2006/relationships/hyperlink" Target="http://www.netlingo.com/word/fud.php" TargetMode="External"/><Relationship Id="rId13" Type="http://schemas.openxmlformats.org/officeDocument/2006/relationships/hyperlink" Target="http://www.netlingo.com/word/fwiw.php" TargetMode="External"/><Relationship Id="rId14" Type="http://schemas.openxmlformats.org/officeDocument/2006/relationships/hyperlink" Target="http://www.netlingo.com/word/gr8.php" TargetMode="External"/><Relationship Id="rId15" Type="http://schemas.openxmlformats.org/officeDocument/2006/relationships/hyperlink" Target="http://www.netlingo.com/word/ily.php" TargetMode="External"/><Relationship Id="rId16" Type="http://schemas.openxmlformats.org/officeDocument/2006/relationships/hyperlink" Target="http://www.netlingo.com/word/imho.php" TargetMode="External"/><Relationship Id="rId17" Type="http://schemas.openxmlformats.org/officeDocument/2006/relationships/hyperlink" Target="http://www.netlingo.com/word/irl.php" TargetMode="External"/><Relationship Id="rId18" Type="http://schemas.openxmlformats.org/officeDocument/2006/relationships/hyperlink" Target="http://www.netlingo.com/word/iso.php" TargetMode="External"/><Relationship Id="rId19" Type="http://schemas.openxmlformats.org/officeDocument/2006/relationships/hyperlink" Target="http://www.netlingo.com/word/jk.php" TargetMode="External"/><Relationship Id="rId20" Type="http://schemas.openxmlformats.org/officeDocument/2006/relationships/hyperlink" Target="http://www.netlingo.com/word/l8r.php" TargetMode="External"/><Relationship Id="rId21" Type="http://schemas.openxmlformats.org/officeDocument/2006/relationships/hyperlink" Target="http://www.netlingo.com/word/lmao.php" TargetMode="External"/><Relationship Id="rId22" Type="http://schemas.openxmlformats.org/officeDocument/2006/relationships/hyperlink" Target="http://www.netlingo.com/word/lol.php" TargetMode="External"/><Relationship Id="rId23" Type="http://schemas.openxmlformats.org/officeDocument/2006/relationships/hyperlink" Target="http://www.netlingo.com/word/lylas.php" TargetMode="External"/><Relationship Id="rId24" Type="http://schemas.openxmlformats.org/officeDocument/2006/relationships/hyperlink" Target="http://www.netlingo.com/word/mhoty.php" TargetMode="External"/><Relationship Id="rId25" Type="http://schemas.openxmlformats.org/officeDocument/2006/relationships/hyperlink" Target="http://www.netlingo.com/word/nimby.php" TargetMode="External"/><Relationship Id="rId26" Type="http://schemas.openxmlformats.org/officeDocument/2006/relationships/hyperlink" Target="http://www.netlingo.com/word/np.php" TargetMode="External"/><Relationship Id="rId27" Type="http://schemas.openxmlformats.org/officeDocument/2006/relationships/hyperlink" Target="http://www.netlingo.com/word/nub.php" TargetMode="External"/><Relationship Id="rId28" Type="http://schemas.openxmlformats.org/officeDocument/2006/relationships/hyperlink" Target="http://www.netlingo.com/word/oic.php" TargetMode="External"/><Relationship Id="rId29" Type="http://schemas.openxmlformats.org/officeDocument/2006/relationships/hyperlink" Target="http://www.netlingo.com/word/omg.php" TargetMode="External"/><Relationship Id="rId30" Type="http://schemas.openxmlformats.org/officeDocument/2006/relationships/hyperlink" Target="http://www.netlingo.com/word/ot.php" TargetMode="External"/><Relationship Id="rId31" Type="http://schemas.openxmlformats.org/officeDocument/2006/relationships/hyperlink" Target="http://www.netlingo.com/word/pov.php" TargetMode="External"/><Relationship Id="rId32" Type="http://schemas.openxmlformats.org/officeDocument/2006/relationships/hyperlink" Target="http://www.netlingo.com/word/rbtl.php" TargetMode="External"/><Relationship Id="rId33" Type="http://schemas.openxmlformats.org/officeDocument/2006/relationships/hyperlink" Target="http://www.netlingo.com/word/rotflmao.php" TargetMode="External"/><Relationship Id="rId34" Type="http://schemas.openxmlformats.org/officeDocument/2006/relationships/hyperlink" Target="http://www.netlingo.com/word/rt.php" TargetMode="External"/><Relationship Id="rId35" Type="http://schemas.openxmlformats.org/officeDocument/2006/relationships/hyperlink" Target="http://www.netlingo.com/word/thx-or-tx-or-thks.php" TargetMode="External"/><Relationship Id="rId36" Type="http://schemas.openxmlformats.org/officeDocument/2006/relationships/hyperlink" Target="http://www.netlingo.com/word/sh.php" TargetMode="External"/><Relationship Id="rId37" Type="http://schemas.openxmlformats.org/officeDocument/2006/relationships/hyperlink" Target="http://www.netlingo.com/word/sitd.php" TargetMode="External"/><Relationship Id="rId38" Type="http://schemas.openxmlformats.org/officeDocument/2006/relationships/hyperlink" Target="http://www.netlingo.com/word/sol.php" TargetMode="External"/><Relationship Id="rId39" Type="http://schemas.openxmlformats.org/officeDocument/2006/relationships/hyperlink" Target="http://www.netlingo.com/word/stby.php" TargetMode="External"/><Relationship Id="rId40" Type="http://schemas.openxmlformats.org/officeDocument/2006/relationships/hyperlink" Target="http://www.netlingo.com/word/swak.php" TargetMode="External"/><Relationship Id="rId41" Type="http://schemas.openxmlformats.org/officeDocument/2006/relationships/hyperlink" Target="http://www.netlingo.com/word/tfh.php" TargetMode="External"/><Relationship Id="rId42" Type="http://schemas.openxmlformats.org/officeDocument/2006/relationships/hyperlink" Target="http://www.netlingo.com/word/rtm-or-rtfm.php" TargetMode="External"/><Relationship Id="rId43" Type="http://schemas.openxmlformats.org/officeDocument/2006/relationships/hyperlink" Target="http://www.netlingo.com/word/tlc.php" TargetMode="External"/><Relationship Id="rId44" Type="http://schemas.openxmlformats.org/officeDocument/2006/relationships/hyperlink" Target="http://www.netlingo.com/word/tmi.php" TargetMode="External"/><Relationship Id="rId45" Type="http://schemas.openxmlformats.org/officeDocument/2006/relationships/hyperlink" Target="http://www.netlingo.com/word/ttyl.php" TargetMode="External"/><Relationship Id="rId46" Type="http://schemas.openxmlformats.org/officeDocument/2006/relationships/hyperlink" Target="http://www.netlingo.com/word/tyvm.php" TargetMode="External"/><Relationship Id="rId47" Type="http://schemas.openxmlformats.org/officeDocument/2006/relationships/hyperlink" Target="http://www.netlingo.com/word/vbg.php" TargetMode="External"/><Relationship Id="rId48" Type="http://schemas.openxmlformats.org/officeDocument/2006/relationships/hyperlink" Target="http://www.netlingo.com/word/weg.php" TargetMode="External"/><Relationship Id="rId49" Type="http://schemas.openxmlformats.org/officeDocument/2006/relationships/hyperlink" Target="http://www.netlingo.com/word/wtf.php" TargetMode="External"/><Relationship Id="rId50" Type="http://schemas.openxmlformats.org/officeDocument/2006/relationships/hyperlink" Target="http://www.netlingo.com/word/wywh.php" TargetMode="External"/><Relationship Id="rId51" Type="http://schemas.openxmlformats.org/officeDocument/2006/relationships/hyperlink" Target="http://www.netlingo.com/word/xoxo.php" TargetMode="Externa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e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jpeg"/><Relationship Id="rId3" Type="http://schemas.openxmlformats.org/officeDocument/2006/relationships/image" Target="../media/image5.jpe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jpeg"/><Relationship Id="rId3" Type="http://schemas.openxmlformats.org/officeDocument/2006/relationships/image" Target="../media/image7.jpeg"/></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www.inf.ed.ac.uk/teaching/courses/it/" TargetMode="External"/><Relationship Id="rId3" Type="http://schemas.openxmlformats.org/officeDocument/2006/relationships/image" Target="../media/image32.pn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www.inf.ed.ac.uk/teaching/courses/it/" TargetMode="Externa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jpe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64" name="Shape 64"/>
          <p:cNvSpPr/>
          <p:nvPr>
            <p:ph type="title"/>
          </p:nvPr>
        </p:nvSpPr>
        <p:spPr>
          <a:prstGeom prst="rect">
            <a:avLst/>
          </a:prstGeom>
        </p:spPr>
        <p:txBody>
          <a:bodyPr/>
          <a:lstStyle/>
          <a:p>
            <a:pPr/>
            <a:r>
              <a:t>Lecture 11: Information Theory</a:t>
            </a:r>
          </a:p>
        </p:txBody>
      </p:sp>
      <p:sp>
        <p:nvSpPr>
          <p:cNvPr id="65" name="Shape 65"/>
          <p:cNvSpPr/>
          <p:nvPr>
            <p:ph type="body" idx="1"/>
          </p:nvPr>
        </p:nvSpPr>
        <p:spPr>
          <a:xfrm>
            <a:off x="952500" y="2609850"/>
            <a:ext cx="11099800" cy="6286501"/>
          </a:xfrm>
          <a:prstGeom prst="rect">
            <a:avLst/>
          </a:prstGeom>
        </p:spPr>
        <p:txBody>
          <a:bodyPr/>
          <a:lstStyle/>
          <a:p>
            <a:pPr/>
            <a:r>
              <a:t>Today: introduction to information theory, Morse code analysis, information content of a message</a:t>
            </a:r>
          </a:p>
          <a:p>
            <a:pPr/>
            <a:r>
              <a:t>Lab: Analyzing information content of text from different sources</a:t>
            </a:r>
          </a:p>
          <a:p>
            <a:pPr/>
            <a:r>
              <a:t>Wednesday: determining authorship</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67" name="Shape 67"/>
          <p:cNvSpPr/>
          <p:nvPr>
            <p:ph type="title"/>
          </p:nvPr>
        </p:nvSpPr>
        <p:spPr>
          <a:prstGeom prst="rect">
            <a:avLst/>
          </a:prstGeom>
        </p:spPr>
        <p:txBody>
          <a:bodyPr/>
          <a:lstStyle/>
          <a:p>
            <a:pPr/>
            <a:r>
              <a:t>Claude Shannon (1916–2001)</a:t>
            </a:r>
          </a:p>
        </p:txBody>
      </p:sp>
      <p:sp>
        <p:nvSpPr>
          <p:cNvPr id="68" name="Shape 68"/>
          <p:cNvSpPr/>
          <p:nvPr>
            <p:ph type="body" sz="half" idx="1"/>
          </p:nvPr>
        </p:nvSpPr>
        <p:spPr>
          <a:xfrm>
            <a:off x="745380" y="2609850"/>
            <a:ext cx="6553598" cy="6286501"/>
          </a:xfrm>
          <a:prstGeom prst="rect">
            <a:avLst/>
          </a:prstGeom>
        </p:spPr>
        <p:txBody>
          <a:bodyPr/>
          <a:lstStyle/>
          <a:p>
            <a:pPr marL="346709" indent="-346709" defTabSz="455675">
              <a:spcBef>
                <a:spcPts val="2000"/>
              </a:spcBef>
              <a:defRPr sz="2807"/>
            </a:pPr>
            <a:r>
              <a:t>Born in Petoskey, Michigan</a:t>
            </a:r>
          </a:p>
          <a:p>
            <a:pPr marL="346709" indent="-346709" defTabSz="455675">
              <a:spcBef>
                <a:spcPts val="2000"/>
              </a:spcBef>
              <a:defRPr sz="2807"/>
            </a:pPr>
            <a:r>
              <a:t>Completed two undergraduate degrees at the University of Michigan</a:t>
            </a:r>
          </a:p>
          <a:p>
            <a:pPr marL="346709" indent="-346709" defTabSz="455675">
              <a:spcBef>
                <a:spcPts val="2000"/>
              </a:spcBef>
              <a:defRPr sz="2807"/>
            </a:pPr>
            <a:r>
              <a:t>Master’s thesis in electrical engineering on binary arithmetic revolutionized electrical engineering and formed the basic of digital circuit design</a:t>
            </a:r>
          </a:p>
          <a:p>
            <a:pPr marL="346709" indent="-346709" defTabSz="455675">
              <a:spcBef>
                <a:spcPts val="2000"/>
              </a:spcBef>
              <a:defRPr sz="2807"/>
            </a:pPr>
            <a:r>
              <a:t>PhD thesis: “An Algebra for Theoretical Genetics”</a:t>
            </a:r>
          </a:p>
          <a:p>
            <a:pPr marL="346709" indent="-346709" defTabSz="455675">
              <a:spcBef>
                <a:spcPts val="2000"/>
              </a:spcBef>
              <a:defRPr sz="2807"/>
            </a:pPr>
            <a:r>
              <a:t>Involved in code breaking during World War 2</a:t>
            </a:r>
          </a:p>
        </p:txBody>
      </p:sp>
      <p:pic>
        <p:nvPicPr>
          <p:cNvPr id="69" name="pasted-image.tif"/>
          <p:cNvPicPr>
            <a:picLocks noChangeAspect="1"/>
          </p:cNvPicPr>
          <p:nvPr/>
        </p:nvPicPr>
        <p:blipFill>
          <a:blip r:embed="rId2">
            <a:extLst/>
          </a:blip>
          <a:stretch>
            <a:fillRect/>
          </a:stretch>
        </p:blipFill>
        <p:spPr>
          <a:xfrm>
            <a:off x="7894736" y="2962622"/>
            <a:ext cx="4673601" cy="4229101"/>
          </a:xfrm>
          <a:prstGeom prst="rect">
            <a:avLst/>
          </a:prstGeom>
          <a:ln w="12700">
            <a:miter lim="400000"/>
          </a:ln>
        </p:spPr>
      </p:pic>
      <p:sp>
        <p:nvSpPr>
          <p:cNvPr id="70" name="Shape 70"/>
          <p:cNvSpPr/>
          <p:nvPr/>
        </p:nvSpPr>
        <p:spPr>
          <a:xfrm>
            <a:off x="8197353" y="7334249"/>
            <a:ext cx="4068367"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2400">
                <a:latin typeface="+mj-lt"/>
                <a:ea typeface="+mj-ea"/>
                <a:cs typeface="+mj-cs"/>
                <a:sym typeface="Helvetica"/>
              </a:defRPr>
            </a:lvl1pPr>
          </a:lstStyle>
          <a:p>
            <a:pPr/>
            <a:r>
              <a:t>Shannon (+ robotic mouse)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72" name="Shape 72"/>
          <p:cNvSpPr/>
          <p:nvPr>
            <p:ph type="title"/>
          </p:nvPr>
        </p:nvSpPr>
        <p:spPr>
          <a:prstGeom prst="rect">
            <a:avLst/>
          </a:prstGeom>
        </p:spPr>
        <p:txBody>
          <a:bodyPr/>
          <a:lstStyle/>
          <a:p>
            <a:pPr/>
            <a:r>
              <a:t>Shannon’s paper</a:t>
            </a:r>
          </a:p>
        </p:txBody>
      </p:sp>
      <p:pic>
        <p:nvPicPr>
          <p:cNvPr id="73" name="Screen Shot 2014-02-18 at 10.30.49 PM.png"/>
          <p:cNvPicPr>
            <a:picLocks noChangeAspect="1"/>
          </p:cNvPicPr>
          <p:nvPr/>
        </p:nvPicPr>
        <p:blipFill>
          <a:blip r:embed="rId2">
            <a:extLst/>
          </a:blip>
          <a:stretch>
            <a:fillRect/>
          </a:stretch>
        </p:blipFill>
        <p:spPr>
          <a:xfrm>
            <a:off x="615950" y="2946400"/>
            <a:ext cx="11772900" cy="3860800"/>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75" name="Shape 75"/>
          <p:cNvSpPr/>
          <p:nvPr>
            <p:ph type="title"/>
          </p:nvPr>
        </p:nvSpPr>
        <p:spPr>
          <a:xfrm>
            <a:off x="437232" y="38100"/>
            <a:ext cx="12130336" cy="2159000"/>
          </a:xfrm>
          <a:prstGeom prst="rect">
            <a:avLst/>
          </a:prstGeom>
        </p:spPr>
        <p:txBody>
          <a:bodyPr/>
          <a:lstStyle>
            <a:lvl1pPr>
              <a:defRPr sz="5100"/>
            </a:lvl1pPr>
          </a:lstStyle>
          <a:p>
            <a:pPr/>
            <a:r>
              <a:t>Mathematical theory of communication</a:t>
            </a:r>
          </a:p>
        </p:txBody>
      </p:sp>
      <p:pic>
        <p:nvPicPr>
          <p:cNvPr id="76" name="Screen Shot 2014-02-18 at 10.32.24 PM.png"/>
          <p:cNvPicPr>
            <a:picLocks noChangeAspect="1"/>
          </p:cNvPicPr>
          <p:nvPr/>
        </p:nvPicPr>
        <p:blipFill>
          <a:blip r:embed="rId2">
            <a:extLst/>
          </a:blip>
          <a:stretch>
            <a:fillRect/>
          </a:stretch>
        </p:blipFill>
        <p:spPr>
          <a:xfrm>
            <a:off x="685800" y="1922115"/>
            <a:ext cx="11633200" cy="3898901"/>
          </a:xfrm>
          <a:prstGeom prst="rect">
            <a:avLst/>
          </a:prstGeom>
          <a:ln w="12700">
            <a:miter lim="400000"/>
          </a:ln>
        </p:spPr>
      </p:pic>
      <p:pic>
        <p:nvPicPr>
          <p:cNvPr id="77" name="Screen Shot 2014-02-18 at 10.34.03 PM.png"/>
          <p:cNvPicPr>
            <a:picLocks noChangeAspect="1"/>
          </p:cNvPicPr>
          <p:nvPr/>
        </p:nvPicPr>
        <p:blipFill>
          <a:blip r:embed="rId3">
            <a:extLst/>
          </a:blip>
          <a:stretch>
            <a:fillRect/>
          </a:stretch>
        </p:blipFill>
        <p:spPr>
          <a:xfrm>
            <a:off x="2778658" y="6189278"/>
            <a:ext cx="7447484" cy="2977344"/>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79" name="Shape 79"/>
          <p:cNvSpPr/>
          <p:nvPr>
            <p:ph type="title"/>
          </p:nvPr>
        </p:nvSpPr>
        <p:spPr>
          <a:prstGeom prst="rect">
            <a:avLst/>
          </a:prstGeom>
        </p:spPr>
        <p:txBody>
          <a:bodyPr/>
          <a:lstStyle/>
          <a:p>
            <a:pPr/>
            <a:r>
              <a:t>Messages take many forms</a:t>
            </a:r>
          </a:p>
        </p:txBody>
      </p:sp>
      <p:sp>
        <p:nvSpPr>
          <p:cNvPr id="80" name="Shape 80"/>
          <p:cNvSpPr/>
          <p:nvPr>
            <p:ph type="body" sz="half" idx="1"/>
          </p:nvPr>
        </p:nvSpPr>
        <p:spPr>
          <a:xfrm>
            <a:off x="952500" y="2609850"/>
            <a:ext cx="11099800" cy="2328863"/>
          </a:xfrm>
          <a:prstGeom prst="rect">
            <a:avLst/>
          </a:prstGeom>
        </p:spPr>
        <p:txBody>
          <a:bodyPr/>
          <a:lstStyle/>
          <a:p>
            <a:pPr/>
            <a:r>
              <a:t>There are many ways to communicate</a:t>
            </a:r>
          </a:p>
          <a:p>
            <a:pPr/>
            <a:r>
              <a:t>Messages take many different forms</a:t>
            </a:r>
          </a:p>
        </p:txBody>
      </p:sp>
      <p:sp>
        <p:nvSpPr>
          <p:cNvPr id="81" name="Shape 81"/>
          <p:cNvSpPr/>
          <p:nvPr/>
        </p:nvSpPr>
        <p:spPr>
          <a:xfrm>
            <a:off x="8830705" y="5106880"/>
            <a:ext cx="3750790" cy="3759043"/>
          </a:xfrm>
          <a:prstGeom prst="roundRect">
            <a:avLst>
              <a:gd name="adj" fmla="val 6037"/>
            </a:avLst>
          </a:prstGeom>
          <a:solidFill>
            <a:srgbClr val="FFFBD1"/>
          </a:solidFill>
          <a:ln w="12700">
            <a:solidFill>
              <a:schemeClr val="accent3"/>
            </a:solidFill>
            <a:miter lim="400000"/>
          </a:ln>
          <a:effectLst>
            <a:outerShdw sx="100000" sy="100000" kx="0" ky="0" algn="b" rotWithShape="0" blurRad="38100" dist="25400" dir="540000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b="1">
                <a:latin typeface="+mj-lt"/>
                <a:ea typeface="+mj-ea"/>
                <a:cs typeface="+mj-cs"/>
                <a:sym typeface="Helvetica"/>
              </a:defRPr>
            </a:pPr>
            <a:r>
              <a:t>Electronic</a:t>
            </a:r>
          </a:p>
          <a:p>
            <a:pPr marL="444500" indent="-444500" algn="l">
              <a:buSzPct val="75000"/>
              <a:buChar char="•"/>
              <a:defRPr b="1">
                <a:latin typeface="+mj-lt"/>
                <a:ea typeface="+mj-ea"/>
                <a:cs typeface="+mj-cs"/>
                <a:sym typeface="Helvetica"/>
              </a:defRPr>
            </a:pPr>
            <a:r>
              <a:t>…</a:t>
            </a:r>
          </a:p>
        </p:txBody>
      </p:sp>
      <p:sp>
        <p:nvSpPr>
          <p:cNvPr id="82" name="Shape 82"/>
          <p:cNvSpPr/>
          <p:nvPr/>
        </p:nvSpPr>
        <p:spPr>
          <a:xfrm>
            <a:off x="423305" y="5106880"/>
            <a:ext cx="3750790" cy="3759043"/>
          </a:xfrm>
          <a:prstGeom prst="roundRect">
            <a:avLst>
              <a:gd name="adj" fmla="val 6037"/>
            </a:avLst>
          </a:prstGeom>
          <a:solidFill>
            <a:srgbClr val="FFFBD1"/>
          </a:solidFill>
          <a:ln w="12700">
            <a:solidFill>
              <a:schemeClr val="accent3"/>
            </a:solidFill>
            <a:miter lim="400000"/>
          </a:ln>
          <a:effectLst>
            <a:outerShdw sx="100000" sy="100000" kx="0" ky="0" algn="b" rotWithShape="0" blurRad="38100" dist="25400" dir="540000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b="1">
                <a:latin typeface="+mj-lt"/>
                <a:ea typeface="+mj-ea"/>
                <a:cs typeface="+mj-cs"/>
                <a:sym typeface="Helvetica"/>
              </a:defRPr>
            </a:pPr>
            <a:r>
              <a:t>Audio</a:t>
            </a:r>
          </a:p>
          <a:p>
            <a:pPr marL="444500" indent="-444500" algn="l">
              <a:buSzPct val="75000"/>
              <a:buChar char="•"/>
              <a:defRPr b="1">
                <a:latin typeface="+mj-lt"/>
                <a:ea typeface="+mj-ea"/>
                <a:cs typeface="+mj-cs"/>
                <a:sym typeface="Helvetica"/>
              </a:defRPr>
            </a:pPr>
            <a:r>
              <a:t>English</a:t>
            </a:r>
          </a:p>
          <a:p>
            <a:pPr marL="444500" indent="-444500" algn="l">
              <a:buSzPct val="75000"/>
              <a:buChar char="•"/>
              <a:defRPr b="1">
                <a:latin typeface="+mj-lt"/>
                <a:ea typeface="+mj-ea"/>
                <a:cs typeface="+mj-cs"/>
                <a:sym typeface="Helvetica"/>
              </a:defRPr>
            </a:pPr>
            <a:r>
              <a:t>French</a:t>
            </a:r>
          </a:p>
          <a:p>
            <a:pPr marL="444500" indent="-444500" algn="l">
              <a:buSzPct val="75000"/>
              <a:buChar char="•"/>
              <a:defRPr b="1">
                <a:latin typeface="+mj-lt"/>
                <a:ea typeface="+mj-ea"/>
                <a:cs typeface="+mj-cs"/>
                <a:sym typeface="Helvetica"/>
              </a:defRPr>
            </a:pPr>
            <a:r>
              <a:t>Mandarin</a:t>
            </a:r>
          </a:p>
          <a:p>
            <a:pPr marL="444500" indent="-444500" algn="l">
              <a:buSzPct val="75000"/>
              <a:buChar char="•"/>
              <a:defRPr b="1">
                <a:latin typeface="+mj-lt"/>
                <a:ea typeface="+mj-ea"/>
                <a:cs typeface="+mj-cs"/>
                <a:sym typeface="Helvetica"/>
              </a:defRPr>
            </a:pPr>
            <a:r>
              <a:t>Arabic</a:t>
            </a:r>
          </a:p>
        </p:txBody>
      </p:sp>
      <p:sp>
        <p:nvSpPr>
          <p:cNvPr id="83" name="Shape 83"/>
          <p:cNvSpPr/>
          <p:nvPr/>
        </p:nvSpPr>
        <p:spPr>
          <a:xfrm>
            <a:off x="4627005" y="5106880"/>
            <a:ext cx="3750790" cy="3759043"/>
          </a:xfrm>
          <a:prstGeom prst="roundRect">
            <a:avLst>
              <a:gd name="adj" fmla="val 6037"/>
            </a:avLst>
          </a:prstGeom>
          <a:solidFill>
            <a:srgbClr val="FFFBD1"/>
          </a:solidFill>
          <a:ln w="12700">
            <a:solidFill>
              <a:schemeClr val="accent3"/>
            </a:solidFill>
            <a:miter lim="400000"/>
          </a:ln>
          <a:effectLst>
            <a:outerShdw sx="100000" sy="100000" kx="0" ky="0" algn="b" rotWithShape="0" blurRad="38100" dist="25400" dir="540000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b="1">
                <a:latin typeface="+mj-lt"/>
                <a:ea typeface="+mj-ea"/>
                <a:cs typeface="+mj-cs"/>
                <a:sym typeface="Helvetica"/>
              </a:defRPr>
            </a:pPr>
            <a:r>
              <a:t>Visual</a:t>
            </a:r>
          </a:p>
          <a:p>
            <a:pPr marL="444500" indent="-444500" algn="l">
              <a:buSzPct val="75000"/>
              <a:buChar char="•"/>
              <a:defRPr b="1">
                <a:latin typeface="+mj-lt"/>
                <a:ea typeface="+mj-ea"/>
                <a:cs typeface="+mj-cs"/>
                <a:sym typeface="Helvetica"/>
              </a:defRPr>
            </a:pPr>
            <a:r>
              <a:t>Sign language</a:t>
            </a:r>
          </a:p>
          <a:p>
            <a:pPr marL="444500" indent="-444500" algn="l">
              <a:buSzPct val="75000"/>
              <a:buChar char="•"/>
              <a:defRPr b="1">
                <a:latin typeface="+mj-lt"/>
                <a:ea typeface="+mj-ea"/>
                <a:cs typeface="+mj-cs"/>
                <a:sym typeface="Helvetica"/>
              </a:defRPr>
            </a:pPr>
            <a:r>
              <a:t>…</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85" name="Shape 85"/>
          <p:cNvSpPr/>
          <p:nvPr>
            <p:ph type="title"/>
          </p:nvPr>
        </p:nvSpPr>
        <p:spPr>
          <a:prstGeom prst="rect">
            <a:avLst/>
          </a:prstGeom>
        </p:spPr>
        <p:txBody>
          <a:bodyPr/>
          <a:lstStyle/>
          <a:p>
            <a:pPr/>
            <a:r>
              <a:t>Binary</a:t>
            </a:r>
          </a:p>
        </p:txBody>
      </p:sp>
      <p:sp>
        <p:nvSpPr>
          <p:cNvPr id="86" name="Shape 86"/>
          <p:cNvSpPr/>
          <p:nvPr>
            <p:ph type="body" sz="half" idx="1"/>
          </p:nvPr>
        </p:nvSpPr>
        <p:spPr>
          <a:xfrm>
            <a:off x="952500" y="4452143"/>
            <a:ext cx="11319223" cy="4437857"/>
          </a:xfrm>
          <a:prstGeom prst="rect">
            <a:avLst/>
          </a:prstGeom>
        </p:spPr>
        <p:txBody>
          <a:bodyPr/>
          <a:lstStyle/>
          <a:p>
            <a:pPr/>
            <a:r>
              <a:t>Paper also chooses to specifically measure information in terms of binary digits</a:t>
            </a:r>
          </a:p>
          <a:p>
            <a:pPr/>
            <a:r>
              <a:t>First use of the word “bit”, which is now ubiquitous (</a:t>
            </a:r>
            <a:r>
              <a:rPr i="1"/>
              <a:t>e.g.</a:t>
            </a:r>
            <a:r>
              <a:t> smartphone download speeds quoted in Mbit/s, </a:t>
            </a:r>
            <a:r>
              <a:rPr i="1"/>
              <a:t>etc.</a:t>
            </a:r>
            <a:r>
              <a:t>)</a:t>
            </a:r>
          </a:p>
          <a:p>
            <a:pPr/>
            <a:r>
              <a:t>Binary is highly practical for digital electronic circuitry</a:t>
            </a:r>
          </a:p>
        </p:txBody>
      </p:sp>
      <p:grpSp>
        <p:nvGrpSpPr>
          <p:cNvPr id="92" name="Group 92"/>
          <p:cNvGrpSpPr/>
          <p:nvPr/>
        </p:nvGrpSpPr>
        <p:grpSpPr>
          <a:xfrm>
            <a:off x="789529" y="2324100"/>
            <a:ext cx="11425742" cy="1714764"/>
            <a:chOff x="0" y="0"/>
            <a:chExt cx="11425741" cy="1714763"/>
          </a:xfrm>
        </p:grpSpPr>
        <p:pic>
          <p:nvPicPr>
            <p:cNvPr id="87" name="image21.jpg" descr="tradition.jpg"/>
            <p:cNvPicPr>
              <a:picLocks noChangeAspect="1"/>
            </p:cNvPicPr>
            <p:nvPr/>
          </p:nvPicPr>
          <p:blipFill>
            <a:blip r:embed="rId2">
              <a:extLst/>
            </a:blip>
            <a:stretch>
              <a:fillRect/>
            </a:stretch>
          </p:blipFill>
          <p:spPr>
            <a:xfrm>
              <a:off x="0" y="0"/>
              <a:ext cx="11425742" cy="1714764"/>
            </a:xfrm>
            <a:prstGeom prst="rect">
              <a:avLst/>
            </a:prstGeom>
            <a:ln w="12700" cap="flat">
              <a:noFill/>
              <a:miter lim="400000"/>
            </a:ln>
            <a:effectLst/>
          </p:spPr>
        </p:pic>
        <p:sp>
          <p:nvSpPr>
            <p:cNvPr id="88" name="Shape 88"/>
            <p:cNvSpPr/>
            <p:nvPr/>
          </p:nvSpPr>
          <p:spPr>
            <a:xfrm>
              <a:off x="162451" y="342952"/>
              <a:ext cx="11154990" cy="361004"/>
            </a:xfrm>
            <a:prstGeom prst="rect">
              <a:avLst/>
            </a:prstGeom>
            <a:solidFill>
              <a:srgbClr val="FFFF00">
                <a:alpha val="23000"/>
              </a:srgbClr>
            </a:solidFill>
            <a:ln w="12700" cap="flat">
              <a:noFill/>
              <a:miter lim="400000"/>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p>
          </p:txBody>
        </p:sp>
        <p:sp>
          <p:nvSpPr>
            <p:cNvPr id="89" name="Shape 89"/>
            <p:cNvSpPr/>
            <p:nvPr/>
          </p:nvSpPr>
          <p:spPr>
            <a:xfrm>
              <a:off x="10478248" y="36100"/>
              <a:ext cx="839194" cy="361004"/>
            </a:xfrm>
            <a:prstGeom prst="rect">
              <a:avLst/>
            </a:prstGeom>
            <a:solidFill>
              <a:srgbClr val="FFFF00">
                <a:alpha val="23000"/>
              </a:srgbClr>
            </a:solidFill>
            <a:ln w="12700" cap="flat">
              <a:noFill/>
              <a:miter lim="400000"/>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p>
          </p:txBody>
        </p:sp>
        <p:sp>
          <p:nvSpPr>
            <p:cNvPr id="90" name="Shape 90"/>
            <p:cNvSpPr/>
            <p:nvPr/>
          </p:nvSpPr>
          <p:spPr>
            <a:xfrm>
              <a:off x="162451" y="703955"/>
              <a:ext cx="1480113" cy="361004"/>
            </a:xfrm>
            <a:prstGeom prst="rect">
              <a:avLst/>
            </a:prstGeom>
            <a:solidFill>
              <a:srgbClr val="FFFF00">
                <a:alpha val="23000"/>
              </a:srgbClr>
            </a:solidFill>
            <a:ln w="12700" cap="flat">
              <a:noFill/>
              <a:miter lim="400000"/>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p>
          </p:txBody>
        </p:sp>
        <p:sp>
          <p:nvSpPr>
            <p:cNvPr id="91" name="Shape 91"/>
            <p:cNvSpPr/>
            <p:nvPr/>
          </p:nvSpPr>
          <p:spPr>
            <a:xfrm>
              <a:off x="6425851" y="1245459"/>
              <a:ext cx="631756" cy="469305"/>
            </a:xfrm>
            <a:prstGeom prst="rect">
              <a:avLst/>
            </a:prstGeom>
            <a:solidFill>
              <a:srgbClr val="FFFFFF"/>
            </a:solidFill>
            <a:ln w="9525" cap="flat">
              <a:solidFill>
                <a:srgbClr val="FFFFFF"/>
              </a:solidFill>
              <a:prstDash val="solid"/>
              <a:round/>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p>
          </p:txBody>
        </p:sp>
      </p:gr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94" name="Shape 94"/>
          <p:cNvSpPr/>
          <p:nvPr>
            <p:ph type="title"/>
          </p:nvPr>
        </p:nvSpPr>
        <p:spPr>
          <a:xfrm>
            <a:off x="437232" y="444500"/>
            <a:ext cx="12130336" cy="1850678"/>
          </a:xfrm>
          <a:prstGeom prst="rect">
            <a:avLst/>
          </a:prstGeom>
        </p:spPr>
        <p:txBody>
          <a:bodyPr/>
          <a:lstStyle>
            <a:lvl1pPr>
              <a:defRPr sz="5700"/>
            </a:lvl1pPr>
          </a:lstStyle>
          <a:p>
            <a:pPr/>
            <a:r>
              <a:t>Binary from Python</a:t>
            </a:r>
          </a:p>
        </p:txBody>
      </p:sp>
      <p:sp>
        <p:nvSpPr>
          <p:cNvPr id="95" name="Shape 95"/>
          <p:cNvSpPr/>
          <p:nvPr/>
        </p:nvSpPr>
        <p:spPr>
          <a:xfrm>
            <a:off x="848345" y="1981200"/>
            <a:ext cx="11308111" cy="7213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&gt;&gt;&gt; for i in range(17):</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     print "Decimal: {0:02d} Binary: {0:05b}".format(i,i)</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 </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00 Binary: 00000</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01 Binary: 00001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02 Binary: 00010</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03 Binary: 00011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04 Binary: 00100</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05 Binary: 00101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06 Binary: 00110</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07 Binary: 00111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08 Binary: 01000</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09 Binary: 01001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10 Binary: 01010</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11 Binary: 01011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12 Binary: 01100</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13 Binary: 01101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14 Binary: 01110</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15 Binary: 01111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16 Binary: 10000</a:t>
            </a:r>
          </a:p>
        </p:txBody>
      </p:sp>
      <p:pic>
        <p:nvPicPr>
          <p:cNvPr id="96" name="binary_pattern.jpg"/>
          <p:cNvPicPr>
            <a:picLocks noChangeAspect="1"/>
          </p:cNvPicPr>
          <p:nvPr/>
        </p:nvPicPr>
        <p:blipFill>
          <a:blip r:embed="rId2">
            <a:extLst/>
          </a:blip>
          <a:stretch>
            <a:fillRect/>
          </a:stretch>
        </p:blipFill>
        <p:spPr>
          <a:xfrm>
            <a:off x="7518668" y="5239087"/>
            <a:ext cx="4991355" cy="3743516"/>
          </a:xfrm>
          <a:prstGeom prst="rect">
            <a:avLst/>
          </a:prstGeom>
          <a:ln w="12700">
            <a:miter lim="400000"/>
          </a:ln>
        </p:spPr>
      </p:pic>
      <p:sp>
        <p:nvSpPr>
          <p:cNvPr id="97" name="Shape 97"/>
          <p:cNvSpPr/>
          <p:nvPr/>
        </p:nvSpPr>
        <p:spPr>
          <a:xfrm>
            <a:off x="7773524" y="8985249"/>
            <a:ext cx="4481643" cy="419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2100">
                <a:latin typeface="+mj-lt"/>
                <a:ea typeface="+mj-ea"/>
                <a:cs typeface="+mj-cs"/>
                <a:sym typeface="Helvetica"/>
              </a:defRPr>
            </a:lvl1pPr>
          </a:lstStyle>
          <a:p>
            <a:pPr/>
            <a:r>
              <a:t>Tiles in Maxwell Dworkin restroom</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99" name="Shape 99"/>
          <p:cNvSpPr/>
          <p:nvPr>
            <p:ph type="title"/>
          </p:nvPr>
        </p:nvSpPr>
        <p:spPr>
          <a:xfrm>
            <a:off x="119732" y="444499"/>
            <a:ext cx="4641553" cy="2159001"/>
          </a:xfrm>
          <a:prstGeom prst="rect">
            <a:avLst/>
          </a:prstGeom>
        </p:spPr>
        <p:txBody>
          <a:bodyPr/>
          <a:lstStyle/>
          <a:p>
            <a:pPr/>
            <a:r>
              <a:t>Teletype</a:t>
            </a:r>
          </a:p>
        </p:txBody>
      </p:sp>
      <p:sp>
        <p:nvSpPr>
          <p:cNvPr id="100" name="Shape 100"/>
          <p:cNvSpPr/>
          <p:nvPr>
            <p:ph type="body" sz="quarter" idx="1"/>
          </p:nvPr>
        </p:nvSpPr>
        <p:spPr>
          <a:xfrm>
            <a:off x="952500" y="2603500"/>
            <a:ext cx="7186117" cy="3226594"/>
          </a:xfrm>
          <a:prstGeom prst="rect">
            <a:avLst/>
          </a:prstGeom>
        </p:spPr>
        <p:txBody>
          <a:bodyPr/>
          <a:lstStyle/>
          <a:p>
            <a:pPr/>
            <a:r>
              <a:t>Originated in early twentieth century for sending messages of text electronically</a:t>
            </a:r>
          </a:p>
          <a:p>
            <a:pPr/>
            <a:r>
              <a:t>Could also be used to archive text</a:t>
            </a:r>
          </a:p>
        </p:txBody>
      </p:sp>
      <p:pic>
        <p:nvPicPr>
          <p:cNvPr id="101" name="pasted-image.tif"/>
          <p:cNvPicPr>
            <a:picLocks noChangeAspect="1"/>
          </p:cNvPicPr>
          <p:nvPr/>
        </p:nvPicPr>
        <p:blipFill>
          <a:blip r:embed="rId2">
            <a:extLst/>
          </a:blip>
          <a:stretch>
            <a:fillRect/>
          </a:stretch>
        </p:blipFill>
        <p:spPr>
          <a:xfrm>
            <a:off x="5611316" y="838200"/>
            <a:ext cx="2527301" cy="1371600"/>
          </a:xfrm>
          <a:prstGeom prst="rect">
            <a:avLst/>
          </a:prstGeom>
          <a:ln w="12700">
            <a:miter lim="400000"/>
          </a:ln>
        </p:spPr>
      </p:pic>
      <p:pic>
        <p:nvPicPr>
          <p:cNvPr id="102" name="Screen Shot 2014-02-18 at 10.46.46 PM.png"/>
          <p:cNvPicPr>
            <a:picLocks noChangeAspect="1"/>
          </p:cNvPicPr>
          <p:nvPr/>
        </p:nvPicPr>
        <p:blipFill>
          <a:blip r:embed="rId3">
            <a:extLst/>
          </a:blip>
          <a:stretch>
            <a:fillRect/>
          </a:stretch>
        </p:blipFill>
        <p:spPr>
          <a:xfrm>
            <a:off x="8988648" y="768350"/>
            <a:ext cx="3454401" cy="8216900"/>
          </a:xfrm>
          <a:prstGeom prst="rect">
            <a:avLst/>
          </a:prstGeom>
          <a:ln w="12700">
            <a:miter lim="400000"/>
          </a:ln>
        </p:spPr>
      </p:pic>
      <p:pic>
        <p:nvPicPr>
          <p:cNvPr id="103" name="pasted-image.tif"/>
          <p:cNvPicPr>
            <a:picLocks noChangeAspect="1"/>
          </p:cNvPicPr>
          <p:nvPr/>
        </p:nvPicPr>
        <p:blipFill>
          <a:blip r:embed="rId4">
            <a:extLst/>
          </a:blip>
          <a:stretch>
            <a:fillRect/>
          </a:stretch>
        </p:blipFill>
        <p:spPr>
          <a:xfrm>
            <a:off x="709560" y="6360731"/>
            <a:ext cx="2802874" cy="2589925"/>
          </a:xfrm>
          <a:prstGeom prst="rect">
            <a:avLst/>
          </a:prstGeom>
          <a:ln w="12700">
            <a:miter lim="400000"/>
          </a:ln>
        </p:spPr>
      </p:pic>
      <p:pic>
        <p:nvPicPr>
          <p:cNvPr id="104" name="pasted-image.tif"/>
          <p:cNvPicPr>
            <a:picLocks noChangeAspect="1"/>
          </p:cNvPicPr>
          <p:nvPr/>
        </p:nvPicPr>
        <p:blipFill>
          <a:blip r:embed="rId5">
            <a:extLst/>
          </a:blip>
          <a:stretch>
            <a:fillRect/>
          </a:stretch>
        </p:blipFill>
        <p:spPr>
          <a:xfrm>
            <a:off x="4214489" y="6360731"/>
            <a:ext cx="3924128" cy="2589925"/>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06" name="Shape 106"/>
          <p:cNvSpPr/>
          <p:nvPr>
            <p:ph type="title"/>
          </p:nvPr>
        </p:nvSpPr>
        <p:spPr>
          <a:xfrm>
            <a:off x="437232" y="279400"/>
            <a:ext cx="12130336" cy="2159000"/>
          </a:xfrm>
          <a:prstGeom prst="rect">
            <a:avLst/>
          </a:prstGeom>
        </p:spPr>
        <p:txBody>
          <a:bodyPr/>
          <a:lstStyle/>
          <a:p>
            <a:pPr/>
            <a:r>
              <a:t>ASCII</a:t>
            </a:r>
          </a:p>
        </p:txBody>
      </p:sp>
      <p:sp>
        <p:nvSpPr>
          <p:cNvPr id="107" name="Shape 107"/>
          <p:cNvSpPr/>
          <p:nvPr>
            <p:ph type="body" sz="half" idx="1"/>
          </p:nvPr>
        </p:nvSpPr>
        <p:spPr>
          <a:xfrm>
            <a:off x="774700" y="2609850"/>
            <a:ext cx="5190797" cy="6286501"/>
          </a:xfrm>
          <a:prstGeom prst="rect">
            <a:avLst/>
          </a:prstGeom>
        </p:spPr>
        <p:txBody>
          <a:bodyPr/>
          <a:lstStyle/>
          <a:p>
            <a:pPr marL="351155" indent="-351155" defTabSz="461518">
              <a:spcBef>
                <a:spcPts val="2000"/>
              </a:spcBef>
              <a:defRPr sz="2844"/>
            </a:pPr>
            <a:r>
              <a:t>Developed from teleprinter codes</a:t>
            </a:r>
          </a:p>
          <a:p>
            <a:pPr marL="351155" indent="-351155" defTabSz="461518">
              <a:spcBef>
                <a:spcPts val="2000"/>
              </a:spcBef>
              <a:defRPr sz="2844"/>
            </a:pPr>
            <a:r>
              <a:t>7 bits of information: 2</a:t>
            </a:r>
            <a:r>
              <a:rPr baseline="31999" sz="2923"/>
              <a:t>7</a:t>
            </a:r>
            <a:r>
              <a:t> = 128 combinations</a:t>
            </a:r>
          </a:p>
          <a:p>
            <a:pPr marL="351155" indent="-351155" defTabSz="461518">
              <a:spcBef>
                <a:spcPts val="2000"/>
              </a:spcBef>
              <a:defRPr sz="2844"/>
            </a:pPr>
            <a:r>
              <a:t>First commercial usage in 1963</a:t>
            </a:r>
          </a:p>
          <a:p>
            <a:pPr marL="351155" indent="-351155" defTabSz="461518">
              <a:spcBef>
                <a:spcPts val="2000"/>
              </a:spcBef>
              <a:defRPr sz="2844"/>
            </a:pPr>
            <a:r>
              <a:t>Lyndon Johnson mandates that all computers purchased by the government support ASCII</a:t>
            </a:r>
          </a:p>
          <a:p>
            <a:pPr marL="351155" indent="-351155" defTabSz="461518">
              <a:spcBef>
                <a:spcPts val="2000"/>
              </a:spcBef>
              <a:defRPr sz="2844"/>
            </a:pPr>
            <a:r>
              <a:t>Leads to near-universal adoption</a:t>
            </a:r>
          </a:p>
        </p:txBody>
      </p:sp>
      <p:pic>
        <p:nvPicPr>
          <p:cNvPr id="108" name="pasted-image.png"/>
          <p:cNvPicPr>
            <a:picLocks noChangeAspect="1"/>
          </p:cNvPicPr>
          <p:nvPr/>
        </p:nvPicPr>
        <p:blipFill>
          <a:blip r:embed="rId2">
            <a:extLst/>
          </a:blip>
          <a:stretch>
            <a:fillRect/>
          </a:stretch>
        </p:blipFill>
        <p:spPr>
          <a:xfrm>
            <a:off x="6106715" y="2675562"/>
            <a:ext cx="6840271" cy="4969884"/>
          </a:xfrm>
          <a:prstGeom prst="rect">
            <a:avLst/>
          </a:prstGeom>
          <a:ln w="12700">
            <a:miter lim="400000"/>
          </a:ln>
        </p:spPr>
      </p:pic>
      <p:sp>
        <p:nvSpPr>
          <p:cNvPr id="109" name="Shape 109"/>
          <p:cNvSpPr/>
          <p:nvPr/>
        </p:nvSpPr>
        <p:spPr>
          <a:xfrm>
            <a:off x="3420738" y="1797049"/>
            <a:ext cx="6856810" cy="419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457200">
              <a:spcBef>
                <a:spcPts val="600"/>
              </a:spcBef>
              <a:defRPr b="1" sz="2100">
                <a:latin typeface="+mj-lt"/>
                <a:ea typeface="+mj-ea"/>
                <a:cs typeface="+mj-cs"/>
                <a:sym typeface="Helvetica"/>
              </a:defRPr>
            </a:lvl1pPr>
          </a:lstStyle>
          <a:p>
            <a:pPr/>
            <a:r>
              <a:t>American Standard Code for Information Interchange</a:t>
            </a:r>
          </a:p>
        </p:txBody>
      </p:sp>
      <p:sp>
        <p:nvSpPr>
          <p:cNvPr id="110" name="Shape 110"/>
          <p:cNvSpPr/>
          <p:nvPr/>
        </p:nvSpPr>
        <p:spPr>
          <a:xfrm>
            <a:off x="6707870" y="7927057"/>
            <a:ext cx="5637962" cy="990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b="1" sz="2900">
                <a:latin typeface="+mj-lt"/>
                <a:ea typeface="+mj-ea"/>
                <a:cs typeface="+mj-cs"/>
                <a:sym typeface="Helvetica"/>
              </a:defRPr>
            </a:pPr>
            <a:r>
              <a:t>Code for “q”: 1110001</a:t>
            </a:r>
          </a:p>
          <a:p>
            <a:pPr>
              <a:defRPr b="1" sz="2900">
                <a:latin typeface="+mj-lt"/>
                <a:ea typeface="+mj-ea"/>
                <a:cs typeface="+mj-cs"/>
                <a:sym typeface="Helvetica"/>
              </a:defRPr>
            </a:pPr>
            <a:r>
              <a:t>2</a:t>
            </a:r>
            <a:r>
              <a:rPr baseline="31999"/>
              <a:t>6</a:t>
            </a:r>
            <a:r>
              <a:t>+2</a:t>
            </a:r>
            <a:r>
              <a:rPr baseline="31999"/>
              <a:t>5</a:t>
            </a:r>
            <a:r>
              <a:t>+2</a:t>
            </a:r>
            <a:r>
              <a:rPr baseline="31999"/>
              <a:t>4</a:t>
            </a:r>
            <a:r>
              <a:t>+2</a:t>
            </a:r>
            <a:r>
              <a:rPr baseline="31999"/>
              <a:t>0</a:t>
            </a:r>
            <a:r>
              <a:t> = 64+32+16+1 = 113</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12" name="Shape 112"/>
          <p:cNvSpPr/>
          <p:nvPr>
            <p:ph type="title"/>
          </p:nvPr>
        </p:nvSpPr>
        <p:spPr>
          <a:prstGeom prst="rect">
            <a:avLst/>
          </a:prstGeom>
        </p:spPr>
        <p:txBody>
          <a:bodyPr/>
          <a:lstStyle/>
          <a:p>
            <a:pPr/>
            <a:r>
              <a:t>Your computer knows ASCII</a:t>
            </a:r>
          </a:p>
        </p:txBody>
      </p:sp>
      <p:sp>
        <p:nvSpPr>
          <p:cNvPr id="113" name="Shape 113"/>
          <p:cNvSpPr/>
          <p:nvPr/>
        </p:nvSpPr>
        <p:spPr>
          <a:xfrm>
            <a:off x="473689" y="2794000"/>
            <a:ext cx="12057423" cy="5181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Python 2.7.5 (default, Aug 25 2013, 00:04:04) </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[GCC 4.2.1 Compatible Apple LLVM 5.0 (clang-500.0.68)] on darwin</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Type "help", "copyright", "credits" or "license" for more information.</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&gt;&gt;&gt; print ord("q")</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113</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&gt;&gt;&gt; for a in ("C","h","r","i","s"):</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     print ord(a)</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 </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67</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104</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114</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105</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115</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&gt;&gt;&gt; print chr(113)</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q</a:t>
            </a:r>
          </a:p>
        </p:txBody>
      </p:sp>
      <p:sp>
        <p:nvSpPr>
          <p:cNvPr id="114" name="Shape 114"/>
          <p:cNvSpPr/>
          <p:nvPr/>
        </p:nvSpPr>
        <p:spPr>
          <a:xfrm>
            <a:off x="6839764" y="6519217"/>
            <a:ext cx="5866360" cy="2975245"/>
          </a:xfrm>
          <a:prstGeom prst="roundRect">
            <a:avLst>
              <a:gd name="adj" fmla="val 9716"/>
            </a:avLst>
          </a:prstGeom>
          <a:solidFill>
            <a:srgbClr val="FFFBD1"/>
          </a:solidFill>
          <a:ln w="12700">
            <a:solidFill>
              <a:schemeClr val="accent3"/>
            </a:solidFill>
            <a:miter lim="400000"/>
          </a:ln>
          <a:effectLst>
            <a:outerShdw sx="100000" sy="100000" kx="0" ky="0" algn="b" rotWithShape="0" blurRad="38100" dist="25400" dir="540000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b="1" sz="2100">
                <a:latin typeface="+mj-lt"/>
                <a:ea typeface="+mj-ea"/>
                <a:cs typeface="+mj-cs"/>
                <a:sym typeface="Helvetica"/>
              </a:defRPr>
            </a:pPr>
            <a:r>
              <a:t>Notes:</a:t>
            </a:r>
          </a:p>
          <a:p>
            <a:pPr algn="l">
              <a:defRPr b="1" sz="2100">
                <a:latin typeface="+mj-lt"/>
                <a:ea typeface="+mj-ea"/>
                <a:cs typeface="+mj-cs"/>
                <a:sym typeface="Helvetica"/>
              </a:defRPr>
            </a:pPr>
            <a:r>
              <a:t>Python has two commands to convert characters of text to and from ASCII. The </a:t>
            </a:r>
            <a:r>
              <a:t>ord</a:t>
            </a:r>
            <a:r>
              <a:t> command returns the ASCII code of a character. The </a:t>
            </a:r>
            <a:r>
              <a:t>chr</a:t>
            </a:r>
            <a:r>
              <a:t> command converts a character to ASCII. Note that the value of 113 for “q” matches that given in the table on the previous slide.</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16" name="Shape 116"/>
          <p:cNvSpPr/>
          <p:nvPr>
            <p:ph type="title"/>
          </p:nvPr>
        </p:nvSpPr>
        <p:spPr>
          <a:xfrm>
            <a:off x="437232" y="444500"/>
            <a:ext cx="12130336" cy="1179364"/>
          </a:xfrm>
          <a:prstGeom prst="rect">
            <a:avLst/>
          </a:prstGeom>
        </p:spPr>
        <p:txBody>
          <a:bodyPr/>
          <a:lstStyle/>
          <a:p>
            <a:pPr/>
            <a:r>
              <a:t>Unicode</a:t>
            </a:r>
          </a:p>
        </p:txBody>
      </p:sp>
      <p:sp>
        <p:nvSpPr>
          <p:cNvPr id="117" name="Shape 117"/>
          <p:cNvSpPr/>
          <p:nvPr>
            <p:ph type="body" sz="quarter" idx="1"/>
          </p:nvPr>
        </p:nvSpPr>
        <p:spPr>
          <a:xfrm>
            <a:off x="1282700" y="8044557"/>
            <a:ext cx="11099800" cy="1475830"/>
          </a:xfrm>
          <a:prstGeom prst="rect">
            <a:avLst/>
          </a:prstGeom>
        </p:spPr>
        <p:txBody>
          <a:bodyPr/>
          <a:lstStyle>
            <a:lvl1pPr marL="0" indent="0" defTabSz="490727">
              <a:spcBef>
                <a:spcPts val="2100"/>
              </a:spcBef>
              <a:buSzTx/>
              <a:buNone/>
              <a:defRPr sz="3024"/>
            </a:lvl1pPr>
          </a:lstStyle>
          <a:p>
            <a:pPr/>
            <a:r>
              <a:t>Further extensions such as UTF-8, UTF-16, UTF-32 offer near-universal support for international characters (even for languages with large numbers of characters like Chinese)</a:t>
            </a:r>
          </a:p>
        </p:txBody>
      </p:sp>
      <p:pic>
        <p:nvPicPr>
          <p:cNvPr id="118" name="pasted-image.tif"/>
          <p:cNvPicPr>
            <a:picLocks noChangeAspect="1"/>
          </p:cNvPicPr>
          <p:nvPr/>
        </p:nvPicPr>
        <p:blipFill>
          <a:blip r:embed="rId2">
            <a:extLst/>
          </a:blip>
          <a:stretch>
            <a:fillRect/>
          </a:stretch>
        </p:blipFill>
        <p:spPr>
          <a:xfrm>
            <a:off x="2853795" y="1679151"/>
            <a:ext cx="7297210" cy="6145018"/>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20" name="Shape 120"/>
          <p:cNvSpPr/>
          <p:nvPr>
            <p:ph type="title"/>
          </p:nvPr>
        </p:nvSpPr>
        <p:spPr>
          <a:prstGeom prst="rect">
            <a:avLst/>
          </a:prstGeom>
        </p:spPr>
        <p:txBody>
          <a:bodyPr/>
          <a:lstStyle/>
          <a:p>
            <a:pPr/>
            <a:r>
              <a:t>Bit rate</a:t>
            </a:r>
          </a:p>
        </p:txBody>
      </p:sp>
      <p:sp>
        <p:nvSpPr>
          <p:cNvPr id="121" name="Shape 121"/>
          <p:cNvSpPr/>
          <p:nvPr>
            <p:ph type="body" idx="1"/>
          </p:nvPr>
        </p:nvSpPr>
        <p:spPr>
          <a:xfrm>
            <a:off x="952500" y="2609850"/>
            <a:ext cx="11099800" cy="6286500"/>
          </a:xfrm>
          <a:prstGeom prst="rect">
            <a:avLst/>
          </a:prstGeom>
        </p:spPr>
        <p:txBody>
          <a:bodyPr/>
          <a:lstStyle/>
          <a:p>
            <a:pPr/>
            <a:r>
              <a:t>Shannon introduces a channel transmission rate </a:t>
            </a:r>
            <a:r>
              <a:rPr b="0" i="1"/>
              <a:t>C</a:t>
            </a:r>
            <a:r>
              <a:t>, expressed in terms of bits/time</a:t>
            </a:r>
          </a:p>
          <a:p>
            <a:pPr/>
            <a:r>
              <a:t>Teletype printer in video prints approximately five characters per second</a:t>
            </a:r>
          </a:p>
          <a:p>
            <a:pPr/>
            <a:r>
              <a:t>Each character contains five bits of information</a:t>
            </a:r>
          </a:p>
          <a:p>
            <a:pPr/>
            <a:r>
              <a:rPr b="0" i="1"/>
              <a:t>C</a:t>
            </a:r>
            <a:r>
              <a:t> = 25 bits/second</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23" name="Shape 123"/>
          <p:cNvSpPr/>
          <p:nvPr>
            <p:ph type="body" idx="1"/>
          </p:nvPr>
        </p:nvSpPr>
        <p:spPr>
          <a:prstGeom prst="rect">
            <a:avLst/>
          </a:prstGeom>
        </p:spPr>
        <p:txBody>
          <a:bodyPr anchor="t"/>
          <a:lstStyle/>
          <a:p>
            <a:pPr/>
            <a:r>
              <a:t>Alternative method of calculation: how many possible messages in second?</a:t>
            </a:r>
          </a:p>
          <a:p>
            <a:pPr/>
          </a:p>
          <a:p>
            <a:pPr/>
            <a:r>
              <a:t>In </a:t>
            </a:r>
            <a:r>
              <a:rPr b="0" i="1"/>
              <a:t>t</a:t>
            </a:r>
            <a:r>
              <a:t> seconds,</a:t>
            </a:r>
          </a:p>
          <a:p>
            <a:pPr/>
          </a:p>
          <a:p>
            <a:pPr/>
            <a:r>
              <a:t>Channel capacity</a:t>
            </a:r>
          </a:p>
          <a:p>
            <a:pPr/>
          </a:p>
          <a:p>
            <a:pPr/>
            <a:r>
              <a:t>Can this be applied to other codes?</a:t>
            </a:r>
          </a:p>
        </p:txBody>
      </p:sp>
      <p:sp>
        <p:nvSpPr>
          <p:cNvPr id="124" name="Shape 124"/>
          <p:cNvSpPr/>
          <p:nvPr/>
        </p:nvSpPr>
        <p:spPr>
          <a:xfrm>
            <a:off x="437232" y="444500"/>
            <a:ext cx="12130336" cy="2159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lvl1pPr>
              <a:defRPr b="1" sz="6400">
                <a:solidFill>
                  <a:schemeClr val="accent1">
                    <a:hueOff val="47394"/>
                    <a:satOff val="-25753"/>
                    <a:lumOff val="-7544"/>
                  </a:schemeClr>
                </a:solidFill>
                <a:effectLst>
                  <a:outerShdw sx="100000" sy="100000" kx="0" ky="0" algn="b" rotWithShape="0" blurRad="88900" dist="38100" dir="2700000">
                    <a:srgbClr val="000000">
                      <a:alpha val="30000"/>
                    </a:srgbClr>
                  </a:outerShdw>
                </a:effectLst>
                <a:latin typeface="+mj-lt"/>
                <a:ea typeface="+mj-ea"/>
                <a:cs typeface="+mj-cs"/>
                <a:sym typeface="Helvetica"/>
              </a:defRPr>
            </a:lvl1pPr>
          </a:lstStyle>
          <a:p>
            <a:pPr/>
            <a:r>
              <a:t>Bit rate</a:t>
            </a:r>
          </a:p>
        </p:txBody>
      </p:sp>
      <p:pic>
        <p:nvPicPr>
          <p:cNvPr id="125" name="inf23.pdf"/>
          <p:cNvPicPr>
            <a:picLocks noChangeAspect="1"/>
          </p:cNvPicPr>
          <p:nvPr/>
        </p:nvPicPr>
        <p:blipFill>
          <a:blip r:embed="rId2">
            <a:extLst/>
          </a:blip>
          <a:stretch>
            <a:fillRect/>
          </a:stretch>
        </p:blipFill>
        <p:spPr>
          <a:xfrm>
            <a:off x="4715626" y="4019037"/>
            <a:ext cx="3573547" cy="496327"/>
          </a:xfrm>
          <a:prstGeom prst="rect">
            <a:avLst/>
          </a:prstGeom>
          <a:ln w="12700">
            <a:miter lim="400000"/>
          </a:ln>
        </p:spPr>
      </p:pic>
      <p:pic>
        <p:nvPicPr>
          <p:cNvPr id="126" name="inf24.pdf"/>
          <p:cNvPicPr>
            <a:picLocks noChangeAspect="1"/>
          </p:cNvPicPr>
          <p:nvPr/>
        </p:nvPicPr>
        <p:blipFill>
          <a:blip r:embed="rId3">
            <a:extLst/>
          </a:blip>
          <a:stretch>
            <a:fillRect/>
          </a:stretch>
        </p:blipFill>
        <p:spPr>
          <a:xfrm>
            <a:off x="4366412" y="5476894"/>
            <a:ext cx="4271976" cy="552412"/>
          </a:xfrm>
          <a:prstGeom prst="rect">
            <a:avLst/>
          </a:prstGeom>
          <a:ln w="12700">
            <a:miter lim="400000"/>
          </a:ln>
        </p:spPr>
      </p:pic>
      <p:pic>
        <p:nvPicPr>
          <p:cNvPr id="127" name="coe.pdf"/>
          <p:cNvPicPr>
            <a:picLocks noChangeAspect="1"/>
          </p:cNvPicPr>
          <p:nvPr/>
        </p:nvPicPr>
        <p:blipFill>
          <a:blip r:embed="rId4">
            <a:extLst/>
          </a:blip>
          <a:stretch>
            <a:fillRect/>
          </a:stretch>
        </p:blipFill>
        <p:spPr>
          <a:xfrm>
            <a:off x="2702540" y="7207735"/>
            <a:ext cx="7599720" cy="856832"/>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29" name="Shape 129"/>
          <p:cNvSpPr/>
          <p:nvPr>
            <p:ph type="title"/>
          </p:nvPr>
        </p:nvSpPr>
        <p:spPr>
          <a:prstGeom prst="rect">
            <a:avLst/>
          </a:prstGeom>
        </p:spPr>
        <p:txBody>
          <a:bodyPr/>
          <a:lstStyle/>
          <a:p>
            <a:pPr/>
            <a:r>
              <a:t>Morse code</a:t>
            </a:r>
          </a:p>
        </p:txBody>
      </p:sp>
      <p:sp>
        <p:nvSpPr>
          <p:cNvPr id="130" name="Shape 130"/>
          <p:cNvSpPr/>
          <p:nvPr>
            <p:ph type="body" sz="quarter" idx="1"/>
          </p:nvPr>
        </p:nvSpPr>
        <p:spPr>
          <a:xfrm>
            <a:off x="546100" y="2260600"/>
            <a:ext cx="6287592" cy="3421758"/>
          </a:xfrm>
          <a:prstGeom prst="rect">
            <a:avLst/>
          </a:prstGeom>
        </p:spPr>
        <p:txBody>
          <a:bodyPr/>
          <a:lstStyle/>
          <a:p>
            <a:pPr marL="333375" indent="-333375" defTabSz="438150">
              <a:spcBef>
                <a:spcPts val="1900"/>
              </a:spcBef>
              <a:defRPr sz="2700"/>
            </a:pPr>
            <a:r>
              <a:t>Developed in 1836 by artist Samuel Morse, physicist Joseph Henry, and inventor Alfred Vail for sending messages on a telegraph system</a:t>
            </a:r>
          </a:p>
          <a:p>
            <a:pPr marL="333375" indent="-333375" defTabSz="438150">
              <a:spcBef>
                <a:spcPts val="1900"/>
              </a:spcBef>
              <a:defRPr sz="2700"/>
            </a:pPr>
            <a:r>
              <a:t>Still in use today</a:t>
            </a:r>
          </a:p>
          <a:p>
            <a:pPr marL="333375" indent="-333375" defTabSz="438150">
              <a:spcBef>
                <a:spcPts val="1900"/>
              </a:spcBef>
              <a:defRPr sz="2700"/>
            </a:pPr>
            <a:r>
              <a:t>Experienced users can achieve speeds of 40 words per minute</a:t>
            </a:r>
          </a:p>
        </p:txBody>
      </p:sp>
      <p:pic>
        <p:nvPicPr>
          <p:cNvPr id="131" name="pasted-image.tif"/>
          <p:cNvPicPr>
            <a:picLocks noChangeAspect="1"/>
          </p:cNvPicPr>
          <p:nvPr/>
        </p:nvPicPr>
        <p:blipFill>
          <a:blip r:embed="rId2">
            <a:extLst/>
          </a:blip>
          <a:stretch>
            <a:fillRect/>
          </a:stretch>
        </p:blipFill>
        <p:spPr>
          <a:xfrm>
            <a:off x="7177385" y="2070100"/>
            <a:ext cx="5715001" cy="7366000"/>
          </a:xfrm>
          <a:prstGeom prst="rect">
            <a:avLst/>
          </a:prstGeom>
          <a:ln w="12700">
            <a:miter lim="400000"/>
          </a:ln>
        </p:spPr>
      </p:pic>
      <p:pic>
        <p:nvPicPr>
          <p:cNvPr id="132" name="pasted-image.tif"/>
          <p:cNvPicPr>
            <a:picLocks noChangeAspect="1"/>
          </p:cNvPicPr>
          <p:nvPr/>
        </p:nvPicPr>
        <p:blipFill>
          <a:blip r:embed="rId3">
            <a:extLst/>
          </a:blip>
          <a:stretch>
            <a:fillRect/>
          </a:stretch>
        </p:blipFill>
        <p:spPr>
          <a:xfrm>
            <a:off x="1531540" y="6123731"/>
            <a:ext cx="4064001" cy="3048001"/>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34" name="Shape 134"/>
          <p:cNvSpPr/>
          <p:nvPr>
            <p:ph type="title"/>
          </p:nvPr>
        </p:nvSpPr>
        <p:spPr>
          <a:prstGeom prst="rect">
            <a:avLst/>
          </a:prstGeom>
        </p:spPr>
        <p:txBody>
          <a:bodyPr/>
          <a:lstStyle>
            <a:lvl1pPr>
              <a:defRPr sz="5400"/>
            </a:lvl1pPr>
          </a:lstStyle>
          <a:p>
            <a:pPr/>
            <a:r>
              <a:t>Morse code design: letter frequencies</a:t>
            </a:r>
          </a:p>
        </p:txBody>
      </p:sp>
      <p:sp>
        <p:nvSpPr>
          <p:cNvPr id="135" name="Shape 135"/>
          <p:cNvSpPr/>
          <p:nvPr>
            <p:ph type="body" sz="half" idx="1"/>
          </p:nvPr>
        </p:nvSpPr>
        <p:spPr>
          <a:xfrm>
            <a:off x="952500" y="2114649"/>
            <a:ext cx="11099800" cy="4028778"/>
          </a:xfrm>
          <a:prstGeom prst="rect">
            <a:avLst/>
          </a:prstGeom>
        </p:spPr>
        <p:txBody>
          <a:bodyPr/>
          <a:lstStyle/>
          <a:p>
            <a:pPr marL="373379" indent="-373379" defTabSz="490727">
              <a:spcBef>
                <a:spcPts val="2100"/>
              </a:spcBef>
              <a:defRPr sz="3024"/>
            </a:pPr>
            <a:r>
              <a:t>Letter frequencies</a:t>
            </a:r>
          </a:p>
          <a:p>
            <a:pPr marL="373379" indent="-373379" defTabSz="490727">
              <a:spcBef>
                <a:spcPts val="2100"/>
              </a:spcBef>
              <a:defRPr sz="3024"/>
            </a:pPr>
          </a:p>
          <a:p>
            <a:pPr marL="373379" indent="-373379" defTabSz="490727">
              <a:spcBef>
                <a:spcPts val="2100"/>
              </a:spcBef>
              <a:defRPr sz="3024"/>
            </a:pPr>
          </a:p>
          <a:p>
            <a:pPr marL="373379" indent="-373379" defTabSz="490727">
              <a:spcBef>
                <a:spcPts val="2100"/>
              </a:spcBef>
              <a:defRPr sz="3024"/>
            </a:pPr>
          </a:p>
          <a:p>
            <a:pPr marL="373379" indent="-373379" defTabSz="490727">
              <a:spcBef>
                <a:spcPts val="2100"/>
              </a:spcBef>
              <a:defRPr sz="3024"/>
            </a:pPr>
          </a:p>
          <a:p>
            <a:pPr marL="373379" indent="-373379" defTabSz="490727">
              <a:spcBef>
                <a:spcPts val="2100"/>
              </a:spcBef>
              <a:defRPr sz="3024"/>
            </a:pPr>
            <a:r>
              <a:t>Most common letters have short codes</a:t>
            </a:r>
          </a:p>
        </p:txBody>
      </p:sp>
      <p:sp>
        <p:nvSpPr>
          <p:cNvPr id="136" name="Shape 136"/>
          <p:cNvSpPr/>
          <p:nvPr/>
        </p:nvSpPr>
        <p:spPr>
          <a:xfrm>
            <a:off x="1904875" y="2935237"/>
            <a:ext cx="9195050" cy="2387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457200">
              <a:spcBef>
                <a:spcPts val="1200"/>
              </a:spcBef>
              <a:defRPr b="1" sz="3200">
                <a:latin typeface="+mj-lt"/>
                <a:ea typeface="+mj-ea"/>
                <a:cs typeface="+mj-cs"/>
                <a:sym typeface="Helvetica"/>
              </a:defRPr>
            </a:pPr>
            <a:r>
              <a:rPr sz="2700"/>
              <a:t>E 11.28%, T 8.46%, A 7.52%, I 7.52%, N 7.52%, O 7.52%,</a:t>
            </a:r>
            <a:br>
              <a:rPr sz="2700"/>
            </a:br>
            <a:r>
              <a:rPr sz="2700"/>
              <a:t>H 6.02%, R 5.83%, D 4.14%, L 3.76%, U 3.20%, C 2.82%,</a:t>
            </a:r>
            <a:br>
              <a:rPr sz="2700"/>
            </a:br>
            <a:r>
              <a:rPr sz="2700"/>
              <a:t>M 2.82%, F 2.35%, W 1.88%, Y 1.88%, G 1.60%, P 1.60%, B 1.50%, V 1.13%, K 0.75%, Q 0.47%, J 0.38%, X 0.38%,</a:t>
            </a:r>
            <a:r>
              <a:rPr sz="700"/>
              <a:t> </a:t>
            </a:r>
            <a:r>
              <a:rPr sz="2700"/>
              <a:t>Z 0.19%</a:t>
            </a:r>
            <a:endParaRPr sz="700"/>
          </a:p>
        </p:txBody>
      </p:sp>
      <p:sp>
        <p:nvSpPr>
          <p:cNvPr id="137" name="Shape 137"/>
          <p:cNvSpPr/>
          <p:nvPr/>
        </p:nvSpPr>
        <p:spPr>
          <a:xfrm>
            <a:off x="6314933" y="6540500"/>
            <a:ext cx="318952" cy="990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5800">
                <a:solidFill>
                  <a:schemeClr val="accent6"/>
                </a:solidFill>
                <a:latin typeface="+mj-lt"/>
                <a:ea typeface="+mj-ea"/>
                <a:cs typeface="+mj-cs"/>
                <a:sym typeface="Helvetica"/>
              </a:defRPr>
            </a:lvl1pPr>
          </a:lstStyle>
          <a:p>
            <a:pPr/>
            <a:r>
              <a:t>I</a:t>
            </a:r>
          </a:p>
        </p:txBody>
      </p:sp>
      <p:sp>
        <p:nvSpPr>
          <p:cNvPr id="138" name="Shape 138"/>
          <p:cNvSpPr/>
          <p:nvPr/>
        </p:nvSpPr>
        <p:spPr>
          <a:xfrm>
            <a:off x="4338279" y="6540500"/>
            <a:ext cx="646250" cy="990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5800">
                <a:solidFill>
                  <a:schemeClr val="accent6"/>
                </a:solidFill>
                <a:latin typeface="+mj-lt"/>
                <a:ea typeface="+mj-ea"/>
                <a:cs typeface="+mj-cs"/>
                <a:sym typeface="Helvetica"/>
              </a:defRPr>
            </a:lvl1pPr>
          </a:lstStyle>
          <a:p>
            <a:pPr/>
            <a:r>
              <a:t>A</a:t>
            </a:r>
          </a:p>
        </p:txBody>
      </p:sp>
      <p:sp>
        <p:nvSpPr>
          <p:cNvPr id="139" name="Shape 139"/>
          <p:cNvSpPr/>
          <p:nvPr/>
        </p:nvSpPr>
        <p:spPr>
          <a:xfrm>
            <a:off x="2566276" y="6540500"/>
            <a:ext cx="564245" cy="990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5800">
                <a:solidFill>
                  <a:schemeClr val="accent6"/>
                </a:solidFill>
                <a:latin typeface="+mj-lt"/>
                <a:ea typeface="+mj-ea"/>
                <a:cs typeface="+mj-cs"/>
                <a:sym typeface="Helvetica"/>
              </a:defRPr>
            </a:lvl1pPr>
          </a:lstStyle>
          <a:p>
            <a:pPr/>
            <a:r>
              <a:t>T</a:t>
            </a:r>
          </a:p>
        </p:txBody>
      </p:sp>
      <p:sp>
        <p:nvSpPr>
          <p:cNvPr id="140" name="Shape 140"/>
          <p:cNvSpPr/>
          <p:nvPr/>
        </p:nvSpPr>
        <p:spPr>
          <a:xfrm>
            <a:off x="732590" y="6540500"/>
            <a:ext cx="605607" cy="990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5800">
                <a:solidFill>
                  <a:schemeClr val="accent6"/>
                </a:solidFill>
                <a:latin typeface="+mj-lt"/>
                <a:ea typeface="+mj-ea"/>
                <a:cs typeface="+mj-cs"/>
                <a:sym typeface="Helvetica"/>
              </a:defRPr>
            </a:lvl1pPr>
          </a:lstStyle>
          <a:p>
            <a:pPr/>
            <a:r>
              <a:t>E</a:t>
            </a:r>
          </a:p>
        </p:txBody>
      </p:sp>
      <p:sp>
        <p:nvSpPr>
          <p:cNvPr id="141" name="Shape 141"/>
          <p:cNvSpPr/>
          <p:nvPr/>
        </p:nvSpPr>
        <p:spPr>
          <a:xfrm>
            <a:off x="7964289" y="6540500"/>
            <a:ext cx="646250" cy="990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5800">
                <a:solidFill>
                  <a:schemeClr val="accent6"/>
                </a:solidFill>
                <a:latin typeface="+mj-lt"/>
                <a:ea typeface="+mj-ea"/>
                <a:cs typeface="+mj-cs"/>
                <a:sym typeface="Helvetica"/>
              </a:defRPr>
            </a:lvl1pPr>
          </a:lstStyle>
          <a:p>
            <a:pPr/>
            <a:r>
              <a:t>N</a:t>
            </a:r>
          </a:p>
        </p:txBody>
      </p:sp>
      <p:sp>
        <p:nvSpPr>
          <p:cNvPr id="142" name="Shape 142"/>
          <p:cNvSpPr/>
          <p:nvPr/>
        </p:nvSpPr>
        <p:spPr>
          <a:xfrm>
            <a:off x="9756794" y="6540500"/>
            <a:ext cx="687252" cy="990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5800">
                <a:solidFill>
                  <a:schemeClr val="accent6"/>
                </a:solidFill>
                <a:latin typeface="+mj-lt"/>
                <a:ea typeface="+mj-ea"/>
                <a:cs typeface="+mj-cs"/>
                <a:sym typeface="Helvetica"/>
              </a:defRPr>
            </a:lvl1pPr>
          </a:lstStyle>
          <a:p>
            <a:pPr/>
            <a:r>
              <a:t>O</a:t>
            </a:r>
          </a:p>
        </p:txBody>
      </p:sp>
      <p:sp>
        <p:nvSpPr>
          <p:cNvPr id="143" name="Shape 143"/>
          <p:cNvSpPr/>
          <p:nvPr/>
        </p:nvSpPr>
        <p:spPr>
          <a:xfrm>
            <a:off x="11590300" y="6540500"/>
            <a:ext cx="646250" cy="990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5800">
                <a:solidFill>
                  <a:schemeClr val="accent6"/>
                </a:solidFill>
                <a:latin typeface="+mj-lt"/>
                <a:ea typeface="+mj-ea"/>
                <a:cs typeface="+mj-cs"/>
                <a:sym typeface="Helvetica"/>
              </a:defRPr>
            </a:lvl1pPr>
          </a:lstStyle>
          <a:p>
            <a:pPr/>
            <a:r>
              <a:t>H</a:t>
            </a:r>
          </a:p>
        </p:txBody>
      </p:sp>
      <p:sp>
        <p:nvSpPr>
          <p:cNvPr id="144" name="Shape 144"/>
          <p:cNvSpPr/>
          <p:nvPr/>
        </p:nvSpPr>
        <p:spPr>
          <a:xfrm>
            <a:off x="879446" y="7588250"/>
            <a:ext cx="311895" cy="9525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5600">
                <a:latin typeface="+mj-lt"/>
                <a:ea typeface="+mj-ea"/>
                <a:cs typeface="+mj-cs"/>
                <a:sym typeface="Helvetica"/>
              </a:defRPr>
            </a:lvl1pPr>
          </a:lstStyle>
          <a:p>
            <a:pPr/>
            <a:r>
              <a:t>·</a:t>
            </a:r>
          </a:p>
        </p:txBody>
      </p:sp>
      <p:sp>
        <p:nvSpPr>
          <p:cNvPr id="145" name="Shape 145"/>
          <p:cNvSpPr/>
          <p:nvPr/>
        </p:nvSpPr>
        <p:spPr>
          <a:xfrm>
            <a:off x="2672831" y="7588250"/>
            <a:ext cx="351136" cy="9525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5600">
                <a:latin typeface="+mj-lt"/>
                <a:ea typeface="+mj-ea"/>
                <a:cs typeface="+mj-cs"/>
                <a:sym typeface="Helvetica"/>
              </a:defRPr>
            </a:lvl1pPr>
          </a:lstStyle>
          <a:p>
            <a:pPr/>
            <a:r>
              <a:t>-</a:t>
            </a:r>
          </a:p>
        </p:txBody>
      </p:sp>
      <p:sp>
        <p:nvSpPr>
          <p:cNvPr id="146" name="Shape 146"/>
          <p:cNvSpPr/>
          <p:nvPr/>
        </p:nvSpPr>
        <p:spPr>
          <a:xfrm>
            <a:off x="4390814" y="7588250"/>
            <a:ext cx="548730" cy="9525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5600">
                <a:latin typeface="+mj-lt"/>
                <a:ea typeface="+mj-ea"/>
                <a:cs typeface="+mj-cs"/>
                <a:sym typeface="Helvetica"/>
              </a:defRPr>
            </a:lvl1pPr>
          </a:lstStyle>
          <a:p>
            <a:pPr/>
            <a:r>
              <a:t>·-</a:t>
            </a:r>
          </a:p>
        </p:txBody>
      </p:sp>
      <p:sp>
        <p:nvSpPr>
          <p:cNvPr id="147" name="Shape 147"/>
          <p:cNvSpPr/>
          <p:nvPr/>
        </p:nvSpPr>
        <p:spPr>
          <a:xfrm>
            <a:off x="6208431" y="7588250"/>
            <a:ext cx="509490" cy="9525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5600">
                <a:latin typeface="+mj-lt"/>
                <a:ea typeface="+mj-ea"/>
                <a:cs typeface="+mj-cs"/>
                <a:sym typeface="Helvetica"/>
              </a:defRPr>
            </a:lvl1pPr>
          </a:lstStyle>
          <a:p>
            <a:pPr/>
            <a:r>
              <a:t>··</a:t>
            </a:r>
          </a:p>
        </p:txBody>
      </p:sp>
      <p:sp>
        <p:nvSpPr>
          <p:cNvPr id="148" name="Shape 148"/>
          <p:cNvSpPr/>
          <p:nvPr/>
        </p:nvSpPr>
        <p:spPr>
          <a:xfrm>
            <a:off x="8001817" y="7588250"/>
            <a:ext cx="548730" cy="9525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5600">
                <a:latin typeface="+mj-lt"/>
                <a:ea typeface="+mj-ea"/>
                <a:cs typeface="+mj-cs"/>
                <a:sym typeface="Helvetica"/>
              </a:defRPr>
            </a:lvl1pPr>
          </a:lstStyle>
          <a:p>
            <a:pPr/>
            <a:r>
              <a:t>-·</a:t>
            </a:r>
          </a:p>
        </p:txBody>
      </p:sp>
      <p:sp>
        <p:nvSpPr>
          <p:cNvPr id="149" name="Shape 149"/>
          <p:cNvSpPr/>
          <p:nvPr/>
        </p:nvSpPr>
        <p:spPr>
          <a:xfrm>
            <a:off x="9688017" y="7588250"/>
            <a:ext cx="824806" cy="9525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5600">
                <a:latin typeface="+mj-lt"/>
                <a:ea typeface="+mj-ea"/>
                <a:cs typeface="+mj-cs"/>
                <a:sym typeface="Helvetica"/>
              </a:defRPr>
            </a:lvl1pPr>
          </a:lstStyle>
          <a:p>
            <a:pPr/>
            <a:r>
              <a:t>---</a:t>
            </a:r>
          </a:p>
        </p:txBody>
      </p:sp>
      <p:sp>
        <p:nvSpPr>
          <p:cNvPr id="150" name="Shape 150"/>
          <p:cNvSpPr/>
          <p:nvPr/>
        </p:nvSpPr>
        <p:spPr>
          <a:xfrm>
            <a:off x="11461086" y="7588250"/>
            <a:ext cx="904678" cy="9525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5600">
                <a:latin typeface="+mj-lt"/>
                <a:ea typeface="+mj-ea"/>
                <a:cs typeface="+mj-cs"/>
                <a:sym typeface="Helvetica"/>
              </a:defRPr>
            </a:lvl1pPr>
          </a:lstStyle>
          <a:p>
            <a:pPr/>
            <a:r>
              <a:t>····</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52" name="Shape 152"/>
          <p:cNvSpPr/>
          <p:nvPr>
            <p:ph type="title"/>
          </p:nvPr>
        </p:nvSpPr>
        <p:spPr>
          <a:prstGeom prst="rect">
            <a:avLst/>
          </a:prstGeom>
        </p:spPr>
        <p:txBody>
          <a:bodyPr/>
          <a:lstStyle/>
          <a:p>
            <a:pPr/>
            <a:r>
              <a:t>Timing specifics</a:t>
            </a:r>
          </a:p>
        </p:txBody>
      </p:sp>
      <p:sp>
        <p:nvSpPr>
          <p:cNvPr id="153" name="Shape 153"/>
          <p:cNvSpPr/>
          <p:nvPr>
            <p:ph type="body" idx="1"/>
          </p:nvPr>
        </p:nvSpPr>
        <p:spPr>
          <a:xfrm>
            <a:off x="952500" y="2609850"/>
            <a:ext cx="11099800" cy="6286500"/>
          </a:xfrm>
          <a:prstGeom prst="rect">
            <a:avLst/>
          </a:prstGeom>
        </p:spPr>
        <p:txBody>
          <a:bodyPr/>
          <a:lstStyle/>
          <a:p>
            <a:pPr/>
            <a:r>
              <a:t>Dot = line closure for one unit of time and then line open for one unit of time</a:t>
            </a:r>
          </a:p>
          <a:p>
            <a:pPr/>
            <a:r>
              <a:t>Dash = line closure for three units of time and line open for one unit of time</a:t>
            </a:r>
          </a:p>
          <a:p>
            <a:pPr/>
            <a:r>
              <a:t>Letter Space = line open for three units of time</a:t>
            </a:r>
          </a:p>
          <a:p>
            <a:pPr/>
            <a:r>
              <a:t>Word Space = line open for six units of time</a:t>
            </a:r>
          </a:p>
          <a:p>
            <a:pPr/>
            <a:r>
              <a:t>Additional Rule: cannot have two successive spaces</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55" name="Shape 155"/>
          <p:cNvSpPr/>
          <p:nvPr>
            <p:ph type="title"/>
          </p:nvPr>
        </p:nvSpPr>
        <p:spPr>
          <a:prstGeom prst="rect">
            <a:avLst/>
          </a:prstGeom>
        </p:spPr>
        <p:txBody>
          <a:bodyPr/>
          <a:lstStyle/>
          <a:p>
            <a:pPr/>
            <a:r>
              <a:t>Possible signals</a:t>
            </a:r>
          </a:p>
        </p:txBody>
      </p:sp>
      <p:sp>
        <p:nvSpPr>
          <p:cNvPr id="156" name="Shape 156"/>
          <p:cNvSpPr/>
          <p:nvPr>
            <p:ph type="body" idx="1"/>
          </p:nvPr>
        </p:nvSpPr>
        <p:spPr>
          <a:prstGeom prst="rect">
            <a:avLst/>
          </a:prstGeom>
        </p:spPr>
        <p:txBody>
          <a:bodyPr/>
          <a:lstStyle/>
          <a:p>
            <a:pPr/>
            <a:r>
              <a:t>Dot = 2 time units</a:t>
            </a:r>
          </a:p>
          <a:p>
            <a:pPr/>
            <a:r>
              <a:t>Dash = 4 time units</a:t>
            </a:r>
          </a:p>
          <a:p>
            <a:pPr/>
            <a:r>
              <a:t>Dot-space = 5 time units</a:t>
            </a:r>
          </a:p>
          <a:p>
            <a:pPr/>
            <a:r>
              <a:t>Dash-space = 7 time units</a:t>
            </a:r>
          </a:p>
          <a:p>
            <a:pPr/>
            <a:r>
              <a:t>Dot-wordspace = 8 time units</a:t>
            </a:r>
          </a:p>
          <a:p>
            <a:pPr/>
            <a:r>
              <a:t>Dash-wordspace = 10 time units</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58" name="Shape 158"/>
          <p:cNvSpPr/>
          <p:nvPr>
            <p:ph type="body" idx="13"/>
          </p:nvPr>
        </p:nvSpPr>
        <p:spPr>
          <a:prstGeom prst="rect">
            <a:avLst/>
          </a:prstGeom>
        </p:spPr>
        <p:txBody>
          <a:bodyPr/>
          <a:lstStyle/>
          <a:p>
            <a:pPr/>
            <a:r>
              <a:t>Total number of signals transmitted in unit time</a:t>
            </a:r>
          </a:p>
        </p:txBody>
      </p:sp>
      <p:sp>
        <p:nvSpPr>
          <p:cNvPr id="159" name="Shape 159"/>
          <p:cNvSpPr/>
          <p:nvPr/>
        </p:nvSpPr>
        <p:spPr>
          <a:xfrm>
            <a:off x="450304" y="2838450"/>
            <a:ext cx="12104192"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b="1">
                <a:latin typeface="+mj-lt"/>
                <a:ea typeface="+mj-ea"/>
                <a:cs typeface="+mj-cs"/>
                <a:sym typeface="Helvetica"/>
              </a:defRPr>
            </a:pPr>
            <a:r>
              <a:t>Let </a:t>
            </a:r>
            <a:r>
              <a:rPr b="0" i="1"/>
              <a:t>N</a:t>
            </a:r>
            <a:r>
              <a:rPr b="0"/>
              <a:t>(</a:t>
            </a:r>
            <a:r>
              <a:rPr b="0" i="1"/>
              <a:t>t</a:t>
            </a:r>
            <a:r>
              <a:rPr b="0"/>
              <a:t>)</a:t>
            </a:r>
            <a:r>
              <a:t> be the number of signals that can form in time </a:t>
            </a:r>
            <a:r>
              <a:rPr b="0" i="1"/>
              <a:t>t</a:t>
            </a:r>
          </a:p>
        </p:txBody>
      </p:sp>
      <p:sp>
        <p:nvSpPr>
          <p:cNvPr id="160" name="Shape 160"/>
          <p:cNvSpPr/>
          <p:nvPr/>
        </p:nvSpPr>
        <p:spPr>
          <a:xfrm>
            <a:off x="847979" y="3333749"/>
            <a:ext cx="11308843" cy="50165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b="1">
                <a:latin typeface="+mj-lt"/>
                <a:ea typeface="+mj-ea"/>
                <a:cs typeface="+mj-cs"/>
                <a:sym typeface="Helvetica"/>
              </a:defRPr>
            </a:pPr>
            <a:r>
              <a:rPr b="0" i="1"/>
              <a:t>N</a:t>
            </a:r>
            <a:r>
              <a:rPr b="0"/>
              <a:t>(</a:t>
            </a:r>
            <a:r>
              <a:rPr b="0" i="1"/>
              <a:t>t</a:t>
            </a:r>
            <a:r>
              <a:rPr b="0"/>
              <a:t>)</a:t>
            </a:r>
            <a:r>
              <a:t> </a:t>
            </a:r>
            <a:r>
              <a:rPr b="0"/>
              <a:t>=</a:t>
            </a:r>
            <a:r>
              <a:t> number of signals ending in a “dot”</a:t>
            </a:r>
          </a:p>
          <a:p>
            <a:pPr lvl="3" marL="1778000" indent="-444500" algn="l">
              <a:buSzPct val="75000"/>
              <a:buChar char="+"/>
              <a:defRPr b="1">
                <a:latin typeface="+mj-lt"/>
                <a:ea typeface="+mj-ea"/>
                <a:cs typeface="+mj-cs"/>
                <a:sym typeface="Helvetica"/>
              </a:defRPr>
            </a:pPr>
            <a:r>
              <a:t>number of signals ending in a “dash”</a:t>
            </a:r>
          </a:p>
          <a:p>
            <a:pPr lvl="3" marL="1778000" indent="-444500" algn="l">
              <a:buSzPct val="75000"/>
              <a:buChar char="+"/>
              <a:defRPr b="1">
                <a:latin typeface="+mj-lt"/>
                <a:ea typeface="+mj-ea"/>
                <a:cs typeface="+mj-cs"/>
                <a:sym typeface="Helvetica"/>
              </a:defRPr>
            </a:pPr>
            <a:r>
              <a:t>number of signals ending in a “dash-space”</a:t>
            </a:r>
          </a:p>
          <a:p>
            <a:pPr lvl="3" marL="1778000" indent="-444500" algn="l">
              <a:buSzPct val="75000"/>
              <a:buChar char="+"/>
              <a:defRPr b="1">
                <a:latin typeface="+mj-lt"/>
                <a:ea typeface="+mj-ea"/>
                <a:cs typeface="+mj-cs"/>
                <a:sym typeface="Helvetica"/>
              </a:defRPr>
            </a:pPr>
            <a:r>
              <a:t>number of signals ending in a “dot-space”</a:t>
            </a:r>
          </a:p>
          <a:p>
            <a:pPr lvl="3" marL="1778000" indent="-444500" algn="l">
              <a:buSzPct val="75000"/>
              <a:buChar char="+"/>
              <a:defRPr b="1">
                <a:latin typeface="+mj-lt"/>
                <a:ea typeface="+mj-ea"/>
                <a:cs typeface="+mj-cs"/>
                <a:sym typeface="Helvetica"/>
              </a:defRPr>
            </a:pPr>
            <a:r>
              <a:t>number of signals ending in a “dot-wordspace”</a:t>
            </a:r>
          </a:p>
          <a:p>
            <a:pPr lvl="3" marL="1778000" indent="-444500" algn="l">
              <a:buSzPct val="75000"/>
              <a:buChar char="+"/>
              <a:defRPr b="1">
                <a:latin typeface="+mj-lt"/>
                <a:ea typeface="+mj-ea"/>
                <a:cs typeface="+mj-cs"/>
                <a:sym typeface="Helvetica"/>
              </a:defRPr>
            </a:pPr>
            <a:r>
              <a:t>number of signals ending in a “dash-wordspace”</a:t>
            </a:r>
          </a:p>
        </p:txBody>
      </p:sp>
      <p:pic>
        <p:nvPicPr>
          <p:cNvPr id="161" name="inf7.pdf"/>
          <p:cNvPicPr>
            <a:picLocks noChangeAspect="1"/>
          </p:cNvPicPr>
          <p:nvPr/>
        </p:nvPicPr>
        <p:blipFill>
          <a:blip r:embed="rId2">
            <a:extLst/>
          </a:blip>
          <a:stretch>
            <a:fillRect/>
          </a:stretch>
        </p:blipFill>
        <p:spPr>
          <a:xfrm>
            <a:off x="1082014" y="8204555"/>
            <a:ext cx="10840772" cy="382963"/>
          </a:xfrm>
          <a:prstGeom prst="rect">
            <a:avLst/>
          </a:prstGeom>
          <a:ln w="12700">
            <a:miter lim="400000"/>
          </a:ln>
        </p:spPr>
      </p:pic>
      <p:sp>
        <p:nvSpPr>
          <p:cNvPr id="162" name="Shape 162"/>
          <p:cNvSpPr/>
          <p:nvPr/>
        </p:nvSpPr>
        <p:spPr>
          <a:xfrm>
            <a:off x="8129847" y="8883650"/>
            <a:ext cx="3526906" cy="495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2600">
                <a:solidFill>
                  <a:schemeClr val="accent5"/>
                </a:solidFill>
                <a:latin typeface="+mj-lt"/>
                <a:ea typeface="+mj-ea"/>
                <a:cs typeface="+mj-cs"/>
                <a:sym typeface="Helvetica"/>
              </a:defRPr>
            </a:lvl1pPr>
          </a:lstStyle>
          <a:p>
            <a:pPr/>
            <a:r>
              <a:t>“Difference equation”</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64" name="Shape 164"/>
          <p:cNvSpPr/>
          <p:nvPr>
            <p:ph type="title"/>
          </p:nvPr>
        </p:nvSpPr>
        <p:spPr>
          <a:xfrm>
            <a:off x="437232" y="444500"/>
            <a:ext cx="12130336" cy="1637408"/>
          </a:xfrm>
          <a:prstGeom prst="rect">
            <a:avLst/>
          </a:prstGeom>
        </p:spPr>
        <p:txBody>
          <a:bodyPr/>
          <a:lstStyle>
            <a:lvl1pPr defTabSz="560831">
              <a:defRPr sz="5376">
                <a:effectLst>
                  <a:outerShdw sx="100000" sy="100000" kx="0" ky="0" algn="b" rotWithShape="0" blurRad="85344" dist="36576" dir="2700000">
                    <a:srgbClr val="000000">
                      <a:alpha val="30000"/>
                    </a:srgbClr>
                  </a:outerShdw>
                </a:effectLst>
              </a:defRPr>
            </a:lvl1pPr>
          </a:lstStyle>
          <a:p>
            <a:pPr/>
            <a:r>
              <a:t>Aside: Fibonacci difference equation</a:t>
            </a:r>
          </a:p>
        </p:txBody>
      </p:sp>
      <p:sp>
        <p:nvSpPr>
          <p:cNvPr id="165" name="Shape 165"/>
          <p:cNvSpPr/>
          <p:nvPr>
            <p:ph type="body" idx="1"/>
          </p:nvPr>
        </p:nvSpPr>
        <p:spPr>
          <a:xfrm>
            <a:off x="889000" y="2495550"/>
            <a:ext cx="8773815" cy="6286500"/>
          </a:xfrm>
          <a:prstGeom prst="rect">
            <a:avLst/>
          </a:prstGeom>
        </p:spPr>
        <p:txBody>
          <a:bodyPr/>
          <a:lstStyle/>
          <a:p>
            <a:pPr/>
            <a:r>
              <a:t>Sequence of numbers where each is the sum of the previous two</a:t>
            </a:r>
          </a:p>
          <a:p>
            <a:pPr/>
          </a:p>
          <a:p>
            <a:pPr/>
            <a:r>
              <a:t>Mathematically, let </a:t>
            </a:r>
            <a:r>
              <a:rPr b="0" i="1"/>
              <a:t>F</a:t>
            </a:r>
            <a:r>
              <a:rPr b="0"/>
              <a:t>(</a:t>
            </a:r>
            <a:r>
              <a:rPr b="0" i="1"/>
              <a:t>n</a:t>
            </a:r>
            <a:r>
              <a:rPr b="0"/>
              <a:t>)</a:t>
            </a:r>
            <a:r>
              <a:t> be the nth Fibonacci number</a:t>
            </a:r>
          </a:p>
          <a:p>
            <a:pPr/>
          </a:p>
          <a:p>
            <a:pPr/>
            <a:r>
              <a:t>Try solution</a:t>
            </a:r>
          </a:p>
        </p:txBody>
      </p:sp>
      <p:pic>
        <p:nvPicPr>
          <p:cNvPr id="166" name="pasted-image.png"/>
          <p:cNvPicPr>
            <a:picLocks noChangeAspect="1"/>
          </p:cNvPicPr>
          <p:nvPr/>
        </p:nvPicPr>
        <p:blipFill>
          <a:blip r:embed="rId2">
            <a:extLst/>
          </a:blip>
          <a:stretch>
            <a:fillRect/>
          </a:stretch>
        </p:blipFill>
        <p:spPr>
          <a:xfrm>
            <a:off x="10013106" y="2067917"/>
            <a:ext cx="2794001" cy="3771901"/>
          </a:xfrm>
          <a:prstGeom prst="rect">
            <a:avLst/>
          </a:prstGeom>
          <a:ln w="12700">
            <a:miter lim="400000"/>
          </a:ln>
        </p:spPr>
      </p:pic>
      <p:sp>
        <p:nvSpPr>
          <p:cNvPr id="167" name="Shape 167"/>
          <p:cNvSpPr/>
          <p:nvPr/>
        </p:nvSpPr>
        <p:spPr>
          <a:xfrm>
            <a:off x="10286665" y="5892799"/>
            <a:ext cx="2246884" cy="711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b="1" sz="2000">
                <a:latin typeface="+mj-lt"/>
                <a:ea typeface="+mj-ea"/>
                <a:cs typeface="+mj-cs"/>
                <a:sym typeface="Helvetica"/>
              </a:defRPr>
            </a:pPr>
            <a:r>
              <a:t>Fibonacci</a:t>
            </a:r>
          </a:p>
          <a:p>
            <a:pPr>
              <a:defRPr b="1" sz="2000">
                <a:latin typeface="+mj-lt"/>
                <a:ea typeface="+mj-ea"/>
                <a:cs typeface="+mj-cs"/>
                <a:sym typeface="Helvetica"/>
              </a:defRPr>
            </a:pPr>
            <a:r>
              <a:t>(c. 1170 – c. 1250)</a:t>
            </a:r>
          </a:p>
        </p:txBody>
      </p:sp>
      <p:sp>
        <p:nvSpPr>
          <p:cNvPr id="168" name="Shape 168"/>
          <p:cNvSpPr/>
          <p:nvPr/>
        </p:nvSpPr>
        <p:spPr>
          <a:xfrm>
            <a:off x="2257338" y="4416025"/>
            <a:ext cx="6037139"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mj-lt"/>
                <a:ea typeface="+mj-ea"/>
                <a:cs typeface="+mj-cs"/>
                <a:sym typeface="Helvetica"/>
              </a:defRPr>
            </a:lvl1pPr>
          </a:lstStyle>
          <a:p>
            <a:pPr/>
            <a:r>
              <a:t>1,1,2,3,5,8,13,21,34,55,89,…</a:t>
            </a:r>
          </a:p>
        </p:txBody>
      </p:sp>
      <p:pic>
        <p:nvPicPr>
          <p:cNvPr id="169" name="inf1.pdf"/>
          <p:cNvPicPr>
            <a:picLocks noChangeAspect="1"/>
          </p:cNvPicPr>
          <p:nvPr/>
        </p:nvPicPr>
        <p:blipFill>
          <a:blip r:embed="rId3">
            <a:extLst/>
          </a:blip>
          <a:stretch>
            <a:fillRect/>
          </a:stretch>
        </p:blipFill>
        <p:spPr>
          <a:xfrm>
            <a:off x="6229598" y="7324363"/>
            <a:ext cx="885910" cy="319913"/>
          </a:xfrm>
          <a:prstGeom prst="rect">
            <a:avLst/>
          </a:prstGeom>
          <a:ln w="12700">
            <a:miter lim="400000"/>
          </a:ln>
        </p:spPr>
      </p:pic>
      <p:pic>
        <p:nvPicPr>
          <p:cNvPr id="170" name="inf2.pdf"/>
          <p:cNvPicPr>
            <a:picLocks noChangeAspect="1"/>
          </p:cNvPicPr>
          <p:nvPr/>
        </p:nvPicPr>
        <p:blipFill>
          <a:blip r:embed="rId4">
            <a:extLst/>
          </a:blip>
          <a:stretch>
            <a:fillRect/>
          </a:stretch>
        </p:blipFill>
        <p:spPr>
          <a:xfrm>
            <a:off x="4210298" y="8586022"/>
            <a:ext cx="1415175" cy="360732"/>
          </a:xfrm>
          <a:prstGeom prst="rect">
            <a:avLst/>
          </a:prstGeom>
          <a:ln w="12700">
            <a:miter lim="400000"/>
          </a:ln>
        </p:spPr>
      </p:pic>
      <p:pic>
        <p:nvPicPr>
          <p:cNvPr id="171" name="inf15.pdf"/>
          <p:cNvPicPr>
            <a:picLocks noChangeAspect="1"/>
          </p:cNvPicPr>
          <p:nvPr/>
        </p:nvPicPr>
        <p:blipFill>
          <a:blip r:embed="rId5">
            <a:extLst/>
          </a:blip>
          <a:stretch>
            <a:fillRect/>
          </a:stretch>
        </p:blipFill>
        <p:spPr>
          <a:xfrm>
            <a:off x="1356349" y="6802014"/>
            <a:ext cx="7123072" cy="319311"/>
          </a:xfrm>
          <a:prstGeom prst="rect">
            <a:avLst/>
          </a:prstGeom>
          <a:ln w="12700">
            <a:miter lim="400000"/>
          </a:ln>
        </p:spPr>
      </p:pic>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73" name="Shape 173"/>
          <p:cNvSpPr/>
          <p:nvPr>
            <p:ph type="body" idx="1"/>
          </p:nvPr>
        </p:nvSpPr>
        <p:spPr>
          <a:xfrm>
            <a:off x="952500" y="3151503"/>
            <a:ext cx="11099801" cy="6315852"/>
          </a:xfrm>
          <a:prstGeom prst="rect">
            <a:avLst/>
          </a:prstGeom>
        </p:spPr>
        <p:txBody>
          <a:bodyPr anchor="t"/>
          <a:lstStyle/>
          <a:p>
            <a:pPr/>
            <a:r>
              <a:t>Hence </a:t>
            </a:r>
            <a:r>
              <a:rPr b="0" i="1"/>
              <a:t>x</a:t>
            </a:r>
            <a:r>
              <a:t> satisfies a quadratic</a:t>
            </a:r>
          </a:p>
          <a:p>
            <a:pPr/>
          </a:p>
          <a:p>
            <a:pPr/>
            <a:r>
              <a:t>Two solutions</a:t>
            </a:r>
          </a:p>
          <a:p>
            <a:pPr/>
          </a:p>
          <a:p>
            <a:pPr/>
            <a:r>
              <a:t>Define the Golden ratio as             , and then</a:t>
            </a:r>
          </a:p>
        </p:txBody>
      </p:sp>
      <p:sp>
        <p:nvSpPr>
          <p:cNvPr id="174" name="Shape 174"/>
          <p:cNvSpPr/>
          <p:nvPr/>
        </p:nvSpPr>
        <p:spPr>
          <a:xfrm>
            <a:off x="437232" y="444500"/>
            <a:ext cx="12130336" cy="163740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lvl1pPr defTabSz="560831">
              <a:defRPr b="1" sz="5376">
                <a:solidFill>
                  <a:schemeClr val="accent1">
                    <a:hueOff val="47394"/>
                    <a:satOff val="-25753"/>
                    <a:lumOff val="-7544"/>
                  </a:schemeClr>
                </a:solidFill>
                <a:effectLst>
                  <a:outerShdw sx="100000" sy="100000" kx="0" ky="0" algn="b" rotWithShape="0" blurRad="85344" dist="36576" dir="2700000">
                    <a:srgbClr val="000000">
                      <a:alpha val="30000"/>
                    </a:srgbClr>
                  </a:outerShdw>
                </a:effectLst>
                <a:latin typeface="+mj-lt"/>
                <a:ea typeface="+mj-ea"/>
                <a:cs typeface="+mj-cs"/>
                <a:sym typeface="Helvetica"/>
              </a:defRPr>
            </a:lvl1pPr>
          </a:lstStyle>
          <a:p>
            <a:pPr/>
            <a:r>
              <a:t>Aside: Fibonacci difference equation</a:t>
            </a:r>
          </a:p>
        </p:txBody>
      </p:sp>
      <p:pic>
        <p:nvPicPr>
          <p:cNvPr id="175" name="inf3.pdf"/>
          <p:cNvPicPr>
            <a:picLocks noChangeAspect="1"/>
          </p:cNvPicPr>
          <p:nvPr/>
        </p:nvPicPr>
        <p:blipFill>
          <a:blip r:embed="rId2">
            <a:extLst/>
          </a:blip>
          <a:stretch>
            <a:fillRect/>
          </a:stretch>
        </p:blipFill>
        <p:spPr>
          <a:xfrm>
            <a:off x="1869182" y="2394991"/>
            <a:ext cx="9075481" cy="443429"/>
          </a:xfrm>
          <a:prstGeom prst="rect">
            <a:avLst/>
          </a:prstGeom>
          <a:ln w="12700">
            <a:miter lim="400000"/>
          </a:ln>
        </p:spPr>
      </p:pic>
      <p:pic>
        <p:nvPicPr>
          <p:cNvPr id="176" name="inf4.pdf"/>
          <p:cNvPicPr>
            <a:picLocks noChangeAspect="1"/>
          </p:cNvPicPr>
          <p:nvPr/>
        </p:nvPicPr>
        <p:blipFill>
          <a:blip r:embed="rId3">
            <a:extLst/>
          </a:blip>
          <a:stretch>
            <a:fillRect/>
          </a:stretch>
        </p:blipFill>
        <p:spPr>
          <a:xfrm>
            <a:off x="5351836" y="4163824"/>
            <a:ext cx="2301128" cy="388924"/>
          </a:xfrm>
          <a:prstGeom prst="rect">
            <a:avLst/>
          </a:prstGeom>
          <a:ln w="12700">
            <a:miter lim="400000"/>
          </a:ln>
        </p:spPr>
      </p:pic>
      <p:pic>
        <p:nvPicPr>
          <p:cNvPr id="177" name="inf6.pdf"/>
          <p:cNvPicPr>
            <a:picLocks noChangeAspect="1"/>
          </p:cNvPicPr>
          <p:nvPr/>
        </p:nvPicPr>
        <p:blipFill>
          <a:blip r:embed="rId4">
            <a:extLst/>
          </a:blip>
          <a:stretch>
            <a:fillRect/>
          </a:stretch>
        </p:blipFill>
        <p:spPr>
          <a:xfrm>
            <a:off x="6803132" y="6733594"/>
            <a:ext cx="1783209" cy="618665"/>
          </a:xfrm>
          <a:prstGeom prst="rect">
            <a:avLst/>
          </a:prstGeom>
          <a:ln w="12700">
            <a:miter lim="400000"/>
          </a:ln>
        </p:spPr>
      </p:pic>
      <p:pic>
        <p:nvPicPr>
          <p:cNvPr id="178" name="inf10.pdf"/>
          <p:cNvPicPr>
            <a:picLocks noChangeAspect="1"/>
          </p:cNvPicPr>
          <p:nvPr/>
        </p:nvPicPr>
        <p:blipFill>
          <a:blip r:embed="rId5">
            <a:extLst/>
          </a:blip>
          <a:stretch>
            <a:fillRect/>
          </a:stretch>
        </p:blipFill>
        <p:spPr>
          <a:xfrm>
            <a:off x="4971256" y="5738453"/>
            <a:ext cx="2871332" cy="767584"/>
          </a:xfrm>
          <a:prstGeom prst="rect">
            <a:avLst/>
          </a:prstGeom>
          <a:ln w="12700">
            <a:miter lim="400000"/>
          </a:ln>
        </p:spPr>
      </p:pic>
      <p:pic>
        <p:nvPicPr>
          <p:cNvPr id="179" name="inf14.pdf"/>
          <p:cNvPicPr>
            <a:picLocks noChangeAspect="1"/>
          </p:cNvPicPr>
          <p:nvPr/>
        </p:nvPicPr>
        <p:blipFill>
          <a:blip r:embed="rId6">
            <a:extLst/>
          </a:blip>
          <a:stretch>
            <a:fillRect/>
          </a:stretch>
        </p:blipFill>
        <p:spPr>
          <a:xfrm>
            <a:off x="5208500" y="7691742"/>
            <a:ext cx="2396845" cy="524310"/>
          </a:xfrm>
          <a:prstGeom prst="rect">
            <a:avLst/>
          </a:prstGeom>
          <a:ln w="12700">
            <a:miter lim="400000"/>
          </a:ln>
        </p:spPr>
      </p:pic>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81" name="Shape 181"/>
          <p:cNvSpPr/>
          <p:nvPr>
            <p:ph type="body" idx="1"/>
          </p:nvPr>
        </p:nvSpPr>
        <p:spPr>
          <a:xfrm>
            <a:off x="952500" y="2772370"/>
            <a:ext cx="11099801" cy="6123981"/>
          </a:xfrm>
          <a:prstGeom prst="rect">
            <a:avLst/>
          </a:prstGeom>
        </p:spPr>
        <p:txBody>
          <a:bodyPr anchor="t"/>
          <a:lstStyle/>
          <a:p>
            <a:pPr/>
            <a:r>
              <a:t>General solution will be a linear combination</a:t>
            </a:r>
          </a:p>
          <a:p>
            <a:pPr/>
          </a:p>
          <a:p>
            <a:pPr/>
            <a:r>
              <a:t>Using </a:t>
            </a:r>
            <a:r>
              <a:rPr b="0" i="1"/>
              <a:t>F</a:t>
            </a:r>
            <a:r>
              <a:rPr b="0"/>
              <a:t>(1) = </a:t>
            </a:r>
            <a:r>
              <a:rPr b="0" i="1"/>
              <a:t>F</a:t>
            </a:r>
            <a:r>
              <a:rPr b="0"/>
              <a:t>(2) = 1</a:t>
            </a:r>
            <a:r>
              <a:t> gives particular solution</a:t>
            </a:r>
          </a:p>
          <a:p>
            <a:pPr/>
          </a:p>
          <a:p>
            <a:pPr/>
            <a:r>
              <a:t>At large </a:t>
            </a:r>
            <a:r>
              <a:rPr b="0" i="1"/>
              <a:t>n</a:t>
            </a:r>
            <a:r>
              <a:t>,</a:t>
            </a:r>
          </a:p>
        </p:txBody>
      </p:sp>
      <p:sp>
        <p:nvSpPr>
          <p:cNvPr id="182" name="Shape 182"/>
          <p:cNvSpPr/>
          <p:nvPr/>
        </p:nvSpPr>
        <p:spPr>
          <a:xfrm>
            <a:off x="691232" y="698500"/>
            <a:ext cx="12130336" cy="163740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lvl1pPr defTabSz="560831">
              <a:defRPr b="1" sz="5376">
                <a:solidFill>
                  <a:schemeClr val="accent1">
                    <a:hueOff val="47394"/>
                    <a:satOff val="-25753"/>
                    <a:lumOff val="-7544"/>
                  </a:schemeClr>
                </a:solidFill>
                <a:effectLst>
                  <a:outerShdw sx="100000" sy="100000" kx="0" ky="0" algn="b" rotWithShape="0" blurRad="85344" dist="36576" dir="2700000">
                    <a:srgbClr val="000000">
                      <a:alpha val="30000"/>
                    </a:srgbClr>
                  </a:outerShdw>
                </a:effectLst>
                <a:latin typeface="+mj-lt"/>
                <a:ea typeface="+mj-ea"/>
                <a:cs typeface="+mj-cs"/>
                <a:sym typeface="Helvetica"/>
              </a:defRPr>
            </a:lvl1pPr>
          </a:lstStyle>
          <a:p>
            <a:pPr/>
            <a:r>
              <a:t>Aside: Fibonacci difference equation</a:t>
            </a:r>
          </a:p>
        </p:txBody>
      </p:sp>
      <p:pic>
        <p:nvPicPr>
          <p:cNvPr id="183" name="inf13.pdf"/>
          <p:cNvPicPr>
            <a:picLocks noChangeAspect="1"/>
          </p:cNvPicPr>
          <p:nvPr/>
        </p:nvPicPr>
        <p:blipFill>
          <a:blip r:embed="rId2">
            <a:extLst/>
          </a:blip>
          <a:stretch>
            <a:fillRect/>
          </a:stretch>
        </p:blipFill>
        <p:spPr>
          <a:xfrm>
            <a:off x="5515077" y="7109213"/>
            <a:ext cx="1974646" cy="427841"/>
          </a:xfrm>
          <a:prstGeom prst="rect">
            <a:avLst/>
          </a:prstGeom>
          <a:ln w="12700">
            <a:miter lim="400000"/>
          </a:ln>
        </p:spPr>
      </p:pic>
      <p:pic>
        <p:nvPicPr>
          <p:cNvPr id="184" name="inf16.pdf"/>
          <p:cNvPicPr>
            <a:picLocks noChangeAspect="1"/>
          </p:cNvPicPr>
          <p:nvPr/>
        </p:nvPicPr>
        <p:blipFill>
          <a:blip r:embed="rId3">
            <a:extLst/>
          </a:blip>
          <a:stretch>
            <a:fillRect/>
          </a:stretch>
        </p:blipFill>
        <p:spPr>
          <a:xfrm>
            <a:off x="4679354" y="5304702"/>
            <a:ext cx="3277939" cy="896796"/>
          </a:xfrm>
          <a:prstGeom prst="rect">
            <a:avLst/>
          </a:prstGeom>
          <a:ln w="12700">
            <a:miter lim="400000"/>
          </a:ln>
        </p:spPr>
      </p:pic>
      <p:pic>
        <p:nvPicPr>
          <p:cNvPr id="185" name="inf17.pdf"/>
          <p:cNvPicPr>
            <a:picLocks noChangeAspect="1"/>
          </p:cNvPicPr>
          <p:nvPr/>
        </p:nvPicPr>
        <p:blipFill>
          <a:blip r:embed="rId4">
            <a:extLst/>
          </a:blip>
          <a:stretch>
            <a:fillRect/>
          </a:stretch>
        </p:blipFill>
        <p:spPr>
          <a:xfrm>
            <a:off x="3367761" y="3763154"/>
            <a:ext cx="6269278" cy="417953"/>
          </a:xfrm>
          <a:prstGeom prst="rect">
            <a:avLst/>
          </a:prstGeom>
          <a:ln w="12700">
            <a:miter lim="400000"/>
          </a:ln>
        </p:spPr>
      </p:pic>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87" name="Shape 187"/>
          <p:cNvSpPr/>
          <p:nvPr>
            <p:ph type="title"/>
          </p:nvPr>
        </p:nvSpPr>
        <p:spPr>
          <a:prstGeom prst="rect">
            <a:avLst/>
          </a:prstGeom>
        </p:spPr>
        <p:txBody>
          <a:bodyPr/>
          <a:lstStyle/>
          <a:p>
            <a:pPr/>
            <a:r>
              <a:t>Returning to the problem</a:t>
            </a:r>
          </a:p>
        </p:txBody>
      </p:sp>
      <p:sp>
        <p:nvSpPr>
          <p:cNvPr id="188" name="Shape 188"/>
          <p:cNvSpPr/>
          <p:nvPr>
            <p:ph type="body" idx="1"/>
          </p:nvPr>
        </p:nvSpPr>
        <p:spPr>
          <a:xfrm>
            <a:off x="952500" y="3200350"/>
            <a:ext cx="11099800" cy="5689650"/>
          </a:xfrm>
          <a:prstGeom prst="rect">
            <a:avLst/>
          </a:prstGeom>
        </p:spPr>
        <p:txBody>
          <a:bodyPr anchor="t"/>
          <a:lstStyle/>
          <a:p>
            <a:pPr/>
            <a:r>
              <a:t>Try solution of the form </a:t>
            </a:r>
            <a:r>
              <a:rPr b="0" i="1"/>
              <a:t>N</a:t>
            </a:r>
            <a:r>
              <a:rPr b="0"/>
              <a:t>(</a:t>
            </a:r>
            <a:r>
              <a:rPr b="0" i="1"/>
              <a:t>t</a:t>
            </a:r>
            <a:r>
              <a:rPr b="0"/>
              <a:t>) = </a:t>
            </a:r>
            <a:r>
              <a:rPr b="0" i="1"/>
              <a:t>x</a:t>
            </a:r>
            <a:r>
              <a:rPr b="0" baseline="31999" i="1"/>
              <a:t>t</a:t>
            </a:r>
            <a:endParaRPr b="0" baseline="31999" i="1"/>
          </a:p>
          <a:p>
            <a:pPr/>
            <a:endParaRPr b="0" baseline="31999" i="1"/>
          </a:p>
          <a:p>
            <a:pPr/>
            <a:r>
              <a:t>Writing          gives</a:t>
            </a:r>
          </a:p>
          <a:p>
            <a:pPr/>
          </a:p>
          <a:p>
            <a:pPr/>
            <a:r>
              <a:t>Largest value of </a:t>
            </a:r>
            <a:r>
              <a:rPr i="1"/>
              <a:t>x</a:t>
            </a:r>
            <a:r>
              <a:t> and smallest value of </a:t>
            </a:r>
          </a:p>
        </p:txBody>
      </p:sp>
      <p:pic>
        <p:nvPicPr>
          <p:cNvPr id="189" name="inf7.pdf"/>
          <p:cNvPicPr>
            <a:picLocks noChangeAspect="1"/>
          </p:cNvPicPr>
          <p:nvPr/>
        </p:nvPicPr>
        <p:blipFill>
          <a:blip r:embed="rId2">
            <a:extLst/>
          </a:blip>
          <a:stretch>
            <a:fillRect/>
          </a:stretch>
        </p:blipFill>
        <p:spPr>
          <a:xfrm>
            <a:off x="1285214" y="2568510"/>
            <a:ext cx="10434372" cy="368607"/>
          </a:xfrm>
          <a:prstGeom prst="rect">
            <a:avLst/>
          </a:prstGeom>
          <a:ln w="12700">
            <a:miter lim="400000"/>
          </a:ln>
        </p:spPr>
      </p:pic>
      <p:pic>
        <p:nvPicPr>
          <p:cNvPr id="190" name="inf8.pdf"/>
          <p:cNvPicPr>
            <a:picLocks noChangeAspect="1"/>
          </p:cNvPicPr>
          <p:nvPr/>
        </p:nvPicPr>
        <p:blipFill>
          <a:blip r:embed="rId3">
            <a:extLst/>
          </a:blip>
          <a:stretch>
            <a:fillRect/>
          </a:stretch>
        </p:blipFill>
        <p:spPr>
          <a:xfrm>
            <a:off x="3638619" y="4187825"/>
            <a:ext cx="5727562" cy="368606"/>
          </a:xfrm>
          <a:prstGeom prst="rect">
            <a:avLst/>
          </a:prstGeom>
          <a:ln w="12700">
            <a:miter lim="400000"/>
          </a:ln>
        </p:spPr>
      </p:pic>
      <p:pic>
        <p:nvPicPr>
          <p:cNvPr id="191" name="inf9.pdf"/>
          <p:cNvPicPr>
            <a:picLocks noChangeAspect="1"/>
          </p:cNvPicPr>
          <p:nvPr/>
        </p:nvPicPr>
        <p:blipFill>
          <a:blip r:embed="rId4">
            <a:extLst/>
          </a:blip>
          <a:stretch>
            <a:fillRect/>
          </a:stretch>
        </p:blipFill>
        <p:spPr>
          <a:xfrm>
            <a:off x="3088034" y="5018583"/>
            <a:ext cx="1093743" cy="678875"/>
          </a:xfrm>
          <a:prstGeom prst="rect">
            <a:avLst/>
          </a:prstGeom>
          <a:ln w="12700">
            <a:miter lim="400000"/>
          </a:ln>
        </p:spPr>
      </p:pic>
      <p:pic>
        <p:nvPicPr>
          <p:cNvPr id="192" name="inf18.pdf"/>
          <p:cNvPicPr>
            <a:picLocks noChangeAspect="1"/>
          </p:cNvPicPr>
          <p:nvPr/>
        </p:nvPicPr>
        <p:blipFill>
          <a:blip r:embed="rId5">
            <a:extLst/>
          </a:blip>
          <a:stretch>
            <a:fillRect/>
          </a:stretch>
        </p:blipFill>
        <p:spPr>
          <a:xfrm>
            <a:off x="3290258" y="5938647"/>
            <a:ext cx="6424283" cy="434075"/>
          </a:xfrm>
          <a:prstGeom prst="rect">
            <a:avLst/>
          </a:prstGeom>
          <a:ln w="12700">
            <a:miter lim="400000"/>
          </a:ln>
        </p:spPr>
      </p:pic>
      <p:pic>
        <p:nvPicPr>
          <p:cNvPr id="193" name="inf19.pdf"/>
          <p:cNvPicPr>
            <a:picLocks noChangeAspect="1"/>
          </p:cNvPicPr>
          <p:nvPr/>
        </p:nvPicPr>
        <p:blipFill>
          <a:blip r:embed="rId6">
            <a:extLst/>
          </a:blip>
          <a:stretch>
            <a:fillRect/>
          </a:stretch>
        </p:blipFill>
        <p:spPr>
          <a:xfrm>
            <a:off x="9272785" y="7005480"/>
            <a:ext cx="327651" cy="368607"/>
          </a:xfrm>
          <a:prstGeom prst="rect">
            <a:avLst/>
          </a:prstGeom>
          <a:ln w="12700">
            <a:miter lim="400000"/>
          </a:ln>
        </p:spPr>
      </p:pic>
      <p:pic>
        <p:nvPicPr>
          <p:cNvPr id="194" name="inf38.pdf"/>
          <p:cNvPicPr>
            <a:picLocks noChangeAspect="1"/>
          </p:cNvPicPr>
          <p:nvPr/>
        </p:nvPicPr>
        <p:blipFill>
          <a:blip r:embed="rId7">
            <a:extLst/>
          </a:blip>
          <a:stretch>
            <a:fillRect/>
          </a:stretch>
        </p:blipFill>
        <p:spPr>
          <a:xfrm>
            <a:off x="4649667" y="7885364"/>
            <a:ext cx="3705466" cy="311147"/>
          </a:xfrm>
          <a:prstGeom prst="rect">
            <a:avLst/>
          </a:prstGeom>
          <a:ln w="12700">
            <a:miter lim="400000"/>
          </a:ln>
        </p:spPr>
      </p:pic>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196" name="Shape 196"/>
          <p:cNvSpPr/>
          <p:nvPr>
            <p:ph type="title"/>
          </p:nvPr>
        </p:nvSpPr>
        <p:spPr>
          <a:prstGeom prst="rect">
            <a:avLst/>
          </a:prstGeom>
        </p:spPr>
        <p:txBody>
          <a:bodyPr/>
          <a:lstStyle/>
          <a:p>
            <a:pPr/>
            <a:r>
              <a:t>Data rate for Morse code</a:t>
            </a:r>
          </a:p>
        </p:txBody>
      </p:sp>
      <p:sp>
        <p:nvSpPr>
          <p:cNvPr id="197" name="Shape 197"/>
          <p:cNvSpPr/>
          <p:nvPr>
            <p:ph type="body" idx="1"/>
          </p:nvPr>
        </p:nvSpPr>
        <p:spPr>
          <a:prstGeom prst="rect">
            <a:avLst/>
          </a:prstGeom>
        </p:spPr>
        <p:txBody>
          <a:bodyPr anchor="t"/>
          <a:lstStyle/>
          <a:p>
            <a:pPr/>
            <a:r>
              <a:t>Hence for large </a:t>
            </a:r>
            <a:r>
              <a:rPr b="0" i="1"/>
              <a:t>t</a:t>
            </a:r>
            <a:endParaRPr b="0" i="1"/>
          </a:p>
          <a:p>
            <a:pPr/>
            <a:endParaRPr b="0" i="1"/>
          </a:p>
          <a:p>
            <a:pPr/>
            <a:r>
              <a:t>Shannon’s data transmission rate</a:t>
            </a:r>
          </a:p>
          <a:p>
            <a:pPr/>
          </a:p>
          <a:p>
            <a:pPr/>
            <a:r>
              <a:t>Hence</a:t>
            </a:r>
          </a:p>
        </p:txBody>
      </p:sp>
      <p:pic>
        <p:nvPicPr>
          <p:cNvPr id="198" name="inf22.pdf"/>
          <p:cNvPicPr>
            <a:picLocks noChangeAspect="1"/>
          </p:cNvPicPr>
          <p:nvPr/>
        </p:nvPicPr>
        <p:blipFill>
          <a:blip r:embed="rId2">
            <a:extLst/>
          </a:blip>
          <a:srcRect l="0" t="0" r="0" b="0"/>
          <a:stretch>
            <a:fillRect/>
          </a:stretch>
        </p:blipFill>
        <p:spPr>
          <a:xfrm>
            <a:off x="3277393" y="5179764"/>
            <a:ext cx="6450087" cy="872476"/>
          </a:xfrm>
          <a:prstGeom prst="rect">
            <a:avLst/>
          </a:prstGeom>
          <a:ln w="12700">
            <a:miter lim="400000"/>
          </a:ln>
        </p:spPr>
      </p:pic>
      <p:pic>
        <p:nvPicPr>
          <p:cNvPr id="199" name="inf33.pdf"/>
          <p:cNvPicPr>
            <a:picLocks noChangeAspect="1"/>
          </p:cNvPicPr>
          <p:nvPr/>
        </p:nvPicPr>
        <p:blipFill>
          <a:blip r:embed="rId3">
            <a:extLst/>
          </a:blip>
          <a:stretch>
            <a:fillRect/>
          </a:stretch>
        </p:blipFill>
        <p:spPr>
          <a:xfrm>
            <a:off x="5505508" y="3554462"/>
            <a:ext cx="1993784" cy="481258"/>
          </a:xfrm>
          <a:prstGeom prst="rect">
            <a:avLst/>
          </a:prstGeom>
          <a:ln w="12700">
            <a:miter lim="400000"/>
          </a:ln>
        </p:spPr>
      </p:pic>
      <p:pic>
        <p:nvPicPr>
          <p:cNvPr id="200" name="inf36.pdf"/>
          <p:cNvPicPr>
            <a:picLocks noChangeAspect="1"/>
          </p:cNvPicPr>
          <p:nvPr/>
        </p:nvPicPr>
        <p:blipFill>
          <a:blip r:embed="rId4">
            <a:extLst/>
          </a:blip>
          <a:stretch>
            <a:fillRect/>
          </a:stretch>
        </p:blipFill>
        <p:spPr>
          <a:xfrm>
            <a:off x="4067768" y="7196139"/>
            <a:ext cx="4869264" cy="379046"/>
          </a:xfrm>
          <a:prstGeom prst="rect">
            <a:avLst/>
          </a:prstGeom>
          <a:ln w="12700">
            <a:miter lim="400000"/>
          </a:ln>
        </p:spPr>
      </p:pic>
      <p:pic>
        <p:nvPicPr>
          <p:cNvPr id="201" name="inf37.pdf"/>
          <p:cNvPicPr>
            <a:picLocks noChangeAspect="1"/>
          </p:cNvPicPr>
          <p:nvPr/>
        </p:nvPicPr>
        <p:blipFill>
          <a:blip r:embed="rId5">
            <a:extLst/>
          </a:blip>
          <a:stretch>
            <a:fillRect/>
          </a:stretch>
        </p:blipFill>
        <p:spPr>
          <a:xfrm>
            <a:off x="10494664" y="3639943"/>
            <a:ext cx="1723866" cy="310296"/>
          </a:xfrm>
          <a:prstGeom prst="rect">
            <a:avLst/>
          </a:prstGeom>
          <a:ln w="12700">
            <a:miter lim="400000"/>
          </a:ln>
        </p:spPr>
      </p:pic>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03" name="Shape 203"/>
          <p:cNvSpPr/>
          <p:nvPr>
            <p:ph type="title"/>
          </p:nvPr>
        </p:nvSpPr>
        <p:spPr>
          <a:prstGeom prst="rect">
            <a:avLst/>
          </a:prstGeom>
        </p:spPr>
        <p:txBody>
          <a:bodyPr/>
          <a:lstStyle/>
          <a:p>
            <a:pPr/>
            <a:r>
              <a:t>Information content</a:t>
            </a:r>
          </a:p>
        </p:txBody>
      </p:sp>
      <p:sp>
        <p:nvSpPr>
          <p:cNvPr id="204" name="Shape 204"/>
          <p:cNvSpPr/>
          <p:nvPr>
            <p:ph type="body" idx="1"/>
          </p:nvPr>
        </p:nvSpPr>
        <p:spPr>
          <a:prstGeom prst="rect">
            <a:avLst/>
          </a:prstGeom>
        </p:spPr>
        <p:txBody>
          <a:bodyPr anchor="t"/>
          <a:lstStyle/>
          <a:p>
            <a:pPr/>
            <a:r>
              <a:t>How much information is coded by the information source?</a:t>
            </a:r>
          </a:p>
          <a:p>
            <a:pPr/>
            <a:r>
              <a:t>The distribution of letters in English is not uniform: “E” is more common than “Q”, “TH” is more common than “QZ”</a:t>
            </a:r>
          </a:p>
          <a:p>
            <a:pPr/>
            <a:r>
              <a:t>This means that the information source (if the source is speaking words of English) does not just choose random sequences of dots and dashes</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06" name="Shape 206"/>
          <p:cNvSpPr/>
          <p:nvPr>
            <p:ph type="title"/>
          </p:nvPr>
        </p:nvSpPr>
        <p:spPr>
          <a:prstGeom prst="rect">
            <a:avLst/>
          </a:prstGeom>
        </p:spPr>
        <p:txBody>
          <a:bodyPr/>
          <a:lstStyle/>
          <a:p>
            <a:pPr/>
            <a:r>
              <a:t>Acronyms</a:t>
            </a:r>
          </a:p>
        </p:txBody>
      </p:sp>
      <p:sp>
        <p:nvSpPr>
          <p:cNvPr id="207" name="Shape 207"/>
          <p:cNvSpPr/>
          <p:nvPr/>
        </p:nvSpPr>
        <p:spPr>
          <a:xfrm>
            <a:off x="633945" y="3006666"/>
            <a:ext cx="5571084" cy="5492868"/>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defRPr sz="1500">
                <a:latin typeface="Arial"/>
                <a:ea typeface="Arial"/>
                <a:cs typeface="Arial"/>
                <a:sym typeface="Arial"/>
              </a:defRPr>
            </a:pPr>
            <a:r>
              <a:rPr u="sng">
                <a:solidFill>
                  <a:srgbClr val="293546"/>
                </a:solidFill>
                <a:uFill>
                  <a:solidFill>
                    <a:srgbClr val="293546"/>
                  </a:solidFill>
                </a:uFill>
                <a:hlinkClick r:id="rId2" invalidUrl="" action="" tgtFrame="" tooltip="" history="1" highlightClick="0" endSnd="0"/>
              </a:rPr>
              <a:t>2moro</a:t>
            </a:r>
            <a:r>
              <a:t> - Tomorrow</a:t>
            </a:r>
          </a:p>
          <a:p>
            <a:pPr algn="l" defTabSz="457200">
              <a:defRPr sz="1500">
                <a:latin typeface="Arial"/>
                <a:ea typeface="Arial"/>
                <a:cs typeface="Arial"/>
                <a:sym typeface="Arial"/>
              </a:defRPr>
            </a:pPr>
            <a:r>
              <a:rPr u="sng">
                <a:solidFill>
                  <a:srgbClr val="293546"/>
                </a:solidFill>
                <a:uFill>
                  <a:solidFill>
                    <a:srgbClr val="293546"/>
                  </a:solidFill>
                </a:uFill>
                <a:hlinkClick r:id="rId3" invalidUrl="" action="" tgtFrame="" tooltip="" history="1" highlightClick="0" endSnd="0"/>
              </a:rPr>
              <a:t>2nite</a:t>
            </a:r>
            <a:r>
              <a:t> - Tonight</a:t>
            </a:r>
          </a:p>
          <a:p>
            <a:pPr algn="l" defTabSz="457200">
              <a:defRPr sz="1500">
                <a:latin typeface="Arial"/>
                <a:ea typeface="Arial"/>
                <a:cs typeface="Arial"/>
                <a:sym typeface="Arial"/>
              </a:defRPr>
            </a:pPr>
            <a:r>
              <a:rPr u="sng">
                <a:solidFill>
                  <a:srgbClr val="293546"/>
                </a:solidFill>
                <a:uFill>
                  <a:solidFill>
                    <a:srgbClr val="293546"/>
                  </a:solidFill>
                </a:uFill>
                <a:hlinkClick r:id="rId4" invalidUrl="" action="" tgtFrame="" tooltip="" history="1" highlightClick="0" endSnd="0"/>
              </a:rPr>
              <a:t>BRB</a:t>
            </a:r>
            <a:r>
              <a:t> - Be Right Back</a:t>
            </a:r>
          </a:p>
          <a:p>
            <a:pPr algn="l" defTabSz="457200">
              <a:defRPr sz="1500">
                <a:latin typeface="Arial"/>
                <a:ea typeface="Arial"/>
                <a:cs typeface="Arial"/>
                <a:sym typeface="Arial"/>
              </a:defRPr>
            </a:pPr>
            <a:r>
              <a:rPr u="sng">
                <a:solidFill>
                  <a:srgbClr val="293546"/>
                </a:solidFill>
                <a:uFill>
                  <a:solidFill>
                    <a:srgbClr val="293546"/>
                  </a:solidFill>
                </a:uFill>
                <a:hlinkClick r:id="rId5" invalidUrl="" action="" tgtFrame="" tooltip="" history="1" highlightClick="0" endSnd="0"/>
              </a:rPr>
              <a:t>BTW</a:t>
            </a:r>
            <a:r>
              <a:t> - By The Way -or- Bring The Wheelchair</a:t>
            </a:r>
          </a:p>
          <a:p>
            <a:pPr algn="l" defTabSz="457200">
              <a:defRPr sz="1500">
                <a:latin typeface="Arial"/>
                <a:ea typeface="Arial"/>
                <a:cs typeface="Arial"/>
                <a:sym typeface="Arial"/>
              </a:defRPr>
            </a:pPr>
            <a:r>
              <a:rPr u="sng">
                <a:solidFill>
                  <a:srgbClr val="293546"/>
                </a:solidFill>
                <a:uFill>
                  <a:solidFill>
                    <a:srgbClr val="293546"/>
                  </a:solidFill>
                </a:uFill>
                <a:hlinkClick r:id="rId6" invalidUrl="" action="" tgtFrame="" tooltip="" history="1" highlightClick="0" endSnd="0"/>
              </a:rPr>
              <a:t>B4N</a:t>
            </a:r>
            <a:r>
              <a:t> - Bye For Now</a:t>
            </a:r>
          </a:p>
          <a:p>
            <a:pPr algn="l" defTabSz="457200">
              <a:defRPr sz="1500">
                <a:latin typeface="Arial"/>
                <a:ea typeface="Arial"/>
                <a:cs typeface="Arial"/>
                <a:sym typeface="Arial"/>
              </a:defRPr>
            </a:pPr>
            <a:r>
              <a:rPr u="sng">
                <a:solidFill>
                  <a:srgbClr val="293546"/>
                </a:solidFill>
                <a:uFill>
                  <a:solidFill>
                    <a:srgbClr val="293546"/>
                  </a:solidFill>
                </a:uFill>
                <a:hlinkClick r:id="rId7" invalidUrl="" action="" tgtFrame="" tooltip="" history="1" highlightClick="0" endSnd="0"/>
              </a:rPr>
              <a:t>BCNU</a:t>
            </a:r>
            <a:r>
              <a:t> - Be Seeing You</a:t>
            </a:r>
          </a:p>
          <a:p>
            <a:pPr algn="l" defTabSz="457200">
              <a:defRPr sz="1500">
                <a:latin typeface="Arial"/>
                <a:ea typeface="Arial"/>
                <a:cs typeface="Arial"/>
                <a:sym typeface="Arial"/>
              </a:defRPr>
            </a:pPr>
            <a:r>
              <a:rPr u="sng">
                <a:solidFill>
                  <a:srgbClr val="293546"/>
                </a:solidFill>
                <a:uFill>
                  <a:solidFill>
                    <a:srgbClr val="293546"/>
                  </a:solidFill>
                </a:uFill>
                <a:hlinkClick r:id="rId8" invalidUrl="" action="" tgtFrame="" tooltip="" history="1" highlightClick="0" endSnd="0"/>
              </a:rPr>
              <a:t>BFF</a:t>
            </a:r>
            <a:r>
              <a:t> - Best Friends Forever -or- Best Friend's Funeral</a:t>
            </a:r>
          </a:p>
          <a:p>
            <a:pPr algn="l" defTabSz="457200">
              <a:defRPr sz="1500">
                <a:latin typeface="Arial"/>
                <a:ea typeface="Arial"/>
                <a:cs typeface="Arial"/>
                <a:sym typeface="Arial"/>
              </a:defRPr>
            </a:pPr>
            <a:r>
              <a:rPr u="sng">
                <a:solidFill>
                  <a:srgbClr val="293546"/>
                </a:solidFill>
                <a:uFill>
                  <a:solidFill>
                    <a:srgbClr val="293546"/>
                  </a:solidFill>
                </a:uFill>
                <a:hlinkClick r:id="rId9" invalidUrl="" action="" tgtFrame="" tooltip="" history="1" highlightClick="0" endSnd="0"/>
              </a:rPr>
              <a:t>CYA</a:t>
            </a:r>
            <a:r>
              <a:t> - Cover Your Ass -or- See Ya</a:t>
            </a:r>
          </a:p>
          <a:p>
            <a:pPr algn="l" defTabSz="457200">
              <a:defRPr sz="1500">
                <a:latin typeface="Arial"/>
                <a:ea typeface="Arial"/>
                <a:cs typeface="Arial"/>
                <a:sym typeface="Arial"/>
              </a:defRPr>
            </a:pPr>
            <a:r>
              <a:rPr u="sng">
                <a:solidFill>
                  <a:srgbClr val="293546"/>
                </a:solidFill>
                <a:uFill>
                  <a:solidFill>
                    <a:srgbClr val="293546"/>
                  </a:solidFill>
                </a:uFill>
                <a:hlinkClick r:id="rId10" invalidUrl="" action="" tgtFrame="" tooltip="" history="1" highlightClick="0" endSnd="0"/>
              </a:rPr>
              <a:t>DBEYR</a:t>
            </a:r>
            <a:r>
              <a:t> - Don't Believe Everything You Read</a:t>
            </a:r>
          </a:p>
          <a:p>
            <a:pPr algn="l" defTabSz="457200">
              <a:defRPr sz="1500">
                <a:latin typeface="Arial"/>
                <a:ea typeface="Arial"/>
                <a:cs typeface="Arial"/>
                <a:sym typeface="Arial"/>
              </a:defRPr>
            </a:pPr>
            <a:r>
              <a:rPr u="sng">
                <a:solidFill>
                  <a:srgbClr val="293546"/>
                </a:solidFill>
                <a:uFill>
                  <a:solidFill>
                    <a:srgbClr val="293546"/>
                  </a:solidFill>
                </a:uFill>
                <a:hlinkClick r:id="rId11" invalidUrl="" action="" tgtFrame="" tooltip="" history="1" highlightClick="0" endSnd="0"/>
              </a:rPr>
              <a:t>DILLIGAS</a:t>
            </a:r>
            <a:r>
              <a:t> - Do I Look Like I Give A Sh**</a:t>
            </a:r>
          </a:p>
          <a:p>
            <a:pPr algn="l" defTabSz="457200">
              <a:defRPr sz="1500">
                <a:latin typeface="Arial"/>
                <a:ea typeface="Arial"/>
                <a:cs typeface="Arial"/>
                <a:sym typeface="Arial"/>
              </a:defRPr>
            </a:pPr>
            <a:r>
              <a:rPr u="sng">
                <a:solidFill>
                  <a:srgbClr val="293546"/>
                </a:solidFill>
                <a:uFill>
                  <a:solidFill>
                    <a:srgbClr val="293546"/>
                  </a:solidFill>
                </a:uFill>
                <a:hlinkClick r:id="rId12" invalidUrl="" action="" tgtFrame="" tooltip="" history="1" highlightClick="0" endSnd="0"/>
              </a:rPr>
              <a:t>FUD</a:t>
            </a:r>
            <a:r>
              <a:t> - Fear, Uncertainty, and Disinformation</a:t>
            </a:r>
          </a:p>
          <a:p>
            <a:pPr algn="l" defTabSz="457200">
              <a:defRPr sz="1500">
                <a:latin typeface="Arial"/>
                <a:ea typeface="Arial"/>
                <a:cs typeface="Arial"/>
                <a:sym typeface="Arial"/>
              </a:defRPr>
            </a:pPr>
            <a:r>
              <a:rPr u="sng">
                <a:solidFill>
                  <a:srgbClr val="293546"/>
                </a:solidFill>
                <a:uFill>
                  <a:solidFill>
                    <a:srgbClr val="293546"/>
                  </a:solidFill>
                </a:uFill>
                <a:hlinkClick r:id="rId13" invalidUrl="" action="" tgtFrame="" tooltip="" history="1" highlightClick="0" endSnd="0"/>
              </a:rPr>
              <a:t>FWIW</a:t>
            </a:r>
            <a:r>
              <a:t> - For What It's Worth -or- Forgot Where I Was</a:t>
            </a:r>
          </a:p>
          <a:p>
            <a:pPr algn="l" defTabSz="457200">
              <a:defRPr sz="1500">
                <a:latin typeface="Arial"/>
                <a:ea typeface="Arial"/>
                <a:cs typeface="Arial"/>
                <a:sym typeface="Arial"/>
              </a:defRPr>
            </a:pPr>
            <a:r>
              <a:rPr u="sng">
                <a:solidFill>
                  <a:srgbClr val="293546"/>
                </a:solidFill>
                <a:uFill>
                  <a:solidFill>
                    <a:srgbClr val="293546"/>
                  </a:solidFill>
                </a:uFill>
                <a:hlinkClick r:id="rId14" invalidUrl="" action="" tgtFrame="" tooltip="" history="1" highlightClick="0" endSnd="0"/>
              </a:rPr>
              <a:t>GR8</a:t>
            </a:r>
            <a:r>
              <a:t> - Great</a:t>
            </a:r>
          </a:p>
          <a:p>
            <a:pPr algn="l" defTabSz="457200">
              <a:defRPr sz="1500">
                <a:latin typeface="Arial"/>
                <a:ea typeface="Arial"/>
                <a:cs typeface="Arial"/>
                <a:sym typeface="Arial"/>
              </a:defRPr>
            </a:pPr>
            <a:r>
              <a:rPr u="sng">
                <a:solidFill>
                  <a:srgbClr val="293546"/>
                </a:solidFill>
                <a:uFill>
                  <a:solidFill>
                    <a:srgbClr val="293546"/>
                  </a:solidFill>
                </a:uFill>
                <a:hlinkClick r:id="rId15" invalidUrl="" action="" tgtFrame="" tooltip="" history="1" highlightClick="0" endSnd="0"/>
              </a:rPr>
              <a:t>ILY</a:t>
            </a:r>
            <a:r>
              <a:t> - I Love You</a:t>
            </a:r>
          </a:p>
          <a:p>
            <a:pPr algn="l" defTabSz="457200">
              <a:defRPr sz="1500">
                <a:latin typeface="Arial"/>
                <a:ea typeface="Arial"/>
                <a:cs typeface="Arial"/>
                <a:sym typeface="Arial"/>
              </a:defRPr>
            </a:pPr>
            <a:r>
              <a:rPr u="sng">
                <a:solidFill>
                  <a:srgbClr val="293546"/>
                </a:solidFill>
                <a:uFill>
                  <a:solidFill>
                    <a:srgbClr val="293546"/>
                  </a:solidFill>
                </a:uFill>
                <a:hlinkClick r:id="rId16" invalidUrl="" action="" tgtFrame="" tooltip="" history="1" highlightClick="0" endSnd="0"/>
              </a:rPr>
              <a:t>IMHO</a:t>
            </a:r>
            <a:r>
              <a:t> - In My Humble Opinion</a:t>
            </a:r>
          </a:p>
          <a:p>
            <a:pPr algn="l" defTabSz="457200">
              <a:defRPr sz="1500">
                <a:latin typeface="Arial"/>
                <a:ea typeface="Arial"/>
                <a:cs typeface="Arial"/>
                <a:sym typeface="Arial"/>
              </a:defRPr>
            </a:pPr>
            <a:r>
              <a:rPr u="sng">
                <a:solidFill>
                  <a:srgbClr val="293546"/>
                </a:solidFill>
                <a:uFill>
                  <a:solidFill>
                    <a:srgbClr val="293546"/>
                  </a:solidFill>
                </a:uFill>
                <a:hlinkClick r:id="rId17" invalidUrl="" action="" tgtFrame="" tooltip="" history="1" highlightClick="0" endSnd="0"/>
              </a:rPr>
              <a:t>IRL</a:t>
            </a:r>
            <a:r>
              <a:t> - In Real Life</a:t>
            </a:r>
          </a:p>
          <a:p>
            <a:pPr algn="l" defTabSz="457200">
              <a:defRPr sz="1500">
                <a:latin typeface="Arial"/>
                <a:ea typeface="Arial"/>
                <a:cs typeface="Arial"/>
                <a:sym typeface="Arial"/>
              </a:defRPr>
            </a:pPr>
            <a:r>
              <a:rPr u="sng">
                <a:solidFill>
                  <a:srgbClr val="293546"/>
                </a:solidFill>
                <a:uFill>
                  <a:solidFill>
                    <a:srgbClr val="293546"/>
                  </a:solidFill>
                </a:uFill>
                <a:hlinkClick r:id="rId18" invalidUrl="" action="" tgtFrame="" tooltip="" history="1" highlightClick="0" endSnd="0"/>
              </a:rPr>
              <a:t>ISO</a:t>
            </a:r>
            <a:r>
              <a:t> - In Search Of</a:t>
            </a:r>
          </a:p>
          <a:p>
            <a:pPr algn="l" defTabSz="457200">
              <a:defRPr sz="1500">
                <a:latin typeface="Arial"/>
                <a:ea typeface="Arial"/>
                <a:cs typeface="Arial"/>
                <a:sym typeface="Arial"/>
              </a:defRPr>
            </a:pPr>
            <a:r>
              <a:rPr u="sng">
                <a:solidFill>
                  <a:srgbClr val="293546"/>
                </a:solidFill>
                <a:uFill>
                  <a:solidFill>
                    <a:srgbClr val="293546"/>
                  </a:solidFill>
                </a:uFill>
                <a:hlinkClick r:id="rId19" invalidUrl="" action="" tgtFrame="" tooltip="" history="1" highlightClick="0" endSnd="0"/>
              </a:rPr>
              <a:t>J/K</a:t>
            </a:r>
            <a:r>
              <a:t> - Just Kidding</a:t>
            </a:r>
          </a:p>
          <a:p>
            <a:pPr algn="l" defTabSz="457200">
              <a:defRPr sz="1500">
                <a:latin typeface="Arial"/>
                <a:ea typeface="Arial"/>
                <a:cs typeface="Arial"/>
                <a:sym typeface="Arial"/>
              </a:defRPr>
            </a:pPr>
            <a:r>
              <a:rPr u="sng">
                <a:solidFill>
                  <a:srgbClr val="293546"/>
                </a:solidFill>
                <a:uFill>
                  <a:solidFill>
                    <a:srgbClr val="293546"/>
                  </a:solidFill>
                </a:uFill>
                <a:hlinkClick r:id="rId20" invalidUrl="" action="" tgtFrame="" tooltip="" history="1" highlightClick="0" endSnd="0"/>
              </a:rPr>
              <a:t>L8R</a:t>
            </a:r>
            <a:r>
              <a:t> - Later</a:t>
            </a:r>
          </a:p>
          <a:p>
            <a:pPr algn="l" defTabSz="457200">
              <a:defRPr sz="1500">
                <a:latin typeface="Arial"/>
                <a:ea typeface="Arial"/>
                <a:cs typeface="Arial"/>
                <a:sym typeface="Arial"/>
              </a:defRPr>
            </a:pPr>
            <a:r>
              <a:rPr u="sng">
                <a:solidFill>
                  <a:srgbClr val="293546"/>
                </a:solidFill>
                <a:uFill>
                  <a:solidFill>
                    <a:srgbClr val="293546"/>
                  </a:solidFill>
                </a:uFill>
                <a:hlinkClick r:id="rId21" invalidUrl="" action="" tgtFrame="" tooltip="" history="1" highlightClick="0" endSnd="0"/>
              </a:rPr>
              <a:t>LMAO</a:t>
            </a:r>
            <a:r>
              <a:t> - Laughing My Ass Off</a:t>
            </a:r>
          </a:p>
          <a:p>
            <a:pPr algn="l" defTabSz="457200">
              <a:defRPr sz="1500">
                <a:latin typeface="Arial"/>
                <a:ea typeface="Arial"/>
                <a:cs typeface="Arial"/>
                <a:sym typeface="Arial"/>
              </a:defRPr>
            </a:pPr>
            <a:r>
              <a:rPr u="sng">
                <a:solidFill>
                  <a:srgbClr val="293546"/>
                </a:solidFill>
                <a:uFill>
                  <a:solidFill>
                    <a:srgbClr val="293546"/>
                  </a:solidFill>
                </a:uFill>
                <a:hlinkClick r:id="rId22" invalidUrl="" action="" tgtFrame="" tooltip="" history="1" highlightClick="0" endSnd="0"/>
              </a:rPr>
              <a:t>LOL</a:t>
            </a:r>
            <a:r>
              <a:t> - Laughing Out Loud -or- Lots Of Love -or- Living On Lipitor</a:t>
            </a:r>
          </a:p>
          <a:p>
            <a:pPr algn="l" defTabSz="457200">
              <a:defRPr sz="1500">
                <a:latin typeface="Arial"/>
                <a:ea typeface="Arial"/>
                <a:cs typeface="Arial"/>
                <a:sym typeface="Arial"/>
              </a:defRPr>
            </a:pPr>
            <a:r>
              <a:rPr u="sng">
                <a:solidFill>
                  <a:srgbClr val="293546"/>
                </a:solidFill>
                <a:uFill>
                  <a:solidFill>
                    <a:srgbClr val="293546"/>
                  </a:solidFill>
                </a:uFill>
                <a:hlinkClick r:id="rId23" invalidUrl="" action="" tgtFrame="" tooltip="" history="1" highlightClick="0" endSnd="0"/>
              </a:rPr>
              <a:t>LYLAS</a:t>
            </a:r>
            <a:r>
              <a:t> - Love You Like A Sister</a:t>
            </a:r>
          </a:p>
          <a:p>
            <a:pPr algn="l" defTabSz="457200">
              <a:defRPr sz="1500">
                <a:latin typeface="Arial"/>
                <a:ea typeface="Arial"/>
                <a:cs typeface="Arial"/>
                <a:sym typeface="Arial"/>
              </a:defRPr>
            </a:pPr>
            <a:r>
              <a:rPr u="sng">
                <a:solidFill>
                  <a:srgbClr val="293546"/>
                </a:solidFill>
                <a:uFill>
                  <a:solidFill>
                    <a:srgbClr val="293546"/>
                  </a:solidFill>
                </a:uFill>
                <a:hlinkClick r:id="rId24" invalidUrl="" action="" tgtFrame="" tooltip="" history="1" highlightClick="0" endSnd="0"/>
              </a:rPr>
              <a:t>MHOTY</a:t>
            </a:r>
            <a:r>
              <a:t> - My Hat's Off To You</a:t>
            </a:r>
          </a:p>
          <a:p>
            <a:pPr algn="l" defTabSz="457200">
              <a:defRPr sz="1500">
                <a:latin typeface="Arial"/>
                <a:ea typeface="Arial"/>
                <a:cs typeface="Arial"/>
                <a:sym typeface="Arial"/>
              </a:defRPr>
            </a:pPr>
            <a:r>
              <a:rPr u="sng">
                <a:solidFill>
                  <a:srgbClr val="293546"/>
                </a:solidFill>
                <a:uFill>
                  <a:solidFill>
                    <a:srgbClr val="293546"/>
                  </a:solidFill>
                </a:uFill>
                <a:hlinkClick r:id="rId25" invalidUrl="" action="" tgtFrame="" tooltip="" history="1" highlightClick="0" endSnd="0"/>
              </a:rPr>
              <a:t>NIMBY</a:t>
            </a:r>
            <a:r>
              <a:t> - Not In My Back Yard</a:t>
            </a:r>
          </a:p>
          <a:p>
            <a:pPr algn="l" defTabSz="457200">
              <a:defRPr sz="1500">
                <a:latin typeface="Arial"/>
                <a:ea typeface="Arial"/>
                <a:cs typeface="Arial"/>
                <a:sym typeface="Arial"/>
              </a:defRPr>
            </a:pPr>
            <a:r>
              <a:rPr u="sng">
                <a:solidFill>
                  <a:srgbClr val="293546"/>
                </a:solidFill>
                <a:uFill>
                  <a:solidFill>
                    <a:srgbClr val="293546"/>
                  </a:solidFill>
                </a:uFill>
                <a:hlinkClick r:id="rId26" invalidUrl="" action="" tgtFrame="" tooltip="" history="1" highlightClick="0" endSnd="0"/>
              </a:rPr>
              <a:t>NP</a:t>
            </a:r>
            <a:r>
              <a:t> - No Problem -or- Nosy Parents</a:t>
            </a:r>
          </a:p>
        </p:txBody>
      </p:sp>
      <p:sp>
        <p:nvSpPr>
          <p:cNvPr id="208" name="Shape 208"/>
          <p:cNvSpPr/>
          <p:nvPr/>
        </p:nvSpPr>
        <p:spPr>
          <a:xfrm>
            <a:off x="6886054" y="3006666"/>
            <a:ext cx="5616290" cy="5492868"/>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defRPr sz="1500">
                <a:latin typeface="Arial"/>
                <a:ea typeface="Arial"/>
                <a:cs typeface="Arial"/>
                <a:sym typeface="Arial"/>
              </a:defRPr>
            </a:pPr>
            <a:r>
              <a:rPr u="sng">
                <a:solidFill>
                  <a:srgbClr val="293546"/>
                </a:solidFill>
                <a:uFill>
                  <a:solidFill>
                    <a:srgbClr val="293546"/>
                  </a:solidFill>
                </a:uFill>
                <a:hlinkClick r:id="rId27" invalidUrl="" action="" tgtFrame="" tooltip="" history="1" highlightClick="0" endSnd="0"/>
              </a:rPr>
              <a:t>NUB</a:t>
            </a:r>
            <a:r>
              <a:t> - New person to a site or game</a:t>
            </a:r>
          </a:p>
          <a:p>
            <a:pPr algn="l" defTabSz="457200">
              <a:defRPr sz="1500">
                <a:latin typeface="Arial"/>
                <a:ea typeface="Arial"/>
                <a:cs typeface="Arial"/>
                <a:sym typeface="Arial"/>
              </a:defRPr>
            </a:pPr>
            <a:r>
              <a:rPr u="sng">
                <a:solidFill>
                  <a:srgbClr val="293546"/>
                </a:solidFill>
                <a:uFill>
                  <a:solidFill>
                    <a:srgbClr val="293546"/>
                  </a:solidFill>
                </a:uFill>
                <a:hlinkClick r:id="rId28" invalidUrl="" action="" tgtFrame="" tooltip="" history="1" highlightClick="0" endSnd="0"/>
              </a:rPr>
              <a:t>OIC</a:t>
            </a:r>
            <a:r>
              <a:t> - Oh, I See</a:t>
            </a:r>
          </a:p>
          <a:p>
            <a:pPr algn="l" defTabSz="457200">
              <a:defRPr sz="1500">
                <a:latin typeface="Arial"/>
                <a:ea typeface="Arial"/>
                <a:cs typeface="Arial"/>
                <a:sym typeface="Arial"/>
              </a:defRPr>
            </a:pPr>
            <a:r>
              <a:rPr u="sng">
                <a:solidFill>
                  <a:srgbClr val="293546"/>
                </a:solidFill>
                <a:uFill>
                  <a:solidFill>
                    <a:srgbClr val="293546"/>
                  </a:solidFill>
                </a:uFill>
                <a:hlinkClick r:id="rId29" invalidUrl="" action="" tgtFrame="" tooltip="" history="1" highlightClick="0" endSnd="0"/>
              </a:rPr>
              <a:t>OMG</a:t>
            </a:r>
            <a:r>
              <a:t> - Oh My God</a:t>
            </a:r>
          </a:p>
          <a:p>
            <a:pPr algn="l" defTabSz="457200">
              <a:defRPr sz="1500">
                <a:latin typeface="Arial"/>
                <a:ea typeface="Arial"/>
                <a:cs typeface="Arial"/>
                <a:sym typeface="Arial"/>
              </a:defRPr>
            </a:pPr>
            <a:r>
              <a:rPr u="sng">
                <a:solidFill>
                  <a:srgbClr val="293546"/>
                </a:solidFill>
                <a:uFill>
                  <a:solidFill>
                    <a:srgbClr val="293546"/>
                  </a:solidFill>
                </a:uFill>
                <a:hlinkClick r:id="rId30" invalidUrl="" action="" tgtFrame="" tooltip="" history="1" highlightClick="0" endSnd="0"/>
              </a:rPr>
              <a:t>OT</a:t>
            </a:r>
            <a:r>
              <a:t> - Off Topic</a:t>
            </a:r>
          </a:p>
          <a:p>
            <a:pPr algn="l" defTabSz="457200">
              <a:defRPr sz="1500">
                <a:latin typeface="Arial"/>
                <a:ea typeface="Arial"/>
                <a:cs typeface="Arial"/>
                <a:sym typeface="Arial"/>
              </a:defRPr>
            </a:pPr>
            <a:r>
              <a:rPr u="sng">
                <a:solidFill>
                  <a:srgbClr val="293546"/>
                </a:solidFill>
                <a:uFill>
                  <a:solidFill>
                    <a:srgbClr val="293546"/>
                  </a:solidFill>
                </a:uFill>
                <a:hlinkClick r:id="rId31" invalidUrl="" action="" tgtFrame="" tooltip="" history="1" highlightClick="0" endSnd="0"/>
              </a:rPr>
              <a:t>POV</a:t>
            </a:r>
            <a:r>
              <a:t> - Point Of View</a:t>
            </a:r>
          </a:p>
          <a:p>
            <a:pPr algn="l" defTabSz="457200">
              <a:defRPr sz="1500">
                <a:latin typeface="Arial"/>
                <a:ea typeface="Arial"/>
                <a:cs typeface="Arial"/>
                <a:sym typeface="Arial"/>
              </a:defRPr>
            </a:pPr>
            <a:r>
              <a:rPr u="sng">
                <a:solidFill>
                  <a:srgbClr val="293546"/>
                </a:solidFill>
                <a:uFill>
                  <a:solidFill>
                    <a:srgbClr val="293546"/>
                  </a:solidFill>
                </a:uFill>
                <a:hlinkClick r:id="rId32" invalidUrl="" action="" tgtFrame="" tooltip="" history="1" highlightClick="0" endSnd="0"/>
              </a:rPr>
              <a:t>RBTL</a:t>
            </a:r>
            <a:r>
              <a:t> - Read Between The Lines</a:t>
            </a:r>
          </a:p>
          <a:p>
            <a:pPr algn="l" defTabSz="457200">
              <a:defRPr sz="1500">
                <a:latin typeface="Arial"/>
                <a:ea typeface="Arial"/>
                <a:cs typeface="Arial"/>
                <a:sym typeface="Arial"/>
              </a:defRPr>
            </a:pPr>
            <a:r>
              <a:rPr u="sng">
                <a:solidFill>
                  <a:srgbClr val="293546"/>
                </a:solidFill>
                <a:uFill>
                  <a:solidFill>
                    <a:srgbClr val="293546"/>
                  </a:solidFill>
                </a:uFill>
                <a:hlinkClick r:id="rId33" invalidUrl="" action="" tgtFrame="" tooltip="" history="1" highlightClick="0" endSnd="0"/>
              </a:rPr>
              <a:t>ROTFLMAO</a:t>
            </a:r>
            <a:r>
              <a:t> - Rolling On The Floor Laughing My Ass Off</a:t>
            </a:r>
          </a:p>
          <a:p>
            <a:pPr algn="l" defTabSz="457200">
              <a:defRPr sz="1500">
                <a:latin typeface="Arial"/>
                <a:ea typeface="Arial"/>
                <a:cs typeface="Arial"/>
                <a:sym typeface="Arial"/>
              </a:defRPr>
            </a:pPr>
            <a:r>
              <a:rPr u="sng">
                <a:solidFill>
                  <a:srgbClr val="293546"/>
                </a:solidFill>
                <a:uFill>
                  <a:solidFill>
                    <a:srgbClr val="293546"/>
                  </a:solidFill>
                </a:uFill>
                <a:hlinkClick r:id="rId34" invalidUrl="" action="" tgtFrame="" tooltip="" history="1" highlightClick="0" endSnd="0"/>
              </a:rPr>
              <a:t>RT</a:t>
            </a:r>
            <a:r>
              <a:t> - Real Time -or- ReTweet</a:t>
            </a:r>
          </a:p>
          <a:p>
            <a:pPr algn="l" defTabSz="457200">
              <a:defRPr sz="1500" u="sng">
                <a:solidFill>
                  <a:srgbClr val="293546"/>
                </a:solidFill>
                <a:uFill>
                  <a:solidFill>
                    <a:srgbClr val="293546"/>
                  </a:solidFill>
                </a:uFill>
                <a:latin typeface="Arial"/>
                <a:ea typeface="Arial"/>
                <a:cs typeface="Arial"/>
                <a:sym typeface="Arial"/>
              </a:defRPr>
            </a:pPr>
            <a:r>
              <a:rPr>
                <a:hlinkClick r:id="rId35" invalidUrl="" action="" tgtFrame="" tooltip="" history="1" highlightClick="0" endSnd="0"/>
              </a:rPr>
              <a:t>THX or TX or THKS</a:t>
            </a:r>
            <a:r>
              <a:rPr u="none">
                <a:solidFill>
                  <a:srgbClr val="000000"/>
                </a:solidFill>
              </a:rPr>
              <a:t> - Thanks</a:t>
            </a:r>
            <a:endParaRPr u="none">
              <a:solidFill>
                <a:srgbClr val="000000"/>
              </a:solidFill>
            </a:endParaRPr>
          </a:p>
          <a:p>
            <a:pPr algn="l" defTabSz="457200">
              <a:defRPr sz="1500">
                <a:latin typeface="Arial"/>
                <a:ea typeface="Arial"/>
                <a:cs typeface="Arial"/>
                <a:sym typeface="Arial"/>
              </a:defRPr>
            </a:pPr>
            <a:r>
              <a:rPr u="sng">
                <a:solidFill>
                  <a:srgbClr val="293546"/>
                </a:solidFill>
                <a:uFill>
                  <a:solidFill>
                    <a:srgbClr val="293546"/>
                  </a:solidFill>
                </a:uFill>
                <a:hlinkClick r:id="rId36" invalidUrl="" action="" tgtFrame="" tooltip="" history="1" highlightClick="0" endSnd="0"/>
              </a:rPr>
              <a:t>SH</a:t>
            </a:r>
            <a:r>
              <a:t> - Sh** Happens</a:t>
            </a:r>
          </a:p>
          <a:p>
            <a:pPr algn="l" defTabSz="457200">
              <a:defRPr sz="1500">
                <a:latin typeface="Arial"/>
                <a:ea typeface="Arial"/>
                <a:cs typeface="Arial"/>
                <a:sym typeface="Arial"/>
              </a:defRPr>
            </a:pPr>
            <a:r>
              <a:rPr u="sng">
                <a:solidFill>
                  <a:srgbClr val="293546"/>
                </a:solidFill>
                <a:uFill>
                  <a:solidFill>
                    <a:srgbClr val="293546"/>
                  </a:solidFill>
                </a:uFill>
                <a:hlinkClick r:id="rId37" invalidUrl="" action="" tgtFrame="" tooltip="" history="1" highlightClick="0" endSnd="0"/>
              </a:rPr>
              <a:t>SITD</a:t>
            </a:r>
            <a:r>
              <a:t> - Still In The Dark</a:t>
            </a:r>
          </a:p>
          <a:p>
            <a:pPr algn="l" defTabSz="457200">
              <a:defRPr sz="1500">
                <a:latin typeface="Arial"/>
                <a:ea typeface="Arial"/>
                <a:cs typeface="Arial"/>
                <a:sym typeface="Arial"/>
              </a:defRPr>
            </a:pPr>
            <a:r>
              <a:rPr u="sng">
                <a:solidFill>
                  <a:srgbClr val="293546"/>
                </a:solidFill>
                <a:uFill>
                  <a:solidFill>
                    <a:srgbClr val="293546"/>
                  </a:solidFill>
                </a:uFill>
                <a:hlinkClick r:id="rId38" invalidUrl="" action="" tgtFrame="" tooltip="" history="1" highlightClick="0" endSnd="0"/>
              </a:rPr>
              <a:t>SOL</a:t>
            </a:r>
            <a:r>
              <a:t> - Sh** Out of Luck -or- Sooner Or Later</a:t>
            </a:r>
          </a:p>
          <a:p>
            <a:pPr algn="l" defTabSz="457200">
              <a:defRPr sz="1500">
                <a:latin typeface="Arial"/>
                <a:ea typeface="Arial"/>
                <a:cs typeface="Arial"/>
                <a:sym typeface="Arial"/>
              </a:defRPr>
            </a:pPr>
            <a:r>
              <a:rPr u="sng">
                <a:solidFill>
                  <a:srgbClr val="293546"/>
                </a:solidFill>
                <a:uFill>
                  <a:solidFill>
                    <a:srgbClr val="293546"/>
                  </a:solidFill>
                </a:uFill>
                <a:hlinkClick r:id="rId39" invalidUrl="" action="" tgtFrame="" tooltip="" history="1" highlightClick="0" endSnd="0"/>
              </a:rPr>
              <a:t>STBY</a:t>
            </a:r>
            <a:r>
              <a:t> - Sucks To Be You</a:t>
            </a:r>
          </a:p>
          <a:p>
            <a:pPr algn="l" defTabSz="457200">
              <a:defRPr sz="1500">
                <a:latin typeface="Arial"/>
                <a:ea typeface="Arial"/>
                <a:cs typeface="Arial"/>
                <a:sym typeface="Arial"/>
              </a:defRPr>
            </a:pPr>
            <a:r>
              <a:rPr u="sng">
                <a:solidFill>
                  <a:srgbClr val="293546"/>
                </a:solidFill>
                <a:uFill>
                  <a:solidFill>
                    <a:srgbClr val="293546"/>
                  </a:solidFill>
                </a:uFill>
                <a:hlinkClick r:id="rId40" invalidUrl="" action="" tgtFrame="" tooltip="" history="1" highlightClick="0" endSnd="0"/>
              </a:rPr>
              <a:t>SWAK</a:t>
            </a:r>
            <a:r>
              <a:t> - Sealed (or Sent) With A Kiss</a:t>
            </a:r>
          </a:p>
          <a:p>
            <a:pPr algn="l" defTabSz="457200">
              <a:defRPr sz="1500">
                <a:latin typeface="Arial"/>
                <a:ea typeface="Arial"/>
                <a:cs typeface="Arial"/>
                <a:sym typeface="Arial"/>
              </a:defRPr>
            </a:pPr>
            <a:r>
              <a:rPr u="sng">
                <a:solidFill>
                  <a:srgbClr val="293546"/>
                </a:solidFill>
                <a:uFill>
                  <a:solidFill>
                    <a:srgbClr val="293546"/>
                  </a:solidFill>
                </a:uFill>
                <a:hlinkClick r:id="rId41" invalidUrl="" action="" tgtFrame="" tooltip="" history="1" highlightClick="0" endSnd="0"/>
              </a:rPr>
              <a:t>TFH</a:t>
            </a:r>
            <a:r>
              <a:t> - Thread From Hell</a:t>
            </a:r>
          </a:p>
          <a:p>
            <a:pPr algn="l" defTabSz="457200">
              <a:defRPr sz="1500">
                <a:latin typeface="Arial"/>
                <a:ea typeface="Arial"/>
                <a:cs typeface="Arial"/>
                <a:sym typeface="Arial"/>
              </a:defRPr>
            </a:pPr>
            <a:r>
              <a:rPr u="sng">
                <a:solidFill>
                  <a:srgbClr val="293546"/>
                </a:solidFill>
                <a:uFill>
                  <a:solidFill>
                    <a:srgbClr val="293546"/>
                  </a:solidFill>
                </a:uFill>
                <a:hlinkClick r:id="rId42" invalidUrl="" action="" tgtFrame="" tooltip="" history="1" highlightClick="0" endSnd="0"/>
              </a:rPr>
              <a:t>RTM or RTFM</a:t>
            </a:r>
            <a:r>
              <a:t> - Read The Manual -or- Read The F***ing Manual</a:t>
            </a:r>
          </a:p>
          <a:p>
            <a:pPr algn="l" defTabSz="457200">
              <a:defRPr sz="1500">
                <a:latin typeface="Arial"/>
                <a:ea typeface="Arial"/>
                <a:cs typeface="Arial"/>
                <a:sym typeface="Arial"/>
              </a:defRPr>
            </a:pPr>
            <a:r>
              <a:rPr u="sng">
                <a:solidFill>
                  <a:srgbClr val="293546"/>
                </a:solidFill>
                <a:uFill>
                  <a:solidFill>
                    <a:srgbClr val="293546"/>
                  </a:solidFill>
                </a:uFill>
                <a:hlinkClick r:id="rId43" invalidUrl="" action="" tgtFrame="" tooltip="" history="1" highlightClick="0" endSnd="0"/>
              </a:rPr>
              <a:t>TLC</a:t>
            </a:r>
            <a:r>
              <a:t> - Tender Loving Care</a:t>
            </a:r>
          </a:p>
          <a:p>
            <a:pPr algn="l" defTabSz="457200">
              <a:defRPr sz="1500">
                <a:latin typeface="Arial"/>
                <a:ea typeface="Arial"/>
                <a:cs typeface="Arial"/>
                <a:sym typeface="Arial"/>
              </a:defRPr>
            </a:pPr>
            <a:r>
              <a:rPr u="sng">
                <a:solidFill>
                  <a:srgbClr val="293546"/>
                </a:solidFill>
                <a:uFill>
                  <a:solidFill>
                    <a:srgbClr val="293546"/>
                  </a:solidFill>
                </a:uFill>
                <a:hlinkClick r:id="rId44" invalidUrl="" action="" tgtFrame="" tooltip="" history="1" highlightClick="0" endSnd="0"/>
              </a:rPr>
              <a:t>TMI</a:t>
            </a:r>
            <a:r>
              <a:t> - Too Much Information</a:t>
            </a:r>
          </a:p>
          <a:p>
            <a:pPr algn="l" defTabSz="457200">
              <a:defRPr sz="1500">
                <a:latin typeface="Arial"/>
                <a:ea typeface="Arial"/>
                <a:cs typeface="Arial"/>
                <a:sym typeface="Arial"/>
              </a:defRPr>
            </a:pPr>
            <a:r>
              <a:rPr u="sng">
                <a:solidFill>
                  <a:srgbClr val="293546"/>
                </a:solidFill>
                <a:uFill>
                  <a:solidFill>
                    <a:srgbClr val="293546"/>
                  </a:solidFill>
                </a:uFill>
                <a:hlinkClick r:id="rId45" invalidUrl="" action="" tgtFrame="" tooltip="" history="1" highlightClick="0" endSnd="0"/>
              </a:rPr>
              <a:t>TTYL</a:t>
            </a:r>
            <a:r>
              <a:t> - Talk To You Later -or- Type To You Later</a:t>
            </a:r>
          </a:p>
          <a:p>
            <a:pPr algn="l" defTabSz="457200">
              <a:defRPr sz="1500">
                <a:latin typeface="Arial"/>
                <a:ea typeface="Arial"/>
                <a:cs typeface="Arial"/>
                <a:sym typeface="Arial"/>
              </a:defRPr>
            </a:pPr>
            <a:r>
              <a:rPr u="sng">
                <a:solidFill>
                  <a:srgbClr val="293546"/>
                </a:solidFill>
                <a:uFill>
                  <a:solidFill>
                    <a:srgbClr val="293546"/>
                  </a:solidFill>
                </a:uFill>
                <a:hlinkClick r:id="rId46" invalidUrl="" action="" tgtFrame="" tooltip="" history="1" highlightClick="0" endSnd="0"/>
              </a:rPr>
              <a:t>TYVM</a:t>
            </a:r>
            <a:r>
              <a:t> - Thank You Very Much</a:t>
            </a:r>
          </a:p>
          <a:p>
            <a:pPr algn="l" defTabSz="457200">
              <a:defRPr sz="1500">
                <a:latin typeface="Arial"/>
                <a:ea typeface="Arial"/>
                <a:cs typeface="Arial"/>
                <a:sym typeface="Arial"/>
              </a:defRPr>
            </a:pPr>
            <a:r>
              <a:rPr u="sng">
                <a:solidFill>
                  <a:srgbClr val="293546"/>
                </a:solidFill>
                <a:uFill>
                  <a:solidFill>
                    <a:srgbClr val="293546"/>
                  </a:solidFill>
                </a:uFill>
                <a:hlinkClick r:id="rId47" invalidUrl="" action="" tgtFrame="" tooltip="" history="1" highlightClick="0" endSnd="0"/>
              </a:rPr>
              <a:t>VBG</a:t>
            </a:r>
            <a:r>
              <a:t> - Very Big Grin</a:t>
            </a:r>
          </a:p>
          <a:p>
            <a:pPr algn="l" defTabSz="457200">
              <a:defRPr sz="1500">
                <a:latin typeface="Arial"/>
                <a:ea typeface="Arial"/>
                <a:cs typeface="Arial"/>
                <a:sym typeface="Arial"/>
              </a:defRPr>
            </a:pPr>
            <a:r>
              <a:rPr u="sng">
                <a:solidFill>
                  <a:srgbClr val="293546"/>
                </a:solidFill>
                <a:uFill>
                  <a:solidFill>
                    <a:srgbClr val="293546"/>
                  </a:solidFill>
                </a:uFill>
                <a:hlinkClick r:id="rId48" invalidUrl="" action="" tgtFrame="" tooltip="" history="1" highlightClick="0" endSnd="0"/>
              </a:rPr>
              <a:t>WEG</a:t>
            </a:r>
            <a:r>
              <a:t> - Wicked Evil Grin</a:t>
            </a:r>
          </a:p>
          <a:p>
            <a:pPr algn="l" defTabSz="457200">
              <a:defRPr sz="1500">
                <a:latin typeface="Arial"/>
                <a:ea typeface="Arial"/>
                <a:cs typeface="Arial"/>
                <a:sym typeface="Arial"/>
              </a:defRPr>
            </a:pPr>
            <a:r>
              <a:rPr u="sng">
                <a:solidFill>
                  <a:srgbClr val="293546"/>
                </a:solidFill>
                <a:uFill>
                  <a:solidFill>
                    <a:srgbClr val="293546"/>
                  </a:solidFill>
                </a:uFill>
                <a:hlinkClick r:id="rId49" invalidUrl="" action="" tgtFrame="" tooltip="" history="1" highlightClick="0" endSnd="0"/>
              </a:rPr>
              <a:t>WTF</a:t>
            </a:r>
            <a:r>
              <a:t> - What The F***</a:t>
            </a:r>
          </a:p>
          <a:p>
            <a:pPr algn="l" defTabSz="457200">
              <a:defRPr sz="1500">
                <a:latin typeface="Arial"/>
                <a:ea typeface="Arial"/>
                <a:cs typeface="Arial"/>
                <a:sym typeface="Arial"/>
              </a:defRPr>
            </a:pPr>
            <a:r>
              <a:rPr u="sng">
                <a:solidFill>
                  <a:srgbClr val="293546"/>
                </a:solidFill>
                <a:uFill>
                  <a:solidFill>
                    <a:srgbClr val="293546"/>
                  </a:solidFill>
                </a:uFill>
                <a:hlinkClick r:id="rId50" invalidUrl="" action="" tgtFrame="" tooltip="" history="1" highlightClick="0" endSnd="0"/>
              </a:rPr>
              <a:t>WYWH</a:t>
            </a:r>
            <a:r>
              <a:t> - Wish You Were Here</a:t>
            </a:r>
          </a:p>
          <a:p>
            <a:pPr algn="l" defTabSz="457200">
              <a:defRPr sz="1500">
                <a:latin typeface="Arial"/>
                <a:ea typeface="Arial"/>
                <a:cs typeface="Arial"/>
                <a:sym typeface="Arial"/>
              </a:defRPr>
            </a:pPr>
            <a:r>
              <a:rPr u="sng">
                <a:solidFill>
                  <a:srgbClr val="293546"/>
                </a:solidFill>
                <a:uFill>
                  <a:solidFill>
                    <a:srgbClr val="293546"/>
                  </a:solidFill>
                </a:uFill>
                <a:hlinkClick r:id="rId51" invalidUrl="" action="" tgtFrame="" tooltip="" history="1" highlightClick="0" endSnd="0"/>
              </a:rPr>
              <a:t>XOXO</a:t>
            </a:r>
            <a:r>
              <a:t> - Hugs and Kisses</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10" name="Shape 210"/>
          <p:cNvSpPr/>
          <p:nvPr>
            <p:ph type="body" idx="13"/>
          </p:nvPr>
        </p:nvSpPr>
        <p:spPr>
          <a:prstGeom prst="rect">
            <a:avLst/>
          </a:prstGeom>
        </p:spPr>
        <p:txBody>
          <a:bodyPr/>
          <a:lstStyle/>
          <a:p>
            <a:pPr/>
            <a:r>
              <a:t>Partial information quiz</a:t>
            </a:r>
          </a:p>
        </p:txBody>
      </p:sp>
      <p:sp>
        <p:nvSpPr>
          <p:cNvPr id="211" name="Shape 211"/>
          <p:cNvSpPr/>
          <p:nvPr/>
        </p:nvSpPr>
        <p:spPr>
          <a:xfrm>
            <a:off x="1350528" y="2730500"/>
            <a:ext cx="10303744"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5200">
                <a:latin typeface="+mj-lt"/>
                <a:ea typeface="+mj-ea"/>
                <a:cs typeface="+mj-cs"/>
                <a:sym typeface="Helvetica"/>
              </a:defRPr>
            </a:lvl1pPr>
          </a:lstStyle>
          <a:p>
            <a:pPr/>
            <a:r>
              <a:t>To see a world in a grain of sand</a:t>
            </a:r>
          </a:p>
        </p:txBody>
      </p:sp>
      <p:sp>
        <p:nvSpPr>
          <p:cNvPr id="212" name="Shape 212"/>
          <p:cNvSpPr/>
          <p:nvPr/>
        </p:nvSpPr>
        <p:spPr>
          <a:xfrm>
            <a:off x="1257300" y="3200400"/>
            <a:ext cx="10278319" cy="492721"/>
          </a:xfrm>
          <a:prstGeom prst="rect">
            <a:avLst/>
          </a:prstGeom>
          <a:solidFill>
            <a:srgbClr val="FFFFFF"/>
          </a:solidFill>
          <a:ln w="12700">
            <a:miter lim="400000"/>
          </a:ln>
        </p:spPr>
        <p:txBody>
          <a:bodyPr lIns="50800" tIns="50800" rIns="50800" bIns="50800" anchor="ctr"/>
          <a:lstStyle/>
          <a:p>
            <a:pPr>
              <a:defRPr sz="2400">
                <a:solidFill>
                  <a:srgbClr val="FFFFFF"/>
                </a:solidFill>
              </a:defRPr>
            </a:pPr>
          </a:p>
        </p:txBody>
      </p:sp>
      <p:sp>
        <p:nvSpPr>
          <p:cNvPr id="213" name="Shape 213"/>
          <p:cNvSpPr/>
          <p:nvPr/>
        </p:nvSpPr>
        <p:spPr>
          <a:xfrm>
            <a:off x="699541" y="4255731"/>
            <a:ext cx="11783518"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5200">
                <a:latin typeface="+mj-lt"/>
                <a:ea typeface="+mj-ea"/>
                <a:cs typeface="+mj-cs"/>
                <a:sym typeface="Helvetica"/>
              </a:defRPr>
            </a:lvl1pPr>
          </a:lstStyle>
          <a:p>
            <a:pPr/>
            <a:r>
              <a:t>The five boxing wizards jump quickly</a:t>
            </a:r>
          </a:p>
        </p:txBody>
      </p:sp>
      <p:sp>
        <p:nvSpPr>
          <p:cNvPr id="214" name="Shape 214"/>
          <p:cNvSpPr/>
          <p:nvPr/>
        </p:nvSpPr>
        <p:spPr>
          <a:xfrm>
            <a:off x="1028700" y="4290020"/>
            <a:ext cx="11276757" cy="492721"/>
          </a:xfrm>
          <a:prstGeom prst="rect">
            <a:avLst/>
          </a:prstGeom>
          <a:solidFill>
            <a:srgbClr val="FFFFFF"/>
          </a:solidFill>
          <a:ln w="12700">
            <a:miter lim="400000"/>
          </a:ln>
        </p:spPr>
        <p:txBody>
          <a:bodyPr lIns="50800" tIns="50800" rIns="50800" bIns="50800" anchor="ctr"/>
          <a:lstStyle/>
          <a:p>
            <a:pPr>
              <a:defRPr sz="2400">
                <a:solidFill>
                  <a:srgbClr val="FFFFFF"/>
                </a:solidFill>
              </a:defRPr>
            </a:pPr>
          </a:p>
        </p:txBody>
      </p:sp>
      <p:sp>
        <p:nvSpPr>
          <p:cNvPr id="215" name="Shape 215"/>
          <p:cNvSpPr/>
          <p:nvPr/>
        </p:nvSpPr>
        <p:spPr>
          <a:xfrm>
            <a:off x="1848247" y="8097481"/>
            <a:ext cx="9308307" cy="774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4400">
                <a:latin typeface="+mj-lt"/>
                <a:ea typeface="+mj-ea"/>
                <a:cs typeface="+mj-cs"/>
                <a:sym typeface="Helvetica"/>
              </a:defRPr>
            </a:lvl1pPr>
          </a:lstStyle>
          <a:p>
            <a:pPr/>
            <a:r>
              <a:t>W_l_ d_n_ i_ b_t_e_ t_a_ w_l_ s_i_</a:t>
            </a:r>
          </a:p>
        </p:txBody>
      </p:sp>
      <p:sp>
        <p:nvSpPr>
          <p:cNvPr id="216" name="Shape 216"/>
          <p:cNvSpPr/>
          <p:nvPr/>
        </p:nvSpPr>
        <p:spPr>
          <a:xfrm>
            <a:off x="3820145" y="6231851"/>
            <a:ext cx="5364510" cy="774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4400">
                <a:latin typeface="+mj-lt"/>
                <a:ea typeface="+mj-ea"/>
                <a:cs typeface="+mj-cs"/>
                <a:sym typeface="Helvetica"/>
              </a:defRPr>
            </a:lvl1pPr>
          </a:lstStyle>
          <a:p>
            <a:pPr/>
            <a:r>
              <a:t>H_r_a_d _n_v_r_i_y</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xit" nodeType="clickEffect" presetID="9" grpId="1" fill="hold">
                                  <p:stCondLst>
                                    <p:cond delay="0"/>
                                  </p:stCondLst>
                                  <p:iterate type="el" backwards="0">
                                    <p:tmAbs val="0"/>
                                  </p:iterate>
                                  <p:childTnLst>
                                    <p:animEffect filter="dissolve" transition="out">
                                      <p:cBhvr>
                                        <p:cTn id="6" dur="1000" fill="hold"/>
                                        <p:tgtEl>
                                          <p:spTgt spid="212"/>
                                        </p:tgtEl>
                                      </p:cBhvr>
                                    </p:animEffect>
                                    <p:set>
                                      <p:cBhvr>
                                        <p:cTn id="7" fill="hold">
                                          <p:stCondLst>
                                            <p:cond delay="999"/>
                                          </p:stCondLst>
                                        </p:cTn>
                                        <p:tgtEl>
                                          <p:spTgt spid="21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Class="entr" nodeType="clickEffect" presetID="9" grpId="2" fill="hold">
                                  <p:stCondLst>
                                    <p:cond delay="0"/>
                                  </p:stCondLst>
                                  <p:iterate type="el" backwards="0">
                                    <p:tmAbs val="0"/>
                                  </p:iterate>
                                  <p:childTnLst>
                                    <p:set>
                                      <p:cBhvr>
                                        <p:cTn id="11" fill="hold"/>
                                        <p:tgtEl>
                                          <p:spTgt spid="213"/>
                                        </p:tgtEl>
                                        <p:attrNameLst>
                                          <p:attrName>style.visibility</p:attrName>
                                        </p:attrNameLst>
                                      </p:cBhvr>
                                      <p:to>
                                        <p:strVal val="visible"/>
                                      </p:to>
                                    </p:set>
                                    <p:animEffect filter="dissolve" transition="in">
                                      <p:cBhvr>
                                        <p:cTn id="12" dur="1000"/>
                                        <p:tgtEl>
                                          <p:spTgt spid="213"/>
                                        </p:tgtEl>
                                      </p:cBhvr>
                                    </p:animEffect>
                                  </p:childTnLst>
                                </p:cTn>
                              </p:par>
                            </p:childTnLst>
                          </p:cTn>
                        </p:par>
                      </p:childTnLst>
                    </p:cTn>
                  </p:par>
                  <p:par>
                    <p:cTn id="13" fill="hold">
                      <p:stCondLst>
                        <p:cond delay="indefinite"/>
                      </p:stCondLst>
                      <p:childTnLst>
                        <p:par>
                          <p:cTn id="14" fill="hold">
                            <p:stCondLst>
                              <p:cond delay="0"/>
                            </p:stCondLst>
                            <p:childTnLst>
                              <p:par>
                                <p:cTn id="15" presetClass="exit" nodeType="clickEffect" presetID="9" grpId="3" fill="hold">
                                  <p:stCondLst>
                                    <p:cond delay="0"/>
                                  </p:stCondLst>
                                  <p:iterate type="el" backwards="0">
                                    <p:tmAbs val="0"/>
                                  </p:iterate>
                                  <p:childTnLst>
                                    <p:animEffect filter="dissolve" transition="out">
                                      <p:cBhvr>
                                        <p:cTn id="16" dur="1000" fill="hold"/>
                                        <p:tgtEl>
                                          <p:spTgt spid="214"/>
                                        </p:tgtEl>
                                      </p:cBhvr>
                                    </p:animEffect>
                                    <p:set>
                                      <p:cBhvr>
                                        <p:cTn id="17" fill="hold">
                                          <p:stCondLst>
                                            <p:cond delay="999"/>
                                          </p:stCondLst>
                                        </p:cTn>
                                        <p:tgtEl>
                                          <p:spTgt spid="214"/>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Class="entr" nodeType="clickEffect" presetID="9" grpId="4" fill="hold">
                                  <p:stCondLst>
                                    <p:cond delay="0"/>
                                  </p:stCondLst>
                                  <p:iterate type="el" backwards="0">
                                    <p:tmAbs val="0"/>
                                  </p:iterate>
                                  <p:childTnLst>
                                    <p:set>
                                      <p:cBhvr>
                                        <p:cTn id="21" fill="hold"/>
                                        <p:tgtEl>
                                          <p:spTgt spid="216"/>
                                        </p:tgtEl>
                                        <p:attrNameLst>
                                          <p:attrName>style.visibility</p:attrName>
                                        </p:attrNameLst>
                                      </p:cBhvr>
                                      <p:to>
                                        <p:strVal val="visible"/>
                                      </p:to>
                                    </p:set>
                                    <p:animEffect filter="dissolve" transition="in">
                                      <p:cBhvr>
                                        <p:cTn id="22" dur="1000"/>
                                        <p:tgtEl>
                                          <p:spTgt spid="216"/>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ID="9" grpId="5" fill="hold">
                                  <p:stCondLst>
                                    <p:cond delay="0"/>
                                  </p:stCondLst>
                                  <p:iterate type="el" backwards="0">
                                    <p:tmAbs val="0"/>
                                  </p:iterate>
                                  <p:childTnLst>
                                    <p:set>
                                      <p:cBhvr>
                                        <p:cTn id="26" fill="hold"/>
                                        <p:tgtEl>
                                          <p:spTgt spid="215"/>
                                        </p:tgtEl>
                                        <p:attrNameLst>
                                          <p:attrName>style.visibility</p:attrName>
                                        </p:attrNameLst>
                                      </p:cBhvr>
                                      <p:to>
                                        <p:strVal val="visible"/>
                                      </p:to>
                                    </p:set>
                                    <p:animEffect filter="dissolve" transition="in">
                                      <p:cBhvr>
                                        <p:cTn id="27" dur="1000"/>
                                        <p:tgtEl>
                                          <p:spTgt spid="2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16" grpId="4"/>
      <p:bldP build="whole" bldLvl="1" animBg="1" rev="0" advAuto="0" spid="215" grpId="5"/>
      <p:bldP build="whole" bldLvl="1" animBg="1" rev="0" advAuto="0" spid="214" grpId="3"/>
      <p:bldP build="whole" bldLvl="1" animBg="1" rev="0" advAuto="0" spid="213" grpId="2"/>
      <p:bldP build="whole" bldLvl="1" animBg="1" rev="0" advAuto="0" spid="212" grpId="1"/>
    </p:bldLst>
  </p:timing>
</p:sld>
</file>

<file path=ppt/slides/slide2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18" name="Shape 218"/>
          <p:cNvSpPr/>
          <p:nvPr>
            <p:ph type="body" idx="13"/>
          </p:nvPr>
        </p:nvSpPr>
        <p:spPr>
          <a:prstGeom prst="rect">
            <a:avLst/>
          </a:prstGeom>
        </p:spPr>
        <p:txBody>
          <a:bodyPr/>
          <a:lstStyle/>
          <a:p>
            <a:pPr/>
            <a:r>
              <a:t>Partial information quiz</a:t>
            </a:r>
          </a:p>
        </p:txBody>
      </p:sp>
      <p:sp>
        <p:nvSpPr>
          <p:cNvPr id="219" name="Shape 219"/>
          <p:cNvSpPr/>
          <p:nvPr/>
        </p:nvSpPr>
        <p:spPr>
          <a:xfrm>
            <a:off x="3960527" y="6231851"/>
            <a:ext cx="5083746" cy="774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4400">
                <a:latin typeface="+mj-lt"/>
                <a:ea typeface="+mj-ea"/>
                <a:cs typeface="+mj-cs"/>
                <a:sym typeface="Helvetica"/>
              </a:defRPr>
            </a:lvl1pPr>
          </a:lstStyle>
          <a:p>
            <a:pPr/>
            <a:r>
              <a:t>Harvard University</a:t>
            </a:r>
          </a:p>
        </p:txBody>
      </p:sp>
      <p:sp>
        <p:nvSpPr>
          <p:cNvPr id="220" name="Shape 220"/>
          <p:cNvSpPr/>
          <p:nvPr/>
        </p:nvSpPr>
        <p:spPr>
          <a:xfrm>
            <a:off x="1350528" y="2730500"/>
            <a:ext cx="10303744"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5200">
                <a:latin typeface="+mj-lt"/>
                <a:ea typeface="+mj-ea"/>
                <a:cs typeface="+mj-cs"/>
                <a:sym typeface="Helvetica"/>
              </a:defRPr>
            </a:lvl1pPr>
          </a:lstStyle>
          <a:p>
            <a:pPr/>
            <a:r>
              <a:t>To see a world in a grain of sand</a:t>
            </a:r>
          </a:p>
        </p:txBody>
      </p:sp>
      <p:sp>
        <p:nvSpPr>
          <p:cNvPr id="221" name="Shape 221"/>
          <p:cNvSpPr/>
          <p:nvPr/>
        </p:nvSpPr>
        <p:spPr>
          <a:xfrm>
            <a:off x="2056569" y="8097481"/>
            <a:ext cx="8891663" cy="774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4400">
                <a:latin typeface="+mj-lt"/>
                <a:ea typeface="+mj-ea"/>
                <a:cs typeface="+mj-cs"/>
                <a:sym typeface="Helvetica"/>
              </a:defRPr>
            </a:lvl1pPr>
          </a:lstStyle>
          <a:p>
            <a:pPr/>
            <a:r>
              <a:t>Well done is better than well said</a:t>
            </a:r>
          </a:p>
        </p:txBody>
      </p:sp>
      <p:sp>
        <p:nvSpPr>
          <p:cNvPr id="222" name="Shape 222"/>
          <p:cNvSpPr/>
          <p:nvPr/>
        </p:nvSpPr>
        <p:spPr>
          <a:xfrm>
            <a:off x="699541" y="4255731"/>
            <a:ext cx="11783518"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sz="5200">
                <a:latin typeface="+mj-lt"/>
                <a:ea typeface="+mj-ea"/>
                <a:cs typeface="+mj-cs"/>
                <a:sym typeface="Helvetica"/>
              </a:defRPr>
            </a:lvl1pPr>
          </a:lstStyle>
          <a:p>
            <a:pPr/>
            <a:r>
              <a:t>The five boxing wizards jump quickly</a:t>
            </a:r>
          </a:p>
        </p:txBody>
      </p:sp>
      <p:sp>
        <p:nvSpPr>
          <p:cNvPr id="223" name="Shape 223"/>
          <p:cNvSpPr/>
          <p:nvPr/>
        </p:nvSpPr>
        <p:spPr>
          <a:xfrm>
            <a:off x="10053161" y="3543300"/>
            <a:ext cx="2477999" cy="482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defRPr b="1" i="1" sz="2500">
                <a:solidFill>
                  <a:schemeClr val="accent1"/>
                </a:solidFill>
                <a:latin typeface="+mj-lt"/>
                <a:ea typeface="+mj-ea"/>
                <a:cs typeface="+mj-cs"/>
                <a:sym typeface="Helvetica"/>
              </a:defRPr>
            </a:lvl1pPr>
          </a:lstStyle>
          <a:p>
            <a:pPr/>
            <a:r>
              <a:t>William Blake</a:t>
            </a:r>
          </a:p>
        </p:txBody>
      </p:sp>
      <p:sp>
        <p:nvSpPr>
          <p:cNvPr id="224" name="Shape 224"/>
          <p:cNvSpPr/>
          <p:nvPr/>
        </p:nvSpPr>
        <p:spPr>
          <a:xfrm>
            <a:off x="10053161" y="5111730"/>
            <a:ext cx="2477999" cy="482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defRPr b="1" i="1" sz="2500">
                <a:solidFill>
                  <a:schemeClr val="accent1"/>
                </a:solidFill>
                <a:latin typeface="+mj-lt"/>
                <a:ea typeface="+mj-ea"/>
                <a:cs typeface="+mj-cs"/>
                <a:sym typeface="Helvetica"/>
              </a:defRPr>
            </a:lvl1pPr>
          </a:lstStyle>
          <a:p>
            <a:pPr/>
            <a:r>
              <a:t>Pangram</a:t>
            </a:r>
          </a:p>
        </p:txBody>
      </p:sp>
      <p:sp>
        <p:nvSpPr>
          <p:cNvPr id="225" name="Shape 225"/>
          <p:cNvSpPr/>
          <p:nvPr/>
        </p:nvSpPr>
        <p:spPr>
          <a:xfrm>
            <a:off x="10053161" y="8655030"/>
            <a:ext cx="2678967" cy="863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defRPr b="1" i="1" sz="2500">
                <a:solidFill>
                  <a:schemeClr val="accent1"/>
                </a:solidFill>
                <a:latin typeface="+mj-lt"/>
                <a:ea typeface="+mj-ea"/>
                <a:cs typeface="+mj-cs"/>
                <a:sym typeface="Helvetica"/>
              </a:defRPr>
            </a:lvl1pPr>
          </a:lstStyle>
          <a:p>
            <a:pPr/>
            <a:r>
              <a:t>Benjamin Franklin</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27" name="Shape 227"/>
          <p:cNvSpPr/>
          <p:nvPr>
            <p:ph type="body" idx="13"/>
          </p:nvPr>
        </p:nvSpPr>
        <p:spPr>
          <a:xfrm>
            <a:off x="437232" y="3797300"/>
            <a:ext cx="12130336" cy="2159000"/>
          </a:xfrm>
          <a:prstGeom prst="rect">
            <a:avLst/>
          </a:prstGeom>
        </p:spPr>
        <p:txBody>
          <a:bodyPr/>
          <a:lstStyle/>
          <a:p>
            <a:pPr/>
            <a:r>
              <a:t>Interlude: text game</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pic>
        <p:nvPicPr>
          <p:cNvPr id="229" name="IMG_0608.jpeg"/>
          <p:cNvPicPr>
            <a:picLocks noChangeAspect="1"/>
          </p:cNvPicPr>
          <p:nvPr/>
        </p:nvPicPr>
        <p:blipFill>
          <a:blip r:embed="rId2">
            <a:extLst/>
          </a:blip>
          <a:stretch>
            <a:fillRect/>
          </a:stretch>
        </p:blipFill>
        <p:spPr>
          <a:xfrm>
            <a:off x="0" y="0"/>
            <a:ext cx="13004800" cy="9753600"/>
          </a:xfrm>
          <a:prstGeom prst="rect">
            <a:avLst/>
          </a:prstGeom>
          <a:ln w="12700">
            <a:miter lim="400000"/>
          </a:ln>
        </p:spPr>
      </p:pic>
      <p:sp>
        <p:nvSpPr>
          <p:cNvPr id="230" name="Shape 230"/>
          <p:cNvSpPr/>
          <p:nvPr/>
        </p:nvSpPr>
        <p:spPr>
          <a:xfrm>
            <a:off x="3856719" y="7391783"/>
            <a:ext cx="8900205" cy="1831745"/>
          </a:xfrm>
          <a:prstGeom prst="roundRect">
            <a:avLst>
              <a:gd name="adj" fmla="val 15781"/>
            </a:avLst>
          </a:prstGeom>
          <a:solidFill>
            <a:srgbClr val="FFFBD1"/>
          </a:solidFill>
          <a:ln w="12700">
            <a:solidFill>
              <a:schemeClr val="accent3"/>
            </a:solidFill>
            <a:miter lim="400000"/>
          </a:ln>
          <a:effectLst>
            <a:outerShdw sx="100000" sy="100000" kx="0" ky="0" algn="b" rotWithShape="0" blurRad="38100" dist="25400" dir="540000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lnSpc>
                <a:spcPct val="90000"/>
              </a:lnSpc>
              <a:defRPr b="1" sz="1900">
                <a:latin typeface="+mj-lt"/>
                <a:ea typeface="+mj-ea"/>
                <a:cs typeface="+mj-cs"/>
                <a:sym typeface="Helvetica"/>
              </a:defRPr>
            </a:pPr>
            <a:r>
              <a:t>Notes:</a:t>
            </a:r>
          </a:p>
          <a:p>
            <a:pPr algn="l">
              <a:lnSpc>
                <a:spcPct val="90000"/>
              </a:lnSpc>
              <a:defRPr b="1" sz="1900">
                <a:latin typeface="+mj-lt"/>
                <a:ea typeface="+mj-ea"/>
                <a:cs typeface="+mj-cs"/>
                <a:sym typeface="Helvetica"/>
              </a:defRPr>
            </a:pPr>
            <a:r>
              <a:t>Each letter of a mystery text message was revealed one-by-one. Before each letter was revealed, plausible guesses were listed. The number of plausible guesses varies dramatically. The most information about the message is revealed when there were many guesses.</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32" name="Shape 232"/>
          <p:cNvSpPr/>
          <p:nvPr>
            <p:ph type="title"/>
          </p:nvPr>
        </p:nvSpPr>
        <p:spPr>
          <a:prstGeom prst="rect">
            <a:avLst/>
          </a:prstGeom>
        </p:spPr>
        <p:txBody>
          <a:bodyPr/>
          <a:lstStyle/>
          <a:p>
            <a:pPr/>
            <a:r>
              <a:t>Shannon’s key idea</a:t>
            </a:r>
          </a:p>
        </p:txBody>
      </p:sp>
      <p:sp>
        <p:nvSpPr>
          <p:cNvPr id="233" name="Shape 233"/>
          <p:cNvSpPr/>
          <p:nvPr>
            <p:ph type="body" idx="1"/>
          </p:nvPr>
        </p:nvSpPr>
        <p:spPr>
          <a:prstGeom prst="rect">
            <a:avLst/>
          </a:prstGeom>
        </p:spPr>
        <p:txBody>
          <a:bodyPr/>
          <a:lstStyle/>
          <a:p>
            <a:pPr/>
            <a:r>
              <a:t>A discrete information source is characterized by the probabilities for emitting signals from the source</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grpSp>
        <p:nvGrpSpPr>
          <p:cNvPr id="239" name="Group 239"/>
          <p:cNvGrpSpPr/>
          <p:nvPr/>
        </p:nvGrpSpPr>
        <p:grpSpPr>
          <a:xfrm>
            <a:off x="1526379" y="509693"/>
            <a:ext cx="9952042" cy="8734213"/>
            <a:chOff x="0" y="0"/>
            <a:chExt cx="9952040" cy="8734211"/>
          </a:xfrm>
        </p:grpSpPr>
        <p:grpSp>
          <p:nvGrpSpPr>
            <p:cNvPr id="237" name="Group 237"/>
            <p:cNvGrpSpPr/>
            <p:nvPr/>
          </p:nvGrpSpPr>
          <p:grpSpPr>
            <a:xfrm>
              <a:off x="-1" y="-1"/>
              <a:ext cx="9424133" cy="8734213"/>
              <a:chOff x="0" y="0"/>
              <a:chExt cx="9424131" cy="8734211"/>
            </a:xfrm>
          </p:grpSpPr>
          <p:pic>
            <p:nvPicPr>
              <p:cNvPr id="235" name="image25.jpg" descr="approx1.jpg"/>
              <p:cNvPicPr>
                <a:picLocks noChangeAspect="1"/>
              </p:cNvPicPr>
              <p:nvPr/>
            </p:nvPicPr>
            <p:blipFill>
              <a:blip r:embed="rId2">
                <a:extLst/>
              </a:blip>
              <a:stretch>
                <a:fillRect/>
              </a:stretch>
            </p:blipFill>
            <p:spPr>
              <a:xfrm>
                <a:off x="-1" y="-1"/>
                <a:ext cx="9194895" cy="3670023"/>
              </a:xfrm>
              <a:prstGeom prst="rect">
                <a:avLst/>
              </a:prstGeom>
              <a:ln w="12700" cap="flat">
                <a:noFill/>
                <a:miter lim="400000"/>
              </a:ln>
              <a:effectLst/>
            </p:spPr>
          </p:pic>
          <p:pic>
            <p:nvPicPr>
              <p:cNvPr id="236" name="image26.jpg" descr="approx2.jpg"/>
              <p:cNvPicPr>
                <a:picLocks noChangeAspect="1"/>
              </p:cNvPicPr>
              <p:nvPr/>
            </p:nvPicPr>
            <p:blipFill>
              <a:blip r:embed="rId3">
                <a:extLst/>
              </a:blip>
              <a:stretch>
                <a:fillRect/>
              </a:stretch>
            </p:blipFill>
            <p:spPr>
              <a:xfrm>
                <a:off x="209399" y="3606100"/>
                <a:ext cx="9214733" cy="5128112"/>
              </a:xfrm>
              <a:prstGeom prst="rect">
                <a:avLst/>
              </a:prstGeom>
              <a:ln w="12700" cap="flat">
                <a:noFill/>
                <a:miter lim="400000"/>
              </a:ln>
              <a:effectLst/>
            </p:spPr>
          </p:pic>
        </p:grpSp>
        <p:sp>
          <p:nvSpPr>
            <p:cNvPr id="238" name="Shape 238"/>
            <p:cNvSpPr/>
            <p:nvPr/>
          </p:nvSpPr>
          <p:spPr>
            <a:xfrm>
              <a:off x="9026269" y="-1"/>
              <a:ext cx="925772" cy="3670023"/>
            </a:xfrm>
            <a:prstGeom prst="rect">
              <a:avLst/>
            </a:prstGeom>
            <a:solidFill>
              <a:srgbClr val="FFFFFF"/>
            </a:solidFill>
            <a:ln w="12700" cap="flat">
              <a:noFill/>
              <a:miter lim="400000"/>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p>
          </p:txBody>
        </p:sp>
      </p:gr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41" name="Shape 241"/>
          <p:cNvSpPr/>
          <p:nvPr>
            <p:ph type="title"/>
          </p:nvPr>
        </p:nvSpPr>
        <p:spPr>
          <a:prstGeom prst="rect">
            <a:avLst/>
          </a:prstGeom>
        </p:spPr>
        <p:txBody>
          <a:bodyPr/>
          <a:lstStyle/>
          <a:p>
            <a:pPr/>
            <a:r>
              <a:t>How to simulate the digram structure</a:t>
            </a:r>
          </a:p>
        </p:txBody>
      </p:sp>
      <p:pic>
        <p:nvPicPr>
          <p:cNvPr id="242" name="image27.jpg" descr="approx31.jpg"/>
          <p:cNvPicPr>
            <a:picLocks noChangeAspect="1"/>
          </p:cNvPicPr>
          <p:nvPr/>
        </p:nvPicPr>
        <p:blipFill>
          <a:blip r:embed="rId2">
            <a:extLst/>
          </a:blip>
          <a:stretch>
            <a:fillRect/>
          </a:stretch>
        </p:blipFill>
        <p:spPr>
          <a:xfrm>
            <a:off x="905558" y="3146925"/>
            <a:ext cx="11193684" cy="1399211"/>
          </a:xfrm>
          <a:prstGeom prst="rect">
            <a:avLst/>
          </a:prstGeom>
          <a:ln w="12700">
            <a:miter lim="400000"/>
          </a:ln>
        </p:spPr>
      </p:pic>
      <p:grpSp>
        <p:nvGrpSpPr>
          <p:cNvPr id="247" name="Group 247"/>
          <p:cNvGrpSpPr/>
          <p:nvPr/>
        </p:nvGrpSpPr>
        <p:grpSpPr>
          <a:xfrm>
            <a:off x="780630" y="5089560"/>
            <a:ext cx="11443540" cy="1773470"/>
            <a:chOff x="0" y="0"/>
            <a:chExt cx="11443539" cy="1773468"/>
          </a:xfrm>
        </p:grpSpPr>
        <p:pic>
          <p:nvPicPr>
            <p:cNvPr id="243" name="image28.jpg" descr="approx4.jpg"/>
            <p:cNvPicPr>
              <a:picLocks noChangeAspect="1"/>
            </p:cNvPicPr>
            <p:nvPr/>
          </p:nvPicPr>
          <p:blipFill>
            <a:blip r:embed="rId3">
              <a:extLst/>
            </a:blip>
            <a:stretch>
              <a:fillRect/>
            </a:stretch>
          </p:blipFill>
          <p:spPr>
            <a:xfrm>
              <a:off x="0" y="0"/>
              <a:ext cx="11443540" cy="1773469"/>
            </a:xfrm>
            <a:prstGeom prst="rect">
              <a:avLst/>
            </a:prstGeom>
            <a:ln w="12700" cap="flat">
              <a:noFill/>
              <a:miter lim="400000"/>
            </a:ln>
            <a:effectLst/>
          </p:spPr>
        </p:pic>
        <p:sp>
          <p:nvSpPr>
            <p:cNvPr id="244" name="Shape 244"/>
            <p:cNvSpPr/>
            <p:nvPr/>
          </p:nvSpPr>
          <p:spPr>
            <a:xfrm>
              <a:off x="0" y="152642"/>
              <a:ext cx="11443540" cy="678841"/>
            </a:xfrm>
            <a:prstGeom prst="rect">
              <a:avLst/>
            </a:prstGeom>
            <a:solidFill>
              <a:srgbClr val="FFFF00">
                <a:alpha val="20000"/>
              </a:srgbClr>
            </a:solidFill>
            <a:ln w="12700" cap="flat">
              <a:noFill/>
              <a:miter lim="400000"/>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p>
          </p:txBody>
        </p:sp>
        <p:sp>
          <p:nvSpPr>
            <p:cNvPr id="245" name="Shape 245"/>
            <p:cNvSpPr/>
            <p:nvPr/>
          </p:nvSpPr>
          <p:spPr>
            <a:xfrm>
              <a:off x="-1" y="831482"/>
              <a:ext cx="4281783" cy="322450"/>
            </a:xfrm>
            <a:prstGeom prst="rect">
              <a:avLst/>
            </a:prstGeom>
            <a:solidFill>
              <a:srgbClr val="FFFF00">
                <a:alpha val="20000"/>
              </a:srgbClr>
            </a:solidFill>
            <a:ln w="12700" cap="flat">
              <a:noFill/>
              <a:miter lim="400000"/>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p>
          </p:txBody>
        </p:sp>
        <p:sp>
          <p:nvSpPr>
            <p:cNvPr id="246" name="Shape 246"/>
            <p:cNvSpPr/>
            <p:nvPr/>
          </p:nvSpPr>
          <p:spPr>
            <a:xfrm>
              <a:off x="4841823" y="1442438"/>
              <a:ext cx="6143500" cy="331030"/>
            </a:xfrm>
            <a:prstGeom prst="rect">
              <a:avLst/>
            </a:prstGeom>
            <a:solidFill>
              <a:srgbClr val="FFFF00">
                <a:alpha val="22000"/>
              </a:srgbClr>
            </a:solidFill>
            <a:ln w="12700" cap="flat">
              <a:noFill/>
              <a:miter lim="400000"/>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p>
          </p:txBody>
        </p:sp>
      </p:gr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49" name="Shape 249"/>
          <p:cNvSpPr/>
          <p:nvPr>
            <p:ph type="title"/>
          </p:nvPr>
        </p:nvSpPr>
        <p:spPr>
          <a:xfrm>
            <a:off x="437232" y="461433"/>
            <a:ext cx="12130336" cy="2159001"/>
          </a:xfrm>
          <a:prstGeom prst="rect">
            <a:avLst/>
          </a:prstGeom>
        </p:spPr>
        <p:txBody>
          <a:bodyPr/>
          <a:lstStyle/>
          <a:p>
            <a:pPr/>
            <a:r>
              <a:t>Information content</a:t>
            </a:r>
          </a:p>
        </p:txBody>
      </p:sp>
      <p:sp>
        <p:nvSpPr>
          <p:cNvPr id="250" name="Shape 250"/>
          <p:cNvSpPr/>
          <p:nvPr>
            <p:ph type="body" idx="1"/>
          </p:nvPr>
        </p:nvSpPr>
        <p:spPr>
          <a:xfrm>
            <a:off x="952500" y="2609850"/>
            <a:ext cx="11099801" cy="6286501"/>
          </a:xfrm>
          <a:prstGeom prst="rect">
            <a:avLst/>
          </a:prstGeom>
        </p:spPr>
        <p:txBody>
          <a:bodyPr anchor="t"/>
          <a:lstStyle/>
          <a:p>
            <a:pPr/>
            <a:r>
              <a:t>Numbers in 0 to 63, such as 47=101111, need six bits of information</a:t>
            </a:r>
          </a:p>
          <a:p>
            <a:pPr/>
            <a:r>
              <a:t>If the numbers are equally probable, then being told the number has information content</a:t>
            </a:r>
          </a:p>
          <a:p>
            <a:pPr/>
          </a:p>
          <a:p>
            <a:pPr/>
            <a:r>
              <a:t>Each binary digit has one bit of information content</a:t>
            </a:r>
          </a:p>
        </p:txBody>
      </p:sp>
      <p:sp>
        <p:nvSpPr>
          <p:cNvPr id="251" name="Shape 251"/>
          <p:cNvSpPr/>
          <p:nvPr/>
        </p:nvSpPr>
        <p:spPr>
          <a:xfrm>
            <a:off x="-254087" y="9347200"/>
            <a:ext cx="11277774" cy="406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b="1" sz="2000">
                <a:latin typeface="+mj-lt"/>
                <a:ea typeface="+mj-ea"/>
                <a:cs typeface="+mj-cs"/>
                <a:sym typeface="Helvetica"/>
              </a:defRPr>
            </a:pPr>
            <a:r>
              <a:t>Adapted from </a:t>
            </a:r>
            <a:r>
              <a:rPr i="1"/>
              <a:t>Information Theory</a:t>
            </a:r>
            <a:r>
              <a:t> by Iain Murray, </a:t>
            </a:r>
            <a:r>
              <a:rPr u="sng">
                <a:hlinkClick r:id="rId2" invalidUrl="" action="" tgtFrame="" tooltip="" history="1" highlightClick="0" endSnd="0"/>
              </a:rPr>
              <a:t>http://www.inf.ed.ac.uk/teaching/courses/it/</a:t>
            </a:r>
          </a:p>
        </p:txBody>
      </p:sp>
      <p:pic>
        <p:nvPicPr>
          <p:cNvPr id="252" name="inf32.pdf"/>
          <p:cNvPicPr>
            <a:picLocks noChangeAspect="1"/>
          </p:cNvPicPr>
          <p:nvPr/>
        </p:nvPicPr>
        <p:blipFill>
          <a:blip r:embed="rId3">
            <a:extLst/>
          </a:blip>
          <a:stretch>
            <a:fillRect/>
          </a:stretch>
        </p:blipFill>
        <p:spPr>
          <a:xfrm>
            <a:off x="5257688" y="5372364"/>
            <a:ext cx="2489424" cy="761472"/>
          </a:xfrm>
          <a:prstGeom prst="rect">
            <a:avLst/>
          </a:prstGeom>
          <a:ln w="12700">
            <a:miter lim="400000"/>
          </a:ln>
        </p:spPr>
      </p:pic>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54" name="Shape 254"/>
          <p:cNvSpPr/>
          <p:nvPr>
            <p:ph type="title"/>
          </p:nvPr>
        </p:nvSpPr>
        <p:spPr>
          <a:xfrm>
            <a:off x="437232" y="101600"/>
            <a:ext cx="12130336" cy="2159000"/>
          </a:xfrm>
          <a:prstGeom prst="rect">
            <a:avLst/>
          </a:prstGeom>
        </p:spPr>
        <p:txBody>
          <a:bodyPr/>
          <a:lstStyle/>
          <a:p>
            <a:pPr/>
            <a:r>
              <a:t>Guess a number from 0 to 63</a:t>
            </a:r>
          </a:p>
        </p:txBody>
      </p:sp>
      <p:sp>
        <p:nvSpPr>
          <p:cNvPr id="255" name="Shape 255"/>
          <p:cNvSpPr/>
          <p:nvPr>
            <p:ph type="body" idx="1"/>
          </p:nvPr>
        </p:nvSpPr>
        <p:spPr>
          <a:xfrm>
            <a:off x="952500" y="2195115"/>
            <a:ext cx="11099801" cy="6531770"/>
          </a:xfrm>
          <a:prstGeom prst="rect">
            <a:avLst/>
          </a:prstGeom>
        </p:spPr>
        <p:txBody>
          <a:bodyPr anchor="t"/>
          <a:lstStyle/>
          <a:p>
            <a:pPr marL="493888" indent="-493888">
              <a:defRPr sz="4000"/>
            </a:pPr>
            <a:r>
              <a:t>Is the number 36? </a:t>
            </a:r>
            <a:r>
              <a:rPr b="0" i="1"/>
              <a:t>a</a:t>
            </a:r>
            <a:r>
              <a:rPr b="0" baseline="-5999"/>
              <a:t>1</a:t>
            </a:r>
            <a:r>
              <a:t>=</a:t>
            </a:r>
            <a:r>
              <a:rPr>
                <a:solidFill>
                  <a:schemeClr val="accent5"/>
                </a:solidFill>
              </a:rPr>
              <a:t>No</a:t>
            </a:r>
          </a:p>
          <a:p>
            <a:pPr marL="493888" indent="-493888">
              <a:defRPr sz="4000"/>
            </a:pPr>
          </a:p>
          <a:p>
            <a:pPr marL="493888" indent="-493888">
              <a:defRPr sz="4000"/>
            </a:pPr>
            <a:r>
              <a:t>Is the number 42? </a:t>
            </a:r>
            <a:r>
              <a:rPr b="0" i="1"/>
              <a:t>a</a:t>
            </a:r>
            <a:r>
              <a:rPr b="0" baseline="-5999"/>
              <a:t>2</a:t>
            </a:r>
            <a:r>
              <a:t>=</a:t>
            </a:r>
            <a:r>
              <a:rPr>
                <a:solidFill>
                  <a:schemeClr val="accent5"/>
                </a:solidFill>
              </a:rPr>
              <a:t>No</a:t>
            </a:r>
          </a:p>
          <a:p>
            <a:pPr marL="493888" indent="-493888">
              <a:defRPr sz="4000"/>
            </a:pPr>
          </a:p>
          <a:p>
            <a:pPr marL="493888" indent="-493888">
              <a:defRPr sz="4000"/>
            </a:pPr>
            <a:r>
              <a:t>Is the number 47? </a:t>
            </a:r>
            <a:r>
              <a:rPr b="0" i="1"/>
              <a:t>a</a:t>
            </a:r>
            <a:r>
              <a:rPr b="0" baseline="-5999"/>
              <a:t>3</a:t>
            </a:r>
            <a:r>
              <a:t>=</a:t>
            </a:r>
            <a:r>
              <a:rPr>
                <a:solidFill>
                  <a:schemeClr val="accent2"/>
                </a:solidFill>
              </a:rPr>
              <a:t>Yes</a:t>
            </a:r>
          </a:p>
        </p:txBody>
      </p:sp>
      <p:sp>
        <p:nvSpPr>
          <p:cNvPr id="256" name="Shape 256"/>
          <p:cNvSpPr/>
          <p:nvPr/>
        </p:nvSpPr>
        <p:spPr>
          <a:xfrm>
            <a:off x="-254087" y="9347200"/>
            <a:ext cx="11277774" cy="406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b="1" sz="2000">
                <a:latin typeface="+mj-lt"/>
                <a:ea typeface="+mj-ea"/>
                <a:cs typeface="+mj-cs"/>
                <a:sym typeface="Helvetica"/>
              </a:defRPr>
            </a:pPr>
            <a:r>
              <a:t>Adapted from </a:t>
            </a:r>
            <a:r>
              <a:rPr i="1"/>
              <a:t>Information Theory</a:t>
            </a:r>
            <a:r>
              <a:t> by Iain Murray, </a:t>
            </a:r>
            <a:r>
              <a:rPr u="sng">
                <a:hlinkClick r:id="rId2" invalidUrl="" action="" tgtFrame="" tooltip="" history="1" highlightClick="0" endSnd="0"/>
              </a:rPr>
              <a:t>http://www.inf.ed.ac.uk/teaching/courses/it/</a:t>
            </a:r>
          </a:p>
        </p:txBody>
      </p:sp>
      <p:pic>
        <p:nvPicPr>
          <p:cNvPr id="257" name="inf26.pdf"/>
          <p:cNvPicPr>
            <a:picLocks noChangeAspect="1"/>
          </p:cNvPicPr>
          <p:nvPr/>
        </p:nvPicPr>
        <p:blipFill>
          <a:blip r:embed="rId3">
            <a:extLst/>
          </a:blip>
          <a:stretch>
            <a:fillRect/>
          </a:stretch>
        </p:blipFill>
        <p:spPr>
          <a:xfrm>
            <a:off x="3573528" y="3232719"/>
            <a:ext cx="5857744" cy="680568"/>
          </a:xfrm>
          <a:prstGeom prst="rect">
            <a:avLst/>
          </a:prstGeom>
          <a:ln w="12700">
            <a:miter lim="400000"/>
          </a:ln>
        </p:spPr>
      </p:pic>
      <p:pic>
        <p:nvPicPr>
          <p:cNvPr id="258" name="inf27.pdf"/>
          <p:cNvPicPr>
            <a:picLocks noChangeAspect="1"/>
          </p:cNvPicPr>
          <p:nvPr/>
        </p:nvPicPr>
        <p:blipFill>
          <a:blip r:embed="rId4">
            <a:extLst/>
          </a:blip>
          <a:stretch>
            <a:fillRect/>
          </a:stretch>
        </p:blipFill>
        <p:spPr>
          <a:xfrm>
            <a:off x="3232772" y="5132865"/>
            <a:ext cx="6539256" cy="656270"/>
          </a:xfrm>
          <a:prstGeom prst="rect">
            <a:avLst/>
          </a:prstGeom>
          <a:ln w="12700">
            <a:miter lim="400000"/>
          </a:ln>
        </p:spPr>
      </p:pic>
      <p:pic>
        <p:nvPicPr>
          <p:cNvPr id="259" name="inf28.pdf"/>
          <p:cNvPicPr>
            <a:picLocks noChangeAspect="1"/>
          </p:cNvPicPr>
          <p:nvPr/>
        </p:nvPicPr>
        <p:blipFill>
          <a:blip r:embed="rId5">
            <a:extLst/>
          </a:blip>
          <a:stretch>
            <a:fillRect/>
          </a:stretch>
        </p:blipFill>
        <p:spPr>
          <a:xfrm>
            <a:off x="2734650" y="7092494"/>
            <a:ext cx="7535500" cy="665597"/>
          </a:xfrm>
          <a:prstGeom prst="rect">
            <a:avLst/>
          </a:prstGeom>
          <a:ln w="12700">
            <a:miter lim="400000"/>
          </a:ln>
        </p:spPr>
      </p:pic>
      <p:sp>
        <p:nvSpPr>
          <p:cNvPr id="260" name="Shape 260"/>
          <p:cNvSpPr/>
          <p:nvPr/>
        </p:nvSpPr>
        <p:spPr>
          <a:xfrm>
            <a:off x="1227199" y="8318500"/>
            <a:ext cx="10550402" cy="660401"/>
          </a:xfrm>
          <a:prstGeom prst="rect">
            <a:avLst/>
          </a:prstGeom>
          <a:solidFill>
            <a:srgbClr val="FFFDAA"/>
          </a:solidFill>
          <a:ln w="12700">
            <a:solidFill>
              <a:schemeClr val="accent3">
                <a:satOff val="18648"/>
                <a:lumOff val="5971"/>
              </a:schemeClr>
            </a:solidFill>
            <a:miter lim="400000"/>
          </a:ln>
          <a:effectLst>
            <a:outerShdw sx="100000" sy="100000" kx="0" ky="0" algn="b" rotWithShape="0" blurRad="63500" dist="50800" dir="2689991">
              <a:srgbClr val="000000">
                <a:alpha val="20033"/>
              </a:srgbClr>
            </a:outerShdw>
          </a:effectLst>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a:latin typeface="+mj-lt"/>
                <a:ea typeface="+mj-ea"/>
                <a:cs typeface="+mj-cs"/>
                <a:sym typeface="Helvetica"/>
              </a:defRPr>
            </a:lvl1pPr>
          </a:lstStyle>
          <a:p>
            <a:pPr/>
            <a:r>
              <a:t>Total information: 0.0227+0.0231+5.9532 = 6 bits</a:t>
            </a: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62" name="Shape 262"/>
          <p:cNvSpPr/>
          <p:nvPr>
            <p:ph type="title"/>
          </p:nvPr>
        </p:nvSpPr>
        <p:spPr>
          <a:xfrm>
            <a:off x="437232" y="63500"/>
            <a:ext cx="12130336" cy="2159000"/>
          </a:xfrm>
          <a:prstGeom prst="rect">
            <a:avLst/>
          </a:prstGeom>
        </p:spPr>
        <p:txBody>
          <a:bodyPr/>
          <a:lstStyle/>
          <a:p>
            <a:pPr/>
            <a:r>
              <a:t>Shannon entropy</a:t>
            </a:r>
          </a:p>
        </p:txBody>
      </p:sp>
      <p:sp>
        <p:nvSpPr>
          <p:cNvPr id="263" name="Shape 263"/>
          <p:cNvSpPr/>
          <p:nvPr>
            <p:ph type="body" sz="half" idx="1"/>
          </p:nvPr>
        </p:nvSpPr>
        <p:spPr>
          <a:xfrm>
            <a:off x="952500" y="1803400"/>
            <a:ext cx="11099800" cy="3885159"/>
          </a:xfrm>
          <a:prstGeom prst="rect">
            <a:avLst/>
          </a:prstGeom>
        </p:spPr>
        <p:txBody>
          <a:bodyPr anchor="t"/>
          <a:lstStyle/>
          <a:p>
            <a:pPr marL="382763" indent="-382763">
              <a:spcBef>
                <a:spcPts val="1700"/>
              </a:spcBef>
              <a:defRPr sz="3100"/>
            </a:pPr>
            <a:r>
              <a:t>Source has syllables with probabilities </a:t>
            </a:r>
            <a:r>
              <a:rPr b="0" i="1"/>
              <a:t>p</a:t>
            </a:r>
            <a:r>
              <a:rPr b="0" baseline="-5999"/>
              <a:t>1</a:t>
            </a:r>
            <a:r>
              <a:rPr b="0"/>
              <a:t>, </a:t>
            </a:r>
            <a:r>
              <a:rPr b="0" i="1"/>
              <a:t>p</a:t>
            </a:r>
            <a:r>
              <a:rPr b="0" baseline="-5999"/>
              <a:t>2</a:t>
            </a:r>
            <a:r>
              <a:rPr b="0"/>
              <a:t>, …, </a:t>
            </a:r>
            <a:r>
              <a:rPr b="0" i="1"/>
              <a:t>p</a:t>
            </a:r>
            <a:r>
              <a:rPr b="0" baseline="-5999" i="1"/>
              <a:t>n</a:t>
            </a:r>
          </a:p>
          <a:p>
            <a:pPr marL="382763" indent="-382763">
              <a:spcBef>
                <a:spcPts val="1700"/>
              </a:spcBef>
              <a:defRPr sz="3100"/>
            </a:pPr>
            <a:r>
              <a:t>Shannon entropy: average information content of a source</a:t>
            </a:r>
          </a:p>
          <a:p>
            <a:pPr marL="382763" indent="-382763">
              <a:spcBef>
                <a:spcPts val="1700"/>
              </a:spcBef>
              <a:defRPr sz="3100"/>
            </a:pPr>
          </a:p>
          <a:p>
            <a:pPr marL="382763" indent="-382763">
              <a:spcBef>
                <a:spcPts val="800"/>
              </a:spcBef>
              <a:defRPr sz="3100"/>
            </a:pPr>
          </a:p>
          <a:p>
            <a:pPr marL="382763" indent="-382763">
              <a:spcBef>
                <a:spcPts val="1700"/>
              </a:spcBef>
              <a:defRPr sz="3100"/>
            </a:pPr>
            <a:r>
              <a:t>Example: unfair coin </a:t>
            </a:r>
            <a:r>
              <a:rPr b="0" i="1"/>
              <a:t>p</a:t>
            </a:r>
            <a:r>
              <a:rPr b="0" baseline="-5999"/>
              <a:t>1</a:t>
            </a:r>
            <a:r>
              <a:rPr b="0"/>
              <a:t> = </a:t>
            </a:r>
            <a:r>
              <a:rPr b="0" i="1"/>
              <a:t>p</a:t>
            </a:r>
            <a:r>
              <a:rPr b="0"/>
              <a:t>, </a:t>
            </a:r>
            <a:r>
              <a:rPr b="0" i="1"/>
              <a:t>p</a:t>
            </a:r>
            <a:r>
              <a:rPr b="0" baseline="-5999"/>
              <a:t>2</a:t>
            </a:r>
            <a:r>
              <a:rPr b="0"/>
              <a:t> = 1–</a:t>
            </a:r>
            <a:r>
              <a:rPr b="0" i="1"/>
              <a:t>p</a:t>
            </a:r>
          </a:p>
        </p:txBody>
      </p:sp>
      <p:pic>
        <p:nvPicPr>
          <p:cNvPr id="264" name="lec6_1.pdf"/>
          <p:cNvPicPr>
            <a:picLocks noChangeAspect="1"/>
          </p:cNvPicPr>
          <p:nvPr/>
        </p:nvPicPr>
        <p:blipFill>
          <a:blip r:embed="rId2">
            <a:extLst/>
          </a:blip>
          <a:stretch>
            <a:fillRect/>
          </a:stretch>
        </p:blipFill>
        <p:spPr>
          <a:xfrm>
            <a:off x="1049337" y="6221257"/>
            <a:ext cx="4937883" cy="3456518"/>
          </a:xfrm>
          <a:prstGeom prst="rect">
            <a:avLst/>
          </a:prstGeom>
          <a:ln w="12700">
            <a:miter lim="400000"/>
          </a:ln>
        </p:spPr>
      </p:pic>
      <p:pic>
        <p:nvPicPr>
          <p:cNvPr id="265" name="inf30.pdf"/>
          <p:cNvPicPr>
            <a:picLocks noChangeAspect="1"/>
          </p:cNvPicPr>
          <p:nvPr/>
        </p:nvPicPr>
        <p:blipFill>
          <a:blip r:embed="rId3">
            <a:extLst/>
          </a:blip>
          <a:stretch>
            <a:fillRect/>
          </a:stretch>
        </p:blipFill>
        <p:spPr>
          <a:xfrm>
            <a:off x="5174174" y="3355224"/>
            <a:ext cx="2656452" cy="895109"/>
          </a:xfrm>
          <a:prstGeom prst="rect">
            <a:avLst/>
          </a:prstGeom>
          <a:ln w="12700">
            <a:miter lim="400000"/>
          </a:ln>
        </p:spPr>
      </p:pic>
      <p:pic>
        <p:nvPicPr>
          <p:cNvPr id="266" name="inf31.pdf"/>
          <p:cNvPicPr>
            <a:picLocks noChangeAspect="1"/>
          </p:cNvPicPr>
          <p:nvPr/>
        </p:nvPicPr>
        <p:blipFill>
          <a:blip r:embed="rId4">
            <a:extLst/>
          </a:blip>
          <a:stretch>
            <a:fillRect/>
          </a:stretch>
        </p:blipFill>
        <p:spPr>
          <a:xfrm>
            <a:off x="3690056" y="5383057"/>
            <a:ext cx="5624688" cy="422665"/>
          </a:xfrm>
          <a:prstGeom prst="rect">
            <a:avLst/>
          </a:prstGeom>
          <a:ln w="12700">
            <a:miter lim="400000"/>
          </a:ln>
        </p:spPr>
      </p:pic>
      <p:sp>
        <p:nvSpPr>
          <p:cNvPr id="267" name="Shape 267"/>
          <p:cNvSpPr/>
          <p:nvPr/>
        </p:nvSpPr>
        <p:spPr>
          <a:xfrm>
            <a:off x="6052820" y="6559550"/>
            <a:ext cx="6391563" cy="24511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b="1" sz="3100">
                <a:latin typeface="+mj-lt"/>
                <a:ea typeface="+mj-ea"/>
                <a:cs typeface="+mj-cs"/>
                <a:sym typeface="Helvetica"/>
              </a:defRPr>
            </a:pPr>
            <a:r>
              <a:t>Makes sense:</a:t>
            </a:r>
          </a:p>
          <a:p>
            <a:pPr marL="382763" indent="-382763" algn="l">
              <a:buSzPct val="75000"/>
              <a:buChar char="•"/>
              <a:defRPr b="1" sz="3100">
                <a:latin typeface="+mj-lt"/>
                <a:ea typeface="+mj-ea"/>
                <a:cs typeface="+mj-cs"/>
                <a:sym typeface="Helvetica"/>
              </a:defRPr>
            </a:pPr>
            <a:r>
              <a:rPr b="0" i="1"/>
              <a:t>H</a:t>
            </a:r>
            <a:r>
              <a:rPr b="0"/>
              <a:t>=0</a:t>
            </a:r>
            <a:r>
              <a:t> if </a:t>
            </a:r>
            <a:r>
              <a:rPr b="0" i="1"/>
              <a:t>p</a:t>
            </a:r>
            <a:r>
              <a:rPr b="0"/>
              <a:t>=0</a:t>
            </a:r>
            <a:r>
              <a:t> or </a:t>
            </a:r>
            <a:r>
              <a:rPr b="0" i="1"/>
              <a:t>p</a:t>
            </a:r>
            <a:r>
              <a:rPr b="0"/>
              <a:t>=1</a:t>
            </a:r>
            <a:r>
              <a:t> as we gain no information</a:t>
            </a:r>
          </a:p>
          <a:p>
            <a:pPr marL="382763" indent="-382763" algn="l">
              <a:buSzPct val="75000"/>
              <a:buChar char="•"/>
              <a:defRPr b="1" sz="3100">
                <a:latin typeface="+mj-lt"/>
                <a:ea typeface="+mj-ea"/>
                <a:cs typeface="+mj-cs"/>
                <a:sym typeface="Helvetica"/>
              </a:defRPr>
            </a:pPr>
            <a:r>
              <a:rPr b="0" i="1"/>
              <a:t>H</a:t>
            </a:r>
            <a:r>
              <a:t> is maximum if </a:t>
            </a:r>
            <a:r>
              <a:rPr b="0" i="1"/>
              <a:t>p</a:t>
            </a:r>
            <a:r>
              <a:rPr b="0"/>
              <a:t>=0.5</a:t>
            </a:r>
            <a:r>
              <a:t> as it’s the most uncertain case</a:t>
            </a: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69" name="Shape 269"/>
          <p:cNvSpPr/>
          <p:nvPr>
            <p:ph type="title"/>
          </p:nvPr>
        </p:nvSpPr>
        <p:spPr>
          <a:prstGeom prst="rect">
            <a:avLst/>
          </a:prstGeom>
        </p:spPr>
        <p:txBody>
          <a:bodyPr/>
          <a:lstStyle/>
          <a:p>
            <a:pPr/>
            <a:r>
              <a:t>Shannon’s fundamental theorem</a:t>
            </a:r>
          </a:p>
        </p:txBody>
      </p:sp>
      <p:sp>
        <p:nvSpPr>
          <p:cNvPr id="270" name="Shape 270"/>
          <p:cNvSpPr/>
          <p:nvPr>
            <p:ph type="body" sz="half" idx="1"/>
          </p:nvPr>
        </p:nvSpPr>
        <p:spPr>
          <a:xfrm>
            <a:off x="952500" y="6037163"/>
            <a:ext cx="11099800" cy="2852837"/>
          </a:xfrm>
          <a:prstGeom prst="rect">
            <a:avLst/>
          </a:prstGeom>
        </p:spPr>
        <p:txBody>
          <a:bodyPr/>
          <a:lstStyle/>
          <a:p>
            <a:pPr marL="391159" indent="-391159" defTabSz="514095">
              <a:spcBef>
                <a:spcPts val="2200"/>
              </a:spcBef>
              <a:defRPr sz="3168"/>
            </a:pPr>
            <a:r>
              <a:t>Suppose the information source has entropy </a:t>
            </a:r>
            <a:r>
              <a:rPr b="0" i="1"/>
              <a:t>H</a:t>
            </a:r>
            <a:r>
              <a:t> and the channel has capacity </a:t>
            </a:r>
            <a:r>
              <a:rPr b="0" i="1"/>
              <a:t>C</a:t>
            </a:r>
          </a:p>
          <a:p>
            <a:pPr marL="391159" indent="-391159" defTabSz="514095">
              <a:spcBef>
                <a:spcPts val="2200"/>
              </a:spcBef>
              <a:defRPr sz="3168"/>
            </a:pPr>
            <a:r>
              <a:t>One can encode the output of the source to that it can be transmitted a rate of up to </a:t>
            </a:r>
            <a:r>
              <a:rPr b="0" i="1"/>
              <a:t>C</a:t>
            </a:r>
            <a:r>
              <a:rPr b="0"/>
              <a:t>/</a:t>
            </a:r>
            <a:r>
              <a:rPr b="0" i="1"/>
              <a:t>H</a:t>
            </a:r>
            <a:r>
              <a:t> symbols per second</a:t>
            </a:r>
          </a:p>
          <a:p>
            <a:pPr marL="391159" indent="-391159" defTabSz="514095">
              <a:spcBef>
                <a:spcPts val="2200"/>
              </a:spcBef>
              <a:defRPr sz="3168"/>
            </a:pPr>
            <a:r>
              <a:t>It is not possible to transmit faster than </a:t>
            </a:r>
            <a:r>
              <a:rPr b="0" i="1"/>
              <a:t>C</a:t>
            </a:r>
            <a:r>
              <a:rPr b="0"/>
              <a:t>/</a:t>
            </a:r>
            <a:r>
              <a:rPr b="0" i="1"/>
              <a:t>H</a:t>
            </a:r>
          </a:p>
        </p:txBody>
      </p:sp>
      <p:pic>
        <p:nvPicPr>
          <p:cNvPr id="271" name="image43.jpg" descr="fundthm.jpg"/>
          <p:cNvPicPr>
            <a:picLocks noChangeAspect="1"/>
          </p:cNvPicPr>
          <p:nvPr/>
        </p:nvPicPr>
        <p:blipFill>
          <a:blip r:embed="rId2">
            <a:extLst/>
          </a:blip>
          <a:stretch>
            <a:fillRect/>
          </a:stretch>
        </p:blipFill>
        <p:spPr>
          <a:xfrm>
            <a:off x="1124572" y="2290232"/>
            <a:ext cx="10755656" cy="2852838"/>
          </a:xfrm>
          <a:prstGeom prst="rect">
            <a:avLst/>
          </a:prstGeom>
          <a:ln w="12700">
            <a:miter lim="400000"/>
          </a:ln>
        </p:spPr>
      </p:pic>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73" name="Shape 273"/>
          <p:cNvSpPr/>
          <p:nvPr>
            <p:ph type="title"/>
          </p:nvPr>
        </p:nvSpPr>
        <p:spPr>
          <a:prstGeom prst="rect">
            <a:avLst/>
          </a:prstGeom>
        </p:spPr>
        <p:txBody>
          <a:bodyPr/>
          <a:lstStyle/>
          <a:p>
            <a:pPr/>
            <a:r>
              <a:t>Dictionary example</a:t>
            </a:r>
          </a:p>
        </p:txBody>
      </p:sp>
      <p:sp>
        <p:nvSpPr>
          <p:cNvPr id="274" name="Shape 274"/>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defRPr sz="2400"/>
            </a:pPr>
          </a:p>
        </p:txBody>
      </p:sp>
      <p:sp>
        <p:nvSpPr>
          <p:cNvPr id="275" name="Shape 275"/>
          <p:cNvSpPr/>
          <p:nvPr/>
        </p:nvSpPr>
        <p:spPr>
          <a:xfrm>
            <a:off x="883462" y="2190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pPr/>
            <a:r>
              <a:t>Input program</a:t>
            </a:r>
          </a:p>
        </p:txBody>
      </p:sp>
      <p:sp>
        <p:nvSpPr>
          <p:cNvPr id="276" name="Shape 276"/>
          <p:cNvSpPr/>
          <p:nvPr/>
        </p:nvSpPr>
        <p:spPr>
          <a:xfrm>
            <a:off x="7333665" y="21907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pPr/>
            <a:r>
              <a:t>Output</a:t>
            </a:r>
          </a:p>
        </p:txBody>
      </p:sp>
      <p:sp>
        <p:nvSpPr>
          <p:cNvPr id="277" name="Shape 277"/>
          <p:cNvSpPr/>
          <p:nvPr/>
        </p:nvSpPr>
        <p:spPr>
          <a:xfrm>
            <a:off x="1135826" y="2832099"/>
            <a:ext cx="4663698" cy="6197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List recap</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a=[</a:t>
            </a:r>
            <a:r>
              <a:rPr>
                <a:solidFill>
                  <a:srgbClr val="0433FF"/>
                </a:solidFill>
              </a:rPr>
              <a:t>1</a:t>
            </a:r>
            <a:r>
              <a:t>,</a:t>
            </a:r>
            <a:r>
              <a:rPr>
                <a:solidFill>
                  <a:srgbClr val="0433FF"/>
                </a:solidFill>
              </a:rPr>
              <a:t>2</a:t>
            </a:r>
            <a:r>
              <a:t>,</a:t>
            </a:r>
            <a:r>
              <a:rPr>
                <a:solidFill>
                  <a:srgbClr val="0433FF"/>
                </a:solidFill>
              </a:rPr>
              <a:t>6</a:t>
            </a:r>
            <a:r>
              <a:t>,</a:t>
            </a:r>
            <a:r>
              <a:rPr>
                <a:solidFill>
                  <a:srgbClr val="0433FF"/>
                </a:solidFill>
              </a:rPr>
              <a:t>4</a:t>
            </a:r>
            <a: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AF5F00"/>
                </a:solidFill>
                <a:latin typeface="Menlo"/>
                <a:ea typeface="Menlo"/>
                <a:cs typeface="Menlo"/>
                <a:sym typeface="Menlo"/>
              </a:defRPr>
            </a:pPr>
            <a:r>
              <a:t>print</a:t>
            </a:r>
            <a:r>
              <a:rPr>
                <a:solidFill>
                  <a:srgbClr val="000000"/>
                </a:solidFill>
              </a:rPr>
              <a:t> a[</a:t>
            </a:r>
            <a:r>
              <a:rPr>
                <a:solidFill>
                  <a:srgbClr val="0433FF"/>
                </a:solidFill>
              </a:rPr>
              <a:t>1</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Modify the list and print it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a[</a:t>
            </a:r>
            <a:r>
              <a:rPr>
                <a:solidFill>
                  <a:srgbClr val="0433FF"/>
                </a:solidFill>
              </a:rPr>
              <a:t>3</a:t>
            </a:r>
            <a:r>
              <a:t>]=</a:t>
            </a:r>
            <a:r>
              <a:rPr>
                <a:solidFill>
                  <a:srgbClr val="0433FF"/>
                </a:solidFill>
              </a:rPr>
              <a:t>10</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AF5F00"/>
                </a:solidFill>
                <a:latin typeface="Menlo"/>
                <a:ea typeface="Menlo"/>
                <a:cs typeface="Menlo"/>
                <a:sym typeface="Menlo"/>
              </a:defRPr>
            </a:pPr>
            <a:r>
              <a:t>print</a:t>
            </a:r>
            <a:r>
              <a:rPr>
                <a:solidFill>
                  <a:srgbClr val="000000"/>
                </a:solidFill>
              </a:rPr>
              <a:t> a</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AF5F00"/>
                </a:solidFill>
                <a:latin typeface="Menlo"/>
                <a:ea typeface="Menlo"/>
                <a:cs typeface="Menlo"/>
                <a:sym typeface="Menlo"/>
              </a:defRPr>
            </a:pPr>
            <a:r>
              <a:t>print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Initialize a dictionary</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0220B3"/>
                </a:solidFill>
                <a:latin typeface="Menlo"/>
                <a:ea typeface="Menlo"/>
                <a:cs typeface="Menlo"/>
                <a:sym typeface="Menlo"/>
              </a:defRPr>
            </a:pPr>
            <a:r>
              <a:rPr>
                <a:solidFill>
                  <a:srgbClr val="000000"/>
                </a:solidFill>
              </a:rPr>
              <a:t>b={</a:t>
            </a:r>
            <a:r>
              <a:t>'alice'</a:t>
            </a:r>
            <a:r>
              <a:rPr>
                <a:solidFill>
                  <a:srgbClr val="000000"/>
                </a:solidFill>
              </a:rPr>
              <a:t>:</a:t>
            </a:r>
            <a:r>
              <a:rPr>
                <a:solidFill>
                  <a:srgbClr val="0433FF"/>
                </a:solidFill>
              </a:rPr>
              <a:t>67</a:t>
            </a:r>
            <a:r>
              <a:rPr>
                <a:solidFill>
                  <a:srgbClr val="000000"/>
                </a:solidFill>
              </a:rPr>
              <a:t>,</a:t>
            </a:r>
            <a:r>
              <a:t>'bob'</a:t>
            </a:r>
            <a:r>
              <a:rPr>
                <a:solidFill>
                  <a:srgbClr val="000000"/>
                </a:solidFill>
              </a:rPr>
              <a:t>:</a:t>
            </a:r>
            <a:r>
              <a:rPr>
                <a:solidFill>
                  <a:srgbClr val="0433FF"/>
                </a:solidFill>
              </a:rPr>
              <a:t>32</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0220B3"/>
                </a:solidFill>
                <a:latin typeface="Menlo"/>
                <a:ea typeface="Menlo"/>
                <a:cs typeface="Menlo"/>
                <a:sym typeface="Menlo"/>
              </a:defRPr>
            </a:pPr>
            <a:r>
              <a:rPr>
                <a:solidFill>
                  <a:srgbClr val="AF5F00"/>
                </a:solidFill>
              </a:rPr>
              <a:t>print</a:t>
            </a:r>
            <a:r>
              <a:rPr>
                <a:solidFill>
                  <a:srgbClr val="000000"/>
                </a:solidFill>
              </a:rPr>
              <a:t> b[</a:t>
            </a:r>
            <a:r>
              <a:t>'alice'</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Add another dictionary element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0220B3"/>
                </a:solidFill>
                <a:latin typeface="Menlo"/>
                <a:ea typeface="Menlo"/>
                <a:cs typeface="Menlo"/>
                <a:sym typeface="Menlo"/>
              </a:defRPr>
            </a:pPr>
            <a:r>
              <a:rPr>
                <a:solidFill>
                  <a:srgbClr val="000000"/>
                </a:solidFill>
              </a:rPr>
              <a:t>b[</a:t>
            </a:r>
            <a:r>
              <a:t>'charlie'</a:t>
            </a:r>
            <a:r>
              <a:rPr>
                <a:solidFill>
                  <a:srgbClr val="000000"/>
                </a:solidFill>
              </a:rPr>
              <a:t>]=</a:t>
            </a:r>
            <a:r>
              <a:rPr>
                <a:solidFill>
                  <a:srgbClr val="0433FF"/>
                </a:solidFill>
              </a:rPr>
              <a:t>12</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AF5F00"/>
                </a:solidFill>
                <a:latin typeface="Menlo"/>
                <a:ea typeface="Menlo"/>
                <a:cs typeface="Menlo"/>
                <a:sym typeface="Menlo"/>
              </a:defRPr>
            </a:pPr>
            <a:r>
              <a:t>print</a:t>
            </a:r>
            <a:r>
              <a:rPr>
                <a:solidFill>
                  <a:srgbClr val="000000"/>
                </a:solidFill>
              </a:rPr>
              <a:t> b</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Print the keys of the dictionary</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rPr>
                <a:solidFill>
                  <a:srgbClr val="AF5F00"/>
                </a:solidFill>
              </a:rPr>
              <a:t>print</a:t>
            </a:r>
            <a:r>
              <a:t> b.keys()</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AF5F00"/>
                </a:solidFill>
                <a:latin typeface="Menlo"/>
                <a:ea typeface="Menlo"/>
                <a:cs typeface="Menlo"/>
                <a:sym typeface="Menlo"/>
              </a:defRPr>
            </a:pPr>
            <a:r>
              <a:t>print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Loop using keys and values</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rPr>
                <a:solidFill>
                  <a:srgbClr val="E539E5"/>
                </a:solidFill>
              </a:rPr>
              <a:t>for</a:t>
            </a:r>
            <a:r>
              <a:t> c,d </a:t>
            </a:r>
            <a:r>
              <a:rPr>
                <a:solidFill>
                  <a:schemeClr val="accent2"/>
                </a:solidFill>
              </a:rPr>
              <a:t>in</a:t>
            </a:r>
            <a:r>
              <a:t> b.iteritems():</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AF5F00"/>
                </a:solidFill>
                <a:latin typeface="Menlo"/>
                <a:ea typeface="Menlo"/>
                <a:cs typeface="Menlo"/>
                <a:sym typeface="Menlo"/>
              </a:defRPr>
            </a:pPr>
            <a:r>
              <a:rPr>
                <a:solidFill>
                  <a:srgbClr val="000000"/>
                </a:solidFill>
              </a:rPr>
              <a:t>    </a:t>
            </a:r>
            <a:r>
              <a:t>print</a:t>
            </a:r>
            <a:r>
              <a:rPr>
                <a:solidFill>
                  <a:srgbClr val="000000"/>
                </a:solidFill>
              </a:rPr>
              <a:t> c,d</a:t>
            </a:r>
          </a:p>
        </p:txBody>
      </p:sp>
      <p:sp>
        <p:nvSpPr>
          <p:cNvPr id="278" name="Shape 278"/>
          <p:cNvSpPr/>
          <p:nvPr/>
        </p:nvSpPr>
        <p:spPr>
          <a:xfrm>
            <a:off x="7186736" y="2984500"/>
            <a:ext cx="5313612" cy="2641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2</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[1, 2, 6, 10]</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67</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{'charlie': 12, 'bob': 32, 'alice': 67}</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['charlie', 'bob', 'alice']</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charlie 12</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bob 32</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alice 67</a:t>
            </a:r>
          </a:p>
        </p:txBody>
      </p:sp>
      <p:sp>
        <p:nvSpPr>
          <p:cNvPr id="279" name="Shape 279"/>
          <p:cNvSpPr/>
          <p:nvPr/>
        </p:nvSpPr>
        <p:spPr>
          <a:xfrm>
            <a:off x="97383" y="9213849"/>
            <a:ext cx="2536479"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sz="2400">
                <a:latin typeface="+mj-lt"/>
                <a:ea typeface="+mj-ea"/>
                <a:cs typeface="+mj-cs"/>
                <a:sym typeface="Helvetica"/>
              </a:defRPr>
            </a:lvl1pPr>
          </a:lstStyle>
          <a:p>
            <a:pPr/>
            <a:r>
              <a:t>Example: dict.py</a:t>
            </a:r>
          </a:p>
        </p:txBody>
      </p:sp>
      <p:sp>
        <p:nvSpPr>
          <p:cNvPr id="280" name="Shape 280"/>
          <p:cNvSpPr/>
          <p:nvPr/>
        </p:nvSpPr>
        <p:spPr>
          <a:xfrm>
            <a:off x="6839764" y="6865560"/>
            <a:ext cx="5866360" cy="2628901"/>
          </a:xfrm>
          <a:prstGeom prst="roundRect">
            <a:avLst>
              <a:gd name="adj" fmla="val 10996"/>
            </a:avLst>
          </a:prstGeom>
          <a:solidFill>
            <a:srgbClr val="FFFBD1"/>
          </a:solidFill>
          <a:ln w="12700">
            <a:solidFill>
              <a:schemeClr val="accent3"/>
            </a:solidFill>
            <a:miter lim="400000"/>
          </a:ln>
          <a:effectLst>
            <a:outerShdw sx="100000" sy="100000" kx="0" ky="0" algn="b" rotWithShape="0" blurRad="38100" dist="25400" dir="540000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b="1" sz="2100">
                <a:latin typeface="+mj-lt"/>
                <a:ea typeface="+mj-ea"/>
                <a:cs typeface="+mj-cs"/>
                <a:sym typeface="Helvetica"/>
              </a:defRPr>
            </a:pPr>
            <a:r>
              <a:t>Notes:</a:t>
            </a:r>
          </a:p>
          <a:p>
            <a:pPr algn="l">
              <a:defRPr b="1" sz="2100">
                <a:latin typeface="+mj-lt"/>
                <a:ea typeface="+mj-ea"/>
                <a:cs typeface="+mj-cs"/>
                <a:sym typeface="Helvetica"/>
              </a:defRPr>
            </a:pPr>
            <a:r>
              <a:t>In a list, the entries are indexed by integers starting from zero. A dictionary is a more general data structure, where its entries can be indexed by any string. This a very similar to the organization of a physical dictionary.</a:t>
            </a:r>
          </a:p>
        </p:txBody>
      </p:sp>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82" name="Shape 282"/>
          <p:cNvSpPr/>
          <p:nvPr>
            <p:ph type="title"/>
          </p:nvPr>
        </p:nvSpPr>
        <p:spPr>
          <a:prstGeom prst="rect">
            <a:avLst/>
          </a:prstGeom>
        </p:spPr>
        <p:txBody>
          <a:bodyPr/>
          <a:lstStyle/>
          <a:p>
            <a:pPr/>
            <a:r>
              <a:t>Counting frequencies</a:t>
            </a:r>
          </a:p>
        </p:txBody>
      </p:sp>
      <p:sp>
        <p:nvSpPr>
          <p:cNvPr id="283" name="Shape 283"/>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defRPr sz="2400"/>
            </a:pPr>
          </a:p>
        </p:txBody>
      </p:sp>
      <p:sp>
        <p:nvSpPr>
          <p:cNvPr id="284" name="Shape 284"/>
          <p:cNvSpPr/>
          <p:nvPr/>
        </p:nvSpPr>
        <p:spPr>
          <a:xfrm>
            <a:off x="883462" y="2190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pPr/>
            <a:r>
              <a:t>Input program</a:t>
            </a:r>
          </a:p>
        </p:txBody>
      </p:sp>
      <p:sp>
        <p:nvSpPr>
          <p:cNvPr id="285" name="Shape 285"/>
          <p:cNvSpPr/>
          <p:nvPr/>
        </p:nvSpPr>
        <p:spPr>
          <a:xfrm>
            <a:off x="7333665" y="21907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pPr/>
            <a:r>
              <a:t>Output</a:t>
            </a:r>
          </a:p>
        </p:txBody>
      </p:sp>
      <p:sp>
        <p:nvSpPr>
          <p:cNvPr id="286" name="Shape 286"/>
          <p:cNvSpPr/>
          <p:nvPr/>
        </p:nvSpPr>
        <p:spPr>
          <a:xfrm>
            <a:off x="638833" y="3035299"/>
            <a:ext cx="5573577" cy="5435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String of text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0220B3"/>
                </a:solidFill>
                <a:latin typeface="Menlo"/>
                <a:ea typeface="Menlo"/>
                <a:cs typeface="Menlo"/>
                <a:sym typeface="Menlo"/>
              </a:defRPr>
            </a:pPr>
            <a:r>
              <a:rPr>
                <a:solidFill>
                  <a:srgbClr val="000000"/>
                </a:solidFill>
              </a:rPr>
              <a:t>a=</a:t>
            </a:r>
            <a:r>
              <a:t>'She sells sea shells on the sea shore'</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Split elements into a list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b=a.split(</a:t>
            </a:r>
            <a:r>
              <a:rPr>
                <a:solidFill>
                  <a:srgbClr val="0220B3"/>
                </a:solidFill>
              </a:rPr>
              <a:t>' '</a:t>
            </a:r>
            <a: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Count the words</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c={}</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E539E5"/>
                </a:solidFill>
                <a:latin typeface="Menlo"/>
                <a:ea typeface="Menlo"/>
                <a:cs typeface="Menlo"/>
                <a:sym typeface="Menlo"/>
              </a:defRPr>
            </a:pPr>
            <a:r>
              <a:t>for</a:t>
            </a:r>
            <a:r>
              <a:rPr>
                <a:solidFill>
                  <a:srgbClr val="000000"/>
                </a:solidFill>
              </a:rPr>
              <a:t> w </a:t>
            </a:r>
            <a:r>
              <a:rPr>
                <a:solidFill>
                  <a:schemeClr val="accent2"/>
                </a:solidFill>
              </a:rPr>
              <a:t>in </a:t>
            </a:r>
            <a:r>
              <a:rPr>
                <a:solidFill>
                  <a:srgbClr val="000000"/>
                </a:solidFill>
              </a:rPr>
              <a:t>b:</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    </a:t>
            </a:r>
            <a:r>
              <a:rPr>
                <a:solidFill>
                  <a:srgbClr val="E539E5"/>
                </a:solidFill>
              </a:rPr>
              <a:t>if</a:t>
            </a:r>
            <a:r>
              <a:t>(w </a:t>
            </a:r>
            <a:r>
              <a:rPr>
                <a:solidFill>
                  <a:schemeClr val="accent2"/>
                </a:solidFill>
              </a:rPr>
              <a:t>in </a:t>
            </a:r>
            <a:r>
              <a:t>c):</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 Add 1 to existing counter</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        c[w]+=</a:t>
            </a:r>
            <a:r>
              <a:rPr>
                <a:solidFill>
                  <a:srgbClr val="0433FF"/>
                </a:solidFill>
              </a:rPr>
              <a:t>1</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    </a:t>
            </a:r>
            <a:r>
              <a:rPr>
                <a:solidFill>
                  <a:srgbClr val="E539E5"/>
                </a:solidFill>
              </a:rPr>
              <a:t>else</a:t>
            </a:r>
            <a: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r>
              <a:t>               </a:t>
            </a:r>
            <a:r>
              <a:rPr>
                <a:solidFill>
                  <a:srgbClr val="000000"/>
                </a:solidFill>
              </a:rPr>
              <a:t> </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 New counter</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        c[w]=</a:t>
            </a:r>
            <a:r>
              <a:rPr>
                <a:solidFill>
                  <a:srgbClr val="0433FF"/>
                </a:solidFill>
              </a:rPr>
              <a:t>1</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Print frequencies</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rPr>
                <a:solidFill>
                  <a:srgbClr val="E539E5"/>
                </a:solidFill>
              </a:rPr>
              <a:t>for</a:t>
            </a:r>
            <a:r>
              <a:t> w,f </a:t>
            </a:r>
            <a:r>
              <a:rPr>
                <a:solidFill>
                  <a:schemeClr val="accent2"/>
                </a:solidFill>
              </a:rPr>
              <a:t>in</a:t>
            </a:r>
            <a:r>
              <a:t> c.iteritems():</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r>
              <a:t>       </a:t>
            </a:r>
            <a:r>
              <a:rPr>
                <a:solidFill>
                  <a:srgbClr val="000000"/>
                </a:solidFill>
              </a:rPr>
              <a:t> </a:t>
            </a:r>
            <a:r>
              <a:rPr>
                <a:solidFill>
                  <a:srgbClr val="AF5F00"/>
                </a:solidFill>
              </a:rPr>
              <a:t>print</a:t>
            </a:r>
            <a:r>
              <a:rPr>
                <a:solidFill>
                  <a:srgbClr val="000000"/>
                </a:solidFill>
              </a:rPr>
              <a:t> w,f</a:t>
            </a:r>
          </a:p>
        </p:txBody>
      </p:sp>
      <p:sp>
        <p:nvSpPr>
          <p:cNvPr id="287" name="Shape 287"/>
          <p:cNvSpPr/>
          <p:nvPr/>
        </p:nvSpPr>
        <p:spPr>
          <a:xfrm>
            <a:off x="7554741" y="3047999"/>
            <a:ext cx="1903476" cy="2768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Menlo"/>
                <a:ea typeface="Menlo"/>
                <a:cs typeface="Menlo"/>
                <a:sym typeface="Menlo"/>
              </a:defRPr>
            </a:pPr>
            <a:r>
              <a:t>on 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Menlo"/>
                <a:ea typeface="Menlo"/>
                <a:cs typeface="Menlo"/>
                <a:sym typeface="Menlo"/>
              </a:defRPr>
            </a:pPr>
            <a:r>
              <a:t>shells 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Menlo"/>
                <a:ea typeface="Menlo"/>
                <a:cs typeface="Menlo"/>
                <a:sym typeface="Menlo"/>
              </a:defRPr>
            </a:pPr>
            <a:r>
              <a:t>shore 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Menlo"/>
                <a:ea typeface="Menlo"/>
                <a:cs typeface="Menlo"/>
                <a:sym typeface="Menlo"/>
              </a:defRPr>
            </a:pPr>
            <a:r>
              <a:t>She 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Menlo"/>
                <a:ea typeface="Menlo"/>
                <a:cs typeface="Menlo"/>
                <a:sym typeface="Menlo"/>
              </a:defRPr>
            </a:pPr>
            <a:r>
              <a:t>sea 2</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Menlo"/>
                <a:ea typeface="Menlo"/>
                <a:cs typeface="Menlo"/>
                <a:sym typeface="Menlo"/>
              </a:defRPr>
            </a:pPr>
            <a:r>
              <a:t>sells 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Menlo"/>
                <a:ea typeface="Menlo"/>
                <a:cs typeface="Menlo"/>
                <a:sym typeface="Menlo"/>
              </a:defRPr>
            </a:pPr>
            <a:r>
              <a:t>the 1</a:t>
            </a:r>
          </a:p>
        </p:txBody>
      </p:sp>
      <p:sp>
        <p:nvSpPr>
          <p:cNvPr id="288" name="Shape 288"/>
          <p:cNvSpPr/>
          <p:nvPr/>
        </p:nvSpPr>
        <p:spPr>
          <a:xfrm>
            <a:off x="97383" y="9213849"/>
            <a:ext cx="3179863"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sz="2400">
                <a:latin typeface="+mj-lt"/>
                <a:ea typeface="+mj-ea"/>
                <a:cs typeface="+mj-cs"/>
                <a:sym typeface="Helvetica"/>
              </a:defRPr>
            </a:lvl1pPr>
          </a:lstStyle>
          <a:p>
            <a:pPr/>
            <a:r>
              <a:t>Example: d_count.py</a:t>
            </a:r>
          </a:p>
        </p:txBody>
      </p:sp>
      <p:sp>
        <p:nvSpPr>
          <p:cNvPr id="289" name="Shape 289"/>
          <p:cNvSpPr/>
          <p:nvPr/>
        </p:nvSpPr>
        <p:spPr>
          <a:xfrm>
            <a:off x="6839764" y="5903118"/>
            <a:ext cx="5866360" cy="3591343"/>
          </a:xfrm>
          <a:prstGeom prst="roundRect">
            <a:avLst>
              <a:gd name="adj" fmla="val 8049"/>
            </a:avLst>
          </a:prstGeom>
          <a:solidFill>
            <a:srgbClr val="FFFBD1"/>
          </a:solidFill>
          <a:ln w="12700">
            <a:solidFill>
              <a:schemeClr val="accent3"/>
            </a:solidFill>
            <a:miter lim="400000"/>
          </a:ln>
          <a:effectLst>
            <a:outerShdw sx="100000" sy="100000" kx="0" ky="0" algn="b" rotWithShape="0" blurRad="38100" dist="25400" dir="540000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b="1" sz="2100">
                <a:latin typeface="+mj-lt"/>
                <a:ea typeface="+mj-ea"/>
                <a:cs typeface="+mj-cs"/>
                <a:sym typeface="Helvetica"/>
              </a:defRPr>
            </a:pPr>
            <a:r>
              <a:t>Notes:</a:t>
            </a:r>
          </a:p>
          <a:p>
            <a:pPr algn="l">
              <a:defRPr b="1" sz="2100">
                <a:latin typeface="+mj-lt"/>
                <a:ea typeface="+mj-ea"/>
                <a:cs typeface="+mj-cs"/>
                <a:sym typeface="Helvetica"/>
              </a:defRPr>
            </a:pPr>
            <a:r>
              <a:t>Dictionaries are very useful for counting frequencies of words in text. Here, a string of text is broken into words, and then the frequencies of each word is counted in a dictionary. Note that “She”, “she”, or “she!” would all be stored as different keys—Python does not make any attempt to recognize these as the same word.</a:t>
            </a:r>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291" name="Shape 291"/>
          <p:cNvSpPr/>
          <p:nvPr>
            <p:ph type="body" idx="13"/>
          </p:nvPr>
        </p:nvSpPr>
        <p:spPr>
          <a:prstGeom prst="rect">
            <a:avLst/>
          </a:prstGeom>
        </p:spPr>
        <p:txBody>
          <a:bodyPr/>
          <a:lstStyle/>
          <a:p>
            <a:pPr/>
            <a:r>
              <a:t>Regular expression example</a:t>
            </a:r>
          </a:p>
        </p:txBody>
      </p:sp>
      <p:sp>
        <p:nvSpPr>
          <p:cNvPr id="292" name="Shape 292"/>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defRPr sz="2400"/>
            </a:pPr>
          </a:p>
        </p:txBody>
      </p:sp>
      <p:sp>
        <p:nvSpPr>
          <p:cNvPr id="293" name="Shape 293"/>
          <p:cNvSpPr/>
          <p:nvPr/>
        </p:nvSpPr>
        <p:spPr>
          <a:xfrm>
            <a:off x="883462" y="2190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pPr/>
            <a:r>
              <a:t>Input program</a:t>
            </a:r>
          </a:p>
        </p:txBody>
      </p:sp>
      <p:sp>
        <p:nvSpPr>
          <p:cNvPr id="294" name="Shape 294"/>
          <p:cNvSpPr/>
          <p:nvPr/>
        </p:nvSpPr>
        <p:spPr>
          <a:xfrm>
            <a:off x="7333665" y="21907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pPr/>
            <a:r>
              <a:t>Output</a:t>
            </a:r>
          </a:p>
        </p:txBody>
      </p:sp>
      <p:sp>
        <p:nvSpPr>
          <p:cNvPr id="295" name="Shape 295"/>
          <p:cNvSpPr/>
          <p:nvPr/>
        </p:nvSpPr>
        <p:spPr>
          <a:xfrm>
            <a:off x="7377723" y="3048000"/>
            <a:ext cx="1031826" cy="2235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cat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bear</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dog</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bear</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bird</a:t>
            </a:r>
          </a:p>
        </p:txBody>
      </p:sp>
      <p:sp>
        <p:nvSpPr>
          <p:cNvPr id="296" name="Shape 296"/>
          <p:cNvSpPr/>
          <p:nvPr/>
        </p:nvSpPr>
        <p:spPr>
          <a:xfrm>
            <a:off x="627696" y="3020465"/>
            <a:ext cx="5619454" cy="596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chemeClr val="accent6">
                    <a:satOff val="24555"/>
                    <a:lumOff val="22232"/>
                  </a:schemeClr>
                </a:solidFill>
                <a:latin typeface="Menlo"/>
                <a:ea typeface="Menlo"/>
                <a:cs typeface="Menlo"/>
                <a:sym typeface="Menlo"/>
              </a:defRPr>
            </a:pPr>
            <a:r>
              <a:t># Import regular expression functions</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E539E5"/>
                </a:solidFill>
                <a:latin typeface="Menlo"/>
                <a:ea typeface="Menlo"/>
                <a:cs typeface="Menlo"/>
                <a:sym typeface="Menlo"/>
              </a:defRPr>
            </a:pPr>
            <a:r>
              <a:t>import</a:t>
            </a:r>
            <a:r>
              <a:rPr>
                <a:solidFill>
                  <a:srgbClr val="000000"/>
                </a:solidFill>
              </a:rPr>
              <a:t> re</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chemeClr val="accent6">
                    <a:satOff val="24555"/>
                    <a:lumOff val="22232"/>
                  </a:schemeClr>
                </a:solidFill>
                <a:latin typeface="Menlo"/>
                <a:ea typeface="Menlo"/>
                <a:cs typeface="Menlo"/>
                <a:sym typeface="Menlo"/>
              </a:defRPr>
            </a:pPr>
            <a:r>
              <a:t># Create test list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0220B3"/>
                </a:solidFill>
                <a:latin typeface="Menlo"/>
                <a:ea typeface="Menlo"/>
                <a:cs typeface="Menlo"/>
                <a:sym typeface="Menlo"/>
              </a:defRPr>
            </a:pPr>
            <a:r>
              <a:rPr>
                <a:solidFill>
                  <a:srgbClr val="000000"/>
                </a:solidFill>
              </a:rPr>
              <a:t>a=[</a:t>
            </a:r>
            <a:r>
              <a:t>"cat"</a:t>
            </a:r>
            <a:r>
              <a:rPr>
                <a:solidFill>
                  <a:srgbClr val="000000"/>
                </a:solidFill>
              </a:rPr>
              <a:t>,</a:t>
            </a:r>
            <a:r>
              <a:t>"dog"</a:t>
            </a:r>
            <a:r>
              <a:rPr>
                <a:solidFill>
                  <a:srgbClr val="000000"/>
                </a:solidFill>
              </a:rPr>
              <a:t>,</a:t>
            </a:r>
            <a:r>
              <a:t>"bear"</a:t>
            </a:r>
            <a:r>
              <a:rPr>
                <a:solidFill>
                  <a:srgbClr val="000000"/>
                </a:solidFill>
              </a:rPr>
              <a:t>,</a:t>
            </a:r>
            <a:r>
              <a:t>"bird"</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chemeClr val="accent6">
                    <a:satOff val="24555"/>
                    <a:lumOff val="22232"/>
                  </a:schemeClr>
                </a:solidFill>
                <a:latin typeface="Menlo"/>
                <a:ea typeface="Menlo"/>
                <a:cs typeface="Menlo"/>
                <a:sym typeface="Menlo"/>
              </a:defRPr>
            </a:pPr>
            <a:r>
              <a:t># Create pattern to match "a" character</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AF5F00"/>
                </a:solidFill>
                <a:latin typeface="Menlo"/>
                <a:ea typeface="Menlo"/>
                <a:cs typeface="Menlo"/>
                <a:sym typeface="Menlo"/>
              </a:defRPr>
            </a:pPr>
            <a:r>
              <a:rPr>
                <a:solidFill>
                  <a:srgbClr val="000000"/>
                </a:solidFill>
              </a:rPr>
              <a:t>p=re.</a:t>
            </a:r>
            <a:r>
              <a:t>compile</a:t>
            </a:r>
            <a:r>
              <a:rPr>
                <a:solidFill>
                  <a:srgbClr val="000000"/>
                </a:solidFill>
              </a:rPr>
              <a:t>(</a:t>
            </a:r>
            <a:r>
              <a:rPr>
                <a:solidFill>
                  <a:srgbClr val="0220B3"/>
                </a:solidFill>
              </a:rPr>
              <a:t>"a"</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chemeClr val="accent6">
                    <a:satOff val="24555"/>
                    <a:lumOff val="22232"/>
                  </a:schemeClr>
                </a:solidFill>
                <a:latin typeface="Menlo"/>
                <a:ea typeface="Menlo"/>
                <a:cs typeface="Menlo"/>
                <a:sym typeface="Menlo"/>
              </a:defRPr>
            </a:pPr>
            <a:r>
              <a:t># Print elements in list that match</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E539E5"/>
                </a:solidFill>
                <a:latin typeface="Menlo"/>
                <a:ea typeface="Menlo"/>
                <a:cs typeface="Menlo"/>
                <a:sym typeface="Menlo"/>
              </a:defRPr>
            </a:pPr>
            <a:r>
              <a:t>for</a:t>
            </a:r>
            <a:r>
              <a:rPr>
                <a:solidFill>
                  <a:srgbClr val="000000"/>
                </a:solidFill>
              </a:rPr>
              <a:t> x </a:t>
            </a:r>
            <a:r>
              <a:rPr>
                <a:solidFill>
                  <a:srgbClr val="E6E600"/>
                </a:solidFill>
              </a:rPr>
              <a:t>in</a:t>
            </a:r>
            <a:r>
              <a:rPr>
                <a:solidFill>
                  <a:srgbClr val="000000"/>
                </a:solidFill>
              </a:rPr>
              <a:t> a:</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Menlo"/>
                <a:ea typeface="Menlo"/>
                <a:cs typeface="Menlo"/>
                <a:sym typeface="Menlo"/>
              </a:defRPr>
            </a:pPr>
            <a:r>
              <a:t>    </a:t>
            </a:r>
            <a:r>
              <a:rPr>
                <a:solidFill>
                  <a:srgbClr val="E539E5"/>
                </a:solidFill>
              </a:rPr>
              <a:t>if</a:t>
            </a:r>
            <a:r>
              <a:t>(p.search(x)):</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r>
              <a:t>       </a:t>
            </a:r>
            <a:r>
              <a:rPr>
                <a:solidFill>
                  <a:srgbClr val="000000"/>
                </a:solidFill>
              </a:rPr>
              <a:t> </a:t>
            </a:r>
            <a:r>
              <a:rPr>
                <a:solidFill>
                  <a:srgbClr val="AF5F00"/>
                </a:solidFill>
              </a:rPr>
              <a:t>print</a:t>
            </a:r>
            <a:r>
              <a:rPr>
                <a:solidFill>
                  <a:srgbClr val="000000"/>
                </a:solidFill>
              </a:rPr>
              <a:t> x</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chemeClr val="accent6">
                    <a:satOff val="24555"/>
                    <a:lumOff val="22232"/>
                  </a:schemeClr>
                </a:solidFill>
                <a:latin typeface="Menlo"/>
                <a:ea typeface="Menlo"/>
                <a:cs typeface="Menlo"/>
                <a:sym typeface="Menlo"/>
              </a:defRPr>
            </a:pPr>
            <a:r>
              <a:t># Create pattern to match "b" or "d"</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AF5F00"/>
                </a:solidFill>
                <a:latin typeface="Menlo"/>
                <a:ea typeface="Menlo"/>
                <a:cs typeface="Menlo"/>
                <a:sym typeface="Menlo"/>
              </a:defRPr>
            </a:pPr>
            <a:r>
              <a:rPr>
                <a:solidFill>
                  <a:srgbClr val="000000"/>
                </a:solidFill>
              </a:rPr>
              <a:t>p2=re.</a:t>
            </a:r>
            <a:r>
              <a:t>compile</a:t>
            </a:r>
            <a:r>
              <a:rPr>
                <a:solidFill>
                  <a:srgbClr val="000000"/>
                </a:solidFill>
              </a:rPr>
              <a:t>(</a:t>
            </a:r>
            <a:r>
              <a:rPr>
                <a:solidFill>
                  <a:srgbClr val="0220B3"/>
                </a:solidFill>
              </a:rPr>
              <a:t>"[bd]"</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r>
              <a:t>         </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chemeClr val="accent6">
                    <a:satOff val="24555"/>
                    <a:lumOff val="22232"/>
                  </a:schemeClr>
                </a:solidFill>
                <a:latin typeface="Menlo"/>
                <a:ea typeface="Menlo"/>
                <a:cs typeface="Menlo"/>
                <a:sym typeface="Menlo"/>
              </a:defRPr>
            </a:pPr>
            <a:r>
              <a:t># Print elements in list that match</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r>
              <a:rPr>
                <a:solidFill>
                  <a:srgbClr val="AF5F00"/>
                </a:solidFill>
              </a:rPr>
              <a:t>print</a:t>
            </a:r>
            <a:r>
              <a:t>     </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E539E5"/>
                </a:solidFill>
                <a:latin typeface="Menlo"/>
                <a:ea typeface="Menlo"/>
                <a:cs typeface="Menlo"/>
                <a:sym typeface="Menlo"/>
              </a:defRPr>
            </a:pPr>
            <a:r>
              <a:t>for</a:t>
            </a:r>
            <a:r>
              <a:rPr>
                <a:solidFill>
                  <a:srgbClr val="000000"/>
                </a:solidFill>
              </a:rPr>
              <a:t> x </a:t>
            </a:r>
            <a:r>
              <a:rPr>
                <a:solidFill>
                  <a:srgbClr val="E6E600"/>
                </a:solidFill>
              </a:rPr>
              <a:t>in</a:t>
            </a:r>
            <a:r>
              <a:rPr>
                <a:solidFill>
                  <a:srgbClr val="000000"/>
                </a:solidFill>
              </a:rPr>
              <a:t> a:</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Menlo"/>
                <a:ea typeface="Menlo"/>
                <a:cs typeface="Menlo"/>
                <a:sym typeface="Menlo"/>
              </a:defRPr>
            </a:pPr>
            <a:r>
              <a:rPr>
                <a:solidFill>
                  <a:srgbClr val="FFF678"/>
                </a:solidFill>
              </a:rPr>
              <a:t>   </a:t>
            </a:r>
            <a:r>
              <a:t> </a:t>
            </a:r>
            <a:r>
              <a:rPr>
                <a:solidFill>
                  <a:srgbClr val="E539E5"/>
                </a:solidFill>
              </a:rPr>
              <a:t>if</a:t>
            </a:r>
            <a:r>
              <a:t>(p2.search(x)):</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Menlo"/>
                <a:ea typeface="Menlo"/>
                <a:cs typeface="Menlo"/>
                <a:sym typeface="Menlo"/>
              </a:defRPr>
            </a:pPr>
            <a:r>
              <a:t>        </a:t>
            </a:r>
            <a:r>
              <a:rPr>
                <a:solidFill>
                  <a:srgbClr val="AF5F00"/>
                </a:solidFill>
              </a:rPr>
              <a:t>print</a:t>
            </a:r>
            <a:r>
              <a:t> x</a:t>
            </a:r>
          </a:p>
        </p:txBody>
      </p:sp>
      <p:sp>
        <p:nvSpPr>
          <p:cNvPr id="297" name="Shape 297"/>
          <p:cNvSpPr/>
          <p:nvPr/>
        </p:nvSpPr>
        <p:spPr>
          <a:xfrm>
            <a:off x="97383" y="9213849"/>
            <a:ext cx="3163640"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sz="2400">
                <a:latin typeface="+mj-lt"/>
                <a:ea typeface="+mj-ea"/>
                <a:cs typeface="+mj-cs"/>
                <a:sym typeface="Helvetica"/>
              </a:defRPr>
            </a:lvl1pPr>
          </a:lstStyle>
          <a:p>
            <a:pPr/>
            <a:r>
              <a:t>Example: reg_exp.py</a:t>
            </a:r>
          </a:p>
        </p:txBody>
      </p:sp>
      <p:sp>
        <p:nvSpPr>
          <p:cNvPr id="298" name="Shape 298"/>
          <p:cNvSpPr/>
          <p:nvPr/>
        </p:nvSpPr>
        <p:spPr>
          <a:xfrm>
            <a:off x="6839764" y="5903118"/>
            <a:ext cx="5866360" cy="3591343"/>
          </a:xfrm>
          <a:prstGeom prst="roundRect">
            <a:avLst>
              <a:gd name="adj" fmla="val 8049"/>
            </a:avLst>
          </a:prstGeom>
          <a:solidFill>
            <a:srgbClr val="FFFBD1"/>
          </a:solidFill>
          <a:ln w="12700">
            <a:solidFill>
              <a:schemeClr val="accent3"/>
            </a:solidFill>
            <a:miter lim="400000"/>
          </a:ln>
          <a:effectLst>
            <a:outerShdw sx="100000" sy="100000" kx="0" ky="0" algn="b" rotWithShape="0" blurRad="38100" dist="25400" dir="540000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b="1" sz="2100">
                <a:latin typeface="+mj-lt"/>
                <a:ea typeface="+mj-ea"/>
                <a:cs typeface="+mj-cs"/>
                <a:sym typeface="Helvetica"/>
              </a:defRPr>
            </a:pPr>
            <a:r>
              <a:t>Notes:</a:t>
            </a:r>
          </a:p>
          <a:p>
            <a:pPr algn="l">
              <a:defRPr b="1" sz="2100">
                <a:latin typeface="+mj-lt"/>
                <a:ea typeface="+mj-ea"/>
                <a:cs typeface="+mj-cs"/>
                <a:sym typeface="Helvetica"/>
              </a:defRPr>
            </a:pPr>
            <a:r>
              <a:t>Regular expressions are a general and very flexible way to process and transform strings of text. While the details may differ slightly, regular expressions are found in many programming languages and tools, and are not unique to Python. In the first example here, elements in a list with an “a” are found. In the second example, elements with either a “b” or “d” are found.</a:t>
            </a:r>
          </a:p>
        </p:txBody>
      </p:sp>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00" name="Shape 300"/>
          <p:cNvSpPr/>
          <p:nvPr>
            <p:ph type="body" idx="13"/>
          </p:nvPr>
        </p:nvSpPr>
        <p:spPr>
          <a:prstGeom prst="rect">
            <a:avLst/>
          </a:prstGeom>
        </p:spPr>
        <p:txBody>
          <a:bodyPr/>
          <a:lstStyle/>
          <a:p>
            <a:pPr/>
            <a:r>
              <a:t>Regular expression example</a:t>
            </a:r>
          </a:p>
        </p:txBody>
      </p:sp>
      <p:sp>
        <p:nvSpPr>
          <p:cNvPr id="301" name="Shape 301"/>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defRPr sz="2400"/>
            </a:pPr>
          </a:p>
        </p:txBody>
      </p:sp>
      <p:sp>
        <p:nvSpPr>
          <p:cNvPr id="302" name="Shape 302"/>
          <p:cNvSpPr/>
          <p:nvPr/>
        </p:nvSpPr>
        <p:spPr>
          <a:xfrm>
            <a:off x="883462" y="2190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pPr/>
            <a:r>
              <a:t>Input program</a:t>
            </a:r>
          </a:p>
        </p:txBody>
      </p:sp>
      <p:sp>
        <p:nvSpPr>
          <p:cNvPr id="303" name="Shape 303"/>
          <p:cNvSpPr/>
          <p:nvPr/>
        </p:nvSpPr>
        <p:spPr>
          <a:xfrm>
            <a:off x="7333665" y="21907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pPr/>
            <a:r>
              <a:t>Output</a:t>
            </a:r>
          </a:p>
        </p:txBody>
      </p:sp>
      <p:sp>
        <p:nvSpPr>
          <p:cNvPr id="304" name="Shape 304"/>
          <p:cNvSpPr/>
          <p:nvPr/>
        </p:nvSpPr>
        <p:spPr>
          <a:xfrm>
            <a:off x="549228" y="3175000"/>
            <a:ext cx="5734144" cy="5359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Import regular expression functions</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E539E5"/>
                </a:solidFill>
                <a:latin typeface="Menlo"/>
                <a:ea typeface="Menlo"/>
                <a:cs typeface="Menlo"/>
                <a:sym typeface="Menlo"/>
              </a:defRPr>
            </a:pPr>
            <a:r>
              <a:t>import</a:t>
            </a:r>
            <a:r>
              <a:rPr>
                <a:solidFill>
                  <a:srgbClr val="000000"/>
                </a:solidFill>
              </a:rPr>
              <a:t> re</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Pattern to match color names</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0220B3"/>
                </a:solidFill>
                <a:latin typeface="Menlo"/>
                <a:ea typeface="Menlo"/>
                <a:cs typeface="Menlo"/>
                <a:sym typeface="Menlo"/>
              </a:defRPr>
            </a:pPr>
            <a:r>
              <a:rPr>
                <a:solidFill>
                  <a:srgbClr val="000000"/>
                </a:solidFill>
              </a:rPr>
              <a:t>p=re.</a:t>
            </a:r>
            <a:r>
              <a:rPr>
                <a:solidFill>
                  <a:srgbClr val="AF5F00"/>
                </a:solidFill>
              </a:rPr>
              <a:t>compile</a:t>
            </a:r>
            <a:r>
              <a:rPr>
                <a:solidFill>
                  <a:srgbClr val="000000"/>
                </a:solidFill>
              </a:rPr>
              <a:t>(</a:t>
            </a:r>
            <a:r>
              <a:t>"(green|red|blue)"</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Test string</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0220B3"/>
                </a:solidFill>
                <a:latin typeface="Menlo"/>
                <a:ea typeface="Menlo"/>
                <a:cs typeface="Menlo"/>
                <a:sym typeface="Menlo"/>
              </a:defRPr>
            </a:pPr>
            <a:r>
              <a:rPr>
                <a:solidFill>
                  <a:srgbClr val="000000"/>
                </a:solidFill>
              </a:rPr>
              <a:t>s=</a:t>
            </a:r>
            <a:r>
              <a:t>"The primary colors are red, green, and blue."</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Change all matches</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rPr>
                <a:solidFill>
                  <a:srgbClr val="AF5F00"/>
                </a:solidFill>
              </a:rPr>
              <a:t>print</a:t>
            </a:r>
            <a:r>
              <a:t> p.sub(</a:t>
            </a:r>
            <a:r>
              <a:rPr>
                <a:solidFill>
                  <a:srgbClr val="0220B3"/>
                </a:solidFill>
              </a:rPr>
              <a:t>"color"</a:t>
            </a:r>
            <a:r>
              <a:t>,s)</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Only change the first match</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rPr>
                <a:solidFill>
                  <a:srgbClr val="AF5F00"/>
                </a:solidFill>
              </a:rPr>
              <a:t>print</a:t>
            </a:r>
            <a:r>
              <a:t> p.sub(</a:t>
            </a:r>
            <a:r>
              <a:rPr>
                <a:solidFill>
                  <a:srgbClr val="0220B3"/>
                </a:solidFill>
              </a:rPr>
              <a:t>"color"</a:t>
            </a:r>
            <a:r>
              <a:t>,s,count=</a:t>
            </a:r>
            <a:r>
              <a:rPr>
                <a:solidFill>
                  <a:srgbClr val="0433FF"/>
                </a:solidFill>
              </a:rPr>
              <a:t>1</a:t>
            </a:r>
            <a: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Second test string</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0220B3"/>
                </a:solidFill>
                <a:latin typeface="Menlo"/>
                <a:ea typeface="Menlo"/>
                <a:cs typeface="Menlo"/>
                <a:sym typeface="Menlo"/>
              </a:defRPr>
            </a:pPr>
            <a:r>
              <a:rPr>
                <a:solidFill>
                  <a:srgbClr val="000000"/>
                </a:solidFill>
              </a:rPr>
              <a:t>t=</a:t>
            </a:r>
            <a:r>
              <a:t>"You can't touch this!"</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Pattern to remove punctuation</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0220B3"/>
                </a:solidFill>
                <a:latin typeface="Menlo"/>
                <a:ea typeface="Menlo"/>
                <a:cs typeface="Menlo"/>
                <a:sym typeface="Menlo"/>
              </a:defRPr>
            </a:pPr>
            <a:r>
              <a:rPr>
                <a:solidFill>
                  <a:srgbClr val="000000"/>
                </a:solidFill>
              </a:rPr>
              <a:t>p2=re.</a:t>
            </a:r>
            <a:r>
              <a:rPr>
                <a:solidFill>
                  <a:srgbClr val="AF5F00"/>
                </a:solidFill>
              </a:rPr>
              <a:t>compile</a:t>
            </a:r>
            <a:r>
              <a:rPr>
                <a:solidFill>
                  <a:srgbClr val="000000"/>
                </a:solidFill>
              </a:rPr>
              <a:t>(</a:t>
            </a:r>
            <a:r>
              <a:t>"[!,'\.]"</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Apply it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rPr>
                <a:solidFill>
                  <a:srgbClr val="AF5F00"/>
                </a:solidFill>
              </a:rPr>
              <a:t>print</a:t>
            </a:r>
            <a:r>
              <a:t> p2.sub(</a:t>
            </a:r>
            <a:r>
              <a:rPr>
                <a:solidFill>
                  <a:srgbClr val="0220B3"/>
                </a:solidFill>
              </a:rPr>
              <a:t>""</a:t>
            </a:r>
            <a:r>
              <a:t>,t).lower()</a:t>
            </a:r>
          </a:p>
        </p:txBody>
      </p:sp>
      <p:sp>
        <p:nvSpPr>
          <p:cNvPr id="305" name="Shape 305"/>
          <p:cNvSpPr/>
          <p:nvPr/>
        </p:nvSpPr>
        <p:spPr>
          <a:xfrm>
            <a:off x="6943873" y="3124199"/>
            <a:ext cx="5619454" cy="787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t>The primary colors are color, color, and color.</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t>The primary colors are color, green, and blue.</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t>you cant touch this</a:t>
            </a:r>
          </a:p>
        </p:txBody>
      </p:sp>
      <p:sp>
        <p:nvSpPr>
          <p:cNvPr id="306" name="Shape 306"/>
          <p:cNvSpPr/>
          <p:nvPr/>
        </p:nvSpPr>
        <p:spPr>
          <a:xfrm>
            <a:off x="97383" y="9213849"/>
            <a:ext cx="3333156"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sz="2400">
                <a:latin typeface="+mj-lt"/>
                <a:ea typeface="+mj-ea"/>
                <a:cs typeface="+mj-cs"/>
                <a:sym typeface="Helvetica"/>
              </a:defRPr>
            </a:lvl1pPr>
          </a:lstStyle>
          <a:p>
            <a:pPr/>
            <a:r>
              <a:t>Example: reg_exp2.py</a:t>
            </a:r>
          </a:p>
        </p:txBody>
      </p:sp>
      <p:sp>
        <p:nvSpPr>
          <p:cNvPr id="307" name="Shape 307"/>
          <p:cNvSpPr/>
          <p:nvPr/>
        </p:nvSpPr>
        <p:spPr>
          <a:xfrm>
            <a:off x="6839764" y="5482728"/>
            <a:ext cx="5866360" cy="4011733"/>
          </a:xfrm>
          <a:prstGeom prst="roundRect">
            <a:avLst>
              <a:gd name="adj" fmla="val 7206"/>
            </a:avLst>
          </a:prstGeom>
          <a:solidFill>
            <a:srgbClr val="FFFBD1"/>
          </a:solidFill>
          <a:ln w="12700">
            <a:solidFill>
              <a:schemeClr val="accent3"/>
            </a:solidFill>
            <a:miter lim="400000"/>
          </a:ln>
          <a:effectLst>
            <a:outerShdw sx="100000" sy="100000" kx="0" ky="0" algn="b" rotWithShape="0" blurRad="38100" dist="25400" dir="540000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b="1" sz="2100">
                <a:latin typeface="+mj-lt"/>
                <a:ea typeface="+mj-ea"/>
                <a:cs typeface="+mj-cs"/>
                <a:sym typeface="Helvetica"/>
              </a:defRPr>
            </a:pPr>
            <a:r>
              <a:t>Notes:</a:t>
            </a:r>
          </a:p>
          <a:p>
            <a:pPr algn="l">
              <a:defRPr b="1" sz="2100">
                <a:latin typeface="+mj-lt"/>
                <a:ea typeface="+mj-ea"/>
                <a:cs typeface="+mj-cs"/>
                <a:sym typeface="Helvetica"/>
              </a:defRPr>
            </a:pPr>
            <a:r>
              <a:t>Regular expressions can be used to substitute some text in a string for something else. The can either apply to multiple times to the string (as in the first output line) or just to the first occurrence (as in the second output line). In the context of word analysis, regular expressions can be used to strip out punctuation. The string command “lower()” can also be used, to convert a string to lower case.</a:t>
            </a:r>
          </a:p>
        </p:txBody>
      </p:sp>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09" name="Shape 309"/>
          <p:cNvSpPr/>
          <p:nvPr>
            <p:ph type="title"/>
          </p:nvPr>
        </p:nvSpPr>
        <p:spPr>
          <a:prstGeom prst="rect">
            <a:avLst/>
          </a:prstGeom>
        </p:spPr>
        <p:txBody>
          <a:bodyPr/>
          <a:lstStyle/>
          <a:p>
            <a:pPr/>
            <a:r>
              <a:t>This week’s lab</a:t>
            </a:r>
          </a:p>
        </p:txBody>
      </p:sp>
      <p:sp>
        <p:nvSpPr>
          <p:cNvPr id="310" name="Shape 310"/>
          <p:cNvSpPr/>
          <p:nvPr>
            <p:ph type="body" idx="1"/>
          </p:nvPr>
        </p:nvSpPr>
        <p:spPr>
          <a:prstGeom prst="rect">
            <a:avLst/>
          </a:prstGeom>
        </p:spPr>
        <p:txBody>
          <a:bodyPr/>
          <a:lstStyle/>
          <a:p>
            <a:pPr>
              <a:spcBef>
                <a:spcPts val="1700"/>
              </a:spcBef>
            </a:pPr>
            <a:r>
              <a:t>Measure information content in a text:</a:t>
            </a:r>
          </a:p>
          <a:p>
            <a:pPr marL="635000" indent="-635000">
              <a:spcBef>
                <a:spcPts val="1700"/>
              </a:spcBef>
              <a:buSzPct val="100000"/>
              <a:buAutoNum type="arabicPeriod" startAt="1"/>
            </a:pPr>
            <a:r>
              <a:t>Determine frequency distribution of a words in a text</a:t>
            </a:r>
          </a:p>
          <a:p>
            <a:pPr marL="635000" indent="-635000">
              <a:spcBef>
                <a:spcPts val="1700"/>
              </a:spcBef>
              <a:buSzPct val="100000"/>
              <a:buAutoNum type="arabicPeriod" startAt="1"/>
            </a:pPr>
            <a:r>
              <a:t>Check that the distribution obeys Zipf’s law (frequency of a word is inversely proportional to its rank in the frequency table) </a:t>
            </a:r>
          </a:p>
          <a:p>
            <a:pPr marL="635000" indent="-635000">
              <a:spcBef>
                <a:spcPts val="1700"/>
              </a:spcBef>
              <a:buSzPct val="100000"/>
              <a:buAutoNum type="arabicPeriod" startAt="1"/>
            </a:pPr>
            <a:r>
              <a:t>Compute the entropy of the frequency distribution</a:t>
            </a:r>
          </a:p>
        </p:txBody>
      </p:sp>
    </p:spTree>
  </p:cSld>
  <p:clrMapOvr>
    <a:masterClrMapping/>
  </p:clrMapOvr>
  <p:transition xmlns:p14="http://schemas.microsoft.com/office/powerpoint/2010/main" spd="med" advClick="1"/>
</p:sld>
</file>

<file path=ppt/theme/_rels/theme1.xml.rels><?xml version="1.0" encoding="UTF-8" standalone="yes"?><Relationships xmlns="http://schemas.openxmlformats.org/package/2006/relationships"><Relationship Id="rId1" Type="http://schemas.openxmlformats.org/officeDocument/2006/relationships/image" Target="../media/image1.png"/></Relationships>

</file>

<file path=ppt/theme/_rels/theme2.xml.rels><?xml version="1.0" encoding="UTF-8" standalone="yes"?><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5400000">
              <a:srgbClr val="000000">
                <a:alpha val="50000"/>
              </a:srgbClr>
            </a:outerShdw>
          </a:effectLst>
        </a:effectStyle>
        <a:effectStyle>
          <a:effectLst>
            <a:outerShdw sx="100000" sy="100000" kx="0" ky="0" algn="b" rotWithShape="0" blurRad="50800" dist="12700" dir="0">
              <a:srgbClr val="000000">
                <a:alpha val="50000"/>
              </a:srgbClr>
            </a:outerShdw>
          </a:effectLst>
        </a:effectStyle>
        <a:effectStyle>
          <a:effectLst>
            <a:outerShdw sx="100000" sy="100000" kx="0" ky="0" algn="b" rotWithShape="0" blurRad="38100" dist="25400" dir="540000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r:embed="rId1"/>
          <a:srcRect l="0" t="0" r="0" b="0"/>
          <a:tile tx="0" ty="0" sx="100000" sy="100000" flip="none" algn="tl"/>
        </a:blipFill>
        <a:ln w="12700" cap="flat">
          <a:noFill/>
          <a:miter lim="400000"/>
        </a:ln>
        <a:effectLst>
          <a:outerShdw sx="100000" sy="100000" kx="0" ky="0" algn="b" rotWithShape="0" blurRad="38100" dist="25400" dir="5400000">
            <a:srgbClr val="000000">
              <a:alpha val="50000"/>
            </a:srgbClr>
          </a:outerShdw>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5400" dir="5400000">
              <a:srgbClr val="000000">
                <a:alpha val="50000"/>
              </a:srgbClr>
            </a:outerShdw>
          </a:effectLst>
        </a:effectStyle>
        <a:effectStyle>
          <a:effectLst>
            <a:outerShdw sx="100000" sy="100000" kx="0" ky="0" algn="b" rotWithShape="0" blurRad="50800" dist="12700" dir="0">
              <a:srgbClr val="000000">
                <a:alpha val="50000"/>
              </a:srgbClr>
            </a:outerShdw>
          </a:effectLst>
        </a:effectStyle>
        <a:effectStyle>
          <a:effectLst>
            <a:outerShdw sx="100000" sy="100000" kx="0" ky="0" algn="b" rotWithShape="0" blurRad="38100" dist="25400" dir="540000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r:embed="rId1"/>
          <a:srcRect l="0" t="0" r="0" b="0"/>
          <a:tile tx="0" ty="0" sx="100000" sy="100000" flip="none" algn="tl"/>
        </a:blipFill>
        <a:ln w="12700" cap="flat">
          <a:noFill/>
          <a:miter lim="400000"/>
        </a:ln>
        <a:effectLst>
          <a:outerShdw sx="100000" sy="100000" kx="0" ky="0" algn="b" rotWithShape="0" blurRad="38100" dist="25400" dir="5400000">
            <a:srgbClr val="000000">
              <a:alpha val="50000"/>
            </a:srgbClr>
          </a:outerShdw>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3600" u="none" kumimoji="0" normalizeH="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