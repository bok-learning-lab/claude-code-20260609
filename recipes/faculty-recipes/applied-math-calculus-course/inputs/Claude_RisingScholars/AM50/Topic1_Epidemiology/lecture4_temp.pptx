
<file path=[Content_Types].xml><?xml version="1.0" encoding="utf-8"?>
<Types xmlns="http://schemas.openxmlformats.org/package/2006/content-types">
  <Default Extension="xml" ContentType="application/xml"/>
  <Default Extension="tif" ContentType="image/tif"/>
  <Default Extension="png" ContentType="image/p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93" r:id="rId4"/>
    <p:sldId id="294" r:id="rId5"/>
    <p:sldId id="295" r:id="rId6"/>
    <p:sldId id="297" r:id="rId7"/>
    <p:sldId id="290" r:id="rId8"/>
    <p:sldId id="317" r:id="rId9"/>
    <p:sldId id="315" r:id="rId10"/>
    <p:sldId id="316" r:id="rId11"/>
    <p:sldId id="301" r:id="rId12"/>
    <p:sldId id="318" r:id="rId13"/>
    <p:sldId id="269" r:id="rId14"/>
    <p:sldId id="319" r:id="rId15"/>
    <p:sldId id="320" r:id="rId16"/>
    <p:sldId id="270" r:id="rId17"/>
    <p:sldId id="300" r:id="rId18"/>
    <p:sldId id="302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2" r:id="rId29"/>
    <p:sldId id="303" r:id="rId30"/>
    <p:sldId id="304" r:id="rId31"/>
    <p:sldId id="305" r:id="rId32"/>
    <p:sldId id="306" r:id="rId33"/>
    <p:sldId id="307" r:id="rId34"/>
    <p:sldId id="308" r:id="rId35"/>
    <p:sldId id="309" r:id="rId36"/>
    <p:sldId id="310" r:id="rId37"/>
    <p:sldId id="311" r:id="rId38"/>
    <p:sldId id="312" r:id="rId39"/>
    <p:sldId id="313" r:id="rId40"/>
    <p:sldId id="314" r:id="rId41"/>
    <p:sldId id="321" r:id="rId42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>
        <p15:guide id="1" orient="horz" pos="3072">
          <p15:clr>
            <a:srgbClr val="A4A3A4"/>
          </p15:clr>
        </p15:guide>
        <p15:guide id="2" pos="409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31" autoAdjust="0"/>
    <p:restoredTop sz="86806" autoAdjust="0"/>
  </p:normalViewPr>
  <p:slideViewPr>
    <p:cSldViewPr snapToGrid="0" snapToObjects="1">
      <p:cViewPr>
        <p:scale>
          <a:sx n="61" d="100"/>
          <a:sy n="61" d="100"/>
        </p:scale>
        <p:origin x="448" y="144"/>
      </p:cViewPr>
      <p:guideLst>
        <p:guide orient="horz" pos="3072"/>
        <p:guide pos="409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46" Type="http://schemas.openxmlformats.org/officeDocument/2006/relationships/theme" Target="theme/theme1.xml"/><Relationship Id="rId47" Type="http://schemas.openxmlformats.org/officeDocument/2006/relationships/tableStyles" Target="tableStyles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2" name="Shape 6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62794414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1pPr>
    <a:lvl2pPr indent="2286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2pPr>
    <a:lvl3pPr indent="4572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3pPr>
    <a:lvl4pPr indent="6858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4pPr>
    <a:lvl5pPr indent="9144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5pPr>
    <a:lvl6pPr indent="11430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6pPr>
    <a:lvl7pPr indent="13716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7pPr>
    <a:lvl8pPr indent="16002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8pPr>
    <a:lvl9pPr indent="18288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69055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hape 194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95" name="Shape 19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2009 - Swine Flu</a:t>
            </a:r>
          </a:p>
        </p:txBody>
      </p:sp>
    </p:spTree>
    <p:extLst>
      <p:ext uri="{BB962C8B-B14F-4D97-AF65-F5344CB8AC3E}">
        <p14:creationId xmlns:p14="http://schemas.microsoft.com/office/powerpoint/2010/main" val="10142116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01" name="Shape 20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Early detection though web search monitoring can enable counter measures</a:t>
            </a:r>
          </a:p>
        </p:txBody>
      </p:sp>
    </p:spTree>
    <p:extLst>
      <p:ext uri="{BB962C8B-B14F-4D97-AF65-F5344CB8AC3E}">
        <p14:creationId xmlns:p14="http://schemas.microsoft.com/office/powerpoint/2010/main" val="9994581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Shape 207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08" name="Shape 20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CDC has good data on flu-related Dr visits but with 1-2 week lag.</a:t>
            </a:r>
          </a:p>
          <a:p>
            <a:r>
              <a:t>Can we make an earlier forecast using online search queries?</a:t>
            </a:r>
          </a:p>
        </p:txBody>
      </p:sp>
    </p:spTree>
    <p:extLst>
      <p:ext uri="{BB962C8B-B14F-4D97-AF65-F5344CB8AC3E}">
        <p14:creationId xmlns:p14="http://schemas.microsoft.com/office/powerpoint/2010/main" val="1411542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Shape 21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19" name="Shape 21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Correlate flu Dr visits to flu searches for later forecasting</a:t>
            </a:r>
          </a:p>
        </p:txBody>
      </p:sp>
    </p:spTree>
    <p:extLst>
      <p:ext uri="{BB962C8B-B14F-4D97-AF65-F5344CB8AC3E}">
        <p14:creationId xmlns:p14="http://schemas.microsoft.com/office/powerpoint/2010/main" val="17997240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Shape 23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3" name="Shape 23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Training the model, i.e. fitting the parameters to data</a:t>
            </a:r>
          </a:p>
          <a:p>
            <a:r>
              <a:t>Which search query trends match CDC?</a:t>
            </a:r>
          </a:p>
        </p:txBody>
      </p:sp>
    </p:spTree>
    <p:extLst>
      <p:ext uri="{BB962C8B-B14F-4D97-AF65-F5344CB8AC3E}">
        <p14:creationId xmlns:p14="http://schemas.microsoft.com/office/powerpoint/2010/main" val="881429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>
            <a:spLocks noGrp="1"/>
          </p:cNvSpPr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Shape 12"/>
          <p:cNvSpPr>
            <a:spLocks noGrp="1"/>
          </p:cNvSpPr>
          <p:nvPr>
            <p:ph type="body" sz="quarter" idx="1"/>
          </p:nvPr>
        </p:nvSpPr>
        <p:spPr>
          <a:xfrm>
            <a:off x="1270000" y="50292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3200"/>
            </a:lvl1pPr>
            <a:lvl2pPr marL="0" indent="228600" algn="ctr">
              <a:lnSpc>
                <a:spcPct val="100000"/>
              </a:lnSpc>
              <a:spcBef>
                <a:spcPts val="0"/>
              </a:spcBef>
              <a:buSzTx/>
              <a:buNone/>
              <a:defRPr sz="3200"/>
            </a:lvl2pPr>
            <a:lvl3pPr marL="0" indent="457200" algn="ctr">
              <a:lnSpc>
                <a:spcPct val="100000"/>
              </a:lnSpc>
              <a:spcBef>
                <a:spcPts val="0"/>
              </a:spcBef>
              <a:buSzTx/>
              <a:buNone/>
              <a:defRPr sz="3200"/>
            </a:lvl3pPr>
            <a:lvl4pPr marL="0" indent="685800" algn="ctr">
              <a:lnSpc>
                <a:spcPct val="100000"/>
              </a:lnSpc>
              <a:spcBef>
                <a:spcPts val="0"/>
              </a:spcBef>
              <a:buSzTx/>
              <a:buNone/>
              <a:defRPr sz="3200"/>
            </a:lvl4pPr>
            <a:lvl5pPr marL="0" indent="914400" algn="ctr">
              <a:lnSpc>
                <a:spcPct val="100000"/>
              </a:lnSpc>
              <a:spcBef>
                <a:spcPts val="0"/>
              </a:spcBef>
              <a:buSzTx/>
              <a:buNone/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hape 1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>
            <a:spLocks noGrp="1"/>
          </p:cNvSpPr>
          <p:nvPr>
            <p:ph type="pic" idx="13"/>
          </p:nvPr>
        </p:nvSpPr>
        <p:spPr>
          <a:xfrm>
            <a:off x="1606550" y="635000"/>
            <a:ext cx="9779000" cy="59182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Shape 21"/>
          <p:cNvSpPr>
            <a:spLocks noGrp="1"/>
          </p:cNvSpPr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22" name="Shape 22"/>
          <p:cNvSpPr>
            <a:spLocks noGrp="1"/>
          </p:cNvSpPr>
          <p:nvPr>
            <p:ph type="body" sz="quarter" idx="1"/>
          </p:nvPr>
        </p:nvSpPr>
        <p:spPr>
          <a:xfrm>
            <a:off x="1270000" y="81915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3200" b="0">
                <a:latin typeface="+mn-lt"/>
                <a:ea typeface="+mn-ea"/>
                <a:cs typeface="+mn-cs"/>
                <a:sym typeface="Helvetica Light"/>
              </a:defRPr>
            </a:lvl1pPr>
            <a:lvl2pPr marL="0" indent="228600" algn="ctr">
              <a:lnSpc>
                <a:spcPct val="100000"/>
              </a:lnSpc>
              <a:spcBef>
                <a:spcPts val="0"/>
              </a:spcBef>
              <a:buSzTx/>
              <a:buNone/>
              <a:defRPr sz="3200" b="0">
                <a:latin typeface="+mn-lt"/>
                <a:ea typeface="+mn-ea"/>
                <a:cs typeface="+mn-cs"/>
                <a:sym typeface="Helvetica Light"/>
              </a:defRPr>
            </a:lvl2pPr>
            <a:lvl3pPr marL="0" indent="457200" algn="ctr">
              <a:lnSpc>
                <a:spcPct val="100000"/>
              </a:lnSpc>
              <a:spcBef>
                <a:spcPts val="0"/>
              </a:spcBef>
              <a:buSzTx/>
              <a:buNone/>
              <a:defRPr sz="3200" b="0">
                <a:latin typeface="+mn-lt"/>
                <a:ea typeface="+mn-ea"/>
                <a:cs typeface="+mn-cs"/>
                <a:sym typeface="Helvetica Light"/>
              </a:defRPr>
            </a:lvl3pPr>
            <a:lvl4pPr marL="0" indent="685800" algn="ctr">
              <a:lnSpc>
                <a:spcPct val="100000"/>
              </a:lnSpc>
              <a:spcBef>
                <a:spcPts val="0"/>
              </a:spcBef>
              <a:buSzTx/>
              <a:buNone/>
              <a:defRPr sz="3200" b="0">
                <a:latin typeface="+mn-lt"/>
                <a:ea typeface="+mn-ea"/>
                <a:cs typeface="+mn-cs"/>
                <a:sym typeface="Helvetica Light"/>
              </a:defRPr>
            </a:lvl4pPr>
            <a:lvl5pPr marL="0" indent="914400" algn="ctr">
              <a:lnSpc>
                <a:spcPct val="100000"/>
              </a:lnSpc>
              <a:spcBef>
                <a:spcPts val="0"/>
              </a:spcBef>
              <a:buSzTx/>
              <a:buNone/>
              <a:defRPr sz="3200" b="0">
                <a:latin typeface="+mn-lt"/>
                <a:ea typeface="+mn-ea"/>
                <a:cs typeface="+mn-cs"/>
                <a:sym typeface="Helvetica Light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hape 23"/>
          <p:cNvSpPr>
            <a:spLocks noGrp="1"/>
          </p:cNvSpPr>
          <p:nvPr>
            <p:ph type="sldNum" sz="quarter" idx="2"/>
          </p:nvPr>
        </p:nvSpPr>
        <p:spPr>
          <a:xfrm>
            <a:off x="6311798" y="9245600"/>
            <a:ext cx="368504" cy="3810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>
            <a:spLocks noGrp="1"/>
          </p:cNvSpPr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hape 3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>
            <a:spLocks noGrp="1"/>
          </p:cNvSpPr>
          <p:nvPr>
            <p:ph type="body" sz="half" idx="13"/>
          </p:nvPr>
        </p:nvSpPr>
        <p:spPr>
          <a:xfrm>
            <a:off x="437232" y="444500"/>
            <a:ext cx="12130336" cy="215900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6400"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  <a:effectLst>
                  <a:outerShdw blurRad="88900" dist="38100" dir="2700000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t>Title Text</a:t>
            </a:r>
          </a:p>
        </p:txBody>
      </p:sp>
      <p:sp>
        <p:nvSpPr>
          <p:cNvPr id="39" name="Shape 39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46"/>
          <p:cNvSpPr>
            <a:spLocks noGrp="1"/>
          </p:cNvSpPr>
          <p:nvPr>
            <p:ph type="title"/>
          </p:nvPr>
        </p:nvSpPr>
        <p:spPr>
          <a:xfrm>
            <a:off x="437232" y="444500"/>
            <a:ext cx="12130336" cy="2159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7" name="Shape 47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8" name="Shape 4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952500" y="4445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952500" y="26035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normAutofit/>
          </a:bodyPr>
          <a:lstStyle>
            <a:lvl1pPr>
              <a:defRPr sz="1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ransition spd="med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1" i="0" u="none" strike="noStrike" cap="none" spc="0" baseline="0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blurRad="88900" dist="38100" dir="2700000" rotWithShape="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1" i="0" u="none" strike="noStrike" cap="none" spc="0" baseline="0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blurRad="88900" dist="38100" dir="2700000" rotWithShape="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1" i="0" u="none" strike="noStrike" cap="none" spc="0" baseline="0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blurRad="88900" dist="38100" dir="2700000" rotWithShape="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1" i="0" u="none" strike="noStrike" cap="none" spc="0" baseline="0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blurRad="88900" dist="38100" dir="2700000" rotWithShape="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1" i="0" u="none" strike="noStrike" cap="none" spc="0" baseline="0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blurRad="88900" dist="38100" dir="2700000" rotWithShape="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1" i="0" u="none" strike="noStrike" cap="none" spc="0" baseline="0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blurRad="88900" dist="38100" dir="2700000" rotWithShape="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1" i="0" u="none" strike="noStrike" cap="none" spc="0" baseline="0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blurRad="88900" dist="38100" dir="2700000" rotWithShape="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1" i="0" u="none" strike="noStrike" cap="none" spc="0" baseline="0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blurRad="88900" dist="38100" dir="2700000" rotWithShape="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1" i="0" u="none" strike="noStrike" cap="none" spc="0" baseline="0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blurRad="88900" dist="38100" dir="2700000" rotWithShape="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9pPr>
    </p:titleStyle>
    <p:bodyStyle>
      <a:lvl1pPr marL="444500" marR="0" indent="-444500" algn="l" defTabSz="584200" rtl="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sz="3600" b="1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1pPr>
      <a:lvl2pPr marL="889000" marR="0" indent="-444500" algn="l" defTabSz="584200" rtl="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sz="3600" b="1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2pPr>
      <a:lvl3pPr marL="1333500" marR="0" indent="-444500" algn="l" defTabSz="584200" rtl="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sz="3600" b="1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3pPr>
      <a:lvl4pPr marL="1778000" marR="0" indent="-444500" algn="l" defTabSz="584200" rtl="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sz="3600" b="1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4pPr>
      <a:lvl5pPr marL="2222500" marR="0" indent="-444500" algn="l" defTabSz="584200" rtl="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sz="3600" b="1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5pPr>
      <a:lvl6pPr marL="2667000" marR="0" indent="-444500" algn="l" defTabSz="584200" rtl="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sz="3600" b="1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6pPr>
      <a:lvl7pPr marL="3111500" marR="0" indent="-444500" algn="l" defTabSz="584200" rtl="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sz="3600" b="1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7pPr>
      <a:lvl8pPr marL="3556000" marR="0" indent="-444500" algn="l" defTabSz="584200" rtl="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sz="3600" b="1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8pPr>
      <a:lvl9pPr marL="4000500" marR="0" indent="-444500" algn="l" defTabSz="584200" rtl="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sz="3600" b="1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1.png"/><Relationship Id="rId9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4" Type="http://schemas.openxmlformats.org/officeDocument/2006/relationships/image" Target="../media/image18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ti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en.wikipedia.org/wiki/MMR_vaccine_controversy" TargetMode="Externa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www.google.com/trends/" TargetMode="External"/><Relationship Id="rId3" Type="http://schemas.openxmlformats.org/officeDocument/2006/relationships/image" Target="../media/image34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5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43.emf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5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6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7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8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9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Lecture 4: overview</a:t>
            </a:r>
          </a:p>
        </p:txBody>
      </p:sp>
      <p:sp>
        <p:nvSpPr>
          <p:cNvPr id="65" name="Shape 65"/>
          <p:cNvSpPr>
            <a:spLocks noGrp="1"/>
          </p:cNvSpPr>
          <p:nvPr>
            <p:ph type="body" idx="1"/>
          </p:nvPr>
        </p:nvSpPr>
        <p:spPr>
          <a:xfrm>
            <a:off x="952500" y="2609850"/>
            <a:ext cx="11099800" cy="6286501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Admin</a:t>
            </a:r>
          </a:p>
          <a:p>
            <a:r>
              <a:rPr lang="en-US" dirty="0" smtClean="0"/>
              <a:t>Continuing modeling activity</a:t>
            </a:r>
          </a:p>
          <a:p>
            <a:r>
              <a:rPr lang="en-US" dirty="0" smtClean="0"/>
              <a:t>More discussion of</a:t>
            </a:r>
            <a:r>
              <a:rPr dirty="0" smtClean="0"/>
              <a:t> </a:t>
            </a:r>
            <a:r>
              <a:rPr dirty="0"/>
              <a:t>SIR model of Kermack and McKendrick (1927)</a:t>
            </a:r>
          </a:p>
          <a:p>
            <a:r>
              <a:rPr dirty="0"/>
              <a:t>Implications of the SIR model on controlling </a:t>
            </a:r>
            <a:r>
              <a:rPr dirty="0" smtClean="0"/>
              <a:t>epidemics</a:t>
            </a:r>
            <a:endParaRPr lang="en-US" dirty="0" smtClean="0"/>
          </a:p>
          <a:p>
            <a:r>
              <a:rPr lang="en-US" dirty="0"/>
              <a:t>Google </a:t>
            </a:r>
            <a:r>
              <a:rPr lang="en-US" dirty="0" smtClean="0"/>
              <a:t>trends</a:t>
            </a:r>
            <a:endParaRPr lang="en-US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6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Admin</a:t>
            </a:r>
          </a:p>
        </p:txBody>
      </p:sp>
      <p:sp>
        <p:nvSpPr>
          <p:cNvPr id="68" name="Shape 68"/>
          <p:cNvSpPr>
            <a:spLocks noGrp="1"/>
          </p:cNvSpPr>
          <p:nvPr>
            <p:ph type="body" idx="1"/>
          </p:nvPr>
        </p:nvSpPr>
        <p:spPr>
          <a:xfrm>
            <a:off x="952500" y="2034363"/>
            <a:ext cx="11104821" cy="7322287"/>
          </a:xfrm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pPr marL="0" indent="0" defTabSz="479044">
              <a:spcBef>
                <a:spcPts val="2100"/>
              </a:spcBef>
              <a:buNone/>
              <a:defRPr sz="2952"/>
            </a:pPr>
            <a:endParaRPr lang="en-US" dirty="0" smtClean="0"/>
          </a:p>
          <a:p>
            <a:pPr marL="364489" indent="-364489" defTabSz="479044">
              <a:spcBef>
                <a:spcPts val="2100"/>
              </a:spcBef>
              <a:defRPr sz="2952"/>
            </a:pPr>
            <a:r>
              <a:rPr lang="en-US" sz="3500" dirty="0" smtClean="0"/>
              <a:t>Sign up for </a:t>
            </a:r>
            <a:r>
              <a:rPr lang="en-US" sz="3500" u="sng" dirty="0" smtClean="0"/>
              <a:t>two</a:t>
            </a:r>
            <a:r>
              <a:rPr lang="en-US" sz="3500" dirty="0" smtClean="0"/>
              <a:t> presentation slots by Monday, February 6!  If you don’t have a team, use Piazza to find one.</a:t>
            </a:r>
          </a:p>
          <a:p>
            <a:pPr marL="364489" indent="-364489" defTabSz="479044">
              <a:spcBef>
                <a:spcPts val="2100"/>
              </a:spcBef>
              <a:defRPr sz="2952"/>
            </a:pPr>
            <a:endParaRPr lang="en-US" sz="3500" dirty="0"/>
          </a:p>
          <a:p>
            <a:pPr marL="364489" indent="-364489" defTabSz="479044">
              <a:spcBef>
                <a:spcPts val="2100"/>
              </a:spcBef>
              <a:defRPr sz="2952"/>
            </a:pPr>
            <a:r>
              <a:rPr lang="en-US" sz="3500" dirty="0" smtClean="0"/>
              <a:t>Kausalya will schedule practice presentations for the teams presenting “Epidemiology” papers.</a:t>
            </a:r>
          </a:p>
          <a:p>
            <a:pPr marL="0" indent="0" defTabSz="479044">
              <a:spcBef>
                <a:spcPts val="2100"/>
              </a:spcBef>
              <a:buNone/>
              <a:defRPr sz="2952"/>
            </a:pPr>
            <a:endParaRPr lang="en-US" sz="3500" dirty="0"/>
          </a:p>
          <a:p>
            <a:pPr marL="364489" indent="-364489" defTabSz="479044">
              <a:spcBef>
                <a:spcPts val="2100"/>
              </a:spcBef>
              <a:defRPr sz="2952"/>
            </a:pPr>
            <a:r>
              <a:rPr lang="en-US" sz="3500" dirty="0" smtClean="0"/>
              <a:t>What to submit for Lab 0:</a:t>
            </a:r>
          </a:p>
          <a:p>
            <a:pPr marL="444500" lvl="1" indent="0" defTabSz="479044">
              <a:spcBef>
                <a:spcPts val="2100"/>
              </a:spcBef>
              <a:buNone/>
              <a:defRPr sz="2952"/>
            </a:pPr>
            <a:r>
              <a:rPr lang="en-US" sz="3500" dirty="0" smtClean="0"/>
              <a:t>		</a:t>
            </a:r>
            <a:r>
              <a:rPr lang="en-US" sz="3500" dirty="0" err="1" smtClean="0"/>
              <a:t>Matlab</a:t>
            </a:r>
            <a:r>
              <a:rPr lang="en-US" sz="3500" dirty="0" smtClean="0"/>
              <a:t> code only as .m files. </a:t>
            </a:r>
          </a:p>
          <a:p>
            <a:pPr marL="444500" lvl="1" indent="0" defTabSz="479044">
              <a:spcBef>
                <a:spcPts val="2100"/>
              </a:spcBef>
              <a:buNone/>
              <a:defRPr sz="2952"/>
            </a:pPr>
            <a:r>
              <a:rPr lang="en-US" sz="3500" dirty="0"/>
              <a:t>	</a:t>
            </a:r>
            <a:r>
              <a:rPr lang="en-US" sz="3500" dirty="0" smtClean="0"/>
              <a:t>	In your code, include the comments / answers to 			lab questions.</a:t>
            </a:r>
          </a:p>
          <a:p>
            <a:pPr marL="444500" lvl="1" indent="0" defTabSz="479044">
              <a:spcBef>
                <a:spcPts val="2100"/>
              </a:spcBef>
              <a:buNone/>
              <a:defRPr sz="2952"/>
            </a:pPr>
            <a:endParaRPr lang="en-US" sz="3500" dirty="0"/>
          </a:p>
          <a:p>
            <a:pPr marL="364489" indent="-364489" defTabSz="479044">
              <a:spcBef>
                <a:spcPts val="2100"/>
              </a:spcBef>
              <a:defRPr sz="2952"/>
            </a:pPr>
            <a:r>
              <a:rPr lang="en-US" sz="3500" dirty="0" smtClean="0"/>
              <a:t>Lab next Tuesday in class </a:t>
            </a:r>
            <a:r>
              <a:rPr lang="mr-IN" sz="3500" dirty="0" smtClean="0"/>
              <a:t>–</a:t>
            </a:r>
            <a:r>
              <a:rPr lang="en-US" sz="3500" dirty="0" smtClean="0"/>
              <a:t> bring computer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>
            <a:spLocks noGrp="1"/>
          </p:cNvSpPr>
          <p:nvPr>
            <p:ph type="title"/>
          </p:nvPr>
        </p:nvSpPr>
        <p:spPr>
          <a:xfrm>
            <a:off x="415967" y="444500"/>
            <a:ext cx="12130336" cy="1605906"/>
          </a:xfrm>
          <a:prstGeom prst="rect">
            <a:avLst/>
          </a:prstGeom>
        </p:spPr>
        <p:txBody>
          <a:bodyPr/>
          <a:lstStyle/>
          <a:p>
            <a:r>
              <a:t>General idea</a:t>
            </a:r>
          </a:p>
        </p:txBody>
      </p:sp>
      <p:sp>
        <p:nvSpPr>
          <p:cNvPr id="73" name="Shape 73"/>
          <p:cNvSpPr>
            <a:spLocks noGrp="1"/>
          </p:cNvSpPr>
          <p:nvPr>
            <p:ph type="body" sz="quarter" idx="1"/>
          </p:nvPr>
        </p:nvSpPr>
        <p:spPr>
          <a:xfrm>
            <a:off x="6275527" y="6707664"/>
            <a:ext cx="5808068" cy="2658368"/>
          </a:xfrm>
          <a:prstGeom prst="rect">
            <a:avLst/>
          </a:prstGeom>
        </p:spPr>
        <p:txBody>
          <a:bodyPr/>
          <a:lstStyle/>
          <a:p>
            <a:r>
              <a:rPr dirty="0"/>
              <a:t>Susceptible </a:t>
            </a:r>
            <a:endParaRPr b="0" dirty="0"/>
          </a:p>
          <a:p>
            <a:r>
              <a:rPr dirty="0"/>
              <a:t>Infected </a:t>
            </a:r>
            <a:endParaRPr b="0" dirty="0"/>
          </a:p>
          <a:p>
            <a:r>
              <a:rPr dirty="0"/>
              <a:t>Removed </a:t>
            </a:r>
            <a:endParaRPr b="0" dirty="0"/>
          </a:p>
        </p:txBody>
      </p:sp>
      <p:sp>
        <p:nvSpPr>
          <p:cNvPr id="74" name="Shape 74"/>
          <p:cNvSpPr/>
          <p:nvPr/>
        </p:nvSpPr>
        <p:spPr>
          <a:xfrm>
            <a:off x="3368039" y="2260674"/>
            <a:ext cx="604522" cy="604522"/>
          </a:xfrm>
          <a:prstGeom prst="ellipse">
            <a:avLst/>
          </a:prstGeom>
          <a:blipFill>
            <a:blip r:embed="rId2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S</a:t>
            </a:r>
          </a:p>
        </p:txBody>
      </p:sp>
      <p:sp>
        <p:nvSpPr>
          <p:cNvPr id="75" name="Shape 75"/>
          <p:cNvSpPr/>
          <p:nvPr/>
        </p:nvSpPr>
        <p:spPr>
          <a:xfrm>
            <a:off x="5133339" y="2679774"/>
            <a:ext cx="604522" cy="604522"/>
          </a:xfrm>
          <a:prstGeom prst="ellipse">
            <a:avLst/>
          </a:prstGeom>
          <a:blipFill>
            <a:blip r:embed="rId3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I</a:t>
            </a:r>
          </a:p>
        </p:txBody>
      </p:sp>
      <p:sp>
        <p:nvSpPr>
          <p:cNvPr id="76" name="Shape 76"/>
          <p:cNvSpPr/>
          <p:nvPr/>
        </p:nvSpPr>
        <p:spPr>
          <a:xfrm>
            <a:off x="6936739" y="2070174"/>
            <a:ext cx="604522" cy="604522"/>
          </a:xfrm>
          <a:prstGeom prst="ellipse">
            <a:avLst/>
          </a:prstGeom>
          <a:blipFill>
            <a:blip r:embed="rId2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S</a:t>
            </a:r>
          </a:p>
        </p:txBody>
      </p:sp>
      <p:sp>
        <p:nvSpPr>
          <p:cNvPr id="77" name="Shape 77"/>
          <p:cNvSpPr/>
          <p:nvPr/>
        </p:nvSpPr>
        <p:spPr>
          <a:xfrm>
            <a:off x="8117839" y="3276674"/>
            <a:ext cx="604522" cy="604522"/>
          </a:xfrm>
          <a:prstGeom prst="ellipse">
            <a:avLst/>
          </a:prstGeom>
          <a:blipFill>
            <a:blip r:embed="rId2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S</a:t>
            </a:r>
          </a:p>
        </p:txBody>
      </p:sp>
      <p:sp>
        <p:nvSpPr>
          <p:cNvPr id="78" name="Shape 78"/>
          <p:cNvSpPr/>
          <p:nvPr/>
        </p:nvSpPr>
        <p:spPr>
          <a:xfrm>
            <a:off x="9768839" y="2463874"/>
            <a:ext cx="604522" cy="604522"/>
          </a:xfrm>
          <a:prstGeom prst="ellipse">
            <a:avLst/>
          </a:prstGeom>
          <a:blipFill>
            <a:blip r:embed="rId2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S</a:t>
            </a:r>
          </a:p>
        </p:txBody>
      </p:sp>
      <p:sp>
        <p:nvSpPr>
          <p:cNvPr id="79" name="Shape 79"/>
          <p:cNvSpPr/>
          <p:nvPr/>
        </p:nvSpPr>
        <p:spPr>
          <a:xfrm>
            <a:off x="10403839" y="4330774"/>
            <a:ext cx="604522" cy="604522"/>
          </a:xfrm>
          <a:prstGeom prst="ellipse">
            <a:avLst/>
          </a:prstGeom>
          <a:blipFill>
            <a:blip r:embed="rId2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S</a:t>
            </a:r>
          </a:p>
        </p:txBody>
      </p:sp>
      <p:sp>
        <p:nvSpPr>
          <p:cNvPr id="80" name="Shape 80"/>
          <p:cNvSpPr/>
          <p:nvPr/>
        </p:nvSpPr>
        <p:spPr>
          <a:xfrm>
            <a:off x="6263639" y="4876874"/>
            <a:ext cx="604522" cy="604522"/>
          </a:xfrm>
          <a:prstGeom prst="ellipse">
            <a:avLst/>
          </a:prstGeom>
          <a:blipFill>
            <a:blip r:embed="rId2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S</a:t>
            </a:r>
          </a:p>
        </p:txBody>
      </p:sp>
      <p:sp>
        <p:nvSpPr>
          <p:cNvPr id="81" name="Shape 81"/>
          <p:cNvSpPr/>
          <p:nvPr/>
        </p:nvSpPr>
        <p:spPr>
          <a:xfrm>
            <a:off x="3888739" y="3924374"/>
            <a:ext cx="604522" cy="604522"/>
          </a:xfrm>
          <a:prstGeom prst="ellipse">
            <a:avLst/>
          </a:prstGeom>
          <a:blipFill>
            <a:blip r:embed="rId2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S</a:t>
            </a:r>
          </a:p>
        </p:txBody>
      </p:sp>
      <p:sp>
        <p:nvSpPr>
          <p:cNvPr id="82" name="Shape 82"/>
          <p:cNvSpPr/>
          <p:nvPr/>
        </p:nvSpPr>
        <p:spPr>
          <a:xfrm>
            <a:off x="1793239" y="3505274"/>
            <a:ext cx="604522" cy="604522"/>
          </a:xfrm>
          <a:prstGeom prst="ellipse">
            <a:avLst/>
          </a:prstGeom>
          <a:blipFill>
            <a:blip r:embed="rId2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S</a:t>
            </a:r>
          </a:p>
        </p:txBody>
      </p:sp>
      <p:sp>
        <p:nvSpPr>
          <p:cNvPr id="83" name="Shape 83"/>
          <p:cNvSpPr/>
          <p:nvPr/>
        </p:nvSpPr>
        <p:spPr>
          <a:xfrm>
            <a:off x="2326639" y="5130874"/>
            <a:ext cx="604522" cy="604522"/>
          </a:xfrm>
          <a:prstGeom prst="ellipse">
            <a:avLst/>
          </a:prstGeom>
          <a:blipFill>
            <a:blip r:embed="rId2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S</a:t>
            </a:r>
          </a:p>
        </p:txBody>
      </p:sp>
      <p:sp>
        <p:nvSpPr>
          <p:cNvPr id="84" name="Shape 84"/>
          <p:cNvSpPr/>
          <p:nvPr/>
        </p:nvSpPr>
        <p:spPr>
          <a:xfrm>
            <a:off x="8575039" y="5245174"/>
            <a:ext cx="604522" cy="604522"/>
          </a:xfrm>
          <a:prstGeom prst="ellipse">
            <a:avLst/>
          </a:prstGeom>
          <a:blipFill>
            <a:blip r:embed="rId2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S</a:t>
            </a:r>
          </a:p>
        </p:txBody>
      </p:sp>
      <p:sp>
        <p:nvSpPr>
          <p:cNvPr id="85" name="Shape 85"/>
          <p:cNvSpPr/>
          <p:nvPr/>
        </p:nvSpPr>
        <p:spPr>
          <a:xfrm>
            <a:off x="1606550" y="6965950"/>
            <a:ext cx="4229101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Three populations:</a:t>
            </a:r>
          </a:p>
        </p:txBody>
      </p:sp>
      <p:sp>
        <p:nvSpPr>
          <p:cNvPr id="86" name="Shape 86"/>
          <p:cNvSpPr/>
          <p:nvPr/>
        </p:nvSpPr>
        <p:spPr>
          <a:xfrm>
            <a:off x="10619739" y="6828515"/>
            <a:ext cx="604522" cy="604522"/>
          </a:xfrm>
          <a:prstGeom prst="ellipse">
            <a:avLst/>
          </a:prstGeom>
          <a:blipFill>
            <a:blip r:embed="rId2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rPr dirty="0"/>
              <a:t>S</a:t>
            </a:r>
          </a:p>
        </p:txBody>
      </p:sp>
      <p:sp>
        <p:nvSpPr>
          <p:cNvPr id="87" name="Shape 87"/>
          <p:cNvSpPr/>
          <p:nvPr/>
        </p:nvSpPr>
        <p:spPr>
          <a:xfrm>
            <a:off x="10619739" y="7687965"/>
            <a:ext cx="604522" cy="604522"/>
          </a:xfrm>
          <a:prstGeom prst="ellipse">
            <a:avLst/>
          </a:prstGeom>
          <a:blipFill>
            <a:blip r:embed="rId3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rPr dirty="0" smtClean="0"/>
              <a:t>I</a:t>
            </a:r>
            <a:r>
              <a:rPr lang="en-US" dirty="0" smtClean="0"/>
              <a:t> 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9461086" y="6898218"/>
                <a:ext cx="959686" cy="55399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𝑆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(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𝑡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)</m:t>
                      </m:r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1086" y="6898218"/>
                <a:ext cx="959686" cy="553998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8716025" y="7756934"/>
                <a:ext cx="896399" cy="55399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𝐼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(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𝑡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)</m:t>
                      </m:r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6025" y="7756934"/>
                <a:ext cx="896399" cy="553998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8969614" y="8564851"/>
                <a:ext cx="1015471" cy="55399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𝑅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(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𝑡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)</m:t>
                      </m:r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9614" y="8564851"/>
                <a:ext cx="1015471" cy="553998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Shape 88"/>
          <p:cNvSpPr/>
          <p:nvPr/>
        </p:nvSpPr>
        <p:spPr>
          <a:xfrm>
            <a:off x="10579983" y="8547333"/>
            <a:ext cx="604522" cy="604522"/>
          </a:xfrm>
          <a:prstGeom prst="ellipse">
            <a:avLst/>
          </a:prstGeom>
          <a:solidFill>
            <a:schemeClr val="accent3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77163158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90"/>
          <p:cNvSpPr/>
          <p:nvPr/>
        </p:nvSpPr>
        <p:spPr>
          <a:xfrm>
            <a:off x="6263639" y="4876874"/>
            <a:ext cx="604522" cy="604522"/>
          </a:xfrm>
          <a:prstGeom prst="ellipse">
            <a:avLst/>
          </a:prstGeom>
          <a:blipFill>
            <a:blip r:embed="rId2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S</a:t>
            </a:r>
          </a:p>
        </p:txBody>
      </p:sp>
      <p:sp>
        <p:nvSpPr>
          <p:cNvPr id="91" name="Shape 91"/>
          <p:cNvSpPr/>
          <p:nvPr/>
        </p:nvSpPr>
        <p:spPr>
          <a:xfrm>
            <a:off x="8575039" y="5245174"/>
            <a:ext cx="604522" cy="604522"/>
          </a:xfrm>
          <a:prstGeom prst="ellipse">
            <a:avLst/>
          </a:prstGeom>
          <a:blipFill>
            <a:blip r:embed="rId3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I</a:t>
            </a:r>
          </a:p>
        </p:txBody>
      </p:sp>
      <p:sp>
        <p:nvSpPr>
          <p:cNvPr id="92" name="Shape 92"/>
          <p:cNvSpPr/>
          <p:nvPr/>
        </p:nvSpPr>
        <p:spPr>
          <a:xfrm>
            <a:off x="1793239" y="3505274"/>
            <a:ext cx="604522" cy="604522"/>
          </a:xfrm>
          <a:prstGeom prst="ellipse">
            <a:avLst/>
          </a:prstGeom>
          <a:blipFill>
            <a:blip r:embed="rId2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S</a:t>
            </a:r>
          </a:p>
        </p:txBody>
      </p:sp>
      <p:sp>
        <p:nvSpPr>
          <p:cNvPr id="93" name="Shape 93"/>
          <p:cNvSpPr>
            <a:spLocks noGrp="1"/>
          </p:cNvSpPr>
          <p:nvPr>
            <p:ph type="title"/>
          </p:nvPr>
        </p:nvSpPr>
        <p:spPr>
          <a:xfrm>
            <a:off x="437232" y="444500"/>
            <a:ext cx="12130336" cy="1605906"/>
          </a:xfrm>
          <a:prstGeom prst="rect">
            <a:avLst/>
          </a:prstGeom>
        </p:spPr>
        <p:txBody>
          <a:bodyPr/>
          <a:lstStyle/>
          <a:p>
            <a:r>
              <a:t>General idea</a:t>
            </a:r>
          </a:p>
        </p:txBody>
      </p:sp>
      <p:sp>
        <p:nvSpPr>
          <p:cNvPr id="95" name="Shape 95"/>
          <p:cNvSpPr/>
          <p:nvPr/>
        </p:nvSpPr>
        <p:spPr>
          <a:xfrm>
            <a:off x="3368039" y="2260674"/>
            <a:ext cx="604522" cy="604522"/>
          </a:xfrm>
          <a:prstGeom prst="ellipse">
            <a:avLst/>
          </a:prstGeom>
          <a:blipFill>
            <a:blip r:embed="rId2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S</a:t>
            </a:r>
          </a:p>
        </p:txBody>
      </p:sp>
      <p:sp>
        <p:nvSpPr>
          <p:cNvPr id="96" name="Shape 96"/>
          <p:cNvSpPr/>
          <p:nvPr/>
        </p:nvSpPr>
        <p:spPr>
          <a:xfrm>
            <a:off x="5133339" y="2679774"/>
            <a:ext cx="604522" cy="604522"/>
          </a:xfrm>
          <a:prstGeom prst="ellipse">
            <a:avLst/>
          </a:prstGeom>
          <a:blipFill>
            <a:blip r:embed="rId3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I</a:t>
            </a:r>
          </a:p>
        </p:txBody>
      </p:sp>
      <p:sp>
        <p:nvSpPr>
          <p:cNvPr id="97" name="Shape 97"/>
          <p:cNvSpPr/>
          <p:nvPr/>
        </p:nvSpPr>
        <p:spPr>
          <a:xfrm>
            <a:off x="6936739" y="2070174"/>
            <a:ext cx="604522" cy="604522"/>
          </a:xfrm>
          <a:prstGeom prst="ellipse">
            <a:avLst/>
          </a:prstGeom>
          <a:blipFill>
            <a:blip r:embed="rId2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S</a:t>
            </a:r>
          </a:p>
        </p:txBody>
      </p:sp>
      <p:sp>
        <p:nvSpPr>
          <p:cNvPr id="98" name="Shape 98"/>
          <p:cNvSpPr/>
          <p:nvPr/>
        </p:nvSpPr>
        <p:spPr>
          <a:xfrm>
            <a:off x="8117839" y="3276674"/>
            <a:ext cx="604522" cy="604522"/>
          </a:xfrm>
          <a:prstGeom prst="ellipse">
            <a:avLst/>
          </a:prstGeom>
          <a:blipFill>
            <a:blip r:embed="rId2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S</a:t>
            </a:r>
          </a:p>
        </p:txBody>
      </p:sp>
      <p:sp>
        <p:nvSpPr>
          <p:cNvPr id="99" name="Shape 99"/>
          <p:cNvSpPr/>
          <p:nvPr/>
        </p:nvSpPr>
        <p:spPr>
          <a:xfrm>
            <a:off x="9768839" y="2463874"/>
            <a:ext cx="604522" cy="604522"/>
          </a:xfrm>
          <a:prstGeom prst="ellipse">
            <a:avLst/>
          </a:prstGeom>
          <a:blipFill>
            <a:blip r:embed="rId2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S</a:t>
            </a:r>
          </a:p>
        </p:txBody>
      </p:sp>
      <p:sp>
        <p:nvSpPr>
          <p:cNvPr id="100" name="Shape 100"/>
          <p:cNvSpPr/>
          <p:nvPr/>
        </p:nvSpPr>
        <p:spPr>
          <a:xfrm>
            <a:off x="10403839" y="4330774"/>
            <a:ext cx="604522" cy="604522"/>
          </a:xfrm>
          <a:prstGeom prst="ellipse">
            <a:avLst/>
          </a:prstGeom>
          <a:blipFill>
            <a:blip r:embed="rId2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S</a:t>
            </a:r>
          </a:p>
        </p:txBody>
      </p:sp>
      <p:sp>
        <p:nvSpPr>
          <p:cNvPr id="101" name="Shape 101"/>
          <p:cNvSpPr/>
          <p:nvPr/>
        </p:nvSpPr>
        <p:spPr>
          <a:xfrm>
            <a:off x="3888739" y="3924374"/>
            <a:ext cx="604522" cy="604522"/>
          </a:xfrm>
          <a:prstGeom prst="ellipse">
            <a:avLst/>
          </a:prstGeom>
          <a:blipFill>
            <a:blip r:embed="rId3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I</a:t>
            </a:r>
          </a:p>
        </p:txBody>
      </p:sp>
      <p:sp>
        <p:nvSpPr>
          <p:cNvPr id="102" name="Shape 102"/>
          <p:cNvSpPr/>
          <p:nvPr/>
        </p:nvSpPr>
        <p:spPr>
          <a:xfrm>
            <a:off x="2326639" y="5130874"/>
            <a:ext cx="604522" cy="604522"/>
          </a:xfrm>
          <a:prstGeom prst="ellipse">
            <a:avLst/>
          </a:prstGeom>
          <a:blipFill>
            <a:blip r:embed="rId2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S</a:t>
            </a:r>
          </a:p>
        </p:txBody>
      </p:sp>
      <p:sp>
        <p:nvSpPr>
          <p:cNvPr id="103" name="Shape 103"/>
          <p:cNvSpPr/>
          <p:nvPr/>
        </p:nvSpPr>
        <p:spPr>
          <a:xfrm>
            <a:off x="1606550" y="6965950"/>
            <a:ext cx="4229101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Three populations:</a:t>
            </a:r>
          </a:p>
        </p:txBody>
      </p:sp>
      <p:sp>
        <p:nvSpPr>
          <p:cNvPr id="24" name="Shape 73"/>
          <p:cNvSpPr>
            <a:spLocks noGrp="1"/>
          </p:cNvSpPr>
          <p:nvPr>
            <p:ph type="body" sz="quarter" idx="1"/>
          </p:nvPr>
        </p:nvSpPr>
        <p:spPr>
          <a:xfrm>
            <a:off x="6296792" y="6707664"/>
            <a:ext cx="5808068" cy="2658368"/>
          </a:xfrm>
          <a:prstGeom prst="rect">
            <a:avLst/>
          </a:prstGeom>
        </p:spPr>
        <p:txBody>
          <a:bodyPr/>
          <a:lstStyle/>
          <a:p>
            <a:r>
              <a:rPr dirty="0"/>
              <a:t>Susceptible </a:t>
            </a:r>
            <a:endParaRPr b="0" dirty="0"/>
          </a:p>
          <a:p>
            <a:r>
              <a:rPr dirty="0"/>
              <a:t>Infected </a:t>
            </a:r>
            <a:endParaRPr b="0" dirty="0"/>
          </a:p>
          <a:p>
            <a:r>
              <a:rPr dirty="0"/>
              <a:t>Removed </a:t>
            </a:r>
            <a:endParaRPr b="0" dirty="0"/>
          </a:p>
        </p:txBody>
      </p:sp>
      <p:sp>
        <p:nvSpPr>
          <p:cNvPr id="25" name="Shape 86"/>
          <p:cNvSpPr/>
          <p:nvPr/>
        </p:nvSpPr>
        <p:spPr>
          <a:xfrm>
            <a:off x="10619739" y="6828515"/>
            <a:ext cx="604522" cy="604522"/>
          </a:xfrm>
          <a:prstGeom prst="ellipse">
            <a:avLst/>
          </a:prstGeom>
          <a:blipFill>
            <a:blip r:embed="rId2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rPr dirty="0"/>
              <a:t>S</a:t>
            </a:r>
          </a:p>
        </p:txBody>
      </p:sp>
      <p:sp>
        <p:nvSpPr>
          <p:cNvPr id="26" name="Shape 87"/>
          <p:cNvSpPr/>
          <p:nvPr/>
        </p:nvSpPr>
        <p:spPr>
          <a:xfrm>
            <a:off x="10619739" y="7687965"/>
            <a:ext cx="604522" cy="604522"/>
          </a:xfrm>
          <a:prstGeom prst="ellipse">
            <a:avLst/>
          </a:prstGeom>
          <a:blipFill>
            <a:blip r:embed="rId3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rPr dirty="0" smtClean="0"/>
              <a:t>I</a:t>
            </a:r>
            <a:r>
              <a:rPr lang="en-US" dirty="0" smtClean="0"/>
              <a:t> 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9461086" y="6898218"/>
                <a:ext cx="959686" cy="55399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𝑆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(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𝑡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)</m:t>
                      </m:r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1086" y="6898218"/>
                <a:ext cx="959686" cy="553998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8716025" y="7756934"/>
                <a:ext cx="896399" cy="55399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𝐼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(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𝑡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)</m:t>
                      </m:r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6025" y="7756934"/>
                <a:ext cx="896399" cy="553998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8969614" y="8564851"/>
                <a:ext cx="1015471" cy="55399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𝑅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(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𝑡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)</m:t>
                      </m:r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9614" y="8564851"/>
                <a:ext cx="1015471" cy="553998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Shape 88"/>
          <p:cNvSpPr/>
          <p:nvPr/>
        </p:nvSpPr>
        <p:spPr>
          <a:xfrm>
            <a:off x="10579983" y="8547333"/>
            <a:ext cx="604522" cy="604522"/>
          </a:xfrm>
          <a:prstGeom prst="ellipse">
            <a:avLst/>
          </a:prstGeom>
          <a:solidFill>
            <a:schemeClr val="accent3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15833847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/>
          <p:nvPr/>
        </p:nvSpPr>
        <p:spPr>
          <a:xfrm>
            <a:off x="6263639" y="4876874"/>
            <a:ext cx="604522" cy="604522"/>
          </a:xfrm>
          <a:prstGeom prst="ellipse">
            <a:avLst/>
          </a:prstGeom>
          <a:blipFill>
            <a:blip r:embed="rId2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S</a:t>
            </a:r>
          </a:p>
        </p:txBody>
      </p:sp>
      <p:sp>
        <p:nvSpPr>
          <p:cNvPr id="109" name="Shape 109"/>
          <p:cNvSpPr/>
          <p:nvPr/>
        </p:nvSpPr>
        <p:spPr>
          <a:xfrm>
            <a:off x="8575039" y="5245174"/>
            <a:ext cx="604522" cy="604522"/>
          </a:xfrm>
          <a:prstGeom prst="ellipse">
            <a:avLst/>
          </a:prstGeom>
          <a:blipFill>
            <a:blip r:embed="rId3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I</a:t>
            </a:r>
          </a:p>
        </p:txBody>
      </p:sp>
      <p:sp>
        <p:nvSpPr>
          <p:cNvPr id="110" name="Shape 110"/>
          <p:cNvSpPr/>
          <p:nvPr/>
        </p:nvSpPr>
        <p:spPr>
          <a:xfrm>
            <a:off x="1793239" y="3505274"/>
            <a:ext cx="604522" cy="604522"/>
          </a:xfrm>
          <a:prstGeom prst="ellipse">
            <a:avLst/>
          </a:prstGeom>
          <a:blipFill>
            <a:blip r:embed="rId2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S</a:t>
            </a:r>
          </a:p>
        </p:txBody>
      </p:sp>
      <p:sp>
        <p:nvSpPr>
          <p:cNvPr id="111" name="Shape 111"/>
          <p:cNvSpPr>
            <a:spLocks noGrp="1"/>
          </p:cNvSpPr>
          <p:nvPr>
            <p:ph type="title"/>
          </p:nvPr>
        </p:nvSpPr>
        <p:spPr>
          <a:xfrm>
            <a:off x="437232" y="444500"/>
            <a:ext cx="12130336" cy="1605906"/>
          </a:xfrm>
          <a:prstGeom prst="rect">
            <a:avLst/>
          </a:prstGeom>
        </p:spPr>
        <p:txBody>
          <a:bodyPr/>
          <a:lstStyle/>
          <a:p>
            <a:r>
              <a:rPr dirty="0"/>
              <a:t>General idea</a:t>
            </a:r>
          </a:p>
        </p:txBody>
      </p:sp>
      <p:sp>
        <p:nvSpPr>
          <p:cNvPr id="113" name="Shape 113"/>
          <p:cNvSpPr/>
          <p:nvPr/>
        </p:nvSpPr>
        <p:spPr>
          <a:xfrm>
            <a:off x="3368039" y="2260674"/>
            <a:ext cx="604522" cy="604522"/>
          </a:xfrm>
          <a:prstGeom prst="ellipse">
            <a:avLst/>
          </a:prstGeom>
          <a:blipFill>
            <a:blip r:embed="rId2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S</a:t>
            </a:r>
          </a:p>
        </p:txBody>
      </p:sp>
      <p:sp>
        <p:nvSpPr>
          <p:cNvPr id="114" name="Shape 114"/>
          <p:cNvSpPr/>
          <p:nvPr/>
        </p:nvSpPr>
        <p:spPr>
          <a:xfrm>
            <a:off x="5133339" y="2679774"/>
            <a:ext cx="604522" cy="604522"/>
          </a:xfrm>
          <a:prstGeom prst="ellipse">
            <a:avLst/>
          </a:prstGeom>
          <a:solidFill>
            <a:schemeClr val="accent3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rPr dirty="0"/>
              <a:t>R</a:t>
            </a:r>
          </a:p>
        </p:txBody>
      </p:sp>
      <p:sp>
        <p:nvSpPr>
          <p:cNvPr id="115" name="Shape 115"/>
          <p:cNvSpPr/>
          <p:nvPr/>
        </p:nvSpPr>
        <p:spPr>
          <a:xfrm>
            <a:off x="6936739" y="2070174"/>
            <a:ext cx="604522" cy="604522"/>
          </a:xfrm>
          <a:prstGeom prst="ellipse">
            <a:avLst/>
          </a:prstGeom>
          <a:blipFill>
            <a:blip r:embed="rId2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S</a:t>
            </a:r>
          </a:p>
        </p:txBody>
      </p:sp>
      <p:sp>
        <p:nvSpPr>
          <p:cNvPr id="116" name="Shape 116"/>
          <p:cNvSpPr/>
          <p:nvPr/>
        </p:nvSpPr>
        <p:spPr>
          <a:xfrm>
            <a:off x="8117839" y="3276674"/>
            <a:ext cx="604522" cy="604522"/>
          </a:xfrm>
          <a:prstGeom prst="ellipse">
            <a:avLst/>
          </a:prstGeom>
          <a:blipFill>
            <a:blip r:embed="rId2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S</a:t>
            </a:r>
          </a:p>
        </p:txBody>
      </p:sp>
      <p:sp>
        <p:nvSpPr>
          <p:cNvPr id="117" name="Shape 117"/>
          <p:cNvSpPr/>
          <p:nvPr/>
        </p:nvSpPr>
        <p:spPr>
          <a:xfrm>
            <a:off x="9768839" y="2463874"/>
            <a:ext cx="604522" cy="604522"/>
          </a:xfrm>
          <a:prstGeom prst="ellipse">
            <a:avLst/>
          </a:prstGeom>
          <a:blipFill>
            <a:blip r:embed="rId2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S</a:t>
            </a:r>
          </a:p>
        </p:txBody>
      </p:sp>
      <p:sp>
        <p:nvSpPr>
          <p:cNvPr id="118" name="Shape 118"/>
          <p:cNvSpPr/>
          <p:nvPr/>
        </p:nvSpPr>
        <p:spPr>
          <a:xfrm>
            <a:off x="10403839" y="4330774"/>
            <a:ext cx="604522" cy="604522"/>
          </a:xfrm>
          <a:prstGeom prst="ellipse">
            <a:avLst/>
          </a:prstGeom>
          <a:blipFill>
            <a:blip r:embed="rId2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S</a:t>
            </a:r>
          </a:p>
        </p:txBody>
      </p:sp>
      <p:sp>
        <p:nvSpPr>
          <p:cNvPr id="119" name="Shape 119"/>
          <p:cNvSpPr/>
          <p:nvPr/>
        </p:nvSpPr>
        <p:spPr>
          <a:xfrm>
            <a:off x="3888739" y="3924374"/>
            <a:ext cx="604522" cy="604522"/>
          </a:xfrm>
          <a:prstGeom prst="ellipse">
            <a:avLst/>
          </a:prstGeom>
          <a:blipFill>
            <a:blip r:embed="rId3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I</a:t>
            </a:r>
          </a:p>
        </p:txBody>
      </p:sp>
      <p:sp>
        <p:nvSpPr>
          <p:cNvPr id="120" name="Shape 120"/>
          <p:cNvSpPr/>
          <p:nvPr/>
        </p:nvSpPr>
        <p:spPr>
          <a:xfrm>
            <a:off x="2326639" y="5130874"/>
            <a:ext cx="604522" cy="604522"/>
          </a:xfrm>
          <a:prstGeom prst="ellipse">
            <a:avLst/>
          </a:prstGeom>
          <a:blipFill>
            <a:blip r:embed="rId2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S</a:t>
            </a:r>
          </a:p>
        </p:txBody>
      </p:sp>
      <p:sp>
        <p:nvSpPr>
          <p:cNvPr id="121" name="Shape 121"/>
          <p:cNvSpPr/>
          <p:nvPr/>
        </p:nvSpPr>
        <p:spPr>
          <a:xfrm>
            <a:off x="1606550" y="6965950"/>
            <a:ext cx="4229101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Three populations:</a:t>
            </a:r>
          </a:p>
        </p:txBody>
      </p:sp>
      <p:sp>
        <p:nvSpPr>
          <p:cNvPr id="20" name="Shape 73"/>
          <p:cNvSpPr>
            <a:spLocks noGrp="1"/>
          </p:cNvSpPr>
          <p:nvPr>
            <p:ph type="body" sz="quarter" idx="1"/>
          </p:nvPr>
        </p:nvSpPr>
        <p:spPr>
          <a:xfrm>
            <a:off x="6275527" y="6707664"/>
            <a:ext cx="5808068" cy="2658368"/>
          </a:xfrm>
          <a:prstGeom prst="rect">
            <a:avLst/>
          </a:prstGeom>
        </p:spPr>
        <p:txBody>
          <a:bodyPr/>
          <a:lstStyle/>
          <a:p>
            <a:r>
              <a:rPr dirty="0"/>
              <a:t>Susceptible </a:t>
            </a:r>
            <a:endParaRPr b="0" dirty="0"/>
          </a:p>
          <a:p>
            <a:r>
              <a:rPr dirty="0"/>
              <a:t>Infected </a:t>
            </a:r>
            <a:endParaRPr b="0" dirty="0"/>
          </a:p>
          <a:p>
            <a:r>
              <a:rPr dirty="0"/>
              <a:t>Removed </a:t>
            </a:r>
            <a:endParaRPr b="0" dirty="0"/>
          </a:p>
        </p:txBody>
      </p:sp>
      <p:sp>
        <p:nvSpPr>
          <p:cNvPr id="25" name="Shape 86"/>
          <p:cNvSpPr/>
          <p:nvPr/>
        </p:nvSpPr>
        <p:spPr>
          <a:xfrm>
            <a:off x="10619739" y="6828515"/>
            <a:ext cx="604522" cy="604522"/>
          </a:xfrm>
          <a:prstGeom prst="ellipse">
            <a:avLst/>
          </a:prstGeom>
          <a:blipFill>
            <a:blip r:embed="rId2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rPr dirty="0"/>
              <a:t>S</a:t>
            </a:r>
          </a:p>
        </p:txBody>
      </p:sp>
      <p:sp>
        <p:nvSpPr>
          <p:cNvPr id="26" name="Shape 87"/>
          <p:cNvSpPr/>
          <p:nvPr/>
        </p:nvSpPr>
        <p:spPr>
          <a:xfrm>
            <a:off x="10619739" y="7687965"/>
            <a:ext cx="604522" cy="604522"/>
          </a:xfrm>
          <a:prstGeom prst="ellipse">
            <a:avLst/>
          </a:prstGeom>
          <a:blipFill>
            <a:blip r:embed="rId3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rPr dirty="0" smtClean="0"/>
              <a:t>I</a:t>
            </a:r>
            <a:r>
              <a:rPr lang="en-US" dirty="0" smtClean="0"/>
              <a:t> 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9461086" y="6898218"/>
                <a:ext cx="959686" cy="55399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𝑆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(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𝑡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)</m:t>
                      </m:r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1086" y="6898218"/>
                <a:ext cx="959686" cy="553998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8716025" y="7756934"/>
                <a:ext cx="896399" cy="55399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𝐼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(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𝑡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)</m:t>
                      </m:r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6025" y="7756934"/>
                <a:ext cx="896399" cy="553998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8969614" y="8564851"/>
                <a:ext cx="1015471" cy="55399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𝑅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(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𝑡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)</m:t>
                      </m:r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9614" y="8564851"/>
                <a:ext cx="1015471" cy="553998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Shape 88"/>
          <p:cNvSpPr/>
          <p:nvPr/>
        </p:nvSpPr>
        <p:spPr>
          <a:xfrm>
            <a:off x="10579983" y="8547333"/>
            <a:ext cx="604522" cy="604522"/>
          </a:xfrm>
          <a:prstGeom prst="ellipse">
            <a:avLst/>
          </a:prstGeom>
          <a:solidFill>
            <a:schemeClr val="accent3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46252749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151"/>
          <p:cNvSpPr>
            <a:spLocks noGrp="1"/>
          </p:cNvSpPr>
          <p:nvPr>
            <p:ph type="title"/>
          </p:nvPr>
        </p:nvSpPr>
        <p:spPr>
          <a:xfrm>
            <a:off x="437232" y="444500"/>
            <a:ext cx="12130336" cy="1429842"/>
          </a:xfrm>
          <a:prstGeom prst="rect">
            <a:avLst/>
          </a:prstGeom>
        </p:spPr>
        <p:txBody>
          <a:bodyPr/>
          <a:lstStyle>
            <a:lvl1pPr>
              <a:defRPr sz="5500"/>
            </a:lvl1pPr>
          </a:lstStyle>
          <a:p>
            <a:r>
              <a:rPr dirty="0"/>
              <a:t>SIR </a:t>
            </a:r>
            <a:r>
              <a:rPr dirty="0" smtClean="0"/>
              <a:t>Model</a:t>
            </a:r>
            <a:r>
              <a:rPr lang="en-US" dirty="0" smtClean="0"/>
              <a:t>: constant rates</a:t>
            </a:r>
            <a:endParaRPr dirty="0"/>
          </a:p>
        </p:txBody>
      </p:sp>
      <p:sp>
        <p:nvSpPr>
          <p:cNvPr id="153" name="Shape 153"/>
          <p:cNvSpPr/>
          <p:nvPr/>
        </p:nvSpPr>
        <p:spPr>
          <a:xfrm>
            <a:off x="5897256" y="3958573"/>
            <a:ext cx="274575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300" b="1">
                <a:solidFill>
                  <a:schemeClr val="accent5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Infection rate</a:t>
            </a:r>
          </a:p>
        </p:txBody>
      </p:sp>
      <p:sp>
        <p:nvSpPr>
          <p:cNvPr id="154" name="Shape 154"/>
          <p:cNvSpPr>
            <a:spLocks noGrp="1"/>
          </p:cNvSpPr>
          <p:nvPr>
            <p:ph type="body" sz="quarter" idx="1"/>
          </p:nvPr>
        </p:nvSpPr>
        <p:spPr>
          <a:xfrm>
            <a:off x="2700867" y="1701422"/>
            <a:ext cx="8966200" cy="2733279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600"/>
              </a:spcBef>
              <a:buSzTx/>
              <a:buNone/>
            </a:pPr>
            <a:r>
              <a:rPr dirty="0" smtClean="0"/>
              <a:t>: Susceptible</a:t>
            </a:r>
            <a:endParaRPr lang="en-US" dirty="0" smtClean="0"/>
          </a:p>
          <a:p>
            <a:pPr marL="0" indent="0">
              <a:spcBef>
                <a:spcPts val="600"/>
              </a:spcBef>
              <a:buSzTx/>
              <a:buNone/>
            </a:pPr>
            <a:r>
              <a:rPr dirty="0" smtClean="0"/>
              <a:t>: </a:t>
            </a:r>
            <a:r>
              <a:rPr dirty="0"/>
              <a:t>Infected</a:t>
            </a:r>
          </a:p>
          <a:p>
            <a:pPr marL="0" indent="0">
              <a:spcBef>
                <a:spcPts val="600"/>
              </a:spcBef>
              <a:buSzTx/>
              <a:buNone/>
            </a:pPr>
            <a:r>
              <a:rPr dirty="0" smtClean="0"/>
              <a:t>: </a:t>
            </a:r>
            <a:r>
              <a:rPr dirty="0"/>
              <a:t>Removed/recovered</a:t>
            </a:r>
          </a:p>
        </p:txBody>
      </p:sp>
      <p:sp>
        <p:nvSpPr>
          <p:cNvPr id="155" name="Shape 155"/>
          <p:cNvSpPr/>
          <p:nvPr/>
        </p:nvSpPr>
        <p:spPr>
          <a:xfrm>
            <a:off x="4976297" y="7427271"/>
            <a:ext cx="4120922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300" b="1">
                <a:solidFill>
                  <a:schemeClr val="accent1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rPr dirty="0">
                <a:solidFill>
                  <a:srgbClr val="7030A0"/>
                </a:solidFill>
              </a:rPr>
              <a:t>Recovery/death rate</a:t>
            </a:r>
          </a:p>
        </p:txBody>
      </p:sp>
      <p:sp>
        <p:nvSpPr>
          <p:cNvPr id="156" name="Shape 156"/>
          <p:cNvSpPr/>
          <p:nvPr/>
        </p:nvSpPr>
        <p:spPr>
          <a:xfrm flipH="1">
            <a:off x="3625323" y="4331643"/>
            <a:ext cx="2214892" cy="710403"/>
          </a:xfrm>
          <a:prstGeom prst="line">
            <a:avLst/>
          </a:prstGeom>
          <a:ln w="50800">
            <a:solidFill>
              <a:schemeClr val="accent5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57" name="Shape 157"/>
          <p:cNvSpPr/>
          <p:nvPr/>
        </p:nvSpPr>
        <p:spPr>
          <a:xfrm flipH="1" flipV="1">
            <a:off x="4489241" y="7132945"/>
            <a:ext cx="487056" cy="487055"/>
          </a:xfrm>
          <a:prstGeom prst="line">
            <a:avLst/>
          </a:prstGeom>
          <a:ln w="50800">
            <a:solidFill>
              <a:srgbClr val="7030A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888336" y="4742755"/>
                <a:ext cx="2408993" cy="10518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bg-BG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</m:ctrlPr>
                        </m:fPr>
                        <m:num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𝑑𝑆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 </m:t>
                          </m:r>
                        </m:num>
                        <m:den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𝑑𝑡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 </m:t>
                          </m:r>
                        </m:den>
                      </m:f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=−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𝛽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𝑆𝐼</m:t>
                      </m:r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8336" y="4742755"/>
                <a:ext cx="2408993" cy="1051826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888336" y="6243394"/>
                <a:ext cx="3087961" cy="10518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bg-BG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</m:ctrlPr>
                        </m:fPr>
                        <m:num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𝑑𝐼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 </m:t>
                          </m:r>
                        </m:num>
                        <m:den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𝑑𝑡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 </m:t>
                          </m:r>
                        </m:den>
                      </m:f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=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𝛽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𝑆𝐼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 −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𝛾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𝐼</m:t>
                      </m:r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8336" y="6243394"/>
                <a:ext cx="3087961" cy="105182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888336" y="7761751"/>
                <a:ext cx="1838004" cy="10518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bg-BG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</m:ctrlPr>
                        </m:fPr>
                        <m:num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𝑑𝑅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 </m:t>
                          </m:r>
                        </m:num>
                        <m:den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𝑑𝑡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 </m:t>
                          </m:r>
                        </m:den>
                      </m:f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=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𝛾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𝐼</m:t>
                      </m:r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8336" y="7761751"/>
                <a:ext cx="1838004" cy="105182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726922" y="2182396"/>
                <a:ext cx="959686" cy="55399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𝑆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(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𝑡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)</m:t>
                      </m:r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6922" y="2182396"/>
                <a:ext cx="959686" cy="553998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760790" y="2820983"/>
                <a:ext cx="896399" cy="55399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𝐼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(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𝑡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)</m:t>
                      </m:r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0790" y="2820983"/>
                <a:ext cx="896399" cy="553998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675709" y="3408765"/>
                <a:ext cx="1015471" cy="55399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𝑅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(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𝑡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)</m:t>
                      </m:r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5709" y="3408765"/>
                <a:ext cx="1015471" cy="553998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35270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smtClean="0"/>
              <a:t>Modeling activity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785067" y="2603500"/>
            <a:ext cx="8566448" cy="6565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600" b="1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Assume</a:t>
            </a:r>
            <a:r>
              <a:rPr kumimoji="0" lang="en-US" sz="3600" b="1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 total population is constant</a:t>
            </a:r>
            <a:r>
              <a:rPr kumimoji="0" lang="en-US" sz="3600" b="1" i="0" u="none" strike="noStrike" cap="none" spc="0" normalizeH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.  </a:t>
            </a:r>
            <a:endParaRPr kumimoji="0" lang="en-US" sz="36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97891" y="3882951"/>
            <a:ext cx="3077767" cy="6565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600" b="1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Justification</a:t>
            </a:r>
            <a:r>
              <a:rPr lang="en-US" b="1" dirty="0" smtClean="0"/>
              <a:t>s</a:t>
            </a:r>
            <a:endParaRPr kumimoji="0" lang="en-US" sz="36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42775" y="4762500"/>
            <a:ext cx="3500958" cy="17645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571500" marR="0" indent="-57150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</a:pPr>
            <a:r>
              <a:rPr kumimoji="0" lang="en-US" sz="3600" b="1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No births?</a:t>
            </a:r>
          </a:p>
          <a:p>
            <a:pPr marL="571500" marR="0" indent="-57150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</a:pPr>
            <a:r>
              <a:rPr lang="en-US" b="1" dirty="0" smtClean="0"/>
              <a:t>Other ideas?</a:t>
            </a:r>
            <a:endParaRPr kumimoji="0" lang="en-US" sz="3600" b="1" i="0" u="none" strike="noStrike" cap="none" spc="0" normalizeH="0" baseline="0" dirty="0" smtClean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  <a:p>
            <a:pPr marR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kumimoji="0" lang="en-US" sz="36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386371342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smtClean="0"/>
              <a:t>Modeling activity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308397" y="2744515"/>
            <a:ext cx="12388007" cy="6565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600" b="1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How do we expect these populations to change in time?</a:t>
            </a:r>
            <a:endParaRPr kumimoji="0" lang="en-US" sz="36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37232" y="4532370"/>
            <a:ext cx="8148384" cy="34163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b="1" dirty="0" smtClean="0"/>
              <a:t>Does it depend on:</a:t>
            </a:r>
          </a:p>
          <a:p>
            <a:pPr marL="571500" indent="-571500" algn="l">
              <a:buFont typeface="Arial" charset="0"/>
              <a:buChar char="•"/>
            </a:pPr>
            <a:r>
              <a:rPr lang="en-US" b="1" dirty="0" smtClean="0"/>
              <a:t>Initial size of each population?</a:t>
            </a:r>
          </a:p>
          <a:p>
            <a:pPr algn="l"/>
            <a:endParaRPr lang="en-US" b="1" dirty="0" smtClean="0"/>
          </a:p>
          <a:p>
            <a:pPr marL="571500" indent="-571500" algn="l">
              <a:buFont typeface="Arial" charset="0"/>
              <a:buChar char="•"/>
            </a:pPr>
            <a:r>
              <a:rPr lang="en-US" b="1" dirty="0" smtClean="0"/>
              <a:t>The infection and recovery rates?</a:t>
            </a:r>
          </a:p>
          <a:p>
            <a:pPr algn="l"/>
            <a:endParaRPr lang="en-US" b="1" dirty="0" smtClean="0"/>
          </a:p>
          <a:p>
            <a:pPr marL="571500" indent="-571500" algn="l">
              <a:buFont typeface="Arial" charset="0"/>
              <a:buChar char="•"/>
            </a:pPr>
            <a:r>
              <a:rPr lang="en-US" b="1" dirty="0" smtClean="0"/>
              <a:t>Other ideas?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5117885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>
            <a:spLocks noGrp="1"/>
          </p:cNvSpPr>
          <p:nvPr>
            <p:ph type="title"/>
          </p:nvPr>
        </p:nvSpPr>
        <p:spPr>
          <a:xfrm>
            <a:off x="437232" y="444500"/>
            <a:ext cx="12130336" cy="215900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Modeling activity</a:t>
            </a:r>
            <a:endParaRPr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6027" y="2041451"/>
            <a:ext cx="10058400" cy="754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5002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>
            <a:spLocks noGrp="1"/>
          </p:cNvSpPr>
          <p:nvPr>
            <p:ph type="title"/>
          </p:nvPr>
        </p:nvSpPr>
        <p:spPr>
          <a:xfrm>
            <a:off x="415967" y="444500"/>
            <a:ext cx="12130336" cy="215900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Modeling activity</a:t>
            </a:r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3200" y="2041450"/>
            <a:ext cx="10058400" cy="754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34884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Continuing the activity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06092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creen Shot 2015-02-04 at 10.53.41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920552" y="3054642"/>
            <a:ext cx="6645604" cy="4871894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437232" y="444500"/>
            <a:ext cx="12130336" cy="2159000"/>
          </a:xfrm>
          <a:prstGeom prst="rect">
            <a:avLst/>
          </a:prstGeom>
        </p:spPr>
        <p:txBody>
          <a:bodyPr/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1" i="0" u="none" strike="noStrike" cap="none" spc="0" baseline="0">
                <a:ln>
                  <a:noFill/>
                </a:ln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  <a:effectLst>
                  <a:outerShdw blurRad="88900" dist="38100" dir="2700000" rotWithShape="0">
                    <a:srgbClr val="000000">
                      <a:alpha val="30000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228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1" i="0" u="none" strike="noStrike" cap="none" spc="0" baseline="0">
                <a:ln>
                  <a:noFill/>
                </a:ln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  <a:effectLst>
                  <a:outerShdw blurRad="88900" dist="38100" dir="2700000" rotWithShape="0">
                    <a:srgbClr val="000000">
                      <a:alpha val="30000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457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1" i="0" u="none" strike="noStrike" cap="none" spc="0" baseline="0">
                <a:ln>
                  <a:noFill/>
                </a:ln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  <a:effectLst>
                  <a:outerShdw blurRad="88900" dist="38100" dir="2700000" rotWithShape="0">
                    <a:srgbClr val="000000">
                      <a:alpha val="30000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685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1" i="0" u="none" strike="noStrike" cap="none" spc="0" baseline="0">
                <a:ln>
                  <a:noFill/>
                </a:ln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  <a:effectLst>
                  <a:outerShdw blurRad="88900" dist="38100" dir="2700000" rotWithShape="0">
                    <a:srgbClr val="000000">
                      <a:alpha val="30000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9144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1" i="0" u="none" strike="noStrike" cap="none" spc="0" baseline="0">
                <a:ln>
                  <a:noFill/>
                </a:ln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  <a:effectLst>
                  <a:outerShdw blurRad="88900" dist="38100" dir="2700000" rotWithShape="0">
                    <a:srgbClr val="000000">
                      <a:alpha val="30000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11430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1" i="0" u="none" strike="noStrike" cap="none" spc="0" baseline="0">
                <a:ln>
                  <a:noFill/>
                </a:ln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  <a:effectLst>
                  <a:outerShdw blurRad="88900" dist="38100" dir="2700000" rotWithShape="0">
                    <a:srgbClr val="000000">
                      <a:alpha val="30000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1371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1" i="0" u="none" strike="noStrike" cap="none" spc="0" baseline="0">
                <a:ln>
                  <a:noFill/>
                </a:ln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  <a:effectLst>
                  <a:outerShdw blurRad="88900" dist="38100" dir="2700000" rotWithShape="0">
                    <a:srgbClr val="000000">
                      <a:alpha val="30000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1600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1" i="0" u="none" strike="noStrike" cap="none" spc="0" baseline="0">
                <a:ln>
                  <a:noFill/>
                </a:ln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  <a:effectLst>
                  <a:outerShdw blurRad="88900" dist="38100" dir="2700000" rotWithShape="0">
                    <a:srgbClr val="000000">
                      <a:alpha val="30000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1828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1" i="0" u="none" strike="noStrike" cap="none" spc="0" baseline="0">
                <a:ln>
                  <a:noFill/>
                </a:ln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  <a:effectLst>
                  <a:outerShdw blurRad="88900" dist="38100" dir="2700000" rotWithShape="0">
                    <a:srgbClr val="000000">
                      <a:alpha val="30000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hangingPunct="1"/>
            <a:r>
              <a:rPr lang="en-US" dirty="0" smtClean="0"/>
              <a:t>The more complicated model: revisited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56601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Screen Shot 2015-02-04 at 10.45.45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92510" y="343216"/>
            <a:ext cx="7154318" cy="9247197"/>
          </a:xfrm>
          <a:prstGeom prst="rect">
            <a:avLst/>
          </a:prstGeom>
          <a:ln w="12700">
            <a:miter lim="400000"/>
          </a:ln>
        </p:spPr>
      </p:pic>
      <p:sp>
        <p:nvSpPr>
          <p:cNvPr id="172" name="Shape 172"/>
          <p:cNvSpPr/>
          <p:nvPr/>
        </p:nvSpPr>
        <p:spPr>
          <a:xfrm>
            <a:off x="994305" y="764269"/>
            <a:ext cx="825252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 b="1" i="1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dz/dt</a:t>
            </a:r>
          </a:p>
        </p:txBody>
      </p:sp>
      <p:sp>
        <p:nvSpPr>
          <p:cNvPr id="5" name="Shape 162"/>
          <p:cNvSpPr/>
          <p:nvPr/>
        </p:nvSpPr>
        <p:spPr>
          <a:xfrm>
            <a:off x="7348899" y="764269"/>
            <a:ext cx="5261314" cy="9561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Autofit/>
          </a:bodyPr>
          <a:lstStyle>
            <a:lvl1pPr algn="l" defTabSz="566674">
              <a:lnSpc>
                <a:spcPct val="90000"/>
              </a:lnSpc>
              <a:spcBef>
                <a:spcPts val="2500"/>
              </a:spcBef>
              <a:defRPr sz="3492" b="1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rPr lang="en-US" sz="3600" dirty="0" smtClean="0">
                <a:solidFill>
                  <a:schemeClr val="accent1"/>
                </a:solidFill>
              </a:rPr>
              <a:t>Is this consistent with our activity sketches?</a:t>
            </a:r>
            <a:endParaRPr sz="36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>
            <a:spLocks noGrp="1"/>
          </p:cNvSpPr>
          <p:nvPr>
            <p:ph type="title"/>
          </p:nvPr>
        </p:nvSpPr>
        <p:spPr>
          <a:xfrm>
            <a:off x="437232" y="444500"/>
            <a:ext cx="12130336" cy="215900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Bad news case</a:t>
            </a:r>
            <a:endParaRPr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6027" y="2041451"/>
            <a:ext cx="10058400" cy="754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43304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>
            <a:spLocks noGrp="1"/>
          </p:cNvSpPr>
          <p:nvPr>
            <p:ph type="title"/>
          </p:nvPr>
        </p:nvSpPr>
        <p:spPr>
          <a:xfrm>
            <a:off x="415967" y="444500"/>
            <a:ext cx="12130336" cy="215900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Good news case</a:t>
            </a:r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3200" y="2041450"/>
            <a:ext cx="10058400" cy="754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55596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Screen Shot 2015-02-04 at 10.46.33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64755" y="2688916"/>
            <a:ext cx="12075290" cy="437576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151"/>
          <p:cNvSpPr>
            <a:spLocks noGrp="1"/>
          </p:cNvSpPr>
          <p:nvPr>
            <p:ph type="title"/>
          </p:nvPr>
        </p:nvSpPr>
        <p:spPr>
          <a:xfrm>
            <a:off x="437232" y="444500"/>
            <a:ext cx="12130336" cy="1429842"/>
          </a:xfrm>
          <a:prstGeom prst="rect">
            <a:avLst/>
          </a:prstGeom>
        </p:spPr>
        <p:txBody>
          <a:bodyPr/>
          <a:lstStyle>
            <a:lvl1pPr>
              <a:defRPr sz="5500"/>
            </a:lvl1pPr>
          </a:lstStyle>
          <a:p>
            <a:r>
              <a:rPr lang="en-US" dirty="0" smtClean="0"/>
              <a:t>What can we learn?</a:t>
            </a:r>
            <a:endParaRPr dirty="0"/>
          </a:p>
        </p:txBody>
      </p:sp>
      <p:sp>
        <p:nvSpPr>
          <p:cNvPr id="153" name="Shape 153"/>
          <p:cNvSpPr/>
          <p:nvPr/>
        </p:nvSpPr>
        <p:spPr>
          <a:xfrm>
            <a:off x="5897256" y="3958573"/>
            <a:ext cx="274575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300" b="1">
                <a:solidFill>
                  <a:schemeClr val="accent5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Infection rate</a:t>
            </a:r>
          </a:p>
        </p:txBody>
      </p:sp>
      <p:sp>
        <p:nvSpPr>
          <p:cNvPr id="154" name="Shape 154"/>
          <p:cNvSpPr>
            <a:spLocks noGrp="1"/>
          </p:cNvSpPr>
          <p:nvPr>
            <p:ph type="body" sz="quarter" idx="1"/>
          </p:nvPr>
        </p:nvSpPr>
        <p:spPr>
          <a:xfrm>
            <a:off x="2700867" y="1701422"/>
            <a:ext cx="8966200" cy="2733279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600"/>
              </a:spcBef>
              <a:buSzTx/>
              <a:buNone/>
            </a:pPr>
            <a:r>
              <a:rPr dirty="0" smtClean="0"/>
              <a:t>: Susceptible</a:t>
            </a:r>
            <a:endParaRPr lang="en-US" dirty="0" smtClean="0"/>
          </a:p>
          <a:p>
            <a:pPr marL="0" indent="0">
              <a:spcBef>
                <a:spcPts val="600"/>
              </a:spcBef>
              <a:buSzTx/>
              <a:buNone/>
            </a:pPr>
            <a:r>
              <a:rPr dirty="0" smtClean="0"/>
              <a:t>: </a:t>
            </a:r>
            <a:r>
              <a:rPr dirty="0"/>
              <a:t>Infected</a:t>
            </a:r>
          </a:p>
          <a:p>
            <a:pPr marL="0" indent="0">
              <a:spcBef>
                <a:spcPts val="600"/>
              </a:spcBef>
              <a:buSzTx/>
              <a:buNone/>
            </a:pPr>
            <a:r>
              <a:rPr dirty="0" smtClean="0"/>
              <a:t>: </a:t>
            </a:r>
            <a:r>
              <a:rPr dirty="0"/>
              <a:t>Removed/recovered</a:t>
            </a:r>
          </a:p>
        </p:txBody>
      </p:sp>
      <p:sp>
        <p:nvSpPr>
          <p:cNvPr id="155" name="Shape 155"/>
          <p:cNvSpPr/>
          <p:nvPr/>
        </p:nvSpPr>
        <p:spPr>
          <a:xfrm>
            <a:off x="4976297" y="7427271"/>
            <a:ext cx="4120922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300" b="1">
                <a:solidFill>
                  <a:schemeClr val="accent1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rPr dirty="0">
                <a:solidFill>
                  <a:srgbClr val="7030A0"/>
                </a:solidFill>
              </a:rPr>
              <a:t>Recovery/death rate</a:t>
            </a:r>
          </a:p>
        </p:txBody>
      </p:sp>
      <p:sp>
        <p:nvSpPr>
          <p:cNvPr id="156" name="Shape 156"/>
          <p:cNvSpPr/>
          <p:nvPr/>
        </p:nvSpPr>
        <p:spPr>
          <a:xfrm flipH="1">
            <a:off x="3625323" y="4331643"/>
            <a:ext cx="2214892" cy="710403"/>
          </a:xfrm>
          <a:prstGeom prst="line">
            <a:avLst/>
          </a:prstGeom>
          <a:ln w="50800">
            <a:solidFill>
              <a:schemeClr val="accent5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57" name="Shape 157"/>
          <p:cNvSpPr/>
          <p:nvPr/>
        </p:nvSpPr>
        <p:spPr>
          <a:xfrm flipH="1" flipV="1">
            <a:off x="4489241" y="7132945"/>
            <a:ext cx="487056" cy="487055"/>
          </a:xfrm>
          <a:prstGeom prst="line">
            <a:avLst/>
          </a:prstGeom>
          <a:ln w="50800">
            <a:solidFill>
              <a:srgbClr val="7030A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888336" y="4742755"/>
                <a:ext cx="2408993" cy="10518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bg-BG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</m:ctrlPr>
                        </m:fPr>
                        <m:num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𝑑𝑆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 </m:t>
                          </m:r>
                        </m:num>
                        <m:den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𝑑𝑡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 </m:t>
                          </m:r>
                        </m:den>
                      </m:f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=−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𝛽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𝑆𝐼</m:t>
                      </m:r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8336" y="4742755"/>
                <a:ext cx="2408993" cy="1051826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888336" y="6243394"/>
                <a:ext cx="3087961" cy="10518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bg-BG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</m:ctrlPr>
                        </m:fPr>
                        <m:num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𝑑𝐼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 </m:t>
                          </m:r>
                        </m:num>
                        <m:den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𝑑𝑡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 </m:t>
                          </m:r>
                        </m:den>
                      </m:f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=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𝛽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𝑆𝐼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 −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𝛾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𝐼</m:t>
                      </m:r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8336" y="6243394"/>
                <a:ext cx="3087961" cy="105182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888336" y="7761751"/>
                <a:ext cx="1838004" cy="10518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bg-BG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</m:ctrlPr>
                        </m:fPr>
                        <m:num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𝑑𝑅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 </m:t>
                          </m:r>
                        </m:num>
                        <m:den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𝑑𝑡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 </m:t>
                          </m:r>
                        </m:den>
                      </m:f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=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𝛾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𝐼</m:t>
                      </m:r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8336" y="7761751"/>
                <a:ext cx="1838004" cy="105182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726922" y="2182396"/>
                <a:ext cx="959686" cy="55399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𝑆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(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𝑡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)</m:t>
                      </m:r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6922" y="2182396"/>
                <a:ext cx="959686" cy="553998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760790" y="2820983"/>
                <a:ext cx="896399" cy="55399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𝐼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(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𝑡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)</m:t>
                      </m:r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0790" y="2820983"/>
                <a:ext cx="896399" cy="553998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675709" y="3408765"/>
                <a:ext cx="1015471" cy="55399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𝑅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(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𝑡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)</m:t>
                      </m:r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5709" y="3408765"/>
                <a:ext cx="1015471" cy="553998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Shape 165"/>
          <p:cNvSpPr/>
          <p:nvPr/>
        </p:nvSpPr>
        <p:spPr>
          <a:xfrm>
            <a:off x="6832600" y="5414690"/>
            <a:ext cx="1394948" cy="1394948"/>
          </a:xfrm>
          <a:prstGeom prst="ellipse">
            <a:avLst/>
          </a:prstGeom>
          <a:blipFill>
            <a:blip r:embed="rId8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lnSpc>
                <a:spcPct val="90000"/>
              </a:lnSpc>
              <a:defRPr sz="60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S</a:t>
            </a:r>
          </a:p>
        </p:txBody>
      </p:sp>
      <p:sp>
        <p:nvSpPr>
          <p:cNvPr id="15" name="Shape 166"/>
          <p:cNvSpPr/>
          <p:nvPr/>
        </p:nvSpPr>
        <p:spPr>
          <a:xfrm>
            <a:off x="9041218" y="5414690"/>
            <a:ext cx="1394949" cy="1394948"/>
          </a:xfrm>
          <a:prstGeom prst="ellipse">
            <a:avLst/>
          </a:prstGeom>
          <a:blipFill>
            <a:blip r:embed="rId9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lnSpc>
                <a:spcPct val="90000"/>
              </a:lnSpc>
              <a:defRPr sz="60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I</a:t>
            </a:r>
          </a:p>
        </p:txBody>
      </p:sp>
      <p:sp>
        <p:nvSpPr>
          <p:cNvPr id="16" name="Shape 167"/>
          <p:cNvSpPr/>
          <p:nvPr/>
        </p:nvSpPr>
        <p:spPr>
          <a:xfrm>
            <a:off x="11249837" y="5414690"/>
            <a:ext cx="1394948" cy="1394948"/>
          </a:xfrm>
          <a:prstGeom prst="ellipse">
            <a:avLst/>
          </a:prstGeom>
          <a:solidFill>
            <a:srgbClr val="FFC000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lnSpc>
                <a:spcPct val="90000"/>
              </a:lnSpc>
              <a:defRPr sz="60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R</a:t>
            </a:r>
          </a:p>
        </p:txBody>
      </p:sp>
      <p:sp>
        <p:nvSpPr>
          <p:cNvPr id="17" name="Shape 168"/>
          <p:cNvSpPr/>
          <p:nvPr/>
        </p:nvSpPr>
        <p:spPr>
          <a:xfrm>
            <a:off x="8274593" y="6112164"/>
            <a:ext cx="719580" cy="1"/>
          </a:xfrm>
          <a:prstGeom prst="line">
            <a:avLst/>
          </a:prstGeom>
          <a:ln w="63500">
            <a:solidFill>
              <a:srgbClr val="53585F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8" name="Shape 169"/>
          <p:cNvSpPr/>
          <p:nvPr/>
        </p:nvSpPr>
        <p:spPr>
          <a:xfrm>
            <a:off x="10483212" y="6112164"/>
            <a:ext cx="719580" cy="1"/>
          </a:xfrm>
          <a:prstGeom prst="line">
            <a:avLst/>
          </a:prstGeom>
          <a:ln w="63500">
            <a:solidFill>
              <a:srgbClr val="53585F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092928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660"/>
          <a:stretch/>
        </p:blipFill>
        <p:spPr>
          <a:xfrm>
            <a:off x="0" y="-1"/>
            <a:ext cx="6128969" cy="682610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960"/>
          <a:stretch/>
        </p:blipFill>
        <p:spPr>
          <a:xfrm>
            <a:off x="6266125" y="-21266"/>
            <a:ext cx="6211947" cy="6847367"/>
          </a:xfrm>
          <a:prstGeom prst="rect">
            <a:avLst/>
          </a:prstGeom>
        </p:spPr>
      </p:pic>
      <p:sp>
        <p:nvSpPr>
          <p:cNvPr id="10" name="Shape 156"/>
          <p:cNvSpPr/>
          <p:nvPr/>
        </p:nvSpPr>
        <p:spPr>
          <a:xfrm flipH="1" flipV="1">
            <a:off x="1594882" y="3487476"/>
            <a:ext cx="2147778" cy="4039363"/>
          </a:xfrm>
          <a:prstGeom prst="line">
            <a:avLst/>
          </a:prstGeom>
          <a:ln w="53975">
            <a:solidFill>
              <a:schemeClr val="tx1">
                <a:alpha val="36000"/>
              </a:schemeClr>
            </a:solidFill>
            <a:prstDash val="solid"/>
            <a:miter lim="400000"/>
            <a:headEnd w="lg" len="lg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dirty="0"/>
          </a:p>
        </p:txBody>
      </p:sp>
      <p:sp>
        <p:nvSpPr>
          <p:cNvPr id="11" name="Shape 156"/>
          <p:cNvSpPr/>
          <p:nvPr/>
        </p:nvSpPr>
        <p:spPr>
          <a:xfrm flipH="1" flipV="1">
            <a:off x="7917713" y="5682046"/>
            <a:ext cx="1141226" cy="1632144"/>
          </a:xfrm>
          <a:prstGeom prst="line">
            <a:avLst/>
          </a:prstGeom>
          <a:ln w="53975">
            <a:solidFill>
              <a:schemeClr val="tx1">
                <a:alpha val="36000"/>
              </a:schemeClr>
            </a:solidFill>
            <a:prstDash val="solid"/>
            <a:miter lim="400000"/>
            <a:headEnd w="lg" len="lg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998381" y="7526840"/>
                <a:ext cx="1548565" cy="10518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mr-IN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</m:ctrlPr>
                        </m:fPr>
                        <m:num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𝑑𝐼</m:t>
                          </m:r>
                        </m:num>
                        <m:den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𝑑𝑡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 </m:t>
                          </m:r>
                        </m:den>
                      </m:f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&gt;0</m:t>
                      </m:r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8381" y="7526840"/>
                <a:ext cx="1548565" cy="105182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7917714" y="7314190"/>
                <a:ext cx="2250313" cy="10518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mr-IN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</m:ctrlPr>
                        </m:fPr>
                        <m:num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𝑑𝐼</m:t>
                          </m:r>
                        </m:num>
                        <m:den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𝑑𝑡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 </m:t>
                          </m:r>
                        </m:den>
                      </m:f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&lt;0</m:t>
                      </m:r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7714" y="7314190"/>
                <a:ext cx="2250313" cy="105182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25399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/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hape 177"/>
          <p:cNvSpPr>
            <a:spLocks noGrp="1"/>
          </p:cNvSpPr>
          <p:nvPr>
            <p:ph type="body" idx="13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Rate of spreading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1" name="Shape 181"/>
              <p:cNvSpPr/>
              <p:nvPr/>
            </p:nvSpPr>
            <p:spPr>
              <a:xfrm>
                <a:off x="335853" y="6504396"/>
                <a:ext cx="8697203" cy="2964914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anchor="ctr">
                <a:spAutoFit/>
              </a:bodyPr>
              <a:lstStyle/>
              <a:p>
                <a:pPr marL="382763" indent="-382763" algn="l">
                  <a:buSzPct val="75000"/>
                  <a:buChar char="•"/>
                  <a:defRPr sz="3100" b="1">
                    <a:latin typeface="+mj-lt"/>
                    <a:ea typeface="+mj-ea"/>
                    <a:cs typeface="+mj-cs"/>
                    <a:sym typeface="Helvetica"/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3100" i="1" smtClean="0">
                            <a:latin typeface="Cambria Math" charset="0"/>
                            <a:sym typeface="Helvetica"/>
                          </a:rPr>
                        </m:ctrlPr>
                      </m:sSubPr>
                      <m:e>
                        <m:r>
                          <a:rPr lang="en-US" sz="3100" b="0" i="1" smtClean="0">
                            <a:latin typeface="Cambria Math" charset="0"/>
                            <a:sym typeface="Helvetica"/>
                          </a:rPr>
                          <m:t>𝑅</m:t>
                        </m:r>
                      </m:e>
                      <m:sub>
                        <m:r>
                          <a:rPr lang="en-US" sz="3100" b="0" i="1" smtClean="0">
                            <a:latin typeface="Cambria Math" charset="0"/>
                            <a:sym typeface="Helvetica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3100" dirty="0" smtClean="0">
                    <a:sym typeface="Helvetica"/>
                  </a:rPr>
                  <a:t> </a:t>
                </a:r>
                <a:r>
                  <a:rPr lang="en-US" sz="3100" dirty="0">
                    <a:sym typeface="Helvetica"/>
                  </a:rPr>
                  <a:t>is called the </a:t>
                </a:r>
                <a:r>
                  <a:rPr lang="en-US" sz="3100" i="1" dirty="0">
                    <a:sym typeface="Helvetica"/>
                  </a:rPr>
                  <a:t>basic reproduction </a:t>
                </a:r>
                <a:r>
                  <a:rPr lang="en-US" sz="3100" i="1" dirty="0" smtClean="0">
                    <a:sym typeface="Helvetica"/>
                  </a:rPr>
                  <a:t>number</a:t>
                </a:r>
              </a:p>
              <a:p>
                <a:pPr algn="l">
                  <a:buSzPct val="75000"/>
                  <a:defRPr sz="3100" b="1">
                    <a:latin typeface="+mj-lt"/>
                    <a:ea typeface="+mj-ea"/>
                    <a:cs typeface="+mj-cs"/>
                    <a:sym typeface="Helvetica"/>
                  </a:defRPr>
                </a:pPr>
                <a:endParaRPr lang="en-US" sz="3100" i="1" dirty="0">
                  <a:sym typeface="Helvetica"/>
                </a:endParaRPr>
              </a:p>
              <a:p>
                <a:pPr marL="382763" indent="-382763" algn="l">
                  <a:buSzPct val="75000"/>
                  <a:buChar char="•"/>
                  <a:defRPr sz="3100" b="1">
                    <a:latin typeface="+mj-lt"/>
                    <a:ea typeface="+mj-ea"/>
                    <a:cs typeface="+mj-cs"/>
                    <a:sym typeface="Helvetica"/>
                  </a:defRPr>
                </a:pPr>
                <a:r>
                  <a:rPr lang="en-US" dirty="0" smtClean="0"/>
                  <a:t>It </a:t>
                </a:r>
                <a:r>
                  <a:rPr lang="en-US" dirty="0"/>
                  <a:t>is a </a:t>
                </a:r>
                <a:r>
                  <a:rPr lang="en-US" i="1" dirty="0"/>
                  <a:t>dimensionless</a:t>
                </a:r>
                <a:r>
                  <a:rPr lang="en-US" dirty="0"/>
                  <a:t> </a:t>
                </a:r>
                <a:r>
                  <a:rPr lang="en-US" dirty="0" smtClean="0"/>
                  <a:t>quantity</a:t>
                </a:r>
              </a:p>
              <a:p>
                <a:pPr algn="l">
                  <a:buSzPct val="75000"/>
                  <a:defRPr sz="3100" b="1">
                    <a:latin typeface="+mj-lt"/>
                    <a:ea typeface="+mj-ea"/>
                    <a:cs typeface="+mj-cs"/>
                    <a:sym typeface="Helvetica"/>
                  </a:defRPr>
                </a:pPr>
                <a:endParaRPr lang="en-US" dirty="0"/>
              </a:p>
              <a:p>
                <a:pPr marL="382763" indent="-382763" algn="l">
                  <a:buSzPct val="75000"/>
                  <a:buChar char="•"/>
                  <a:defRPr sz="3100" b="1">
                    <a:latin typeface="+mj-lt"/>
                    <a:ea typeface="+mj-ea"/>
                    <a:cs typeface="+mj-cs"/>
                    <a:sym typeface="Helvetica"/>
                  </a:defRPr>
                </a:pPr>
                <a:r>
                  <a:rPr lang="en-US" dirty="0"/>
                  <a:t>It represents the average number of people a single infected individual will infect</a:t>
                </a:r>
                <a:endParaRPr dirty="0"/>
              </a:p>
            </p:txBody>
          </p:sp>
        </mc:Choice>
        <mc:Fallback xmlns="">
          <p:sp>
            <p:nvSpPr>
              <p:cNvPr id="181" name="Shape 18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853" y="6504396"/>
                <a:ext cx="8697203" cy="2964914"/>
              </a:xfrm>
              <a:prstGeom prst="rect">
                <a:avLst/>
              </a:prstGeom>
              <a:blipFill rotWithShape="0">
                <a:blip r:embed="rId2"/>
                <a:stretch>
                  <a:fillRect l="-1472" t="-2469" r="-1822" b="-5967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3" name="Shape 183"/>
          <p:cNvSpPr/>
          <p:nvPr/>
        </p:nvSpPr>
        <p:spPr>
          <a:xfrm>
            <a:off x="9327709" y="6807274"/>
            <a:ext cx="452122" cy="452122"/>
          </a:xfrm>
          <a:prstGeom prst="ellipse">
            <a:avLst/>
          </a:prstGeom>
          <a:blipFill>
            <a:blip r:embed="rId3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lnSpc>
                <a:spcPct val="70000"/>
              </a:lnSpc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S</a:t>
            </a:r>
          </a:p>
        </p:txBody>
      </p:sp>
      <p:sp>
        <p:nvSpPr>
          <p:cNvPr id="184" name="Shape 184"/>
          <p:cNvSpPr/>
          <p:nvPr/>
        </p:nvSpPr>
        <p:spPr>
          <a:xfrm>
            <a:off x="10407209" y="6489774"/>
            <a:ext cx="452122" cy="452122"/>
          </a:xfrm>
          <a:prstGeom prst="ellipse">
            <a:avLst/>
          </a:prstGeom>
          <a:blipFill>
            <a:blip r:embed="rId3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lnSpc>
                <a:spcPct val="70000"/>
              </a:lnSpc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S</a:t>
            </a:r>
          </a:p>
        </p:txBody>
      </p:sp>
      <p:sp>
        <p:nvSpPr>
          <p:cNvPr id="185" name="Shape 185"/>
          <p:cNvSpPr/>
          <p:nvPr/>
        </p:nvSpPr>
        <p:spPr>
          <a:xfrm>
            <a:off x="10064309" y="7543874"/>
            <a:ext cx="452122" cy="452122"/>
          </a:xfrm>
          <a:prstGeom prst="ellipse">
            <a:avLst/>
          </a:prstGeom>
          <a:blipFill>
            <a:blip r:embed="rId3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lnSpc>
                <a:spcPct val="70000"/>
              </a:lnSpc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S</a:t>
            </a:r>
          </a:p>
        </p:txBody>
      </p:sp>
      <p:sp>
        <p:nvSpPr>
          <p:cNvPr id="186" name="Shape 186"/>
          <p:cNvSpPr/>
          <p:nvPr/>
        </p:nvSpPr>
        <p:spPr>
          <a:xfrm>
            <a:off x="11943909" y="6807274"/>
            <a:ext cx="452122" cy="452122"/>
          </a:xfrm>
          <a:prstGeom prst="ellipse">
            <a:avLst/>
          </a:prstGeom>
          <a:blipFill>
            <a:blip r:embed="rId3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lnSpc>
                <a:spcPct val="70000"/>
              </a:lnSpc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S</a:t>
            </a:r>
          </a:p>
        </p:txBody>
      </p:sp>
      <p:sp>
        <p:nvSpPr>
          <p:cNvPr id="187" name="Shape 187"/>
          <p:cNvSpPr/>
          <p:nvPr/>
        </p:nvSpPr>
        <p:spPr>
          <a:xfrm>
            <a:off x="9099109" y="7910032"/>
            <a:ext cx="452122" cy="452122"/>
          </a:xfrm>
          <a:prstGeom prst="ellipse">
            <a:avLst/>
          </a:prstGeom>
          <a:blipFill>
            <a:blip r:embed="rId3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lnSpc>
                <a:spcPct val="70000"/>
              </a:lnSpc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S</a:t>
            </a:r>
          </a:p>
        </p:txBody>
      </p:sp>
      <p:sp>
        <p:nvSpPr>
          <p:cNvPr id="188" name="Shape 188"/>
          <p:cNvSpPr/>
          <p:nvPr/>
        </p:nvSpPr>
        <p:spPr>
          <a:xfrm>
            <a:off x="12065858" y="7531174"/>
            <a:ext cx="452123" cy="452122"/>
          </a:xfrm>
          <a:prstGeom prst="ellipse">
            <a:avLst/>
          </a:prstGeom>
          <a:blipFill>
            <a:blip r:embed="rId3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lnSpc>
                <a:spcPct val="70000"/>
              </a:lnSpc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S</a:t>
            </a:r>
          </a:p>
        </p:txBody>
      </p:sp>
      <p:sp>
        <p:nvSpPr>
          <p:cNvPr id="189" name="Shape 189"/>
          <p:cNvSpPr/>
          <p:nvPr/>
        </p:nvSpPr>
        <p:spPr>
          <a:xfrm>
            <a:off x="11334309" y="8268792"/>
            <a:ext cx="452122" cy="452122"/>
          </a:xfrm>
          <a:prstGeom prst="ellipse">
            <a:avLst/>
          </a:prstGeom>
          <a:blipFill>
            <a:blip r:embed="rId3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lnSpc>
                <a:spcPct val="70000"/>
              </a:lnSpc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S</a:t>
            </a:r>
          </a:p>
        </p:txBody>
      </p:sp>
      <p:sp>
        <p:nvSpPr>
          <p:cNvPr id="190" name="Shape 190"/>
          <p:cNvSpPr/>
          <p:nvPr/>
        </p:nvSpPr>
        <p:spPr>
          <a:xfrm>
            <a:off x="9632509" y="8763074"/>
            <a:ext cx="452122" cy="452122"/>
          </a:xfrm>
          <a:prstGeom prst="ellipse">
            <a:avLst/>
          </a:prstGeom>
          <a:blipFill>
            <a:blip r:embed="rId3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lnSpc>
                <a:spcPct val="70000"/>
              </a:lnSpc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S</a:t>
            </a:r>
          </a:p>
        </p:txBody>
      </p:sp>
      <p:sp>
        <p:nvSpPr>
          <p:cNvPr id="191" name="Shape 191"/>
          <p:cNvSpPr/>
          <p:nvPr/>
        </p:nvSpPr>
        <p:spPr>
          <a:xfrm>
            <a:off x="11943909" y="8864674"/>
            <a:ext cx="452122" cy="452122"/>
          </a:xfrm>
          <a:prstGeom prst="ellipse">
            <a:avLst/>
          </a:prstGeom>
          <a:blipFill>
            <a:blip r:embed="rId3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lnSpc>
                <a:spcPct val="70000"/>
              </a:lnSpc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S</a:t>
            </a:r>
          </a:p>
        </p:txBody>
      </p:sp>
      <p:sp>
        <p:nvSpPr>
          <p:cNvPr id="192" name="Shape 192"/>
          <p:cNvSpPr/>
          <p:nvPr/>
        </p:nvSpPr>
        <p:spPr>
          <a:xfrm>
            <a:off x="10407209" y="8369374"/>
            <a:ext cx="452122" cy="452122"/>
          </a:xfrm>
          <a:prstGeom prst="ellipse">
            <a:avLst/>
          </a:prstGeom>
          <a:blipFill>
            <a:blip r:embed="rId3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lnSpc>
                <a:spcPct val="70000"/>
              </a:lnSpc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S</a:t>
            </a:r>
          </a:p>
        </p:txBody>
      </p:sp>
      <p:sp>
        <p:nvSpPr>
          <p:cNvPr id="193" name="Shape 193"/>
          <p:cNvSpPr/>
          <p:nvPr/>
        </p:nvSpPr>
        <p:spPr>
          <a:xfrm>
            <a:off x="11334309" y="6590356"/>
            <a:ext cx="452122" cy="452122"/>
          </a:xfrm>
          <a:prstGeom prst="ellipse">
            <a:avLst/>
          </a:prstGeom>
          <a:blipFill>
            <a:blip r:embed="rId3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lnSpc>
                <a:spcPct val="70000"/>
              </a:lnSpc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S</a:t>
            </a:r>
          </a:p>
        </p:txBody>
      </p:sp>
      <p:sp>
        <p:nvSpPr>
          <p:cNvPr id="194" name="Shape 194"/>
          <p:cNvSpPr/>
          <p:nvPr/>
        </p:nvSpPr>
        <p:spPr>
          <a:xfrm>
            <a:off x="11115884" y="7416874"/>
            <a:ext cx="452122" cy="452122"/>
          </a:xfrm>
          <a:prstGeom prst="ellipse">
            <a:avLst/>
          </a:prstGeom>
          <a:blipFill>
            <a:blip r:embed="rId4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lnSpc>
                <a:spcPct val="70000"/>
              </a:lnSpc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I</a:t>
            </a:r>
          </a:p>
        </p:txBody>
      </p:sp>
      <p:sp>
        <p:nvSpPr>
          <p:cNvPr id="196" name="Shape 196"/>
          <p:cNvSpPr/>
          <p:nvPr/>
        </p:nvSpPr>
        <p:spPr>
          <a:xfrm>
            <a:off x="11404869" y="7919743"/>
            <a:ext cx="95068" cy="317915"/>
          </a:xfrm>
          <a:prstGeom prst="line">
            <a:avLst/>
          </a:prstGeom>
          <a:ln w="38100">
            <a:solidFill>
              <a:schemeClr val="accent5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97" name="Shape 197"/>
          <p:cNvSpPr/>
          <p:nvPr/>
        </p:nvSpPr>
        <p:spPr>
          <a:xfrm flipH="1">
            <a:off x="10566998" y="7691256"/>
            <a:ext cx="444589" cy="87965"/>
          </a:xfrm>
          <a:prstGeom prst="line">
            <a:avLst/>
          </a:prstGeom>
          <a:ln w="38100">
            <a:solidFill>
              <a:schemeClr val="accent5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grpSp>
        <p:nvGrpSpPr>
          <p:cNvPr id="5" name="Group 4"/>
          <p:cNvGrpSpPr/>
          <p:nvPr/>
        </p:nvGrpSpPr>
        <p:grpSpPr>
          <a:xfrm>
            <a:off x="2604053" y="4735591"/>
            <a:ext cx="7647757" cy="1533964"/>
            <a:chOff x="2643809" y="4735591"/>
            <a:chExt cx="7647757" cy="1533964"/>
          </a:xfrm>
        </p:grpSpPr>
        <p:sp>
          <p:nvSpPr>
            <p:cNvPr id="176" name="Shape 176"/>
            <p:cNvSpPr/>
            <p:nvPr/>
          </p:nvSpPr>
          <p:spPr>
            <a:xfrm>
              <a:off x="2643809" y="4735591"/>
              <a:ext cx="7647757" cy="1533964"/>
            </a:xfrm>
            <a:prstGeom prst="roundRect">
              <a:avLst>
                <a:gd name="adj" fmla="val 15853"/>
              </a:avLst>
            </a:prstGeom>
            <a:solidFill>
              <a:srgbClr val="FFF7C3"/>
            </a:solidFill>
            <a:ln w="12700">
              <a:solidFill>
                <a:schemeClr val="accent3">
                  <a:satOff val="18648"/>
                  <a:lumOff val="5971"/>
                </a:schemeClr>
              </a:solidFill>
              <a:miter lim="400000"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</p:spPr>
          <p:txBody>
            <a:bodyPr lIns="50800" tIns="50800" rIns="50800" bIns="50800" anchor="ctr"/>
            <a:lstStyle/>
            <a:p>
              <a:pPr>
                <a:defRPr sz="24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80" name="Shape 180"/>
            <p:cNvSpPr/>
            <p:nvPr/>
          </p:nvSpPr>
          <p:spPr>
            <a:xfrm>
              <a:off x="3094108" y="5212432"/>
              <a:ext cx="4433144" cy="64770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anchor="ctr">
              <a:spAutoFit/>
            </a:bodyPr>
            <a:lstStyle>
              <a:lvl1pPr>
                <a:defRPr b="1">
                  <a:latin typeface="+mj-lt"/>
                  <a:ea typeface="+mj-ea"/>
                  <a:cs typeface="+mj-cs"/>
                  <a:sym typeface="Helvetica"/>
                </a:defRPr>
              </a:lvl1pPr>
            </a:lstStyle>
            <a:p>
              <a:r>
                <a:t>Infection spreads if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/>
                <p:cNvSpPr txBox="1"/>
                <p:nvPr/>
              </p:nvSpPr>
              <p:spPr>
                <a:xfrm>
                  <a:off x="7527252" y="4952576"/>
                  <a:ext cx="2722990" cy="113883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ctr">
                  <a:spAutoFit/>
                </a:bodyPr>
                <a:lstStyle/>
                <a:p>
                  <a:pPr marL="0" marR="0" indent="0" algn="ctr" defTabSz="5842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36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charset="0"/>
                                <a:ea typeface="+mn-ea"/>
                                <a:cs typeface="+mn-cs"/>
                                <a:sym typeface="Helvetica Light"/>
                              </a:rPr>
                            </m:ctrlPr>
                          </m:sSubPr>
                          <m:e>
                            <m:r>
                              <a:rPr kumimoji="0" lang="en-US" sz="36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charset="0"/>
                                <a:ea typeface="+mn-ea"/>
                                <a:cs typeface="+mn-cs"/>
                                <a:sym typeface="Helvetica Light"/>
                              </a:rPr>
                              <m:t>𝑅</m:t>
                            </m:r>
                          </m:e>
                          <m:sub>
                            <m:r>
                              <a:rPr kumimoji="0" lang="en-US" sz="36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charset="0"/>
                                <a:ea typeface="+mn-ea"/>
                                <a:cs typeface="+mn-cs"/>
                                <a:sym typeface="Helvetica Light"/>
                              </a:rPr>
                              <m:t>0</m:t>
                            </m:r>
                          </m:sub>
                        </m:sSub>
                        <m:r>
                          <a:rPr kumimoji="0" lang="en-US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charset="0"/>
                            <a:ea typeface="+mn-ea"/>
                            <a:cs typeface="+mn-cs"/>
                            <a:sym typeface="Helvetica Light"/>
                          </a:rPr>
                          <m:t>= </m:t>
                        </m:r>
                        <m:f>
                          <m:fPr>
                            <m:ctrlPr>
                              <a:rPr kumimoji="0" lang="mr-IN" sz="36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charset="0"/>
                                <a:ea typeface="+mn-ea"/>
                                <a:cs typeface="+mn-cs"/>
                                <a:sym typeface="Helvetica Light"/>
                              </a:rPr>
                            </m:ctrlPr>
                          </m:fPr>
                          <m:num>
                            <m:r>
                              <a:rPr kumimoji="0" lang="en-US" sz="36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charset="0"/>
                                <a:ea typeface="+mn-ea"/>
                                <a:cs typeface="+mn-cs"/>
                                <a:sym typeface="Helvetica Light"/>
                              </a:rPr>
                              <m:t>𝛽</m:t>
                            </m:r>
                            <m:r>
                              <a:rPr kumimoji="0" lang="en-US" sz="36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charset="0"/>
                                <a:ea typeface="+mn-ea"/>
                                <a:cs typeface="+mn-cs"/>
                                <a:sym typeface="Helvetica Light"/>
                              </a:rPr>
                              <m:t>𝑆</m:t>
                            </m:r>
                          </m:num>
                          <m:den>
                            <m:r>
                              <a:rPr kumimoji="0" lang="en-US" sz="36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charset="0"/>
                                <a:ea typeface="+mn-ea"/>
                                <a:cs typeface="+mn-cs"/>
                                <a:sym typeface="Helvetica Light"/>
                              </a:rPr>
                              <m:t>𝛾</m:t>
                            </m:r>
                          </m:den>
                        </m:f>
                        <m:r>
                          <a:rPr kumimoji="0" lang="en-US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charset="0"/>
                            <a:ea typeface="+mn-ea"/>
                            <a:cs typeface="+mn-cs"/>
                            <a:sym typeface="Helvetica Light"/>
                          </a:rPr>
                          <m:t>&gt;1</m:t>
                        </m:r>
                      </m:oMath>
                    </m:oMathPara>
                  </a14:m>
                  <a:endParaRPr kumimoji="0" lang="en-US" sz="36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Light"/>
                  </a:endParaRPr>
                </a:p>
              </p:txBody>
            </p:sp>
          </mc:Choice>
          <mc:Fallback xmlns="">
            <p:sp>
              <p:nvSpPr>
                <p:cNvPr id="4" name="TextBox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27252" y="4952576"/>
                  <a:ext cx="2722990" cy="1138838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0250242" y="8993316"/>
                <a:ext cx="1486048" cy="55399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𝑅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0</m:t>
                          </m:r>
                        </m:sub>
                      </m:sSub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=2</m:t>
                      </m:r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0242" y="8993316"/>
                <a:ext cx="1486048" cy="553998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2130393" y="2432389"/>
                <a:ext cx="4160754" cy="1605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bg-BG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</m:ctrlPr>
                        </m:fPr>
                        <m:num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𝑑𝐼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 </m:t>
                          </m:r>
                        </m:num>
                        <m:den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𝑑𝑡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 </m:t>
                          </m:r>
                        </m:den>
                      </m:f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=</m:t>
                      </m:r>
                      <m:d>
                        <m:d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</m:ctrlPr>
                        </m:d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𝛽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𝑆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 −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𝛾</m:t>
                          </m:r>
                        </m:e>
                      </m:d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𝐼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&gt;0</m:t>
                      </m:r>
                    </m:oMath>
                  </m:oMathPara>
                </a14:m>
                <a:endParaRPr kumimoji="0" lang="en-US" sz="3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0393" y="2432389"/>
                <a:ext cx="4160754" cy="1605824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7228929" y="2189351"/>
                <a:ext cx="6808682" cy="225702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kumimoji="0" lang="en-US" sz="2800" b="0" i="1" u="none" strike="noStrike" cap="none" spc="0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Cambria Math" charset="0"/>
                        <a:ea typeface="+mj-ea"/>
                        <a:sym typeface="Helvetica Light"/>
                      </a:rPr>
                      <m:t>𝛽</m:t>
                    </m:r>
                    <m:r>
                      <a:rPr kumimoji="0" lang="en-US" sz="2800" b="0" i="1" u="none" strike="noStrike" cap="none" spc="0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Cambria Math" charset="0"/>
                        <a:ea typeface="+mj-ea"/>
                        <a:sym typeface="Helvetica Light"/>
                      </a:rPr>
                      <m:t>: </m:t>
                    </m:r>
                  </m:oMath>
                </a14:m>
                <a:r>
                  <a:rPr kumimoji="0" lang="en-US" sz="2800" b="0" i="0" u="none" strike="noStrike" cap="none" spc="0" normalizeH="0" baseline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j-ea"/>
                    <a:ea typeface="+mj-ea"/>
                    <a:sym typeface="Helvetica Light"/>
                  </a:rPr>
                  <a:t>Infection rate</a:t>
                </a:r>
                <a:r>
                  <a:rPr kumimoji="0" lang="en-US" sz="2800" b="0" i="0" u="none" strike="noStrike" cap="none" spc="0" normalizeH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j-ea"/>
                    <a:ea typeface="+mj-ea"/>
                    <a:sym typeface="Helvetica Light"/>
                  </a:rPr>
                  <a:t> </a:t>
                </a:r>
                <a:endParaRPr kumimoji="0" lang="en-US" sz="28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ea"/>
                  <a:ea typeface="+mj-ea"/>
                  <a:sym typeface="Helvetica Light"/>
                </a:endParaRPr>
              </a:p>
              <a:p>
                <a:pPr marL="0" marR="0" indent="0" algn="l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800" dirty="0" smtClean="0"/>
                  <a:t>    [units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latin typeface="Cambria Math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800" b="0" i="1" smtClean="0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charset="0"/>
                              </a:rPr>
                              <m:t>𝑝𝑒𝑟𝑠𝑜𝑛</m:t>
                            </m:r>
                          </m:e>
                        </m:d>
                      </m:e>
                      <m:sup>
                        <m:r>
                          <a:rPr lang="en-US" sz="2800" b="0" i="1" smtClean="0">
                            <a:latin typeface="Cambria Math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sz="2800" b="0" i="1" smtClean="0">
                            <a:latin typeface="Cambria Math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800" b="0" i="1" smtClean="0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charset="0"/>
                              </a:rPr>
                              <m:t>𝑡𝑖𝑚𝑒</m:t>
                            </m:r>
                          </m:e>
                        </m:d>
                      </m:e>
                      <m:sup>
                        <m:r>
                          <a:rPr lang="en-US" sz="2800" b="0" i="1" smtClean="0">
                            <a:latin typeface="Cambria Math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800" dirty="0" smtClean="0"/>
                  <a:t>]</a:t>
                </a:r>
              </a:p>
              <a:p>
                <a:pPr marL="0" marR="0" indent="0" algn="l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n-US" sz="2800" dirty="0"/>
              </a:p>
              <a:p>
                <a:pPr marL="0" marR="0" indent="0" algn="l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kumimoji="0" lang="en-US" sz="2800" b="0" i="1" u="none" strike="noStrike" cap="none" spc="0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Cambria Math" charset="0"/>
                        <a:sym typeface="Helvetica Light"/>
                      </a:rPr>
                      <m:t>𝛾</m:t>
                    </m:r>
                    <m:r>
                      <a:rPr kumimoji="0" lang="en-US" sz="2800" b="0" i="1" u="none" strike="noStrike" cap="none" spc="0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Cambria Math" charset="0"/>
                        <a:sym typeface="Helvetica Light"/>
                      </a:rPr>
                      <m:t>: </m:t>
                    </m:r>
                  </m:oMath>
                </a14:m>
                <a:r>
                  <a:rPr kumimoji="0" lang="en-US" sz="2800" b="0" i="0" u="none" strike="noStrike" cap="none" spc="0" normalizeH="0" baseline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j-lt"/>
                    <a:sym typeface="Helvetica Light"/>
                  </a:rPr>
                  <a:t>Recovery</a:t>
                </a:r>
                <a:r>
                  <a:rPr kumimoji="0" lang="en-US" sz="2800" b="0" i="0" u="none" strike="noStrike" cap="none" spc="0" normalizeH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j-lt"/>
                    <a:sym typeface="Helvetica Light"/>
                  </a:rPr>
                  <a:t> rate</a:t>
                </a:r>
              </a:p>
              <a:p>
                <a:pPr algn="l"/>
                <a:r>
                  <a:rPr kumimoji="0" lang="en-US" sz="2800" b="0" i="0" u="none" strike="noStrike" cap="none" spc="0" normalizeH="0" baseline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sym typeface="Helvetica Light"/>
                  </a:rPr>
                  <a:t>    [</a:t>
                </a:r>
                <a:r>
                  <a:rPr lang="en-US" sz="2800" dirty="0" smtClean="0"/>
                  <a:t> </a:t>
                </a:r>
                <a:r>
                  <a:rPr lang="en-US" sz="2800" dirty="0"/>
                  <a:t>units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800" i="1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charset="0"/>
                              </a:rPr>
                              <m:t>𝑡𝑖𝑚𝑒</m:t>
                            </m:r>
                          </m:e>
                        </m:d>
                      </m:e>
                      <m:sup>
                        <m:r>
                          <a:rPr lang="en-US" sz="2800" i="1">
                            <a:latin typeface="Cambria Math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kumimoji="0" lang="en-US" sz="2800" b="0" i="0" u="none" strike="noStrike" cap="none" spc="0" normalizeH="0" baseline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sym typeface="Helvetica Light"/>
                  </a:rPr>
                  <a:t>]</a:t>
                </a:r>
                <a:endParaRPr kumimoji="0" lang="en-US" sz="2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sym typeface="Helvetica Light"/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8929" y="2189351"/>
                <a:ext cx="6808682" cy="2257028"/>
              </a:xfrm>
              <a:prstGeom prst="rect">
                <a:avLst/>
              </a:prstGeom>
              <a:blipFill rotWithShape="0">
                <a:blip r:embed="rId9"/>
                <a:stretch>
                  <a:fillRect t="-2162" b="-729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>
            <a:spLocks noGrp="1"/>
          </p:cNvSpPr>
          <p:nvPr>
            <p:ph type="body" idx="13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Rate of spreading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4" name="Shape 204"/>
              <p:cNvSpPr/>
              <p:nvPr/>
            </p:nvSpPr>
            <p:spPr>
              <a:xfrm>
                <a:off x="1677362" y="6698616"/>
                <a:ext cx="9650078" cy="2318583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anchor="ctr">
                <a:spAutoFit/>
              </a:bodyPr>
              <a:lstStyle/>
              <a:p>
                <a:pPr>
                  <a:defRPr b="1">
                    <a:latin typeface="+mj-lt"/>
                    <a:ea typeface="+mj-ea"/>
                    <a:cs typeface="+mj-cs"/>
                    <a:sym typeface="Helvetica"/>
                  </a:defRPr>
                </a:pPr>
                <a:r>
                  <a:rPr lang="en-US" dirty="0" smtClean="0"/>
                  <a:t>Techniques to stop the spread of infection:</a:t>
                </a:r>
              </a:p>
              <a:p>
                <a:pPr marL="635000" indent="-635000" algn="l">
                  <a:buSzPct val="100000"/>
                  <a:buAutoNum type="arabicPeriod"/>
                  <a:defRPr b="1">
                    <a:latin typeface="+mj-lt"/>
                    <a:ea typeface="+mj-ea"/>
                    <a:cs typeface="+mj-cs"/>
                    <a:sym typeface="Helvetica"/>
                  </a:defRPr>
                </a:pPr>
                <a:r>
                  <a:rPr lang="en-US" dirty="0" smtClean="0"/>
                  <a:t>Reduce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charset="0"/>
                      </a:rPr>
                      <m:t>𝜷</m:t>
                    </m:r>
                  </m:oMath>
                </a14:m>
                <a:endParaRPr lang="en-US" dirty="0"/>
              </a:p>
              <a:p>
                <a:pPr marL="635000" indent="-635000" algn="l">
                  <a:buSzPct val="100000"/>
                  <a:buAutoNum type="arabicPeriod"/>
                  <a:defRPr b="1">
                    <a:latin typeface="+mj-lt"/>
                    <a:ea typeface="+mj-ea"/>
                    <a:cs typeface="+mj-cs"/>
                    <a:sym typeface="Helvetica"/>
                  </a:defRPr>
                </a:pPr>
                <a:r>
                  <a:rPr lang="en-US" dirty="0" smtClean="0"/>
                  <a:t>Increase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charset="0"/>
                      </a:rPr>
                      <m:t>𝜸</m:t>
                    </m:r>
                  </m:oMath>
                </a14:m>
                <a:r>
                  <a:rPr lang="en-US" dirty="0" smtClean="0"/>
                  <a:t> </a:t>
                </a:r>
                <a:endParaRPr lang="en-US" dirty="0"/>
              </a:p>
              <a:p>
                <a:pPr marL="635000" indent="-635000" algn="l">
                  <a:buSzPct val="100000"/>
                  <a:buAutoNum type="arabicPeriod"/>
                  <a:defRPr b="1">
                    <a:latin typeface="+mj-lt"/>
                    <a:ea typeface="+mj-ea"/>
                    <a:cs typeface="+mj-cs"/>
                    <a:sym typeface="Helvetica"/>
                  </a:defRPr>
                </a:pPr>
                <a:r>
                  <a:rPr lang="en-US" dirty="0"/>
                  <a:t>Reduce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charset="0"/>
                      </a:rPr>
                      <m:t>𝑺</m:t>
                    </m:r>
                  </m:oMath>
                </a14:m>
                <a:endParaRPr b="0" i="1" dirty="0"/>
              </a:p>
            </p:txBody>
          </p:sp>
        </mc:Choice>
        <mc:Fallback xmlns="">
          <p:sp>
            <p:nvSpPr>
              <p:cNvPr id="204" name="Shape 20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7362" y="6698616"/>
                <a:ext cx="9650078" cy="2318583"/>
              </a:xfrm>
              <a:prstGeom prst="rect">
                <a:avLst/>
              </a:prstGeom>
              <a:blipFill rotWithShape="0">
                <a:blip r:embed="rId3"/>
                <a:stretch>
                  <a:fillRect l="-2337" t="-3421" r="-1453" b="-8684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8" name="Shape 208"/>
          <p:cNvSpPr/>
          <p:nvPr/>
        </p:nvSpPr>
        <p:spPr>
          <a:xfrm>
            <a:off x="6025682" y="7349906"/>
            <a:ext cx="6096633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700" b="1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rPr dirty="0"/>
              <a:t>(</a:t>
            </a:r>
            <a:r>
              <a:rPr dirty="0" smtClean="0"/>
              <a:t>quarantining</a:t>
            </a:r>
            <a:r>
              <a:rPr dirty="0"/>
              <a:t>, restricting movement)</a:t>
            </a:r>
          </a:p>
        </p:txBody>
      </p:sp>
      <p:sp>
        <p:nvSpPr>
          <p:cNvPr id="209" name="Shape 209"/>
          <p:cNvSpPr/>
          <p:nvPr/>
        </p:nvSpPr>
        <p:spPr>
          <a:xfrm>
            <a:off x="6047762" y="7873943"/>
            <a:ext cx="4210348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2700" b="1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rPr dirty="0"/>
              <a:t>(treating infected people)</a:t>
            </a:r>
          </a:p>
        </p:txBody>
      </p:sp>
      <p:sp>
        <p:nvSpPr>
          <p:cNvPr id="210" name="Shape 210"/>
          <p:cNvSpPr/>
          <p:nvPr/>
        </p:nvSpPr>
        <p:spPr>
          <a:xfrm>
            <a:off x="6070430" y="8449463"/>
            <a:ext cx="2237792" cy="518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2700" b="1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rPr dirty="0"/>
              <a:t>(</a:t>
            </a:r>
            <a:r>
              <a:rPr dirty="0" smtClean="0"/>
              <a:t>vaccinat</a:t>
            </a:r>
            <a:r>
              <a:rPr lang="en-US" dirty="0" smtClean="0"/>
              <a:t>ing</a:t>
            </a:r>
            <a:r>
              <a:rPr dirty="0" smtClean="0"/>
              <a:t>)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130393" y="2432389"/>
                <a:ext cx="4160754" cy="1605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bg-BG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</m:ctrlPr>
                        </m:fPr>
                        <m:num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𝑑𝐼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 </m:t>
                          </m:r>
                        </m:num>
                        <m:den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𝑑𝑡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 </m:t>
                          </m:r>
                        </m:den>
                      </m:f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=</m:t>
                      </m:r>
                      <m:d>
                        <m:d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</m:ctrlPr>
                        </m:d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𝛽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𝑆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 −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𝛾</m:t>
                          </m:r>
                        </m:e>
                      </m:d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𝐼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&gt;0</m:t>
                      </m:r>
                    </m:oMath>
                  </m:oMathPara>
                </a14:m>
                <a:endParaRPr kumimoji="0" lang="en-US" sz="3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0393" y="2432389"/>
                <a:ext cx="4160754" cy="160582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7228929" y="2189351"/>
                <a:ext cx="6808682" cy="225702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kumimoji="0" lang="en-US" sz="2800" b="0" i="1" u="none" strike="noStrike" cap="none" spc="0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Cambria Math" charset="0"/>
                        <a:ea typeface="+mj-ea"/>
                        <a:sym typeface="Helvetica Light"/>
                      </a:rPr>
                      <m:t>𝛽</m:t>
                    </m:r>
                    <m:r>
                      <a:rPr kumimoji="0" lang="en-US" sz="2800" b="0" i="1" u="none" strike="noStrike" cap="none" spc="0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Cambria Math" charset="0"/>
                        <a:ea typeface="+mj-ea"/>
                        <a:sym typeface="Helvetica Light"/>
                      </a:rPr>
                      <m:t>: </m:t>
                    </m:r>
                  </m:oMath>
                </a14:m>
                <a:r>
                  <a:rPr kumimoji="0" lang="en-US" sz="2800" b="0" i="0" u="none" strike="noStrike" cap="none" spc="0" normalizeH="0" baseline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j-ea"/>
                    <a:ea typeface="+mj-ea"/>
                    <a:sym typeface="Helvetica Light"/>
                  </a:rPr>
                  <a:t>Infection rate</a:t>
                </a:r>
                <a:r>
                  <a:rPr kumimoji="0" lang="en-US" sz="2800" b="0" i="0" u="none" strike="noStrike" cap="none" spc="0" normalizeH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j-ea"/>
                    <a:ea typeface="+mj-ea"/>
                    <a:sym typeface="Helvetica Light"/>
                  </a:rPr>
                  <a:t> </a:t>
                </a:r>
                <a:endParaRPr kumimoji="0" lang="en-US" sz="28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ea"/>
                  <a:ea typeface="+mj-ea"/>
                  <a:sym typeface="Helvetica Light"/>
                </a:endParaRPr>
              </a:p>
              <a:p>
                <a:pPr marL="0" marR="0" indent="0" algn="l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800" dirty="0" smtClean="0"/>
                  <a:t>    [units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latin typeface="Cambria Math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800" b="0" i="1" smtClean="0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charset="0"/>
                              </a:rPr>
                              <m:t>𝑝𝑒𝑟𝑠𝑜𝑛</m:t>
                            </m:r>
                          </m:e>
                        </m:d>
                      </m:e>
                      <m:sup>
                        <m:r>
                          <a:rPr lang="en-US" sz="2800" b="0" i="1" smtClean="0">
                            <a:latin typeface="Cambria Math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sz="2800" b="0" i="1" smtClean="0">
                            <a:latin typeface="Cambria Math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800" b="0" i="1" smtClean="0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charset="0"/>
                              </a:rPr>
                              <m:t>𝑡𝑖𝑚𝑒</m:t>
                            </m:r>
                          </m:e>
                        </m:d>
                      </m:e>
                      <m:sup>
                        <m:r>
                          <a:rPr lang="en-US" sz="2800" b="0" i="1" smtClean="0">
                            <a:latin typeface="Cambria Math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800" dirty="0" smtClean="0"/>
                  <a:t>]</a:t>
                </a:r>
              </a:p>
              <a:p>
                <a:pPr marL="0" marR="0" indent="0" algn="l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n-US" sz="2800" dirty="0"/>
              </a:p>
              <a:p>
                <a:pPr marL="0" marR="0" indent="0" algn="l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kumimoji="0" lang="en-US" sz="2800" b="0" i="1" u="none" strike="noStrike" cap="none" spc="0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Cambria Math" charset="0"/>
                        <a:sym typeface="Helvetica Light"/>
                      </a:rPr>
                      <m:t>𝛾</m:t>
                    </m:r>
                    <m:r>
                      <a:rPr kumimoji="0" lang="en-US" sz="2800" b="0" i="1" u="none" strike="noStrike" cap="none" spc="0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Cambria Math" charset="0"/>
                        <a:sym typeface="Helvetica Light"/>
                      </a:rPr>
                      <m:t>: </m:t>
                    </m:r>
                  </m:oMath>
                </a14:m>
                <a:r>
                  <a:rPr kumimoji="0" lang="en-US" sz="2800" b="0" i="0" u="none" strike="noStrike" cap="none" spc="0" normalizeH="0" baseline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j-lt"/>
                    <a:sym typeface="Helvetica Light"/>
                  </a:rPr>
                  <a:t>Recovery</a:t>
                </a:r>
                <a:r>
                  <a:rPr kumimoji="0" lang="en-US" sz="2800" b="0" i="0" u="none" strike="noStrike" cap="none" spc="0" normalizeH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j-lt"/>
                    <a:sym typeface="Helvetica Light"/>
                  </a:rPr>
                  <a:t> rate</a:t>
                </a:r>
              </a:p>
              <a:p>
                <a:pPr algn="l"/>
                <a:r>
                  <a:rPr kumimoji="0" lang="en-US" sz="2800" b="0" i="0" u="none" strike="noStrike" cap="none" spc="0" normalizeH="0" baseline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sym typeface="Helvetica Light"/>
                  </a:rPr>
                  <a:t>    [</a:t>
                </a:r>
                <a:r>
                  <a:rPr lang="en-US" sz="2800" dirty="0" smtClean="0"/>
                  <a:t> </a:t>
                </a:r>
                <a:r>
                  <a:rPr lang="en-US" sz="2800" dirty="0"/>
                  <a:t>units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800" i="1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charset="0"/>
                              </a:rPr>
                              <m:t>𝑡𝑖𝑚𝑒</m:t>
                            </m:r>
                          </m:e>
                        </m:d>
                      </m:e>
                      <m:sup>
                        <m:r>
                          <a:rPr lang="en-US" sz="2800" i="1">
                            <a:latin typeface="Cambria Math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kumimoji="0" lang="en-US" sz="2800" b="0" i="0" u="none" strike="noStrike" cap="none" spc="0" normalizeH="0" baseline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sym typeface="Helvetica Light"/>
                  </a:rPr>
                  <a:t>]</a:t>
                </a:r>
                <a:endParaRPr kumimoji="0" lang="en-US" sz="2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sym typeface="Helvetica Light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8929" y="2189351"/>
                <a:ext cx="6808682" cy="2257028"/>
              </a:xfrm>
              <a:prstGeom prst="rect">
                <a:avLst/>
              </a:prstGeom>
              <a:blipFill rotWithShape="0">
                <a:blip r:embed="rId5"/>
                <a:stretch>
                  <a:fillRect t="-2162" b="-729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/>
          <p:cNvGrpSpPr/>
          <p:nvPr/>
        </p:nvGrpSpPr>
        <p:grpSpPr>
          <a:xfrm>
            <a:off x="2604053" y="4735591"/>
            <a:ext cx="7647757" cy="1533964"/>
            <a:chOff x="2643809" y="4735591"/>
            <a:chExt cx="7647757" cy="1533964"/>
          </a:xfrm>
        </p:grpSpPr>
        <p:sp>
          <p:nvSpPr>
            <p:cNvPr id="17" name="Shape 176"/>
            <p:cNvSpPr/>
            <p:nvPr/>
          </p:nvSpPr>
          <p:spPr>
            <a:xfrm>
              <a:off x="2643809" y="4735591"/>
              <a:ext cx="7647757" cy="1533964"/>
            </a:xfrm>
            <a:prstGeom prst="roundRect">
              <a:avLst>
                <a:gd name="adj" fmla="val 15853"/>
              </a:avLst>
            </a:prstGeom>
            <a:solidFill>
              <a:srgbClr val="FFF7C3"/>
            </a:solidFill>
            <a:ln w="12700">
              <a:solidFill>
                <a:schemeClr val="accent3">
                  <a:satOff val="18648"/>
                  <a:lumOff val="5971"/>
                </a:schemeClr>
              </a:solidFill>
              <a:miter lim="400000"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</p:spPr>
          <p:txBody>
            <a:bodyPr lIns="50800" tIns="50800" rIns="50800" bIns="50800" anchor="ctr"/>
            <a:lstStyle/>
            <a:p>
              <a:pPr>
                <a:defRPr sz="24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8" name="Shape 180"/>
            <p:cNvSpPr/>
            <p:nvPr/>
          </p:nvSpPr>
          <p:spPr>
            <a:xfrm>
              <a:off x="3094108" y="5212432"/>
              <a:ext cx="4433144" cy="64770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anchor="ctr">
              <a:spAutoFit/>
            </a:bodyPr>
            <a:lstStyle>
              <a:lvl1pPr>
                <a:defRPr b="1">
                  <a:latin typeface="+mj-lt"/>
                  <a:ea typeface="+mj-ea"/>
                  <a:cs typeface="+mj-cs"/>
                  <a:sym typeface="Helvetica"/>
                </a:defRPr>
              </a:lvl1pPr>
            </a:lstStyle>
            <a:p>
              <a:r>
                <a:rPr dirty="0"/>
                <a:t>Infection spreads if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/>
                <p:cNvSpPr txBox="1"/>
                <p:nvPr/>
              </p:nvSpPr>
              <p:spPr>
                <a:xfrm>
                  <a:off x="7527252" y="4952576"/>
                  <a:ext cx="2722990" cy="113883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ctr">
                  <a:spAutoFit/>
                </a:bodyPr>
                <a:lstStyle/>
                <a:p>
                  <a:pPr marL="0" marR="0" indent="0" algn="ctr" defTabSz="5842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36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charset="0"/>
                                <a:ea typeface="+mn-ea"/>
                                <a:cs typeface="+mn-cs"/>
                                <a:sym typeface="Helvetica Light"/>
                              </a:rPr>
                            </m:ctrlPr>
                          </m:sSubPr>
                          <m:e>
                            <m:r>
                              <a:rPr kumimoji="0" lang="en-US" sz="36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charset="0"/>
                                <a:ea typeface="+mn-ea"/>
                                <a:cs typeface="+mn-cs"/>
                                <a:sym typeface="Helvetica Light"/>
                              </a:rPr>
                              <m:t>𝑅</m:t>
                            </m:r>
                          </m:e>
                          <m:sub>
                            <m:r>
                              <a:rPr kumimoji="0" lang="en-US" sz="36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charset="0"/>
                                <a:ea typeface="+mn-ea"/>
                                <a:cs typeface="+mn-cs"/>
                                <a:sym typeface="Helvetica Light"/>
                              </a:rPr>
                              <m:t>0</m:t>
                            </m:r>
                          </m:sub>
                        </m:sSub>
                        <m:r>
                          <a:rPr kumimoji="0" lang="en-US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charset="0"/>
                            <a:ea typeface="+mn-ea"/>
                            <a:cs typeface="+mn-cs"/>
                            <a:sym typeface="Helvetica Light"/>
                          </a:rPr>
                          <m:t>= </m:t>
                        </m:r>
                        <m:f>
                          <m:fPr>
                            <m:ctrlPr>
                              <a:rPr kumimoji="0" lang="mr-IN" sz="36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charset="0"/>
                                <a:ea typeface="+mn-ea"/>
                                <a:cs typeface="+mn-cs"/>
                                <a:sym typeface="Helvetica Light"/>
                              </a:rPr>
                            </m:ctrlPr>
                          </m:fPr>
                          <m:num>
                            <m:r>
                              <a:rPr kumimoji="0" lang="en-US" sz="36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charset="0"/>
                                <a:ea typeface="+mn-ea"/>
                                <a:cs typeface="+mn-cs"/>
                                <a:sym typeface="Helvetica Light"/>
                              </a:rPr>
                              <m:t>𝛽</m:t>
                            </m:r>
                            <m:r>
                              <a:rPr kumimoji="0" lang="en-US" sz="36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charset="0"/>
                                <a:ea typeface="+mn-ea"/>
                                <a:cs typeface="+mn-cs"/>
                                <a:sym typeface="Helvetica Light"/>
                              </a:rPr>
                              <m:t>𝑆</m:t>
                            </m:r>
                          </m:num>
                          <m:den>
                            <m:r>
                              <a:rPr kumimoji="0" lang="en-US" sz="36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charset="0"/>
                                <a:ea typeface="+mn-ea"/>
                                <a:cs typeface="+mn-cs"/>
                                <a:sym typeface="Helvetica Light"/>
                              </a:rPr>
                              <m:t>𝛾</m:t>
                            </m:r>
                          </m:den>
                        </m:f>
                        <m:r>
                          <a:rPr kumimoji="0" lang="en-US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charset="0"/>
                            <a:ea typeface="+mn-ea"/>
                            <a:cs typeface="+mn-cs"/>
                            <a:sym typeface="Helvetica Light"/>
                          </a:rPr>
                          <m:t>&gt;1</m:t>
                        </m:r>
                      </m:oMath>
                    </m:oMathPara>
                  </a14:m>
                  <a:endParaRPr kumimoji="0" lang="en-US" sz="36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Light"/>
                  </a:endParaRPr>
                </a:p>
              </p:txBody>
            </p:sp>
          </mc:Choice>
          <mc:Fallback xmlns=""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27252" y="4952576"/>
                  <a:ext cx="2722990" cy="1138838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8" grpId="0" animBg="1"/>
      <p:bldP spid="209" grpId="0" animBg="1"/>
      <p:bldP spid="210" grpId="0" animBg="1"/>
      <p:bldP spid="14" grpId="0"/>
      <p:bldP spid="1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21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Vaccination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3" name="Shape 213"/>
              <p:cNvSpPr>
                <a:spLocks noGrp="1"/>
              </p:cNvSpPr>
              <p:nvPr>
                <p:ph type="body" sz="half" idx="1"/>
              </p:nvPr>
            </p:nvSpPr>
            <p:spPr>
              <a:xfrm>
                <a:off x="952500" y="5036152"/>
                <a:ext cx="11099800" cy="3853848"/>
              </a:xfrm>
              <a:prstGeom prst="rect">
                <a:avLst/>
              </a:prstGeom>
            </p:spPr>
            <p:txBody>
              <a:bodyPr/>
              <a:lstStyle/>
              <a:p>
                <a:pPr marL="404495" indent="-404495" defTabSz="531622">
                  <a:spcBef>
                    <a:spcPts val="2300"/>
                  </a:spcBef>
                  <a:defRPr sz="3276"/>
                </a:pPr>
                <a:r>
                  <a:rPr lang="en-US" dirty="0" smtClean="0"/>
                  <a:t>Vaccination equivalent to moving a fraction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charset="0"/>
                      </a:rPr>
                      <m:t>𝒑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/>
                  <a:t>of the population from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charset="0"/>
                      </a:rPr>
                      <m:t>𝑺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/>
                  <a:t>to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charset="0"/>
                      </a:rPr>
                      <m:t>𝑹</m:t>
                    </m:r>
                  </m:oMath>
                </a14:m>
                <a:endParaRPr lang="en-US" dirty="0"/>
              </a:p>
              <a:p>
                <a:pPr marL="404495" indent="-404495" defTabSz="531622">
                  <a:spcBef>
                    <a:spcPts val="2300"/>
                  </a:spcBef>
                  <a:defRPr sz="3276"/>
                </a:pPr>
                <a:r>
                  <a:rPr lang="en-US" dirty="0"/>
                  <a:t>Aim to reduce susceptibles to critical fraction</a:t>
                </a:r>
              </a:p>
              <a:p>
                <a:pPr marL="0" indent="0" defTabSz="531622">
                  <a:spcBef>
                    <a:spcPts val="2300"/>
                  </a:spcBef>
                  <a:buNone/>
                  <a:defRPr sz="3276"/>
                </a:pPr>
                <a:endParaRPr lang="en-US" dirty="0"/>
              </a:p>
              <a:p>
                <a:pPr marL="404495" indent="-404495" defTabSz="531622">
                  <a:spcBef>
                    <a:spcPts val="2300"/>
                  </a:spcBef>
                  <a:defRPr sz="3276"/>
                </a:pPr>
                <a:r>
                  <a:rPr lang="en-US" dirty="0"/>
                  <a:t>Critical vaccination fraction is therefore</a:t>
                </a:r>
                <a:br>
                  <a:rPr lang="en-US" dirty="0"/>
                </a:br>
                <a:endParaRPr dirty="0"/>
              </a:p>
            </p:txBody>
          </p:sp>
        </mc:Choice>
        <mc:Fallback xmlns="">
          <p:sp>
            <p:nvSpPr>
              <p:cNvPr id="213" name="Shape 21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952500" y="5036152"/>
                <a:ext cx="11099800" cy="3853848"/>
              </a:xfrm>
              <a:prstGeom prst="rect">
                <a:avLst/>
              </a:prstGeom>
              <a:blipFill rotWithShape="0">
                <a:blip r:embed="rId2"/>
                <a:stretch>
                  <a:fillRect l="-1263" t="-9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4" name="Shape 214"/>
          <p:cNvSpPr/>
          <p:nvPr/>
        </p:nvSpPr>
        <p:spPr>
          <a:xfrm>
            <a:off x="3596307" y="2362274"/>
            <a:ext cx="1394949" cy="1394948"/>
          </a:xfrm>
          <a:prstGeom prst="ellipse">
            <a:avLst/>
          </a:prstGeom>
          <a:blipFill>
            <a:blip r:embed="rId3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lnSpc>
                <a:spcPct val="90000"/>
              </a:lnSpc>
              <a:defRPr sz="60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S</a:t>
            </a:r>
          </a:p>
        </p:txBody>
      </p:sp>
      <p:sp>
        <p:nvSpPr>
          <p:cNvPr id="215" name="Shape 215"/>
          <p:cNvSpPr/>
          <p:nvPr/>
        </p:nvSpPr>
        <p:spPr>
          <a:xfrm>
            <a:off x="5804926" y="2362274"/>
            <a:ext cx="1394948" cy="1394948"/>
          </a:xfrm>
          <a:prstGeom prst="ellipse">
            <a:avLst/>
          </a:prstGeom>
          <a:blipFill>
            <a:blip r:embed="rId4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lnSpc>
                <a:spcPct val="90000"/>
              </a:lnSpc>
              <a:defRPr sz="60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I</a:t>
            </a:r>
          </a:p>
        </p:txBody>
      </p:sp>
      <p:sp>
        <p:nvSpPr>
          <p:cNvPr id="216" name="Shape 216"/>
          <p:cNvSpPr/>
          <p:nvPr/>
        </p:nvSpPr>
        <p:spPr>
          <a:xfrm>
            <a:off x="8013544" y="2362274"/>
            <a:ext cx="1394949" cy="1394948"/>
          </a:xfrm>
          <a:prstGeom prst="ellipse">
            <a:avLst/>
          </a:prstGeom>
          <a:solidFill>
            <a:srgbClr val="FFC000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lnSpc>
                <a:spcPct val="90000"/>
              </a:lnSpc>
              <a:defRPr sz="60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R</a:t>
            </a:r>
          </a:p>
        </p:txBody>
      </p:sp>
      <p:sp>
        <p:nvSpPr>
          <p:cNvPr id="217" name="Shape 217"/>
          <p:cNvSpPr/>
          <p:nvPr/>
        </p:nvSpPr>
        <p:spPr>
          <a:xfrm>
            <a:off x="5038300" y="3059748"/>
            <a:ext cx="719580" cy="1"/>
          </a:xfrm>
          <a:prstGeom prst="line">
            <a:avLst/>
          </a:prstGeom>
          <a:ln w="63500">
            <a:solidFill>
              <a:srgbClr val="53585F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218" name="Shape 218"/>
          <p:cNvSpPr/>
          <p:nvPr/>
        </p:nvSpPr>
        <p:spPr>
          <a:xfrm>
            <a:off x="7246919" y="3059748"/>
            <a:ext cx="719580" cy="1"/>
          </a:xfrm>
          <a:prstGeom prst="line">
            <a:avLst/>
          </a:prstGeom>
          <a:ln w="63500">
            <a:solidFill>
              <a:srgbClr val="53585F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219" name="Shape 219"/>
          <p:cNvSpPr/>
          <p:nvPr/>
        </p:nvSpPr>
        <p:spPr>
          <a:xfrm>
            <a:off x="4741302" y="3777406"/>
            <a:ext cx="3580473" cy="6473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021" extrusionOk="0">
                <a:moveTo>
                  <a:pt x="0" y="0"/>
                </a:moveTo>
                <a:cubicBezTo>
                  <a:pt x="2415" y="12619"/>
                  <a:pt x="6301" y="20381"/>
                  <a:pt x="10505" y="20984"/>
                </a:cubicBezTo>
                <a:cubicBezTo>
                  <a:pt x="14804" y="21600"/>
                  <a:pt x="18925" y="14673"/>
                  <a:pt x="21600" y="2333"/>
                </a:cubicBezTo>
              </a:path>
            </a:pathLst>
          </a:custGeom>
          <a:ln w="165100">
            <a:solidFill>
              <a:schemeClr val="accent2">
                <a:hueOff val="-2473792"/>
                <a:satOff val="-50209"/>
                <a:lumOff val="23543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220" name="Shape 220"/>
          <p:cNvSpPr/>
          <p:nvPr/>
        </p:nvSpPr>
        <p:spPr>
          <a:xfrm>
            <a:off x="5851369" y="3922220"/>
            <a:ext cx="1403662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>
                <a:solidFill>
                  <a:schemeClr val="accent2">
                    <a:hueOff val="-2473792"/>
                    <a:satOff val="-50209"/>
                    <a:lumOff val="23543"/>
                  </a:schemeClr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rPr dirty="0"/>
              <a:t>Vaccinate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943726" y="6775192"/>
                <a:ext cx="1649041" cy="10418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𝑆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𝑐</m:t>
                          </m:r>
                        </m:sub>
                      </m:sSub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= </m:t>
                      </m:r>
                      <m:f>
                        <m:fPr>
                          <m:ctrlPr>
                            <a:rPr kumimoji="0" lang="mr-IN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</m:ctrlPr>
                        </m:fPr>
                        <m:num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𝛾</m:t>
                          </m:r>
                        </m:num>
                        <m:den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𝛽</m:t>
                          </m:r>
                        </m:den>
                      </m:f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 </m:t>
                      </m:r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3726" y="6775192"/>
                <a:ext cx="1649041" cy="1041888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1373659" y="8456548"/>
                <a:ext cx="9952982" cy="86690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charset="0"/>
                            <a:ea typeface="+mn-ea"/>
                            <a:cs typeface="+mn-cs"/>
                            <a:sym typeface="Helvetica Light"/>
                          </a:rPr>
                        </m:ctrlPr>
                      </m:sSubPr>
                      <m:e>
                        <m:r>
                          <a:rPr kumimoji="0" lang="en-US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charset="0"/>
                            <a:ea typeface="+mn-ea"/>
                            <a:cs typeface="+mn-cs"/>
                            <a:sym typeface="Helvetica Light"/>
                          </a:rPr>
                          <m:t>𝑝</m:t>
                        </m:r>
                      </m:e>
                      <m:sub>
                        <m:r>
                          <a:rPr kumimoji="0" lang="en-US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charset="0"/>
                            <a:ea typeface="+mn-ea"/>
                            <a:cs typeface="+mn-cs"/>
                            <a:sym typeface="Helvetica Light"/>
                          </a:rPr>
                          <m:t>𝑐</m:t>
                        </m:r>
                      </m:sub>
                    </m:sSub>
                    <m:r>
                      <a:rPr kumimoji="0" lang="en-US" sz="3600" b="0" i="1" u="none" strike="noStrike" cap="none" spc="0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Cambria Math" charset="0"/>
                        <a:ea typeface="+mn-ea"/>
                        <a:cs typeface="+mn-cs"/>
                        <a:sym typeface="Helvetica Light"/>
                      </a:rPr>
                      <m:t>= </m:t>
                    </m:r>
                    <m:f>
                      <m:fPr>
                        <m:ctrlPr>
                          <a:rPr kumimoji="0" lang="mr-IN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charset="0"/>
                            <a:ea typeface="+mn-ea"/>
                            <a:cs typeface="+mn-cs"/>
                            <a:sym typeface="Helvetica Light"/>
                          </a:rPr>
                        </m:ctrlPr>
                      </m:fPr>
                      <m:num>
                        <m:r>
                          <a:rPr kumimoji="0" lang="en-US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charset="0"/>
                            <a:ea typeface="+mn-ea"/>
                            <a:cs typeface="+mn-cs"/>
                            <a:sym typeface="Helvetica Light"/>
                          </a:rPr>
                          <m:t>𝑇𝑜𝑡𝑎𝑙</m:t>
                        </m:r>
                        <m:r>
                          <a:rPr kumimoji="0" lang="en-US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charset="0"/>
                            <a:ea typeface="+mn-ea"/>
                            <a:cs typeface="+mn-cs"/>
                            <a:sym typeface="Helvetica Light"/>
                          </a:rPr>
                          <m:t> </m:t>
                        </m:r>
                        <m:r>
                          <a:rPr kumimoji="0" lang="en-US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charset="0"/>
                            <a:ea typeface="+mn-ea"/>
                            <a:cs typeface="+mn-cs"/>
                            <a:sym typeface="Helvetica Light"/>
                          </a:rPr>
                          <m:t>𝑡𝑜</m:t>
                        </m:r>
                        <m:r>
                          <a:rPr kumimoji="0" lang="en-US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charset="0"/>
                            <a:ea typeface="+mn-ea"/>
                            <a:cs typeface="+mn-cs"/>
                            <a:sym typeface="Helvetica Light"/>
                          </a:rPr>
                          <m:t> </m:t>
                        </m:r>
                        <m:r>
                          <a:rPr kumimoji="0" lang="en-US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charset="0"/>
                            <a:ea typeface="+mn-ea"/>
                            <a:cs typeface="+mn-cs"/>
                            <a:sym typeface="Helvetica Light"/>
                          </a:rPr>
                          <m:t>𝑣𝑎𝑐𝑐𝑖𝑛𝑎𝑡𝑒</m:t>
                        </m:r>
                      </m:num>
                      <m:den>
                        <m:r>
                          <a:rPr kumimoji="0" lang="en-US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charset="0"/>
                            <a:ea typeface="+mn-ea"/>
                            <a:cs typeface="+mn-cs"/>
                            <a:sym typeface="Helvetica Light"/>
                          </a:rPr>
                          <m:t>𝑇𝑜𝑡𝑎𝑙</m:t>
                        </m:r>
                        <m:r>
                          <a:rPr kumimoji="0" lang="en-US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charset="0"/>
                            <a:ea typeface="+mn-ea"/>
                            <a:cs typeface="+mn-cs"/>
                            <a:sym typeface="Helvetica Light"/>
                          </a:rPr>
                          <m:t> </m:t>
                        </m:r>
                        <m:r>
                          <a:rPr kumimoji="0" lang="en-US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charset="0"/>
                            <a:ea typeface="+mn-ea"/>
                            <a:cs typeface="+mn-cs"/>
                            <a:sym typeface="Helvetica Light"/>
                          </a:rPr>
                          <m:t>𝑝𝑜𝑝𝑢𝑙𝑎𝑡𝑖𝑜𝑛</m:t>
                        </m:r>
                      </m:den>
                    </m:f>
                    <m:r>
                      <a:rPr kumimoji="0" lang="en-US" sz="3600" b="0" i="1" u="none" strike="noStrike" cap="none" spc="0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Cambria Math" charset="0"/>
                        <a:ea typeface="+mn-ea"/>
                        <a:cs typeface="+mn-cs"/>
                        <a:sym typeface="Helvetica Light"/>
                      </a:rPr>
                      <m:t>=</m:t>
                    </m:r>
                    <m:f>
                      <m:fPr>
                        <m:ctrlPr>
                          <a:rPr kumimoji="0" lang="mr-IN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charset="0"/>
                            <a:ea typeface="+mn-ea"/>
                            <a:cs typeface="+mn-cs"/>
                            <a:sym typeface="Helvetica Light"/>
                          </a:rPr>
                        </m:ctrlPr>
                      </m:fPr>
                      <m:num>
                        <m:r>
                          <a:rPr kumimoji="0" lang="en-US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charset="0"/>
                            <a:ea typeface="+mn-ea"/>
                            <a:cs typeface="+mn-cs"/>
                            <a:sym typeface="Helvetica Light"/>
                          </a:rPr>
                          <m:t>𝑆</m:t>
                        </m:r>
                        <m:r>
                          <a:rPr kumimoji="0" lang="en-US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charset="0"/>
                            <a:ea typeface="+mn-ea"/>
                            <a:cs typeface="+mn-cs"/>
                            <a:sym typeface="Helvetica Light"/>
                          </a:rPr>
                          <m:t> −</m:t>
                        </m:r>
                        <m:sSub>
                          <m:sSubPr>
                            <m:ctrlPr>
                              <a:rPr kumimoji="0" lang="en-US" sz="36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charset="0"/>
                                <a:ea typeface="+mn-ea"/>
                                <a:cs typeface="+mn-cs"/>
                                <a:sym typeface="Helvetica Light"/>
                              </a:rPr>
                            </m:ctrlPr>
                          </m:sSubPr>
                          <m:e>
                            <m:r>
                              <a:rPr kumimoji="0" lang="en-US" sz="36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charset="0"/>
                                <a:ea typeface="+mn-ea"/>
                                <a:cs typeface="+mn-cs"/>
                                <a:sym typeface="Helvetica Light"/>
                              </a:rPr>
                              <m:t>𝑆</m:t>
                            </m:r>
                          </m:e>
                          <m:sub>
                            <m:r>
                              <a:rPr kumimoji="0" lang="en-US" sz="36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charset="0"/>
                                <a:ea typeface="+mn-ea"/>
                                <a:cs typeface="+mn-cs"/>
                                <a:sym typeface="Helvetica Light"/>
                              </a:rPr>
                              <m:t>𝑐</m:t>
                            </m:r>
                          </m:sub>
                        </m:sSub>
                      </m:num>
                      <m:den>
                        <m:r>
                          <a:rPr kumimoji="0" lang="en-US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charset="0"/>
                            <a:ea typeface="+mn-ea"/>
                            <a:cs typeface="+mn-cs"/>
                            <a:sym typeface="Helvetica Light"/>
                          </a:rPr>
                          <m:t>𝑆</m:t>
                        </m:r>
                      </m:den>
                    </m:f>
                    <m:r>
                      <a:rPr kumimoji="0" lang="en-US" sz="3600" b="0" i="1" u="none" strike="noStrike" cap="none" spc="0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Cambria Math" charset="0"/>
                        <a:ea typeface="+mn-ea"/>
                        <a:cs typeface="+mn-cs"/>
                        <a:sym typeface="Helvetica Light"/>
                      </a:rPr>
                      <m:t>=1 − </m:t>
                    </m:r>
                    <m:f>
                      <m:fPr>
                        <m:ctrlPr>
                          <a:rPr kumimoji="0" lang="mr-IN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charset="0"/>
                            <a:ea typeface="+mn-ea"/>
                            <a:cs typeface="+mn-cs"/>
                            <a:sym typeface="Helvetica Light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kumimoji="0" lang="en-US" sz="36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charset="0"/>
                                <a:ea typeface="+mn-ea"/>
                                <a:cs typeface="+mn-cs"/>
                                <a:sym typeface="Helvetica Light"/>
                              </a:rPr>
                            </m:ctrlPr>
                          </m:sSubPr>
                          <m:e>
                            <m:r>
                              <a:rPr kumimoji="0" lang="en-US" sz="36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charset="0"/>
                                <a:ea typeface="+mn-ea"/>
                                <a:cs typeface="+mn-cs"/>
                                <a:sym typeface="Helvetica Light"/>
                              </a:rPr>
                              <m:t>𝑆</m:t>
                            </m:r>
                          </m:e>
                          <m:sub>
                            <m:r>
                              <a:rPr kumimoji="0" lang="en-US" sz="36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charset="0"/>
                                <a:ea typeface="+mn-ea"/>
                                <a:cs typeface="+mn-cs"/>
                                <a:sym typeface="Helvetica Light"/>
                              </a:rPr>
                              <m:t>𝑐</m:t>
                            </m:r>
                          </m:sub>
                        </m:sSub>
                      </m:num>
                      <m:den>
                        <m:r>
                          <a:rPr kumimoji="0" lang="en-US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charset="0"/>
                            <a:ea typeface="+mn-ea"/>
                            <a:cs typeface="+mn-cs"/>
                            <a:sym typeface="Helvetica Light"/>
                          </a:rPr>
                          <m:t>𝑆</m:t>
                        </m:r>
                      </m:den>
                    </m:f>
                    <m:r>
                      <a:rPr kumimoji="0" lang="en-US" sz="3600" b="0" i="1" u="none" strike="noStrike" cap="none" spc="0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Cambria Math" charset="0"/>
                        <a:ea typeface="+mn-ea"/>
                        <a:cs typeface="+mn-cs"/>
                        <a:sym typeface="Helvetica Light"/>
                      </a:rPr>
                      <m:t> =1 − </m:t>
                    </m:r>
                    <m:f>
                      <m:fPr>
                        <m:ctrlPr>
                          <a:rPr kumimoji="0" lang="mr-IN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charset="0"/>
                            <a:ea typeface="+mn-ea"/>
                            <a:cs typeface="+mn-cs"/>
                            <a:sym typeface="Helvetica Light"/>
                          </a:rPr>
                        </m:ctrlPr>
                      </m:fPr>
                      <m:num>
                        <m:r>
                          <a:rPr kumimoji="0" lang="en-US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charset="0"/>
                            <a:ea typeface="+mn-ea"/>
                            <a:cs typeface="+mn-cs"/>
                            <a:sym typeface="Helvetica Light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kumimoji="0" lang="en-US" sz="36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charset="0"/>
                                <a:ea typeface="+mn-ea"/>
                                <a:cs typeface="+mn-cs"/>
                                <a:sym typeface="Helvetica Light"/>
                              </a:rPr>
                            </m:ctrlPr>
                          </m:sSubPr>
                          <m:e>
                            <m:r>
                              <a:rPr kumimoji="0" lang="en-US" sz="36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charset="0"/>
                                <a:ea typeface="+mn-ea"/>
                                <a:cs typeface="+mn-cs"/>
                                <a:sym typeface="Helvetica Light"/>
                              </a:rPr>
                              <m:t>𝑅</m:t>
                            </m:r>
                          </m:e>
                          <m:sub>
                            <m:r>
                              <a:rPr kumimoji="0" lang="en-US" sz="36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charset="0"/>
                                <a:ea typeface="+mn-ea"/>
                                <a:cs typeface="+mn-cs"/>
                                <a:sym typeface="Helvetica Light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kumimoji="0" lang="en-US" sz="3600" b="0" i="0" u="none" strike="noStrike" cap="none" spc="0" normalizeH="0" baseline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Light"/>
                  </a:rPr>
                  <a:t> </a:t>
                </a:r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3659" y="8456548"/>
                <a:ext cx="9952982" cy="866904"/>
              </a:xfrm>
              <a:prstGeom prst="rect">
                <a:avLst/>
              </a:prstGeom>
              <a:blipFill rotWithShape="0">
                <a:blip r:embed="rId6"/>
                <a:stretch>
                  <a:fillRect b="-704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Shape 22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Critical vaccination fractions</a:t>
            </a:r>
          </a:p>
        </p:txBody>
      </p:sp>
      <p:pic>
        <p:nvPicPr>
          <p:cNvPr id="225" name="pc_tabl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60550" y="2586434"/>
            <a:ext cx="9283700" cy="5588001"/>
          </a:xfrm>
          <a:prstGeom prst="rect">
            <a:avLst/>
          </a:prstGeom>
          <a:ln w="12700">
            <a:miter lim="400000"/>
          </a:ln>
        </p:spPr>
      </p:pic>
      <p:sp>
        <p:nvSpPr>
          <p:cNvPr id="226" name="Shape 226"/>
          <p:cNvSpPr/>
          <p:nvPr/>
        </p:nvSpPr>
        <p:spPr>
          <a:xfrm>
            <a:off x="243225" y="8669130"/>
            <a:ext cx="12518350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500" b="1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Source: Anderson &amp; May, Infectious Diseases of Humans, Oxford University Press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Shape 228"/>
          <p:cNvSpPr>
            <a:spLocks noGrp="1"/>
          </p:cNvSpPr>
          <p:nvPr>
            <p:ph type="title"/>
          </p:nvPr>
        </p:nvSpPr>
        <p:spPr>
          <a:xfrm>
            <a:off x="538832" y="279400"/>
            <a:ext cx="4661298" cy="21590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</a:lvl1pPr>
          </a:lstStyle>
          <a:p>
            <a:r>
              <a:t>“Herd immunity”</a:t>
            </a:r>
          </a:p>
        </p:txBody>
      </p:sp>
      <p:sp>
        <p:nvSpPr>
          <p:cNvPr id="229" name="Shape 229"/>
          <p:cNvSpPr>
            <a:spLocks noGrp="1"/>
          </p:cNvSpPr>
          <p:nvPr>
            <p:ph type="body" sz="half" idx="1"/>
          </p:nvPr>
        </p:nvSpPr>
        <p:spPr>
          <a:xfrm>
            <a:off x="533400" y="2609850"/>
            <a:ext cx="4912519" cy="6286501"/>
          </a:xfrm>
          <a:prstGeom prst="rect">
            <a:avLst/>
          </a:prstGeom>
        </p:spPr>
        <p:txBody>
          <a:bodyPr/>
          <a:lstStyle/>
          <a:p>
            <a:r>
              <a:rPr dirty="0"/>
              <a:t>Term used for a population that is sufficiently vaccinated that a disease cannot catastrophically spread</a:t>
            </a:r>
          </a:p>
          <a:p>
            <a:r>
              <a:rPr dirty="0"/>
              <a:t>Possible conflict of interest between an individual and the community</a:t>
            </a:r>
          </a:p>
        </p:txBody>
      </p:sp>
      <p:pic>
        <p:nvPicPr>
          <p:cNvPr id="230" name="pasted-image.ti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00797" y="113903"/>
            <a:ext cx="6985510" cy="9525696"/>
          </a:xfrm>
          <a:prstGeom prst="rect">
            <a:avLst/>
          </a:prstGeom>
          <a:ln w="12700">
            <a:miter lim="400000"/>
          </a:ln>
        </p:spPr>
      </p:pic>
      <p:sp>
        <p:nvSpPr>
          <p:cNvPr id="231" name="Shape 231"/>
          <p:cNvSpPr/>
          <p:nvPr/>
        </p:nvSpPr>
        <p:spPr>
          <a:xfrm>
            <a:off x="990594" y="9067801"/>
            <a:ext cx="4230658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900" b="1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Graphic: Center for Disease Control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Shape 23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Herd immunity failure</a:t>
            </a:r>
          </a:p>
        </p:txBody>
      </p:sp>
      <p:sp>
        <p:nvSpPr>
          <p:cNvPr id="234" name="Shape 234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1998 journal article published in </a:t>
            </a:r>
            <a:r>
              <a:rPr i="1" dirty="0"/>
              <a:t>The Lancet</a:t>
            </a:r>
            <a:r>
              <a:rPr dirty="0"/>
              <a:t> links MMR vaccine to autism and digestive disease</a:t>
            </a:r>
          </a:p>
          <a:p>
            <a:r>
              <a:rPr dirty="0"/>
              <a:t>Conclusively debunked over the subsequent decade: paper retracted in 2010 and authors tried for professional misconduct</a:t>
            </a:r>
          </a:p>
          <a:p>
            <a:r>
              <a:rPr dirty="0"/>
              <a:t>However, public scare causes many parents to opt out, causing vaccination rates to significantly drop</a:t>
            </a:r>
          </a:p>
        </p:txBody>
      </p:sp>
      <p:sp>
        <p:nvSpPr>
          <p:cNvPr id="235" name="Shape 235"/>
          <p:cNvSpPr/>
          <p:nvPr/>
        </p:nvSpPr>
        <p:spPr>
          <a:xfrm>
            <a:off x="437232" y="9347199"/>
            <a:ext cx="6705898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 b="1" u="sng">
                <a:latin typeface="+mj-lt"/>
                <a:ea typeface="+mj-ea"/>
                <a:cs typeface="+mj-cs"/>
                <a:sym typeface="Helvetica"/>
                <a:hlinkClick r:id="rId2"/>
              </a:defRPr>
            </a:lvl1pPr>
          </a:lstStyle>
          <a:p>
            <a:pPr>
              <a:defRPr u="none"/>
            </a:pPr>
            <a:r>
              <a:rPr u="sng" dirty="0">
                <a:hlinkClick r:id="rId2"/>
              </a:rPr>
              <a:t>http://en.wikipedia.org/wiki/MMR_vaccine_controversy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Shape 237"/>
          <p:cNvSpPr/>
          <p:nvPr/>
        </p:nvSpPr>
        <p:spPr>
          <a:xfrm>
            <a:off x="60566" y="9366249"/>
            <a:ext cx="9940089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1900" b="1">
                <a:latin typeface="+mj-lt"/>
                <a:ea typeface="+mj-ea"/>
                <a:cs typeface="+mj-cs"/>
                <a:sym typeface="Helvetica"/>
              </a:defRPr>
            </a:pPr>
            <a:r>
              <a:t>P. McIntyre and J. Leask, </a:t>
            </a:r>
            <a:r>
              <a:rPr i="1"/>
              <a:t>Improving uptake of MMR vaccine</a:t>
            </a:r>
            <a:r>
              <a:t>, BMJ 336, 729–730 (2008).</a:t>
            </a:r>
          </a:p>
        </p:txBody>
      </p:sp>
      <p:pic>
        <p:nvPicPr>
          <p:cNvPr id="238" name="mmr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87500" y="1247477"/>
            <a:ext cx="9829800" cy="8051801"/>
          </a:xfrm>
          <a:prstGeom prst="rect">
            <a:avLst/>
          </a:prstGeom>
          <a:ln w="12700">
            <a:miter lim="400000"/>
          </a:ln>
        </p:spPr>
      </p:pic>
      <p:sp>
        <p:nvSpPr>
          <p:cNvPr id="239" name="Shape 239"/>
          <p:cNvSpPr>
            <a:spLocks noGrp="1"/>
          </p:cNvSpPr>
          <p:nvPr>
            <p:ph type="title"/>
          </p:nvPr>
        </p:nvSpPr>
        <p:spPr>
          <a:xfrm>
            <a:off x="411832" y="469900"/>
            <a:ext cx="6995964" cy="944166"/>
          </a:xfrm>
          <a:prstGeom prst="rect">
            <a:avLst/>
          </a:prstGeom>
        </p:spPr>
        <p:txBody>
          <a:bodyPr/>
          <a:lstStyle>
            <a:lvl1pPr defTabSz="479044">
              <a:defRPr sz="5248">
                <a:effectLst>
                  <a:outerShdw blurRad="72898" dist="31242" dir="2700000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t>Herd immunity failure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Screen Shot 2015-02-03 at 6.01.25 PM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452938" y="679301"/>
            <a:ext cx="6239124" cy="8394998"/>
          </a:xfrm>
          <a:prstGeom prst="rect">
            <a:avLst/>
          </a:prstGeom>
          <a:ln w="12700">
            <a:miter lim="400000"/>
          </a:ln>
        </p:spPr>
      </p:pic>
      <p:sp>
        <p:nvSpPr>
          <p:cNvPr id="242" name="Shape 242"/>
          <p:cNvSpPr/>
          <p:nvPr/>
        </p:nvSpPr>
        <p:spPr>
          <a:xfrm>
            <a:off x="563092" y="3926204"/>
            <a:ext cx="4351586" cy="1139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90000"/>
              </a:lnSpc>
              <a:spcBef>
                <a:spcPts val="2600"/>
              </a:spcBef>
              <a:defRPr b="1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News article from Feb 4, 2015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Screen Shot 2015-02-04 at 10.47.45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85249" y="3267287"/>
            <a:ext cx="10634302" cy="6095025"/>
          </a:xfrm>
          <a:prstGeom prst="rect">
            <a:avLst/>
          </a:prstGeom>
          <a:ln w="12700">
            <a:miter lim="400000"/>
          </a:ln>
        </p:spPr>
      </p:pic>
      <p:pic>
        <p:nvPicPr>
          <p:cNvPr id="245" name="Screen Shot 2015-02-04 at 10.47.56 A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03225" y="2066704"/>
            <a:ext cx="10598350" cy="1261548"/>
          </a:xfrm>
          <a:prstGeom prst="rect">
            <a:avLst/>
          </a:prstGeom>
          <a:ln w="12700">
            <a:miter lim="400000"/>
          </a:ln>
        </p:spPr>
      </p:pic>
      <p:sp>
        <p:nvSpPr>
          <p:cNvPr id="246" name="Shape 246"/>
          <p:cNvSpPr>
            <a:spLocks noGrp="1"/>
          </p:cNvSpPr>
          <p:nvPr>
            <p:ph type="title" idx="4294967295"/>
          </p:nvPr>
        </p:nvSpPr>
        <p:spPr>
          <a:xfrm>
            <a:off x="437232" y="12700"/>
            <a:ext cx="12130336" cy="2159000"/>
          </a:xfrm>
          <a:prstGeom prst="rect">
            <a:avLst/>
          </a:prstGeom>
        </p:spPr>
        <p:txBody>
          <a:bodyPr/>
          <a:lstStyle/>
          <a:p>
            <a:r>
              <a:t>Conclusions of paper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Shape 26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smtClean="0"/>
              <a:t>Google trends and flu data</a:t>
            </a:r>
            <a:endParaRPr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hape 18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smtClean="0"/>
              <a:t>Google </a:t>
            </a:r>
            <a:r>
              <a:rPr lang="en-US" dirty="0"/>
              <a:t>t</a:t>
            </a:r>
            <a:r>
              <a:rPr dirty="0" smtClean="0"/>
              <a:t>rends</a:t>
            </a:r>
            <a:endParaRPr dirty="0"/>
          </a:p>
        </p:txBody>
      </p:sp>
      <p:sp>
        <p:nvSpPr>
          <p:cNvPr id="2" name="Rectangle 1"/>
          <p:cNvSpPr/>
          <p:nvPr/>
        </p:nvSpPr>
        <p:spPr>
          <a:xfrm>
            <a:off x="2070652" y="9045714"/>
            <a:ext cx="886349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+mj-lt"/>
                <a:hlinkClick r:id="rId2"/>
              </a:rPr>
              <a:t>https://www.google.com/trends</a:t>
            </a:r>
            <a:r>
              <a:rPr lang="en-US" sz="2000" b="1" dirty="0" smtClean="0">
                <a:latin typeface="+mj-lt"/>
                <a:hlinkClick r:id="rId2"/>
              </a:rPr>
              <a:t>/</a:t>
            </a:r>
            <a:endParaRPr lang="en-US" sz="2000" b="1" dirty="0" smtClean="0">
              <a:latin typeface="+mj-lt"/>
            </a:endParaRPr>
          </a:p>
          <a:p>
            <a:endParaRPr lang="en-US" sz="2000" dirty="0">
              <a:latin typeface="+mj-lt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8"/>
          <a:stretch/>
        </p:blipFill>
        <p:spPr>
          <a:xfrm>
            <a:off x="683151" y="2385390"/>
            <a:ext cx="11884417" cy="6042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13803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186"/>
          <p:cNvSpPr>
            <a:spLocks noGrp="1"/>
          </p:cNvSpPr>
          <p:nvPr>
            <p:ph type="body" idx="13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Correlations</a:t>
            </a:r>
          </a:p>
        </p:txBody>
      </p:sp>
      <p:pic>
        <p:nvPicPr>
          <p:cNvPr id="187" name="Screen Shot 2016-02-01 at 9.12.18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09650" y="2534095"/>
            <a:ext cx="10985500" cy="60706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63983703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189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Correlations</a:t>
            </a:r>
          </a:p>
        </p:txBody>
      </p:sp>
      <p:sp>
        <p:nvSpPr>
          <p:cNvPr id="190" name="Shape 190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Find two search terms that are negatively correlated with each other</a:t>
            </a:r>
          </a:p>
          <a:p>
            <a:r>
              <a:t>Find a search term that has two peaks in a year</a:t>
            </a:r>
          </a:p>
          <a:p>
            <a:r>
              <a:t>Find a search term that has three peaks in a year</a:t>
            </a:r>
          </a:p>
        </p:txBody>
      </p:sp>
    </p:spTree>
    <p:extLst>
      <p:ext uri="{BB962C8B-B14F-4D97-AF65-F5344CB8AC3E}">
        <p14:creationId xmlns:p14="http://schemas.microsoft.com/office/powerpoint/2010/main" val="129039310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hape 192"/>
          <p:cNvSpPr>
            <a:spLocks noGrp="1"/>
          </p:cNvSpPr>
          <p:nvPr>
            <p:ph type="body" idx="13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 tool for flu?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010" y="2266121"/>
            <a:ext cx="11906885" cy="555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1426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Screen Shot 2014-02-03 at 12.03.27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73633" y="463550"/>
            <a:ext cx="12293601" cy="75057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98" name="Screen Shot 2014-02-03 at 12.04.01 PM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560266" y="8249394"/>
            <a:ext cx="6972301" cy="1346201"/>
          </a:xfrm>
          <a:prstGeom prst="rect">
            <a:avLst/>
          </a:prstGeom>
          <a:ln w="12700">
            <a:miter lim="400000"/>
          </a:ln>
        </p:spPr>
      </p:pic>
      <p:sp>
        <p:nvSpPr>
          <p:cNvPr id="199" name="Shape 199"/>
          <p:cNvSpPr/>
          <p:nvPr/>
        </p:nvSpPr>
        <p:spPr>
          <a:xfrm>
            <a:off x="7912100" y="7620000"/>
            <a:ext cx="4593977" cy="5842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3856383" y="6897757"/>
            <a:ext cx="8328991" cy="1266687"/>
          </a:xfrm>
          <a:prstGeom prst="rect">
            <a:avLst/>
          </a:prstGeom>
          <a:solidFill>
            <a:srgbClr val="FFFF00">
              <a:alpha val="14000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27766338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Screen Shot 2014-02-03 at 12.04.07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74019" y="1866899"/>
            <a:ext cx="6352481" cy="6379397"/>
          </a:xfrm>
          <a:prstGeom prst="rect">
            <a:avLst/>
          </a:prstGeom>
          <a:ln w="12700">
            <a:miter lim="400000"/>
          </a:ln>
        </p:spPr>
      </p:pic>
      <p:pic>
        <p:nvPicPr>
          <p:cNvPr id="204" name="Screen Shot 2014-02-03 at 12.04.39 PM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725890" y="1954658"/>
            <a:ext cx="6278910" cy="5482231"/>
          </a:xfrm>
          <a:prstGeom prst="rect">
            <a:avLst/>
          </a:prstGeom>
          <a:ln w="12700">
            <a:miter lim="400000"/>
          </a:ln>
        </p:spPr>
      </p:pic>
      <p:sp>
        <p:nvSpPr>
          <p:cNvPr id="205" name="Shape 205"/>
          <p:cNvSpPr/>
          <p:nvPr/>
        </p:nvSpPr>
        <p:spPr>
          <a:xfrm>
            <a:off x="2042653" y="634999"/>
            <a:ext cx="2655913" cy="787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500" b="1">
                <a:solidFill>
                  <a:srgbClr val="53585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rPr dirty="0"/>
              <a:t>Overview</a:t>
            </a:r>
          </a:p>
        </p:txBody>
      </p:sp>
      <p:sp>
        <p:nvSpPr>
          <p:cNvPr id="206" name="Shape 206"/>
          <p:cNvSpPr/>
          <p:nvPr/>
        </p:nvSpPr>
        <p:spPr>
          <a:xfrm>
            <a:off x="8002007" y="634999"/>
            <a:ext cx="3353266" cy="787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500" b="1">
                <a:solidFill>
                  <a:srgbClr val="53585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Their model</a:t>
            </a:r>
          </a:p>
        </p:txBody>
      </p:sp>
    </p:spTree>
    <p:extLst>
      <p:ext uri="{BB962C8B-B14F-4D97-AF65-F5344CB8AC3E}">
        <p14:creationId xmlns:p14="http://schemas.microsoft.com/office/powerpoint/2010/main" val="27543516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Shape 210"/>
          <p:cNvSpPr>
            <a:spLocks noGrp="1"/>
          </p:cNvSpPr>
          <p:nvPr>
            <p:ph type="body" idx="13"/>
          </p:nvPr>
        </p:nvSpPr>
        <p:spPr>
          <a:prstGeom prst="rect">
            <a:avLst/>
          </a:prstGeom>
        </p:spPr>
        <p:txBody>
          <a:bodyPr/>
          <a:lstStyle/>
          <a:p>
            <a:r>
              <a:t>Queries to physician visits</a:t>
            </a:r>
          </a:p>
        </p:txBody>
      </p:sp>
      <p:pic>
        <p:nvPicPr>
          <p:cNvPr id="211" name="Screen Shot 2014-02-03 at 12.39.30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41622" y="2203053"/>
            <a:ext cx="7487528" cy="4942039"/>
          </a:xfrm>
          <a:prstGeom prst="rect">
            <a:avLst/>
          </a:prstGeom>
          <a:ln w="12700">
            <a:miter lim="400000"/>
          </a:ln>
        </p:spPr>
      </p:pic>
      <p:pic>
        <p:nvPicPr>
          <p:cNvPr id="212" name="Screen Shot 2014-02-03 at 12.39.38 PM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47972" y="7381991"/>
            <a:ext cx="7473987" cy="825931"/>
          </a:xfrm>
          <a:prstGeom prst="rect">
            <a:avLst/>
          </a:prstGeom>
          <a:ln w="12700">
            <a:miter lim="400000"/>
          </a:ln>
        </p:spPr>
      </p:pic>
      <p:sp>
        <p:nvSpPr>
          <p:cNvPr id="214" name="Shape 214"/>
          <p:cNvSpPr/>
          <p:nvPr/>
        </p:nvSpPr>
        <p:spPr>
          <a:xfrm>
            <a:off x="8531018" y="4505326"/>
            <a:ext cx="3434682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600" b="1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rPr dirty="0"/>
              <a:t>After exponentiation:</a:t>
            </a:r>
          </a:p>
        </p:txBody>
      </p:sp>
      <p:sp>
        <p:nvSpPr>
          <p:cNvPr id="215" name="Shape 215"/>
          <p:cNvSpPr/>
          <p:nvPr/>
        </p:nvSpPr>
        <p:spPr>
          <a:xfrm>
            <a:off x="577865" y="8432351"/>
            <a:ext cx="2138710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600" b="1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A power law: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7929150" y="5000627"/>
                <a:ext cx="5115759" cy="126034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mr-IN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</m:ctrlPr>
                        </m:fPr>
                        <m:num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𝑃</m:t>
                          </m:r>
                        </m:num>
                        <m:den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1 −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𝑃</m:t>
                          </m:r>
                        </m:den>
                      </m:f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=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𝐴</m:t>
                      </m:r>
                      <m:sSup>
                        <m:sSup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0" lang="mr-IN" sz="36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charset="0"/>
                                  <a:ea typeface="+mn-ea"/>
                                  <a:cs typeface="+mn-cs"/>
                                  <a:sym typeface="Helvetica Light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mr-IN" i="1">
                                      <a:latin typeface="Cambria Math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charset="0"/>
                                    </a:rPr>
                                    <m:t>𝑄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charset="0"/>
                                    </a:rPr>
                                    <m:t>1 −</m:t>
                                  </m:r>
                                  <m:r>
                                    <a:rPr lang="en-US" i="1">
                                      <a:latin typeface="Cambria Math" charset="0"/>
                                    </a:rPr>
                                    <m:t>𝑄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sSub>
                            <m:sSubPr>
                              <m:ctrlPr>
                                <a:rPr kumimoji="0" lang="en-US" sz="36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charset="0"/>
                                  <a:ea typeface="+mn-ea"/>
                                  <a:cs typeface="+mn-cs"/>
                                  <a:sym typeface="Helvetica Light"/>
                                </a:rPr>
                              </m:ctrlPr>
                            </m:sSubPr>
                            <m:e>
                              <m:r>
                                <a:rPr kumimoji="0" lang="en-US" sz="36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charset="0"/>
                                  <a:ea typeface="+mn-ea"/>
                                  <a:cs typeface="+mn-cs"/>
                                  <a:sym typeface="Helvetica Light"/>
                                </a:rPr>
                                <m:t>𝛽</m:t>
                              </m:r>
                            </m:e>
                            <m:sub>
                              <m:r>
                                <a:rPr kumimoji="0" lang="en-US" sz="36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charset="0"/>
                                  <a:ea typeface="+mn-ea"/>
                                  <a:cs typeface="+mn-cs"/>
                                  <a:sym typeface="Helvetica Light"/>
                                </a:rPr>
                                <m:t>1</m:t>
                              </m:r>
                            </m:sub>
                          </m:sSub>
                        </m:sup>
                      </m:sSup>
                      <m:sSup>
                        <m:sSup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</m:ctrlPr>
                        </m:sSup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𝑒</m:t>
                          </m:r>
                        </m:e>
                        <m:sup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𝜖</m:t>
                          </m:r>
                        </m:sup>
                      </m:sSup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9150" y="5000627"/>
                <a:ext cx="5115759" cy="126034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9531548" y="6543910"/>
                <a:ext cx="1910972" cy="5800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r>
                  <a:rPr kumimoji="0" lang="en-US" sz="3600" b="0" u="none" strike="noStrike" cap="none" spc="0" normalizeH="0" baseline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ea typeface="+mn-ea"/>
                    <a:cs typeface="+mn-cs"/>
                    <a:sym typeface="Helvetica Light"/>
                  </a:rPr>
                  <a:t>(</a:t>
                </a:r>
                <a14:m>
                  <m:oMath xmlns:m="http://schemas.openxmlformats.org/officeDocument/2006/math">
                    <m:r>
                      <a:rPr kumimoji="0" lang="en-US" sz="3600" b="0" i="1" u="none" strike="noStrike" cap="none" spc="0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Cambria Math" charset="0"/>
                        <a:ea typeface="+mn-ea"/>
                        <a:cs typeface="+mn-cs"/>
                        <a:sym typeface="Helvetica Light"/>
                      </a:rPr>
                      <m:t>𝐴</m:t>
                    </m:r>
                    <m:r>
                      <a:rPr kumimoji="0" lang="en-US" sz="3600" b="0" i="1" u="none" strike="noStrike" cap="none" spc="0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Cambria Math" charset="0"/>
                        <a:ea typeface="+mn-ea"/>
                        <a:cs typeface="+mn-cs"/>
                        <a:sym typeface="Helvetica Light"/>
                      </a:rPr>
                      <m:t>=</m:t>
                    </m:r>
                    <m:sSup>
                      <m:sSupPr>
                        <m:ctrlPr>
                          <a:rPr kumimoji="0" lang="en-US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charset="0"/>
                            <a:ea typeface="+mn-ea"/>
                            <a:cs typeface="+mn-cs"/>
                            <a:sym typeface="Helvetica Light"/>
                          </a:rPr>
                        </m:ctrlPr>
                      </m:sSupPr>
                      <m:e>
                        <m:r>
                          <a:rPr kumimoji="0" lang="en-US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charset="0"/>
                            <a:ea typeface="+mn-ea"/>
                            <a:cs typeface="+mn-cs"/>
                            <a:sym typeface="Helvetica Light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kumimoji="0" lang="en-US" sz="36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charset="0"/>
                                <a:ea typeface="+mn-ea"/>
                                <a:cs typeface="+mn-cs"/>
                                <a:sym typeface="Helvetica Light"/>
                              </a:rPr>
                            </m:ctrlPr>
                          </m:sSubPr>
                          <m:e>
                            <m:r>
                              <a:rPr kumimoji="0" lang="en-US" sz="36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charset="0"/>
                                <a:ea typeface="+mn-ea"/>
                                <a:cs typeface="+mn-cs"/>
                                <a:sym typeface="Helvetica Light"/>
                              </a:rPr>
                              <m:t>𝛽</m:t>
                            </m:r>
                          </m:e>
                          <m:sub>
                            <m:r>
                              <a:rPr kumimoji="0" lang="en-US" sz="36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charset="0"/>
                                <a:ea typeface="+mn-ea"/>
                                <a:cs typeface="+mn-cs"/>
                                <a:sym typeface="Helvetica Light"/>
                              </a:rPr>
                              <m:t>0</m:t>
                            </m:r>
                          </m:sub>
                        </m:sSub>
                      </m:sup>
                    </m:sSup>
                    <m:r>
                      <a:rPr kumimoji="0" lang="en-US" sz="3600" b="0" i="1" u="none" strike="noStrike" cap="none" spc="0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Cambria Math" charset="0"/>
                        <a:ea typeface="+mn-ea"/>
                        <a:cs typeface="+mn-cs"/>
                        <a:sym typeface="Helvetica Light"/>
                      </a:rPr>
                      <m:t>)</m:t>
                    </m:r>
                  </m:oMath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1548" y="6543910"/>
                <a:ext cx="1910972" cy="580095"/>
              </a:xfrm>
              <a:prstGeom prst="rect">
                <a:avLst/>
              </a:prstGeom>
              <a:blipFill rotWithShape="0">
                <a:blip r:embed="rId6"/>
                <a:stretch>
                  <a:fillRect l="-14377" t="-18750" b="-458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7865" y="9046918"/>
            <a:ext cx="11096740" cy="555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60443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Shape 221"/>
          <p:cNvSpPr>
            <a:spLocks noGrp="1"/>
          </p:cNvSpPr>
          <p:nvPr>
            <p:ph type="body" idx="13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Obtaining search queries</a:t>
            </a:r>
          </a:p>
        </p:txBody>
      </p:sp>
      <p:pic>
        <p:nvPicPr>
          <p:cNvPr id="222" name="Screen Shot 2014-02-03 at 12.33.56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20092" y="2527300"/>
            <a:ext cx="6252567" cy="6845482"/>
          </a:xfrm>
          <a:prstGeom prst="rect">
            <a:avLst/>
          </a:prstGeom>
          <a:ln w="12700">
            <a:miter lim="400000"/>
          </a:ln>
        </p:spPr>
      </p:pic>
      <p:sp>
        <p:nvSpPr>
          <p:cNvPr id="223" name="Shape 223"/>
          <p:cNvSpPr/>
          <p:nvPr/>
        </p:nvSpPr>
        <p:spPr>
          <a:xfrm flipV="1">
            <a:off x="7073900" y="3924299"/>
            <a:ext cx="0" cy="365760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224" name="Shape 224"/>
          <p:cNvSpPr/>
          <p:nvPr/>
        </p:nvSpPr>
        <p:spPr>
          <a:xfrm>
            <a:off x="6896100" y="7213600"/>
            <a:ext cx="4900770" cy="0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225" name="Shape 225"/>
          <p:cNvSpPr/>
          <p:nvPr/>
        </p:nvSpPr>
        <p:spPr>
          <a:xfrm>
            <a:off x="11584657" y="7283449"/>
            <a:ext cx="732086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100" b="1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Time</a:t>
            </a:r>
          </a:p>
        </p:txBody>
      </p:sp>
      <p:sp>
        <p:nvSpPr>
          <p:cNvPr id="226" name="Shape 226"/>
          <p:cNvSpPr/>
          <p:nvPr/>
        </p:nvSpPr>
        <p:spPr>
          <a:xfrm>
            <a:off x="6961608" y="5086064"/>
            <a:ext cx="4770764" cy="17480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04" extrusionOk="0">
                <a:moveTo>
                  <a:pt x="0" y="21504"/>
                </a:moveTo>
                <a:cubicBezTo>
                  <a:pt x="2095" y="20840"/>
                  <a:pt x="4106" y="18890"/>
                  <a:pt x="5883" y="15802"/>
                </a:cubicBezTo>
                <a:cubicBezTo>
                  <a:pt x="6913" y="14012"/>
                  <a:pt x="7857" y="11844"/>
                  <a:pt x="8564" y="9130"/>
                </a:cubicBezTo>
                <a:cubicBezTo>
                  <a:pt x="9552" y="5334"/>
                  <a:pt x="10297" y="87"/>
                  <a:pt x="12008" y="1"/>
                </a:cubicBezTo>
                <a:cubicBezTo>
                  <a:pt x="13920" y="-96"/>
                  <a:pt x="15044" y="6777"/>
                  <a:pt x="16273" y="11945"/>
                </a:cubicBezTo>
                <a:cubicBezTo>
                  <a:pt x="17448" y="16886"/>
                  <a:pt x="19436" y="19957"/>
                  <a:pt x="21600" y="20172"/>
                </a:cubicBezTo>
              </a:path>
            </a:pathLst>
          </a:custGeom>
          <a:ln w="50800">
            <a:solidFill>
              <a:srgbClr val="FF2802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227" name="Shape 227"/>
          <p:cNvSpPr/>
          <p:nvPr/>
        </p:nvSpPr>
        <p:spPr>
          <a:xfrm>
            <a:off x="6962113" y="4700158"/>
            <a:ext cx="4756328" cy="22884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739" extrusionOk="0">
                <a:moveTo>
                  <a:pt x="0" y="15886"/>
                </a:moveTo>
                <a:cubicBezTo>
                  <a:pt x="2019" y="15814"/>
                  <a:pt x="4021" y="15144"/>
                  <a:pt x="5941" y="13897"/>
                </a:cubicBezTo>
                <a:cubicBezTo>
                  <a:pt x="7339" y="12989"/>
                  <a:pt x="8736" y="11672"/>
                  <a:pt x="9428" y="9091"/>
                </a:cubicBezTo>
                <a:cubicBezTo>
                  <a:pt x="10310" y="5804"/>
                  <a:pt x="10094" y="610"/>
                  <a:pt x="12044" y="45"/>
                </a:cubicBezTo>
                <a:cubicBezTo>
                  <a:pt x="14248" y="-594"/>
                  <a:pt x="14703" y="5665"/>
                  <a:pt x="15257" y="10930"/>
                </a:cubicBezTo>
                <a:cubicBezTo>
                  <a:pt x="15882" y="16857"/>
                  <a:pt x="18568" y="21006"/>
                  <a:pt x="21600" y="20725"/>
                </a:cubicBezTo>
              </a:path>
            </a:pathLst>
          </a:custGeom>
          <a:ln w="76200">
            <a:solidFill>
              <a:schemeClr val="accent1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228" name="Shape 228"/>
          <p:cNvSpPr/>
          <p:nvPr/>
        </p:nvSpPr>
        <p:spPr>
          <a:xfrm>
            <a:off x="6993069" y="4187436"/>
            <a:ext cx="4708256" cy="7556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570" extrusionOk="0">
                <a:moveTo>
                  <a:pt x="0" y="19557"/>
                </a:moveTo>
                <a:cubicBezTo>
                  <a:pt x="1551" y="12914"/>
                  <a:pt x="3480" y="10172"/>
                  <a:pt x="5370" y="11926"/>
                </a:cubicBezTo>
                <a:cubicBezTo>
                  <a:pt x="6717" y="13177"/>
                  <a:pt x="8043" y="16706"/>
                  <a:pt x="9383" y="14929"/>
                </a:cubicBezTo>
                <a:cubicBezTo>
                  <a:pt x="10480" y="13472"/>
                  <a:pt x="11487" y="8525"/>
                  <a:pt x="12591" y="10371"/>
                </a:cubicBezTo>
                <a:cubicBezTo>
                  <a:pt x="13635" y="12118"/>
                  <a:pt x="14185" y="19458"/>
                  <a:pt x="15271" y="20450"/>
                </a:cubicBezTo>
                <a:cubicBezTo>
                  <a:pt x="16531" y="21600"/>
                  <a:pt x="17352" y="14242"/>
                  <a:pt x="18272" y="8969"/>
                </a:cubicBezTo>
                <a:cubicBezTo>
                  <a:pt x="19174" y="3795"/>
                  <a:pt x="20350" y="627"/>
                  <a:pt x="21600" y="0"/>
                </a:cubicBezTo>
              </a:path>
            </a:pathLst>
          </a:custGeom>
          <a:ln w="50800">
            <a:solidFill>
              <a:srgbClr val="FF40FF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229" name="Shape 229"/>
          <p:cNvSpPr/>
          <p:nvPr/>
        </p:nvSpPr>
        <p:spPr>
          <a:xfrm>
            <a:off x="10408443" y="3810000"/>
            <a:ext cx="1789114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 b="1">
                <a:solidFill>
                  <a:srgbClr val="FF40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“Taylor Swift”</a:t>
            </a:r>
          </a:p>
        </p:txBody>
      </p:sp>
      <p:sp>
        <p:nvSpPr>
          <p:cNvPr id="230" name="Shape 230"/>
          <p:cNvSpPr/>
          <p:nvPr/>
        </p:nvSpPr>
        <p:spPr>
          <a:xfrm>
            <a:off x="10870418" y="6121400"/>
            <a:ext cx="2160564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 b="1">
                <a:solidFill>
                  <a:srgbClr val="FF2600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“Flu medication”</a:t>
            </a:r>
          </a:p>
        </p:txBody>
      </p:sp>
      <p:sp>
        <p:nvSpPr>
          <p:cNvPr id="231" name="Shape 231"/>
          <p:cNvSpPr/>
          <p:nvPr/>
        </p:nvSpPr>
        <p:spPr>
          <a:xfrm rot="20907870">
            <a:off x="6978650" y="5896514"/>
            <a:ext cx="163830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CDC flu data</a:t>
            </a:r>
          </a:p>
        </p:txBody>
      </p:sp>
    </p:spTree>
    <p:extLst>
      <p:ext uri="{BB962C8B-B14F-4D97-AF65-F5344CB8AC3E}">
        <p14:creationId xmlns:p14="http://schemas.microsoft.com/office/powerpoint/2010/main" val="65488993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Shape 23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Finding a set of search terms</a:t>
            </a:r>
          </a:p>
        </p:txBody>
      </p:sp>
      <p:pic>
        <p:nvPicPr>
          <p:cNvPr id="236" name="Screen Shot 2014-02-03 at 12.34.40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114550" y="2381250"/>
            <a:ext cx="8775700" cy="674370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84951043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Shape 238"/>
          <p:cNvSpPr>
            <a:spLocks noGrp="1"/>
          </p:cNvSpPr>
          <p:nvPr>
            <p:ph type="body" idx="13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What terms are used</a:t>
            </a:r>
          </a:p>
        </p:txBody>
      </p:sp>
      <p:pic>
        <p:nvPicPr>
          <p:cNvPr id="239" name="Screen Shot 2014-02-03 at 12.52.57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97718" y="2684462"/>
            <a:ext cx="8529698" cy="624688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5059578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Shape 241"/>
          <p:cNvSpPr>
            <a:spLocks noGrp="1"/>
          </p:cNvSpPr>
          <p:nvPr>
            <p:ph type="body" idx="13"/>
          </p:nvPr>
        </p:nvSpPr>
        <p:spPr>
          <a:prstGeom prst="rect">
            <a:avLst/>
          </a:prstGeom>
        </p:spPr>
        <p:txBody>
          <a:bodyPr/>
          <a:lstStyle/>
          <a:p>
            <a:r>
              <a:t>Validating the model</a:t>
            </a:r>
          </a:p>
        </p:txBody>
      </p:sp>
      <p:pic>
        <p:nvPicPr>
          <p:cNvPr id="242" name="Screen Shot 2014-02-03 at 12.35.05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06400" y="2206426"/>
            <a:ext cx="12192000" cy="64897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34097253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Shape 244"/>
          <p:cNvSpPr>
            <a:spLocks noGrp="1"/>
          </p:cNvSpPr>
          <p:nvPr>
            <p:ph type="body" idx="13"/>
          </p:nvPr>
        </p:nvSpPr>
        <p:spPr>
          <a:xfrm>
            <a:off x="373732" y="4029323"/>
            <a:ext cx="4307881" cy="2159001"/>
          </a:xfrm>
          <a:prstGeom prst="rect">
            <a:avLst/>
          </a:prstGeom>
        </p:spPr>
        <p:txBody>
          <a:bodyPr/>
          <a:lstStyle>
            <a:lvl1pPr defTabSz="560831">
              <a:defRPr sz="6144">
                <a:effectLst>
                  <a:outerShdw blurRad="85344" dist="36576" dir="2700000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dirty="0"/>
              <a:t>Faster than the CDC</a:t>
            </a:r>
          </a:p>
        </p:txBody>
      </p:sp>
      <p:pic>
        <p:nvPicPr>
          <p:cNvPr id="245" name="Screen Shot 2014-02-03 at 12.55.05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814759" y="1"/>
            <a:ext cx="8060538" cy="9312524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03198732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Shape 307"/>
          <p:cNvSpPr>
            <a:spLocks noGrp="1"/>
          </p:cNvSpPr>
          <p:nvPr>
            <p:ph type="body" idx="13"/>
          </p:nvPr>
        </p:nvSpPr>
        <p:spPr>
          <a:prstGeom prst="rect">
            <a:avLst/>
          </a:prstGeom>
        </p:spPr>
        <p:txBody>
          <a:bodyPr/>
          <a:lstStyle/>
          <a:p>
            <a:pPr defTabSz="572516">
              <a:defRPr sz="6272">
                <a:effectLst>
                  <a:outerShdw blurRad="87122" dist="37338" dir="2700000" rotWithShape="0">
                    <a:srgbClr val="000000">
                      <a:alpha val="30000"/>
                    </a:srgbClr>
                  </a:outerShdw>
                </a:effectLst>
              </a:defRPr>
            </a:pPr>
            <a:r>
              <a:rPr lang="en-US" dirty="0" smtClean="0"/>
              <a:t>Tuesday lab:</a:t>
            </a:r>
          </a:p>
          <a:p>
            <a:pPr defTabSz="572516">
              <a:defRPr sz="6272">
                <a:effectLst>
                  <a:outerShdw blurRad="87122" dist="37338" dir="2700000" rotWithShape="0">
                    <a:srgbClr val="000000">
                      <a:alpha val="30000"/>
                    </a:srgbClr>
                  </a:outerShdw>
                </a:effectLst>
              </a:defRPr>
            </a:pPr>
            <a:r>
              <a:rPr lang="en-US" dirty="0" smtClean="0"/>
              <a:t>SIR model and Google flu data</a:t>
            </a:r>
          </a:p>
        </p:txBody>
      </p:sp>
      <p:sp>
        <p:nvSpPr>
          <p:cNvPr id="5" name="Shape 307"/>
          <p:cNvSpPr txBox="1">
            <a:spLocks/>
          </p:cNvSpPr>
          <p:nvPr/>
        </p:nvSpPr>
        <p:spPr>
          <a:xfrm>
            <a:off x="437232" y="4403356"/>
            <a:ext cx="12130336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1" i="0" u="none" strike="noStrike" cap="none" spc="0" baseline="0">
                <a:ln>
                  <a:noFill/>
                </a:ln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  <a:effectLst>
                  <a:outerShdw blurRad="88900" dist="38100" dir="2700000" rotWithShape="0">
                    <a:srgbClr val="000000">
                      <a:alpha val="30000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889000" marR="0" indent="-444500" algn="l" defTabSz="584200" rtl="0" latinLnBrk="0">
              <a:lnSpc>
                <a:spcPct val="90000"/>
              </a:lnSpc>
              <a:spcBef>
                <a:spcPts val="26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1333500" marR="0" indent="-444500" algn="l" defTabSz="584200" rtl="0" latinLnBrk="0">
              <a:lnSpc>
                <a:spcPct val="90000"/>
              </a:lnSpc>
              <a:spcBef>
                <a:spcPts val="26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1778000" marR="0" indent="-444500" algn="l" defTabSz="584200" rtl="0" latinLnBrk="0">
              <a:lnSpc>
                <a:spcPct val="90000"/>
              </a:lnSpc>
              <a:spcBef>
                <a:spcPts val="26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2222500" marR="0" indent="-444500" algn="l" defTabSz="584200" rtl="0" latinLnBrk="0">
              <a:lnSpc>
                <a:spcPct val="90000"/>
              </a:lnSpc>
              <a:spcBef>
                <a:spcPts val="26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2667000" marR="0" indent="-444500" algn="l" defTabSz="584200" rtl="0" latinLnBrk="0">
              <a:lnSpc>
                <a:spcPct val="90000"/>
              </a:lnSpc>
              <a:spcBef>
                <a:spcPts val="26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3111500" marR="0" indent="-444500" algn="l" defTabSz="584200" rtl="0" latinLnBrk="0">
              <a:lnSpc>
                <a:spcPct val="90000"/>
              </a:lnSpc>
              <a:spcBef>
                <a:spcPts val="26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3556000" marR="0" indent="-444500" algn="l" defTabSz="584200" rtl="0" latinLnBrk="0">
              <a:lnSpc>
                <a:spcPct val="90000"/>
              </a:lnSpc>
              <a:spcBef>
                <a:spcPts val="26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4000500" marR="0" indent="-444500" algn="l" defTabSz="584200" rtl="0" latinLnBrk="0">
              <a:lnSpc>
                <a:spcPct val="90000"/>
              </a:lnSpc>
              <a:spcBef>
                <a:spcPts val="26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defTabSz="572516" hangingPunct="1">
              <a:defRPr sz="6272">
                <a:effectLst>
                  <a:outerShdw blurRad="87122" dist="37338" dir="2700000" rotWithShape="0">
                    <a:srgbClr val="000000">
                      <a:alpha val="30000"/>
                    </a:srgbClr>
                  </a:outerShdw>
                </a:effectLst>
              </a:defRPr>
            </a:pPr>
            <a:r>
              <a:rPr lang="en-US" sz="6272" dirty="0" smtClean="0">
                <a:effectLst>
                  <a:outerShdw blurRad="87122" dist="37338" dir="2700000" rotWithShape="0">
                    <a:srgbClr val="000000">
                      <a:alpha val="30000"/>
                    </a:srgbClr>
                  </a:outerShdw>
                </a:effectLst>
              </a:rPr>
              <a:t>Bring laptop to class</a:t>
            </a:r>
          </a:p>
        </p:txBody>
      </p:sp>
    </p:spTree>
    <p:extLst>
      <p:ext uri="{BB962C8B-B14F-4D97-AF65-F5344CB8AC3E}">
        <p14:creationId xmlns:p14="http://schemas.microsoft.com/office/powerpoint/2010/main" val="122452404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967</TotalTime>
  <Words>736</Words>
  <Application>Microsoft Macintosh PowerPoint</Application>
  <PresentationFormat>Custom</PresentationFormat>
  <Paragraphs>237</Paragraphs>
  <Slides>41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7" baseType="lpstr">
      <vt:lpstr>Arial</vt:lpstr>
      <vt:lpstr>Avenir Roman</vt:lpstr>
      <vt:lpstr>Cambria Math</vt:lpstr>
      <vt:lpstr>Helvetica</vt:lpstr>
      <vt:lpstr>Helvetica Light</vt:lpstr>
      <vt:lpstr>White</vt:lpstr>
      <vt:lpstr>Lecture 4: overview</vt:lpstr>
      <vt:lpstr>Admin</vt:lpstr>
      <vt:lpstr>General idea</vt:lpstr>
      <vt:lpstr>General idea</vt:lpstr>
      <vt:lpstr>General idea</vt:lpstr>
      <vt:lpstr>SIR Model: constant rates</vt:lpstr>
      <vt:lpstr>Modeling activity</vt:lpstr>
      <vt:lpstr>Modeling activity</vt:lpstr>
      <vt:lpstr>Modeling activity</vt:lpstr>
      <vt:lpstr>Modeling activity</vt:lpstr>
      <vt:lpstr>Continuing the activity</vt:lpstr>
      <vt:lpstr>PowerPoint Presentation</vt:lpstr>
      <vt:lpstr>PowerPoint Presentation</vt:lpstr>
      <vt:lpstr>Bad news case</vt:lpstr>
      <vt:lpstr>Good news case</vt:lpstr>
      <vt:lpstr>PowerPoint Presentation</vt:lpstr>
      <vt:lpstr>What can we learn?</vt:lpstr>
      <vt:lpstr>PowerPoint Presentation</vt:lpstr>
      <vt:lpstr>PowerPoint Presentation</vt:lpstr>
      <vt:lpstr>PowerPoint Presentation</vt:lpstr>
      <vt:lpstr>Vaccination</vt:lpstr>
      <vt:lpstr>Critical vaccination fractions</vt:lpstr>
      <vt:lpstr>“Herd immunity”</vt:lpstr>
      <vt:lpstr>Herd immunity failure</vt:lpstr>
      <vt:lpstr>Herd immunity failure</vt:lpstr>
      <vt:lpstr>PowerPoint Presentation</vt:lpstr>
      <vt:lpstr>Conclusions of paper</vt:lpstr>
      <vt:lpstr>Google trends and flu data</vt:lpstr>
      <vt:lpstr>Google trends</vt:lpstr>
      <vt:lpstr>PowerPoint Presentation</vt:lpstr>
      <vt:lpstr>Correlations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Finding a set of search terms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4: overview</dc:title>
  <cp:lastModifiedBy>Microsoft Office User</cp:lastModifiedBy>
  <cp:revision>34</cp:revision>
  <dcterms:modified xsi:type="dcterms:W3CDTF">2017-02-06T21:27:40Z</dcterms:modified>
</cp:coreProperties>
</file>