
<file path=[Content_Types].xml><?xml version="1.0" encoding="utf-8"?>
<Types xmlns="http://schemas.openxmlformats.org/package/2006/content-types">
  <Default Extension="xml" ContentType="application/xml"/>
  <Default Extension="xlsx" ContentType="application/vnd.openxmlformats-officedocument.spreadsheetml.sheet"/>
  <Default Extension="png" ContentType="image/png"/>
  <Default Extension="tif" ContentType="image/ti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7" r:id="rId2"/>
    <p:sldId id="317" r:id="rId3"/>
    <p:sldId id="318" r:id="rId4"/>
    <p:sldId id="320" r:id="rId5"/>
    <p:sldId id="323" r:id="rId6"/>
    <p:sldId id="256" r:id="rId7"/>
    <p:sldId id="324" r:id="rId8"/>
    <p:sldId id="325" r:id="rId9"/>
    <p:sldId id="326" r:id="rId10"/>
    <p:sldId id="327" r:id="rId11"/>
    <p:sldId id="328" r:id="rId12"/>
    <p:sldId id="329" r:id="rId13"/>
    <p:sldId id="330" r:id="rId14"/>
    <p:sldId id="303" r:id="rId15"/>
    <p:sldId id="304" r:id="rId16"/>
    <p:sldId id="305" r:id="rId17"/>
    <p:sldId id="306" r:id="rId18"/>
    <p:sldId id="307" r:id="rId19"/>
    <p:sldId id="308" r:id="rId20"/>
    <p:sldId id="309" r:id="rId21"/>
    <p:sldId id="310" r:id="rId22"/>
    <p:sldId id="311" r:id="rId23"/>
    <p:sldId id="312" r:id="rId24"/>
    <p:sldId id="316" r:id="rId25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67"/>
    <p:restoredTop sz="95179"/>
  </p:normalViewPr>
  <p:slideViewPr>
    <p:cSldViewPr snapToGrid="0" snapToObjects="1">
      <p:cViewPr>
        <p:scale>
          <a:sx n="75" d="100"/>
          <a:sy n="75" d="100"/>
        </p:scale>
        <p:origin x="128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roundedCorners val="0"/>
  <c:style val="18"/>
  <c:chart>
    <c:autoTitleDeleted val="1"/>
    <c:plotArea>
      <c:layout>
        <c:manualLayout>
          <c:layoutTarget val="inner"/>
          <c:xMode val="edge"/>
          <c:yMode val="edge"/>
          <c:x val="0.194465"/>
          <c:y val="0.0466421"/>
          <c:w val="0.800535"/>
          <c:h val="0.87751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</c:strRef>
          </c:tx>
          <c:spPr>
            <a:gradFill flip="none" rotWithShape="1">
              <a:gsLst>
                <a:gs pos="0">
                  <a:schemeClr val="accent1">
                    <a:satOff val="-3355"/>
                    <a:lumOff val="26614"/>
                  </a:schemeClr>
                </a:gs>
                <a:gs pos="100000">
                  <a:schemeClr val="accent1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World war 1</c:v>
                </c:pt>
                <c:pt idx="1">
                  <c:v>Spanish flu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1.5E7</c:v>
                </c:pt>
                <c:pt idx="1">
                  <c:v>7.5E7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-10"/>
        <c:axId val="-2121995648"/>
        <c:axId val="-2142081024"/>
      </c:barChart>
      <c:catAx>
        <c:axId val="-2121995648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000000"/>
            </a:solidFill>
            <a:prstDash val="solid"/>
            <a:miter lim="400000"/>
          </a:ln>
        </c:spPr>
        <c:txPr>
          <a:bodyPr rot="0"/>
          <a:lstStyle/>
          <a:p>
            <a:pPr>
              <a:defRPr sz="2090" b="1" i="0" u="none" strike="noStrike">
                <a:solidFill>
                  <a:srgbClr val="000000"/>
                </a:solidFill>
                <a:latin typeface="Helvetica"/>
              </a:defRPr>
            </a:pPr>
            <a:endParaRPr lang="en-US"/>
          </a:p>
        </c:txPr>
        <c:crossAx val="-2142081024"/>
        <c:crosses val="autoZero"/>
        <c:auto val="1"/>
        <c:lblAlgn val="ctr"/>
        <c:lblOffset val="100"/>
        <c:noMultiLvlLbl val="1"/>
      </c:catAx>
      <c:valAx>
        <c:axId val="-2142081024"/>
        <c:scaling>
          <c:orientation val="minMax"/>
        </c:scaling>
        <c:delete val="0"/>
        <c:axPos val="l"/>
        <c:majorGridlines>
          <c:spPr>
            <a:ln w="3175" cap="flat">
              <a:solidFill>
                <a:srgbClr val="B8B8B8"/>
              </a:solidFill>
              <a:prstDash val="solid"/>
              <a:miter lim="400000"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miter lim="400000"/>
          </a:ln>
        </c:spPr>
        <c:txPr>
          <a:bodyPr rot="0"/>
          <a:lstStyle/>
          <a:p>
            <a:pPr>
              <a:defRPr sz="2090" b="1" i="0" u="none" strike="noStrike">
                <a:solidFill>
                  <a:srgbClr val="000000"/>
                </a:solidFill>
                <a:latin typeface="Helvetica"/>
              </a:defRPr>
            </a:pPr>
            <a:endParaRPr lang="en-US"/>
          </a:p>
        </c:txPr>
        <c:crossAx val="-2121995648"/>
        <c:crosses val="autoZero"/>
        <c:crossBetween val="between"/>
        <c:majorUnit val="2.0E7"/>
        <c:minorUnit val="1.0E7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2" name="Shape 6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19681394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1pPr>
    <a:lvl2pPr indent="2286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2pPr>
    <a:lvl3pPr indent="4572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3pPr>
    <a:lvl4pPr indent="6858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4pPr>
    <a:lvl5pPr indent="9144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5pPr>
    <a:lvl6pPr indent="11430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6pPr>
    <a:lvl7pPr indent="13716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7pPr>
    <a:lvl8pPr indent="16002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8pPr>
    <a:lvl9pPr indent="18288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15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7" name="Shape 15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Flu started in the spring</a:t>
            </a:r>
            <a:r>
              <a:rPr dirty="0" smtClean="0"/>
              <a:t>!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An epidemic occurs when a disease affects a greater number people than is usual for the locality or one that spreads to areas not usually associated with the disease.</a:t>
            </a:r>
          </a:p>
          <a:p>
            <a:endParaRPr lang="en-US" dirty="0" smtClean="0"/>
          </a:p>
          <a:p>
            <a:r>
              <a:rPr lang="en-US" dirty="0" smtClean="0"/>
              <a:t>A pandemic is an epidemic of world-wide proportions.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076765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165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6" name="Shape 16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Flu deaths ~ 4x WW1</a:t>
            </a:r>
          </a:p>
        </p:txBody>
      </p:sp>
    </p:spTree>
    <p:extLst>
      <p:ext uri="{BB962C8B-B14F-4D97-AF65-F5344CB8AC3E}">
        <p14:creationId xmlns:p14="http://schemas.microsoft.com/office/powerpoint/2010/main" val="16428078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510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>
            <a:spLocks noGrp="1"/>
          </p:cNvSpPr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Shape 12"/>
          <p:cNvSpPr>
            <a:spLocks noGrp="1"/>
          </p:cNvSpPr>
          <p:nvPr>
            <p:ph type="body" sz="quarter" idx="1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3200"/>
            </a:lvl1pPr>
            <a:lvl2pPr marL="0" indent="228600" algn="ctr">
              <a:lnSpc>
                <a:spcPct val="100000"/>
              </a:lnSpc>
              <a:spcBef>
                <a:spcPts val="0"/>
              </a:spcBef>
              <a:buSzTx/>
              <a:buNone/>
              <a:defRPr sz="3200"/>
            </a:lvl2pPr>
            <a:lvl3pPr marL="0" indent="457200" algn="ctr">
              <a:lnSpc>
                <a:spcPct val="100000"/>
              </a:lnSpc>
              <a:spcBef>
                <a:spcPts val="0"/>
              </a:spcBef>
              <a:buSzTx/>
              <a:buNone/>
              <a:defRPr sz="3200"/>
            </a:lvl3pPr>
            <a:lvl4pPr marL="0" indent="685800" algn="ctr">
              <a:lnSpc>
                <a:spcPct val="100000"/>
              </a:lnSpc>
              <a:spcBef>
                <a:spcPts val="0"/>
              </a:spcBef>
              <a:buSzTx/>
              <a:buNone/>
              <a:defRPr sz="3200"/>
            </a:lvl4pPr>
            <a:lvl5pPr marL="0" indent="914400" algn="ctr">
              <a:lnSpc>
                <a:spcPct val="100000"/>
              </a:lnSpc>
              <a:spcBef>
                <a:spcPts val="0"/>
              </a:spcBef>
              <a:buSzTx/>
              <a:buNone/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hape 1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/>
          </p:cNvSpPr>
          <p:nvPr>
            <p:ph type="pic" idx="13"/>
          </p:nvPr>
        </p:nvSpPr>
        <p:spPr>
          <a:xfrm>
            <a:off x="1606550" y="635000"/>
            <a:ext cx="9779000" cy="59182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Shape 21"/>
          <p:cNvSpPr>
            <a:spLocks noGrp="1"/>
          </p:cNvSpPr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Shape 22"/>
          <p:cNvSpPr>
            <a:spLocks noGrp="1"/>
          </p:cNvSpPr>
          <p:nvPr>
            <p:ph type="body" sz="quarter" idx="1"/>
          </p:nvPr>
        </p:nvSpPr>
        <p:spPr>
          <a:xfrm>
            <a:off x="1270000" y="81915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3200" b="0">
                <a:latin typeface="+mn-lt"/>
                <a:ea typeface="+mn-ea"/>
                <a:cs typeface="+mn-cs"/>
                <a:sym typeface="Helvetica Light"/>
              </a:defRPr>
            </a:lvl1pPr>
            <a:lvl2pPr marL="0" indent="228600" algn="ctr">
              <a:lnSpc>
                <a:spcPct val="100000"/>
              </a:lnSpc>
              <a:spcBef>
                <a:spcPts val="0"/>
              </a:spcBef>
              <a:buSzTx/>
              <a:buNone/>
              <a:defRPr sz="3200" b="0">
                <a:latin typeface="+mn-lt"/>
                <a:ea typeface="+mn-ea"/>
                <a:cs typeface="+mn-cs"/>
                <a:sym typeface="Helvetica Light"/>
              </a:defRPr>
            </a:lvl2pPr>
            <a:lvl3pPr marL="0" indent="457200" algn="ctr">
              <a:lnSpc>
                <a:spcPct val="100000"/>
              </a:lnSpc>
              <a:spcBef>
                <a:spcPts val="0"/>
              </a:spcBef>
              <a:buSzTx/>
              <a:buNone/>
              <a:defRPr sz="3200" b="0">
                <a:latin typeface="+mn-lt"/>
                <a:ea typeface="+mn-ea"/>
                <a:cs typeface="+mn-cs"/>
                <a:sym typeface="Helvetica Light"/>
              </a:defRPr>
            </a:lvl3pPr>
            <a:lvl4pPr marL="0" indent="685800" algn="ctr">
              <a:lnSpc>
                <a:spcPct val="100000"/>
              </a:lnSpc>
              <a:spcBef>
                <a:spcPts val="0"/>
              </a:spcBef>
              <a:buSzTx/>
              <a:buNone/>
              <a:defRPr sz="3200" b="0">
                <a:latin typeface="+mn-lt"/>
                <a:ea typeface="+mn-ea"/>
                <a:cs typeface="+mn-cs"/>
                <a:sym typeface="Helvetica Light"/>
              </a:defRPr>
            </a:lvl4pPr>
            <a:lvl5pPr marL="0" indent="914400" algn="ctr">
              <a:lnSpc>
                <a:spcPct val="100000"/>
              </a:lnSpc>
              <a:spcBef>
                <a:spcPts val="0"/>
              </a:spcBef>
              <a:buSzTx/>
              <a:buNone/>
              <a:defRPr sz="3200" b="0">
                <a:latin typeface="+mn-lt"/>
                <a:ea typeface="+mn-ea"/>
                <a:cs typeface="+mn-cs"/>
                <a:sym typeface="Helvetica Light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hape 23"/>
          <p:cNvSpPr>
            <a:spLocks noGrp="1"/>
          </p:cNvSpPr>
          <p:nvPr>
            <p:ph type="sldNum" sz="quarter" idx="2"/>
          </p:nvPr>
        </p:nvSpPr>
        <p:spPr>
          <a:xfrm>
            <a:off x="6311798" y="9245600"/>
            <a:ext cx="368504" cy="3810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>
            <a:spLocks noGrp="1"/>
          </p:cNvSpPr>
          <p:nvPr>
            <p:ph type="body" sz="half" idx="13"/>
          </p:nvPr>
        </p:nvSpPr>
        <p:spPr>
          <a:xfrm>
            <a:off x="437232" y="444500"/>
            <a:ext cx="12130336" cy="21590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6400"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t>Title Text</a:t>
            </a:r>
          </a:p>
        </p:txBody>
      </p:sp>
      <p:sp>
        <p:nvSpPr>
          <p:cNvPr id="39" name="Shape 3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>
            <a:spLocks noGrp="1"/>
          </p:cNvSpPr>
          <p:nvPr>
            <p:ph type="title"/>
          </p:nvPr>
        </p:nvSpPr>
        <p:spPr>
          <a:xfrm>
            <a:off x="437232" y="444500"/>
            <a:ext cx="12130336" cy="2159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7" name="Shape 47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8" name="Shape 4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EF41B89-285A-5E46-9961-11DCB9951F6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815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952500" y="26035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normAutofit/>
          </a:bodyPr>
          <a:lstStyle>
            <a:lvl1pPr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5" r:id="rId5"/>
  </p:sldLayoutIdLst>
  <p:transition spd="med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none" spc="0" baseline="0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blurRad="88900" dist="38100" dir="2700000" rotWithShape="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none" spc="0" baseline="0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blurRad="88900" dist="38100" dir="2700000" rotWithShape="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none" spc="0" baseline="0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blurRad="88900" dist="38100" dir="2700000" rotWithShape="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none" spc="0" baseline="0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blurRad="88900" dist="38100" dir="2700000" rotWithShape="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none" spc="0" baseline="0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blurRad="88900" dist="38100" dir="2700000" rotWithShape="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none" spc="0" baseline="0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blurRad="88900" dist="38100" dir="2700000" rotWithShape="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none" spc="0" baseline="0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blurRad="88900" dist="38100" dir="2700000" rotWithShape="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none" spc="0" baseline="0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blurRad="88900" dist="38100" dir="2700000" rotWithShape="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none" spc="0" baseline="0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blurRad="88900" dist="38100" dir="2700000" rotWithShape="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9pPr>
    </p:titleStyle>
    <p:bodyStyle>
      <a:lvl1pPr marL="4445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sz="36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1pPr>
      <a:lvl2pPr marL="8890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sz="36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2pPr>
      <a:lvl3pPr marL="13335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sz="36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3pPr>
      <a:lvl4pPr marL="17780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sz="36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4pPr>
      <a:lvl5pPr marL="22225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sz="36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5pPr>
      <a:lvl6pPr marL="26670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sz="36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6pPr>
      <a:lvl7pPr marL="31115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sz="36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7pPr>
      <a:lvl8pPr marL="35560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sz="36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8pPr>
      <a:lvl9pPr marL="40005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sz="36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ti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ti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20.png"/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4" Type="http://schemas.openxmlformats.org/officeDocument/2006/relationships/image" Target="../media/image160.png"/><Relationship Id="rId5" Type="http://schemas.openxmlformats.org/officeDocument/2006/relationships/image" Target="../media/image170.png"/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Lecture 3: overview</a:t>
            </a:r>
          </a:p>
        </p:txBody>
      </p:sp>
      <p:sp>
        <p:nvSpPr>
          <p:cNvPr id="67" name="Shape 67"/>
          <p:cNvSpPr>
            <a:spLocks noGrp="1"/>
          </p:cNvSpPr>
          <p:nvPr>
            <p:ph type="body" idx="1"/>
          </p:nvPr>
        </p:nvSpPr>
        <p:spPr>
          <a:xfrm>
            <a:off x="767422" y="2609850"/>
            <a:ext cx="11099801" cy="6286501"/>
          </a:xfrm>
          <a:prstGeom prst="rect">
            <a:avLst/>
          </a:prstGeom>
        </p:spPr>
        <p:txBody>
          <a:bodyPr/>
          <a:lstStyle/>
          <a:p>
            <a:r>
              <a:rPr dirty="0"/>
              <a:t>Admin about </a:t>
            </a:r>
            <a:r>
              <a:rPr dirty="0" smtClean="0"/>
              <a:t>student presentations</a:t>
            </a:r>
            <a:endParaRPr lang="en-US" dirty="0" smtClean="0"/>
          </a:p>
          <a:p>
            <a:r>
              <a:rPr lang="en-US" dirty="0"/>
              <a:t>Continuation of </a:t>
            </a:r>
            <a:r>
              <a:rPr lang="en-US" dirty="0" err="1"/>
              <a:t>Matlab</a:t>
            </a:r>
            <a:r>
              <a:rPr lang="en-US" dirty="0"/>
              <a:t> </a:t>
            </a:r>
            <a:r>
              <a:rPr lang="en-US" dirty="0" smtClean="0"/>
              <a:t>basics</a:t>
            </a:r>
            <a:endParaRPr dirty="0"/>
          </a:p>
          <a:p>
            <a:r>
              <a:rPr dirty="0"/>
              <a:t>Introduce flu pandemics</a:t>
            </a:r>
          </a:p>
          <a:p>
            <a:r>
              <a:rPr lang="en-US" dirty="0" smtClean="0"/>
              <a:t>The </a:t>
            </a:r>
            <a:r>
              <a:rPr lang="en-US" dirty="0"/>
              <a:t>SIR model of </a:t>
            </a:r>
            <a:r>
              <a:rPr lang="en-US" dirty="0" err="1"/>
              <a:t>Kermack</a:t>
            </a:r>
            <a:r>
              <a:rPr lang="en-US" dirty="0"/>
              <a:t> and </a:t>
            </a:r>
            <a:r>
              <a:rPr lang="en-US" dirty="0" err="1"/>
              <a:t>McKendrick</a:t>
            </a:r>
            <a:r>
              <a:rPr lang="en-US" dirty="0"/>
              <a:t> (1927</a:t>
            </a:r>
            <a:r>
              <a:rPr lang="en-US" dirty="0" smtClean="0"/>
              <a:t>) – modeling activity!</a:t>
            </a:r>
          </a:p>
          <a:p>
            <a:r>
              <a:rPr lang="en-US" dirty="0"/>
              <a:t>Google </a:t>
            </a:r>
            <a:r>
              <a:rPr lang="en-US" dirty="0" smtClean="0"/>
              <a:t>trends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"/>
          <p:cNvSpPr>
            <a:spLocks noGrp="1" noChangeArrowheads="1"/>
          </p:cNvSpPr>
          <p:nvPr>
            <p:ph type="title"/>
          </p:nvPr>
        </p:nvSpPr>
        <p:spPr>
          <a:xfrm>
            <a:off x="436563" y="444500"/>
            <a:ext cx="12130087" cy="2159000"/>
          </a:xfrm>
        </p:spPr>
        <p:txBody>
          <a:bodyPr/>
          <a:lstStyle/>
          <a:p>
            <a:r>
              <a:rPr lang="en-US" altLang="en-US" dirty="0"/>
              <a:t>General two-week topic schedule</a:t>
            </a:r>
          </a:p>
        </p:txBody>
      </p:sp>
      <p:sp>
        <p:nvSpPr>
          <p:cNvPr id="27650" name="AutoShape 2"/>
          <p:cNvSpPr>
            <a:spLocks/>
          </p:cNvSpPr>
          <p:nvPr/>
        </p:nvSpPr>
        <p:spPr bwMode="auto">
          <a:xfrm>
            <a:off x="2606675" y="4202113"/>
            <a:ext cx="1147762" cy="611187"/>
          </a:xfrm>
          <a:prstGeom prst="roundRect">
            <a:avLst>
              <a:gd name="adj" fmla="val 19417"/>
            </a:avLst>
          </a:prstGeom>
          <a:solidFill>
            <a:srgbClr val="F3F28F"/>
          </a:solidFill>
          <a:ln w="12700" cap="flat" cmpd="sng">
            <a:solidFill>
              <a:srgbClr val="F5D328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r>
              <a:rPr lang="en-US" altLang="en-US" sz="2400" b="1">
                <a:latin typeface="Helvetica" charset="0"/>
                <a:ea typeface="Helvetica" charset="0"/>
                <a:cs typeface="Helvetica" charset="0"/>
                <a:sym typeface="Helvetica" charset="0"/>
              </a:rPr>
              <a:t>Mon</a:t>
            </a:r>
          </a:p>
        </p:txBody>
      </p:sp>
      <p:sp>
        <p:nvSpPr>
          <p:cNvPr id="27651" name="AutoShape 3"/>
          <p:cNvSpPr>
            <a:spLocks/>
          </p:cNvSpPr>
          <p:nvPr/>
        </p:nvSpPr>
        <p:spPr bwMode="auto">
          <a:xfrm>
            <a:off x="4191000" y="4202113"/>
            <a:ext cx="1147762" cy="611187"/>
          </a:xfrm>
          <a:prstGeom prst="roundRect">
            <a:avLst>
              <a:gd name="adj" fmla="val 19417"/>
            </a:avLst>
          </a:prstGeom>
          <a:solidFill>
            <a:srgbClr val="F3F28F"/>
          </a:solidFill>
          <a:ln w="12700" cap="flat" cmpd="sng">
            <a:solidFill>
              <a:srgbClr val="F5D328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r>
              <a:rPr lang="en-US" altLang="en-US" sz="2400" b="1">
                <a:latin typeface="Helvetica" charset="0"/>
                <a:ea typeface="Helvetica" charset="0"/>
                <a:cs typeface="Helvetica" charset="0"/>
                <a:sym typeface="Helvetica" charset="0"/>
              </a:rPr>
              <a:t>Tue</a:t>
            </a:r>
          </a:p>
        </p:txBody>
      </p:sp>
      <p:sp>
        <p:nvSpPr>
          <p:cNvPr id="27652" name="AutoShape 4"/>
          <p:cNvSpPr>
            <a:spLocks/>
          </p:cNvSpPr>
          <p:nvPr/>
        </p:nvSpPr>
        <p:spPr bwMode="auto">
          <a:xfrm>
            <a:off x="5773737" y="4202113"/>
            <a:ext cx="1147763" cy="611187"/>
          </a:xfrm>
          <a:prstGeom prst="roundRect">
            <a:avLst>
              <a:gd name="adj" fmla="val 19417"/>
            </a:avLst>
          </a:prstGeom>
          <a:solidFill>
            <a:srgbClr val="F3F28F"/>
          </a:solidFill>
          <a:ln w="12700" cap="flat" cmpd="sng">
            <a:solidFill>
              <a:srgbClr val="F5D328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r>
              <a:rPr lang="en-US" altLang="en-US" sz="2400" b="1">
                <a:latin typeface="Helvetica" charset="0"/>
                <a:ea typeface="Helvetica" charset="0"/>
                <a:cs typeface="Helvetica" charset="0"/>
                <a:sym typeface="Helvetica" charset="0"/>
              </a:rPr>
              <a:t>Wed</a:t>
            </a:r>
          </a:p>
        </p:txBody>
      </p:sp>
      <p:sp>
        <p:nvSpPr>
          <p:cNvPr id="27653" name="AutoShape 5"/>
          <p:cNvSpPr>
            <a:spLocks/>
          </p:cNvSpPr>
          <p:nvPr/>
        </p:nvSpPr>
        <p:spPr bwMode="auto">
          <a:xfrm>
            <a:off x="7356475" y="4202113"/>
            <a:ext cx="1147762" cy="611187"/>
          </a:xfrm>
          <a:prstGeom prst="roundRect">
            <a:avLst>
              <a:gd name="adj" fmla="val 19417"/>
            </a:avLst>
          </a:prstGeom>
          <a:solidFill>
            <a:srgbClr val="F3F28F"/>
          </a:solidFill>
          <a:ln w="12700" cap="flat" cmpd="sng">
            <a:solidFill>
              <a:srgbClr val="F5D328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r>
              <a:rPr lang="en-US" altLang="en-US" sz="2400" b="1">
                <a:latin typeface="Helvetica" charset="0"/>
                <a:ea typeface="Helvetica" charset="0"/>
                <a:cs typeface="Helvetica" charset="0"/>
                <a:sym typeface="Helvetica" charset="0"/>
              </a:rPr>
              <a:t>Thu</a:t>
            </a:r>
          </a:p>
        </p:txBody>
      </p:sp>
      <p:sp>
        <p:nvSpPr>
          <p:cNvPr id="27654" name="AutoShape 6"/>
          <p:cNvSpPr>
            <a:spLocks/>
          </p:cNvSpPr>
          <p:nvPr/>
        </p:nvSpPr>
        <p:spPr bwMode="auto">
          <a:xfrm>
            <a:off x="8940800" y="4202113"/>
            <a:ext cx="1147762" cy="611187"/>
          </a:xfrm>
          <a:prstGeom prst="roundRect">
            <a:avLst>
              <a:gd name="adj" fmla="val 19417"/>
            </a:avLst>
          </a:prstGeom>
          <a:solidFill>
            <a:srgbClr val="F3F28F"/>
          </a:solidFill>
          <a:ln w="12700" cap="flat" cmpd="sng">
            <a:solidFill>
              <a:srgbClr val="F5D328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r>
              <a:rPr lang="en-US" altLang="en-US" sz="2400" b="1">
                <a:latin typeface="Helvetica" charset="0"/>
                <a:ea typeface="Helvetica" charset="0"/>
                <a:cs typeface="Helvetica" charset="0"/>
                <a:sym typeface="Helvetica" charset="0"/>
              </a:rPr>
              <a:t>Fri</a:t>
            </a:r>
          </a:p>
        </p:txBody>
      </p:sp>
      <p:sp>
        <p:nvSpPr>
          <p:cNvPr id="27657" name="AutoShape 9"/>
          <p:cNvSpPr>
            <a:spLocks/>
          </p:cNvSpPr>
          <p:nvPr/>
        </p:nvSpPr>
        <p:spPr bwMode="auto">
          <a:xfrm>
            <a:off x="2606675" y="7351215"/>
            <a:ext cx="1147762" cy="611187"/>
          </a:xfrm>
          <a:prstGeom prst="roundRect">
            <a:avLst>
              <a:gd name="adj" fmla="val 19417"/>
            </a:avLst>
          </a:prstGeom>
          <a:solidFill>
            <a:srgbClr val="F3F28F"/>
          </a:solidFill>
          <a:ln w="12700" cap="flat" cmpd="sng">
            <a:solidFill>
              <a:srgbClr val="F5D328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r>
              <a:rPr lang="en-US" altLang="en-US" sz="2400" b="1">
                <a:latin typeface="Helvetica" charset="0"/>
                <a:ea typeface="Helvetica" charset="0"/>
                <a:cs typeface="Helvetica" charset="0"/>
                <a:sym typeface="Helvetica" charset="0"/>
              </a:rPr>
              <a:t>Mon</a:t>
            </a:r>
          </a:p>
        </p:txBody>
      </p:sp>
      <p:sp>
        <p:nvSpPr>
          <p:cNvPr id="27658" name="AutoShape 10"/>
          <p:cNvSpPr>
            <a:spLocks/>
          </p:cNvSpPr>
          <p:nvPr/>
        </p:nvSpPr>
        <p:spPr bwMode="auto">
          <a:xfrm>
            <a:off x="4191000" y="7351215"/>
            <a:ext cx="1147762" cy="611187"/>
          </a:xfrm>
          <a:prstGeom prst="roundRect">
            <a:avLst>
              <a:gd name="adj" fmla="val 19417"/>
            </a:avLst>
          </a:prstGeom>
          <a:solidFill>
            <a:srgbClr val="F3F28F"/>
          </a:solidFill>
          <a:ln w="12700" cap="flat" cmpd="sng">
            <a:solidFill>
              <a:srgbClr val="F5D328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r>
              <a:rPr lang="en-US" altLang="en-US" sz="2400" b="1">
                <a:latin typeface="Helvetica" charset="0"/>
                <a:ea typeface="Helvetica" charset="0"/>
                <a:cs typeface="Helvetica" charset="0"/>
                <a:sym typeface="Helvetica" charset="0"/>
              </a:rPr>
              <a:t>Tue</a:t>
            </a:r>
          </a:p>
        </p:txBody>
      </p:sp>
      <p:sp>
        <p:nvSpPr>
          <p:cNvPr id="27659" name="AutoShape 11"/>
          <p:cNvSpPr>
            <a:spLocks/>
          </p:cNvSpPr>
          <p:nvPr/>
        </p:nvSpPr>
        <p:spPr bwMode="auto">
          <a:xfrm>
            <a:off x="5773737" y="7351215"/>
            <a:ext cx="1147763" cy="611187"/>
          </a:xfrm>
          <a:prstGeom prst="roundRect">
            <a:avLst>
              <a:gd name="adj" fmla="val 19417"/>
            </a:avLst>
          </a:prstGeom>
          <a:solidFill>
            <a:srgbClr val="F3F28F"/>
          </a:solidFill>
          <a:ln w="12700" cap="flat" cmpd="sng">
            <a:solidFill>
              <a:srgbClr val="F5D328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r>
              <a:rPr lang="en-US" altLang="en-US" sz="2400" b="1">
                <a:latin typeface="Helvetica" charset="0"/>
                <a:ea typeface="Helvetica" charset="0"/>
                <a:cs typeface="Helvetica" charset="0"/>
                <a:sym typeface="Helvetica" charset="0"/>
              </a:rPr>
              <a:t>Wed</a:t>
            </a:r>
          </a:p>
        </p:txBody>
      </p:sp>
      <p:sp>
        <p:nvSpPr>
          <p:cNvPr id="27660" name="AutoShape 12"/>
          <p:cNvSpPr>
            <a:spLocks/>
          </p:cNvSpPr>
          <p:nvPr/>
        </p:nvSpPr>
        <p:spPr bwMode="auto">
          <a:xfrm>
            <a:off x="7356475" y="7351215"/>
            <a:ext cx="1147762" cy="611187"/>
          </a:xfrm>
          <a:prstGeom prst="roundRect">
            <a:avLst>
              <a:gd name="adj" fmla="val 19417"/>
            </a:avLst>
          </a:prstGeom>
          <a:solidFill>
            <a:srgbClr val="F3F28F"/>
          </a:solidFill>
          <a:ln w="12700" cap="flat" cmpd="sng">
            <a:solidFill>
              <a:srgbClr val="F5D328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r>
              <a:rPr lang="en-US" altLang="en-US" sz="2400" b="1">
                <a:latin typeface="Helvetica" charset="0"/>
                <a:ea typeface="Helvetica" charset="0"/>
                <a:cs typeface="Helvetica" charset="0"/>
                <a:sym typeface="Helvetica" charset="0"/>
              </a:rPr>
              <a:t>Thu</a:t>
            </a:r>
          </a:p>
        </p:txBody>
      </p:sp>
      <p:sp>
        <p:nvSpPr>
          <p:cNvPr id="27661" name="AutoShape 13"/>
          <p:cNvSpPr>
            <a:spLocks/>
          </p:cNvSpPr>
          <p:nvPr/>
        </p:nvSpPr>
        <p:spPr bwMode="auto">
          <a:xfrm>
            <a:off x="8940800" y="7351215"/>
            <a:ext cx="1147762" cy="611187"/>
          </a:xfrm>
          <a:prstGeom prst="roundRect">
            <a:avLst>
              <a:gd name="adj" fmla="val 19417"/>
            </a:avLst>
          </a:prstGeom>
          <a:solidFill>
            <a:srgbClr val="F3F28F"/>
          </a:solidFill>
          <a:ln w="12700" cap="flat" cmpd="sng">
            <a:solidFill>
              <a:srgbClr val="F5D328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r>
              <a:rPr lang="en-US" altLang="en-US" sz="2400" b="1">
                <a:latin typeface="Helvetica" charset="0"/>
                <a:ea typeface="Helvetica" charset="0"/>
                <a:cs typeface="Helvetica" charset="0"/>
                <a:sym typeface="Helvetica" charset="0"/>
              </a:rPr>
              <a:t>Fri</a:t>
            </a:r>
          </a:p>
        </p:txBody>
      </p:sp>
      <p:sp>
        <p:nvSpPr>
          <p:cNvPr id="27664" name="AutoShape 16"/>
          <p:cNvSpPr>
            <a:spLocks/>
          </p:cNvSpPr>
          <p:nvPr/>
        </p:nvSpPr>
        <p:spPr bwMode="auto">
          <a:xfrm>
            <a:off x="8940800" y="8973938"/>
            <a:ext cx="1147762" cy="611187"/>
          </a:xfrm>
          <a:prstGeom prst="roundRect">
            <a:avLst>
              <a:gd name="adj" fmla="val 19417"/>
            </a:avLst>
          </a:prstGeom>
          <a:solidFill>
            <a:srgbClr val="F3F28F"/>
          </a:solidFill>
          <a:ln w="12700" cap="flat" cmpd="sng">
            <a:solidFill>
              <a:srgbClr val="F5D328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r>
              <a:rPr lang="en-US" altLang="en-US" sz="2400" b="1" smtClean="0">
                <a:latin typeface="Helvetica" charset="0"/>
                <a:ea typeface="Helvetica" charset="0"/>
                <a:cs typeface="Helvetica" charset="0"/>
                <a:sym typeface="Helvetica" charset="0"/>
              </a:rPr>
              <a:t>Fri</a:t>
            </a:r>
            <a:endParaRPr lang="en-US" altLang="en-US" sz="2400" b="1">
              <a:latin typeface="Helvetica" charset="0"/>
              <a:ea typeface="Helvetica" charset="0"/>
              <a:cs typeface="Helvetica" charset="0"/>
              <a:sym typeface="Helvetica" charset="0"/>
            </a:endParaRPr>
          </a:p>
        </p:txBody>
      </p:sp>
      <p:sp>
        <p:nvSpPr>
          <p:cNvPr id="27665" name="Line 17"/>
          <p:cNvSpPr>
            <a:spLocks noChangeShapeType="1"/>
          </p:cNvSpPr>
          <p:nvPr/>
        </p:nvSpPr>
        <p:spPr bwMode="auto">
          <a:xfrm>
            <a:off x="1947067" y="3365501"/>
            <a:ext cx="2639220" cy="709612"/>
          </a:xfrm>
          <a:prstGeom prst="line">
            <a:avLst/>
          </a:prstGeom>
          <a:noFill/>
          <a:ln w="38100" cap="flat" cmpd="sng">
            <a:solidFill>
              <a:srgbClr val="773F9B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endParaRPr lang="en-US" altLang="en-US" sz="2400"/>
          </a:p>
        </p:txBody>
      </p:sp>
      <p:sp>
        <p:nvSpPr>
          <p:cNvPr id="27666" name="Line 18"/>
          <p:cNvSpPr>
            <a:spLocks noChangeShapeType="1"/>
          </p:cNvSpPr>
          <p:nvPr/>
        </p:nvSpPr>
        <p:spPr bwMode="auto">
          <a:xfrm>
            <a:off x="7013574" y="3476107"/>
            <a:ext cx="990600" cy="673619"/>
          </a:xfrm>
          <a:prstGeom prst="line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endParaRPr lang="en-US" altLang="en-US" sz="2400"/>
          </a:p>
        </p:txBody>
      </p:sp>
      <p:sp>
        <p:nvSpPr>
          <p:cNvPr id="27667" name="Line 19"/>
          <p:cNvSpPr>
            <a:spLocks noChangeShapeType="1"/>
          </p:cNvSpPr>
          <p:nvPr/>
        </p:nvSpPr>
        <p:spPr bwMode="auto">
          <a:xfrm>
            <a:off x="5992020" y="3876171"/>
            <a:ext cx="3592248" cy="15193"/>
          </a:xfrm>
          <a:prstGeom prst="line">
            <a:avLst/>
          </a:prstGeom>
          <a:noFill/>
          <a:ln w="38100" cap="flat" cmpd="sng">
            <a:solidFill>
              <a:srgbClr val="C82506"/>
            </a:solidFill>
            <a:prstDash val="solid"/>
            <a:round/>
            <a:headEnd type="oval" w="med" len="med"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endParaRPr lang="en-US" altLang="en-US" sz="2400"/>
          </a:p>
        </p:txBody>
      </p:sp>
      <p:sp>
        <p:nvSpPr>
          <p:cNvPr id="27668" name="Line 20"/>
          <p:cNvSpPr>
            <a:spLocks noChangeShapeType="1"/>
          </p:cNvSpPr>
          <p:nvPr/>
        </p:nvSpPr>
        <p:spPr bwMode="auto">
          <a:xfrm flipH="1">
            <a:off x="8208830" y="3153032"/>
            <a:ext cx="1555750" cy="547281"/>
          </a:xfrm>
          <a:prstGeom prst="line">
            <a:avLst/>
          </a:prstGeom>
          <a:noFill/>
          <a:ln w="38100" cap="flat" cmpd="sng">
            <a:solidFill>
              <a:srgbClr val="C82506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endParaRPr lang="en-US" altLang="en-US" sz="2400"/>
          </a:p>
        </p:txBody>
      </p:sp>
      <p:sp>
        <p:nvSpPr>
          <p:cNvPr id="27669" name="Rectangle 21"/>
          <p:cNvSpPr>
            <a:spLocks/>
          </p:cNvSpPr>
          <p:nvPr/>
        </p:nvSpPr>
        <p:spPr bwMode="auto">
          <a:xfrm>
            <a:off x="111917" y="2825365"/>
            <a:ext cx="1998663" cy="809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en-US" sz="2600" b="1" dirty="0">
                <a:solidFill>
                  <a:srgbClr val="773F9B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Introduce new topic</a:t>
            </a:r>
          </a:p>
        </p:txBody>
      </p:sp>
      <p:sp>
        <p:nvSpPr>
          <p:cNvPr id="27670" name="Rectangle 22"/>
          <p:cNvSpPr>
            <a:spLocks/>
          </p:cNvSpPr>
          <p:nvPr/>
        </p:nvSpPr>
        <p:spPr bwMode="auto">
          <a:xfrm>
            <a:off x="4496989" y="2818791"/>
            <a:ext cx="3705225" cy="422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en-US" sz="2600" b="1">
                <a:solidFill>
                  <a:schemeClr val="accent1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Modeling/discussion</a:t>
            </a:r>
          </a:p>
        </p:txBody>
      </p:sp>
      <p:sp>
        <p:nvSpPr>
          <p:cNvPr id="27673" name="Line 25"/>
          <p:cNvSpPr>
            <a:spLocks noChangeShapeType="1"/>
          </p:cNvSpPr>
          <p:nvPr/>
        </p:nvSpPr>
        <p:spPr bwMode="auto">
          <a:xfrm flipV="1">
            <a:off x="7013574" y="7286721"/>
            <a:ext cx="78581" cy="1019079"/>
          </a:xfrm>
          <a:prstGeom prst="line">
            <a:avLst/>
          </a:prstGeom>
          <a:noFill/>
          <a:ln w="38100" cap="flat" cmpd="sng">
            <a:solidFill>
              <a:srgbClr val="C82506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endParaRPr lang="en-US" altLang="en-US" sz="2400"/>
          </a:p>
        </p:txBody>
      </p:sp>
      <p:sp>
        <p:nvSpPr>
          <p:cNvPr id="27675" name="Line 27"/>
          <p:cNvSpPr>
            <a:spLocks noChangeShapeType="1"/>
          </p:cNvSpPr>
          <p:nvPr/>
        </p:nvSpPr>
        <p:spPr bwMode="auto">
          <a:xfrm>
            <a:off x="7281066" y="6133601"/>
            <a:ext cx="481807" cy="1217614"/>
          </a:xfrm>
          <a:prstGeom prst="lin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endParaRPr lang="en-US" altLang="en-US" sz="2400"/>
          </a:p>
        </p:txBody>
      </p:sp>
      <p:sp>
        <p:nvSpPr>
          <p:cNvPr id="27676" name="Rectangle 28"/>
          <p:cNvSpPr>
            <a:spLocks/>
          </p:cNvSpPr>
          <p:nvPr/>
        </p:nvSpPr>
        <p:spPr bwMode="auto">
          <a:xfrm>
            <a:off x="5603874" y="5307993"/>
            <a:ext cx="3057525" cy="742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en-US" sz="2600" b="1">
                <a:solidFill>
                  <a:schemeClr val="accent2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Student presentations</a:t>
            </a:r>
          </a:p>
        </p:txBody>
      </p:sp>
      <p:sp>
        <p:nvSpPr>
          <p:cNvPr id="27677" name="Line 29"/>
          <p:cNvSpPr>
            <a:spLocks noChangeShapeType="1"/>
          </p:cNvSpPr>
          <p:nvPr/>
        </p:nvSpPr>
        <p:spPr bwMode="auto">
          <a:xfrm flipH="1">
            <a:off x="4749799" y="6133602"/>
            <a:ext cx="1" cy="977992"/>
          </a:xfrm>
          <a:prstGeom prst="line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endParaRPr lang="en-US" altLang="en-US" sz="2400" dirty="0"/>
          </a:p>
        </p:txBody>
      </p:sp>
      <p:sp>
        <p:nvSpPr>
          <p:cNvPr id="27678" name="Rectangle 30"/>
          <p:cNvSpPr>
            <a:spLocks/>
          </p:cNvSpPr>
          <p:nvPr/>
        </p:nvSpPr>
        <p:spPr bwMode="auto">
          <a:xfrm>
            <a:off x="3750467" y="5333247"/>
            <a:ext cx="1998663" cy="742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en-US" sz="2600" b="1" dirty="0" smtClean="0">
                <a:solidFill>
                  <a:schemeClr val="accent1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Computer lab</a:t>
            </a:r>
            <a:endParaRPr lang="en-US" altLang="en-US" sz="2600" b="1" dirty="0">
              <a:solidFill>
                <a:schemeClr val="accent1"/>
              </a:solidFill>
              <a:latin typeface="Helvetica" charset="0"/>
              <a:ea typeface="Helvetica" charset="0"/>
              <a:cs typeface="Helvetica" charset="0"/>
              <a:sym typeface="Helvetica" charset="0"/>
            </a:endParaRPr>
          </a:p>
        </p:txBody>
      </p:sp>
      <p:sp>
        <p:nvSpPr>
          <p:cNvPr id="27679" name="Line 31"/>
          <p:cNvSpPr>
            <a:spLocks noChangeShapeType="1"/>
          </p:cNvSpPr>
          <p:nvPr/>
        </p:nvSpPr>
        <p:spPr bwMode="auto">
          <a:xfrm flipH="1">
            <a:off x="10277474" y="7622976"/>
            <a:ext cx="2068513" cy="1350962"/>
          </a:xfrm>
          <a:prstGeom prst="line">
            <a:avLst/>
          </a:prstGeom>
          <a:noFill/>
          <a:ln w="38100" cap="flat" cmpd="sng">
            <a:solidFill>
              <a:srgbClr val="DE6A1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endParaRPr lang="en-US" altLang="en-US" sz="2400"/>
          </a:p>
        </p:txBody>
      </p:sp>
      <p:sp>
        <p:nvSpPr>
          <p:cNvPr id="27680" name="Rectangle 32"/>
          <p:cNvSpPr>
            <a:spLocks/>
          </p:cNvSpPr>
          <p:nvPr/>
        </p:nvSpPr>
        <p:spPr bwMode="auto">
          <a:xfrm>
            <a:off x="10195986" y="6804711"/>
            <a:ext cx="3011488" cy="742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en-US" sz="2600" b="1" dirty="0">
                <a:solidFill>
                  <a:srgbClr val="DE6A10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Homework assignment due</a:t>
            </a:r>
          </a:p>
        </p:txBody>
      </p:sp>
      <p:sp>
        <p:nvSpPr>
          <p:cNvPr id="27681" name="Rectangle 33"/>
          <p:cNvSpPr>
            <a:spLocks/>
          </p:cNvSpPr>
          <p:nvPr/>
        </p:nvSpPr>
        <p:spPr bwMode="auto">
          <a:xfrm>
            <a:off x="8693149" y="5209174"/>
            <a:ext cx="3011488" cy="811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en-US" sz="2600" b="1" dirty="0">
                <a:solidFill>
                  <a:srgbClr val="DE6A10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Lab assignment due</a:t>
            </a:r>
          </a:p>
        </p:txBody>
      </p:sp>
      <p:sp>
        <p:nvSpPr>
          <p:cNvPr id="27682" name="Line 34"/>
          <p:cNvSpPr>
            <a:spLocks noChangeShapeType="1"/>
          </p:cNvSpPr>
          <p:nvPr/>
        </p:nvSpPr>
        <p:spPr bwMode="auto">
          <a:xfrm flipH="1">
            <a:off x="9782968" y="6133601"/>
            <a:ext cx="284165" cy="935831"/>
          </a:xfrm>
          <a:prstGeom prst="line">
            <a:avLst/>
          </a:prstGeom>
          <a:noFill/>
          <a:ln w="38100" cap="flat" cmpd="sng">
            <a:solidFill>
              <a:srgbClr val="DE6A1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endParaRPr lang="en-US" altLang="en-US" sz="2400"/>
          </a:p>
        </p:txBody>
      </p:sp>
      <p:sp>
        <p:nvSpPr>
          <p:cNvPr id="36" name="Rectangle 26"/>
          <p:cNvSpPr>
            <a:spLocks/>
          </p:cNvSpPr>
          <p:nvPr/>
        </p:nvSpPr>
        <p:spPr bwMode="auto">
          <a:xfrm>
            <a:off x="9856786" y="2514985"/>
            <a:ext cx="2520950" cy="1062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en-US" sz="2600" b="1" dirty="0" smtClean="0">
                <a:solidFill>
                  <a:srgbClr val="C8250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office hours</a:t>
            </a:r>
          </a:p>
          <a:p>
            <a:pPr>
              <a:lnSpc>
                <a:spcPct val="80000"/>
              </a:lnSpc>
            </a:pPr>
            <a:r>
              <a:rPr lang="en-US" altLang="en-US" sz="2600" b="1" dirty="0" smtClean="0">
                <a:solidFill>
                  <a:srgbClr val="C8250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+ extra </a:t>
            </a:r>
            <a:r>
              <a:rPr lang="en-US" altLang="en-US" sz="2600" b="1" dirty="0" err="1" smtClean="0">
                <a:solidFill>
                  <a:srgbClr val="C8250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Matlab</a:t>
            </a:r>
            <a:r>
              <a:rPr lang="en-US" altLang="en-US" sz="2600" b="1" dirty="0" smtClean="0">
                <a:solidFill>
                  <a:srgbClr val="C8250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 with Kausalya</a:t>
            </a:r>
            <a:endParaRPr lang="en-US" altLang="en-US" sz="2600" b="1" dirty="0">
              <a:solidFill>
                <a:srgbClr val="C82506"/>
              </a:solidFill>
              <a:latin typeface="Helvetica" charset="0"/>
              <a:ea typeface="Helvetica" charset="0"/>
              <a:cs typeface="Helvetica" charset="0"/>
              <a:sym typeface="Helvetica" charset="0"/>
            </a:endParaRPr>
          </a:p>
        </p:txBody>
      </p:sp>
      <p:sp>
        <p:nvSpPr>
          <p:cNvPr id="37" name="Line 18"/>
          <p:cNvSpPr>
            <a:spLocks noChangeShapeType="1"/>
          </p:cNvSpPr>
          <p:nvPr/>
        </p:nvSpPr>
        <p:spPr bwMode="auto">
          <a:xfrm>
            <a:off x="758031" y="6531679"/>
            <a:ext cx="1710532" cy="1049723"/>
          </a:xfrm>
          <a:prstGeom prst="line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endParaRPr lang="en-US" altLang="en-US" sz="2400"/>
          </a:p>
        </p:txBody>
      </p:sp>
      <p:sp>
        <p:nvSpPr>
          <p:cNvPr id="38" name="Rectangle 22"/>
          <p:cNvSpPr>
            <a:spLocks/>
          </p:cNvSpPr>
          <p:nvPr/>
        </p:nvSpPr>
        <p:spPr bwMode="auto">
          <a:xfrm>
            <a:off x="-51596" y="5401304"/>
            <a:ext cx="1998663" cy="1062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en-US" sz="2600" b="1" dirty="0" err="1" smtClean="0">
                <a:solidFill>
                  <a:schemeClr val="accent1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Matlab</a:t>
            </a:r>
            <a:r>
              <a:rPr lang="en-US" altLang="en-US" sz="2600" b="1" dirty="0" smtClean="0">
                <a:solidFill>
                  <a:schemeClr val="accent1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 section with </a:t>
            </a:r>
            <a:r>
              <a:rPr lang="en-US" altLang="en-US" sz="2600" b="1" dirty="0" err="1" smtClean="0">
                <a:solidFill>
                  <a:schemeClr val="accent1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Ziwei</a:t>
            </a:r>
            <a:endParaRPr lang="en-US" altLang="en-US" sz="2600" b="1" dirty="0">
              <a:solidFill>
                <a:schemeClr val="accent1"/>
              </a:solidFill>
              <a:latin typeface="Helvetica" charset="0"/>
              <a:ea typeface="Helvetica" charset="0"/>
              <a:cs typeface="Helvetica" charset="0"/>
              <a:sym typeface="Helvetica" charset="0"/>
            </a:endParaRPr>
          </a:p>
        </p:txBody>
      </p:sp>
      <p:sp>
        <p:nvSpPr>
          <p:cNvPr id="39" name="Line 18"/>
          <p:cNvSpPr>
            <a:spLocks noChangeShapeType="1"/>
          </p:cNvSpPr>
          <p:nvPr/>
        </p:nvSpPr>
        <p:spPr bwMode="auto">
          <a:xfrm flipV="1">
            <a:off x="1549400" y="5060067"/>
            <a:ext cx="1057275" cy="502533"/>
          </a:xfrm>
          <a:prstGeom prst="line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endParaRPr lang="en-US" altLang="en-US" sz="2400"/>
          </a:p>
        </p:txBody>
      </p:sp>
      <p:sp>
        <p:nvSpPr>
          <p:cNvPr id="35" name="Line 19"/>
          <p:cNvSpPr>
            <a:spLocks noChangeShapeType="1"/>
          </p:cNvSpPr>
          <p:nvPr/>
        </p:nvSpPr>
        <p:spPr bwMode="auto">
          <a:xfrm>
            <a:off x="5992020" y="7125585"/>
            <a:ext cx="3592248" cy="15193"/>
          </a:xfrm>
          <a:prstGeom prst="line">
            <a:avLst/>
          </a:prstGeom>
          <a:noFill/>
          <a:ln w="38100" cap="flat" cmpd="sng">
            <a:solidFill>
              <a:srgbClr val="C82506"/>
            </a:solidFill>
            <a:prstDash val="solid"/>
            <a:round/>
            <a:headEnd type="oval" w="med" len="med"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endParaRPr lang="en-US" altLang="en-US" sz="2400"/>
          </a:p>
        </p:txBody>
      </p:sp>
      <p:sp>
        <p:nvSpPr>
          <p:cNvPr id="40" name="Rectangle 26"/>
          <p:cNvSpPr>
            <a:spLocks/>
          </p:cNvSpPr>
          <p:nvPr/>
        </p:nvSpPr>
        <p:spPr bwMode="auto">
          <a:xfrm>
            <a:off x="5831680" y="8321239"/>
            <a:ext cx="2520950" cy="1062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en-US" sz="2600" b="1" dirty="0" smtClean="0">
                <a:solidFill>
                  <a:srgbClr val="C8250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office hours</a:t>
            </a:r>
          </a:p>
          <a:p>
            <a:pPr>
              <a:lnSpc>
                <a:spcPct val="80000"/>
              </a:lnSpc>
            </a:pPr>
            <a:r>
              <a:rPr lang="en-US" altLang="en-US" sz="2600" b="1" dirty="0" smtClean="0">
                <a:solidFill>
                  <a:srgbClr val="C8250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+ extra </a:t>
            </a:r>
            <a:r>
              <a:rPr lang="en-US" altLang="en-US" sz="2600" b="1" dirty="0" err="1" smtClean="0">
                <a:solidFill>
                  <a:srgbClr val="C8250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Matlab</a:t>
            </a:r>
            <a:r>
              <a:rPr lang="en-US" altLang="en-US" sz="2600" b="1" dirty="0" smtClean="0">
                <a:solidFill>
                  <a:srgbClr val="C82506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 with Kausalya</a:t>
            </a:r>
            <a:endParaRPr lang="en-US" altLang="en-US" sz="2600" b="1" dirty="0">
              <a:solidFill>
                <a:srgbClr val="C82506"/>
              </a:solidFill>
              <a:latin typeface="Helvetica" charset="0"/>
              <a:ea typeface="Helvetica" charset="0"/>
              <a:cs typeface="Helvetica" charset="0"/>
              <a:sym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424567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10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Admin: student presentations</a:t>
            </a:r>
          </a:p>
        </p:txBody>
      </p:sp>
      <p:sp>
        <p:nvSpPr>
          <p:cNvPr id="105" name="Shape 105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408940" indent="-408940" defTabSz="537463">
              <a:spcBef>
                <a:spcPts val="2300"/>
              </a:spcBef>
              <a:defRPr sz="3312"/>
            </a:pPr>
            <a:r>
              <a:rPr lang="en-US" dirty="0" smtClean="0"/>
              <a:t>Five </a:t>
            </a:r>
            <a:r>
              <a:rPr dirty="0" smtClean="0"/>
              <a:t>lecture times</a:t>
            </a:r>
            <a:r>
              <a:rPr lang="en-US" dirty="0" smtClean="0"/>
              <a:t> (Feb 9, Feb 23, Mar 9, Mar 30, Apr 13)</a:t>
            </a:r>
            <a:endParaRPr dirty="0"/>
          </a:p>
          <a:p>
            <a:pPr marL="408940" indent="-408940" defTabSz="537463">
              <a:spcBef>
                <a:spcPts val="2300"/>
              </a:spcBef>
              <a:defRPr sz="3312"/>
            </a:pPr>
            <a:r>
              <a:rPr dirty="0"/>
              <a:t>Sign-up done using a Google Doc. Link posted this </a:t>
            </a:r>
            <a:r>
              <a:rPr dirty="0" smtClean="0"/>
              <a:t>evening. </a:t>
            </a:r>
            <a:r>
              <a:rPr lang="en-US" dirty="0" smtClean="0"/>
              <a:t> 3 - 4 </a:t>
            </a:r>
            <a:r>
              <a:rPr dirty="0" smtClean="0"/>
              <a:t>slots </a:t>
            </a:r>
            <a:r>
              <a:rPr dirty="0"/>
              <a:t>per session. </a:t>
            </a:r>
            <a:r>
              <a:rPr dirty="0" smtClean="0"/>
              <a:t>M</a:t>
            </a:r>
            <a:r>
              <a:rPr lang="en-US" dirty="0" smtClean="0"/>
              <a:t>ust be done with in a team of three students. </a:t>
            </a:r>
          </a:p>
          <a:p>
            <a:pPr marL="408940" indent="-408940" defTabSz="537463">
              <a:spcBef>
                <a:spcPts val="2300"/>
              </a:spcBef>
              <a:defRPr sz="3312"/>
            </a:pPr>
            <a:r>
              <a:rPr dirty="0" smtClean="0"/>
              <a:t>Think </a:t>
            </a:r>
            <a:r>
              <a:rPr dirty="0"/>
              <a:t>about finding a </a:t>
            </a:r>
            <a:r>
              <a:rPr lang="en-US" dirty="0" smtClean="0"/>
              <a:t>team</a:t>
            </a:r>
            <a:r>
              <a:rPr dirty="0" smtClean="0"/>
              <a:t>, </a:t>
            </a:r>
            <a:r>
              <a:rPr dirty="0"/>
              <a:t>which of the </a:t>
            </a:r>
            <a:r>
              <a:rPr lang="en-US" dirty="0" smtClean="0"/>
              <a:t>five </a:t>
            </a:r>
            <a:r>
              <a:rPr dirty="0" smtClean="0"/>
              <a:t>topics </a:t>
            </a:r>
            <a:r>
              <a:rPr dirty="0"/>
              <a:t>you’d like to present, and when works for you. </a:t>
            </a:r>
            <a:endParaRPr lang="en-US" dirty="0" smtClean="0"/>
          </a:p>
          <a:p>
            <a:pPr marL="408940" indent="-408940" defTabSz="537463">
              <a:spcBef>
                <a:spcPts val="2300"/>
              </a:spcBef>
              <a:defRPr sz="3312"/>
            </a:pPr>
            <a:r>
              <a:rPr lang="en-US" dirty="0" smtClean="0"/>
              <a:t>Practice presentation and review slides with Kausalya, a new TF! </a:t>
            </a:r>
            <a:endParaRPr dirty="0"/>
          </a:p>
          <a:p>
            <a:pPr marL="408940" indent="-408940" defTabSz="537463">
              <a:spcBef>
                <a:spcPts val="2300"/>
              </a:spcBef>
              <a:defRPr sz="3312"/>
            </a:pPr>
            <a:r>
              <a:rPr dirty="0">
                <a:solidFill>
                  <a:schemeClr val="tx1"/>
                </a:solidFill>
              </a:rPr>
              <a:t>Database of papers going up soon. Papers for next week </a:t>
            </a:r>
            <a:r>
              <a:rPr lang="en-US" dirty="0" smtClean="0">
                <a:solidFill>
                  <a:schemeClr val="tx1"/>
                </a:solidFill>
              </a:rPr>
              <a:t>will be </a:t>
            </a:r>
            <a:r>
              <a:rPr dirty="0" smtClean="0">
                <a:solidFill>
                  <a:schemeClr val="tx1"/>
                </a:solidFill>
              </a:rPr>
              <a:t>online</a:t>
            </a:r>
            <a:r>
              <a:rPr lang="en-US" dirty="0" smtClean="0">
                <a:solidFill>
                  <a:schemeClr val="tx1"/>
                </a:solidFill>
              </a:rPr>
              <a:t> tonight</a:t>
            </a:r>
            <a:r>
              <a:rPr dirty="0" smtClean="0">
                <a:solidFill>
                  <a:schemeClr val="tx1"/>
                </a:solidFill>
              </a:rPr>
              <a:t>. </a:t>
            </a:r>
            <a:r>
              <a:rPr dirty="0">
                <a:solidFill>
                  <a:schemeClr val="tx1"/>
                </a:solidFill>
              </a:rPr>
              <a:t>You must choose a different paper </a:t>
            </a:r>
            <a:r>
              <a:rPr lang="en-US" dirty="0" smtClean="0">
                <a:solidFill>
                  <a:schemeClr val="tx1"/>
                </a:solidFill>
              </a:rPr>
              <a:t>from</a:t>
            </a:r>
            <a:r>
              <a:rPr dirty="0" smtClean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other presenters.</a:t>
            </a:r>
          </a:p>
        </p:txBody>
      </p:sp>
    </p:spTree>
    <p:extLst>
      <p:ext uri="{BB962C8B-B14F-4D97-AF65-F5344CB8AC3E}">
        <p14:creationId xmlns:p14="http://schemas.microsoft.com/office/powerpoint/2010/main" val="126131146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"/>
          <p:cNvSpPr>
            <a:spLocks noGrp="1" noChangeArrowheads="1"/>
          </p:cNvSpPr>
          <p:nvPr>
            <p:ph type="title"/>
          </p:nvPr>
        </p:nvSpPr>
        <p:spPr>
          <a:xfrm>
            <a:off x="436563" y="444500"/>
            <a:ext cx="12130087" cy="2159000"/>
          </a:xfrm>
        </p:spPr>
        <p:txBody>
          <a:bodyPr/>
          <a:lstStyle/>
          <a:p>
            <a:r>
              <a:rPr lang="en-US" altLang="en-US"/>
              <a:t>Course layout</a:t>
            </a:r>
          </a:p>
        </p:txBody>
      </p:sp>
      <p:sp>
        <p:nvSpPr>
          <p:cNvPr id="25602" name="Rectangle 2"/>
          <p:cNvSpPr>
            <a:spLocks/>
          </p:cNvSpPr>
          <p:nvPr/>
        </p:nvSpPr>
        <p:spPr bwMode="auto">
          <a:xfrm>
            <a:off x="795264" y="2635702"/>
            <a:ext cx="1320874" cy="6242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r">
              <a:lnSpc>
                <a:spcPct val="190000"/>
              </a:lnSpc>
            </a:pPr>
            <a:r>
              <a:rPr lang="en-US" altLang="en-US" sz="3000" b="1" dirty="0">
                <a:latin typeface="Helvetica" charset="0"/>
                <a:ea typeface="Helvetica" charset="0"/>
                <a:cs typeface="Helvetica" charset="0"/>
                <a:sym typeface="Helvetica" charset="0"/>
              </a:rPr>
              <a:t>Jan </a:t>
            </a:r>
            <a:r>
              <a:rPr lang="en-US" altLang="en-US" sz="3000" b="1" dirty="0" smtClean="0">
                <a:latin typeface="Helvetica" charset="0"/>
                <a:ea typeface="Helvetica" charset="0"/>
                <a:cs typeface="Helvetica" charset="0"/>
                <a:sym typeface="Helvetica" charset="0"/>
              </a:rPr>
              <a:t>24</a:t>
            </a:r>
            <a:endParaRPr lang="en-US" altLang="en-US" sz="3000" b="1" dirty="0">
              <a:latin typeface="Helvetica" charset="0"/>
              <a:ea typeface="Helvetica" charset="0"/>
              <a:cs typeface="Helvetica" charset="0"/>
              <a:sym typeface="Helvetica" charset="0"/>
            </a:endParaRPr>
          </a:p>
          <a:p>
            <a:pPr algn="r">
              <a:lnSpc>
                <a:spcPct val="190000"/>
              </a:lnSpc>
            </a:pPr>
            <a:r>
              <a:rPr lang="en-US" altLang="en-US" sz="3000" b="1" dirty="0" smtClean="0">
                <a:latin typeface="Helvetica" charset="0"/>
                <a:ea typeface="Helvetica" charset="0"/>
                <a:cs typeface="Helvetica" charset="0"/>
                <a:sym typeface="Helvetica" charset="0"/>
              </a:rPr>
              <a:t>Jan 31</a:t>
            </a:r>
            <a:endParaRPr lang="en-US" altLang="en-US" sz="3000" b="1" dirty="0">
              <a:latin typeface="Helvetica" charset="0"/>
              <a:ea typeface="Helvetica" charset="0"/>
              <a:cs typeface="Helvetica" charset="0"/>
              <a:sym typeface="Helvetica" charset="0"/>
            </a:endParaRPr>
          </a:p>
          <a:p>
            <a:pPr algn="r">
              <a:lnSpc>
                <a:spcPct val="190000"/>
              </a:lnSpc>
            </a:pPr>
            <a:r>
              <a:rPr lang="en-US" altLang="en-US" sz="3000" b="1" dirty="0">
                <a:latin typeface="Helvetica" charset="0"/>
                <a:ea typeface="Helvetica" charset="0"/>
                <a:cs typeface="Helvetica" charset="0"/>
                <a:sym typeface="Helvetica" charset="0"/>
              </a:rPr>
              <a:t>Feb </a:t>
            </a:r>
            <a:r>
              <a:rPr lang="en-US" altLang="en-US" sz="3000" b="1" dirty="0" smtClean="0">
                <a:latin typeface="Helvetica" charset="0"/>
                <a:ea typeface="Helvetica" charset="0"/>
                <a:cs typeface="Helvetica" charset="0"/>
                <a:sym typeface="Helvetica" charset="0"/>
              </a:rPr>
              <a:t>7</a:t>
            </a:r>
            <a:endParaRPr lang="en-US" altLang="en-US" sz="3000" b="1" dirty="0">
              <a:latin typeface="Helvetica" charset="0"/>
              <a:ea typeface="Helvetica" charset="0"/>
              <a:cs typeface="Helvetica" charset="0"/>
              <a:sym typeface="Helvetica" charset="0"/>
            </a:endParaRPr>
          </a:p>
          <a:p>
            <a:pPr algn="r">
              <a:lnSpc>
                <a:spcPct val="190000"/>
              </a:lnSpc>
            </a:pPr>
            <a:r>
              <a:rPr lang="en-US" altLang="en-US" sz="3000" b="1" dirty="0">
                <a:latin typeface="Helvetica" charset="0"/>
                <a:ea typeface="Helvetica" charset="0"/>
                <a:cs typeface="Helvetica" charset="0"/>
                <a:sym typeface="Helvetica" charset="0"/>
              </a:rPr>
              <a:t>Feb </a:t>
            </a:r>
            <a:r>
              <a:rPr lang="en-US" altLang="en-US" sz="3000" b="1" dirty="0" smtClean="0">
                <a:latin typeface="Helvetica" charset="0"/>
                <a:ea typeface="Helvetica" charset="0"/>
                <a:cs typeface="Helvetica" charset="0"/>
                <a:sym typeface="Helvetica" charset="0"/>
              </a:rPr>
              <a:t>14</a:t>
            </a:r>
            <a:endParaRPr lang="en-US" altLang="en-US" sz="3000" b="1" dirty="0">
              <a:latin typeface="Helvetica" charset="0"/>
              <a:ea typeface="Helvetica" charset="0"/>
              <a:cs typeface="Helvetica" charset="0"/>
              <a:sym typeface="Helvetica" charset="0"/>
            </a:endParaRPr>
          </a:p>
          <a:p>
            <a:pPr algn="r">
              <a:lnSpc>
                <a:spcPct val="190000"/>
              </a:lnSpc>
            </a:pPr>
            <a:r>
              <a:rPr lang="en-US" altLang="en-US" sz="3000" b="1" dirty="0">
                <a:latin typeface="Helvetica" charset="0"/>
                <a:ea typeface="Helvetica" charset="0"/>
                <a:cs typeface="Helvetica" charset="0"/>
                <a:sym typeface="Helvetica" charset="0"/>
              </a:rPr>
              <a:t>Feb </a:t>
            </a:r>
            <a:r>
              <a:rPr lang="en-US" altLang="en-US" sz="3000" b="1" dirty="0" smtClean="0">
                <a:latin typeface="Helvetica" charset="0"/>
                <a:ea typeface="Helvetica" charset="0"/>
                <a:cs typeface="Helvetica" charset="0"/>
                <a:sym typeface="Helvetica" charset="0"/>
              </a:rPr>
              <a:t>21</a:t>
            </a:r>
            <a:endParaRPr lang="en-US" altLang="en-US" sz="3000" b="1" dirty="0">
              <a:latin typeface="Helvetica" charset="0"/>
              <a:ea typeface="Helvetica" charset="0"/>
              <a:cs typeface="Helvetica" charset="0"/>
              <a:sym typeface="Helvetica" charset="0"/>
            </a:endParaRPr>
          </a:p>
          <a:p>
            <a:pPr algn="r">
              <a:lnSpc>
                <a:spcPct val="190000"/>
              </a:lnSpc>
            </a:pPr>
            <a:r>
              <a:rPr lang="en-US" altLang="en-US" sz="3000" b="1" dirty="0">
                <a:latin typeface="Helvetica" charset="0"/>
                <a:ea typeface="Helvetica" charset="0"/>
                <a:cs typeface="Helvetica" charset="0"/>
                <a:sym typeface="Helvetica" charset="0"/>
              </a:rPr>
              <a:t>Feb </a:t>
            </a:r>
            <a:r>
              <a:rPr lang="en-US" altLang="en-US" sz="3000" b="1" dirty="0" smtClean="0">
                <a:latin typeface="Helvetica" charset="0"/>
                <a:ea typeface="Helvetica" charset="0"/>
                <a:cs typeface="Helvetica" charset="0"/>
                <a:sym typeface="Helvetica" charset="0"/>
              </a:rPr>
              <a:t>28</a:t>
            </a:r>
            <a:endParaRPr lang="en-US" altLang="en-US" sz="3000" b="1" dirty="0">
              <a:latin typeface="Helvetica" charset="0"/>
              <a:ea typeface="Helvetica" charset="0"/>
              <a:cs typeface="Helvetica" charset="0"/>
              <a:sym typeface="Helvetica" charset="0"/>
            </a:endParaRPr>
          </a:p>
          <a:p>
            <a:pPr algn="r">
              <a:lnSpc>
                <a:spcPct val="190000"/>
              </a:lnSpc>
            </a:pPr>
            <a:r>
              <a:rPr lang="en-US" altLang="en-US" sz="3000" b="1" dirty="0">
                <a:latin typeface="Helvetica" charset="0"/>
                <a:ea typeface="Helvetica" charset="0"/>
                <a:cs typeface="Helvetica" charset="0"/>
                <a:sym typeface="Helvetica" charset="0"/>
              </a:rPr>
              <a:t>Mar 7</a:t>
            </a:r>
          </a:p>
        </p:txBody>
      </p:sp>
      <p:sp>
        <p:nvSpPr>
          <p:cNvPr id="25603" name="Rectangle 3"/>
          <p:cNvSpPr>
            <a:spLocks/>
          </p:cNvSpPr>
          <p:nvPr/>
        </p:nvSpPr>
        <p:spPr bwMode="auto">
          <a:xfrm>
            <a:off x="6937375" y="2871788"/>
            <a:ext cx="1427163" cy="5770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r">
              <a:lnSpc>
                <a:spcPct val="190000"/>
              </a:lnSpc>
            </a:pPr>
            <a:r>
              <a:rPr lang="en-US" altLang="en-US" sz="3000" b="1">
                <a:latin typeface="Helvetica" charset="0"/>
                <a:ea typeface="Helvetica" charset="0"/>
                <a:cs typeface="Helvetica" charset="0"/>
                <a:sym typeface="Helvetica" charset="0"/>
              </a:rPr>
              <a:t>Mar 14</a:t>
            </a:r>
          </a:p>
          <a:p>
            <a:pPr algn="r">
              <a:lnSpc>
                <a:spcPct val="190000"/>
              </a:lnSpc>
            </a:pPr>
            <a:r>
              <a:rPr lang="en-US" altLang="en-US" sz="3000" b="1">
                <a:latin typeface="Helvetica" charset="0"/>
                <a:ea typeface="Helvetica" charset="0"/>
                <a:cs typeface="Helvetica" charset="0"/>
                <a:sym typeface="Helvetica" charset="0"/>
              </a:rPr>
              <a:t>Mar 21</a:t>
            </a:r>
          </a:p>
          <a:p>
            <a:pPr algn="r">
              <a:lnSpc>
                <a:spcPct val="190000"/>
              </a:lnSpc>
            </a:pPr>
            <a:r>
              <a:rPr lang="en-US" altLang="en-US" sz="3000" b="1">
                <a:latin typeface="Helvetica" charset="0"/>
                <a:ea typeface="Helvetica" charset="0"/>
                <a:cs typeface="Helvetica" charset="0"/>
                <a:sym typeface="Helvetica" charset="0"/>
              </a:rPr>
              <a:t>Mar 28</a:t>
            </a:r>
          </a:p>
          <a:p>
            <a:pPr algn="r">
              <a:lnSpc>
                <a:spcPct val="190000"/>
              </a:lnSpc>
            </a:pPr>
            <a:r>
              <a:rPr lang="en-US" altLang="en-US" sz="3000" b="1">
                <a:latin typeface="Helvetica" charset="0"/>
                <a:ea typeface="Helvetica" charset="0"/>
                <a:cs typeface="Helvetica" charset="0"/>
                <a:sym typeface="Helvetica" charset="0"/>
              </a:rPr>
              <a:t>Apr 4</a:t>
            </a:r>
          </a:p>
          <a:p>
            <a:pPr algn="r">
              <a:lnSpc>
                <a:spcPct val="190000"/>
              </a:lnSpc>
            </a:pPr>
            <a:r>
              <a:rPr lang="en-US" altLang="en-US" sz="3000" b="1">
                <a:latin typeface="Helvetica" charset="0"/>
                <a:ea typeface="Helvetica" charset="0"/>
                <a:cs typeface="Helvetica" charset="0"/>
                <a:sym typeface="Helvetica" charset="0"/>
              </a:rPr>
              <a:t>Apr 11</a:t>
            </a:r>
          </a:p>
          <a:p>
            <a:pPr algn="r">
              <a:lnSpc>
                <a:spcPct val="190000"/>
              </a:lnSpc>
            </a:pPr>
            <a:r>
              <a:rPr lang="en-US" altLang="en-US" sz="3000" b="1">
                <a:latin typeface="Helvetica" charset="0"/>
                <a:ea typeface="Helvetica" charset="0"/>
                <a:cs typeface="Helvetica" charset="0"/>
                <a:sym typeface="Helvetica" charset="0"/>
              </a:rPr>
              <a:t>Apr 18</a:t>
            </a:r>
          </a:p>
          <a:p>
            <a:pPr algn="r">
              <a:lnSpc>
                <a:spcPct val="190000"/>
              </a:lnSpc>
            </a:pPr>
            <a:r>
              <a:rPr lang="en-US" altLang="en-US" sz="3000" b="1">
                <a:latin typeface="Helvetica" charset="0"/>
                <a:ea typeface="Helvetica" charset="0"/>
                <a:cs typeface="Helvetica" charset="0"/>
                <a:sym typeface="Helvetica" charset="0"/>
              </a:rPr>
              <a:t>Apr 25</a:t>
            </a:r>
          </a:p>
        </p:txBody>
      </p:sp>
      <p:sp>
        <p:nvSpPr>
          <p:cNvPr id="25604" name="Rectangle 4"/>
          <p:cNvSpPr>
            <a:spLocks/>
          </p:cNvSpPr>
          <p:nvPr/>
        </p:nvSpPr>
        <p:spPr bwMode="auto">
          <a:xfrm>
            <a:off x="2505075" y="3724275"/>
            <a:ext cx="3413125" cy="1231900"/>
          </a:xfrm>
          <a:prstGeom prst="rect">
            <a:avLst/>
          </a:prstGeom>
          <a:solidFill>
            <a:srgbClr val="FFFBA8"/>
          </a:solidFill>
          <a:ln w="9525" cap="flat" cmpd="sng">
            <a:solidFill>
              <a:srgbClr val="F5D328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r>
              <a:rPr lang="en-US" altLang="en-US" sz="3000" b="1">
                <a:latin typeface="Helvetica" charset="0"/>
                <a:ea typeface="Helvetica" charset="0"/>
                <a:cs typeface="Helvetica" charset="0"/>
                <a:sym typeface="Helvetica" charset="0"/>
              </a:rPr>
              <a:t>Topic 1:</a:t>
            </a:r>
          </a:p>
          <a:p>
            <a:r>
              <a:rPr lang="en-US" altLang="en-US" sz="3000" b="1">
                <a:latin typeface="Helvetica" charset="0"/>
                <a:ea typeface="Helvetica" charset="0"/>
                <a:cs typeface="Helvetica" charset="0"/>
                <a:sym typeface="Helvetica" charset="0"/>
              </a:rPr>
              <a:t>Epidemiology</a:t>
            </a:r>
          </a:p>
        </p:txBody>
      </p:sp>
      <p:sp>
        <p:nvSpPr>
          <p:cNvPr id="25605" name="Rectangle 5"/>
          <p:cNvSpPr>
            <a:spLocks/>
          </p:cNvSpPr>
          <p:nvPr/>
        </p:nvSpPr>
        <p:spPr bwMode="auto">
          <a:xfrm>
            <a:off x="2505075" y="5561013"/>
            <a:ext cx="3413125" cy="1231900"/>
          </a:xfrm>
          <a:prstGeom prst="rect">
            <a:avLst/>
          </a:prstGeom>
          <a:solidFill>
            <a:srgbClr val="FFFBA8"/>
          </a:solidFill>
          <a:ln w="9525" cap="flat" cmpd="sng">
            <a:solidFill>
              <a:srgbClr val="F5D328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r>
              <a:rPr lang="en-US" altLang="en-US" sz="3000" b="1">
                <a:latin typeface="Helvetica" charset="0"/>
                <a:ea typeface="Helvetica" charset="0"/>
                <a:cs typeface="Helvetica" charset="0"/>
                <a:sym typeface="Helvetica" charset="0"/>
              </a:rPr>
              <a:t>Topic 2:</a:t>
            </a:r>
          </a:p>
          <a:p>
            <a:r>
              <a:rPr lang="en-US" altLang="en-US" sz="3000" b="1">
                <a:latin typeface="Helvetica" charset="0"/>
                <a:ea typeface="Helvetica" charset="0"/>
                <a:cs typeface="Helvetica" charset="0"/>
                <a:sym typeface="Helvetica" charset="0"/>
              </a:rPr>
              <a:t>Imaging</a:t>
            </a:r>
          </a:p>
        </p:txBody>
      </p:sp>
      <p:sp>
        <p:nvSpPr>
          <p:cNvPr id="25606" name="Rectangle 6"/>
          <p:cNvSpPr>
            <a:spLocks/>
          </p:cNvSpPr>
          <p:nvPr/>
        </p:nvSpPr>
        <p:spPr bwMode="auto">
          <a:xfrm>
            <a:off x="2505075" y="7397750"/>
            <a:ext cx="3413125" cy="1230313"/>
          </a:xfrm>
          <a:prstGeom prst="rect">
            <a:avLst/>
          </a:prstGeom>
          <a:solidFill>
            <a:srgbClr val="FFFBA8"/>
          </a:solidFill>
          <a:ln w="9525" cap="flat" cmpd="sng">
            <a:solidFill>
              <a:srgbClr val="F5D328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r>
              <a:rPr lang="en-US" altLang="en-US" sz="3000" b="1">
                <a:latin typeface="Helvetica" charset="0"/>
                <a:ea typeface="Helvetica" charset="0"/>
                <a:cs typeface="Helvetica" charset="0"/>
                <a:sym typeface="Helvetica" charset="0"/>
              </a:rPr>
              <a:t>Topic 3:</a:t>
            </a:r>
          </a:p>
          <a:p>
            <a:r>
              <a:rPr lang="en-US" altLang="en-US" sz="3000" b="1">
                <a:latin typeface="Helvetica" charset="0"/>
                <a:ea typeface="Helvetica" charset="0"/>
                <a:cs typeface="Helvetica" charset="0"/>
                <a:sym typeface="Helvetica" charset="0"/>
              </a:rPr>
              <a:t>Random walks</a:t>
            </a:r>
          </a:p>
        </p:txBody>
      </p:sp>
      <p:sp>
        <p:nvSpPr>
          <p:cNvPr id="25607" name="Rectangle 7"/>
          <p:cNvSpPr>
            <a:spLocks/>
          </p:cNvSpPr>
          <p:nvPr/>
        </p:nvSpPr>
        <p:spPr bwMode="auto">
          <a:xfrm>
            <a:off x="8829675" y="2716213"/>
            <a:ext cx="3413125" cy="577850"/>
          </a:xfrm>
          <a:prstGeom prst="rect">
            <a:avLst/>
          </a:prstGeom>
          <a:solidFill>
            <a:srgbClr val="FFFBA8"/>
          </a:solidFill>
          <a:ln w="9525" cap="flat" cmpd="sng">
            <a:solidFill>
              <a:srgbClr val="F5D328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r>
              <a:rPr lang="en-US" altLang="en-US" sz="3000" b="1">
                <a:latin typeface="Helvetica" charset="0"/>
                <a:ea typeface="Helvetica" charset="0"/>
                <a:cs typeface="Helvetica" charset="0"/>
                <a:sym typeface="Helvetica" charset="0"/>
              </a:rPr>
              <a:t>Spring Break</a:t>
            </a:r>
          </a:p>
        </p:txBody>
      </p:sp>
      <p:sp>
        <p:nvSpPr>
          <p:cNvPr id="25608" name="Rectangle 8"/>
          <p:cNvSpPr>
            <a:spLocks/>
          </p:cNvSpPr>
          <p:nvPr/>
        </p:nvSpPr>
        <p:spPr bwMode="auto">
          <a:xfrm>
            <a:off x="8829675" y="3724275"/>
            <a:ext cx="3413125" cy="1231900"/>
          </a:xfrm>
          <a:prstGeom prst="rect">
            <a:avLst/>
          </a:prstGeom>
          <a:solidFill>
            <a:srgbClr val="FFFBA8"/>
          </a:solidFill>
          <a:ln w="9525" cap="flat" cmpd="sng">
            <a:solidFill>
              <a:srgbClr val="F5D328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r>
              <a:rPr lang="en-US" altLang="en-US" sz="3000" b="1">
                <a:latin typeface="Helvetica" charset="0"/>
                <a:ea typeface="Helvetica" charset="0"/>
                <a:cs typeface="Helvetica" charset="0"/>
                <a:sym typeface="Helvetica" charset="0"/>
              </a:rPr>
              <a:t>Topic 4:</a:t>
            </a:r>
          </a:p>
          <a:p>
            <a:r>
              <a:rPr lang="en-US" altLang="en-US" sz="3000" b="1">
                <a:latin typeface="Helvetica" charset="0"/>
                <a:ea typeface="Helvetica" charset="0"/>
                <a:cs typeface="Helvetica" charset="0"/>
                <a:sym typeface="Helvetica" charset="0"/>
              </a:rPr>
              <a:t>Information theory</a:t>
            </a:r>
          </a:p>
        </p:txBody>
      </p:sp>
      <p:sp>
        <p:nvSpPr>
          <p:cNvPr id="25609" name="Rectangle 9"/>
          <p:cNvSpPr>
            <a:spLocks/>
          </p:cNvSpPr>
          <p:nvPr/>
        </p:nvSpPr>
        <p:spPr bwMode="auto">
          <a:xfrm>
            <a:off x="8829675" y="5561013"/>
            <a:ext cx="3413125" cy="1231900"/>
          </a:xfrm>
          <a:prstGeom prst="rect">
            <a:avLst/>
          </a:prstGeom>
          <a:solidFill>
            <a:srgbClr val="FFFBA8"/>
          </a:solidFill>
          <a:ln w="9525" cap="flat" cmpd="sng">
            <a:solidFill>
              <a:srgbClr val="F5D328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r>
              <a:rPr lang="en-US" altLang="en-US" sz="3000" b="1">
                <a:latin typeface="Helvetica" charset="0"/>
                <a:ea typeface="Helvetica" charset="0"/>
                <a:cs typeface="Helvetica" charset="0"/>
                <a:sym typeface="Helvetica" charset="0"/>
              </a:rPr>
              <a:t>Topic 5:</a:t>
            </a:r>
          </a:p>
          <a:p>
            <a:r>
              <a:rPr lang="en-US" altLang="en-US" sz="3000" b="1">
                <a:latin typeface="Helvetica" charset="0"/>
                <a:ea typeface="Helvetica" charset="0"/>
                <a:cs typeface="Helvetica" charset="0"/>
                <a:sym typeface="Helvetica" charset="0"/>
              </a:rPr>
              <a:t>Game theory</a:t>
            </a:r>
          </a:p>
        </p:txBody>
      </p:sp>
      <p:sp>
        <p:nvSpPr>
          <p:cNvPr id="25610" name="Rectangle 10"/>
          <p:cNvSpPr>
            <a:spLocks/>
          </p:cNvSpPr>
          <p:nvPr/>
        </p:nvSpPr>
        <p:spPr bwMode="auto">
          <a:xfrm>
            <a:off x="8829675" y="7397750"/>
            <a:ext cx="3413125" cy="1230313"/>
          </a:xfrm>
          <a:prstGeom prst="rect">
            <a:avLst/>
          </a:prstGeom>
          <a:solidFill>
            <a:srgbClr val="FFFBA8"/>
          </a:solidFill>
          <a:ln w="9525" cap="flat" cmpd="sng">
            <a:solidFill>
              <a:srgbClr val="F5D328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r>
              <a:rPr lang="en-US" altLang="en-US" sz="3000" b="1" dirty="0">
                <a:latin typeface="Helvetica" charset="0"/>
                <a:ea typeface="Helvetica" charset="0"/>
                <a:cs typeface="Helvetica" charset="0"/>
                <a:sym typeface="Helvetica" charset="0"/>
              </a:rPr>
              <a:t>Topic 6:</a:t>
            </a:r>
          </a:p>
          <a:p>
            <a:r>
              <a:rPr lang="en-US" altLang="en-US" sz="3000" b="1" dirty="0" smtClean="0">
                <a:latin typeface="Helvetica" charset="0"/>
                <a:ea typeface="Helvetica" charset="0"/>
                <a:cs typeface="Helvetica" charset="0"/>
                <a:sym typeface="Helvetica" charset="0"/>
              </a:rPr>
              <a:t>Chaos or Projects</a:t>
            </a:r>
            <a:endParaRPr lang="en-US" altLang="en-US" sz="3000" b="1" dirty="0">
              <a:latin typeface="Helvetica" charset="0"/>
              <a:ea typeface="Helvetica" charset="0"/>
              <a:cs typeface="Helvetica" charset="0"/>
              <a:sym typeface="Helvetica" charset="0"/>
            </a:endParaRPr>
          </a:p>
        </p:txBody>
      </p:sp>
      <p:sp>
        <p:nvSpPr>
          <p:cNvPr id="25611" name="Rectangle 11"/>
          <p:cNvSpPr>
            <a:spLocks/>
          </p:cNvSpPr>
          <p:nvPr/>
        </p:nvSpPr>
        <p:spPr bwMode="auto">
          <a:xfrm>
            <a:off x="2505075" y="2716213"/>
            <a:ext cx="3413125" cy="577850"/>
          </a:xfrm>
          <a:prstGeom prst="rect">
            <a:avLst/>
          </a:prstGeom>
          <a:solidFill>
            <a:srgbClr val="FFFBA8"/>
          </a:solidFill>
          <a:ln w="9525" cap="flat" cmpd="sng">
            <a:solidFill>
              <a:srgbClr val="F5D328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r>
              <a:rPr lang="en-US" altLang="en-US" sz="3000" b="1">
                <a:latin typeface="Helvetica" charset="0"/>
                <a:ea typeface="Helvetica" charset="0"/>
                <a:cs typeface="Helvetica" charset="0"/>
                <a:sym typeface="Helvetica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87068004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Shape 36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err="1" smtClean="0"/>
              <a:t>Matlab</a:t>
            </a:r>
            <a:r>
              <a:rPr lang="en-US" dirty="0" smtClean="0"/>
              <a:t> loops &amp; functions</a:t>
            </a:r>
            <a:endParaRPr dirty="0"/>
          </a:p>
        </p:txBody>
      </p:sp>
      <p:sp>
        <p:nvSpPr>
          <p:cNvPr id="370" name="Shape 370"/>
          <p:cNvSpPr/>
          <p:nvPr/>
        </p:nvSpPr>
        <p:spPr>
          <a:xfrm>
            <a:off x="3736599" y="2946473"/>
            <a:ext cx="5057475" cy="1210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400" b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lang="en-US" dirty="0" smtClean="0"/>
              <a:t>Example script: </a:t>
            </a:r>
            <a:r>
              <a:rPr lang="en-US" dirty="0" err="1" smtClean="0"/>
              <a:t>summing.m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Example function: </a:t>
            </a:r>
            <a:r>
              <a:rPr lang="en-US" dirty="0" err="1" smtClean="0"/>
              <a:t>sumfunction.m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9926569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>
            <a:spLocks noGrp="1"/>
          </p:cNvSpPr>
          <p:nvPr>
            <p:ph type="title"/>
          </p:nvPr>
        </p:nvSpPr>
        <p:spPr>
          <a:xfrm>
            <a:off x="437232" y="3797300"/>
            <a:ext cx="12130336" cy="2159000"/>
          </a:xfrm>
          <a:prstGeom prst="rect">
            <a:avLst/>
          </a:prstGeom>
        </p:spPr>
        <p:txBody>
          <a:bodyPr/>
          <a:lstStyle/>
          <a:p>
            <a:r>
              <a:rPr dirty="0" smtClean="0"/>
              <a:t>Topic </a:t>
            </a:r>
            <a:r>
              <a:rPr dirty="0"/>
              <a:t>1: Epidemiology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pasted-image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7843" y="1295400"/>
            <a:ext cx="10809114" cy="8106835"/>
          </a:xfrm>
          <a:prstGeom prst="rect">
            <a:avLst/>
          </a:prstGeom>
          <a:ln w="12700">
            <a:miter lim="400000"/>
          </a:ln>
        </p:spPr>
      </p:pic>
      <p:sp>
        <p:nvSpPr>
          <p:cNvPr id="154" name="Shape 154"/>
          <p:cNvSpPr/>
          <p:nvPr/>
        </p:nvSpPr>
        <p:spPr>
          <a:xfrm>
            <a:off x="4724400" y="1649362"/>
            <a:ext cx="3542035" cy="64933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5" name="Shape 155"/>
          <p:cNvSpPr>
            <a:spLocks noGrp="1"/>
          </p:cNvSpPr>
          <p:nvPr>
            <p:ph type="body" idx="13"/>
          </p:nvPr>
        </p:nvSpPr>
        <p:spPr>
          <a:xfrm>
            <a:off x="430249" y="444500"/>
            <a:ext cx="12130337" cy="2159000"/>
          </a:xfrm>
          <a:prstGeom prst="rect">
            <a:avLst/>
          </a:prstGeom>
        </p:spPr>
        <p:txBody>
          <a:bodyPr/>
          <a:lstStyle/>
          <a:p>
            <a:r>
              <a:rPr dirty="0"/>
              <a:t>Flu pandemics</a:t>
            </a:r>
          </a:p>
        </p:txBody>
      </p:sp>
    </p:spTree>
    <p:extLst>
      <p:ext uri="{BB962C8B-B14F-4D97-AF65-F5344CB8AC3E}">
        <p14:creationId xmlns:p14="http://schemas.microsoft.com/office/powerpoint/2010/main" val="161152921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15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1918 “Spanish flu” pandemic</a:t>
            </a:r>
          </a:p>
        </p:txBody>
      </p:sp>
      <p:sp>
        <p:nvSpPr>
          <p:cNvPr id="160" name="Shape 160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One of the worst flu outbreaks in history</a:t>
            </a:r>
          </a:p>
          <a:p>
            <a:r>
              <a:t>500 million infected across entire world</a:t>
            </a:r>
          </a:p>
          <a:p>
            <a:r>
              <a:t>50–100 million killed (3%–5% of world’s population)</a:t>
            </a:r>
          </a:p>
          <a:p>
            <a:r>
              <a:t>Unclear geographical origin, but likely accelerated by massive troop movement at the end of World War 1</a:t>
            </a:r>
          </a:p>
          <a:p>
            <a:r>
              <a:t>Free press in neutral Spain gave impression that Spain was hardest hit</a:t>
            </a:r>
          </a:p>
        </p:txBody>
      </p:sp>
    </p:spTree>
    <p:extLst>
      <p:ext uri="{BB962C8B-B14F-4D97-AF65-F5344CB8AC3E}">
        <p14:creationId xmlns:p14="http://schemas.microsoft.com/office/powerpoint/2010/main" val="174269170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16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Significantly higher death toll than WW1</a:t>
            </a:r>
          </a:p>
        </p:txBody>
      </p:sp>
      <p:graphicFrame>
        <p:nvGraphicFramePr>
          <p:cNvPr id="163" name="Chart 163"/>
          <p:cNvGraphicFramePr/>
          <p:nvPr/>
        </p:nvGraphicFramePr>
        <p:xfrm>
          <a:off x="3058029" y="2332084"/>
          <a:ext cx="7149596" cy="6807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4" name="Shape 164"/>
          <p:cNvSpPr/>
          <p:nvPr/>
        </p:nvSpPr>
        <p:spPr>
          <a:xfrm rot="16200000">
            <a:off x="1030386" y="5099049"/>
            <a:ext cx="3298628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 b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Approximate fatalities</a:t>
            </a:r>
          </a:p>
        </p:txBody>
      </p:sp>
    </p:spTree>
    <p:extLst>
      <p:ext uri="{BB962C8B-B14F-4D97-AF65-F5344CB8AC3E}">
        <p14:creationId xmlns:p14="http://schemas.microsoft.com/office/powerpoint/2010/main" val="203744092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/>
          </p:cNvSpPr>
          <p:nvPr>
            <p:ph type="title"/>
          </p:nvPr>
        </p:nvSpPr>
        <p:spPr>
          <a:xfrm>
            <a:off x="437232" y="101600"/>
            <a:ext cx="12130336" cy="2159000"/>
          </a:xfrm>
          <a:prstGeom prst="rect">
            <a:avLst/>
          </a:prstGeom>
        </p:spPr>
        <p:txBody>
          <a:bodyPr/>
          <a:lstStyle/>
          <a:p>
            <a:r>
              <a:t>Mortality by age group</a:t>
            </a:r>
          </a:p>
        </p:txBody>
      </p:sp>
      <p:sp>
        <p:nvSpPr>
          <p:cNvPr id="169" name="Shape 169"/>
          <p:cNvSpPr>
            <a:spLocks noGrp="1"/>
          </p:cNvSpPr>
          <p:nvPr>
            <p:ph type="body" sz="quarter" idx="1"/>
          </p:nvPr>
        </p:nvSpPr>
        <p:spPr>
          <a:xfrm>
            <a:off x="952500" y="7866271"/>
            <a:ext cx="11099800" cy="2049811"/>
          </a:xfrm>
          <a:prstGeom prst="rect">
            <a:avLst/>
          </a:prstGeom>
        </p:spPr>
        <p:txBody>
          <a:bodyPr/>
          <a:lstStyle/>
          <a:p>
            <a:r>
              <a:t>Large number of deaths in healthy adults, due to over-response of the immune system</a:t>
            </a:r>
          </a:p>
        </p:txBody>
      </p:sp>
      <p:pic>
        <p:nvPicPr>
          <p:cNvPr id="170" name="pasted-image.ti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81198" y="1843385"/>
            <a:ext cx="9165774" cy="647714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7398294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172"/>
          <p:cNvSpPr>
            <a:spLocks noGrp="1"/>
          </p:cNvSpPr>
          <p:nvPr>
            <p:ph type="body" idx="13"/>
          </p:nvPr>
        </p:nvSpPr>
        <p:spPr>
          <a:xfrm>
            <a:off x="437232" y="292100"/>
            <a:ext cx="12130336" cy="2159000"/>
          </a:xfrm>
          <a:prstGeom prst="rect">
            <a:avLst/>
          </a:prstGeom>
        </p:spPr>
        <p:txBody>
          <a:bodyPr/>
          <a:lstStyle/>
          <a:p>
            <a:r>
              <a:t>Mortality in different cities: similar patterns</a:t>
            </a:r>
          </a:p>
        </p:txBody>
      </p:sp>
      <p:pic>
        <p:nvPicPr>
          <p:cNvPr id="173" name="pasted-image.ti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12092" y="2775570"/>
            <a:ext cx="8580616" cy="6539260"/>
          </a:xfrm>
          <a:prstGeom prst="rect">
            <a:avLst/>
          </a:prstGeom>
          <a:ln w="12700">
            <a:miter lim="400000"/>
          </a:ln>
        </p:spPr>
      </p:pic>
      <p:sp>
        <p:nvSpPr>
          <p:cNvPr id="174" name="Shape 174"/>
          <p:cNvSpPr/>
          <p:nvPr/>
        </p:nvSpPr>
        <p:spPr>
          <a:xfrm>
            <a:off x="2458739" y="6036451"/>
            <a:ext cx="8294725" cy="23223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131" extrusionOk="0">
                <a:moveTo>
                  <a:pt x="0" y="20144"/>
                </a:moveTo>
                <a:cubicBezTo>
                  <a:pt x="698" y="20498"/>
                  <a:pt x="1404" y="19733"/>
                  <a:pt x="1922" y="18062"/>
                </a:cubicBezTo>
                <a:cubicBezTo>
                  <a:pt x="2082" y="17545"/>
                  <a:pt x="2238" y="16929"/>
                  <a:pt x="2456" y="16898"/>
                </a:cubicBezTo>
                <a:cubicBezTo>
                  <a:pt x="2861" y="16839"/>
                  <a:pt x="3009" y="18532"/>
                  <a:pt x="3312" y="19368"/>
                </a:cubicBezTo>
                <a:cubicBezTo>
                  <a:pt x="3606" y="20181"/>
                  <a:pt x="4007" y="20085"/>
                  <a:pt x="4376" y="20271"/>
                </a:cubicBezTo>
                <a:cubicBezTo>
                  <a:pt x="4726" y="20446"/>
                  <a:pt x="5060" y="20903"/>
                  <a:pt x="5410" y="21062"/>
                </a:cubicBezTo>
                <a:cubicBezTo>
                  <a:pt x="6274" y="21456"/>
                  <a:pt x="7106" y="20045"/>
                  <a:pt x="7972" y="19870"/>
                </a:cubicBezTo>
                <a:cubicBezTo>
                  <a:pt x="8420" y="19779"/>
                  <a:pt x="8902" y="19980"/>
                  <a:pt x="9263" y="19035"/>
                </a:cubicBezTo>
                <a:cubicBezTo>
                  <a:pt x="9537" y="18321"/>
                  <a:pt x="9649" y="17233"/>
                  <a:pt x="9766" y="16139"/>
                </a:cubicBezTo>
                <a:cubicBezTo>
                  <a:pt x="9898" y="14896"/>
                  <a:pt x="10055" y="13594"/>
                  <a:pt x="10164" y="12286"/>
                </a:cubicBezTo>
                <a:cubicBezTo>
                  <a:pt x="10455" y="8827"/>
                  <a:pt x="10498" y="5174"/>
                  <a:pt x="10785" y="1712"/>
                </a:cubicBezTo>
                <a:cubicBezTo>
                  <a:pt x="10850" y="932"/>
                  <a:pt x="10958" y="123"/>
                  <a:pt x="11180" y="13"/>
                </a:cubicBezTo>
                <a:cubicBezTo>
                  <a:pt x="11499" y="-144"/>
                  <a:pt x="11671" y="1126"/>
                  <a:pt x="11739" y="2385"/>
                </a:cubicBezTo>
                <a:cubicBezTo>
                  <a:pt x="11840" y="4277"/>
                  <a:pt x="11960" y="6188"/>
                  <a:pt x="12257" y="7810"/>
                </a:cubicBezTo>
                <a:cubicBezTo>
                  <a:pt x="12513" y="9201"/>
                  <a:pt x="12884" y="10283"/>
                  <a:pt x="13139" y="11675"/>
                </a:cubicBezTo>
                <a:cubicBezTo>
                  <a:pt x="13409" y="13147"/>
                  <a:pt x="13535" y="14889"/>
                  <a:pt x="13815" y="16340"/>
                </a:cubicBezTo>
                <a:cubicBezTo>
                  <a:pt x="13971" y="17149"/>
                  <a:pt x="14175" y="17838"/>
                  <a:pt x="14372" y="18464"/>
                </a:cubicBezTo>
                <a:cubicBezTo>
                  <a:pt x="14500" y="18868"/>
                  <a:pt x="14635" y="19252"/>
                  <a:pt x="14811" y="19262"/>
                </a:cubicBezTo>
                <a:cubicBezTo>
                  <a:pt x="15069" y="19276"/>
                  <a:pt x="15244" y="18426"/>
                  <a:pt x="15484" y="18144"/>
                </a:cubicBezTo>
                <a:cubicBezTo>
                  <a:pt x="15846" y="17719"/>
                  <a:pt x="16197" y="18631"/>
                  <a:pt x="16568" y="18783"/>
                </a:cubicBezTo>
                <a:cubicBezTo>
                  <a:pt x="17015" y="18967"/>
                  <a:pt x="17399" y="18204"/>
                  <a:pt x="17721" y="17185"/>
                </a:cubicBezTo>
                <a:cubicBezTo>
                  <a:pt x="18029" y="16212"/>
                  <a:pt x="18315" y="14952"/>
                  <a:pt x="18454" y="13444"/>
                </a:cubicBezTo>
                <a:cubicBezTo>
                  <a:pt x="18590" y="11970"/>
                  <a:pt x="18703" y="10209"/>
                  <a:pt x="19125" y="10136"/>
                </a:cubicBezTo>
                <a:cubicBezTo>
                  <a:pt x="19414" y="10087"/>
                  <a:pt x="19610" y="10991"/>
                  <a:pt x="19781" y="11827"/>
                </a:cubicBezTo>
                <a:cubicBezTo>
                  <a:pt x="20277" y="14254"/>
                  <a:pt x="20893" y="16352"/>
                  <a:pt x="21600" y="18023"/>
                </a:cubicBezTo>
              </a:path>
            </a:pathLst>
          </a:custGeom>
          <a:ln w="88900">
            <a:solidFill>
              <a:srgbClr val="FF2849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4509892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1" dur="1000" fill="hold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" grpId="0" animBg="1" advAuto="0"/>
      <p:bldP spid="174" grpId="0" animBg="1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176"/>
          <p:cNvSpPr>
            <a:spLocks noGrp="1"/>
          </p:cNvSpPr>
          <p:nvPr>
            <p:ph type="body" idx="13"/>
          </p:nvPr>
        </p:nvSpPr>
        <p:spPr>
          <a:xfrm>
            <a:off x="437232" y="292100"/>
            <a:ext cx="12130336" cy="2159000"/>
          </a:xfrm>
          <a:prstGeom prst="rect">
            <a:avLst/>
          </a:prstGeom>
        </p:spPr>
        <p:txBody>
          <a:bodyPr/>
          <a:lstStyle/>
          <a:p>
            <a:r>
              <a:t>Mortality in different cities: similar patterns</a:t>
            </a:r>
          </a:p>
        </p:txBody>
      </p:sp>
      <p:sp>
        <p:nvSpPr>
          <p:cNvPr id="177" name="Shape 177"/>
          <p:cNvSpPr/>
          <p:nvPr/>
        </p:nvSpPr>
        <p:spPr>
          <a:xfrm>
            <a:off x="2458739" y="6036451"/>
            <a:ext cx="8294725" cy="23223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131" extrusionOk="0">
                <a:moveTo>
                  <a:pt x="0" y="20144"/>
                </a:moveTo>
                <a:cubicBezTo>
                  <a:pt x="698" y="20498"/>
                  <a:pt x="1404" y="19733"/>
                  <a:pt x="1922" y="18062"/>
                </a:cubicBezTo>
                <a:cubicBezTo>
                  <a:pt x="2082" y="17545"/>
                  <a:pt x="2238" y="16929"/>
                  <a:pt x="2456" y="16898"/>
                </a:cubicBezTo>
                <a:cubicBezTo>
                  <a:pt x="2861" y="16839"/>
                  <a:pt x="3009" y="18532"/>
                  <a:pt x="3312" y="19368"/>
                </a:cubicBezTo>
                <a:cubicBezTo>
                  <a:pt x="3606" y="20181"/>
                  <a:pt x="4007" y="20085"/>
                  <a:pt x="4376" y="20271"/>
                </a:cubicBezTo>
                <a:cubicBezTo>
                  <a:pt x="4726" y="20446"/>
                  <a:pt x="5060" y="20903"/>
                  <a:pt x="5410" y="21062"/>
                </a:cubicBezTo>
                <a:cubicBezTo>
                  <a:pt x="6274" y="21456"/>
                  <a:pt x="7106" y="20045"/>
                  <a:pt x="7972" y="19870"/>
                </a:cubicBezTo>
                <a:cubicBezTo>
                  <a:pt x="8420" y="19779"/>
                  <a:pt x="8902" y="19980"/>
                  <a:pt x="9263" y="19035"/>
                </a:cubicBezTo>
                <a:cubicBezTo>
                  <a:pt x="9537" y="18321"/>
                  <a:pt x="9649" y="17233"/>
                  <a:pt x="9766" y="16139"/>
                </a:cubicBezTo>
                <a:cubicBezTo>
                  <a:pt x="9898" y="14896"/>
                  <a:pt x="10055" y="13594"/>
                  <a:pt x="10164" y="12286"/>
                </a:cubicBezTo>
                <a:cubicBezTo>
                  <a:pt x="10455" y="8827"/>
                  <a:pt x="10498" y="5174"/>
                  <a:pt x="10785" y="1712"/>
                </a:cubicBezTo>
                <a:cubicBezTo>
                  <a:pt x="10850" y="932"/>
                  <a:pt x="10958" y="123"/>
                  <a:pt x="11180" y="13"/>
                </a:cubicBezTo>
                <a:cubicBezTo>
                  <a:pt x="11499" y="-144"/>
                  <a:pt x="11671" y="1126"/>
                  <a:pt x="11739" y="2385"/>
                </a:cubicBezTo>
                <a:cubicBezTo>
                  <a:pt x="11840" y="4277"/>
                  <a:pt x="11960" y="6188"/>
                  <a:pt x="12257" y="7810"/>
                </a:cubicBezTo>
                <a:cubicBezTo>
                  <a:pt x="12513" y="9201"/>
                  <a:pt x="12884" y="10283"/>
                  <a:pt x="13139" y="11675"/>
                </a:cubicBezTo>
                <a:cubicBezTo>
                  <a:pt x="13409" y="13147"/>
                  <a:pt x="13535" y="14889"/>
                  <a:pt x="13815" y="16340"/>
                </a:cubicBezTo>
                <a:cubicBezTo>
                  <a:pt x="13971" y="17149"/>
                  <a:pt x="14175" y="17838"/>
                  <a:pt x="14372" y="18464"/>
                </a:cubicBezTo>
                <a:cubicBezTo>
                  <a:pt x="14500" y="18868"/>
                  <a:pt x="14635" y="19252"/>
                  <a:pt x="14811" y="19262"/>
                </a:cubicBezTo>
                <a:cubicBezTo>
                  <a:pt x="15069" y="19276"/>
                  <a:pt x="15244" y="18426"/>
                  <a:pt x="15484" y="18144"/>
                </a:cubicBezTo>
                <a:cubicBezTo>
                  <a:pt x="15846" y="17719"/>
                  <a:pt x="16197" y="18631"/>
                  <a:pt x="16568" y="18783"/>
                </a:cubicBezTo>
                <a:cubicBezTo>
                  <a:pt x="17015" y="18967"/>
                  <a:pt x="17399" y="18204"/>
                  <a:pt x="17721" y="17185"/>
                </a:cubicBezTo>
                <a:cubicBezTo>
                  <a:pt x="18029" y="16212"/>
                  <a:pt x="18315" y="14952"/>
                  <a:pt x="18454" y="13444"/>
                </a:cubicBezTo>
                <a:cubicBezTo>
                  <a:pt x="18590" y="11970"/>
                  <a:pt x="18703" y="10209"/>
                  <a:pt x="19125" y="10136"/>
                </a:cubicBezTo>
                <a:cubicBezTo>
                  <a:pt x="19414" y="10087"/>
                  <a:pt x="19610" y="10991"/>
                  <a:pt x="19781" y="11827"/>
                </a:cubicBezTo>
                <a:cubicBezTo>
                  <a:pt x="20277" y="14254"/>
                  <a:pt x="20893" y="16352"/>
                  <a:pt x="21600" y="18023"/>
                </a:cubicBezTo>
              </a:path>
            </a:pathLst>
          </a:custGeom>
          <a:ln w="88900">
            <a:solidFill>
              <a:srgbClr val="FF2849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78" name="Shape 178"/>
          <p:cNvSpPr/>
          <p:nvPr/>
        </p:nvSpPr>
        <p:spPr>
          <a:xfrm>
            <a:off x="2088455" y="8610600"/>
            <a:ext cx="882789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800" b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Just look at data for London: multiple similar peaks</a:t>
            </a:r>
          </a:p>
        </p:txBody>
      </p:sp>
    </p:spTree>
    <p:extLst>
      <p:ext uri="{BB962C8B-B14F-4D97-AF65-F5344CB8AC3E}">
        <p14:creationId xmlns:p14="http://schemas.microsoft.com/office/powerpoint/2010/main" val="435690109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" grpId="0" animBg="1" advAuto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Questions</a:t>
            </a:r>
          </a:p>
        </p:txBody>
      </p:sp>
      <p:sp>
        <p:nvSpPr>
          <p:cNvPr id="181" name="Shape 18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571500" indent="-571500" defTabSz="525779">
              <a:spcBef>
                <a:spcPts val="2300"/>
              </a:spcBef>
              <a:buSzPct val="100000"/>
              <a:buAutoNum type="arabicPeriod"/>
              <a:defRPr sz="3239"/>
            </a:pPr>
            <a:r>
              <a:t>Why are some flus pandemics (widespread epidemics) and some not? Why are pandemics so sudden?</a:t>
            </a:r>
          </a:p>
          <a:p>
            <a:pPr marL="571500" indent="-571500" defTabSz="525779">
              <a:spcBef>
                <a:spcPts val="2300"/>
              </a:spcBef>
              <a:buSzPct val="100000"/>
              <a:buAutoNum type="arabicPeriod"/>
              <a:defRPr sz="3239"/>
            </a:pPr>
            <a:r>
              <a:t>Why do flus end? Perhaps all people who can get it either recover or are “removed” from the population?</a:t>
            </a:r>
          </a:p>
          <a:p>
            <a:pPr marL="571500" indent="-571500" defTabSz="525779">
              <a:spcBef>
                <a:spcPts val="2300"/>
              </a:spcBef>
              <a:buSzPct val="100000"/>
              <a:buAutoNum type="arabicPeriod"/>
              <a:defRPr sz="3239"/>
            </a:pPr>
            <a:r>
              <a:t>How can we anticipate a flu pandemic in the early stages?</a:t>
            </a:r>
          </a:p>
          <a:p>
            <a:pPr marL="571500" indent="-571500" defTabSz="525779">
              <a:spcBef>
                <a:spcPts val="2300"/>
              </a:spcBef>
              <a:buSzPct val="100000"/>
              <a:buAutoNum type="arabicPeriod"/>
              <a:defRPr sz="3239"/>
            </a:pPr>
            <a:r>
              <a:t>What are the most effective vaccination strategies?</a:t>
            </a:r>
          </a:p>
          <a:p>
            <a:pPr marL="571500" indent="-571500" defTabSz="525779">
              <a:spcBef>
                <a:spcPts val="2300"/>
              </a:spcBef>
              <a:buSzPct val="100000"/>
              <a:buAutoNum type="arabicPeriod"/>
              <a:defRPr sz="3239"/>
            </a:pPr>
            <a:r>
              <a:t>Suppose someone in this room had bird flu? How worried should you be that you’ll be infected?</a:t>
            </a:r>
          </a:p>
        </p:txBody>
      </p:sp>
    </p:spTree>
    <p:extLst>
      <p:ext uri="{BB962C8B-B14F-4D97-AF65-F5344CB8AC3E}">
        <p14:creationId xmlns:p14="http://schemas.microsoft.com/office/powerpoint/2010/main" val="76138490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Screen Shot 2015-02-04 at 10.28.41 A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-63500" y="1177091"/>
            <a:ext cx="13004800" cy="7075965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77942772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>
            <a:spLocks noGrp="1"/>
          </p:cNvSpPr>
          <p:nvPr>
            <p:ph type="title"/>
          </p:nvPr>
        </p:nvSpPr>
        <p:spPr>
          <a:xfrm>
            <a:off x="437232" y="444500"/>
            <a:ext cx="12130336" cy="1605906"/>
          </a:xfrm>
          <a:prstGeom prst="rect">
            <a:avLst/>
          </a:prstGeom>
        </p:spPr>
        <p:txBody>
          <a:bodyPr/>
          <a:lstStyle/>
          <a:p>
            <a:r>
              <a:t>General idea</a:t>
            </a:r>
          </a:p>
        </p:txBody>
      </p:sp>
      <p:sp>
        <p:nvSpPr>
          <p:cNvPr id="73" name="Shape 73"/>
          <p:cNvSpPr>
            <a:spLocks noGrp="1"/>
          </p:cNvSpPr>
          <p:nvPr>
            <p:ph type="body" sz="quarter" idx="1"/>
          </p:nvPr>
        </p:nvSpPr>
        <p:spPr>
          <a:xfrm>
            <a:off x="6275527" y="6707664"/>
            <a:ext cx="5808068" cy="2658368"/>
          </a:xfrm>
          <a:prstGeom prst="rect">
            <a:avLst/>
          </a:prstGeom>
        </p:spPr>
        <p:txBody>
          <a:bodyPr/>
          <a:lstStyle/>
          <a:p>
            <a:r>
              <a:rPr dirty="0"/>
              <a:t>Susceptible </a:t>
            </a:r>
            <a:endParaRPr b="0" dirty="0"/>
          </a:p>
          <a:p>
            <a:r>
              <a:rPr dirty="0"/>
              <a:t>Infected </a:t>
            </a:r>
            <a:endParaRPr b="0" dirty="0"/>
          </a:p>
          <a:p>
            <a:r>
              <a:rPr dirty="0"/>
              <a:t>Removed </a:t>
            </a:r>
            <a:endParaRPr b="0" dirty="0"/>
          </a:p>
        </p:txBody>
      </p:sp>
      <p:sp>
        <p:nvSpPr>
          <p:cNvPr id="74" name="Shape 74"/>
          <p:cNvSpPr/>
          <p:nvPr/>
        </p:nvSpPr>
        <p:spPr>
          <a:xfrm>
            <a:off x="3368039" y="2260674"/>
            <a:ext cx="604522" cy="604522"/>
          </a:xfrm>
          <a:prstGeom prst="ellipse">
            <a:avLst/>
          </a:prstGeom>
          <a:blipFill>
            <a:blip r:embed="rId2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75" name="Shape 75"/>
          <p:cNvSpPr/>
          <p:nvPr/>
        </p:nvSpPr>
        <p:spPr>
          <a:xfrm>
            <a:off x="5133339" y="2679774"/>
            <a:ext cx="604522" cy="604522"/>
          </a:xfrm>
          <a:prstGeom prst="ellipse">
            <a:avLst/>
          </a:prstGeom>
          <a:blipFill>
            <a:blip r:embed="rId3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I</a:t>
            </a:r>
          </a:p>
        </p:txBody>
      </p:sp>
      <p:sp>
        <p:nvSpPr>
          <p:cNvPr id="76" name="Shape 76"/>
          <p:cNvSpPr/>
          <p:nvPr/>
        </p:nvSpPr>
        <p:spPr>
          <a:xfrm>
            <a:off x="6936739" y="2070174"/>
            <a:ext cx="604522" cy="604522"/>
          </a:xfrm>
          <a:prstGeom prst="ellipse">
            <a:avLst/>
          </a:prstGeom>
          <a:blipFill>
            <a:blip r:embed="rId2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77" name="Shape 77"/>
          <p:cNvSpPr/>
          <p:nvPr/>
        </p:nvSpPr>
        <p:spPr>
          <a:xfrm>
            <a:off x="8117839" y="3276674"/>
            <a:ext cx="604522" cy="604522"/>
          </a:xfrm>
          <a:prstGeom prst="ellipse">
            <a:avLst/>
          </a:prstGeom>
          <a:blipFill>
            <a:blip r:embed="rId2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78" name="Shape 78"/>
          <p:cNvSpPr/>
          <p:nvPr/>
        </p:nvSpPr>
        <p:spPr>
          <a:xfrm>
            <a:off x="9768839" y="2463874"/>
            <a:ext cx="604522" cy="604522"/>
          </a:xfrm>
          <a:prstGeom prst="ellipse">
            <a:avLst/>
          </a:prstGeom>
          <a:blipFill>
            <a:blip r:embed="rId2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79" name="Shape 79"/>
          <p:cNvSpPr/>
          <p:nvPr/>
        </p:nvSpPr>
        <p:spPr>
          <a:xfrm>
            <a:off x="10403839" y="4330774"/>
            <a:ext cx="604522" cy="604522"/>
          </a:xfrm>
          <a:prstGeom prst="ellipse">
            <a:avLst/>
          </a:prstGeom>
          <a:blipFill>
            <a:blip r:embed="rId2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80" name="Shape 80"/>
          <p:cNvSpPr/>
          <p:nvPr/>
        </p:nvSpPr>
        <p:spPr>
          <a:xfrm>
            <a:off x="6263639" y="4876874"/>
            <a:ext cx="604522" cy="604522"/>
          </a:xfrm>
          <a:prstGeom prst="ellipse">
            <a:avLst/>
          </a:prstGeom>
          <a:blipFill>
            <a:blip r:embed="rId2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81" name="Shape 81"/>
          <p:cNvSpPr/>
          <p:nvPr/>
        </p:nvSpPr>
        <p:spPr>
          <a:xfrm>
            <a:off x="3888739" y="3924374"/>
            <a:ext cx="604522" cy="604522"/>
          </a:xfrm>
          <a:prstGeom prst="ellipse">
            <a:avLst/>
          </a:prstGeom>
          <a:blipFill>
            <a:blip r:embed="rId2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82" name="Shape 82"/>
          <p:cNvSpPr/>
          <p:nvPr/>
        </p:nvSpPr>
        <p:spPr>
          <a:xfrm>
            <a:off x="1793239" y="3505274"/>
            <a:ext cx="604522" cy="604522"/>
          </a:xfrm>
          <a:prstGeom prst="ellipse">
            <a:avLst/>
          </a:prstGeom>
          <a:blipFill>
            <a:blip r:embed="rId2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83" name="Shape 83"/>
          <p:cNvSpPr/>
          <p:nvPr/>
        </p:nvSpPr>
        <p:spPr>
          <a:xfrm>
            <a:off x="2326639" y="5130874"/>
            <a:ext cx="604522" cy="604522"/>
          </a:xfrm>
          <a:prstGeom prst="ellipse">
            <a:avLst/>
          </a:prstGeom>
          <a:blipFill>
            <a:blip r:embed="rId2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84" name="Shape 84"/>
          <p:cNvSpPr/>
          <p:nvPr/>
        </p:nvSpPr>
        <p:spPr>
          <a:xfrm>
            <a:off x="8575039" y="5245174"/>
            <a:ext cx="604522" cy="604522"/>
          </a:xfrm>
          <a:prstGeom prst="ellipse">
            <a:avLst/>
          </a:prstGeom>
          <a:blipFill>
            <a:blip r:embed="rId2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85" name="Shape 85"/>
          <p:cNvSpPr/>
          <p:nvPr/>
        </p:nvSpPr>
        <p:spPr>
          <a:xfrm>
            <a:off x="1606550" y="6965950"/>
            <a:ext cx="4229101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Three populations:</a:t>
            </a:r>
          </a:p>
        </p:txBody>
      </p:sp>
      <p:sp>
        <p:nvSpPr>
          <p:cNvPr id="86" name="Shape 86"/>
          <p:cNvSpPr/>
          <p:nvPr/>
        </p:nvSpPr>
        <p:spPr>
          <a:xfrm>
            <a:off x="10619739" y="6828515"/>
            <a:ext cx="604522" cy="604522"/>
          </a:xfrm>
          <a:prstGeom prst="ellipse">
            <a:avLst/>
          </a:prstGeom>
          <a:blipFill>
            <a:blip r:embed="rId2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dirty="0"/>
              <a:t>S</a:t>
            </a:r>
          </a:p>
        </p:txBody>
      </p:sp>
      <p:sp>
        <p:nvSpPr>
          <p:cNvPr id="87" name="Shape 87"/>
          <p:cNvSpPr/>
          <p:nvPr/>
        </p:nvSpPr>
        <p:spPr>
          <a:xfrm>
            <a:off x="10619739" y="7687965"/>
            <a:ext cx="604522" cy="604522"/>
          </a:xfrm>
          <a:prstGeom prst="ellipse">
            <a:avLst/>
          </a:prstGeom>
          <a:blipFill>
            <a:blip r:embed="rId3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dirty="0" smtClean="0"/>
              <a:t>I</a:t>
            </a:r>
            <a:r>
              <a:rPr lang="en-US" dirty="0" smtClean="0"/>
              <a:t> </a:t>
            </a:r>
            <a:endParaRPr dirty="0"/>
          </a:p>
        </p:txBody>
      </p:sp>
      <p:sp>
        <p:nvSpPr>
          <p:cNvPr id="88" name="Shape 88"/>
          <p:cNvSpPr/>
          <p:nvPr/>
        </p:nvSpPr>
        <p:spPr>
          <a:xfrm>
            <a:off x="10619739" y="8547333"/>
            <a:ext cx="604522" cy="604522"/>
          </a:xfrm>
          <a:prstGeom prst="ellipse">
            <a:avLst/>
          </a:prstGeom>
          <a:blipFill>
            <a:blip r:embed="rId4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9461086" y="6898218"/>
                <a:ext cx="959686" cy="5539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𝑆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(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𝑡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)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1086" y="6898218"/>
                <a:ext cx="959686" cy="55399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8716025" y="7756934"/>
                <a:ext cx="896399" cy="5539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𝐼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(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𝑡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)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6025" y="7756934"/>
                <a:ext cx="896399" cy="553998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8969614" y="8564851"/>
                <a:ext cx="1015471" cy="5539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𝑅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(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𝑡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)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9614" y="8564851"/>
                <a:ext cx="1015471" cy="553998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761317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/>
          <p:nvPr/>
        </p:nvSpPr>
        <p:spPr>
          <a:xfrm>
            <a:off x="6263639" y="4876874"/>
            <a:ext cx="604522" cy="604522"/>
          </a:xfrm>
          <a:prstGeom prst="ellipse">
            <a:avLst/>
          </a:prstGeom>
          <a:blipFill>
            <a:blip r:embed="rId2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91" name="Shape 91"/>
          <p:cNvSpPr/>
          <p:nvPr/>
        </p:nvSpPr>
        <p:spPr>
          <a:xfrm>
            <a:off x="8575039" y="5245174"/>
            <a:ext cx="604522" cy="604522"/>
          </a:xfrm>
          <a:prstGeom prst="ellipse">
            <a:avLst/>
          </a:prstGeom>
          <a:blipFill>
            <a:blip r:embed="rId3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I</a:t>
            </a:r>
          </a:p>
        </p:txBody>
      </p:sp>
      <p:sp>
        <p:nvSpPr>
          <p:cNvPr id="92" name="Shape 92"/>
          <p:cNvSpPr/>
          <p:nvPr/>
        </p:nvSpPr>
        <p:spPr>
          <a:xfrm>
            <a:off x="1793239" y="3505274"/>
            <a:ext cx="604522" cy="604522"/>
          </a:xfrm>
          <a:prstGeom prst="ellipse">
            <a:avLst/>
          </a:prstGeom>
          <a:blipFill>
            <a:blip r:embed="rId2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93" name="Shape 93"/>
          <p:cNvSpPr>
            <a:spLocks noGrp="1"/>
          </p:cNvSpPr>
          <p:nvPr>
            <p:ph type="title"/>
          </p:nvPr>
        </p:nvSpPr>
        <p:spPr>
          <a:xfrm>
            <a:off x="437232" y="444500"/>
            <a:ext cx="12130336" cy="1605906"/>
          </a:xfrm>
          <a:prstGeom prst="rect">
            <a:avLst/>
          </a:prstGeom>
        </p:spPr>
        <p:txBody>
          <a:bodyPr/>
          <a:lstStyle/>
          <a:p>
            <a:r>
              <a:t>General idea</a:t>
            </a:r>
          </a:p>
        </p:txBody>
      </p:sp>
      <p:sp>
        <p:nvSpPr>
          <p:cNvPr id="95" name="Shape 95"/>
          <p:cNvSpPr/>
          <p:nvPr/>
        </p:nvSpPr>
        <p:spPr>
          <a:xfrm>
            <a:off x="3368039" y="2260674"/>
            <a:ext cx="604522" cy="604522"/>
          </a:xfrm>
          <a:prstGeom prst="ellipse">
            <a:avLst/>
          </a:prstGeom>
          <a:blipFill>
            <a:blip r:embed="rId2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96" name="Shape 96"/>
          <p:cNvSpPr/>
          <p:nvPr/>
        </p:nvSpPr>
        <p:spPr>
          <a:xfrm>
            <a:off x="5133339" y="2679774"/>
            <a:ext cx="604522" cy="604522"/>
          </a:xfrm>
          <a:prstGeom prst="ellipse">
            <a:avLst/>
          </a:prstGeom>
          <a:blipFill>
            <a:blip r:embed="rId3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I</a:t>
            </a:r>
          </a:p>
        </p:txBody>
      </p:sp>
      <p:sp>
        <p:nvSpPr>
          <p:cNvPr id="97" name="Shape 97"/>
          <p:cNvSpPr/>
          <p:nvPr/>
        </p:nvSpPr>
        <p:spPr>
          <a:xfrm>
            <a:off x="6936739" y="2070174"/>
            <a:ext cx="604522" cy="604522"/>
          </a:xfrm>
          <a:prstGeom prst="ellipse">
            <a:avLst/>
          </a:prstGeom>
          <a:blipFill>
            <a:blip r:embed="rId2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98" name="Shape 98"/>
          <p:cNvSpPr/>
          <p:nvPr/>
        </p:nvSpPr>
        <p:spPr>
          <a:xfrm>
            <a:off x="8117839" y="3276674"/>
            <a:ext cx="604522" cy="604522"/>
          </a:xfrm>
          <a:prstGeom prst="ellipse">
            <a:avLst/>
          </a:prstGeom>
          <a:blipFill>
            <a:blip r:embed="rId2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99" name="Shape 99"/>
          <p:cNvSpPr/>
          <p:nvPr/>
        </p:nvSpPr>
        <p:spPr>
          <a:xfrm>
            <a:off x="9768839" y="2463874"/>
            <a:ext cx="604522" cy="604522"/>
          </a:xfrm>
          <a:prstGeom prst="ellipse">
            <a:avLst/>
          </a:prstGeom>
          <a:blipFill>
            <a:blip r:embed="rId2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100" name="Shape 100"/>
          <p:cNvSpPr/>
          <p:nvPr/>
        </p:nvSpPr>
        <p:spPr>
          <a:xfrm>
            <a:off x="10403839" y="4330774"/>
            <a:ext cx="604522" cy="604522"/>
          </a:xfrm>
          <a:prstGeom prst="ellipse">
            <a:avLst/>
          </a:prstGeom>
          <a:blipFill>
            <a:blip r:embed="rId2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101" name="Shape 101"/>
          <p:cNvSpPr/>
          <p:nvPr/>
        </p:nvSpPr>
        <p:spPr>
          <a:xfrm>
            <a:off x="3888739" y="3924374"/>
            <a:ext cx="604522" cy="604522"/>
          </a:xfrm>
          <a:prstGeom prst="ellipse">
            <a:avLst/>
          </a:prstGeom>
          <a:blipFill>
            <a:blip r:embed="rId3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I</a:t>
            </a:r>
          </a:p>
        </p:txBody>
      </p:sp>
      <p:sp>
        <p:nvSpPr>
          <p:cNvPr id="102" name="Shape 102"/>
          <p:cNvSpPr/>
          <p:nvPr/>
        </p:nvSpPr>
        <p:spPr>
          <a:xfrm>
            <a:off x="2326639" y="5130874"/>
            <a:ext cx="604522" cy="604522"/>
          </a:xfrm>
          <a:prstGeom prst="ellipse">
            <a:avLst/>
          </a:prstGeom>
          <a:blipFill>
            <a:blip r:embed="rId2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103" name="Shape 103"/>
          <p:cNvSpPr/>
          <p:nvPr/>
        </p:nvSpPr>
        <p:spPr>
          <a:xfrm>
            <a:off x="1606550" y="6965950"/>
            <a:ext cx="4229101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Three populations:</a:t>
            </a:r>
          </a:p>
        </p:txBody>
      </p:sp>
      <p:sp>
        <p:nvSpPr>
          <p:cNvPr id="24" name="Shape 73"/>
          <p:cNvSpPr>
            <a:spLocks noGrp="1"/>
          </p:cNvSpPr>
          <p:nvPr>
            <p:ph type="body" sz="quarter" idx="1"/>
          </p:nvPr>
        </p:nvSpPr>
        <p:spPr>
          <a:xfrm>
            <a:off x="6275527" y="6707664"/>
            <a:ext cx="5808068" cy="2658368"/>
          </a:xfrm>
          <a:prstGeom prst="rect">
            <a:avLst/>
          </a:prstGeom>
        </p:spPr>
        <p:txBody>
          <a:bodyPr/>
          <a:lstStyle/>
          <a:p>
            <a:r>
              <a:rPr dirty="0"/>
              <a:t>Susceptible </a:t>
            </a:r>
            <a:endParaRPr b="0" dirty="0"/>
          </a:p>
          <a:p>
            <a:r>
              <a:rPr dirty="0"/>
              <a:t>Infected </a:t>
            </a:r>
            <a:endParaRPr b="0" dirty="0"/>
          </a:p>
          <a:p>
            <a:r>
              <a:rPr dirty="0"/>
              <a:t>Removed </a:t>
            </a:r>
            <a:endParaRPr b="0" dirty="0"/>
          </a:p>
        </p:txBody>
      </p:sp>
      <p:sp>
        <p:nvSpPr>
          <p:cNvPr id="25" name="Shape 86"/>
          <p:cNvSpPr/>
          <p:nvPr/>
        </p:nvSpPr>
        <p:spPr>
          <a:xfrm>
            <a:off x="10619739" y="6828515"/>
            <a:ext cx="604522" cy="604522"/>
          </a:xfrm>
          <a:prstGeom prst="ellipse">
            <a:avLst/>
          </a:prstGeom>
          <a:blipFill>
            <a:blip r:embed="rId2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dirty="0"/>
              <a:t>S</a:t>
            </a:r>
          </a:p>
        </p:txBody>
      </p:sp>
      <p:sp>
        <p:nvSpPr>
          <p:cNvPr id="26" name="Shape 87"/>
          <p:cNvSpPr/>
          <p:nvPr/>
        </p:nvSpPr>
        <p:spPr>
          <a:xfrm>
            <a:off x="10619739" y="7687965"/>
            <a:ext cx="604522" cy="604522"/>
          </a:xfrm>
          <a:prstGeom prst="ellipse">
            <a:avLst/>
          </a:prstGeom>
          <a:blipFill>
            <a:blip r:embed="rId3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dirty="0" smtClean="0"/>
              <a:t>I</a:t>
            </a:r>
            <a:r>
              <a:rPr lang="en-US" dirty="0" smtClean="0"/>
              <a:t> </a:t>
            </a:r>
            <a:endParaRPr dirty="0"/>
          </a:p>
        </p:txBody>
      </p:sp>
      <p:sp>
        <p:nvSpPr>
          <p:cNvPr id="27" name="Shape 88"/>
          <p:cNvSpPr/>
          <p:nvPr/>
        </p:nvSpPr>
        <p:spPr>
          <a:xfrm>
            <a:off x="10619739" y="8547333"/>
            <a:ext cx="604522" cy="604522"/>
          </a:xfrm>
          <a:prstGeom prst="ellipse">
            <a:avLst/>
          </a:prstGeom>
          <a:blipFill>
            <a:blip r:embed="rId4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9461086" y="6898218"/>
                <a:ext cx="959686" cy="5539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𝑆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(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𝑡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)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1086" y="6898218"/>
                <a:ext cx="959686" cy="55399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8716025" y="7756934"/>
                <a:ext cx="896399" cy="5539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𝐼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(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𝑡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)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6025" y="7756934"/>
                <a:ext cx="896399" cy="553998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8969614" y="8564851"/>
                <a:ext cx="1015471" cy="5539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𝑅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(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𝑡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)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9614" y="8564851"/>
                <a:ext cx="1015471" cy="553998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832666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/>
          <p:nvPr/>
        </p:nvSpPr>
        <p:spPr>
          <a:xfrm>
            <a:off x="6263639" y="4876874"/>
            <a:ext cx="604522" cy="604522"/>
          </a:xfrm>
          <a:prstGeom prst="ellipse">
            <a:avLst/>
          </a:prstGeom>
          <a:blipFill>
            <a:blip r:embed="rId2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109" name="Shape 109"/>
          <p:cNvSpPr/>
          <p:nvPr/>
        </p:nvSpPr>
        <p:spPr>
          <a:xfrm>
            <a:off x="8575039" y="5245174"/>
            <a:ext cx="604522" cy="604522"/>
          </a:xfrm>
          <a:prstGeom prst="ellipse">
            <a:avLst/>
          </a:prstGeom>
          <a:blipFill>
            <a:blip r:embed="rId3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I</a:t>
            </a:r>
          </a:p>
        </p:txBody>
      </p:sp>
      <p:sp>
        <p:nvSpPr>
          <p:cNvPr id="110" name="Shape 110"/>
          <p:cNvSpPr/>
          <p:nvPr/>
        </p:nvSpPr>
        <p:spPr>
          <a:xfrm>
            <a:off x="1793239" y="3505274"/>
            <a:ext cx="604522" cy="604522"/>
          </a:xfrm>
          <a:prstGeom prst="ellipse">
            <a:avLst/>
          </a:prstGeom>
          <a:blipFill>
            <a:blip r:embed="rId2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111" name="Shape 111"/>
          <p:cNvSpPr>
            <a:spLocks noGrp="1"/>
          </p:cNvSpPr>
          <p:nvPr>
            <p:ph type="title"/>
          </p:nvPr>
        </p:nvSpPr>
        <p:spPr>
          <a:xfrm>
            <a:off x="437232" y="444500"/>
            <a:ext cx="12130336" cy="1605906"/>
          </a:xfrm>
          <a:prstGeom prst="rect">
            <a:avLst/>
          </a:prstGeom>
        </p:spPr>
        <p:txBody>
          <a:bodyPr/>
          <a:lstStyle/>
          <a:p>
            <a:r>
              <a:rPr dirty="0"/>
              <a:t>General idea</a:t>
            </a:r>
          </a:p>
        </p:txBody>
      </p:sp>
      <p:sp>
        <p:nvSpPr>
          <p:cNvPr id="113" name="Shape 113"/>
          <p:cNvSpPr/>
          <p:nvPr/>
        </p:nvSpPr>
        <p:spPr>
          <a:xfrm>
            <a:off x="3368039" y="2260674"/>
            <a:ext cx="604522" cy="604522"/>
          </a:xfrm>
          <a:prstGeom prst="ellipse">
            <a:avLst/>
          </a:prstGeom>
          <a:blipFill>
            <a:blip r:embed="rId2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114" name="Shape 114"/>
          <p:cNvSpPr/>
          <p:nvPr/>
        </p:nvSpPr>
        <p:spPr>
          <a:xfrm>
            <a:off x="5133339" y="2679774"/>
            <a:ext cx="604522" cy="604522"/>
          </a:xfrm>
          <a:prstGeom prst="ellipse">
            <a:avLst/>
          </a:prstGeom>
          <a:blipFill>
            <a:blip r:embed="rId4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R</a:t>
            </a:r>
          </a:p>
        </p:txBody>
      </p:sp>
      <p:sp>
        <p:nvSpPr>
          <p:cNvPr id="115" name="Shape 115"/>
          <p:cNvSpPr/>
          <p:nvPr/>
        </p:nvSpPr>
        <p:spPr>
          <a:xfrm>
            <a:off x="6936739" y="2070174"/>
            <a:ext cx="604522" cy="604522"/>
          </a:xfrm>
          <a:prstGeom prst="ellipse">
            <a:avLst/>
          </a:prstGeom>
          <a:blipFill>
            <a:blip r:embed="rId2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116" name="Shape 116"/>
          <p:cNvSpPr/>
          <p:nvPr/>
        </p:nvSpPr>
        <p:spPr>
          <a:xfrm>
            <a:off x="8117839" y="3276674"/>
            <a:ext cx="604522" cy="604522"/>
          </a:xfrm>
          <a:prstGeom prst="ellipse">
            <a:avLst/>
          </a:prstGeom>
          <a:blipFill>
            <a:blip r:embed="rId2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117" name="Shape 117"/>
          <p:cNvSpPr/>
          <p:nvPr/>
        </p:nvSpPr>
        <p:spPr>
          <a:xfrm>
            <a:off x="9768839" y="2463874"/>
            <a:ext cx="604522" cy="604522"/>
          </a:xfrm>
          <a:prstGeom prst="ellipse">
            <a:avLst/>
          </a:prstGeom>
          <a:blipFill>
            <a:blip r:embed="rId2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118" name="Shape 118"/>
          <p:cNvSpPr/>
          <p:nvPr/>
        </p:nvSpPr>
        <p:spPr>
          <a:xfrm>
            <a:off x="10403839" y="4330774"/>
            <a:ext cx="604522" cy="604522"/>
          </a:xfrm>
          <a:prstGeom prst="ellipse">
            <a:avLst/>
          </a:prstGeom>
          <a:blipFill>
            <a:blip r:embed="rId2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119" name="Shape 119"/>
          <p:cNvSpPr/>
          <p:nvPr/>
        </p:nvSpPr>
        <p:spPr>
          <a:xfrm>
            <a:off x="3888739" y="3924374"/>
            <a:ext cx="604522" cy="604522"/>
          </a:xfrm>
          <a:prstGeom prst="ellipse">
            <a:avLst/>
          </a:prstGeom>
          <a:blipFill>
            <a:blip r:embed="rId3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I</a:t>
            </a:r>
          </a:p>
        </p:txBody>
      </p:sp>
      <p:sp>
        <p:nvSpPr>
          <p:cNvPr id="120" name="Shape 120"/>
          <p:cNvSpPr/>
          <p:nvPr/>
        </p:nvSpPr>
        <p:spPr>
          <a:xfrm>
            <a:off x="2326639" y="5130874"/>
            <a:ext cx="604522" cy="604522"/>
          </a:xfrm>
          <a:prstGeom prst="ellipse">
            <a:avLst/>
          </a:prstGeom>
          <a:blipFill>
            <a:blip r:embed="rId2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</a:t>
            </a:r>
          </a:p>
        </p:txBody>
      </p:sp>
      <p:sp>
        <p:nvSpPr>
          <p:cNvPr id="121" name="Shape 121"/>
          <p:cNvSpPr/>
          <p:nvPr/>
        </p:nvSpPr>
        <p:spPr>
          <a:xfrm>
            <a:off x="1606550" y="6965950"/>
            <a:ext cx="4229101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Three populations:</a:t>
            </a:r>
          </a:p>
        </p:txBody>
      </p:sp>
      <p:sp>
        <p:nvSpPr>
          <p:cNvPr id="20" name="Shape 73"/>
          <p:cNvSpPr>
            <a:spLocks noGrp="1"/>
          </p:cNvSpPr>
          <p:nvPr>
            <p:ph type="body" sz="quarter" idx="1"/>
          </p:nvPr>
        </p:nvSpPr>
        <p:spPr>
          <a:xfrm>
            <a:off x="6275527" y="6707664"/>
            <a:ext cx="5808068" cy="2658368"/>
          </a:xfrm>
          <a:prstGeom prst="rect">
            <a:avLst/>
          </a:prstGeom>
        </p:spPr>
        <p:txBody>
          <a:bodyPr/>
          <a:lstStyle/>
          <a:p>
            <a:r>
              <a:rPr dirty="0"/>
              <a:t>Susceptible </a:t>
            </a:r>
            <a:endParaRPr b="0" dirty="0"/>
          </a:p>
          <a:p>
            <a:r>
              <a:rPr dirty="0"/>
              <a:t>Infected </a:t>
            </a:r>
            <a:endParaRPr b="0" dirty="0"/>
          </a:p>
          <a:p>
            <a:r>
              <a:rPr dirty="0"/>
              <a:t>Removed </a:t>
            </a:r>
            <a:endParaRPr b="0" dirty="0"/>
          </a:p>
        </p:txBody>
      </p:sp>
      <p:sp>
        <p:nvSpPr>
          <p:cNvPr id="25" name="Shape 86"/>
          <p:cNvSpPr/>
          <p:nvPr/>
        </p:nvSpPr>
        <p:spPr>
          <a:xfrm>
            <a:off x="10619739" y="6828515"/>
            <a:ext cx="604522" cy="604522"/>
          </a:xfrm>
          <a:prstGeom prst="ellipse">
            <a:avLst/>
          </a:prstGeom>
          <a:blipFill>
            <a:blip r:embed="rId2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dirty="0"/>
              <a:t>S</a:t>
            </a:r>
          </a:p>
        </p:txBody>
      </p:sp>
      <p:sp>
        <p:nvSpPr>
          <p:cNvPr id="26" name="Shape 87"/>
          <p:cNvSpPr/>
          <p:nvPr/>
        </p:nvSpPr>
        <p:spPr>
          <a:xfrm>
            <a:off x="10619739" y="7687965"/>
            <a:ext cx="604522" cy="604522"/>
          </a:xfrm>
          <a:prstGeom prst="ellipse">
            <a:avLst/>
          </a:prstGeom>
          <a:blipFill>
            <a:blip r:embed="rId3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dirty="0" smtClean="0"/>
              <a:t>I</a:t>
            </a:r>
            <a:r>
              <a:rPr lang="en-US" dirty="0" smtClean="0"/>
              <a:t> </a:t>
            </a:r>
            <a:endParaRPr dirty="0"/>
          </a:p>
        </p:txBody>
      </p:sp>
      <p:sp>
        <p:nvSpPr>
          <p:cNvPr id="27" name="Shape 88"/>
          <p:cNvSpPr/>
          <p:nvPr/>
        </p:nvSpPr>
        <p:spPr>
          <a:xfrm>
            <a:off x="10619739" y="8547333"/>
            <a:ext cx="604522" cy="604522"/>
          </a:xfrm>
          <a:prstGeom prst="ellipse">
            <a:avLst/>
          </a:prstGeom>
          <a:blipFill>
            <a:blip r:embed="rId4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/>
          <a:lstStyle>
            <a:lvl1pPr>
              <a:defRPr sz="2500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9461086" y="6898218"/>
                <a:ext cx="959686" cy="5539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𝑆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(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𝑡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)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1086" y="6898218"/>
                <a:ext cx="959686" cy="55399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8716025" y="7756934"/>
                <a:ext cx="896399" cy="5539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𝐼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(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𝑡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)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6025" y="7756934"/>
                <a:ext cx="896399" cy="553998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8969614" y="8564851"/>
                <a:ext cx="1015471" cy="5539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𝑅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(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𝑡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)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9614" y="8564851"/>
                <a:ext cx="1015471" cy="553998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929607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981252" y="6358210"/>
            <a:ext cx="6359493" cy="1715901"/>
            <a:chOff x="1981252" y="6358210"/>
            <a:chExt cx="6359493" cy="1715901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81252" y="6358210"/>
              <a:ext cx="6247493" cy="1455568"/>
            </a:xfrm>
            <a:prstGeom prst="rect">
              <a:avLst/>
            </a:prstGeom>
          </p:spPr>
        </p:pic>
        <p:sp>
          <p:nvSpPr>
            <p:cNvPr id="4" name="Rectangle 3"/>
            <p:cNvSpPr/>
            <p:nvPr/>
          </p:nvSpPr>
          <p:spPr>
            <a:xfrm>
              <a:off x="3557588" y="7243088"/>
              <a:ext cx="4783157" cy="831023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endParaRPr>
            </a:p>
          </p:txBody>
        </p:sp>
      </p:grpSp>
      <p:sp>
        <p:nvSpPr>
          <p:cNvPr id="126" name="Shape 126"/>
          <p:cNvSpPr>
            <a:spLocks noGrp="1"/>
          </p:cNvSpPr>
          <p:nvPr>
            <p:ph type="title"/>
          </p:nvPr>
        </p:nvSpPr>
        <p:spPr>
          <a:xfrm>
            <a:off x="437232" y="444500"/>
            <a:ext cx="12130336" cy="1291928"/>
          </a:xfrm>
          <a:prstGeom prst="rect">
            <a:avLst/>
          </a:prstGeom>
        </p:spPr>
        <p:txBody>
          <a:bodyPr/>
          <a:lstStyle>
            <a:lvl1pPr>
              <a:defRPr sz="5400"/>
            </a:lvl1pPr>
          </a:lstStyle>
          <a:p>
            <a:r>
              <a:t>How do we turn this into equations?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Shape 127"/>
              <p:cNvSpPr>
                <a:spLocks noGrp="1"/>
              </p:cNvSpPr>
              <p:nvPr>
                <p:ph type="body" sz="half" idx="1"/>
              </p:nvPr>
            </p:nvSpPr>
            <p:spPr>
              <a:xfrm>
                <a:off x="952500" y="4162028"/>
                <a:ext cx="11099800" cy="4258122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Number of people infected at time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charset="0"/>
                      </a:rPr>
                      <m:t>𝒕</m:t>
                    </m:r>
                    <m:r>
                      <a:rPr lang="en-US" b="1" i="1" smtClean="0">
                        <a:latin typeface="Cambria Math" charset="0"/>
                      </a:rPr>
                      <m:t> </m:t>
                    </m:r>
                  </m:oMath>
                </a14:m>
                <a:r>
                  <a:rPr lang="en-US" dirty="0" smtClean="0"/>
                  <a:t>is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Total people sick at </a:t>
                </a:r>
                <a:r>
                  <a:rPr lang="en-US" dirty="0" smtClean="0"/>
                  <a:t>time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charset="0"/>
                      </a:rPr>
                      <m:t>𝒕</m:t>
                    </m:r>
                    <m:r>
                      <a:rPr lang="en-US" b="1" i="1" smtClean="0">
                        <a:latin typeface="Cambria Math" charset="0"/>
                      </a:rPr>
                      <m:t> </m:t>
                    </m:r>
                  </m:oMath>
                </a14:m>
                <a:r>
                  <a:rPr lang="en-US" dirty="0" smtClean="0"/>
                  <a:t>is</a:t>
                </a:r>
                <a:endParaRPr lang="en-US" dirty="0"/>
              </a:p>
              <a:p>
                <a:pPr>
                  <a:spcBef>
                    <a:spcPts val="3800"/>
                  </a:spcBef>
                </a:pPr>
                <a:endParaRPr lang="en-US" dirty="0"/>
              </a:p>
              <a:p>
                <a:r>
                  <a:rPr lang="en-US" dirty="0"/>
                  <a:t>Total population is</a:t>
                </a:r>
                <a:endParaRPr dirty="0"/>
              </a:p>
            </p:txBody>
          </p:sp>
        </mc:Choice>
        <mc:Fallback xmlns="">
          <p:sp>
            <p:nvSpPr>
              <p:cNvPr id="127" name="Shape 12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952500" y="4162028"/>
                <a:ext cx="11099800" cy="4258122"/>
              </a:xfrm>
              <a:prstGeom prst="rect">
                <a:avLst/>
              </a:prstGeom>
              <a:blipFill rotWithShape="0">
                <a:blip r:embed="rId3"/>
                <a:stretch>
                  <a:fillRect l="-1373" t="-860" b="-27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8" name="Shape 128"/>
          <p:cNvSpPr/>
          <p:nvPr/>
        </p:nvSpPr>
        <p:spPr>
          <a:xfrm>
            <a:off x="2245127" y="1862023"/>
            <a:ext cx="8806898" cy="1533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 sz="3100" b="1">
                <a:latin typeface="+mj-lt"/>
                <a:ea typeface="+mj-ea"/>
                <a:cs typeface="+mj-cs"/>
                <a:sym typeface="Helvetica"/>
              </a:defRPr>
            </a:pPr>
            <a:r>
              <a:rPr dirty="0" smtClean="0"/>
              <a:t>:  </a:t>
            </a:r>
            <a:r>
              <a:rPr dirty="0"/>
              <a:t>Number of people not yet </a:t>
            </a:r>
            <a:r>
              <a:rPr dirty="0" smtClean="0"/>
              <a:t>infected</a:t>
            </a:r>
            <a:endParaRPr dirty="0"/>
          </a:p>
          <a:p>
            <a:pPr algn="l">
              <a:defRPr sz="3100" b="1">
                <a:latin typeface="+mj-lt"/>
                <a:ea typeface="+mj-ea"/>
                <a:cs typeface="+mj-cs"/>
                <a:sym typeface="Helvetica"/>
              </a:defRPr>
            </a:pPr>
            <a:r>
              <a:rPr dirty="0" smtClean="0"/>
              <a:t>:  </a:t>
            </a:r>
            <a:r>
              <a:rPr dirty="0"/>
              <a:t>Number of people infected</a:t>
            </a:r>
          </a:p>
          <a:p>
            <a:pPr algn="l">
              <a:defRPr sz="3100" b="1">
                <a:latin typeface="+mj-lt"/>
                <a:ea typeface="+mj-ea"/>
                <a:cs typeface="+mj-cs"/>
                <a:sym typeface="Helvetica"/>
              </a:defRPr>
            </a:pPr>
            <a:r>
              <a:rPr dirty="0" smtClean="0"/>
              <a:t>:  </a:t>
            </a:r>
            <a:r>
              <a:rPr dirty="0"/>
              <a:t>Number of people removed (recovered/died)</a:t>
            </a:r>
          </a:p>
        </p:txBody>
      </p:sp>
      <p:sp>
        <p:nvSpPr>
          <p:cNvPr id="132" name="Shape 132"/>
          <p:cNvSpPr/>
          <p:nvPr/>
        </p:nvSpPr>
        <p:spPr>
          <a:xfrm flipH="1" flipV="1">
            <a:off x="4157663" y="7243087"/>
            <a:ext cx="3009057" cy="541913"/>
          </a:xfrm>
          <a:prstGeom prst="line">
            <a:avLst/>
          </a:prstGeom>
          <a:ln w="38100">
            <a:solidFill>
              <a:schemeClr val="accent4">
                <a:hueOff val="384618"/>
                <a:satOff val="3869"/>
                <a:lumOff val="5802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Shape 133"/>
              <p:cNvSpPr/>
              <p:nvPr/>
            </p:nvSpPr>
            <p:spPr>
              <a:xfrm>
                <a:off x="7206000" y="7474564"/>
                <a:ext cx="5895645" cy="71199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anchor="ctr">
                <a:spAutoFit/>
              </a:bodyPr>
              <a:lstStyle/>
              <a:p>
                <a:pPr algn="l">
                  <a:lnSpc>
                    <a:spcPct val="90000"/>
                  </a:lnSpc>
                  <a:defRPr sz="2200" b="1">
                    <a:solidFill>
                      <a:schemeClr val="accent4">
                        <a:hueOff val="384618"/>
                        <a:satOff val="3869"/>
                        <a:lumOff val="5802"/>
                      </a:schemeClr>
                    </a:solidFill>
                    <a:latin typeface="+mj-lt"/>
                    <a:ea typeface="+mj-ea"/>
                    <a:cs typeface="+mj-cs"/>
                    <a:sym typeface="Helvetica"/>
                  </a:defRPr>
                </a:pPr>
                <a:r>
                  <a:rPr lang="en-US" dirty="0" smtClean="0"/>
                  <a:t>number of people sick at time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charset="0"/>
                      </a:rPr>
                      <m:t>𝒕</m:t>
                    </m:r>
                  </m:oMath>
                </a14:m>
                <a:endParaRPr lang="en-US" dirty="0" smtClean="0"/>
              </a:p>
              <a:p>
                <a:pPr algn="l">
                  <a:lnSpc>
                    <a:spcPct val="90000"/>
                  </a:lnSpc>
                  <a:defRPr sz="2200" b="1">
                    <a:solidFill>
                      <a:schemeClr val="accent4">
                        <a:hueOff val="384618"/>
                        <a:satOff val="3869"/>
                        <a:lumOff val="5802"/>
                      </a:schemeClr>
                    </a:solidFill>
                    <a:latin typeface="+mj-lt"/>
                    <a:ea typeface="+mj-ea"/>
                    <a:cs typeface="+mj-cs"/>
                    <a:sym typeface="Helvetica"/>
                  </a:defRPr>
                </a:pPr>
                <a:r>
                  <a:rPr lang="en-US" dirty="0"/>
                  <a:t>w</a:t>
                </a:r>
                <a:r>
                  <a:rPr lang="en-US" dirty="0" smtClean="0"/>
                  <a:t>ho were infected at time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charset="0"/>
                      </a:rPr>
                      <m:t>𝜽</m:t>
                    </m:r>
                  </m:oMath>
                </a14:m>
                <a:r>
                  <a:rPr lang="en-US" dirty="0" smtClean="0"/>
                  <a:t>  </a:t>
                </a:r>
                <a:endParaRPr dirty="0"/>
              </a:p>
            </p:txBody>
          </p:sp>
        </mc:Choice>
        <mc:Fallback xmlns="">
          <p:sp>
            <p:nvSpPr>
              <p:cNvPr id="133" name="Shape 1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6000" y="7474564"/>
                <a:ext cx="5895645" cy="711990"/>
              </a:xfrm>
              <a:prstGeom prst="rect">
                <a:avLst/>
              </a:prstGeom>
              <a:blipFill rotWithShape="0">
                <a:blip r:embed="rId4"/>
                <a:stretch>
                  <a:fillRect l="-2068" t="-8547" b="-16239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798320" y="2341038"/>
                <a:ext cx="549638" cy="5539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𝑦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8320" y="2341038"/>
                <a:ext cx="549638" cy="55399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817358" y="1895892"/>
                <a:ext cx="546303" cy="5539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𝑥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7358" y="1895892"/>
                <a:ext cx="546303" cy="553998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803652" y="2795997"/>
                <a:ext cx="517065" cy="5539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𝑧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3652" y="2795997"/>
                <a:ext cx="517065" cy="553998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124375" y="4832865"/>
                <a:ext cx="2980624" cy="5539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𝑣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𝑡</m:t>
                          </m:r>
                        </m:sub>
                      </m:sSub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=</m:t>
                      </m:r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𝑥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𝑡</m:t>
                          </m:r>
                        </m:sub>
                      </m:sSub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−</m:t>
                      </m:r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𝑥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𝑡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4375" y="4832865"/>
                <a:ext cx="2980624" cy="553998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759890" y="8460725"/>
                <a:ext cx="3406830" cy="5539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𝑥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𝑡</m:t>
                          </m:r>
                        </m:sub>
                      </m:sSub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+</m:t>
                      </m:r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𝑦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𝑡</m:t>
                          </m:r>
                        </m:sub>
                      </m:sSub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+</m:t>
                      </m:r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𝑧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𝑡</m:t>
                          </m:r>
                        </m:sub>
                      </m:sSub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=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𝑁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9890" y="8460725"/>
                <a:ext cx="3406830" cy="553998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686023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136"/>
          <p:cNvSpPr/>
          <p:nvPr/>
        </p:nvSpPr>
        <p:spPr>
          <a:xfrm>
            <a:off x="437232" y="444500"/>
            <a:ext cx="12130336" cy="1291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>
            <a:lvl1pPr>
              <a:defRPr sz="5400" b="1"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How do we turn this into equations?</a:t>
            </a:r>
          </a:p>
        </p:txBody>
      </p:sp>
      <p:pic>
        <p:nvPicPr>
          <p:cNvPr id="137" name="Screen Shot 2015-02-04 at 10.42.38 AM.png"/>
          <p:cNvPicPr>
            <a:picLocks noChangeAspect="1"/>
          </p:cNvPicPr>
          <p:nvPr/>
        </p:nvPicPr>
        <p:blipFill rotWithShape="1">
          <a:blip r:embed="rId2">
            <a:extLst/>
          </a:blip>
          <a:srcRect b="87524"/>
          <a:stretch/>
        </p:blipFill>
        <p:spPr>
          <a:xfrm>
            <a:off x="1225550" y="1736428"/>
            <a:ext cx="10553700" cy="678160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Screen Shot 2015-02-04 at 10.42.38 AM.png"/>
          <p:cNvPicPr>
            <a:picLocks noChangeAspect="1"/>
          </p:cNvPicPr>
          <p:nvPr/>
        </p:nvPicPr>
        <p:blipFill rotWithShape="1">
          <a:blip r:embed="rId2">
            <a:extLst/>
          </a:blip>
          <a:srcRect t="12623"/>
          <a:stretch/>
        </p:blipFill>
        <p:spPr>
          <a:xfrm>
            <a:off x="0" y="2542581"/>
            <a:ext cx="10553700" cy="4749503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4" y="7387501"/>
            <a:ext cx="6417171" cy="2219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85450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>
            <a:spLocks noGrp="1"/>
          </p:cNvSpPr>
          <p:nvPr>
            <p:ph type="title"/>
          </p:nvPr>
        </p:nvSpPr>
        <p:spPr>
          <a:xfrm>
            <a:off x="437232" y="190500"/>
            <a:ext cx="12130336" cy="2159000"/>
          </a:xfrm>
          <a:prstGeom prst="rect">
            <a:avLst/>
          </a:prstGeom>
        </p:spPr>
        <p:txBody>
          <a:bodyPr/>
          <a:lstStyle/>
          <a:p>
            <a:r>
              <a:t>Calculus: assume that intervals become very small</a:t>
            </a:r>
          </a:p>
        </p:txBody>
      </p:sp>
      <p:sp>
        <p:nvSpPr>
          <p:cNvPr id="140" name="Shape 140"/>
          <p:cNvSpPr>
            <a:spLocks noGrp="1"/>
          </p:cNvSpPr>
          <p:nvPr>
            <p:ph type="body" sz="quarter" idx="1"/>
          </p:nvPr>
        </p:nvSpPr>
        <p:spPr>
          <a:xfrm>
            <a:off x="1710263" y="7717595"/>
            <a:ext cx="11099800" cy="1506836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rPr dirty="0" smtClean="0"/>
              <a:t> </a:t>
            </a:r>
            <a:r>
              <a:rPr dirty="0"/>
              <a:t>is related to rates of infection and removal.</a:t>
            </a:r>
          </a:p>
          <a:p>
            <a:pPr marL="0" indent="0">
              <a:buSzTx/>
              <a:buNone/>
            </a:pPr>
            <a:r>
              <a:rPr dirty="0" smtClean="0"/>
              <a:t> and</a:t>
            </a:r>
            <a:r>
              <a:rPr lang="en-US" dirty="0" smtClean="0"/>
              <a:t>  </a:t>
            </a:r>
            <a:r>
              <a:rPr dirty="0" smtClean="0"/>
              <a:t> </a:t>
            </a:r>
            <a:r>
              <a:rPr lang="en-US" b="0" i="1" dirty="0" smtClean="0"/>
              <a:t>  </a:t>
            </a:r>
            <a:r>
              <a:rPr dirty="0" smtClean="0"/>
              <a:t> are </a:t>
            </a:r>
            <a:r>
              <a:rPr dirty="0"/>
              <a:t>related to rate of removal.</a:t>
            </a:r>
          </a:p>
        </p:txBody>
      </p:sp>
      <p:pic>
        <p:nvPicPr>
          <p:cNvPr id="141" name="Screen Shot 2015-02-04 at 10.53.41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912533" y="2440617"/>
            <a:ext cx="6988569" cy="5123322"/>
          </a:xfrm>
          <a:prstGeom prst="rect">
            <a:avLst/>
          </a:prstGeom>
          <a:ln w="12700">
            <a:miter lim="400000"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331712" y="7751461"/>
                <a:ext cx="597279" cy="11079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𝐴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712" y="7751461"/>
                <a:ext cx="597279" cy="110799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878623" y="8589544"/>
                <a:ext cx="810670" cy="11079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charset="0"/>
                            <a:ea typeface="+mn-ea"/>
                            <a:cs typeface="+mn-cs"/>
                            <a:sym typeface="Helvetica Light"/>
                          </a:rPr>
                        </m:ctrlPr>
                      </m:sSubPr>
                      <m:e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charset="0"/>
                            <a:ea typeface="+mn-ea"/>
                            <a:cs typeface="+mn-cs"/>
                            <a:sym typeface="Helvetica Light"/>
                          </a:rPr>
                          <m:t>𝐶</m:t>
                        </m:r>
                      </m:e>
                      <m:sub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charset="0"/>
                            <a:ea typeface="+mn-ea"/>
                            <a:cs typeface="+mn-cs"/>
                            <a:sym typeface="Helvetica Light"/>
                          </a:rPr>
                          <m:t>𝑡</m:t>
                        </m:r>
                      </m:sub>
                    </m:sSub>
                  </m:oMath>
                </a14:m>
                <a:r>
                  <a:rPr kumimoji="0" lang="en-US" sz="3600" b="0" i="0" u="none" strike="noStrike" cap="none" spc="0" normalizeH="0" baseline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rPr>
                  <a:t>   </a:t>
                </a:r>
              </a:p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8623" y="8589544"/>
                <a:ext cx="810670" cy="110799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328916" y="8572611"/>
                <a:ext cx="588238" cy="11079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𝐵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3600" b="0" i="0" u="none" strike="noStrike" cap="none" spc="0" normalizeH="0" baseline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Light"/>
                  </a:rPr>
                  <a:t> </a:t>
                </a:r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8916" y="8572611"/>
                <a:ext cx="588238" cy="110799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03879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14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Difficult solution</a:t>
            </a:r>
          </a:p>
        </p:txBody>
      </p:sp>
      <p:sp>
        <p:nvSpPr>
          <p:cNvPr id="144" name="Shape 144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08940" indent="-408940" defTabSz="537463">
              <a:spcBef>
                <a:spcPts val="2300"/>
              </a:spcBef>
              <a:defRPr sz="3312"/>
            </a:pPr>
            <a:r>
              <a:t>The authors then attempt to solve these equations</a:t>
            </a:r>
          </a:p>
          <a:p>
            <a:pPr marL="408940" indent="-408940" defTabSz="537463">
              <a:spcBef>
                <a:spcPts val="2300"/>
              </a:spcBef>
              <a:defRPr sz="3312"/>
            </a:pPr>
            <a:r>
              <a:t>Before digital computers: couldn’t use simulations to gain insight into solutions</a:t>
            </a:r>
          </a:p>
          <a:p>
            <a:pPr marL="408940" indent="-408940" defTabSz="537463">
              <a:spcBef>
                <a:spcPts val="2300"/>
              </a:spcBef>
              <a:defRPr sz="3312"/>
            </a:pPr>
            <a:r>
              <a:t>They manage to derive a formula for the size of an epidemic</a:t>
            </a:r>
          </a:p>
          <a:p>
            <a:pPr marL="408940" indent="-408940" defTabSz="537463">
              <a:spcBef>
                <a:spcPts val="2300"/>
              </a:spcBef>
              <a:defRPr sz="3312"/>
            </a:pPr>
            <a:endParaRPr/>
          </a:p>
          <a:p>
            <a:pPr marL="408940" indent="-408940" defTabSz="537463">
              <a:spcBef>
                <a:spcPts val="2300"/>
              </a:spcBef>
              <a:defRPr sz="3312"/>
            </a:pPr>
            <a:r>
              <a:t>Here, </a:t>
            </a:r>
            <a:r>
              <a:rPr b="0" i="1"/>
              <a:t>p</a:t>
            </a:r>
            <a:r>
              <a:t> is the proportion infected during an epidemic</a:t>
            </a:r>
          </a:p>
          <a:p>
            <a:pPr marL="408940" indent="-408940" defTabSz="537463">
              <a:spcBef>
                <a:spcPts val="2300"/>
              </a:spcBef>
              <a:defRPr sz="3312">
                <a:solidFill>
                  <a:schemeClr val="accent6"/>
                </a:solidFill>
              </a:defRPr>
            </a:pPr>
            <a:r>
              <a:t>A bit too complicated for clear insight—is there any way to simplify the model?</a:t>
            </a:r>
          </a:p>
        </p:txBody>
      </p:sp>
      <p:pic>
        <p:nvPicPr>
          <p:cNvPr id="145" name="Screen Shot 2015-02-04 at 11.15.36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37054" y="5605658"/>
            <a:ext cx="3130692" cy="120466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7060896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Simpler model: constant rates</a:t>
            </a:r>
          </a:p>
        </p:txBody>
      </p:sp>
      <p:grpSp>
        <p:nvGrpSpPr>
          <p:cNvPr id="2" name="Group 1"/>
          <p:cNvGrpSpPr>
            <a:grpSpLocks noChangeAspect="1"/>
          </p:cNvGrpSpPr>
          <p:nvPr/>
        </p:nvGrpSpPr>
        <p:grpSpPr>
          <a:xfrm>
            <a:off x="484603" y="2236841"/>
            <a:ext cx="12079224" cy="7314228"/>
            <a:chOff x="1534467" y="2389244"/>
            <a:chExt cx="9935866" cy="5705304"/>
          </a:xfrm>
        </p:grpSpPr>
        <p:pic>
          <p:nvPicPr>
            <p:cNvPr id="148" name="Screen Shot 2015-02-04 at 11.42.07 AM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1554243" y="3729349"/>
              <a:ext cx="9896314" cy="4365199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149" name="Screen Shot 2015-02-04 at 11.42.01 AM.png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1534467" y="2389244"/>
              <a:ext cx="9935866" cy="1480012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3" name="Rectangle 2"/>
          <p:cNvSpPr/>
          <p:nvPr/>
        </p:nvSpPr>
        <p:spPr>
          <a:xfrm>
            <a:off x="7450667" y="5520267"/>
            <a:ext cx="491066" cy="3522133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12229845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151"/>
          <p:cNvSpPr>
            <a:spLocks noGrp="1"/>
          </p:cNvSpPr>
          <p:nvPr>
            <p:ph type="title"/>
          </p:nvPr>
        </p:nvSpPr>
        <p:spPr>
          <a:xfrm>
            <a:off x="437232" y="444500"/>
            <a:ext cx="12130336" cy="1429842"/>
          </a:xfrm>
          <a:prstGeom prst="rect">
            <a:avLst/>
          </a:prstGeom>
        </p:spPr>
        <p:txBody>
          <a:bodyPr/>
          <a:lstStyle>
            <a:lvl1pPr>
              <a:defRPr sz="5500"/>
            </a:lvl1pPr>
          </a:lstStyle>
          <a:p>
            <a:r>
              <a:t>SIR Model (using modern notation)</a:t>
            </a:r>
          </a:p>
        </p:txBody>
      </p:sp>
      <p:sp>
        <p:nvSpPr>
          <p:cNvPr id="153" name="Shape 153"/>
          <p:cNvSpPr/>
          <p:nvPr/>
        </p:nvSpPr>
        <p:spPr>
          <a:xfrm>
            <a:off x="5897256" y="3958573"/>
            <a:ext cx="274575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300" b="1">
                <a:solidFill>
                  <a:schemeClr val="accent5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Infection rate</a:t>
            </a:r>
          </a:p>
        </p:txBody>
      </p:sp>
      <p:sp>
        <p:nvSpPr>
          <p:cNvPr id="154" name="Shape 154"/>
          <p:cNvSpPr>
            <a:spLocks noGrp="1"/>
          </p:cNvSpPr>
          <p:nvPr>
            <p:ph type="body" sz="quarter" idx="1"/>
          </p:nvPr>
        </p:nvSpPr>
        <p:spPr>
          <a:xfrm>
            <a:off x="2700867" y="1701422"/>
            <a:ext cx="8966200" cy="2733279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600"/>
              </a:spcBef>
              <a:buSzTx/>
              <a:buNone/>
            </a:pPr>
            <a:r>
              <a:rPr dirty="0" smtClean="0"/>
              <a:t>: Susceptible</a:t>
            </a:r>
            <a:endParaRPr lang="en-US" dirty="0" smtClean="0"/>
          </a:p>
          <a:p>
            <a:pPr marL="0" indent="0">
              <a:spcBef>
                <a:spcPts val="600"/>
              </a:spcBef>
              <a:buSzTx/>
              <a:buNone/>
            </a:pPr>
            <a:r>
              <a:rPr dirty="0" smtClean="0"/>
              <a:t>: </a:t>
            </a:r>
            <a:r>
              <a:rPr dirty="0"/>
              <a:t>Infected</a:t>
            </a:r>
          </a:p>
          <a:p>
            <a:pPr marL="0" indent="0">
              <a:spcBef>
                <a:spcPts val="600"/>
              </a:spcBef>
              <a:buSzTx/>
              <a:buNone/>
            </a:pPr>
            <a:r>
              <a:rPr dirty="0" smtClean="0"/>
              <a:t>: </a:t>
            </a:r>
            <a:r>
              <a:rPr dirty="0"/>
              <a:t>Removed/recovered</a:t>
            </a:r>
          </a:p>
        </p:txBody>
      </p:sp>
      <p:sp>
        <p:nvSpPr>
          <p:cNvPr id="155" name="Shape 155"/>
          <p:cNvSpPr/>
          <p:nvPr/>
        </p:nvSpPr>
        <p:spPr>
          <a:xfrm>
            <a:off x="4976297" y="7427271"/>
            <a:ext cx="4120922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300" b="1">
                <a:solidFill>
                  <a:schemeClr val="accent1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dirty="0">
                <a:solidFill>
                  <a:srgbClr val="7030A0"/>
                </a:solidFill>
              </a:rPr>
              <a:t>Recovery/death rate</a:t>
            </a:r>
          </a:p>
        </p:txBody>
      </p:sp>
      <p:sp>
        <p:nvSpPr>
          <p:cNvPr id="156" name="Shape 156"/>
          <p:cNvSpPr/>
          <p:nvPr/>
        </p:nvSpPr>
        <p:spPr>
          <a:xfrm flipH="1">
            <a:off x="3625323" y="4331643"/>
            <a:ext cx="2214892" cy="710403"/>
          </a:xfrm>
          <a:prstGeom prst="line">
            <a:avLst/>
          </a:prstGeom>
          <a:ln w="50800">
            <a:solidFill>
              <a:schemeClr val="accent5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157" name="Shape 157"/>
          <p:cNvSpPr/>
          <p:nvPr/>
        </p:nvSpPr>
        <p:spPr>
          <a:xfrm flipH="1" flipV="1">
            <a:off x="4489241" y="7132945"/>
            <a:ext cx="487056" cy="487055"/>
          </a:xfrm>
          <a:prstGeom prst="line">
            <a:avLst/>
          </a:prstGeom>
          <a:ln w="50800">
            <a:solidFill>
              <a:srgbClr val="7030A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888336" y="4742755"/>
                <a:ext cx="2408993" cy="10518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bg-BG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fPr>
                        <m:num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𝑑𝑆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 </m:t>
                          </m:r>
                        </m:num>
                        <m:den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𝑑𝑡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 </m:t>
                          </m:r>
                        </m:den>
                      </m:f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=−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𝛽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𝑆𝐼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8336" y="4742755"/>
                <a:ext cx="2408993" cy="105182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888336" y="6243394"/>
                <a:ext cx="3087961" cy="10518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bg-BG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fPr>
                        <m:num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𝑑𝐼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 </m:t>
                          </m:r>
                        </m:num>
                        <m:den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𝑑𝑡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 </m:t>
                          </m:r>
                        </m:den>
                      </m:f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=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𝛽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𝑆𝐼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 −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𝛾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𝐼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8336" y="6243394"/>
                <a:ext cx="3087961" cy="105182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888336" y="7761751"/>
                <a:ext cx="1838004" cy="10518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bg-BG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</m:ctrlPr>
                        </m:fPr>
                        <m:num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𝑑𝑅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 </m:t>
                          </m:r>
                        </m:num>
                        <m:den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𝑑𝑡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charset="0"/>
                              <a:ea typeface="+mn-ea"/>
                              <a:cs typeface="+mn-cs"/>
                              <a:sym typeface="Helvetica Light"/>
                            </a:rPr>
                            <m:t> </m:t>
                          </m:r>
                        </m:den>
                      </m:f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=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𝛾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𝐼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8336" y="7761751"/>
                <a:ext cx="1838004" cy="105182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726922" y="2182396"/>
                <a:ext cx="959686" cy="5539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𝑆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(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𝑡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)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922" y="2182396"/>
                <a:ext cx="959686" cy="55399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760790" y="2820983"/>
                <a:ext cx="896399" cy="5539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𝐼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(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𝑡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)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0790" y="2820983"/>
                <a:ext cx="896399" cy="553998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675709" y="3408765"/>
                <a:ext cx="1015471" cy="5539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𝑅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(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𝑡</m:t>
                      </m:r>
                      <m:r>
                        <a:rPr kumimoji="0" lang="en-US" sz="36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charset="0"/>
                          <a:ea typeface="+mn-ea"/>
                          <a:cs typeface="+mn-cs"/>
                          <a:sym typeface="Helvetica Light"/>
                        </a:rPr>
                        <m:t>)</m:t>
                      </m:r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Light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5709" y="3408765"/>
                <a:ext cx="1015471" cy="553998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126158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half" idx="13"/>
          </p:nvPr>
        </p:nvSpPr>
        <p:spPr/>
        <p:txBody>
          <a:bodyPr/>
          <a:lstStyle/>
          <a:p>
            <a:r>
              <a:rPr lang="en-US" dirty="0" smtClean="0"/>
              <a:t>Let’s develop this model ourselves!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00288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1801</TotalTime>
  <Words>812</Words>
  <Application>Microsoft Macintosh PowerPoint</Application>
  <PresentationFormat>Custom</PresentationFormat>
  <Paragraphs>206</Paragraphs>
  <Slides>24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Avenir Roman</vt:lpstr>
      <vt:lpstr>Cambria Math</vt:lpstr>
      <vt:lpstr>Helvetica</vt:lpstr>
      <vt:lpstr>Helvetica Light</vt:lpstr>
      <vt:lpstr>White</vt:lpstr>
      <vt:lpstr>Lecture 3: overview</vt:lpstr>
      <vt:lpstr>General two-week topic schedule</vt:lpstr>
      <vt:lpstr>Admin: student presentations</vt:lpstr>
      <vt:lpstr>Course layout</vt:lpstr>
      <vt:lpstr>Matlab loops &amp; functions</vt:lpstr>
      <vt:lpstr>Topic 1: Epidemiology</vt:lpstr>
      <vt:lpstr>PowerPoint Presentation</vt:lpstr>
      <vt:lpstr>1918 “Spanish flu” pandemic</vt:lpstr>
      <vt:lpstr>Significantly higher death toll than WW1</vt:lpstr>
      <vt:lpstr>Mortality by age group</vt:lpstr>
      <vt:lpstr>PowerPoint Presentation</vt:lpstr>
      <vt:lpstr>PowerPoint Presentation</vt:lpstr>
      <vt:lpstr>Questions</vt:lpstr>
      <vt:lpstr>PowerPoint Presentation</vt:lpstr>
      <vt:lpstr>General idea</vt:lpstr>
      <vt:lpstr>General idea</vt:lpstr>
      <vt:lpstr>General idea</vt:lpstr>
      <vt:lpstr>How do we turn this into equations?</vt:lpstr>
      <vt:lpstr>PowerPoint Presentation</vt:lpstr>
      <vt:lpstr>Calculus: assume that intervals become very small</vt:lpstr>
      <vt:lpstr>Difficult solution</vt:lpstr>
      <vt:lpstr>Simpler model: constant rates</vt:lpstr>
      <vt:lpstr>SIR Model (using modern notation)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AM50 Topic 1: Epidemiology</dc:title>
  <cp:lastModifiedBy>Microsoft Office User</cp:lastModifiedBy>
  <cp:revision>34</cp:revision>
  <dcterms:modified xsi:type="dcterms:W3CDTF">2017-02-02T16:06:39Z</dcterms:modified>
</cp:coreProperties>
</file>