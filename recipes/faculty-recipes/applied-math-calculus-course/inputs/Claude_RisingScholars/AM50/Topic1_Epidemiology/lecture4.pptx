
<file path=[Content_Types].xml><?xml version="1.0" encoding="utf-8"?>
<Types xmlns="http://schemas.openxmlformats.org/package/2006/content-types">
  <Default Extension="xml" ContentType="application/xml"/>
  <Default Extension="tif" ContentType="image/tif"/>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366"/>
    <p:restoredTop sz="50000"/>
  </p:normalViewPr>
  <p:slideViewPr>
    <p:cSldViewPr snapToGrid="0" snapToObjects="1">
      <p:cViewPr varScale="1">
        <p:scale>
          <a:sx n="29" d="100"/>
          <a:sy n="29" d="100"/>
        </p:scale>
        <p:origin x="1576"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endParaRPr/>
          </a:p>
        </p:txBody>
      </p:sp>
      <p:sp>
        <p:nvSpPr>
          <p:cNvPr id="62" name="Shape 6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562794414"/>
      </p:ext>
    </p:extLst>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270000" y="1638300"/>
            <a:ext cx="10464800" cy="3302000"/>
          </a:xfrm>
          <a:prstGeom prst="rect">
            <a:avLst/>
          </a:prstGeom>
        </p:spPr>
        <p:txBody>
          <a:bodyPr anchor="b"/>
          <a:lstStyle/>
          <a:p>
            <a:r>
              <a:t>Title Text</a:t>
            </a:r>
          </a:p>
        </p:txBody>
      </p:sp>
      <p:sp>
        <p:nvSpPr>
          <p:cNvPr id="12" name="Shape 12"/>
          <p:cNvSpPr>
            <a:spLocks noGrp="1"/>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1606550" y="635000"/>
            <a:ext cx="9779000" cy="59182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1270000" y="6718300"/>
            <a:ext cx="10464800" cy="1422400"/>
          </a:xfrm>
          <a:prstGeom prst="rect">
            <a:avLst/>
          </a:prstGeom>
        </p:spPr>
        <p:txBody>
          <a:bodyPr anchor="b"/>
          <a:lstStyle/>
          <a:p>
            <a:r>
              <a:t>Title Text</a:t>
            </a:r>
          </a:p>
        </p:txBody>
      </p:sp>
      <p:sp>
        <p:nvSpPr>
          <p:cNvPr id="22" name="Shape 22"/>
          <p:cNvSpPr>
            <a:spLocks noGrp="1"/>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sz="3200" b="0">
                <a:latin typeface="+mn-lt"/>
                <a:ea typeface="+mn-ea"/>
                <a:cs typeface="+mn-cs"/>
                <a:sym typeface="Helvetica Light"/>
              </a:defRPr>
            </a:lvl1pPr>
            <a:lvl2pPr marL="0" indent="228600" algn="ctr">
              <a:lnSpc>
                <a:spcPct val="100000"/>
              </a:lnSpc>
              <a:spcBef>
                <a:spcPts val="0"/>
              </a:spcBef>
              <a:buSzTx/>
              <a:buNone/>
              <a:defRPr sz="3200" b="0">
                <a:latin typeface="+mn-lt"/>
                <a:ea typeface="+mn-ea"/>
                <a:cs typeface="+mn-cs"/>
                <a:sym typeface="Helvetica Light"/>
              </a:defRPr>
            </a:lvl2pPr>
            <a:lvl3pPr marL="0" indent="457200" algn="ctr">
              <a:lnSpc>
                <a:spcPct val="100000"/>
              </a:lnSpc>
              <a:spcBef>
                <a:spcPts val="0"/>
              </a:spcBef>
              <a:buSzTx/>
              <a:buNone/>
              <a:defRPr sz="3200" b="0">
                <a:latin typeface="+mn-lt"/>
                <a:ea typeface="+mn-ea"/>
                <a:cs typeface="+mn-cs"/>
                <a:sym typeface="Helvetica Light"/>
              </a:defRPr>
            </a:lvl3pPr>
            <a:lvl4pPr marL="0" indent="685800" algn="ctr">
              <a:lnSpc>
                <a:spcPct val="100000"/>
              </a:lnSpc>
              <a:spcBef>
                <a:spcPts val="0"/>
              </a:spcBef>
              <a:buSzTx/>
              <a:buNone/>
              <a:defRPr sz="3200" b="0">
                <a:latin typeface="+mn-lt"/>
                <a:ea typeface="+mn-ea"/>
                <a:cs typeface="+mn-cs"/>
                <a:sym typeface="Helvetica Light"/>
              </a:defRPr>
            </a:lvl4pPr>
            <a:lvl5pPr marL="0" indent="914400" algn="ctr">
              <a:lnSpc>
                <a:spcPct val="100000"/>
              </a:lnSpc>
              <a:spcBef>
                <a:spcPts val="0"/>
              </a:spcBef>
              <a:buSzTx/>
              <a:buNone/>
              <a:defRPr sz="3200" b="0">
                <a:latin typeface="+mn-lt"/>
                <a:ea typeface="+mn-ea"/>
                <a:cs typeface="+mn-cs"/>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270000" y="3225800"/>
            <a:ext cx="10464800" cy="33020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38" name="Shape 38"/>
          <p:cNvSpPr>
            <a:spLocks noGrp="1"/>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blurRad="88900" dist="38100" dir="2700000" rotWithShape="0">
                    <a:srgbClr val="000000">
                      <a:alpha val="30000"/>
                    </a:srgbClr>
                  </a:outerShdw>
                </a:effectLst>
              </a:defRPr>
            </a:lvl1pPr>
          </a:lstStyle>
          <a:p>
            <a:r>
              <a:t>Title Text</a:t>
            </a:r>
          </a:p>
        </p:txBody>
      </p:sp>
      <p:sp>
        <p:nvSpPr>
          <p:cNvPr id="39" name="Shape 3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6" name="Shape 46"/>
          <p:cNvSpPr>
            <a:spLocks noGrp="1"/>
          </p:cNvSpPr>
          <p:nvPr>
            <p:ph type="title"/>
          </p:nvPr>
        </p:nvSpPr>
        <p:spPr>
          <a:xfrm>
            <a:off x="437232" y="444500"/>
            <a:ext cx="12130336" cy="2159000"/>
          </a:xfrm>
          <a:prstGeom prst="rect">
            <a:avLst/>
          </a:prstGeom>
        </p:spPr>
        <p:txBody>
          <a:bodyPr/>
          <a:lstStyle/>
          <a:p>
            <a:r>
              <a:t>Title Text</a:t>
            </a:r>
          </a:p>
        </p:txBody>
      </p:sp>
      <p:sp>
        <p:nvSpPr>
          <p:cNvPr id="47" name="Shape 4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55" name="Shape 5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norm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png"/><Relationship Id="rId6" Type="http://schemas.openxmlformats.org/officeDocument/2006/relationships/image" Target="../media/image22.png"/><Relationship Id="rId7" Type="http://schemas.openxmlformats.org/officeDocument/2006/relationships/image" Target="../media/image23.png"/><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1.png"/><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t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en.wikipedia.org/wiki/MMR_vaccine_controvers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png"/><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1" Type="http://schemas.openxmlformats.org/officeDocument/2006/relationships/slideLayout" Target="../slideLayouts/slideLayout5.xml"/><Relationship Id="rId2"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vis.stanford.edu/wrangle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title"/>
          </p:nvPr>
        </p:nvSpPr>
        <p:spPr>
          <a:prstGeom prst="rect">
            <a:avLst/>
          </a:prstGeom>
        </p:spPr>
        <p:txBody>
          <a:bodyPr/>
          <a:lstStyle/>
          <a:p>
            <a:r>
              <a:t>Lecture 4: overview</a:t>
            </a:r>
          </a:p>
        </p:txBody>
      </p:sp>
      <p:sp>
        <p:nvSpPr>
          <p:cNvPr id="65" name="Shape 65"/>
          <p:cNvSpPr>
            <a:spLocks noGrp="1"/>
          </p:cNvSpPr>
          <p:nvPr>
            <p:ph type="body" idx="1"/>
          </p:nvPr>
        </p:nvSpPr>
        <p:spPr>
          <a:xfrm>
            <a:off x="952500" y="2609850"/>
            <a:ext cx="11099800" cy="6286501"/>
          </a:xfrm>
          <a:prstGeom prst="rect">
            <a:avLst/>
          </a:prstGeom>
        </p:spPr>
        <p:txBody>
          <a:bodyPr/>
          <a:lstStyle/>
          <a:p>
            <a:r>
              <a:t>The SIR model of Kermack and McKendrick (1927)</a:t>
            </a:r>
          </a:p>
          <a:p>
            <a:r>
              <a:t>Implications of the SIR model on controlling epidemics</a:t>
            </a:r>
          </a:p>
          <a:p>
            <a:r>
              <a:t>Break</a:t>
            </a:r>
          </a:p>
          <a:p>
            <a:r>
              <a:t>Python tutorial in input/output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prstGeom prst="rect">
            <a:avLst/>
          </a:prstGeom>
        </p:spPr>
        <p:txBody>
          <a:bodyPr/>
          <a:lstStyle/>
          <a:p>
            <a:r>
              <a:t>Admin</a:t>
            </a:r>
          </a:p>
        </p:txBody>
      </p:sp>
      <p:sp>
        <p:nvSpPr>
          <p:cNvPr id="68" name="Shape 68"/>
          <p:cNvSpPr>
            <a:spLocks noGrp="1"/>
          </p:cNvSpPr>
          <p:nvPr>
            <p:ph type="body" idx="1"/>
          </p:nvPr>
        </p:nvSpPr>
        <p:spPr>
          <a:xfrm>
            <a:off x="952500" y="2317601"/>
            <a:ext cx="11099800" cy="6572399"/>
          </a:xfrm>
          <a:prstGeom prst="rect">
            <a:avLst/>
          </a:prstGeom>
        </p:spPr>
        <p:txBody>
          <a:bodyPr/>
          <a:lstStyle/>
          <a:p>
            <a:pPr marL="364489" indent="-364489" defTabSz="479044">
              <a:spcBef>
                <a:spcPts val="2100"/>
              </a:spcBef>
              <a:defRPr sz="2952"/>
            </a:pPr>
            <a:r>
              <a:t>Additional TF has been approved</a:t>
            </a:r>
          </a:p>
          <a:p>
            <a:pPr marL="364489" indent="-364489" defTabSz="479044">
              <a:spcBef>
                <a:spcPts val="2100"/>
              </a:spcBef>
              <a:defRPr sz="2952"/>
            </a:pPr>
            <a:r>
              <a:t>Three labs:</a:t>
            </a:r>
          </a:p>
          <a:p>
            <a:pPr marL="728979" lvl="1" indent="-364489" defTabSz="479044">
              <a:spcBef>
                <a:spcPts val="2100"/>
              </a:spcBef>
              <a:defRPr sz="2952"/>
            </a:pPr>
            <a:r>
              <a:t>Wednesday 2:30pm–4pm, Northwest B150 </a:t>
            </a:r>
            <a:r>
              <a:rPr>
                <a:solidFill>
                  <a:schemeClr val="accent5"/>
                </a:solidFill>
              </a:rPr>
              <a:t>(right after lecture)</a:t>
            </a:r>
          </a:p>
          <a:p>
            <a:pPr marL="728979" lvl="1" indent="-364489" defTabSz="479044">
              <a:spcBef>
                <a:spcPts val="2100"/>
              </a:spcBef>
              <a:defRPr sz="2952"/>
            </a:pPr>
            <a:r>
              <a:t>Thursday evening, time TBA, room TBA</a:t>
            </a:r>
          </a:p>
          <a:p>
            <a:pPr marL="728979" lvl="1" indent="-364489" defTabSz="479044">
              <a:spcBef>
                <a:spcPts val="2100"/>
              </a:spcBef>
              <a:defRPr sz="2952"/>
            </a:pPr>
            <a:r>
              <a:t>Friday 1pm–2:30pm, room TBA</a:t>
            </a:r>
          </a:p>
          <a:p>
            <a:pPr marL="364489" indent="-364489" defTabSz="479044">
              <a:spcBef>
                <a:spcPts val="2100"/>
              </a:spcBef>
              <a:defRPr sz="2952"/>
            </a:pPr>
            <a:r>
              <a:t>Will send an announcement with full details</a:t>
            </a:r>
          </a:p>
          <a:p>
            <a:pPr marL="364489" indent="-364489" defTabSz="479044">
              <a:spcBef>
                <a:spcPts val="2100"/>
              </a:spcBef>
              <a:defRPr sz="2952"/>
            </a:pPr>
            <a:r>
              <a:t>Regular office hours for Chris and TFs will begin next week</a:t>
            </a:r>
          </a:p>
          <a:p>
            <a:pPr marL="364489" indent="-364489" defTabSz="479044">
              <a:spcBef>
                <a:spcPts val="2100"/>
              </a:spcBef>
              <a:defRPr sz="2952"/>
            </a:pPr>
            <a:r>
              <a:t>Chris will host special office hour on Feb 4, 2pm–3pm for any questions about introductory lab and Python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Screen Shot 2015-02-04 at 10.28.41 AM.png"/>
          <p:cNvPicPr>
            <a:picLocks noChangeAspect="1"/>
          </p:cNvPicPr>
          <p:nvPr/>
        </p:nvPicPr>
        <p:blipFill>
          <a:blip r:embed="rId2">
            <a:extLst/>
          </a:blip>
          <a:stretch>
            <a:fillRect/>
          </a:stretch>
        </p:blipFill>
        <p:spPr>
          <a:xfrm>
            <a:off x="-63500" y="1177091"/>
            <a:ext cx="13004800" cy="7075965"/>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xfrm>
            <a:off x="437232" y="444500"/>
            <a:ext cx="12130336" cy="1605906"/>
          </a:xfrm>
          <a:prstGeom prst="rect">
            <a:avLst/>
          </a:prstGeom>
        </p:spPr>
        <p:txBody>
          <a:bodyPr/>
          <a:lstStyle/>
          <a:p>
            <a:r>
              <a:t>General idea</a:t>
            </a:r>
          </a:p>
        </p:txBody>
      </p:sp>
      <p:sp>
        <p:nvSpPr>
          <p:cNvPr id="73" name="Shape 73"/>
          <p:cNvSpPr>
            <a:spLocks noGrp="1"/>
          </p:cNvSpPr>
          <p:nvPr>
            <p:ph type="body" sz="quarter" idx="1"/>
          </p:nvPr>
        </p:nvSpPr>
        <p:spPr>
          <a:xfrm>
            <a:off x="6536332" y="6853932"/>
            <a:ext cx="5808068" cy="2658368"/>
          </a:xfrm>
          <a:prstGeom prst="rect">
            <a:avLst/>
          </a:prstGeom>
        </p:spPr>
        <p:txBody>
          <a:bodyPr/>
          <a:lstStyle/>
          <a:p>
            <a:r>
              <a:t>Susceptible </a:t>
            </a:r>
            <a:r>
              <a:rPr b="0" i="1"/>
              <a:t>S</a:t>
            </a:r>
            <a:r>
              <a:rPr b="0"/>
              <a:t>(</a:t>
            </a:r>
            <a:r>
              <a:rPr b="0" i="1"/>
              <a:t>t</a:t>
            </a:r>
            <a:r>
              <a:rPr b="0"/>
              <a:t>)</a:t>
            </a:r>
          </a:p>
          <a:p>
            <a:r>
              <a:t>Infected </a:t>
            </a:r>
            <a:r>
              <a:rPr b="0" i="1"/>
              <a:t>I</a:t>
            </a:r>
            <a:r>
              <a:rPr b="0"/>
              <a:t>(</a:t>
            </a:r>
            <a:r>
              <a:rPr b="0" i="1"/>
              <a:t>t</a:t>
            </a:r>
            <a:r>
              <a:rPr b="0"/>
              <a:t>)</a:t>
            </a:r>
          </a:p>
          <a:p>
            <a:r>
              <a:t>Removed </a:t>
            </a:r>
            <a:r>
              <a:rPr b="0" i="1"/>
              <a:t>R</a:t>
            </a:r>
            <a:r>
              <a:rPr b="0"/>
              <a:t>(</a:t>
            </a:r>
            <a:r>
              <a:rPr b="0" i="1"/>
              <a:t>t</a:t>
            </a:r>
            <a:r>
              <a:rPr b="0"/>
              <a:t>)</a:t>
            </a:r>
          </a:p>
        </p:txBody>
      </p:sp>
      <p:sp>
        <p:nvSpPr>
          <p:cNvPr id="74" name="Shape 74"/>
          <p:cNvSpPr/>
          <p:nvPr/>
        </p:nvSpPr>
        <p:spPr>
          <a:xfrm>
            <a:off x="3368039" y="2260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75" name="Shape 75"/>
          <p:cNvSpPr/>
          <p:nvPr/>
        </p:nvSpPr>
        <p:spPr>
          <a:xfrm>
            <a:off x="5133339" y="26797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76" name="Shape 76"/>
          <p:cNvSpPr/>
          <p:nvPr/>
        </p:nvSpPr>
        <p:spPr>
          <a:xfrm>
            <a:off x="6936739" y="20701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77" name="Shape 77"/>
          <p:cNvSpPr/>
          <p:nvPr/>
        </p:nvSpPr>
        <p:spPr>
          <a:xfrm>
            <a:off x="8117839" y="3276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78" name="Shape 78"/>
          <p:cNvSpPr/>
          <p:nvPr/>
        </p:nvSpPr>
        <p:spPr>
          <a:xfrm>
            <a:off x="9768839" y="2463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79" name="Shape 79"/>
          <p:cNvSpPr/>
          <p:nvPr/>
        </p:nvSpPr>
        <p:spPr>
          <a:xfrm>
            <a:off x="10403839" y="43307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0" name="Shape 80"/>
          <p:cNvSpPr/>
          <p:nvPr/>
        </p:nvSpPr>
        <p:spPr>
          <a:xfrm>
            <a:off x="6263639" y="4876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1" name="Shape 81"/>
          <p:cNvSpPr/>
          <p:nvPr/>
        </p:nvSpPr>
        <p:spPr>
          <a:xfrm>
            <a:off x="3888739" y="39243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2" name="Shape 82"/>
          <p:cNvSpPr/>
          <p:nvPr/>
        </p:nvSpPr>
        <p:spPr>
          <a:xfrm>
            <a:off x="1793239" y="35052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3" name="Shape 83"/>
          <p:cNvSpPr/>
          <p:nvPr/>
        </p:nvSpPr>
        <p:spPr>
          <a:xfrm>
            <a:off x="2326639" y="5130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4" name="Shape 84"/>
          <p:cNvSpPr/>
          <p:nvPr/>
        </p:nvSpPr>
        <p:spPr>
          <a:xfrm>
            <a:off x="8575039" y="52451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5" name="Shape 85"/>
          <p:cNvSpPr/>
          <p:nvPr/>
        </p:nvSpPr>
        <p:spPr>
          <a:xfrm>
            <a:off x="1606550" y="6965950"/>
            <a:ext cx="4229101"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Three populations:</a:t>
            </a:r>
          </a:p>
        </p:txBody>
      </p:sp>
      <p:sp>
        <p:nvSpPr>
          <p:cNvPr id="86" name="Shape 86"/>
          <p:cNvSpPr/>
          <p:nvPr/>
        </p:nvSpPr>
        <p:spPr>
          <a:xfrm>
            <a:off x="10619739" y="6987539"/>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87" name="Shape 87"/>
          <p:cNvSpPr/>
          <p:nvPr/>
        </p:nvSpPr>
        <p:spPr>
          <a:xfrm>
            <a:off x="10619739" y="7880855"/>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88" name="Shape 88"/>
          <p:cNvSpPr/>
          <p:nvPr/>
        </p:nvSpPr>
        <p:spPr>
          <a:xfrm>
            <a:off x="10619739" y="8807955"/>
            <a:ext cx="604522" cy="604522"/>
          </a:xfrm>
          <a:prstGeom prst="ellipse">
            <a:avLst/>
          </a:prstGeom>
          <a:blipFill>
            <a:blip r:embed="rId4"/>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R</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p:nvPr/>
        </p:nvSpPr>
        <p:spPr>
          <a:xfrm>
            <a:off x="6263639" y="4876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91" name="Shape 91"/>
          <p:cNvSpPr/>
          <p:nvPr/>
        </p:nvSpPr>
        <p:spPr>
          <a:xfrm>
            <a:off x="8575039" y="52451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92" name="Shape 92"/>
          <p:cNvSpPr/>
          <p:nvPr/>
        </p:nvSpPr>
        <p:spPr>
          <a:xfrm>
            <a:off x="1793239" y="35052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93" name="Shape 93"/>
          <p:cNvSpPr>
            <a:spLocks noGrp="1"/>
          </p:cNvSpPr>
          <p:nvPr>
            <p:ph type="title"/>
          </p:nvPr>
        </p:nvSpPr>
        <p:spPr>
          <a:xfrm>
            <a:off x="437232" y="444500"/>
            <a:ext cx="12130336" cy="1605906"/>
          </a:xfrm>
          <a:prstGeom prst="rect">
            <a:avLst/>
          </a:prstGeom>
        </p:spPr>
        <p:txBody>
          <a:bodyPr/>
          <a:lstStyle/>
          <a:p>
            <a:r>
              <a:t>General idea</a:t>
            </a:r>
          </a:p>
        </p:txBody>
      </p:sp>
      <p:sp>
        <p:nvSpPr>
          <p:cNvPr id="94" name="Shape 94"/>
          <p:cNvSpPr>
            <a:spLocks noGrp="1"/>
          </p:cNvSpPr>
          <p:nvPr>
            <p:ph type="body" sz="quarter" idx="1"/>
          </p:nvPr>
        </p:nvSpPr>
        <p:spPr>
          <a:xfrm>
            <a:off x="6536332" y="6853932"/>
            <a:ext cx="5808068" cy="2658368"/>
          </a:xfrm>
          <a:prstGeom prst="rect">
            <a:avLst/>
          </a:prstGeom>
        </p:spPr>
        <p:txBody>
          <a:bodyPr/>
          <a:lstStyle/>
          <a:p>
            <a:r>
              <a:t>Susceptible </a:t>
            </a:r>
            <a:r>
              <a:rPr b="0" i="1"/>
              <a:t>S</a:t>
            </a:r>
            <a:r>
              <a:rPr b="0"/>
              <a:t>(</a:t>
            </a:r>
            <a:r>
              <a:rPr b="0" i="1"/>
              <a:t>t</a:t>
            </a:r>
            <a:r>
              <a:rPr b="0"/>
              <a:t>)</a:t>
            </a:r>
          </a:p>
          <a:p>
            <a:r>
              <a:t>Infected </a:t>
            </a:r>
            <a:r>
              <a:rPr b="0" i="1"/>
              <a:t>I</a:t>
            </a:r>
            <a:r>
              <a:rPr b="0"/>
              <a:t>(</a:t>
            </a:r>
            <a:r>
              <a:rPr b="0" i="1"/>
              <a:t>t</a:t>
            </a:r>
            <a:r>
              <a:rPr b="0"/>
              <a:t>)</a:t>
            </a:r>
          </a:p>
          <a:p>
            <a:r>
              <a:t>Removed </a:t>
            </a:r>
            <a:r>
              <a:rPr b="0" i="1"/>
              <a:t>R</a:t>
            </a:r>
            <a:r>
              <a:rPr b="0"/>
              <a:t>(</a:t>
            </a:r>
            <a:r>
              <a:rPr b="0" i="1"/>
              <a:t>t</a:t>
            </a:r>
            <a:r>
              <a:rPr b="0"/>
              <a:t>)</a:t>
            </a:r>
          </a:p>
        </p:txBody>
      </p:sp>
      <p:sp>
        <p:nvSpPr>
          <p:cNvPr id="95" name="Shape 95"/>
          <p:cNvSpPr/>
          <p:nvPr/>
        </p:nvSpPr>
        <p:spPr>
          <a:xfrm>
            <a:off x="3368039" y="2260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96" name="Shape 96"/>
          <p:cNvSpPr/>
          <p:nvPr/>
        </p:nvSpPr>
        <p:spPr>
          <a:xfrm>
            <a:off x="5133339" y="26797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97" name="Shape 97"/>
          <p:cNvSpPr/>
          <p:nvPr/>
        </p:nvSpPr>
        <p:spPr>
          <a:xfrm>
            <a:off x="6936739" y="20701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98" name="Shape 98"/>
          <p:cNvSpPr/>
          <p:nvPr/>
        </p:nvSpPr>
        <p:spPr>
          <a:xfrm>
            <a:off x="8117839" y="3276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99" name="Shape 99"/>
          <p:cNvSpPr/>
          <p:nvPr/>
        </p:nvSpPr>
        <p:spPr>
          <a:xfrm>
            <a:off x="9768839" y="2463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00" name="Shape 100"/>
          <p:cNvSpPr/>
          <p:nvPr/>
        </p:nvSpPr>
        <p:spPr>
          <a:xfrm>
            <a:off x="10403839" y="43307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01" name="Shape 101"/>
          <p:cNvSpPr/>
          <p:nvPr/>
        </p:nvSpPr>
        <p:spPr>
          <a:xfrm>
            <a:off x="3888739" y="39243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102" name="Shape 102"/>
          <p:cNvSpPr/>
          <p:nvPr/>
        </p:nvSpPr>
        <p:spPr>
          <a:xfrm>
            <a:off x="2326639" y="5130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03" name="Shape 103"/>
          <p:cNvSpPr/>
          <p:nvPr/>
        </p:nvSpPr>
        <p:spPr>
          <a:xfrm>
            <a:off x="1606550" y="6965950"/>
            <a:ext cx="4229101"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Three populations:</a:t>
            </a:r>
          </a:p>
        </p:txBody>
      </p:sp>
      <p:sp>
        <p:nvSpPr>
          <p:cNvPr id="104" name="Shape 104"/>
          <p:cNvSpPr/>
          <p:nvPr/>
        </p:nvSpPr>
        <p:spPr>
          <a:xfrm>
            <a:off x="10619739" y="6987539"/>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05" name="Shape 105"/>
          <p:cNvSpPr/>
          <p:nvPr/>
        </p:nvSpPr>
        <p:spPr>
          <a:xfrm>
            <a:off x="10619739" y="7880855"/>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106" name="Shape 106"/>
          <p:cNvSpPr/>
          <p:nvPr/>
        </p:nvSpPr>
        <p:spPr>
          <a:xfrm>
            <a:off x="10619739" y="8807955"/>
            <a:ext cx="604522" cy="604522"/>
          </a:xfrm>
          <a:prstGeom prst="ellipse">
            <a:avLst/>
          </a:prstGeom>
          <a:blipFill>
            <a:blip r:embed="rId4"/>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p:nvPr/>
        </p:nvSpPr>
        <p:spPr>
          <a:xfrm>
            <a:off x="6263639" y="4876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09" name="Shape 109"/>
          <p:cNvSpPr/>
          <p:nvPr/>
        </p:nvSpPr>
        <p:spPr>
          <a:xfrm>
            <a:off x="8575039" y="52451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110" name="Shape 110"/>
          <p:cNvSpPr/>
          <p:nvPr/>
        </p:nvSpPr>
        <p:spPr>
          <a:xfrm>
            <a:off x="1793239" y="35052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1" name="Shape 111"/>
          <p:cNvSpPr>
            <a:spLocks noGrp="1"/>
          </p:cNvSpPr>
          <p:nvPr>
            <p:ph type="title"/>
          </p:nvPr>
        </p:nvSpPr>
        <p:spPr>
          <a:xfrm>
            <a:off x="437232" y="444500"/>
            <a:ext cx="12130336" cy="1605906"/>
          </a:xfrm>
          <a:prstGeom prst="rect">
            <a:avLst/>
          </a:prstGeom>
        </p:spPr>
        <p:txBody>
          <a:bodyPr/>
          <a:lstStyle/>
          <a:p>
            <a:r>
              <a:t>General idea</a:t>
            </a:r>
          </a:p>
        </p:txBody>
      </p:sp>
      <p:sp>
        <p:nvSpPr>
          <p:cNvPr id="112" name="Shape 112"/>
          <p:cNvSpPr>
            <a:spLocks noGrp="1"/>
          </p:cNvSpPr>
          <p:nvPr>
            <p:ph type="body" sz="quarter" idx="1"/>
          </p:nvPr>
        </p:nvSpPr>
        <p:spPr>
          <a:xfrm>
            <a:off x="6536332" y="6853932"/>
            <a:ext cx="5808068" cy="2658368"/>
          </a:xfrm>
          <a:prstGeom prst="rect">
            <a:avLst/>
          </a:prstGeom>
        </p:spPr>
        <p:txBody>
          <a:bodyPr/>
          <a:lstStyle/>
          <a:p>
            <a:r>
              <a:t>Susceptible </a:t>
            </a:r>
            <a:r>
              <a:rPr b="0" i="1"/>
              <a:t>S</a:t>
            </a:r>
            <a:r>
              <a:rPr b="0"/>
              <a:t>(</a:t>
            </a:r>
            <a:r>
              <a:rPr b="0" i="1"/>
              <a:t>t</a:t>
            </a:r>
            <a:r>
              <a:rPr b="0"/>
              <a:t>)</a:t>
            </a:r>
          </a:p>
          <a:p>
            <a:r>
              <a:t>Infected </a:t>
            </a:r>
            <a:r>
              <a:rPr b="0" i="1"/>
              <a:t>I</a:t>
            </a:r>
            <a:r>
              <a:rPr b="0"/>
              <a:t>(</a:t>
            </a:r>
            <a:r>
              <a:rPr b="0" i="1"/>
              <a:t>t</a:t>
            </a:r>
            <a:r>
              <a:rPr b="0"/>
              <a:t>)</a:t>
            </a:r>
          </a:p>
          <a:p>
            <a:r>
              <a:t>Removed </a:t>
            </a:r>
            <a:r>
              <a:rPr b="0" i="1"/>
              <a:t>R</a:t>
            </a:r>
            <a:r>
              <a:rPr b="0"/>
              <a:t>(</a:t>
            </a:r>
            <a:r>
              <a:rPr b="0" i="1"/>
              <a:t>t</a:t>
            </a:r>
            <a:r>
              <a:rPr b="0"/>
              <a:t>)</a:t>
            </a:r>
          </a:p>
        </p:txBody>
      </p:sp>
      <p:sp>
        <p:nvSpPr>
          <p:cNvPr id="113" name="Shape 113"/>
          <p:cNvSpPr/>
          <p:nvPr/>
        </p:nvSpPr>
        <p:spPr>
          <a:xfrm>
            <a:off x="3368039" y="2260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4" name="Shape 114"/>
          <p:cNvSpPr/>
          <p:nvPr/>
        </p:nvSpPr>
        <p:spPr>
          <a:xfrm>
            <a:off x="5133339" y="2679774"/>
            <a:ext cx="604522" cy="604522"/>
          </a:xfrm>
          <a:prstGeom prst="ellipse">
            <a:avLst/>
          </a:prstGeom>
          <a:blipFill>
            <a:blip r:embed="rId4"/>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R</a:t>
            </a:r>
          </a:p>
        </p:txBody>
      </p:sp>
      <p:sp>
        <p:nvSpPr>
          <p:cNvPr id="115" name="Shape 115"/>
          <p:cNvSpPr/>
          <p:nvPr/>
        </p:nvSpPr>
        <p:spPr>
          <a:xfrm>
            <a:off x="6936739" y="20701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6" name="Shape 116"/>
          <p:cNvSpPr/>
          <p:nvPr/>
        </p:nvSpPr>
        <p:spPr>
          <a:xfrm>
            <a:off x="8117839" y="32766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7" name="Shape 117"/>
          <p:cNvSpPr/>
          <p:nvPr/>
        </p:nvSpPr>
        <p:spPr>
          <a:xfrm>
            <a:off x="9768839" y="2463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8" name="Shape 118"/>
          <p:cNvSpPr/>
          <p:nvPr/>
        </p:nvSpPr>
        <p:spPr>
          <a:xfrm>
            <a:off x="10403839" y="43307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19" name="Shape 119"/>
          <p:cNvSpPr/>
          <p:nvPr/>
        </p:nvSpPr>
        <p:spPr>
          <a:xfrm>
            <a:off x="3888739" y="3924374"/>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120" name="Shape 120"/>
          <p:cNvSpPr/>
          <p:nvPr/>
        </p:nvSpPr>
        <p:spPr>
          <a:xfrm>
            <a:off x="2326639" y="5130874"/>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21" name="Shape 121"/>
          <p:cNvSpPr/>
          <p:nvPr/>
        </p:nvSpPr>
        <p:spPr>
          <a:xfrm>
            <a:off x="1606550" y="6965950"/>
            <a:ext cx="4229101"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Three populations:</a:t>
            </a:r>
          </a:p>
        </p:txBody>
      </p:sp>
      <p:sp>
        <p:nvSpPr>
          <p:cNvPr id="122" name="Shape 122"/>
          <p:cNvSpPr/>
          <p:nvPr/>
        </p:nvSpPr>
        <p:spPr>
          <a:xfrm>
            <a:off x="10619739" y="6987539"/>
            <a:ext cx="604522" cy="604522"/>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S</a:t>
            </a:r>
          </a:p>
        </p:txBody>
      </p:sp>
      <p:sp>
        <p:nvSpPr>
          <p:cNvPr id="123" name="Shape 123"/>
          <p:cNvSpPr/>
          <p:nvPr/>
        </p:nvSpPr>
        <p:spPr>
          <a:xfrm>
            <a:off x="10619739" y="7880855"/>
            <a:ext cx="604522" cy="604522"/>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I</a:t>
            </a:r>
          </a:p>
        </p:txBody>
      </p:sp>
      <p:sp>
        <p:nvSpPr>
          <p:cNvPr id="124" name="Shape 124"/>
          <p:cNvSpPr/>
          <p:nvPr/>
        </p:nvSpPr>
        <p:spPr>
          <a:xfrm>
            <a:off x="10619739" y="8807955"/>
            <a:ext cx="604522" cy="604522"/>
          </a:xfrm>
          <a:prstGeom prst="ellipse">
            <a:avLst/>
          </a:prstGeom>
          <a:blipFill>
            <a:blip r:embed="rId4"/>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defRPr sz="2500" b="1">
                <a:solidFill>
                  <a:srgbClr val="FFFFFF"/>
                </a:solidFill>
                <a:latin typeface="+mj-lt"/>
                <a:ea typeface="+mj-ea"/>
                <a:cs typeface="+mj-cs"/>
                <a:sym typeface="Helvetica"/>
              </a:defRPr>
            </a:lvl1pPr>
          </a:lstStyle>
          <a:p>
            <a:r>
              <a:t>R</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a:spLocks noGrp="1"/>
          </p:cNvSpPr>
          <p:nvPr>
            <p:ph type="title"/>
          </p:nvPr>
        </p:nvSpPr>
        <p:spPr>
          <a:xfrm>
            <a:off x="437232" y="444500"/>
            <a:ext cx="12130336" cy="1291928"/>
          </a:xfrm>
          <a:prstGeom prst="rect">
            <a:avLst/>
          </a:prstGeom>
        </p:spPr>
        <p:txBody>
          <a:bodyPr/>
          <a:lstStyle>
            <a:lvl1pPr>
              <a:defRPr sz="5400"/>
            </a:lvl1pPr>
          </a:lstStyle>
          <a:p>
            <a:r>
              <a:t>How do we turn this into equations?</a:t>
            </a:r>
          </a:p>
        </p:txBody>
      </p:sp>
      <p:sp>
        <p:nvSpPr>
          <p:cNvPr id="127" name="Shape 127"/>
          <p:cNvSpPr>
            <a:spLocks noGrp="1"/>
          </p:cNvSpPr>
          <p:nvPr>
            <p:ph type="body" sz="half" idx="1"/>
          </p:nvPr>
        </p:nvSpPr>
        <p:spPr>
          <a:xfrm>
            <a:off x="952500" y="4162028"/>
            <a:ext cx="11099800" cy="4258122"/>
          </a:xfrm>
          <a:prstGeom prst="rect">
            <a:avLst/>
          </a:prstGeom>
        </p:spPr>
        <p:txBody>
          <a:bodyPr/>
          <a:lstStyle/>
          <a:p>
            <a:r>
              <a:t>Number of people infected at time </a:t>
            </a:r>
            <a:r>
              <a:rPr b="0" i="1"/>
              <a:t>t</a:t>
            </a:r>
            <a:r>
              <a:t> is</a:t>
            </a:r>
          </a:p>
          <a:p>
            <a:endParaRPr/>
          </a:p>
          <a:p>
            <a:r>
              <a:t>Total people sick at time </a:t>
            </a:r>
            <a:r>
              <a:rPr b="0" i="1"/>
              <a:t>t</a:t>
            </a:r>
            <a:r>
              <a:t> is</a:t>
            </a:r>
          </a:p>
          <a:p>
            <a:pPr>
              <a:spcBef>
                <a:spcPts val="3800"/>
              </a:spcBef>
            </a:pPr>
            <a:endParaRPr/>
          </a:p>
          <a:p>
            <a:r>
              <a:t>Total population is</a:t>
            </a:r>
          </a:p>
        </p:txBody>
      </p:sp>
      <p:sp>
        <p:nvSpPr>
          <p:cNvPr id="128" name="Shape 128"/>
          <p:cNvSpPr/>
          <p:nvPr/>
        </p:nvSpPr>
        <p:spPr>
          <a:xfrm>
            <a:off x="2245127" y="1873249"/>
            <a:ext cx="9222330" cy="151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3100" b="1">
                <a:latin typeface="+mj-lt"/>
                <a:ea typeface="+mj-ea"/>
                <a:cs typeface="+mj-cs"/>
                <a:sym typeface="Helvetica"/>
              </a:defRPr>
            </a:pPr>
            <a:r>
              <a:rPr b="0" i="1"/>
              <a:t>x</a:t>
            </a:r>
            <a:r>
              <a:rPr b="0" i="1" baseline="-5999"/>
              <a:t>t</a:t>
            </a:r>
            <a:r>
              <a:t>  :  Number of people not yet infected</a:t>
            </a:r>
          </a:p>
          <a:p>
            <a:pPr algn="l">
              <a:defRPr sz="3100" b="1">
                <a:latin typeface="+mj-lt"/>
                <a:ea typeface="+mj-ea"/>
                <a:cs typeface="+mj-cs"/>
                <a:sym typeface="Helvetica"/>
              </a:defRPr>
            </a:pPr>
            <a:r>
              <a:rPr b="0" i="1"/>
              <a:t>y</a:t>
            </a:r>
            <a:r>
              <a:rPr b="0" i="1" baseline="-5999"/>
              <a:t>t</a:t>
            </a:r>
            <a:r>
              <a:t>  :  Number of people infected</a:t>
            </a:r>
          </a:p>
          <a:p>
            <a:pPr algn="l">
              <a:defRPr sz="3100" b="1">
                <a:latin typeface="+mj-lt"/>
                <a:ea typeface="+mj-ea"/>
                <a:cs typeface="+mj-cs"/>
                <a:sym typeface="Helvetica"/>
              </a:defRPr>
            </a:pPr>
            <a:r>
              <a:rPr b="0" i="1"/>
              <a:t>z</a:t>
            </a:r>
            <a:r>
              <a:rPr b="0" i="1" baseline="-5999"/>
              <a:t>t</a:t>
            </a:r>
            <a:r>
              <a:t>  :  Number of people removed (recovered/died)</a:t>
            </a:r>
          </a:p>
        </p:txBody>
      </p:sp>
      <p:pic>
        <p:nvPicPr>
          <p:cNvPr id="129" name="sir.pdf"/>
          <p:cNvPicPr>
            <a:picLocks noChangeAspect="1"/>
          </p:cNvPicPr>
          <p:nvPr/>
        </p:nvPicPr>
        <p:blipFill>
          <a:blip r:embed="rId2">
            <a:extLst/>
          </a:blip>
          <a:stretch>
            <a:fillRect/>
          </a:stretch>
        </p:blipFill>
        <p:spPr>
          <a:xfrm>
            <a:off x="5167799" y="5109864"/>
            <a:ext cx="2669202" cy="343184"/>
          </a:xfrm>
          <a:prstGeom prst="rect">
            <a:avLst/>
          </a:prstGeom>
          <a:ln w="12700">
            <a:miter lim="400000"/>
          </a:ln>
        </p:spPr>
      </p:pic>
      <p:pic>
        <p:nvPicPr>
          <p:cNvPr id="130" name="sir2.pdf"/>
          <p:cNvPicPr>
            <a:picLocks noChangeAspect="1"/>
          </p:cNvPicPr>
          <p:nvPr/>
        </p:nvPicPr>
        <p:blipFill>
          <a:blip r:embed="rId3">
            <a:extLst/>
          </a:blip>
          <a:stretch>
            <a:fillRect/>
          </a:stretch>
        </p:blipFill>
        <p:spPr>
          <a:xfrm>
            <a:off x="3418978" y="6504270"/>
            <a:ext cx="6166844" cy="1160429"/>
          </a:xfrm>
          <a:prstGeom prst="rect">
            <a:avLst/>
          </a:prstGeom>
          <a:ln w="12700">
            <a:miter lim="400000"/>
          </a:ln>
        </p:spPr>
      </p:pic>
      <p:pic>
        <p:nvPicPr>
          <p:cNvPr id="131" name="sir3.pdf"/>
          <p:cNvPicPr>
            <a:picLocks noChangeAspect="1"/>
          </p:cNvPicPr>
          <p:nvPr/>
        </p:nvPicPr>
        <p:blipFill>
          <a:blip r:embed="rId4">
            <a:extLst/>
          </a:blip>
          <a:stretch>
            <a:fillRect/>
          </a:stretch>
        </p:blipFill>
        <p:spPr>
          <a:xfrm>
            <a:off x="4989595" y="8540818"/>
            <a:ext cx="3025610" cy="396212"/>
          </a:xfrm>
          <a:prstGeom prst="rect">
            <a:avLst/>
          </a:prstGeom>
          <a:ln w="12700">
            <a:miter lim="400000"/>
          </a:ln>
        </p:spPr>
      </p:pic>
      <p:sp>
        <p:nvSpPr>
          <p:cNvPr id="132" name="Shape 132"/>
          <p:cNvSpPr/>
          <p:nvPr/>
        </p:nvSpPr>
        <p:spPr>
          <a:xfrm flipH="1" flipV="1">
            <a:off x="5389066" y="7279580"/>
            <a:ext cx="1777654" cy="505421"/>
          </a:xfrm>
          <a:prstGeom prst="line">
            <a:avLst/>
          </a:prstGeom>
          <a:ln w="38100">
            <a:solidFill>
              <a:schemeClr val="accent4">
                <a:hueOff val="384618"/>
                <a:satOff val="3869"/>
                <a:lumOff val="5802"/>
              </a:schemeClr>
            </a:solidFill>
            <a:miter lim="400000"/>
            <a:tailEnd type="triangle"/>
          </a:ln>
        </p:spPr>
        <p:txBody>
          <a:bodyPr lIns="50800" tIns="50800" rIns="50800" bIns="50800" anchor="ctr"/>
          <a:lstStyle/>
          <a:p>
            <a:pPr>
              <a:defRPr sz="2400"/>
            </a:pPr>
            <a:endParaRPr/>
          </a:p>
        </p:txBody>
      </p:sp>
      <p:sp>
        <p:nvSpPr>
          <p:cNvPr id="133" name="Shape 133"/>
          <p:cNvSpPr/>
          <p:nvPr/>
        </p:nvSpPr>
        <p:spPr>
          <a:xfrm>
            <a:off x="7202766" y="7424420"/>
            <a:ext cx="3954153" cy="10261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90000"/>
              </a:lnSpc>
              <a:defRPr sz="2200" b="1">
                <a:solidFill>
                  <a:schemeClr val="accent4">
                    <a:hueOff val="384618"/>
                    <a:satOff val="3869"/>
                    <a:lumOff val="5802"/>
                  </a:schemeClr>
                </a:solidFill>
                <a:latin typeface="+mj-lt"/>
                <a:ea typeface="+mj-ea"/>
                <a:cs typeface="+mj-cs"/>
                <a:sym typeface="Helvetica"/>
              </a:defRPr>
            </a:pPr>
            <a:r>
              <a:t>Number of people sick at time </a:t>
            </a:r>
            <a:r>
              <a:rPr b="0" i="1"/>
              <a:t>t</a:t>
            </a:r>
            <a:r>
              <a:t> who were infected time   before</a:t>
            </a:r>
          </a:p>
        </p:txBody>
      </p:sp>
      <p:pic>
        <p:nvPicPr>
          <p:cNvPr id="134" name="sir4.pdf"/>
          <p:cNvPicPr>
            <a:picLocks noChangeAspect="1"/>
          </p:cNvPicPr>
          <p:nvPr/>
        </p:nvPicPr>
        <p:blipFill>
          <a:blip r:embed="rId5">
            <a:extLst/>
          </a:blip>
          <a:stretch>
            <a:fillRect/>
          </a:stretch>
        </p:blipFill>
        <p:spPr>
          <a:xfrm>
            <a:off x="10145563" y="8024524"/>
            <a:ext cx="124238" cy="186357"/>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hape 136"/>
          <p:cNvSpPr/>
          <p:nvPr/>
        </p:nvSpPr>
        <p:spPr>
          <a:xfrm>
            <a:off x="437232" y="444500"/>
            <a:ext cx="12130336" cy="129192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a:defRPr sz="5400" b="1">
                <a:solidFill>
                  <a:schemeClr val="accent1">
                    <a:hueOff val="47394"/>
                    <a:satOff val="-25753"/>
                    <a:lumOff val="-7544"/>
                  </a:schemeClr>
                </a:solidFill>
                <a:effectLst>
                  <a:outerShdw blurRad="88900" dist="38100" dir="2700000" rotWithShape="0">
                    <a:srgbClr val="000000">
                      <a:alpha val="30000"/>
                    </a:srgbClr>
                  </a:outerShdw>
                </a:effectLst>
                <a:latin typeface="+mj-lt"/>
                <a:ea typeface="+mj-ea"/>
                <a:cs typeface="+mj-cs"/>
                <a:sym typeface="Helvetica"/>
              </a:defRPr>
            </a:lvl1pPr>
          </a:lstStyle>
          <a:p>
            <a:r>
              <a:t>How do we turn this into equations?</a:t>
            </a:r>
          </a:p>
        </p:txBody>
      </p:sp>
      <p:pic>
        <p:nvPicPr>
          <p:cNvPr id="137" name="Screen Shot 2015-02-04 at 10.42.38 AM.png"/>
          <p:cNvPicPr>
            <a:picLocks noChangeAspect="1"/>
          </p:cNvPicPr>
          <p:nvPr/>
        </p:nvPicPr>
        <p:blipFill>
          <a:blip r:embed="rId2">
            <a:extLst/>
          </a:blip>
          <a:stretch>
            <a:fillRect/>
          </a:stretch>
        </p:blipFill>
        <p:spPr>
          <a:xfrm>
            <a:off x="1225550" y="2159000"/>
            <a:ext cx="10553700" cy="5435600"/>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a:spLocks noGrp="1"/>
          </p:cNvSpPr>
          <p:nvPr>
            <p:ph type="title"/>
          </p:nvPr>
        </p:nvSpPr>
        <p:spPr>
          <a:xfrm>
            <a:off x="437232" y="190500"/>
            <a:ext cx="12130336" cy="2159000"/>
          </a:xfrm>
          <a:prstGeom prst="rect">
            <a:avLst/>
          </a:prstGeom>
        </p:spPr>
        <p:txBody>
          <a:bodyPr/>
          <a:lstStyle/>
          <a:p>
            <a:r>
              <a:t>Calculus: assume that intervals become very small</a:t>
            </a:r>
          </a:p>
        </p:txBody>
      </p:sp>
      <p:sp>
        <p:nvSpPr>
          <p:cNvPr id="140" name="Shape 140"/>
          <p:cNvSpPr>
            <a:spLocks noGrp="1"/>
          </p:cNvSpPr>
          <p:nvPr>
            <p:ph type="body" sz="quarter" idx="1"/>
          </p:nvPr>
        </p:nvSpPr>
        <p:spPr>
          <a:xfrm>
            <a:off x="863600" y="7599064"/>
            <a:ext cx="11099800" cy="1506836"/>
          </a:xfrm>
          <a:prstGeom prst="rect">
            <a:avLst/>
          </a:prstGeom>
        </p:spPr>
        <p:txBody>
          <a:bodyPr/>
          <a:lstStyle/>
          <a:p>
            <a:pPr marL="0" indent="0">
              <a:buSzTx/>
              <a:buNone/>
            </a:pPr>
            <a:r>
              <a:rPr b="0" i="1"/>
              <a:t>A</a:t>
            </a:r>
            <a:r>
              <a:rPr b="0" i="1" baseline="-5999"/>
              <a:t>t</a:t>
            </a:r>
            <a:r>
              <a:t> is related to rates of infection and removal.</a:t>
            </a:r>
          </a:p>
          <a:p>
            <a:pPr marL="0" indent="0">
              <a:buSzTx/>
              <a:buNone/>
            </a:pPr>
            <a:r>
              <a:rPr b="0" i="1"/>
              <a:t>B</a:t>
            </a:r>
            <a:r>
              <a:rPr b="0" i="1" baseline="-5999"/>
              <a:t>t</a:t>
            </a:r>
            <a:r>
              <a:t> and </a:t>
            </a:r>
            <a:r>
              <a:rPr b="0" i="1"/>
              <a:t>C</a:t>
            </a:r>
            <a:r>
              <a:rPr b="0" i="1" baseline="-5999"/>
              <a:t>t</a:t>
            </a:r>
            <a:r>
              <a:t> are related to rate of removal.</a:t>
            </a:r>
          </a:p>
        </p:txBody>
      </p:sp>
      <p:pic>
        <p:nvPicPr>
          <p:cNvPr id="141" name="Screen Shot 2015-02-04 at 10.53.41 AM.png"/>
          <p:cNvPicPr>
            <a:picLocks noChangeAspect="1"/>
          </p:cNvPicPr>
          <p:nvPr/>
        </p:nvPicPr>
        <p:blipFill>
          <a:blip r:embed="rId2">
            <a:extLst/>
          </a:blip>
          <a:stretch>
            <a:fillRect/>
          </a:stretch>
        </p:blipFill>
        <p:spPr>
          <a:xfrm>
            <a:off x="2916832" y="2539648"/>
            <a:ext cx="6645604" cy="4871894"/>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a:spLocks noGrp="1"/>
          </p:cNvSpPr>
          <p:nvPr>
            <p:ph type="title"/>
          </p:nvPr>
        </p:nvSpPr>
        <p:spPr>
          <a:prstGeom prst="rect">
            <a:avLst/>
          </a:prstGeom>
        </p:spPr>
        <p:txBody>
          <a:bodyPr/>
          <a:lstStyle/>
          <a:p>
            <a:r>
              <a:t>Difficult solution</a:t>
            </a:r>
          </a:p>
        </p:txBody>
      </p:sp>
      <p:sp>
        <p:nvSpPr>
          <p:cNvPr id="144" name="Shape 144"/>
          <p:cNvSpPr>
            <a:spLocks noGrp="1"/>
          </p:cNvSpPr>
          <p:nvPr>
            <p:ph type="body" idx="1"/>
          </p:nvPr>
        </p:nvSpPr>
        <p:spPr>
          <a:prstGeom prst="rect">
            <a:avLst/>
          </a:prstGeom>
        </p:spPr>
        <p:txBody>
          <a:bodyPr/>
          <a:lstStyle/>
          <a:p>
            <a:pPr marL="408940" indent="-408940" defTabSz="537463">
              <a:spcBef>
                <a:spcPts val="2300"/>
              </a:spcBef>
              <a:defRPr sz="3312"/>
            </a:pPr>
            <a:r>
              <a:t>The authors then attempt to solve these equations</a:t>
            </a:r>
          </a:p>
          <a:p>
            <a:pPr marL="408940" indent="-408940" defTabSz="537463">
              <a:spcBef>
                <a:spcPts val="2300"/>
              </a:spcBef>
              <a:defRPr sz="3312"/>
            </a:pPr>
            <a:r>
              <a:t>Before digital computers: couldn’t use simulations to gain insight into solutions</a:t>
            </a:r>
          </a:p>
          <a:p>
            <a:pPr marL="408940" indent="-408940" defTabSz="537463">
              <a:spcBef>
                <a:spcPts val="2300"/>
              </a:spcBef>
              <a:defRPr sz="3312"/>
            </a:pPr>
            <a:r>
              <a:t>They manage to derive a formula for the size of an epidemic</a:t>
            </a:r>
          </a:p>
          <a:p>
            <a:pPr marL="408940" indent="-408940" defTabSz="537463">
              <a:spcBef>
                <a:spcPts val="2300"/>
              </a:spcBef>
              <a:defRPr sz="3312"/>
            </a:pPr>
            <a:endParaRPr/>
          </a:p>
          <a:p>
            <a:pPr marL="408940" indent="-408940" defTabSz="537463">
              <a:spcBef>
                <a:spcPts val="2300"/>
              </a:spcBef>
              <a:defRPr sz="3312"/>
            </a:pPr>
            <a:r>
              <a:t>Here, </a:t>
            </a:r>
            <a:r>
              <a:rPr b="0" i="1"/>
              <a:t>p</a:t>
            </a:r>
            <a:r>
              <a:t> is the proportion infected during an epidemic</a:t>
            </a:r>
          </a:p>
          <a:p>
            <a:pPr marL="408940" indent="-408940" defTabSz="537463">
              <a:spcBef>
                <a:spcPts val="2300"/>
              </a:spcBef>
              <a:defRPr sz="3312">
                <a:solidFill>
                  <a:schemeClr val="accent6"/>
                </a:solidFill>
              </a:defRPr>
            </a:pPr>
            <a:r>
              <a:t>A bit too complicated for clear insight—is there any way to simplify the model?</a:t>
            </a:r>
          </a:p>
        </p:txBody>
      </p:sp>
      <p:pic>
        <p:nvPicPr>
          <p:cNvPr id="145" name="Screen Shot 2015-02-04 at 11.15.36 AM.png"/>
          <p:cNvPicPr>
            <a:picLocks noChangeAspect="1"/>
          </p:cNvPicPr>
          <p:nvPr/>
        </p:nvPicPr>
        <p:blipFill>
          <a:blip r:embed="rId2">
            <a:extLst/>
          </a:blip>
          <a:stretch>
            <a:fillRect/>
          </a:stretch>
        </p:blipFill>
        <p:spPr>
          <a:xfrm>
            <a:off x="4937054" y="5605658"/>
            <a:ext cx="3130692" cy="1204668"/>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Shape 147"/>
          <p:cNvSpPr>
            <a:spLocks noGrp="1"/>
          </p:cNvSpPr>
          <p:nvPr>
            <p:ph type="title"/>
          </p:nvPr>
        </p:nvSpPr>
        <p:spPr>
          <a:prstGeom prst="rect">
            <a:avLst/>
          </a:prstGeom>
        </p:spPr>
        <p:txBody>
          <a:bodyPr/>
          <a:lstStyle/>
          <a:p>
            <a:r>
              <a:t>Simpler model: constant rates</a:t>
            </a:r>
          </a:p>
        </p:txBody>
      </p:sp>
      <p:pic>
        <p:nvPicPr>
          <p:cNvPr id="148" name="Screen Shot 2015-02-04 at 11.42.07 AM.png"/>
          <p:cNvPicPr>
            <a:picLocks noChangeAspect="1"/>
          </p:cNvPicPr>
          <p:nvPr/>
        </p:nvPicPr>
        <p:blipFill>
          <a:blip r:embed="rId2">
            <a:extLst/>
          </a:blip>
          <a:stretch>
            <a:fillRect/>
          </a:stretch>
        </p:blipFill>
        <p:spPr>
          <a:xfrm>
            <a:off x="1554243" y="3729349"/>
            <a:ext cx="9896314" cy="4365199"/>
          </a:xfrm>
          <a:prstGeom prst="rect">
            <a:avLst/>
          </a:prstGeom>
          <a:ln w="12700">
            <a:miter lim="400000"/>
          </a:ln>
        </p:spPr>
      </p:pic>
      <p:pic>
        <p:nvPicPr>
          <p:cNvPr id="149" name="Screen Shot 2015-02-04 at 11.42.01 AM.png"/>
          <p:cNvPicPr>
            <a:picLocks noChangeAspect="1"/>
          </p:cNvPicPr>
          <p:nvPr/>
        </p:nvPicPr>
        <p:blipFill>
          <a:blip r:embed="rId3">
            <a:extLst/>
          </a:blip>
          <a:stretch>
            <a:fillRect/>
          </a:stretch>
        </p:blipFill>
        <p:spPr>
          <a:xfrm>
            <a:off x="1534467" y="2389244"/>
            <a:ext cx="9935866" cy="1480012"/>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hape 151"/>
          <p:cNvSpPr>
            <a:spLocks noGrp="1"/>
          </p:cNvSpPr>
          <p:nvPr>
            <p:ph type="title"/>
          </p:nvPr>
        </p:nvSpPr>
        <p:spPr>
          <a:xfrm>
            <a:off x="437232" y="444500"/>
            <a:ext cx="12130336" cy="1429842"/>
          </a:xfrm>
          <a:prstGeom prst="rect">
            <a:avLst/>
          </a:prstGeom>
        </p:spPr>
        <p:txBody>
          <a:bodyPr/>
          <a:lstStyle>
            <a:lvl1pPr>
              <a:defRPr sz="5500"/>
            </a:lvl1pPr>
          </a:lstStyle>
          <a:p>
            <a:r>
              <a:t>SIR Model (using modern notation)</a:t>
            </a:r>
          </a:p>
        </p:txBody>
      </p:sp>
      <p:pic>
        <p:nvPicPr>
          <p:cNvPr id="152" name="fou1.pdf"/>
          <p:cNvPicPr>
            <a:picLocks noChangeAspect="1"/>
          </p:cNvPicPr>
          <p:nvPr/>
        </p:nvPicPr>
        <p:blipFill>
          <a:blip r:embed="rId2">
            <a:extLst/>
          </a:blip>
          <a:stretch>
            <a:fillRect/>
          </a:stretch>
        </p:blipFill>
        <p:spPr>
          <a:xfrm>
            <a:off x="2354417" y="4231828"/>
            <a:ext cx="5502492" cy="4964204"/>
          </a:xfrm>
          <a:prstGeom prst="rect">
            <a:avLst/>
          </a:prstGeom>
          <a:ln w="12700">
            <a:miter lim="400000"/>
          </a:ln>
        </p:spPr>
      </p:pic>
      <p:sp>
        <p:nvSpPr>
          <p:cNvPr id="153" name="Shape 153"/>
          <p:cNvSpPr/>
          <p:nvPr/>
        </p:nvSpPr>
        <p:spPr>
          <a:xfrm>
            <a:off x="6286422" y="5524500"/>
            <a:ext cx="2745750" cy="609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300" b="1">
                <a:solidFill>
                  <a:schemeClr val="accent5"/>
                </a:solidFill>
                <a:latin typeface="+mj-lt"/>
                <a:ea typeface="+mj-ea"/>
                <a:cs typeface="+mj-cs"/>
                <a:sym typeface="Helvetica"/>
              </a:defRPr>
            </a:lvl1pPr>
          </a:lstStyle>
          <a:p>
            <a:r>
              <a:t>Infection rate</a:t>
            </a:r>
          </a:p>
        </p:txBody>
      </p:sp>
      <p:sp>
        <p:nvSpPr>
          <p:cNvPr id="154" name="Shape 154"/>
          <p:cNvSpPr>
            <a:spLocks noGrp="1"/>
          </p:cNvSpPr>
          <p:nvPr>
            <p:ph type="body" sz="quarter" idx="1"/>
          </p:nvPr>
        </p:nvSpPr>
        <p:spPr>
          <a:xfrm>
            <a:off x="4038600" y="1326256"/>
            <a:ext cx="5761385" cy="2733279"/>
          </a:xfrm>
          <a:prstGeom prst="rect">
            <a:avLst/>
          </a:prstGeom>
        </p:spPr>
        <p:txBody>
          <a:bodyPr/>
          <a:lstStyle/>
          <a:p>
            <a:pPr marL="0" indent="0">
              <a:spcBef>
                <a:spcPts val="600"/>
              </a:spcBef>
              <a:buSzTx/>
              <a:buNone/>
            </a:pPr>
            <a:r>
              <a:rPr b="0" i="1"/>
              <a:t>S</a:t>
            </a:r>
            <a:r>
              <a:rPr b="0"/>
              <a:t>(</a:t>
            </a:r>
            <a:r>
              <a:rPr b="0" i="1"/>
              <a:t>t</a:t>
            </a:r>
            <a:r>
              <a:rPr b="0"/>
              <a:t>)</a:t>
            </a:r>
            <a:r>
              <a:t>	: Susceptible</a:t>
            </a:r>
          </a:p>
          <a:p>
            <a:pPr marL="0" indent="0">
              <a:spcBef>
                <a:spcPts val="600"/>
              </a:spcBef>
              <a:buSzTx/>
              <a:buNone/>
            </a:pPr>
            <a:r>
              <a:rPr b="0" i="1"/>
              <a:t>I</a:t>
            </a:r>
            <a:r>
              <a:rPr b="0"/>
              <a:t>(</a:t>
            </a:r>
            <a:r>
              <a:rPr b="0" i="1"/>
              <a:t>t</a:t>
            </a:r>
            <a:r>
              <a:rPr b="0"/>
              <a:t>)</a:t>
            </a:r>
            <a:r>
              <a:t>	: Infected</a:t>
            </a:r>
          </a:p>
          <a:p>
            <a:pPr marL="0" indent="0">
              <a:spcBef>
                <a:spcPts val="600"/>
              </a:spcBef>
              <a:buSzTx/>
              <a:buNone/>
            </a:pPr>
            <a:r>
              <a:rPr b="0" i="1"/>
              <a:t>R</a:t>
            </a:r>
            <a:r>
              <a:rPr b="0"/>
              <a:t>(</a:t>
            </a:r>
            <a:r>
              <a:rPr b="0" i="1"/>
              <a:t>t</a:t>
            </a:r>
            <a:r>
              <a:rPr b="0"/>
              <a:t>)</a:t>
            </a:r>
            <a:r>
              <a:t>	: Removed/recovered</a:t>
            </a:r>
          </a:p>
        </p:txBody>
      </p:sp>
      <p:sp>
        <p:nvSpPr>
          <p:cNvPr id="155" name="Shape 155"/>
          <p:cNvSpPr/>
          <p:nvPr/>
        </p:nvSpPr>
        <p:spPr>
          <a:xfrm>
            <a:off x="7783236" y="7315200"/>
            <a:ext cx="4120922" cy="609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300" b="1">
                <a:solidFill>
                  <a:schemeClr val="accent1"/>
                </a:solidFill>
                <a:latin typeface="+mj-lt"/>
                <a:ea typeface="+mj-ea"/>
                <a:cs typeface="+mj-cs"/>
                <a:sym typeface="Helvetica"/>
              </a:defRPr>
            </a:lvl1pPr>
          </a:lstStyle>
          <a:p>
            <a:r>
              <a:t>Recovery/death rate</a:t>
            </a:r>
          </a:p>
        </p:txBody>
      </p:sp>
      <p:sp>
        <p:nvSpPr>
          <p:cNvPr id="156" name="Shape 156"/>
          <p:cNvSpPr/>
          <p:nvPr/>
        </p:nvSpPr>
        <p:spPr>
          <a:xfrm flipH="1" flipV="1">
            <a:off x="5930321" y="5364430"/>
            <a:ext cx="487055" cy="487056"/>
          </a:xfrm>
          <a:prstGeom prst="line">
            <a:avLst/>
          </a:prstGeom>
          <a:ln w="50800">
            <a:solidFill>
              <a:schemeClr val="accent5"/>
            </a:solidFill>
            <a:miter lim="400000"/>
            <a:tailEnd type="triangle"/>
          </a:ln>
        </p:spPr>
        <p:txBody>
          <a:bodyPr lIns="50800" tIns="50800" rIns="50800" bIns="50800" anchor="ctr"/>
          <a:lstStyle/>
          <a:p>
            <a:pPr>
              <a:defRPr sz="2400"/>
            </a:pPr>
            <a:endParaRPr/>
          </a:p>
        </p:txBody>
      </p:sp>
      <p:sp>
        <p:nvSpPr>
          <p:cNvPr id="157" name="Shape 157"/>
          <p:cNvSpPr/>
          <p:nvPr/>
        </p:nvSpPr>
        <p:spPr>
          <a:xfrm flipH="1" flipV="1">
            <a:off x="7406789" y="7155130"/>
            <a:ext cx="487056" cy="487055"/>
          </a:xfrm>
          <a:prstGeom prst="line">
            <a:avLst/>
          </a:prstGeom>
          <a:ln w="50800">
            <a:solidFill>
              <a:schemeClr val="accent1"/>
            </a:solidFill>
            <a:miter lim="400000"/>
            <a:tailEnd type="triangle"/>
          </a:ln>
        </p:spPr>
        <p:txBody>
          <a:bodyPr lIns="50800" tIns="50800" rIns="50800" bIns="50800" anchor="ctr"/>
          <a:lstStyle/>
          <a:p>
            <a:pPr>
              <a:defRPr sz="2400"/>
            </a:pP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Shape 159"/>
          <p:cNvSpPr>
            <a:spLocks noGrp="1"/>
          </p:cNvSpPr>
          <p:nvPr>
            <p:ph type="title"/>
          </p:nvPr>
        </p:nvSpPr>
        <p:spPr>
          <a:prstGeom prst="rect">
            <a:avLst/>
          </a:prstGeom>
        </p:spPr>
        <p:txBody>
          <a:bodyPr/>
          <a:lstStyle/>
          <a:p>
            <a:r>
              <a:t>SIR model revisited</a:t>
            </a:r>
          </a:p>
        </p:txBody>
      </p:sp>
      <p:sp>
        <p:nvSpPr>
          <p:cNvPr id="160" name="Shape 160"/>
          <p:cNvSpPr>
            <a:spLocks noGrp="1"/>
          </p:cNvSpPr>
          <p:nvPr>
            <p:ph type="body" sz="quarter" idx="1"/>
          </p:nvPr>
        </p:nvSpPr>
        <p:spPr>
          <a:xfrm>
            <a:off x="6985000" y="2405756"/>
            <a:ext cx="5761385" cy="2733279"/>
          </a:xfrm>
          <a:prstGeom prst="rect">
            <a:avLst/>
          </a:prstGeom>
        </p:spPr>
        <p:txBody>
          <a:bodyPr/>
          <a:lstStyle/>
          <a:p>
            <a:pPr marL="0" indent="0" defTabSz="578358">
              <a:spcBef>
                <a:spcPts val="2500"/>
              </a:spcBef>
              <a:buSzTx/>
              <a:buNone/>
              <a:defRPr sz="3564"/>
            </a:pPr>
            <a:r>
              <a:rPr b="0" i="1"/>
              <a:t>S</a:t>
            </a:r>
            <a:r>
              <a:rPr b="0"/>
              <a:t>(</a:t>
            </a:r>
            <a:r>
              <a:rPr b="0" i="1"/>
              <a:t>t</a:t>
            </a:r>
            <a:r>
              <a:rPr b="0"/>
              <a:t>)</a:t>
            </a:r>
            <a:r>
              <a:t>	: Susceptible</a:t>
            </a:r>
          </a:p>
          <a:p>
            <a:pPr marL="0" indent="0" defTabSz="578358">
              <a:spcBef>
                <a:spcPts val="2500"/>
              </a:spcBef>
              <a:buSzTx/>
              <a:buNone/>
              <a:defRPr sz="3564"/>
            </a:pPr>
            <a:r>
              <a:rPr b="0" i="1"/>
              <a:t>I</a:t>
            </a:r>
            <a:r>
              <a:rPr b="0"/>
              <a:t>(</a:t>
            </a:r>
            <a:r>
              <a:rPr b="0" i="1"/>
              <a:t>t</a:t>
            </a:r>
            <a:r>
              <a:rPr b="0"/>
              <a:t>)</a:t>
            </a:r>
            <a:r>
              <a:t>	: Infected</a:t>
            </a:r>
          </a:p>
          <a:p>
            <a:pPr marL="0" indent="0" defTabSz="578358">
              <a:spcBef>
                <a:spcPts val="2500"/>
              </a:spcBef>
              <a:buSzTx/>
              <a:buNone/>
              <a:defRPr sz="3564"/>
            </a:pPr>
            <a:r>
              <a:rPr b="0" i="1"/>
              <a:t>R</a:t>
            </a:r>
            <a:r>
              <a:rPr b="0"/>
              <a:t>(</a:t>
            </a:r>
            <a:r>
              <a:rPr b="0" i="1"/>
              <a:t>t</a:t>
            </a:r>
            <a:r>
              <a:rPr b="0"/>
              <a:t>)</a:t>
            </a:r>
            <a:r>
              <a:t>	: Removed/recovered</a:t>
            </a:r>
          </a:p>
        </p:txBody>
      </p:sp>
      <p:pic>
        <p:nvPicPr>
          <p:cNvPr id="161" name="fou1.pdf"/>
          <p:cNvPicPr>
            <a:picLocks noChangeAspect="1"/>
          </p:cNvPicPr>
          <p:nvPr/>
        </p:nvPicPr>
        <p:blipFill>
          <a:blip r:embed="rId2">
            <a:extLst/>
          </a:blip>
          <a:stretch>
            <a:fillRect/>
          </a:stretch>
        </p:blipFill>
        <p:spPr>
          <a:xfrm>
            <a:off x="1565820" y="2263328"/>
            <a:ext cx="3345404" cy="3018136"/>
          </a:xfrm>
          <a:prstGeom prst="rect">
            <a:avLst/>
          </a:prstGeom>
          <a:ln w="12700">
            <a:miter lim="400000"/>
          </a:ln>
        </p:spPr>
      </p:pic>
      <p:sp>
        <p:nvSpPr>
          <p:cNvPr id="162" name="Shape 162"/>
          <p:cNvSpPr/>
          <p:nvPr/>
        </p:nvSpPr>
        <p:spPr>
          <a:xfrm>
            <a:off x="268929" y="6319391"/>
            <a:ext cx="5035998" cy="7174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algn="l" defTabSz="566674">
              <a:lnSpc>
                <a:spcPct val="90000"/>
              </a:lnSpc>
              <a:spcBef>
                <a:spcPts val="2500"/>
              </a:spcBef>
              <a:defRPr sz="3492" b="1">
                <a:latin typeface="+mj-lt"/>
                <a:ea typeface="+mj-ea"/>
                <a:cs typeface="+mj-cs"/>
                <a:sym typeface="Helvetica"/>
              </a:defRPr>
            </a:lvl1pPr>
          </a:lstStyle>
          <a:p>
            <a:r>
              <a:t>Population is constant:</a:t>
            </a:r>
          </a:p>
        </p:txBody>
      </p:sp>
      <p:pic>
        <p:nvPicPr>
          <p:cNvPr id="163" name="fou2.pdf"/>
          <p:cNvPicPr>
            <a:picLocks noChangeAspect="1"/>
          </p:cNvPicPr>
          <p:nvPr/>
        </p:nvPicPr>
        <p:blipFill>
          <a:blip r:embed="rId3">
            <a:extLst/>
          </a:blip>
          <a:stretch>
            <a:fillRect/>
          </a:stretch>
        </p:blipFill>
        <p:spPr>
          <a:xfrm>
            <a:off x="720523" y="7284243"/>
            <a:ext cx="5035998" cy="1394949"/>
          </a:xfrm>
          <a:prstGeom prst="rect">
            <a:avLst/>
          </a:prstGeom>
          <a:ln w="12700">
            <a:miter lim="400000"/>
          </a:ln>
        </p:spPr>
      </p:pic>
      <p:pic>
        <p:nvPicPr>
          <p:cNvPr id="164" name="fou3.pdf"/>
          <p:cNvPicPr>
            <a:picLocks noChangeAspect="1"/>
          </p:cNvPicPr>
          <p:nvPr/>
        </p:nvPicPr>
        <p:blipFill>
          <a:blip r:embed="rId4">
            <a:extLst/>
          </a:blip>
          <a:stretch>
            <a:fillRect/>
          </a:stretch>
        </p:blipFill>
        <p:spPr>
          <a:xfrm>
            <a:off x="1508968" y="9044131"/>
            <a:ext cx="4057924" cy="240115"/>
          </a:xfrm>
          <a:prstGeom prst="rect">
            <a:avLst/>
          </a:prstGeom>
          <a:ln w="12700">
            <a:miter lim="400000"/>
          </a:ln>
        </p:spPr>
      </p:pic>
      <p:sp>
        <p:nvSpPr>
          <p:cNvPr id="165" name="Shape 165"/>
          <p:cNvSpPr/>
          <p:nvPr/>
        </p:nvSpPr>
        <p:spPr>
          <a:xfrm>
            <a:off x="6832600" y="6985074"/>
            <a:ext cx="1394948" cy="1394948"/>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S</a:t>
            </a:r>
          </a:p>
        </p:txBody>
      </p:sp>
      <p:sp>
        <p:nvSpPr>
          <p:cNvPr id="166" name="Shape 166"/>
          <p:cNvSpPr/>
          <p:nvPr/>
        </p:nvSpPr>
        <p:spPr>
          <a:xfrm>
            <a:off x="9041218" y="6985074"/>
            <a:ext cx="1394949" cy="1394948"/>
          </a:xfrm>
          <a:prstGeom prst="ellipse">
            <a:avLst/>
          </a:prstGeom>
          <a:blipFill>
            <a:blip r:embed="rId6"/>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I</a:t>
            </a:r>
          </a:p>
        </p:txBody>
      </p:sp>
      <p:sp>
        <p:nvSpPr>
          <p:cNvPr id="167" name="Shape 167"/>
          <p:cNvSpPr/>
          <p:nvPr/>
        </p:nvSpPr>
        <p:spPr>
          <a:xfrm>
            <a:off x="11249837" y="6985074"/>
            <a:ext cx="1394948" cy="1394948"/>
          </a:xfrm>
          <a:prstGeom prst="ellipse">
            <a:avLst/>
          </a:prstGeom>
          <a:blipFill>
            <a:blip r:embed="rId7"/>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R</a:t>
            </a:r>
          </a:p>
        </p:txBody>
      </p:sp>
      <p:sp>
        <p:nvSpPr>
          <p:cNvPr id="168" name="Shape 168"/>
          <p:cNvSpPr/>
          <p:nvPr/>
        </p:nvSpPr>
        <p:spPr>
          <a:xfrm>
            <a:off x="8274593" y="7682548"/>
            <a:ext cx="719580" cy="1"/>
          </a:xfrm>
          <a:prstGeom prst="line">
            <a:avLst/>
          </a:prstGeom>
          <a:ln w="63500">
            <a:solidFill>
              <a:srgbClr val="53585F"/>
            </a:solidFill>
            <a:miter lim="400000"/>
            <a:tailEnd type="triangle"/>
          </a:ln>
        </p:spPr>
        <p:txBody>
          <a:bodyPr lIns="50800" tIns="50800" rIns="50800" bIns="50800" anchor="ctr"/>
          <a:lstStyle/>
          <a:p>
            <a:pPr>
              <a:defRPr sz="2400"/>
            </a:pPr>
            <a:endParaRPr/>
          </a:p>
        </p:txBody>
      </p:sp>
      <p:sp>
        <p:nvSpPr>
          <p:cNvPr id="169" name="Shape 169"/>
          <p:cNvSpPr/>
          <p:nvPr/>
        </p:nvSpPr>
        <p:spPr>
          <a:xfrm>
            <a:off x="10483212" y="7682548"/>
            <a:ext cx="719580" cy="1"/>
          </a:xfrm>
          <a:prstGeom prst="line">
            <a:avLst/>
          </a:prstGeom>
          <a:ln w="63500">
            <a:solidFill>
              <a:srgbClr val="53585F"/>
            </a:solidFill>
            <a:miter lim="400000"/>
            <a:tailEnd type="triangle"/>
          </a:ln>
        </p:spPr>
        <p:txBody>
          <a:bodyPr lIns="50800" tIns="50800" rIns="50800" bIns="50800" anchor="ctr"/>
          <a:lstStyle/>
          <a:p>
            <a:pPr>
              <a:defRPr sz="2400"/>
            </a:pPr>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Screen Shot 2015-02-04 at 10.45.45 AM.png"/>
          <p:cNvPicPr>
            <a:picLocks noChangeAspect="1"/>
          </p:cNvPicPr>
          <p:nvPr/>
        </p:nvPicPr>
        <p:blipFill>
          <a:blip r:embed="rId2">
            <a:extLst/>
          </a:blip>
          <a:stretch>
            <a:fillRect/>
          </a:stretch>
        </p:blipFill>
        <p:spPr>
          <a:xfrm>
            <a:off x="2975736" y="318468"/>
            <a:ext cx="7053328" cy="9116664"/>
          </a:xfrm>
          <a:prstGeom prst="rect">
            <a:avLst/>
          </a:prstGeom>
          <a:ln w="12700">
            <a:miter lim="400000"/>
          </a:ln>
        </p:spPr>
      </p:pic>
      <p:sp>
        <p:nvSpPr>
          <p:cNvPr id="172" name="Shape 172"/>
          <p:cNvSpPr/>
          <p:nvPr/>
        </p:nvSpPr>
        <p:spPr>
          <a:xfrm>
            <a:off x="2876674" y="692149"/>
            <a:ext cx="825252"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b="1" i="1">
                <a:latin typeface="+mj-lt"/>
                <a:ea typeface="+mj-ea"/>
                <a:cs typeface="+mj-cs"/>
                <a:sym typeface="Helvetica"/>
              </a:defRPr>
            </a:lvl1pPr>
          </a:lstStyle>
          <a:p>
            <a:r>
              <a:t>dz/dt</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Screen Shot 2015-02-04 at 10.46.33 AM.png"/>
          <p:cNvPicPr>
            <a:picLocks noChangeAspect="1"/>
          </p:cNvPicPr>
          <p:nvPr/>
        </p:nvPicPr>
        <p:blipFill>
          <a:blip r:embed="rId2">
            <a:extLst/>
          </a:blip>
          <a:stretch>
            <a:fillRect/>
          </a:stretch>
        </p:blipFill>
        <p:spPr>
          <a:xfrm>
            <a:off x="464755" y="2688916"/>
            <a:ext cx="12075290" cy="4375768"/>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p:nvPr/>
        </p:nvSpPr>
        <p:spPr>
          <a:xfrm>
            <a:off x="3071043" y="4948599"/>
            <a:ext cx="6862714" cy="1201688"/>
          </a:xfrm>
          <a:prstGeom prst="roundRect">
            <a:avLst>
              <a:gd name="adj" fmla="val 15853"/>
            </a:avLst>
          </a:prstGeom>
          <a:solidFill>
            <a:srgbClr val="FFF7C3"/>
          </a:solidFill>
          <a:ln w="12700">
            <a:solidFill>
              <a:schemeClr val="accent3">
                <a:satOff val="18648"/>
                <a:lumOff val="5971"/>
              </a:schemeClr>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177" name="Shape 177"/>
          <p:cNvSpPr>
            <a:spLocks noGrp="1"/>
          </p:cNvSpPr>
          <p:nvPr>
            <p:ph type="body" idx="13"/>
          </p:nvPr>
        </p:nvSpPr>
        <p:spPr>
          <a:prstGeom prst="rect">
            <a:avLst/>
          </a:prstGeom>
        </p:spPr>
        <p:txBody>
          <a:bodyPr/>
          <a:lstStyle/>
          <a:p>
            <a:r>
              <a:t>Rate of spreading</a:t>
            </a:r>
          </a:p>
        </p:txBody>
      </p:sp>
      <p:pic>
        <p:nvPicPr>
          <p:cNvPr id="178" name="fou4.pdf"/>
          <p:cNvPicPr>
            <a:picLocks noChangeAspect="1"/>
          </p:cNvPicPr>
          <p:nvPr/>
        </p:nvPicPr>
        <p:blipFill>
          <a:blip r:embed="rId2">
            <a:extLst/>
          </a:blip>
          <a:stretch>
            <a:fillRect/>
          </a:stretch>
        </p:blipFill>
        <p:spPr>
          <a:xfrm>
            <a:off x="1671538" y="2745239"/>
            <a:ext cx="2995896" cy="998632"/>
          </a:xfrm>
          <a:prstGeom prst="rect">
            <a:avLst/>
          </a:prstGeom>
          <a:ln w="12700">
            <a:miter lim="400000"/>
          </a:ln>
        </p:spPr>
      </p:pic>
      <p:pic>
        <p:nvPicPr>
          <p:cNvPr id="179" name="fou5.pdf"/>
          <p:cNvPicPr>
            <a:picLocks noChangeAspect="1"/>
          </p:cNvPicPr>
          <p:nvPr/>
        </p:nvPicPr>
        <p:blipFill>
          <a:blip r:embed="rId3">
            <a:extLst/>
          </a:blip>
          <a:stretch>
            <a:fillRect/>
          </a:stretch>
        </p:blipFill>
        <p:spPr>
          <a:xfrm>
            <a:off x="7111807" y="2611131"/>
            <a:ext cx="4883927" cy="1880442"/>
          </a:xfrm>
          <a:prstGeom prst="rect">
            <a:avLst/>
          </a:prstGeom>
          <a:ln w="12700">
            <a:miter lim="400000"/>
          </a:ln>
        </p:spPr>
      </p:pic>
      <p:sp>
        <p:nvSpPr>
          <p:cNvPr id="180" name="Shape 180"/>
          <p:cNvSpPr/>
          <p:nvPr/>
        </p:nvSpPr>
        <p:spPr>
          <a:xfrm>
            <a:off x="3094108" y="5212432"/>
            <a:ext cx="4433144"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Infection spreads if </a:t>
            </a:r>
          </a:p>
        </p:txBody>
      </p:sp>
      <p:sp>
        <p:nvSpPr>
          <p:cNvPr id="181" name="Shape 181"/>
          <p:cNvSpPr/>
          <p:nvPr/>
        </p:nvSpPr>
        <p:spPr>
          <a:xfrm>
            <a:off x="335853" y="6526352"/>
            <a:ext cx="8179029" cy="292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382763" indent="-382763" algn="l">
              <a:buSzPct val="75000"/>
              <a:buChar char="•"/>
              <a:defRPr sz="3100" b="1">
                <a:latin typeface="+mj-lt"/>
                <a:ea typeface="+mj-ea"/>
                <a:cs typeface="+mj-cs"/>
                <a:sym typeface="Helvetica"/>
              </a:defRPr>
            </a:pPr>
            <a:r>
              <a:rPr b="0" i="1"/>
              <a:t>R</a:t>
            </a:r>
            <a:r>
              <a:rPr b="0" baseline="-5999"/>
              <a:t>0</a:t>
            </a:r>
            <a:r>
              <a:t> is called the </a:t>
            </a:r>
            <a:r>
              <a:rPr i="1"/>
              <a:t>basic reproduction number</a:t>
            </a:r>
          </a:p>
          <a:p>
            <a:pPr marL="382763" indent="-382763" algn="l">
              <a:buSzPct val="75000"/>
              <a:buChar char="•"/>
              <a:defRPr sz="3100" b="1">
                <a:latin typeface="+mj-lt"/>
                <a:ea typeface="+mj-ea"/>
                <a:cs typeface="+mj-cs"/>
                <a:sym typeface="Helvetica"/>
              </a:defRPr>
            </a:pPr>
            <a:r>
              <a:t>It is a dimensionless quantity</a:t>
            </a:r>
          </a:p>
          <a:p>
            <a:pPr marL="382763" indent="-382763" algn="l">
              <a:buSzPct val="75000"/>
              <a:buChar char="•"/>
              <a:defRPr sz="3100" b="1">
                <a:latin typeface="+mj-lt"/>
                <a:ea typeface="+mj-ea"/>
                <a:cs typeface="+mj-cs"/>
                <a:sym typeface="Helvetica"/>
              </a:defRPr>
            </a:pPr>
            <a:r>
              <a:t>It represents the average number of people a single infected individual will infect</a:t>
            </a:r>
          </a:p>
        </p:txBody>
      </p:sp>
      <p:pic>
        <p:nvPicPr>
          <p:cNvPr id="182" name="fou9.pdf"/>
          <p:cNvPicPr>
            <a:picLocks noChangeAspect="1"/>
          </p:cNvPicPr>
          <p:nvPr/>
        </p:nvPicPr>
        <p:blipFill>
          <a:blip r:embed="rId4">
            <a:extLst/>
          </a:blip>
          <a:stretch>
            <a:fillRect/>
          </a:stretch>
        </p:blipFill>
        <p:spPr>
          <a:xfrm>
            <a:off x="7306619" y="5050127"/>
            <a:ext cx="2353918" cy="998632"/>
          </a:xfrm>
          <a:prstGeom prst="rect">
            <a:avLst/>
          </a:prstGeom>
          <a:ln w="12700">
            <a:miter lim="400000"/>
          </a:ln>
        </p:spPr>
      </p:pic>
      <p:sp>
        <p:nvSpPr>
          <p:cNvPr id="183" name="Shape 183"/>
          <p:cNvSpPr/>
          <p:nvPr/>
        </p:nvSpPr>
        <p:spPr>
          <a:xfrm>
            <a:off x="9327709" y="68072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4" name="Shape 184"/>
          <p:cNvSpPr/>
          <p:nvPr/>
        </p:nvSpPr>
        <p:spPr>
          <a:xfrm>
            <a:off x="10407209" y="64897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5" name="Shape 185"/>
          <p:cNvSpPr/>
          <p:nvPr/>
        </p:nvSpPr>
        <p:spPr>
          <a:xfrm>
            <a:off x="10064309" y="75438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6" name="Shape 186"/>
          <p:cNvSpPr/>
          <p:nvPr/>
        </p:nvSpPr>
        <p:spPr>
          <a:xfrm>
            <a:off x="11943909" y="68072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7" name="Shape 187"/>
          <p:cNvSpPr/>
          <p:nvPr/>
        </p:nvSpPr>
        <p:spPr>
          <a:xfrm>
            <a:off x="9099109" y="7910032"/>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8" name="Shape 188"/>
          <p:cNvSpPr/>
          <p:nvPr/>
        </p:nvSpPr>
        <p:spPr>
          <a:xfrm>
            <a:off x="12065858" y="7531174"/>
            <a:ext cx="452123"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89" name="Shape 189"/>
          <p:cNvSpPr/>
          <p:nvPr/>
        </p:nvSpPr>
        <p:spPr>
          <a:xfrm>
            <a:off x="11334309" y="8268792"/>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90" name="Shape 190"/>
          <p:cNvSpPr/>
          <p:nvPr/>
        </p:nvSpPr>
        <p:spPr>
          <a:xfrm>
            <a:off x="9632509" y="87630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91" name="Shape 191"/>
          <p:cNvSpPr/>
          <p:nvPr/>
        </p:nvSpPr>
        <p:spPr>
          <a:xfrm>
            <a:off x="11943909" y="88646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92" name="Shape 192"/>
          <p:cNvSpPr/>
          <p:nvPr/>
        </p:nvSpPr>
        <p:spPr>
          <a:xfrm>
            <a:off x="10407209" y="8369374"/>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93" name="Shape 193"/>
          <p:cNvSpPr/>
          <p:nvPr/>
        </p:nvSpPr>
        <p:spPr>
          <a:xfrm>
            <a:off x="11334309" y="6590356"/>
            <a:ext cx="452122" cy="452122"/>
          </a:xfrm>
          <a:prstGeom prst="ellipse">
            <a:avLst/>
          </a:prstGeom>
          <a:blipFill>
            <a:blip r:embed="rId5"/>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S</a:t>
            </a:r>
          </a:p>
        </p:txBody>
      </p:sp>
      <p:sp>
        <p:nvSpPr>
          <p:cNvPr id="194" name="Shape 194"/>
          <p:cNvSpPr/>
          <p:nvPr/>
        </p:nvSpPr>
        <p:spPr>
          <a:xfrm>
            <a:off x="11115884" y="7416874"/>
            <a:ext cx="452122" cy="452122"/>
          </a:xfrm>
          <a:prstGeom prst="ellipse">
            <a:avLst/>
          </a:prstGeom>
          <a:blipFill>
            <a:blip r:embed="rId6"/>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70000"/>
              </a:lnSpc>
              <a:defRPr sz="1800" b="1">
                <a:solidFill>
                  <a:srgbClr val="FFFFFF"/>
                </a:solidFill>
                <a:latin typeface="+mj-lt"/>
                <a:ea typeface="+mj-ea"/>
                <a:cs typeface="+mj-cs"/>
                <a:sym typeface="Helvetica"/>
              </a:defRPr>
            </a:lvl1pPr>
          </a:lstStyle>
          <a:p>
            <a:r>
              <a:t>I</a:t>
            </a:r>
          </a:p>
        </p:txBody>
      </p:sp>
      <p:pic>
        <p:nvPicPr>
          <p:cNvPr id="195" name="fou10.pdf"/>
          <p:cNvPicPr>
            <a:picLocks noChangeAspect="1"/>
          </p:cNvPicPr>
          <p:nvPr/>
        </p:nvPicPr>
        <p:blipFill>
          <a:blip r:embed="rId7">
            <a:extLst/>
          </a:blip>
          <a:stretch>
            <a:fillRect/>
          </a:stretch>
        </p:blipFill>
        <p:spPr>
          <a:xfrm>
            <a:off x="10446494" y="9323910"/>
            <a:ext cx="1027130" cy="332308"/>
          </a:xfrm>
          <a:prstGeom prst="rect">
            <a:avLst/>
          </a:prstGeom>
          <a:ln w="12700">
            <a:miter lim="400000"/>
          </a:ln>
        </p:spPr>
      </p:pic>
      <p:sp>
        <p:nvSpPr>
          <p:cNvPr id="196" name="Shape 196"/>
          <p:cNvSpPr/>
          <p:nvPr/>
        </p:nvSpPr>
        <p:spPr>
          <a:xfrm>
            <a:off x="11404869" y="7919743"/>
            <a:ext cx="95068" cy="317915"/>
          </a:xfrm>
          <a:prstGeom prst="line">
            <a:avLst/>
          </a:prstGeom>
          <a:ln w="38100">
            <a:solidFill>
              <a:schemeClr val="accent5"/>
            </a:solidFill>
            <a:miter lim="400000"/>
            <a:tailEnd type="triangle"/>
          </a:ln>
        </p:spPr>
        <p:txBody>
          <a:bodyPr lIns="50800" tIns="50800" rIns="50800" bIns="50800" anchor="ctr"/>
          <a:lstStyle/>
          <a:p>
            <a:pPr>
              <a:defRPr sz="2400"/>
            </a:pPr>
            <a:endParaRPr/>
          </a:p>
        </p:txBody>
      </p:sp>
      <p:sp>
        <p:nvSpPr>
          <p:cNvPr id="197" name="Shape 197"/>
          <p:cNvSpPr/>
          <p:nvPr/>
        </p:nvSpPr>
        <p:spPr>
          <a:xfrm flipH="1">
            <a:off x="10566998" y="7691256"/>
            <a:ext cx="444589" cy="87965"/>
          </a:xfrm>
          <a:prstGeom prst="line">
            <a:avLst/>
          </a:prstGeom>
          <a:ln w="38100">
            <a:solidFill>
              <a:schemeClr val="accent5"/>
            </a:solidFill>
            <a:miter lim="400000"/>
            <a:tailEnd type="triangle"/>
          </a:ln>
        </p:spPr>
        <p:txBody>
          <a:bodyPr lIns="50800" tIns="50800" rIns="50800" bIns="50800" anchor="ctr"/>
          <a:lstStyle/>
          <a:p>
            <a:pPr>
              <a:defRPr sz="2400"/>
            </a:pPr>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199"/>
          <p:cNvSpPr/>
          <p:nvPr/>
        </p:nvSpPr>
        <p:spPr>
          <a:xfrm>
            <a:off x="3071043" y="4948599"/>
            <a:ext cx="6862714" cy="1201688"/>
          </a:xfrm>
          <a:prstGeom prst="roundRect">
            <a:avLst>
              <a:gd name="adj" fmla="val 15853"/>
            </a:avLst>
          </a:prstGeom>
          <a:solidFill>
            <a:srgbClr val="FFF7C3"/>
          </a:solidFill>
          <a:ln w="12700">
            <a:solidFill>
              <a:schemeClr val="accent3">
                <a:satOff val="18648"/>
                <a:lumOff val="5971"/>
              </a:schemeClr>
            </a:solidFill>
            <a:miter lim="400000"/>
          </a:ln>
          <a:effectLst>
            <a:outerShdw blurRad="38100" dist="25400" dir="5400000" rotWithShape="0">
              <a:srgbClr val="000000">
                <a:alpha val="50000"/>
              </a:srgbClr>
            </a:outerShdw>
          </a:effectLst>
        </p:spPr>
        <p:txBody>
          <a:bodyPr lIns="50800" tIns="50800" rIns="50800" bIns="50800" anchor="ctr"/>
          <a:lstStyle/>
          <a:p>
            <a:pPr>
              <a:defRPr sz="2400">
                <a:solidFill>
                  <a:srgbClr val="FFFFFF"/>
                </a:solidFill>
              </a:defRPr>
            </a:pPr>
            <a:endParaRPr/>
          </a:p>
        </p:txBody>
      </p:sp>
      <p:sp>
        <p:nvSpPr>
          <p:cNvPr id="200" name="Shape 200"/>
          <p:cNvSpPr>
            <a:spLocks noGrp="1"/>
          </p:cNvSpPr>
          <p:nvPr>
            <p:ph type="body" idx="13"/>
          </p:nvPr>
        </p:nvSpPr>
        <p:spPr>
          <a:prstGeom prst="rect">
            <a:avLst/>
          </a:prstGeom>
        </p:spPr>
        <p:txBody>
          <a:bodyPr/>
          <a:lstStyle/>
          <a:p>
            <a:r>
              <a:t>Rate of spreading</a:t>
            </a:r>
          </a:p>
        </p:txBody>
      </p:sp>
      <p:pic>
        <p:nvPicPr>
          <p:cNvPr id="201" name="fou4.pdf"/>
          <p:cNvPicPr>
            <a:picLocks noChangeAspect="1"/>
          </p:cNvPicPr>
          <p:nvPr/>
        </p:nvPicPr>
        <p:blipFill>
          <a:blip r:embed="rId2">
            <a:extLst/>
          </a:blip>
          <a:stretch>
            <a:fillRect/>
          </a:stretch>
        </p:blipFill>
        <p:spPr>
          <a:xfrm>
            <a:off x="1671538" y="2745239"/>
            <a:ext cx="2995896" cy="998632"/>
          </a:xfrm>
          <a:prstGeom prst="rect">
            <a:avLst/>
          </a:prstGeom>
          <a:ln w="12700">
            <a:miter lim="400000"/>
          </a:ln>
        </p:spPr>
      </p:pic>
      <p:pic>
        <p:nvPicPr>
          <p:cNvPr id="202" name="fou5.pdf"/>
          <p:cNvPicPr>
            <a:picLocks noChangeAspect="1"/>
          </p:cNvPicPr>
          <p:nvPr/>
        </p:nvPicPr>
        <p:blipFill>
          <a:blip r:embed="rId3">
            <a:extLst/>
          </a:blip>
          <a:stretch>
            <a:fillRect/>
          </a:stretch>
        </p:blipFill>
        <p:spPr>
          <a:xfrm>
            <a:off x="7111807" y="2611131"/>
            <a:ext cx="4883927" cy="1880442"/>
          </a:xfrm>
          <a:prstGeom prst="rect">
            <a:avLst/>
          </a:prstGeom>
          <a:ln w="12700">
            <a:miter lim="400000"/>
          </a:ln>
        </p:spPr>
      </p:pic>
      <p:sp>
        <p:nvSpPr>
          <p:cNvPr id="203" name="Shape 203"/>
          <p:cNvSpPr/>
          <p:nvPr/>
        </p:nvSpPr>
        <p:spPr>
          <a:xfrm>
            <a:off x="3094108" y="5212432"/>
            <a:ext cx="4433144"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Infection spreads if </a:t>
            </a:r>
          </a:p>
        </p:txBody>
      </p:sp>
      <p:sp>
        <p:nvSpPr>
          <p:cNvPr id="204" name="Shape 204"/>
          <p:cNvSpPr/>
          <p:nvPr/>
        </p:nvSpPr>
        <p:spPr>
          <a:xfrm>
            <a:off x="1712069" y="6714907"/>
            <a:ext cx="9580662" cy="2286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r>
              <a:t>Techniques to stop the spread of infection:</a:t>
            </a:r>
          </a:p>
          <a:p>
            <a:pPr marL="635000" indent="-635000" algn="l">
              <a:buSzPct val="100000"/>
              <a:buAutoNum type="arabicPeriod"/>
              <a:defRPr b="1">
                <a:latin typeface="+mj-lt"/>
                <a:ea typeface="+mj-ea"/>
                <a:cs typeface="+mj-cs"/>
                <a:sym typeface="Helvetica"/>
              </a:defRPr>
            </a:pPr>
            <a:r>
              <a:t>Reduce</a:t>
            </a:r>
          </a:p>
          <a:p>
            <a:pPr marL="635000" indent="-635000" algn="l">
              <a:buSzPct val="100000"/>
              <a:buAutoNum type="arabicPeriod"/>
              <a:defRPr b="1">
                <a:latin typeface="+mj-lt"/>
                <a:ea typeface="+mj-ea"/>
                <a:cs typeface="+mj-cs"/>
                <a:sym typeface="Helvetica"/>
              </a:defRPr>
            </a:pPr>
            <a:r>
              <a:t>Increase </a:t>
            </a:r>
          </a:p>
          <a:p>
            <a:pPr marL="635000" indent="-635000" algn="l">
              <a:buSzPct val="100000"/>
              <a:buAutoNum type="arabicPeriod"/>
              <a:defRPr b="1">
                <a:latin typeface="+mj-lt"/>
                <a:ea typeface="+mj-ea"/>
                <a:cs typeface="+mj-cs"/>
                <a:sym typeface="Helvetica"/>
              </a:defRPr>
            </a:pPr>
            <a:r>
              <a:t>Reduce </a:t>
            </a:r>
            <a:r>
              <a:rPr b="0" i="1"/>
              <a:t>S</a:t>
            </a:r>
          </a:p>
        </p:txBody>
      </p:sp>
      <p:pic>
        <p:nvPicPr>
          <p:cNvPr id="205" name="fou7.pdf"/>
          <p:cNvPicPr>
            <a:picLocks noChangeAspect="1"/>
          </p:cNvPicPr>
          <p:nvPr/>
        </p:nvPicPr>
        <p:blipFill>
          <a:blip r:embed="rId4">
            <a:extLst/>
          </a:blip>
          <a:stretch>
            <a:fillRect/>
          </a:stretch>
        </p:blipFill>
        <p:spPr>
          <a:xfrm>
            <a:off x="4404884" y="7343229"/>
            <a:ext cx="363726" cy="444554"/>
          </a:xfrm>
          <a:prstGeom prst="rect">
            <a:avLst/>
          </a:prstGeom>
          <a:ln w="12700">
            <a:miter lim="400000"/>
          </a:ln>
        </p:spPr>
      </p:pic>
      <p:pic>
        <p:nvPicPr>
          <p:cNvPr id="206" name="fou8.pdf"/>
          <p:cNvPicPr>
            <a:picLocks noChangeAspect="1"/>
          </p:cNvPicPr>
          <p:nvPr/>
        </p:nvPicPr>
        <p:blipFill>
          <a:blip r:embed="rId5">
            <a:extLst/>
          </a:blip>
          <a:stretch>
            <a:fillRect/>
          </a:stretch>
        </p:blipFill>
        <p:spPr>
          <a:xfrm>
            <a:off x="4528442" y="8063793"/>
            <a:ext cx="363726" cy="409191"/>
          </a:xfrm>
          <a:prstGeom prst="rect">
            <a:avLst/>
          </a:prstGeom>
          <a:ln w="12700">
            <a:miter lim="400000"/>
          </a:ln>
        </p:spPr>
      </p:pic>
      <p:pic>
        <p:nvPicPr>
          <p:cNvPr id="207" name="fou9.pdf"/>
          <p:cNvPicPr>
            <a:picLocks noChangeAspect="1"/>
          </p:cNvPicPr>
          <p:nvPr/>
        </p:nvPicPr>
        <p:blipFill>
          <a:blip r:embed="rId6">
            <a:extLst/>
          </a:blip>
          <a:stretch>
            <a:fillRect/>
          </a:stretch>
        </p:blipFill>
        <p:spPr>
          <a:xfrm>
            <a:off x="7306619" y="5050127"/>
            <a:ext cx="2353918" cy="998632"/>
          </a:xfrm>
          <a:prstGeom prst="rect">
            <a:avLst/>
          </a:prstGeom>
          <a:ln w="12700">
            <a:miter lim="400000"/>
          </a:ln>
        </p:spPr>
      </p:pic>
      <p:sp>
        <p:nvSpPr>
          <p:cNvPr id="208" name="Shape 208"/>
          <p:cNvSpPr/>
          <p:nvPr/>
        </p:nvSpPr>
        <p:spPr>
          <a:xfrm>
            <a:off x="5409862" y="7320726"/>
            <a:ext cx="6096633"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700" b="1">
                <a:latin typeface="+mj-lt"/>
                <a:ea typeface="+mj-ea"/>
                <a:cs typeface="+mj-cs"/>
                <a:sym typeface="Helvetica"/>
              </a:defRPr>
            </a:lvl1pPr>
          </a:lstStyle>
          <a:p>
            <a:r>
              <a:t>(quarantining, restricting movement)</a:t>
            </a:r>
          </a:p>
        </p:txBody>
      </p:sp>
      <p:sp>
        <p:nvSpPr>
          <p:cNvPr id="209" name="Shape 209"/>
          <p:cNvSpPr/>
          <p:nvPr/>
        </p:nvSpPr>
        <p:spPr>
          <a:xfrm>
            <a:off x="5731748" y="7938188"/>
            <a:ext cx="4210348"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700" b="1">
                <a:latin typeface="+mj-lt"/>
                <a:ea typeface="+mj-ea"/>
                <a:cs typeface="+mj-cs"/>
                <a:sym typeface="Helvetica"/>
              </a:defRPr>
            </a:lvl1pPr>
          </a:lstStyle>
          <a:p>
            <a:r>
              <a:t>(treating infected people)</a:t>
            </a:r>
          </a:p>
        </p:txBody>
      </p:sp>
      <p:sp>
        <p:nvSpPr>
          <p:cNvPr id="210" name="Shape 210"/>
          <p:cNvSpPr/>
          <p:nvPr/>
        </p:nvSpPr>
        <p:spPr>
          <a:xfrm>
            <a:off x="5731748" y="8555650"/>
            <a:ext cx="2229297"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700" b="1">
                <a:latin typeface="+mj-lt"/>
                <a:ea typeface="+mj-ea"/>
                <a:cs typeface="+mj-cs"/>
                <a:sym typeface="Helvetica"/>
              </a:defRPr>
            </a:lvl1pPr>
          </a:lstStyle>
          <a:p>
            <a:r>
              <a:t>(vaccination)</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hape 212"/>
          <p:cNvSpPr>
            <a:spLocks noGrp="1"/>
          </p:cNvSpPr>
          <p:nvPr>
            <p:ph type="title"/>
          </p:nvPr>
        </p:nvSpPr>
        <p:spPr>
          <a:prstGeom prst="rect">
            <a:avLst/>
          </a:prstGeom>
        </p:spPr>
        <p:txBody>
          <a:bodyPr/>
          <a:lstStyle/>
          <a:p>
            <a:r>
              <a:t>Vaccination</a:t>
            </a:r>
          </a:p>
        </p:txBody>
      </p:sp>
      <p:sp>
        <p:nvSpPr>
          <p:cNvPr id="213" name="Shape 213"/>
          <p:cNvSpPr>
            <a:spLocks noGrp="1"/>
          </p:cNvSpPr>
          <p:nvPr>
            <p:ph type="body" sz="half" idx="1"/>
          </p:nvPr>
        </p:nvSpPr>
        <p:spPr>
          <a:xfrm>
            <a:off x="952500" y="5036152"/>
            <a:ext cx="11099800" cy="3853848"/>
          </a:xfrm>
          <a:prstGeom prst="rect">
            <a:avLst/>
          </a:prstGeom>
        </p:spPr>
        <p:txBody>
          <a:bodyPr/>
          <a:lstStyle/>
          <a:p>
            <a:pPr marL="404495" indent="-404495" defTabSz="531622">
              <a:spcBef>
                <a:spcPts val="2300"/>
              </a:spcBef>
              <a:defRPr sz="3276"/>
            </a:pPr>
            <a:r>
              <a:t>Vaccination equivalent to moving a fraction </a:t>
            </a:r>
            <a:r>
              <a:rPr b="0" i="1"/>
              <a:t>p</a:t>
            </a:r>
            <a:r>
              <a:t> of the population from S to R</a:t>
            </a:r>
          </a:p>
          <a:p>
            <a:pPr marL="404495" indent="-404495" defTabSz="531622">
              <a:spcBef>
                <a:spcPts val="2300"/>
              </a:spcBef>
              <a:defRPr sz="3276"/>
            </a:pPr>
            <a:r>
              <a:t>Aim to reduce susceptibles to critical fraction</a:t>
            </a:r>
          </a:p>
          <a:p>
            <a:pPr marL="404495" indent="-404495" defTabSz="531622">
              <a:spcBef>
                <a:spcPts val="2300"/>
              </a:spcBef>
              <a:defRPr sz="3276"/>
            </a:pPr>
            <a:endParaRPr/>
          </a:p>
          <a:p>
            <a:pPr marL="404495" indent="-404495" defTabSz="531622">
              <a:spcBef>
                <a:spcPts val="2300"/>
              </a:spcBef>
              <a:defRPr sz="3276"/>
            </a:pPr>
            <a:r>
              <a:t>Critical vaccination fraction is therefore</a:t>
            </a:r>
            <a:br/>
            <a:endParaRPr/>
          </a:p>
        </p:txBody>
      </p:sp>
      <p:sp>
        <p:nvSpPr>
          <p:cNvPr id="214" name="Shape 214"/>
          <p:cNvSpPr/>
          <p:nvPr/>
        </p:nvSpPr>
        <p:spPr>
          <a:xfrm>
            <a:off x="3596307" y="2362274"/>
            <a:ext cx="1394949" cy="1394948"/>
          </a:xfrm>
          <a:prstGeom prst="ellipse">
            <a:avLst/>
          </a:prstGeom>
          <a:blipFill>
            <a:blip r:embed="rId2"/>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S</a:t>
            </a:r>
          </a:p>
        </p:txBody>
      </p:sp>
      <p:sp>
        <p:nvSpPr>
          <p:cNvPr id="215" name="Shape 215"/>
          <p:cNvSpPr/>
          <p:nvPr/>
        </p:nvSpPr>
        <p:spPr>
          <a:xfrm>
            <a:off x="5804926" y="2362274"/>
            <a:ext cx="1394948" cy="1394948"/>
          </a:xfrm>
          <a:prstGeom prst="ellipse">
            <a:avLst/>
          </a:prstGeom>
          <a:blipFill>
            <a:blip r:embed="rId3"/>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I</a:t>
            </a:r>
          </a:p>
        </p:txBody>
      </p:sp>
      <p:sp>
        <p:nvSpPr>
          <p:cNvPr id="216" name="Shape 216"/>
          <p:cNvSpPr/>
          <p:nvPr/>
        </p:nvSpPr>
        <p:spPr>
          <a:xfrm>
            <a:off x="8013544" y="2362274"/>
            <a:ext cx="1394949" cy="1394948"/>
          </a:xfrm>
          <a:prstGeom prst="ellipse">
            <a:avLst/>
          </a:prstGeom>
          <a:blipFill>
            <a:blip r:embed="rId4"/>
          </a:blip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50800" tIns="50800" rIns="50800" bIns="50800" anchor="b"/>
          <a:lstStyle>
            <a:lvl1pPr>
              <a:lnSpc>
                <a:spcPct val="90000"/>
              </a:lnSpc>
              <a:defRPr sz="6000" b="1">
                <a:solidFill>
                  <a:srgbClr val="FFFFFF"/>
                </a:solidFill>
                <a:latin typeface="+mj-lt"/>
                <a:ea typeface="+mj-ea"/>
                <a:cs typeface="+mj-cs"/>
                <a:sym typeface="Helvetica"/>
              </a:defRPr>
            </a:lvl1pPr>
          </a:lstStyle>
          <a:p>
            <a:r>
              <a:t>R</a:t>
            </a:r>
          </a:p>
        </p:txBody>
      </p:sp>
      <p:sp>
        <p:nvSpPr>
          <p:cNvPr id="217" name="Shape 217"/>
          <p:cNvSpPr/>
          <p:nvPr/>
        </p:nvSpPr>
        <p:spPr>
          <a:xfrm>
            <a:off x="5038300" y="3059748"/>
            <a:ext cx="719580" cy="1"/>
          </a:xfrm>
          <a:prstGeom prst="line">
            <a:avLst/>
          </a:prstGeom>
          <a:ln w="63500">
            <a:solidFill>
              <a:srgbClr val="53585F"/>
            </a:solidFill>
            <a:miter lim="400000"/>
            <a:tailEnd type="triangle"/>
          </a:ln>
        </p:spPr>
        <p:txBody>
          <a:bodyPr lIns="50800" tIns="50800" rIns="50800" bIns="50800" anchor="ctr"/>
          <a:lstStyle/>
          <a:p>
            <a:pPr>
              <a:defRPr sz="2400"/>
            </a:pPr>
            <a:endParaRPr/>
          </a:p>
        </p:txBody>
      </p:sp>
      <p:sp>
        <p:nvSpPr>
          <p:cNvPr id="218" name="Shape 218"/>
          <p:cNvSpPr/>
          <p:nvPr/>
        </p:nvSpPr>
        <p:spPr>
          <a:xfrm>
            <a:off x="7246919" y="3059748"/>
            <a:ext cx="719580" cy="1"/>
          </a:xfrm>
          <a:prstGeom prst="line">
            <a:avLst/>
          </a:prstGeom>
          <a:ln w="63500">
            <a:solidFill>
              <a:srgbClr val="53585F"/>
            </a:solidFill>
            <a:miter lim="400000"/>
            <a:tailEnd type="triangle"/>
          </a:ln>
        </p:spPr>
        <p:txBody>
          <a:bodyPr lIns="50800" tIns="50800" rIns="50800" bIns="50800" anchor="ctr"/>
          <a:lstStyle/>
          <a:p>
            <a:pPr>
              <a:defRPr sz="2400"/>
            </a:pPr>
            <a:endParaRPr/>
          </a:p>
        </p:txBody>
      </p:sp>
      <p:sp>
        <p:nvSpPr>
          <p:cNvPr id="219" name="Shape 219"/>
          <p:cNvSpPr/>
          <p:nvPr/>
        </p:nvSpPr>
        <p:spPr>
          <a:xfrm>
            <a:off x="4741302" y="3777406"/>
            <a:ext cx="3580473" cy="647319"/>
          </a:xfrm>
          <a:custGeom>
            <a:avLst/>
            <a:gdLst/>
            <a:ahLst/>
            <a:cxnLst>
              <a:cxn ang="0">
                <a:pos x="wd2" y="hd2"/>
              </a:cxn>
              <a:cxn ang="5400000">
                <a:pos x="wd2" y="hd2"/>
              </a:cxn>
              <a:cxn ang="10800000">
                <a:pos x="wd2" y="hd2"/>
              </a:cxn>
              <a:cxn ang="16200000">
                <a:pos x="wd2" y="hd2"/>
              </a:cxn>
            </a:cxnLst>
            <a:rect l="0" t="0" r="r" b="b"/>
            <a:pathLst>
              <a:path w="21600" h="21021" extrusionOk="0">
                <a:moveTo>
                  <a:pt x="0" y="0"/>
                </a:moveTo>
                <a:cubicBezTo>
                  <a:pt x="2415" y="12619"/>
                  <a:pt x="6301" y="20381"/>
                  <a:pt x="10505" y="20984"/>
                </a:cubicBezTo>
                <a:cubicBezTo>
                  <a:pt x="14804" y="21600"/>
                  <a:pt x="18925" y="14673"/>
                  <a:pt x="21600" y="2333"/>
                </a:cubicBezTo>
              </a:path>
            </a:pathLst>
          </a:custGeom>
          <a:ln w="165100">
            <a:solidFill>
              <a:schemeClr val="accent2">
                <a:hueOff val="-2473792"/>
                <a:satOff val="-50209"/>
                <a:lumOff val="23543"/>
              </a:schemeClr>
            </a:solidFill>
            <a:miter lim="400000"/>
            <a:tailEnd type="triangle"/>
          </a:ln>
        </p:spPr>
        <p:txBody>
          <a:bodyPr lIns="50800" tIns="50800" rIns="50800" bIns="50800" anchor="ctr"/>
          <a:lstStyle/>
          <a:p>
            <a:pPr>
              <a:defRPr sz="2400"/>
            </a:pPr>
            <a:endParaRPr/>
          </a:p>
        </p:txBody>
      </p:sp>
      <p:sp>
        <p:nvSpPr>
          <p:cNvPr id="220" name="Shape 220"/>
          <p:cNvSpPr/>
          <p:nvPr/>
        </p:nvSpPr>
        <p:spPr>
          <a:xfrm>
            <a:off x="5851369" y="3922220"/>
            <a:ext cx="1403662" cy="431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200" b="1">
                <a:solidFill>
                  <a:schemeClr val="accent2">
                    <a:hueOff val="-2473792"/>
                    <a:satOff val="-50209"/>
                    <a:lumOff val="23543"/>
                  </a:schemeClr>
                </a:solidFill>
                <a:latin typeface="+mj-lt"/>
                <a:ea typeface="+mj-ea"/>
                <a:cs typeface="+mj-cs"/>
                <a:sym typeface="Helvetica"/>
              </a:defRPr>
            </a:lvl1pPr>
          </a:lstStyle>
          <a:p>
            <a:r>
              <a:t>Vaccinate</a:t>
            </a:r>
          </a:p>
        </p:txBody>
      </p:sp>
      <p:pic>
        <p:nvPicPr>
          <p:cNvPr id="221" name="fou11.pdf"/>
          <p:cNvPicPr>
            <a:picLocks noChangeAspect="1"/>
          </p:cNvPicPr>
          <p:nvPr/>
        </p:nvPicPr>
        <p:blipFill>
          <a:blip r:embed="rId5">
            <a:extLst/>
          </a:blip>
          <a:stretch>
            <a:fillRect/>
          </a:stretch>
        </p:blipFill>
        <p:spPr>
          <a:xfrm>
            <a:off x="5918461" y="6929071"/>
            <a:ext cx="1167878" cy="789107"/>
          </a:xfrm>
          <a:prstGeom prst="rect">
            <a:avLst/>
          </a:prstGeom>
          <a:ln w="12700">
            <a:miter lim="400000"/>
          </a:ln>
        </p:spPr>
      </p:pic>
      <p:pic>
        <p:nvPicPr>
          <p:cNvPr id="222" name="fou12.pdf"/>
          <p:cNvPicPr>
            <a:picLocks noChangeAspect="1"/>
          </p:cNvPicPr>
          <p:nvPr/>
        </p:nvPicPr>
        <p:blipFill>
          <a:blip r:embed="rId6">
            <a:extLst/>
          </a:blip>
          <a:stretch>
            <a:fillRect/>
          </a:stretch>
        </p:blipFill>
        <p:spPr>
          <a:xfrm>
            <a:off x="2596365" y="8575066"/>
            <a:ext cx="7812070" cy="807152"/>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p:cNvSpPr>
          <p:nvPr>
            <p:ph type="title"/>
          </p:nvPr>
        </p:nvSpPr>
        <p:spPr>
          <a:prstGeom prst="rect">
            <a:avLst/>
          </a:prstGeom>
        </p:spPr>
        <p:txBody>
          <a:bodyPr/>
          <a:lstStyle/>
          <a:p>
            <a:r>
              <a:t>Critical vaccination fractions</a:t>
            </a:r>
          </a:p>
        </p:txBody>
      </p:sp>
      <p:pic>
        <p:nvPicPr>
          <p:cNvPr id="225" name="pc_table.png"/>
          <p:cNvPicPr>
            <a:picLocks noChangeAspect="1"/>
          </p:cNvPicPr>
          <p:nvPr/>
        </p:nvPicPr>
        <p:blipFill>
          <a:blip r:embed="rId2">
            <a:extLst/>
          </a:blip>
          <a:stretch>
            <a:fillRect/>
          </a:stretch>
        </p:blipFill>
        <p:spPr>
          <a:xfrm>
            <a:off x="1860550" y="2586434"/>
            <a:ext cx="9283700" cy="5588001"/>
          </a:xfrm>
          <a:prstGeom prst="rect">
            <a:avLst/>
          </a:prstGeom>
          <a:ln w="12700">
            <a:miter lim="400000"/>
          </a:ln>
        </p:spPr>
      </p:pic>
      <p:sp>
        <p:nvSpPr>
          <p:cNvPr id="226" name="Shape 226"/>
          <p:cNvSpPr/>
          <p:nvPr/>
        </p:nvSpPr>
        <p:spPr>
          <a:xfrm>
            <a:off x="-582275" y="9245600"/>
            <a:ext cx="12518350" cy="482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500" b="1">
                <a:latin typeface="+mj-lt"/>
                <a:ea typeface="+mj-ea"/>
                <a:cs typeface="+mj-cs"/>
                <a:sym typeface="Helvetica"/>
              </a:defRPr>
            </a:lvl1pPr>
          </a:lstStyle>
          <a:p>
            <a:r>
              <a:t>Source: Anderson &amp; May, Infectious Diseases of Humans, Oxford University Press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p:cNvSpPr>
          <p:nvPr>
            <p:ph type="title"/>
          </p:nvPr>
        </p:nvSpPr>
        <p:spPr>
          <a:xfrm>
            <a:off x="538832" y="279400"/>
            <a:ext cx="4661298" cy="2159000"/>
          </a:xfrm>
          <a:prstGeom prst="rect">
            <a:avLst/>
          </a:prstGeom>
        </p:spPr>
        <p:txBody>
          <a:bodyPr/>
          <a:lstStyle>
            <a:lvl1pPr>
              <a:lnSpc>
                <a:spcPct val="90000"/>
              </a:lnSpc>
            </a:lvl1pPr>
          </a:lstStyle>
          <a:p>
            <a:r>
              <a:t>“Herd immunity”</a:t>
            </a:r>
          </a:p>
        </p:txBody>
      </p:sp>
      <p:sp>
        <p:nvSpPr>
          <p:cNvPr id="229" name="Shape 229"/>
          <p:cNvSpPr>
            <a:spLocks noGrp="1"/>
          </p:cNvSpPr>
          <p:nvPr>
            <p:ph type="body" sz="half" idx="1"/>
          </p:nvPr>
        </p:nvSpPr>
        <p:spPr>
          <a:xfrm>
            <a:off x="533400" y="2609850"/>
            <a:ext cx="4912519" cy="6286501"/>
          </a:xfrm>
          <a:prstGeom prst="rect">
            <a:avLst/>
          </a:prstGeom>
        </p:spPr>
        <p:txBody>
          <a:bodyPr/>
          <a:lstStyle/>
          <a:p>
            <a:r>
              <a:t>Term used for a population that is sufficiently vaccinated that a disease cannot catastrophically spread</a:t>
            </a:r>
          </a:p>
          <a:p>
            <a:r>
              <a:t>Possible conflict of interest between an individual and the community</a:t>
            </a:r>
          </a:p>
        </p:txBody>
      </p:sp>
      <p:pic>
        <p:nvPicPr>
          <p:cNvPr id="230" name="pasted-image.tif"/>
          <p:cNvPicPr>
            <a:picLocks noChangeAspect="1"/>
          </p:cNvPicPr>
          <p:nvPr/>
        </p:nvPicPr>
        <p:blipFill>
          <a:blip r:embed="rId2">
            <a:extLst/>
          </a:blip>
          <a:stretch>
            <a:fillRect/>
          </a:stretch>
        </p:blipFill>
        <p:spPr>
          <a:xfrm>
            <a:off x="5800797" y="113903"/>
            <a:ext cx="6985510" cy="9525696"/>
          </a:xfrm>
          <a:prstGeom prst="rect">
            <a:avLst/>
          </a:prstGeom>
          <a:ln w="12700">
            <a:miter lim="400000"/>
          </a:ln>
        </p:spPr>
      </p:pic>
      <p:sp>
        <p:nvSpPr>
          <p:cNvPr id="231" name="Shape 231"/>
          <p:cNvSpPr/>
          <p:nvPr/>
        </p:nvSpPr>
        <p:spPr>
          <a:xfrm>
            <a:off x="-134129" y="9353549"/>
            <a:ext cx="4230658"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b="1">
                <a:latin typeface="+mj-lt"/>
                <a:ea typeface="+mj-ea"/>
                <a:cs typeface="+mj-cs"/>
                <a:sym typeface="Helvetica"/>
              </a:defRPr>
            </a:lvl1pPr>
          </a:lstStyle>
          <a:p>
            <a:r>
              <a:t>Graphic: Center for Disease Control</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a:spLocks noGrp="1"/>
          </p:cNvSpPr>
          <p:nvPr>
            <p:ph type="title"/>
          </p:nvPr>
        </p:nvSpPr>
        <p:spPr>
          <a:prstGeom prst="rect">
            <a:avLst/>
          </a:prstGeom>
        </p:spPr>
        <p:txBody>
          <a:bodyPr/>
          <a:lstStyle/>
          <a:p>
            <a:r>
              <a:t>Herd immunity failure</a:t>
            </a:r>
          </a:p>
        </p:txBody>
      </p:sp>
      <p:sp>
        <p:nvSpPr>
          <p:cNvPr id="234" name="Shape 234"/>
          <p:cNvSpPr>
            <a:spLocks noGrp="1"/>
          </p:cNvSpPr>
          <p:nvPr>
            <p:ph type="body" idx="1"/>
          </p:nvPr>
        </p:nvSpPr>
        <p:spPr>
          <a:prstGeom prst="rect">
            <a:avLst/>
          </a:prstGeom>
        </p:spPr>
        <p:txBody>
          <a:bodyPr/>
          <a:lstStyle/>
          <a:p>
            <a:r>
              <a:t>1998 journal article published in </a:t>
            </a:r>
            <a:r>
              <a:rPr i="1"/>
              <a:t>The Lancet</a:t>
            </a:r>
            <a:r>
              <a:t> links MMR vaccine to autism and digestive disease</a:t>
            </a:r>
          </a:p>
          <a:p>
            <a:r>
              <a:t>Conclusively debunked over the subsequent decade: paper retracted in 2010 and authors tried for professional misconduct</a:t>
            </a:r>
          </a:p>
          <a:p>
            <a:r>
              <a:t>However, public scare causes many parents to opt out, causing vaccination rates to significantly drop</a:t>
            </a:r>
          </a:p>
        </p:txBody>
      </p:sp>
      <p:sp>
        <p:nvSpPr>
          <p:cNvPr id="235" name="Shape 235"/>
          <p:cNvSpPr/>
          <p:nvPr/>
        </p:nvSpPr>
        <p:spPr>
          <a:xfrm>
            <a:off x="-25549" y="9302750"/>
            <a:ext cx="6705898"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b="1" u="sng">
                <a:latin typeface="+mj-lt"/>
                <a:ea typeface="+mj-ea"/>
                <a:cs typeface="+mj-cs"/>
                <a:sym typeface="Helvetica"/>
                <a:hlinkClick r:id="rId2"/>
              </a:defRPr>
            </a:lvl1pPr>
          </a:lstStyle>
          <a:p>
            <a:pPr>
              <a:defRPr u="none"/>
            </a:pPr>
            <a:r>
              <a:rPr u="sng">
                <a:hlinkClick r:id="rId2"/>
              </a:rPr>
              <a:t>http://en.wikipedia.org/wiki/MMR_vaccine_controversy</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Shape 237"/>
          <p:cNvSpPr/>
          <p:nvPr/>
        </p:nvSpPr>
        <p:spPr>
          <a:xfrm>
            <a:off x="60566" y="9366249"/>
            <a:ext cx="9940089" cy="393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900" b="1">
                <a:latin typeface="+mj-lt"/>
                <a:ea typeface="+mj-ea"/>
                <a:cs typeface="+mj-cs"/>
                <a:sym typeface="Helvetica"/>
              </a:defRPr>
            </a:pPr>
            <a:r>
              <a:t>P. McIntyre and J. Leask, </a:t>
            </a:r>
            <a:r>
              <a:rPr i="1"/>
              <a:t>Improving uptake of MMR vaccine</a:t>
            </a:r>
            <a:r>
              <a:t>, BMJ 336, 729–730 (2008).</a:t>
            </a:r>
          </a:p>
        </p:txBody>
      </p:sp>
      <p:pic>
        <p:nvPicPr>
          <p:cNvPr id="238" name="mmr.png"/>
          <p:cNvPicPr>
            <a:picLocks noChangeAspect="1"/>
          </p:cNvPicPr>
          <p:nvPr/>
        </p:nvPicPr>
        <p:blipFill>
          <a:blip r:embed="rId2">
            <a:extLst/>
          </a:blip>
          <a:stretch>
            <a:fillRect/>
          </a:stretch>
        </p:blipFill>
        <p:spPr>
          <a:xfrm>
            <a:off x="1587500" y="1247477"/>
            <a:ext cx="9829800" cy="8051801"/>
          </a:xfrm>
          <a:prstGeom prst="rect">
            <a:avLst/>
          </a:prstGeom>
          <a:ln w="12700">
            <a:miter lim="400000"/>
          </a:ln>
        </p:spPr>
      </p:pic>
      <p:sp>
        <p:nvSpPr>
          <p:cNvPr id="239" name="Shape 239"/>
          <p:cNvSpPr>
            <a:spLocks noGrp="1"/>
          </p:cNvSpPr>
          <p:nvPr>
            <p:ph type="title"/>
          </p:nvPr>
        </p:nvSpPr>
        <p:spPr>
          <a:xfrm>
            <a:off x="411832" y="469900"/>
            <a:ext cx="6995964" cy="944166"/>
          </a:xfrm>
          <a:prstGeom prst="rect">
            <a:avLst/>
          </a:prstGeom>
        </p:spPr>
        <p:txBody>
          <a:bodyPr/>
          <a:lstStyle>
            <a:lvl1pPr defTabSz="479044">
              <a:defRPr sz="5248">
                <a:effectLst>
                  <a:outerShdw blurRad="72898" dist="31242" dir="2700000" rotWithShape="0">
                    <a:srgbClr val="000000">
                      <a:alpha val="30000"/>
                    </a:srgbClr>
                  </a:outerShdw>
                </a:effectLst>
              </a:defRPr>
            </a:lvl1pPr>
          </a:lstStyle>
          <a:p>
            <a:r>
              <a:t>Herd immunity failure</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 name="Screen Shot 2015-02-03 at 6.01.25 PM.pdf"/>
          <p:cNvPicPr>
            <a:picLocks noChangeAspect="1"/>
          </p:cNvPicPr>
          <p:nvPr/>
        </p:nvPicPr>
        <p:blipFill>
          <a:blip r:embed="rId2">
            <a:extLst/>
          </a:blip>
          <a:stretch>
            <a:fillRect/>
          </a:stretch>
        </p:blipFill>
        <p:spPr>
          <a:xfrm>
            <a:off x="5452938" y="679301"/>
            <a:ext cx="6239124" cy="8394998"/>
          </a:xfrm>
          <a:prstGeom prst="rect">
            <a:avLst/>
          </a:prstGeom>
          <a:ln w="12700">
            <a:miter lim="400000"/>
          </a:ln>
        </p:spPr>
      </p:pic>
      <p:sp>
        <p:nvSpPr>
          <p:cNvPr id="242" name="Shape 242"/>
          <p:cNvSpPr/>
          <p:nvPr/>
        </p:nvSpPr>
        <p:spPr>
          <a:xfrm>
            <a:off x="563092" y="3926204"/>
            <a:ext cx="4351586" cy="11391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spcBef>
                <a:spcPts val="2600"/>
              </a:spcBef>
              <a:defRPr b="1">
                <a:latin typeface="+mj-lt"/>
                <a:ea typeface="+mj-ea"/>
                <a:cs typeface="+mj-cs"/>
                <a:sym typeface="Helvetica"/>
              </a:defRPr>
            </a:lvl1pPr>
          </a:lstStyle>
          <a:p>
            <a:r>
              <a:t>News article from Feb 4, 2015</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 name="Screen Shot 2015-02-04 at 10.47.45 AM.png"/>
          <p:cNvPicPr>
            <a:picLocks noChangeAspect="1"/>
          </p:cNvPicPr>
          <p:nvPr/>
        </p:nvPicPr>
        <p:blipFill>
          <a:blip r:embed="rId2">
            <a:extLst/>
          </a:blip>
          <a:stretch>
            <a:fillRect/>
          </a:stretch>
        </p:blipFill>
        <p:spPr>
          <a:xfrm>
            <a:off x="1185249" y="3267287"/>
            <a:ext cx="10634302" cy="6095025"/>
          </a:xfrm>
          <a:prstGeom prst="rect">
            <a:avLst/>
          </a:prstGeom>
          <a:ln w="12700">
            <a:miter lim="400000"/>
          </a:ln>
        </p:spPr>
      </p:pic>
      <p:pic>
        <p:nvPicPr>
          <p:cNvPr id="245" name="Screen Shot 2015-02-04 at 10.47.56 AM.png"/>
          <p:cNvPicPr>
            <a:picLocks noChangeAspect="1"/>
          </p:cNvPicPr>
          <p:nvPr/>
        </p:nvPicPr>
        <p:blipFill>
          <a:blip r:embed="rId3">
            <a:extLst/>
          </a:blip>
          <a:stretch>
            <a:fillRect/>
          </a:stretch>
        </p:blipFill>
        <p:spPr>
          <a:xfrm>
            <a:off x="1203225" y="2066704"/>
            <a:ext cx="10598350" cy="1261548"/>
          </a:xfrm>
          <a:prstGeom prst="rect">
            <a:avLst/>
          </a:prstGeom>
          <a:ln w="12700">
            <a:miter lim="400000"/>
          </a:ln>
        </p:spPr>
      </p:pic>
      <p:sp>
        <p:nvSpPr>
          <p:cNvPr id="246" name="Shape 246"/>
          <p:cNvSpPr>
            <a:spLocks noGrp="1"/>
          </p:cNvSpPr>
          <p:nvPr>
            <p:ph type="title" idx="4294967295"/>
          </p:nvPr>
        </p:nvSpPr>
        <p:spPr>
          <a:xfrm>
            <a:off x="437232" y="12700"/>
            <a:ext cx="12130336" cy="2159000"/>
          </a:xfrm>
          <a:prstGeom prst="rect">
            <a:avLst/>
          </a:prstGeom>
        </p:spPr>
        <p:txBody>
          <a:bodyPr/>
          <a:lstStyle/>
          <a:p>
            <a:r>
              <a:t>Conclusions of paper</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Shape 248"/>
          <p:cNvSpPr>
            <a:spLocks noGrp="1"/>
          </p:cNvSpPr>
          <p:nvPr>
            <p:ph type="body" idx="1"/>
          </p:nvPr>
        </p:nvSpPr>
        <p:spPr>
          <a:xfrm>
            <a:off x="952500" y="3879155"/>
            <a:ext cx="11099801" cy="5087045"/>
          </a:xfrm>
          <a:prstGeom prst="rect">
            <a:avLst/>
          </a:prstGeom>
        </p:spPr>
        <p:txBody>
          <a:bodyPr/>
          <a:lstStyle/>
          <a:p>
            <a:r>
              <a:t>Equations are coupled and contain a nonlinear term (</a:t>
            </a:r>
            <a:r>
              <a:rPr b="0" i="1"/>
              <a:t>SI</a:t>
            </a:r>
            <a:r>
              <a:t>), making them difficult to solve</a:t>
            </a:r>
          </a:p>
          <a:p>
            <a:r>
              <a:t>Common technique to gain some insight: consider a simpler special case</a:t>
            </a:r>
          </a:p>
          <a:p>
            <a:r>
              <a:t>If </a:t>
            </a:r>
            <a:r>
              <a:rPr b="0" i="1"/>
              <a:t>S = </a:t>
            </a:r>
            <a:r>
              <a:rPr b="0"/>
              <a:t>0</a:t>
            </a:r>
            <a:r>
              <a:t> then</a:t>
            </a:r>
          </a:p>
          <a:p>
            <a:endParaRPr/>
          </a:p>
          <a:p>
            <a:r>
              <a:t>Only depends on </a:t>
            </a:r>
            <a:r>
              <a:rPr b="0" i="1"/>
              <a:t>I</a:t>
            </a:r>
          </a:p>
        </p:txBody>
      </p:sp>
      <p:sp>
        <p:nvSpPr>
          <p:cNvPr id="249" name="Shape 249"/>
          <p:cNvSpPr>
            <a:spLocks noGrp="1"/>
          </p:cNvSpPr>
          <p:nvPr>
            <p:ph type="title"/>
          </p:nvPr>
        </p:nvSpPr>
        <p:spPr>
          <a:prstGeom prst="rect">
            <a:avLst/>
          </a:prstGeom>
        </p:spPr>
        <p:txBody>
          <a:bodyPr/>
          <a:lstStyle/>
          <a:p>
            <a:r>
              <a:t>Solution of the SIR model</a:t>
            </a:r>
          </a:p>
        </p:txBody>
      </p:sp>
      <p:pic>
        <p:nvPicPr>
          <p:cNvPr id="250" name="fou13.pdf"/>
          <p:cNvPicPr>
            <a:picLocks noChangeAspect="1"/>
          </p:cNvPicPr>
          <p:nvPr/>
        </p:nvPicPr>
        <p:blipFill>
          <a:blip r:embed="rId2">
            <a:extLst/>
          </a:blip>
          <a:stretch>
            <a:fillRect/>
          </a:stretch>
        </p:blipFill>
        <p:spPr>
          <a:xfrm>
            <a:off x="2414105" y="2635498"/>
            <a:ext cx="8176590" cy="830435"/>
          </a:xfrm>
          <a:prstGeom prst="rect">
            <a:avLst/>
          </a:prstGeom>
          <a:ln w="12700">
            <a:miter lim="400000"/>
          </a:ln>
        </p:spPr>
      </p:pic>
      <p:pic>
        <p:nvPicPr>
          <p:cNvPr id="251" name="fou14.pdf"/>
          <p:cNvPicPr>
            <a:picLocks noChangeAspect="1"/>
          </p:cNvPicPr>
          <p:nvPr/>
        </p:nvPicPr>
        <p:blipFill>
          <a:blip r:embed="rId3">
            <a:extLst/>
          </a:blip>
          <a:stretch>
            <a:fillRect/>
          </a:stretch>
        </p:blipFill>
        <p:spPr>
          <a:xfrm>
            <a:off x="5703904" y="7324602"/>
            <a:ext cx="1596991" cy="830436"/>
          </a:xfrm>
          <a:prstGeom prst="rect">
            <a:avLst/>
          </a:prstGeom>
          <a:ln w="12700">
            <a:miter lim="400000"/>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Shape 253"/>
          <p:cNvSpPr>
            <a:spLocks noGrp="1"/>
          </p:cNvSpPr>
          <p:nvPr>
            <p:ph type="body" idx="1"/>
          </p:nvPr>
        </p:nvSpPr>
        <p:spPr>
          <a:xfrm>
            <a:off x="850900" y="2432050"/>
            <a:ext cx="11099800" cy="6286501"/>
          </a:xfrm>
          <a:prstGeom prst="rect">
            <a:avLst/>
          </a:prstGeom>
        </p:spPr>
        <p:txBody>
          <a:bodyPr/>
          <a:lstStyle/>
          <a:p>
            <a:r>
              <a:t>Separation of variables</a:t>
            </a:r>
          </a:p>
          <a:p>
            <a:endParaRPr/>
          </a:p>
          <a:p>
            <a:r>
              <a:t>Integration of both sides</a:t>
            </a:r>
          </a:p>
          <a:p>
            <a:endParaRPr/>
          </a:p>
          <a:p>
            <a:r>
              <a:t>Exponentiation</a:t>
            </a:r>
          </a:p>
          <a:p>
            <a:endParaRPr/>
          </a:p>
          <a:p>
            <a:r>
              <a:t>Initial condition</a:t>
            </a:r>
          </a:p>
        </p:txBody>
      </p:sp>
      <p:sp>
        <p:nvSpPr>
          <p:cNvPr id="254" name="Shape 254"/>
          <p:cNvSpPr>
            <a:spLocks noGrp="1"/>
          </p:cNvSpPr>
          <p:nvPr>
            <p:ph type="title"/>
          </p:nvPr>
        </p:nvSpPr>
        <p:spPr>
          <a:prstGeom prst="rect">
            <a:avLst/>
          </a:prstGeom>
        </p:spPr>
        <p:txBody>
          <a:bodyPr/>
          <a:lstStyle/>
          <a:p>
            <a:r>
              <a:t>Analytical solution for special case</a:t>
            </a:r>
          </a:p>
        </p:txBody>
      </p:sp>
      <p:pic>
        <p:nvPicPr>
          <p:cNvPr id="255" name="fou16.pdf"/>
          <p:cNvPicPr>
            <a:picLocks noChangeAspect="1"/>
          </p:cNvPicPr>
          <p:nvPr/>
        </p:nvPicPr>
        <p:blipFill>
          <a:blip r:embed="rId2">
            <a:extLst/>
          </a:blip>
          <a:stretch>
            <a:fillRect/>
          </a:stretch>
        </p:blipFill>
        <p:spPr>
          <a:xfrm>
            <a:off x="3130406" y="3358843"/>
            <a:ext cx="6743988" cy="927745"/>
          </a:xfrm>
          <a:prstGeom prst="rect">
            <a:avLst/>
          </a:prstGeom>
          <a:ln w="12700">
            <a:miter lim="400000"/>
          </a:ln>
        </p:spPr>
      </p:pic>
      <p:pic>
        <p:nvPicPr>
          <p:cNvPr id="256" name="fou17.pdf"/>
          <p:cNvPicPr>
            <a:picLocks noChangeAspect="1"/>
          </p:cNvPicPr>
          <p:nvPr/>
        </p:nvPicPr>
        <p:blipFill>
          <a:blip r:embed="rId3">
            <a:extLst/>
          </a:blip>
          <a:srcRect/>
          <a:stretch>
            <a:fillRect/>
          </a:stretch>
        </p:blipFill>
        <p:spPr>
          <a:xfrm>
            <a:off x="2270720" y="5140920"/>
            <a:ext cx="8463448" cy="868872"/>
          </a:xfrm>
          <a:prstGeom prst="rect">
            <a:avLst/>
          </a:prstGeom>
          <a:ln w="12700">
            <a:miter lim="400000"/>
          </a:ln>
        </p:spPr>
      </p:pic>
      <p:pic>
        <p:nvPicPr>
          <p:cNvPr id="257" name="fou18.pdf"/>
          <p:cNvPicPr>
            <a:picLocks noChangeAspect="1"/>
          </p:cNvPicPr>
          <p:nvPr/>
        </p:nvPicPr>
        <p:blipFill>
          <a:blip r:embed="rId4">
            <a:extLst/>
          </a:blip>
          <a:stretch>
            <a:fillRect/>
          </a:stretch>
        </p:blipFill>
        <p:spPr>
          <a:xfrm>
            <a:off x="5380831" y="7179088"/>
            <a:ext cx="2243226" cy="475837"/>
          </a:xfrm>
          <a:prstGeom prst="rect">
            <a:avLst/>
          </a:prstGeom>
          <a:ln w="12700">
            <a:miter lim="400000"/>
          </a:ln>
        </p:spPr>
      </p:pic>
      <p:pic>
        <p:nvPicPr>
          <p:cNvPr id="258" name="fou19.pdf"/>
          <p:cNvPicPr>
            <a:picLocks noChangeAspect="1"/>
          </p:cNvPicPr>
          <p:nvPr/>
        </p:nvPicPr>
        <p:blipFill>
          <a:blip r:embed="rId5">
            <a:extLst/>
          </a:blip>
          <a:stretch>
            <a:fillRect/>
          </a:stretch>
        </p:blipFill>
        <p:spPr>
          <a:xfrm>
            <a:off x="5259141" y="8674100"/>
            <a:ext cx="2486518" cy="446299"/>
          </a:xfrm>
          <a:prstGeom prst="rect">
            <a:avLst/>
          </a:prstGeom>
          <a:ln w="12700">
            <a:miter lim="400000"/>
          </a:ln>
        </p:spPr>
      </p:pic>
      <p:sp>
        <p:nvSpPr>
          <p:cNvPr id="259" name="Shape 259"/>
          <p:cNvSpPr/>
          <p:nvPr/>
        </p:nvSpPr>
        <p:spPr>
          <a:xfrm>
            <a:off x="9685254" y="8135249"/>
            <a:ext cx="3130767" cy="1524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300" b="1">
                <a:latin typeface="+mj-lt"/>
                <a:ea typeface="+mj-ea"/>
                <a:cs typeface="+mj-cs"/>
                <a:sym typeface="Helvetica"/>
              </a:defRPr>
            </a:pPr>
            <a:r>
              <a:t>The infected population will decay exponentially with rate </a:t>
            </a:r>
            <a:r>
              <a:rPr>
                <a:solidFill>
                  <a:srgbClr val="FFFFFF"/>
                </a:solidFill>
              </a:rPr>
              <a:t>W</a:t>
            </a:r>
          </a:p>
        </p:txBody>
      </p:sp>
      <p:pic>
        <p:nvPicPr>
          <p:cNvPr id="260" name="sir5.pdf"/>
          <p:cNvPicPr>
            <a:picLocks noChangeAspect="1"/>
          </p:cNvPicPr>
          <p:nvPr/>
        </p:nvPicPr>
        <p:blipFill>
          <a:blip r:embed="rId6">
            <a:extLst/>
          </a:blip>
          <a:stretch>
            <a:fillRect/>
          </a:stretch>
        </p:blipFill>
        <p:spPr>
          <a:xfrm>
            <a:off x="11698138" y="9240118"/>
            <a:ext cx="208683" cy="208682"/>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p:cNvSpPr>
          <p:nvPr>
            <p:ph type="title"/>
          </p:nvPr>
        </p:nvSpPr>
        <p:spPr>
          <a:prstGeom prst="rect">
            <a:avLst/>
          </a:prstGeom>
        </p:spPr>
        <p:txBody>
          <a:bodyPr/>
          <a:lstStyle/>
          <a:p>
            <a:r>
              <a:t>Break</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 264"/>
          <p:cNvSpPr>
            <a:spLocks noGrp="1"/>
          </p:cNvSpPr>
          <p:nvPr>
            <p:ph type="title"/>
          </p:nvPr>
        </p:nvSpPr>
        <p:spPr>
          <a:prstGeom prst="rect">
            <a:avLst/>
          </a:prstGeom>
        </p:spPr>
        <p:txBody>
          <a:bodyPr/>
          <a:lstStyle/>
          <a:p>
            <a:r>
              <a:t>Python tutorial: input and output</a:t>
            </a:r>
          </a:p>
        </p:txBody>
      </p:sp>
      <p:sp>
        <p:nvSpPr>
          <p:cNvPr id="265" name="Shape 265"/>
          <p:cNvSpPr>
            <a:spLocks noGrp="1"/>
          </p:cNvSpPr>
          <p:nvPr>
            <p:ph type="body" idx="1"/>
          </p:nvPr>
        </p:nvSpPr>
        <p:spPr>
          <a:xfrm>
            <a:off x="952500" y="2508250"/>
            <a:ext cx="11099800" cy="6286500"/>
          </a:xfrm>
          <a:prstGeom prst="rect">
            <a:avLst/>
          </a:prstGeom>
        </p:spPr>
        <p:txBody>
          <a:bodyPr anchor="t"/>
          <a:lstStyle/>
          <a:p>
            <a:pPr marL="340783" indent="-340783" defTabSz="537463">
              <a:spcBef>
                <a:spcPts val="2300"/>
              </a:spcBef>
              <a:defRPr sz="2760"/>
            </a:pPr>
            <a:r>
              <a:t>A general problem: reading text files of data in arbitrary formats</a:t>
            </a:r>
          </a:p>
          <a:p>
            <a:pPr marL="340783" indent="-340783" defTabSz="537463">
              <a:spcBef>
                <a:spcPts val="2300"/>
              </a:spcBef>
              <a:defRPr sz="2760"/>
            </a:pPr>
            <a:r>
              <a:t>For example, tropical storm data from National Hurricane Center:</a:t>
            </a:r>
          </a:p>
          <a:p>
            <a:pPr marL="340783" indent="-340783" defTabSz="537463">
              <a:spcBef>
                <a:spcPts val="2300"/>
              </a:spcBef>
              <a:defRPr sz="2760"/>
            </a:pPr>
            <a:endParaRPr/>
          </a:p>
          <a:p>
            <a:pPr marL="340783" indent="-340783" defTabSz="537463">
              <a:spcBef>
                <a:spcPts val="2300"/>
              </a:spcBef>
              <a:defRPr sz="2760"/>
            </a:pPr>
            <a:endParaRPr/>
          </a:p>
          <a:p>
            <a:pPr marL="340783" indent="-340783" defTabSz="537463">
              <a:spcBef>
                <a:spcPts val="2300"/>
              </a:spcBef>
              <a:defRPr sz="2760"/>
            </a:pPr>
            <a:endParaRPr/>
          </a:p>
          <a:p>
            <a:pPr marL="340783" indent="-340783" defTabSz="537463">
              <a:spcBef>
                <a:spcPts val="2300"/>
              </a:spcBef>
              <a:defRPr sz="2760"/>
            </a:pPr>
            <a:endParaRPr/>
          </a:p>
          <a:p>
            <a:pPr marL="340783" indent="-340783" defTabSz="537463">
              <a:spcBef>
                <a:spcPts val="2300"/>
              </a:spcBef>
              <a:defRPr sz="2760"/>
            </a:pPr>
            <a:endParaRPr/>
          </a:p>
          <a:p>
            <a:pPr marL="340783" indent="-340783" defTabSz="537463">
              <a:spcBef>
                <a:spcPts val="2300"/>
              </a:spcBef>
              <a:defRPr sz="2760"/>
            </a:pPr>
            <a:r>
              <a:t>We may wish to extract out the numerical information in this file process it or make a plot of it—how can this be done?</a:t>
            </a:r>
          </a:p>
        </p:txBody>
      </p:sp>
      <p:sp>
        <p:nvSpPr>
          <p:cNvPr id="266" name="Shape 266"/>
          <p:cNvSpPr/>
          <p:nvPr/>
        </p:nvSpPr>
        <p:spPr>
          <a:xfrm>
            <a:off x="3027123" y="3873500"/>
            <a:ext cx="6950554" cy="3556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300">
                <a:latin typeface="Courier"/>
                <a:ea typeface="Courier"/>
                <a:cs typeface="Courier"/>
                <a:sym typeface="Courier"/>
              </a:defRPr>
            </a:pPr>
            <a:r>
              <a:t>      - - - MAXIMUM WIND SPEED (INTENSITY) PROBABILITIES - - -      </a:t>
            </a:r>
          </a:p>
          <a:p>
            <a:pPr algn="l" defTabSz="457200">
              <a:defRPr sz="1300">
                <a:latin typeface="Courier"/>
                <a:ea typeface="Courier"/>
                <a:cs typeface="Courier"/>
                <a:sym typeface="Courier"/>
              </a:defRPr>
            </a:pPr>
            <a:r>
              <a:t>                                                                    </a:t>
            </a:r>
          </a:p>
          <a:p>
            <a:pPr algn="l" defTabSz="457200">
              <a:defRPr sz="1300">
                <a:latin typeface="Courier"/>
                <a:ea typeface="Courier"/>
                <a:cs typeface="Courier"/>
                <a:sym typeface="Courier"/>
              </a:defRPr>
            </a:pPr>
            <a:r>
              <a:t>VALID TIME   06Z FRI 18Z FRI 06Z SAT 18Z SAT 18Z SUN 18Z MON 18Z TUE</a:t>
            </a:r>
          </a:p>
          <a:p>
            <a:pPr algn="l" defTabSz="457200">
              <a:defRPr sz="1300">
                <a:latin typeface="Courier"/>
                <a:ea typeface="Courier"/>
                <a:cs typeface="Courier"/>
                <a:sym typeface="Courier"/>
              </a:defRPr>
            </a:pPr>
            <a:r>
              <a:t>FORECAST HOUR   12      24      36      48      72      96     120  </a:t>
            </a:r>
          </a:p>
          <a:p>
            <a:pPr algn="l" defTabSz="457200">
              <a:defRPr sz="1300">
                <a:latin typeface="Courier"/>
                <a:ea typeface="Courier"/>
                <a:cs typeface="Courier"/>
                <a:sym typeface="Courier"/>
              </a:defRPr>
            </a:pPr>
            <a:r>
              <a:t>- - - - - - - - - - - - - - - - - - - - - - - - - - - - - - - - - -</a:t>
            </a:r>
          </a:p>
          <a:p>
            <a:pPr algn="l" defTabSz="457200">
              <a:defRPr sz="1300">
                <a:latin typeface="Courier"/>
                <a:ea typeface="Courier"/>
                <a:cs typeface="Courier"/>
                <a:sym typeface="Courier"/>
              </a:defRPr>
            </a:pPr>
            <a:r>
              <a:t>DISSIPATED       2       4       7       9      12      22      32</a:t>
            </a:r>
          </a:p>
          <a:p>
            <a:pPr algn="l" defTabSz="457200">
              <a:defRPr sz="1300">
                <a:latin typeface="Courier"/>
                <a:ea typeface="Courier"/>
                <a:cs typeface="Courier"/>
                <a:sym typeface="Courier"/>
              </a:defRPr>
            </a:pPr>
            <a:r>
              <a:t>TROP DEPRESSION 33      30      25      28      29      41      45</a:t>
            </a:r>
          </a:p>
          <a:p>
            <a:pPr algn="l" defTabSz="457200">
              <a:defRPr sz="1300">
                <a:latin typeface="Courier"/>
                <a:ea typeface="Courier"/>
                <a:cs typeface="Courier"/>
                <a:sym typeface="Courier"/>
              </a:defRPr>
            </a:pPr>
            <a:r>
              <a:t>TROPICAL STORM  65      62      59      52      53      35      23</a:t>
            </a:r>
          </a:p>
          <a:p>
            <a:pPr algn="l" defTabSz="457200">
              <a:defRPr sz="1300">
                <a:latin typeface="Courier"/>
                <a:ea typeface="Courier"/>
                <a:cs typeface="Courier"/>
                <a:sym typeface="Courier"/>
              </a:defRPr>
            </a:pPr>
            <a:r>
              <a:t>HURRICANE        1       4       9      10       6       2       1</a:t>
            </a:r>
          </a:p>
          <a:p>
            <a:pPr algn="l" defTabSz="457200">
              <a:defRPr sz="1300">
                <a:latin typeface="Courier"/>
                <a:ea typeface="Courier"/>
                <a:cs typeface="Courier"/>
                <a:sym typeface="Courier"/>
              </a:defRPr>
            </a:pPr>
            <a:r>
              <a:t>- - - - - - - - - - - - - - - - - - - - - - - - - - - - - - - - - -</a:t>
            </a:r>
          </a:p>
          <a:p>
            <a:pPr algn="l" defTabSz="457200">
              <a:defRPr sz="1300">
                <a:latin typeface="Courier"/>
                <a:ea typeface="Courier"/>
                <a:cs typeface="Courier"/>
                <a:sym typeface="Courier"/>
              </a:defRPr>
            </a:pPr>
            <a:r>
              <a:t>HUR CAT 1        1       3       8       9       6       2       1</a:t>
            </a:r>
          </a:p>
          <a:p>
            <a:pPr algn="l" defTabSz="457200">
              <a:defRPr sz="1300">
                <a:latin typeface="Courier"/>
                <a:ea typeface="Courier"/>
                <a:cs typeface="Courier"/>
                <a:sym typeface="Courier"/>
              </a:defRPr>
            </a:pPr>
            <a:r>
              <a:t>HUR CAT 2        X       X       1       1       1       X       X</a:t>
            </a:r>
          </a:p>
          <a:p>
            <a:pPr algn="l" defTabSz="457200">
              <a:defRPr sz="1300">
                <a:latin typeface="Courier"/>
                <a:ea typeface="Courier"/>
                <a:cs typeface="Courier"/>
                <a:sym typeface="Courier"/>
              </a:defRPr>
            </a:pPr>
            <a:r>
              <a:t>HUR CAT 3        X       X       X       X       X       X       X</a:t>
            </a:r>
          </a:p>
          <a:p>
            <a:pPr algn="l" defTabSz="457200">
              <a:defRPr sz="1300">
                <a:latin typeface="Courier"/>
                <a:ea typeface="Courier"/>
                <a:cs typeface="Courier"/>
                <a:sym typeface="Courier"/>
              </a:defRPr>
            </a:pPr>
            <a:r>
              <a:t>HUR CAT 4        X       X       X       X       X       X       X</a:t>
            </a:r>
          </a:p>
          <a:p>
            <a:pPr algn="l" defTabSz="457200">
              <a:defRPr sz="1300">
                <a:latin typeface="Courier"/>
                <a:ea typeface="Courier"/>
                <a:cs typeface="Courier"/>
                <a:sym typeface="Courier"/>
              </a:defRPr>
            </a:pPr>
            <a:r>
              <a:t>HUR CAT 5        X       X       X       X       X       X       X</a:t>
            </a:r>
          </a:p>
          <a:p>
            <a:pPr algn="l" defTabSz="457200">
              <a:defRPr sz="1300">
                <a:latin typeface="Courier"/>
                <a:ea typeface="Courier"/>
                <a:cs typeface="Courier"/>
                <a:sym typeface="Courier"/>
              </a:defRPr>
            </a:pPr>
            <a:r>
              <a:t>- - - - - - - - - - - - - - - - - - - - - - - - - - - - - - - - - -</a:t>
            </a:r>
          </a:p>
          <a:p>
            <a:pPr algn="l" defTabSz="457200">
              <a:defRPr sz="1300">
                <a:latin typeface="Courier"/>
                <a:ea typeface="Courier"/>
                <a:cs typeface="Courier"/>
                <a:sym typeface="Courier"/>
              </a:defRPr>
            </a:pPr>
            <a:r>
              <a:t>FCST MAX WIND   35KT    40KT    45KT    45KT    45KT    35KT    30KT</a:t>
            </a:r>
          </a:p>
        </p:txBody>
      </p:sp>
      <p:sp>
        <p:nvSpPr>
          <p:cNvPr id="267" name="Shape 267"/>
          <p:cNvSpPr/>
          <p:nvPr/>
        </p:nvSpPr>
        <p:spPr>
          <a:xfrm>
            <a:off x="73977" y="9277349"/>
            <a:ext cx="9104878" cy="41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2100" b="1">
                <a:latin typeface="+mj-lt"/>
                <a:ea typeface="+mj-ea"/>
                <a:cs typeface="+mj-cs"/>
                <a:sym typeface="Helvetica"/>
              </a:defRPr>
            </a:pPr>
            <a:r>
              <a:t>Data Wrangler, an alternative solution: </a:t>
            </a:r>
            <a:r>
              <a:rPr u="sng">
                <a:hlinkClick r:id="rId2"/>
              </a:rPr>
              <a:t>http://vis.stanford.edu/wrangler/</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p:cNvSpPr>
          <p:nvPr>
            <p:ph type="title"/>
          </p:nvPr>
        </p:nvSpPr>
        <p:spPr>
          <a:prstGeom prst="rect">
            <a:avLst/>
          </a:prstGeom>
        </p:spPr>
        <p:txBody>
          <a:bodyPr/>
          <a:lstStyle/>
          <a:p>
            <a:r>
              <a:t>Python output</a:t>
            </a:r>
          </a:p>
        </p:txBody>
      </p:sp>
      <p:sp>
        <p:nvSpPr>
          <p:cNvPr id="270" name="Shape 270"/>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71" name="Shape 271"/>
          <p:cNvSpPr/>
          <p:nvPr/>
        </p:nvSpPr>
        <p:spPr>
          <a:xfrm>
            <a:off x="883462" y="2571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72" name="Shape 272"/>
          <p:cNvSpPr/>
          <p:nvPr/>
        </p:nvSpPr>
        <p:spPr>
          <a:xfrm>
            <a:off x="7333665" y="2571750"/>
            <a:ext cx="4051177"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Contents of “test”</a:t>
            </a:r>
          </a:p>
        </p:txBody>
      </p:sp>
      <p:sp>
        <p:nvSpPr>
          <p:cNvPr id="273" name="Shape 273"/>
          <p:cNvSpPr/>
          <p:nvPr/>
        </p:nvSpPr>
        <p:spPr>
          <a:xfrm>
            <a:off x="359433" y="3517899"/>
            <a:ext cx="5160691" cy="3073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Open a file called "test" to write it and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associate it with a file handle called f</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"test"</a:t>
            </a:r>
            <a:r>
              <a:rPr>
                <a:solidFill>
                  <a:srgbClr val="000000"/>
                </a:solidFill>
              </a:rPr>
              <a:t>,</a:t>
            </a:r>
            <a:r>
              <a:t>"w"</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Write some text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f.write(</a:t>
            </a:r>
            <a:r>
              <a:t>"Testing testing</a:t>
            </a:r>
            <a:r>
              <a:rPr>
                <a:solidFill>
                  <a:srgbClr val="B32AB2"/>
                </a:solidFill>
              </a:rPr>
              <a:t>\n</a:t>
            </a:r>
            <a:r>
              <a:t>"</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Write some numbers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AF5F00"/>
                </a:solidFill>
                <a:latin typeface="Menlo"/>
                <a:ea typeface="Menlo"/>
                <a:cs typeface="Menlo"/>
                <a:sym typeface="Menlo"/>
              </a:defRPr>
            </a:pPr>
            <a:r>
              <a:rPr>
                <a:solidFill>
                  <a:srgbClr val="E539E5"/>
                </a:solidFill>
              </a:rPr>
              <a:t>for</a:t>
            </a:r>
            <a:r>
              <a:rPr>
                <a:solidFill>
                  <a:srgbClr val="000000"/>
                </a:solidFill>
              </a:rPr>
              <a:t> a </a:t>
            </a:r>
            <a:r>
              <a:rPr>
                <a:solidFill>
                  <a:schemeClr val="accent2"/>
                </a:solidFill>
              </a:rPr>
              <a:t>in</a:t>
            </a:r>
            <a:r>
              <a:rPr>
                <a:solidFill>
                  <a:srgbClr val="000000"/>
                </a:solidFill>
              </a:rPr>
              <a:t> </a:t>
            </a:r>
            <a:r>
              <a:t>range</a:t>
            </a:r>
            <a:r>
              <a:rPr>
                <a:solidFill>
                  <a:srgbClr val="000000"/>
                </a:solidFill>
              </a:rPr>
              <a:t>(</a:t>
            </a:r>
            <a:r>
              <a:rPr>
                <a:solidFill>
                  <a:srgbClr val="0433FF"/>
                </a:solidFill>
              </a:rPr>
              <a:t>1</a:t>
            </a:r>
            <a:r>
              <a:rPr>
                <a:solidFill>
                  <a:srgbClr val="000000"/>
                </a:solidFill>
              </a:rPr>
              <a:t>,</a:t>
            </a:r>
            <a:r>
              <a:rPr>
                <a:solidFill>
                  <a:srgbClr val="0433FF"/>
                </a:solidFill>
              </a:rPr>
              <a:t>4</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FFF678"/>
                </a:solidFill>
              </a:rPr>
              <a:t>       </a:t>
            </a:r>
            <a:r>
              <a:t> f.write(</a:t>
            </a:r>
            <a:r>
              <a:rPr>
                <a:solidFill>
                  <a:srgbClr val="AF5F00"/>
                </a:solidFill>
              </a:rPr>
              <a:t>str</a:t>
            </a:r>
            <a:r>
              <a:t>(a)+</a:t>
            </a:r>
            <a:r>
              <a:rPr>
                <a:solidFill>
                  <a:srgbClr val="0220B3"/>
                </a:solidFill>
              </a:rPr>
              <a:t>"</a:t>
            </a:r>
            <a:r>
              <a:rPr>
                <a:solidFill>
                  <a:srgbClr val="B32AB2"/>
                </a:solidFill>
              </a:rPr>
              <a:t>\n</a:t>
            </a:r>
            <a:r>
              <a:rPr>
                <a:solidFill>
                  <a:srgbClr val="0220B3"/>
                </a:solidFill>
              </a:rPr>
              <a:t>"</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Close file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f.close()</a:t>
            </a:r>
          </a:p>
        </p:txBody>
      </p:sp>
      <p:sp>
        <p:nvSpPr>
          <p:cNvPr id="274" name="Shape 274"/>
          <p:cNvSpPr/>
          <p:nvPr/>
        </p:nvSpPr>
        <p:spPr>
          <a:xfrm>
            <a:off x="7333665" y="3517900"/>
            <a:ext cx="2683372" cy="1320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Testing testing</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3</a:t>
            </a:r>
          </a:p>
        </p:txBody>
      </p:sp>
      <p:sp>
        <p:nvSpPr>
          <p:cNvPr id="275" name="Shape 275"/>
          <p:cNvSpPr/>
          <p:nvPr/>
        </p:nvSpPr>
        <p:spPr>
          <a:xfrm>
            <a:off x="97383" y="9213849"/>
            <a:ext cx="2942333"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output.py</a:t>
            </a:r>
          </a:p>
        </p:txBody>
      </p:sp>
      <p:sp>
        <p:nvSpPr>
          <p:cNvPr id="276" name="Shape 276"/>
          <p:cNvSpPr/>
          <p:nvPr/>
        </p:nvSpPr>
        <p:spPr>
          <a:xfrm>
            <a:off x="7025204" y="5759450"/>
            <a:ext cx="5693620" cy="3722312"/>
          </a:xfrm>
          <a:prstGeom prst="roundRect">
            <a:avLst>
              <a:gd name="adj" fmla="val 7766"/>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A file is opened with the “open” command and it takes two arguments. The first is the filename and the second is the mode, with “w” for writing and “r” for reading. Once the file is opened, it is associated with a “file handle”, in this case called f. Any subsequent reading or writing operations to the file will make use of the file handle (such as f.write to write text).</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Shape 278"/>
          <p:cNvSpPr>
            <a:spLocks noGrp="1"/>
          </p:cNvSpPr>
          <p:nvPr>
            <p:ph type="title"/>
          </p:nvPr>
        </p:nvSpPr>
        <p:spPr>
          <a:prstGeom prst="rect">
            <a:avLst/>
          </a:prstGeom>
        </p:spPr>
        <p:txBody>
          <a:bodyPr/>
          <a:lstStyle/>
          <a:p>
            <a:r>
              <a:t>Formatted output</a:t>
            </a:r>
          </a:p>
        </p:txBody>
      </p:sp>
      <p:sp>
        <p:nvSpPr>
          <p:cNvPr id="279" name="Shape 279"/>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80" name="Shape 280"/>
          <p:cNvSpPr/>
          <p:nvPr/>
        </p:nvSpPr>
        <p:spPr>
          <a:xfrm>
            <a:off x="883462" y="2571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81" name="Shape 281"/>
          <p:cNvSpPr/>
          <p:nvPr/>
        </p:nvSpPr>
        <p:spPr>
          <a:xfrm>
            <a:off x="7333665" y="2571750"/>
            <a:ext cx="4305450"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Contents of “test2”</a:t>
            </a:r>
          </a:p>
        </p:txBody>
      </p:sp>
      <p:sp>
        <p:nvSpPr>
          <p:cNvPr id="282" name="Shape 282"/>
          <p:cNvSpPr/>
          <p:nvPr/>
        </p:nvSpPr>
        <p:spPr>
          <a:xfrm>
            <a:off x="848655" y="3340099"/>
            <a:ext cx="5275381" cy="558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Import math functions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E539E5"/>
                </a:solidFill>
              </a:rPr>
              <a:t>from</a:t>
            </a:r>
            <a:r>
              <a:t> math </a:t>
            </a:r>
            <a:r>
              <a:rPr>
                <a:solidFill>
                  <a:srgbClr val="E539E5"/>
                </a:solidFill>
              </a:rPr>
              <a:t>import</a:t>
            </a:r>
            <a:r>
              <a:t> *</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Open a file called "test2" to write it and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associate it with a file handle called f</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"test2"</a:t>
            </a:r>
            <a:r>
              <a:rPr>
                <a:solidFill>
                  <a:srgbClr val="000000"/>
                </a:solidFill>
              </a:rPr>
              <a:t>,</a:t>
            </a:r>
            <a:r>
              <a:t>"w"</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Do formatted output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a=</a:t>
            </a:r>
            <a:r>
              <a:rPr>
                <a:solidFill>
                  <a:srgbClr val="0433FF"/>
                </a:solidFill>
              </a:rPr>
              <a:t>4</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433FF"/>
                </a:solidFill>
                <a:latin typeface="Menlo"/>
                <a:ea typeface="Menlo"/>
                <a:cs typeface="Menlo"/>
                <a:sym typeface="Menlo"/>
              </a:defRPr>
            </a:pPr>
            <a:r>
              <a:rPr>
                <a:solidFill>
                  <a:srgbClr val="000000"/>
                </a:solidFill>
              </a:rPr>
              <a:t>b=</a:t>
            </a:r>
            <a:r>
              <a:t>19.0</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c=</a:t>
            </a:r>
            <a:r>
              <a:t>"string"</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f.write(</a:t>
            </a:r>
            <a:r>
              <a:rPr>
                <a:solidFill>
                  <a:srgbClr val="0220B3"/>
                </a:solidFill>
              </a:rPr>
              <a:t>"%d %f %g %s</a:t>
            </a:r>
            <a:r>
              <a:rPr>
                <a:solidFill>
                  <a:srgbClr val="B32AB2"/>
                </a:solidFill>
              </a:rPr>
              <a:t>\n\n</a:t>
            </a:r>
            <a:r>
              <a:rPr>
                <a:solidFill>
                  <a:srgbClr val="0220B3"/>
                </a:solidFill>
              </a:rPr>
              <a:t>”</a:t>
            </a:r>
            <a:r>
              <a:t> % (a,b,b,c))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Change precision</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f.write(</a:t>
            </a:r>
            <a:r>
              <a:t>"pi is %4.3f</a:t>
            </a:r>
            <a:r>
              <a:rPr>
                <a:solidFill>
                  <a:srgbClr val="B32AB2"/>
                </a:solidFill>
              </a:rPr>
              <a:t>\n</a:t>
            </a:r>
            <a:r>
              <a:t>"</a:t>
            </a:r>
            <a:r>
              <a:rPr>
                <a:solidFill>
                  <a:srgbClr val="000000"/>
                </a:solidFill>
              </a:rPr>
              <a:t> % pi)</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f.write(</a:t>
            </a:r>
            <a:r>
              <a:t>"pi is %4.10f</a:t>
            </a:r>
            <a:r>
              <a:rPr>
                <a:solidFill>
                  <a:srgbClr val="B32AB2"/>
                </a:solidFill>
              </a:rPr>
              <a:t>\n\n</a:t>
            </a:r>
            <a:r>
              <a:t>"</a:t>
            </a:r>
            <a:r>
              <a:rPr>
                <a:solidFill>
                  <a:srgbClr val="000000"/>
                </a:solidFill>
              </a:rPr>
              <a:t> % pi)</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Padded output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f.write(</a:t>
            </a:r>
            <a:r>
              <a:t>"   x    x^3</a:t>
            </a:r>
            <a:r>
              <a:rPr>
                <a:solidFill>
                  <a:srgbClr val="B32AB2"/>
                </a:solidFill>
              </a:rPr>
              <a:t>\n</a:t>
            </a:r>
            <a:r>
              <a:t>"</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AF5F00"/>
                </a:solidFill>
                <a:latin typeface="Menlo"/>
                <a:ea typeface="Menlo"/>
                <a:cs typeface="Menlo"/>
                <a:sym typeface="Menlo"/>
              </a:defRPr>
            </a:pPr>
            <a:r>
              <a:rPr>
                <a:solidFill>
                  <a:srgbClr val="E539E5"/>
                </a:solidFill>
              </a:rPr>
              <a:t>for</a:t>
            </a:r>
            <a:r>
              <a:rPr>
                <a:solidFill>
                  <a:srgbClr val="000000"/>
                </a:solidFill>
              </a:rPr>
              <a:t> d </a:t>
            </a:r>
            <a:r>
              <a:rPr>
                <a:solidFill>
                  <a:schemeClr val="accent2"/>
                </a:solidFill>
              </a:rPr>
              <a:t>in</a:t>
            </a:r>
            <a:r>
              <a:rPr>
                <a:solidFill>
                  <a:srgbClr val="000000"/>
                </a:solidFill>
              </a:rPr>
              <a:t> </a:t>
            </a:r>
            <a:r>
              <a:t>range</a:t>
            </a:r>
            <a:r>
              <a:rPr>
                <a:solidFill>
                  <a:srgbClr val="000000"/>
                </a:solidFill>
              </a:rPr>
              <a:t>(</a:t>
            </a:r>
            <a:r>
              <a:rPr>
                <a:solidFill>
                  <a:srgbClr val="0433FF"/>
                </a:solidFill>
              </a:rPr>
              <a:t>11</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FFF678"/>
                </a:solidFill>
              </a:rPr>
              <a:t>       </a:t>
            </a:r>
            <a:r>
              <a:t> f.write(</a:t>
            </a:r>
            <a:r>
              <a:rPr>
                <a:solidFill>
                  <a:srgbClr val="0220B3"/>
                </a:solidFill>
              </a:rPr>
              <a:t>"%4d %6d</a:t>
            </a:r>
            <a:r>
              <a:rPr>
                <a:solidFill>
                  <a:srgbClr val="B32AB2"/>
                </a:solidFill>
              </a:rPr>
              <a:t>\n</a:t>
            </a:r>
            <a:r>
              <a:rPr>
                <a:solidFill>
                  <a:srgbClr val="0220B3"/>
                </a:solidFill>
              </a:rPr>
              <a:t>"</a:t>
            </a:r>
            <a:r>
              <a:t> % (d,d*d*d))</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Close file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f.close()</a:t>
            </a:r>
          </a:p>
        </p:txBody>
      </p:sp>
      <p:sp>
        <p:nvSpPr>
          <p:cNvPr id="283" name="Shape 283"/>
          <p:cNvSpPr/>
          <p:nvPr/>
        </p:nvSpPr>
        <p:spPr>
          <a:xfrm>
            <a:off x="7565164" y="3492500"/>
            <a:ext cx="3646774" cy="5283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4 19.000000 19 string</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pi is 3.142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pi is 3.1415926536</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x    x^3</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0      0</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1      1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2      8</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3     27</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4     64</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5    125</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6    216</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7    343</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8    512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9    729</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
                <a:latin typeface="Menlo"/>
                <a:ea typeface="Menlo"/>
                <a:cs typeface="Menlo"/>
                <a:sym typeface="Menlo"/>
              </a:defRPr>
            </a:pPr>
            <a:r>
              <a:t>  10   1000</a:t>
            </a:r>
          </a:p>
        </p:txBody>
      </p:sp>
      <p:sp>
        <p:nvSpPr>
          <p:cNvPr id="284" name="Shape 284"/>
          <p:cNvSpPr/>
          <p:nvPr/>
        </p:nvSpPr>
        <p:spPr>
          <a:xfrm>
            <a:off x="97383" y="9213849"/>
            <a:ext cx="3111848"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output2.py</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a:spLocks noGrp="1"/>
          </p:cNvSpPr>
          <p:nvPr>
            <p:ph type="title"/>
          </p:nvPr>
        </p:nvSpPr>
        <p:spPr>
          <a:prstGeom prst="rect">
            <a:avLst/>
          </a:prstGeom>
        </p:spPr>
        <p:txBody>
          <a:bodyPr/>
          <a:lstStyle/>
          <a:p>
            <a:r>
              <a:t>Python input #1</a:t>
            </a:r>
          </a:p>
        </p:txBody>
      </p:sp>
      <p:sp>
        <p:nvSpPr>
          <p:cNvPr id="287" name="Shape 287"/>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88" name="Shape 288"/>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89" name="Shape 289"/>
          <p:cNvSpPr/>
          <p:nvPr/>
        </p:nvSpPr>
        <p:spPr>
          <a:xfrm>
            <a:off x="7333665" y="2190750"/>
            <a:ext cx="4711751"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Contents of “in_test”</a:t>
            </a:r>
          </a:p>
        </p:txBody>
      </p:sp>
      <p:sp>
        <p:nvSpPr>
          <p:cNvPr id="290" name="Shape 290"/>
          <p:cNvSpPr/>
          <p:nvPr/>
        </p:nvSpPr>
        <p:spPr>
          <a:xfrm>
            <a:off x="7333665" y="44132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291" name="Shape 291"/>
          <p:cNvSpPr/>
          <p:nvPr/>
        </p:nvSpPr>
        <p:spPr>
          <a:xfrm>
            <a:off x="7427351" y="2966084"/>
            <a:ext cx="1796431" cy="1320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Polar 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Hummingbird</a:t>
            </a:r>
          </a:p>
        </p:txBody>
      </p:sp>
      <p:sp>
        <p:nvSpPr>
          <p:cNvPr id="292" name="Shape 292"/>
          <p:cNvSpPr/>
          <p:nvPr/>
        </p:nvSpPr>
        <p:spPr>
          <a:xfrm>
            <a:off x="7444252" y="5168899"/>
            <a:ext cx="3478561" cy="2844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Polar 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Hummingbird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Animal 0 : 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Animal 1 : 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Animal 2 : Polar 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Animal 3 : Hummingbird</a:t>
            </a:r>
          </a:p>
        </p:txBody>
      </p:sp>
      <p:sp>
        <p:nvSpPr>
          <p:cNvPr id="293" name="Shape 293"/>
          <p:cNvSpPr/>
          <p:nvPr/>
        </p:nvSpPr>
        <p:spPr>
          <a:xfrm>
            <a:off x="1005844" y="2914650"/>
            <a:ext cx="4793680" cy="5702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Open "in_test" file for reading</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"in_test"</a:t>
            </a:r>
            <a:r>
              <a:rPr>
                <a:solidFill>
                  <a:srgbClr val="000000"/>
                </a:solidFill>
              </a:rPr>
              <a:t>,</a:t>
            </a:r>
            <a:r>
              <a:t>"r"</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Read entire file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s=f.read()</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t>print</a:t>
            </a:r>
            <a:r>
              <a:rPr>
                <a:solidFill>
                  <a:srgbClr val="000000"/>
                </a:solidFill>
              </a:rPr>
              <a:t> 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Close file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f.close()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Open file again</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"in_test"</a:t>
            </a:r>
            <a:r>
              <a:rPr>
                <a:solidFill>
                  <a:srgbClr val="000000"/>
                </a:solidFill>
              </a:rPr>
              <a:t>,</a:t>
            </a:r>
            <a:r>
              <a:t>"r"</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Read in line-by-line and 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E539E5"/>
                </a:solidFill>
              </a:rPr>
              <a:t>for</a:t>
            </a:r>
            <a:r>
              <a:rPr>
                <a:solidFill>
                  <a:srgbClr val="000000"/>
                </a:solidFill>
              </a:rPr>
              <a:t> d </a:t>
            </a:r>
            <a:r>
              <a:rPr>
                <a:solidFill>
                  <a:schemeClr val="accent2"/>
                </a:solidFill>
              </a:rPr>
              <a:t>in </a:t>
            </a:r>
            <a:r>
              <a:t>range</a:t>
            </a:r>
            <a:r>
              <a:rPr>
                <a:solidFill>
                  <a:srgbClr val="000000"/>
                </a:solidFill>
              </a:rPr>
              <a:t>(</a:t>
            </a:r>
            <a:r>
              <a:rPr>
                <a:solidFill>
                  <a:srgbClr val="0433FF"/>
                </a:solidFill>
              </a:rPr>
              <a:t>4</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rPr>
                <a:solidFill>
                  <a:srgbClr val="FFF678"/>
                </a:solidFill>
              </a:rPr>
              <a:t>       </a:t>
            </a:r>
            <a:r>
              <a:t> s=f.readline()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rPr>
                <a:solidFill>
                  <a:srgbClr val="FFF678"/>
                </a:solidFill>
              </a:rPr>
              <a:t>       </a:t>
            </a:r>
            <a:r>
              <a:t> s=s.rstrip()</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FFF678"/>
                </a:solidFill>
              </a:rPr>
              <a:t>       </a:t>
            </a:r>
            <a:r>
              <a:rPr>
                <a:solidFill>
                  <a:srgbClr val="000000"/>
                </a:solidFill>
              </a:rPr>
              <a:t> </a:t>
            </a:r>
            <a:r>
              <a:rPr>
                <a:solidFill>
                  <a:srgbClr val="AF5F00"/>
                </a:solidFill>
              </a:rPr>
              <a:t>print</a:t>
            </a:r>
            <a:r>
              <a:rPr>
                <a:solidFill>
                  <a:srgbClr val="000000"/>
                </a:solidFill>
              </a:rPr>
              <a:t> </a:t>
            </a:r>
            <a:r>
              <a:t>"Animal"</a:t>
            </a:r>
            <a:r>
              <a:rPr>
                <a:solidFill>
                  <a:srgbClr val="000000"/>
                </a:solidFill>
              </a:rPr>
              <a:t>,d,</a:t>
            </a:r>
            <a:r>
              <a:t>":"</a:t>
            </a:r>
            <a:r>
              <a:rPr>
                <a:solidFill>
                  <a:srgbClr val="000000"/>
                </a:solidFill>
              </a:rPr>
              <a: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Close file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f.close()</a:t>
            </a:r>
          </a:p>
        </p:txBody>
      </p:sp>
      <p:sp>
        <p:nvSpPr>
          <p:cNvPr id="294" name="Shape 294"/>
          <p:cNvSpPr/>
          <p:nvPr/>
        </p:nvSpPr>
        <p:spPr>
          <a:xfrm>
            <a:off x="97383" y="9213849"/>
            <a:ext cx="2739332"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input.py</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p:cNvSpPr>
          <p:nvPr>
            <p:ph type="title"/>
          </p:nvPr>
        </p:nvSpPr>
        <p:spPr>
          <a:prstGeom prst="rect">
            <a:avLst/>
          </a:prstGeom>
        </p:spPr>
        <p:txBody>
          <a:bodyPr/>
          <a:lstStyle/>
          <a:p>
            <a:r>
              <a:t>Python input #2</a:t>
            </a:r>
          </a:p>
        </p:txBody>
      </p:sp>
      <p:sp>
        <p:nvSpPr>
          <p:cNvPr id="297" name="Shape 297"/>
          <p:cNvSpPr/>
          <p:nvPr/>
        </p:nvSpPr>
        <p:spPr>
          <a:xfrm>
            <a:off x="97383" y="9213849"/>
            <a:ext cx="290884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input2.py</a:t>
            </a:r>
          </a:p>
        </p:txBody>
      </p:sp>
      <p:sp>
        <p:nvSpPr>
          <p:cNvPr id="298" name="Shape 298"/>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99" name="Shape 299"/>
          <p:cNvSpPr/>
          <p:nvPr/>
        </p:nvSpPr>
        <p:spPr>
          <a:xfrm>
            <a:off x="883462" y="2571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300" name="Shape 300"/>
          <p:cNvSpPr/>
          <p:nvPr/>
        </p:nvSpPr>
        <p:spPr>
          <a:xfrm>
            <a:off x="7333665" y="2571750"/>
            <a:ext cx="4966024"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Contents of “in_test2”</a:t>
            </a:r>
          </a:p>
        </p:txBody>
      </p:sp>
      <p:sp>
        <p:nvSpPr>
          <p:cNvPr id="301" name="Shape 301"/>
          <p:cNvSpPr/>
          <p:nvPr/>
        </p:nvSpPr>
        <p:spPr>
          <a:xfrm>
            <a:off x="7333665" y="46672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302" name="Shape 302"/>
          <p:cNvSpPr/>
          <p:nvPr/>
        </p:nvSpPr>
        <p:spPr>
          <a:xfrm>
            <a:off x="7688677" y="3308349"/>
            <a:ext cx="1031827" cy="1016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4,5,6</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1,2,3</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latin typeface="Menlo"/>
                <a:ea typeface="Menlo"/>
                <a:cs typeface="Menlo"/>
                <a:sym typeface="Menlo"/>
              </a:defRPr>
            </a:pPr>
            <a:r>
              <a:t>7,8,9</a:t>
            </a:r>
          </a:p>
        </p:txBody>
      </p:sp>
      <p:sp>
        <p:nvSpPr>
          <p:cNvPr id="303" name="Shape 303"/>
          <p:cNvSpPr/>
          <p:nvPr/>
        </p:nvSpPr>
        <p:spPr>
          <a:xfrm>
            <a:off x="7686724" y="5499100"/>
            <a:ext cx="2438699" cy="1498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['4', '5', '6']</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['1', '2', '3']</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['7', '8', '9']</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['5', '2', '8']</a:t>
            </a:r>
          </a:p>
        </p:txBody>
      </p:sp>
      <p:sp>
        <p:nvSpPr>
          <p:cNvPr id="304" name="Shape 304"/>
          <p:cNvSpPr/>
          <p:nvPr/>
        </p:nvSpPr>
        <p:spPr>
          <a:xfrm>
            <a:off x="945663" y="3460114"/>
            <a:ext cx="3860863" cy="518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Open "in_test2" file for reading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"in_test2"</a:t>
            </a:r>
            <a:r>
              <a:rPr>
                <a:solidFill>
                  <a:srgbClr val="000000"/>
                </a:solidFill>
              </a:rPr>
              <a:t>,</a:t>
            </a:r>
            <a:r>
              <a:t>"r"</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Create empty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enlo"/>
                <a:ea typeface="Menlo"/>
                <a:cs typeface="Menlo"/>
                <a:sym typeface="Menlo"/>
              </a:defRPr>
            </a:pPr>
            <a:r>
              <a:t>q=[]</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Read entire file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E539E5"/>
                </a:solidFill>
                <a:latin typeface="Menlo"/>
                <a:ea typeface="Menlo"/>
                <a:cs typeface="Menlo"/>
                <a:sym typeface="Menlo"/>
              </a:defRPr>
            </a:pPr>
            <a:r>
              <a:t>for</a:t>
            </a:r>
            <a:r>
              <a:rPr>
                <a:solidFill>
                  <a:srgbClr val="000000"/>
                </a:solidFill>
              </a:rPr>
              <a:t> s </a:t>
            </a:r>
            <a:r>
              <a:rPr>
                <a:solidFill>
                  <a:schemeClr val="accent2"/>
                </a:solidFill>
              </a:rPr>
              <a:t>in</a:t>
            </a:r>
            <a:r>
              <a:rPr>
                <a:solidFill>
                  <a:srgbClr val="000000"/>
                </a:solidFill>
              </a:rPr>
              <a:t> f:</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 Remove newline character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enlo"/>
                <a:ea typeface="Menlo"/>
                <a:cs typeface="Menlo"/>
                <a:sym typeface="Menlo"/>
              </a:defRPr>
            </a:pPr>
            <a:r>
              <a:t>    s=s.strip()</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 Split entries and print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enlo"/>
                <a:ea typeface="Menlo"/>
                <a:cs typeface="Menlo"/>
                <a:sym typeface="Menlo"/>
              </a:defRPr>
            </a:pPr>
            <a:r>
              <a:t>    c=s.split(</a:t>
            </a:r>
            <a:r>
              <a:rPr>
                <a:solidFill>
                  <a:srgbClr val="0220B3"/>
                </a:solidFill>
              </a:rPr>
              <a:t>','</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AF5F00"/>
                </a:solidFill>
                <a:latin typeface="Menlo"/>
                <a:ea typeface="Menlo"/>
                <a:cs typeface="Menlo"/>
                <a:sym typeface="Menlo"/>
              </a:defRPr>
            </a:pPr>
            <a:r>
              <a:rPr>
                <a:solidFill>
                  <a:srgbClr val="000000"/>
                </a:solidFill>
              </a:rPr>
              <a:t>    </a:t>
            </a:r>
            <a:r>
              <a:t>print</a:t>
            </a:r>
            <a:r>
              <a:rPr>
                <a:solidFill>
                  <a:srgbClr val="000000"/>
                </a:solidFill>
              </a:rPr>
              <a:t> 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 Also store second column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enlo"/>
                <a:ea typeface="Menlo"/>
                <a:cs typeface="Menlo"/>
                <a:sym typeface="Menlo"/>
              </a:defRPr>
            </a:pPr>
            <a:r>
              <a:t>    q.append(c[</a:t>
            </a:r>
            <a:r>
              <a:rPr>
                <a:solidFill>
                  <a:srgbClr val="0433FF"/>
                </a:solidFill>
              </a:rPr>
              <a:t>1</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Close file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latin typeface="Menlo"/>
                <a:ea typeface="Menlo"/>
                <a:cs typeface="Menlo"/>
                <a:sym typeface="Menlo"/>
              </a:defRPr>
            </a:pPr>
            <a:r>
              <a:t>f.close()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chemeClr val="accent6">
                    <a:satOff val="24555"/>
                    <a:lumOff val="22232"/>
                  </a:schemeClr>
                </a:solidFill>
                <a:latin typeface="Menlo"/>
                <a:ea typeface="Menlo"/>
                <a:cs typeface="Menlo"/>
                <a:sym typeface="Menlo"/>
              </a:defRPr>
            </a:pPr>
            <a:r>
              <a:t># Print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400">
                <a:solidFill>
                  <a:srgbClr val="AF5F00"/>
                </a:solidFill>
                <a:latin typeface="Menlo"/>
                <a:ea typeface="Menlo"/>
                <a:cs typeface="Menlo"/>
                <a:sym typeface="Menlo"/>
              </a:defRPr>
            </a:pPr>
            <a:r>
              <a:t>print</a:t>
            </a:r>
            <a:r>
              <a:rPr>
                <a:solidFill>
                  <a:srgbClr val="000000"/>
                </a:solidFill>
              </a:rPr>
              <a:t> q</a:t>
            </a:r>
          </a:p>
        </p:txBody>
      </p:sp>
      <p:sp>
        <p:nvSpPr>
          <p:cNvPr id="305" name="Shape 305"/>
          <p:cNvSpPr/>
          <p:nvPr/>
        </p:nvSpPr>
        <p:spPr>
          <a:xfrm>
            <a:off x="7050604" y="7554891"/>
            <a:ext cx="5693620" cy="1906758"/>
          </a:xfrm>
          <a:prstGeom prst="roundRect">
            <a:avLst>
              <a:gd name="adj" fmla="val 15160"/>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The “split” function can take a line of text, and the split it up into a list, based on some separating character (in this case a comma)</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Shape 307"/>
          <p:cNvSpPr>
            <a:spLocks noGrp="1"/>
          </p:cNvSpPr>
          <p:nvPr>
            <p:ph type="body" idx="13"/>
          </p:nvPr>
        </p:nvSpPr>
        <p:spPr>
          <a:prstGeom prst="rect">
            <a:avLst/>
          </a:prstGeom>
        </p:spPr>
        <p:txBody>
          <a:bodyPr/>
          <a:lstStyle/>
          <a:p>
            <a:pPr defTabSz="572516">
              <a:defRPr sz="6272">
                <a:effectLst>
                  <a:outerShdw blurRad="87122" dist="37338" dir="2700000" rotWithShape="0">
                    <a:srgbClr val="000000">
                      <a:alpha val="30000"/>
                    </a:srgbClr>
                  </a:outerShdw>
                </a:effectLst>
              </a:defRPr>
            </a:pPr>
            <a:r>
              <a:t>Google flu data:</a:t>
            </a:r>
          </a:p>
          <a:p>
            <a:pPr defTabSz="572516">
              <a:defRPr sz="6272">
                <a:effectLst>
                  <a:outerShdw blurRad="87122" dist="37338" dir="2700000" rotWithShape="0">
                    <a:srgbClr val="000000">
                      <a:alpha val="30000"/>
                    </a:srgbClr>
                  </a:outerShdw>
                </a:effectLst>
              </a:defRPr>
            </a:pPr>
            <a:r>
              <a:t>comma-separated values (CSV)</a:t>
            </a:r>
          </a:p>
        </p:txBody>
      </p:sp>
      <p:sp>
        <p:nvSpPr>
          <p:cNvPr id="308" name="Shape 308"/>
          <p:cNvSpPr/>
          <p:nvPr/>
        </p:nvSpPr>
        <p:spPr>
          <a:xfrm>
            <a:off x="818157" y="2819400"/>
            <a:ext cx="11368485" cy="5359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Date,United States,Alabama,Alaska,Arizona,Arkansas,California,Colorado,Connecticut,Delaware,District of Columbia,Florida,Georgia,Hawaii,Idaho,Illinois,Indiana,Iowa,Kansas,Kentucky,Louisiana,Maine,Maryland,Massachusetts,Michigan,Minnesota,Mississippi,Missouri,Montana,Nebraska,Nevada,New Hampshire,New Jersey,New Mexico,New York,North Carolina,North Dakota,Ohio,Oklahoma,Oregon,Pennsylvania,Rhode Island,South Carolina,South Dakota,Tennessee,Texas,Utah,Vermont,Virginia,Washington,West Virginia,Wisconsin,Wyoming</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2003-09-28,902,477,,606,,929,233,223,,927,587,514,,,677,544,303,272,420,1017,,1268,344,685,484,,349,,,,,695,,649,565,,616,1040,409,1186,,462,,551,1398,,,1112,588,,466,</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2003-10-05,952,501,,663,,849,251,243,,993,582,532,,,732,607,303,270,442,1096,,1374,362,748,514,,359,,,,,716,,725,660,,699,1065,409,1176,,478,,597,1517,,,1198,624,,504,</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2003-10-12,1092,492,,700,,1032,283,261,,1033,606,557,,,799,637,312,280,460,1144,,1445,372,791,588,,381,,,,,815,,739,861,,729,1122,428,1340,,521,,670,2010,,,1343,777,,538,</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2003-10-19,1209,533,,819,,1084,310,268,,1089,698,608,,,841,680,342,292,485,1308,,1432,367,829,692,,431,,,,,831,,874,852,,759,1199,467,1424,,529,,666,2786,,,1448,866,,595,</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2003-10-26,1249,594,,959,,989,344,334,,1177,708,745,,,978,765,368,313,496,1936,,1426,370,803,701,,452,,,,,901,,865,857,,847,1278,510,1514,,556,,717,2917,,,1556,1026,,653,</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2003-11-02,1374,715,,1167,,1284,569,394,,1270,746,767,936,,1102,773,399,323,505,2791,,1495,404,898,708,,450,,,,,897,,1005,922,,830,1437,576,1448,,621,,733,3177,,,1640,1053,,688,</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2003-11-09,1702,840,,1655,,1741,2053,459,,1377,917,803,993,,1091,831,444,360,563,3975,,1653,474,939,776,,514,,400,,,994,,1059,1135,,880,2082,780,1720,,758,,931,3344,291,,1931,1605,,813,</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2003-11-16,2148,1064,,2662,,2110,3669,538,,1538,1095,1236,994,,1374,1143,519,449,673,4796,,2156,782,1061,829,,684,,611,,,1281,,1559,1536,,1040,3888,978,2423,,844,,1152,4287,438,,2575,2881,,1169,</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a:t>
            </a:r>
          </a:p>
        </p:txBody>
      </p:sp>
      <p:sp>
        <p:nvSpPr>
          <p:cNvPr id="309" name="Shape 309"/>
          <p:cNvSpPr/>
          <p:nvPr/>
        </p:nvSpPr>
        <p:spPr>
          <a:xfrm>
            <a:off x="4003447" y="8206709"/>
            <a:ext cx="8816977" cy="1432740"/>
          </a:xfrm>
          <a:prstGeom prst="roundRect">
            <a:avLst>
              <a:gd name="adj" fmla="val 20176"/>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lvl1pPr algn="l">
              <a:defRPr sz="2300" b="1">
                <a:latin typeface="+mj-lt"/>
                <a:ea typeface="+mj-ea"/>
                <a:cs typeface="+mj-cs"/>
                <a:sym typeface="Helvetica"/>
              </a:defRPr>
            </a:lvl1pPr>
          </a:lstStyle>
          <a:p>
            <a:r>
              <a:t>Entries are all separated by commas. Can make use of Python “split” command to read in a line, and split up the entries into a list. CSV format is also readable by other programs such as Excel.</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Shape 311"/>
          <p:cNvSpPr>
            <a:spLocks noGrp="1"/>
          </p:cNvSpPr>
          <p:nvPr>
            <p:ph type="body" idx="13"/>
          </p:nvPr>
        </p:nvSpPr>
        <p:spPr>
          <a:xfrm>
            <a:off x="437232" y="50800"/>
            <a:ext cx="12130336" cy="2159000"/>
          </a:xfrm>
          <a:prstGeom prst="rect">
            <a:avLst/>
          </a:prstGeom>
        </p:spPr>
        <p:txBody>
          <a:bodyPr/>
          <a:lstStyle/>
          <a:p>
            <a:r>
              <a:t>Loading in the data</a:t>
            </a:r>
          </a:p>
        </p:txBody>
      </p:sp>
      <p:sp>
        <p:nvSpPr>
          <p:cNvPr id="312" name="Shape 312"/>
          <p:cNvSpPr/>
          <p:nvPr/>
        </p:nvSpPr>
        <p:spPr>
          <a:xfrm>
            <a:off x="1925466" y="2120900"/>
            <a:ext cx="8976068" cy="6527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Open the file in the "read" mode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0220B3"/>
                </a:solidFill>
                <a:latin typeface="Menlo"/>
                <a:ea typeface="Menlo"/>
                <a:cs typeface="Menlo"/>
                <a:sym typeface="Menlo"/>
              </a:defRPr>
            </a:pPr>
            <a:r>
              <a:rPr>
                <a:solidFill>
                  <a:srgbClr val="000000"/>
                </a:solidFill>
              </a:rPr>
              <a:t>f=</a:t>
            </a:r>
            <a:r>
              <a:rPr>
                <a:solidFill>
                  <a:srgbClr val="AF5F00"/>
                </a:solidFill>
              </a:rPr>
              <a:t>open</a:t>
            </a:r>
            <a:r>
              <a:rPr>
                <a:solidFill>
                  <a:srgbClr val="000000"/>
                </a:solidFill>
              </a:rPr>
              <a:t>(</a:t>
            </a:r>
            <a:r>
              <a:t>"googleflu.csv"</a:t>
            </a:r>
            <a:r>
              <a:rPr>
                <a:solidFill>
                  <a:srgbClr val="000000"/>
                </a:solidFill>
              </a:rPr>
              <a:t>,</a:t>
            </a:r>
            <a:r>
              <a:t>"r"</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Read in header line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h=f.readline().split(</a:t>
            </a:r>
            <a:r>
              <a:rPr>
                <a:solidFill>
                  <a:srgbClr val="0220B3"/>
                </a:solidFill>
              </a:rPr>
              <a:t>","</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Initialize 53 empty lists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AF5F00"/>
                </a:solidFill>
                <a:latin typeface="Menlo"/>
                <a:ea typeface="Menlo"/>
                <a:cs typeface="Menlo"/>
                <a:sym typeface="Menlo"/>
              </a:defRPr>
            </a:pP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53</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rPr>
                <a:solidFill>
                  <a:srgbClr val="FFF678"/>
                </a:solidFill>
              </a:rPr>
              <a:t>       </a:t>
            </a:r>
            <a:r>
              <a:t> s.append([])</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Loop over the remaining lines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E539E5"/>
                </a:solidFill>
                <a:latin typeface="Menlo"/>
                <a:ea typeface="Menlo"/>
                <a:cs typeface="Menlo"/>
                <a:sym typeface="Menlo"/>
              </a:defRPr>
            </a:pPr>
            <a:r>
              <a:t>for</a:t>
            </a:r>
            <a:r>
              <a:rPr>
                <a:solidFill>
                  <a:srgbClr val="000000"/>
                </a:solidFill>
              </a:rPr>
              <a:t> l </a:t>
            </a:r>
            <a:r>
              <a:rPr>
                <a:solidFill>
                  <a:schemeClr val="accent2"/>
                </a:solidFill>
              </a:rPr>
              <a:t>in</a:t>
            </a:r>
            <a:r>
              <a:rPr>
                <a:solidFill>
                  <a:srgbClr val="000000"/>
                </a:solidFill>
              </a:rPr>
              <a:t> f:</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 Create a list by separating the line at commas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    d=l.split(</a:t>
            </a:r>
            <a:r>
              <a:rPr>
                <a:solidFill>
                  <a:srgbClr val="0220B3"/>
                </a:solidFill>
              </a:rPr>
              <a:t>","</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 Store the 53 entries in the line to each relevant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AF5F00"/>
                </a:solidFill>
                <a:latin typeface="Menlo"/>
                <a:ea typeface="Menlo"/>
                <a:cs typeface="Menlo"/>
                <a:sym typeface="Menlo"/>
              </a:defRPr>
            </a:pPr>
            <a:r>
              <a:rPr>
                <a:solidFill>
                  <a:srgbClr val="000000"/>
                </a:solidFill>
              </a:rPr>
              <a:t>    </a:t>
            </a:r>
            <a:r>
              <a:rPr>
                <a:solidFill>
                  <a:srgbClr val="E539E5"/>
                </a:solidFill>
              </a:rPr>
              <a:t>for</a:t>
            </a:r>
            <a:r>
              <a:rPr>
                <a:solidFill>
                  <a:srgbClr val="000000"/>
                </a:solidFill>
              </a:rPr>
              <a:t> i </a:t>
            </a:r>
            <a:r>
              <a:rPr>
                <a:solidFill>
                  <a:schemeClr val="accent2"/>
                </a:solidFill>
              </a:rPr>
              <a:t>in</a:t>
            </a:r>
            <a:r>
              <a:rPr>
                <a:solidFill>
                  <a:srgbClr val="000000"/>
                </a:solidFill>
              </a:rPr>
              <a:t> </a:t>
            </a:r>
            <a:r>
              <a:t>range</a:t>
            </a:r>
            <a:r>
              <a:rPr>
                <a:solidFill>
                  <a:srgbClr val="000000"/>
                </a:solidFill>
              </a:rPr>
              <a:t>(</a:t>
            </a:r>
            <a:r>
              <a:rPr>
                <a:solidFill>
                  <a:srgbClr val="0433FF"/>
                </a:solidFill>
              </a:rPr>
              <a:t>53</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rPr>
                <a:solidFill>
                  <a:srgbClr val="FFF678"/>
                </a:solidFill>
              </a:rPr>
              <a:t>       </a:t>
            </a:r>
            <a:r>
              <a:t> s[i].append(d[i])</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solidFill>
                  <a:schemeClr val="accent6">
                    <a:satOff val="24555"/>
                    <a:lumOff val="22232"/>
                  </a:schemeClr>
                </a:solidFill>
                <a:latin typeface="Menlo"/>
                <a:ea typeface="Menlo"/>
                <a:cs typeface="Menlo"/>
                <a:sym typeface="Menlo"/>
              </a:defRPr>
            </a:pPr>
            <a:r>
              <a:t># Close the file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900">
                <a:latin typeface="Menlo"/>
                <a:ea typeface="Menlo"/>
                <a:cs typeface="Menlo"/>
                <a:sym typeface="Menlo"/>
              </a:defRPr>
            </a:pPr>
            <a:r>
              <a:t>f.close()</a:t>
            </a:r>
          </a:p>
        </p:txBody>
      </p:sp>
      <p:sp>
        <p:nvSpPr>
          <p:cNvPr id="313" name="Shape 313"/>
          <p:cNvSpPr/>
          <p:nvPr/>
        </p:nvSpPr>
        <p:spPr>
          <a:xfrm>
            <a:off x="97383" y="9213849"/>
            <a:ext cx="2807941"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parse.py</a:t>
            </a:r>
          </a:p>
        </p:txBody>
      </p:sp>
      <p:sp>
        <p:nvSpPr>
          <p:cNvPr id="314" name="Shape 314"/>
          <p:cNvSpPr/>
          <p:nvPr/>
        </p:nvSpPr>
        <p:spPr>
          <a:xfrm>
            <a:off x="7035127" y="8042055"/>
            <a:ext cx="5810697" cy="1457694"/>
          </a:xfrm>
          <a:prstGeom prst="roundRect">
            <a:avLst>
              <a:gd name="adj" fmla="val 19831"/>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300" b="1">
                <a:latin typeface="+mj-lt"/>
                <a:ea typeface="+mj-ea"/>
                <a:cs typeface="+mj-cs"/>
                <a:sym typeface="Helvetica"/>
              </a:defRPr>
            </a:pPr>
            <a:r>
              <a:t>Each column of the data is now contained in a list: s[1] contains national data, s[6] contains California data, </a:t>
            </a:r>
            <a:r>
              <a:rPr i="1"/>
              <a:t>etc.</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1751</Words>
  <Application>Microsoft Macintosh PowerPoint</Application>
  <PresentationFormat>Custom</PresentationFormat>
  <Paragraphs>387</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Avenir Roman</vt:lpstr>
      <vt:lpstr>Courier</vt:lpstr>
      <vt:lpstr>Helvetica</vt:lpstr>
      <vt:lpstr>Helvetica Light</vt:lpstr>
      <vt:lpstr>Menlo</vt:lpstr>
      <vt:lpstr>White</vt:lpstr>
      <vt:lpstr>Lecture 4: overview</vt:lpstr>
      <vt:lpstr>Admin</vt:lpstr>
      <vt:lpstr>PowerPoint Presentation</vt:lpstr>
      <vt:lpstr>General idea</vt:lpstr>
      <vt:lpstr>General idea</vt:lpstr>
      <vt:lpstr>General idea</vt:lpstr>
      <vt:lpstr>How do we turn this into equations?</vt:lpstr>
      <vt:lpstr>PowerPoint Presentation</vt:lpstr>
      <vt:lpstr>Calculus: assume that intervals become very small</vt:lpstr>
      <vt:lpstr>Difficult solution</vt:lpstr>
      <vt:lpstr>Simpler model: constant rates</vt:lpstr>
      <vt:lpstr>SIR Model (using modern notation)</vt:lpstr>
      <vt:lpstr>SIR model revisited</vt:lpstr>
      <vt:lpstr>PowerPoint Presentation</vt:lpstr>
      <vt:lpstr>PowerPoint Presentation</vt:lpstr>
      <vt:lpstr>PowerPoint Presentation</vt:lpstr>
      <vt:lpstr>PowerPoint Presentation</vt:lpstr>
      <vt:lpstr>Vaccination</vt:lpstr>
      <vt:lpstr>Critical vaccination fractions</vt:lpstr>
      <vt:lpstr>“Herd immunity”</vt:lpstr>
      <vt:lpstr>Herd immunity failure</vt:lpstr>
      <vt:lpstr>Herd immunity failure</vt:lpstr>
      <vt:lpstr>PowerPoint Presentation</vt:lpstr>
      <vt:lpstr>Conclusions of paper</vt:lpstr>
      <vt:lpstr>Solution of the SIR model</vt:lpstr>
      <vt:lpstr>Analytical solution for special case</vt:lpstr>
      <vt:lpstr>Break</vt:lpstr>
      <vt:lpstr>Python tutorial: input and output</vt:lpstr>
      <vt:lpstr>Python output</vt:lpstr>
      <vt:lpstr>Formatted output</vt:lpstr>
      <vt:lpstr>Python input #1</vt:lpstr>
      <vt:lpstr>Python input #2</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overview</dc:title>
  <cp:lastModifiedBy>Microsoft Office User</cp:lastModifiedBy>
  <cp:revision>1</cp:revision>
  <dcterms:modified xsi:type="dcterms:W3CDTF">2017-01-30T18:15:08Z</dcterms:modified>
</cp:coreProperties>
</file>