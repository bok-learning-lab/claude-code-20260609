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5143500" cx="9144000"/>
  <p:notesSz cx="6858000" cy="9144000"/>
  <p:embeddedFontLst>
    <p:embeddedFont>
      <p:font typeface="Old Standard TT"/>
      <p:regular r:id="rId30"/>
      <p:bold r:id="rId31"/>
      <p: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file>

<file path=ppt/tableStyles.xml><?xml version="1.0" encoding="utf-8"?>
<a:tblStyleLst xmlns:a="http://schemas.openxmlformats.org/drawingml/2006/main" xmlns:r="http://schemas.openxmlformats.org/officeDocument/2006/relationships" def="{6736B129-D936-46EB-B4D6-D6E4128FCB4F}">
  <a:tblStyle styleId="{6736B129-D936-46EB-B4D6-D6E4128FCB4F}" styleName="Table_0">
    <a:wholeTbl>
      <a:tcStyle>
        <a:tcBdr>
          <a:left>
            <a:ln cap="flat" cmpd="sng" w="9525">
              <a:solidFill>
                <a:srgbClr val="9E9E9E"/>
              </a:solidFill>
              <a:prstDash val="solid"/>
              <a:round/>
              <a:headEnd len="med" w="med" type="none"/>
              <a:tailEnd len="med" w="med" type="none"/>
            </a:ln>
          </a:left>
          <a:right>
            <a:ln cap="flat" cmpd="sng" w="9525">
              <a:solidFill>
                <a:srgbClr val="9E9E9E"/>
              </a:solidFill>
              <a:prstDash val="solid"/>
              <a:round/>
              <a:headEnd len="med" w="med" type="none"/>
              <a:tailEnd len="med" w="med" type="none"/>
            </a:ln>
          </a:right>
          <a:top>
            <a:ln cap="flat" cmpd="sng" w="9525">
              <a:solidFill>
                <a:srgbClr val="9E9E9E"/>
              </a:solidFill>
              <a:prstDash val="solid"/>
              <a:round/>
              <a:headEnd len="med" w="med" type="none"/>
              <a:tailEnd len="med" w="med" type="none"/>
            </a:ln>
          </a:top>
          <a:bottom>
            <a:ln cap="flat" cmpd="sng" w="9525">
              <a:solidFill>
                <a:srgbClr val="9E9E9E"/>
              </a:solidFill>
              <a:prstDash val="solid"/>
              <a:round/>
              <a:headEnd len="med" w="med" type="none"/>
              <a:tailEnd len="med" w="med" type="none"/>
            </a:ln>
          </a:bottom>
          <a:insideH>
            <a:ln cap="flat" cmpd="sng" w="9525">
              <a:solidFill>
                <a:srgbClr val="9E9E9E"/>
              </a:solidFill>
              <a:prstDash val="solid"/>
              <a:round/>
              <a:headEnd len="med" w="med" type="none"/>
              <a:tailEnd len="med" w="med" type="none"/>
            </a:ln>
          </a:insideH>
          <a:insideV>
            <a:ln cap="flat" cmpd="sng" w="9525">
              <a:solidFill>
                <a:srgbClr val="9E9E9E"/>
              </a:solidFill>
              <a:prstDash val="solid"/>
              <a:round/>
              <a:headEnd len="med" w="med" type="none"/>
              <a:tailEnd len="med" w="med" type="none"/>
            </a:ln>
          </a:insideV>
        </a:tcBdr>
      </a:tcStyle>
    </a:wholeTb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OldStandardTT-bold.fntdata"/><Relationship Id="rId30" Type="http://schemas.openxmlformats.org/officeDocument/2006/relationships/font" Target="fonts/OldStandardTT-regular.fntdata"/><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font" Target="fonts/OldStandardTT-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 name="Shape 2"/>
        <p:cNvGrpSpPr/>
        <p:nvPr/>
      </p:nvGrpSpPr>
      <p:grpSpPr>
        <a:xfrm>
          <a:off x="0" y="0"/>
          <a:ext cx="0" cy="0"/>
          <a:chOff x="0" y="0"/>
          <a:chExt cx="0" cy="0"/>
        </a:xfrm>
      </p:grpSpPr>
      <p:sp>
        <p:nvSpPr>
          <p:cNvPr id="3" name="Shape 3"/>
          <p:cNvSpPr/>
          <p:nvPr>
            <p:ph idx="2" type="sldImg"/>
          </p:nvPr>
        </p:nvSpPr>
        <p:spPr>
          <a:xfrm>
            <a:off x="381300" y="685800"/>
            <a:ext cx="6096075"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4" name="Shape 4"/>
          <p:cNvSpPr txBox="1"/>
          <p:nvPr>
            <p:ph idx="1" type="body"/>
          </p:nvPr>
        </p:nvSpPr>
        <p:spPr>
          <a:xfrm>
            <a:off x="685800" y="4343400"/>
            <a:ext cx="5486399" cy="4114800"/>
          </a:xfrm>
          <a:prstGeom prst="rect">
            <a:avLst/>
          </a:prstGeom>
          <a:noFill/>
          <a:ln>
            <a:noFill/>
          </a:ln>
        </p:spPr>
        <p:txBody>
          <a:bodyPr anchorCtr="0" anchor="t" bIns="91425" lIns="91425" rIns="91425" tIns="91425"/>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p:txBody>
      </p:sp>
    </p:spTree>
  </p:cSld>
  <p:clrMap accent1="accent1" accent2="accent2" accent3="accent3" accent4="accent4" accent5="accent5" accent6="accent6" bg1="lt1" bg2="dk2" tx1="dk1" tx2="lt2" folHlink="folHlink" hlink="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55" name="Shape 55"/>
        <p:cNvGrpSpPr/>
        <p:nvPr/>
      </p:nvGrpSpPr>
      <p:grpSpPr>
        <a:xfrm>
          <a:off x="0" y="0"/>
          <a:ext cx="0" cy="0"/>
          <a:chOff x="0" y="0"/>
          <a:chExt cx="0" cy="0"/>
        </a:xfrm>
      </p:grpSpPr>
      <p:sp>
        <p:nvSpPr>
          <p:cNvPr id="56" name="Shape 56"/>
          <p:cNvSpPr/>
          <p:nvPr>
            <p:ph idx="2" type="sldImg"/>
          </p:nvPr>
        </p:nvSpPr>
        <p:spPr>
          <a:xfrm>
            <a:off x="381187" y="685800"/>
            <a:ext cx="6096299" cy="3429000"/>
          </a:xfrm>
          <a:custGeom>
            <a:pathLst>
              <a:path extrusionOk="0" h="120000" w="120000">
                <a:moveTo>
                  <a:pt x="0" y="0"/>
                </a:moveTo>
                <a:lnTo>
                  <a:pt x="120000" y="0"/>
                </a:lnTo>
                <a:lnTo>
                  <a:pt x="120000" y="120000"/>
                </a:lnTo>
                <a:lnTo>
                  <a:pt x="0" y="120000"/>
                </a:lnTo>
                <a:close/>
              </a:path>
            </a:pathLst>
          </a:custGeom>
        </p:spPr>
      </p:sp>
      <p:sp>
        <p:nvSpPr>
          <p:cNvPr id="57" name="Shape 57"/>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61" name="Shape 61"/>
        <p:cNvGrpSpPr/>
        <p:nvPr/>
      </p:nvGrpSpPr>
      <p:grpSpPr>
        <a:xfrm>
          <a:off x="0" y="0"/>
          <a:ext cx="0" cy="0"/>
          <a:chOff x="0" y="0"/>
          <a:chExt cx="0" cy="0"/>
        </a:xfrm>
      </p:grpSpPr>
      <p:sp>
        <p:nvSpPr>
          <p:cNvPr id="62" name="Shape 62"/>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63" name="Shape 63"/>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rPr lang="en">
                <a:solidFill>
                  <a:schemeClr val="dk1"/>
                </a:solidFill>
              </a:rPr>
              <a:t>Nowadays, we are discovering that biology is more and more complicated. We need more advanced math to understand it. </a:t>
            </a:r>
          </a:p>
          <a:p>
            <a:pPr lvl="0">
              <a:spcBef>
                <a:spcPts val="0"/>
              </a:spcBef>
              <a:buNone/>
            </a:pPr>
            <a:r>
              <a:t/>
            </a:r>
            <a:endParaRPr>
              <a:solidFill>
                <a:schemeClr val="dk1"/>
              </a:solidFill>
            </a:endParaRPr>
          </a:p>
          <a:p>
            <a:pPr lvl="0" rtl="0">
              <a:spcBef>
                <a:spcPts val="0"/>
              </a:spcBef>
              <a:buClr>
                <a:schemeClr val="dk1"/>
              </a:buClr>
              <a:buSzPct val="100000"/>
              <a:buFont typeface="Arial"/>
              <a:buNone/>
            </a:pPr>
            <a:r>
              <a:rPr lang="en">
                <a:solidFill>
                  <a:schemeClr val="dk1"/>
                </a:solidFill>
              </a:rPr>
              <a:t>This paper gives an overview of how we’ve used math to understand biology in the past, how we’re using it to understand it in the present, and hopefully how we’ll use it in the future as well.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67" name="Shape 67"/>
        <p:cNvGrpSpPr/>
        <p:nvPr/>
      </p:nvGrpSpPr>
      <p:grpSpPr>
        <a:xfrm>
          <a:off x="0" y="0"/>
          <a:ext cx="0" cy="0"/>
          <a:chOff x="0" y="0"/>
          <a:chExt cx="0" cy="0"/>
        </a:xfrm>
      </p:grpSpPr>
      <p:sp>
        <p:nvSpPr>
          <p:cNvPr id="68" name="Shape 68"/>
          <p:cNvSpPr/>
          <p:nvPr>
            <p:ph idx="2" type="sldImg"/>
          </p:nvPr>
        </p:nvSpPr>
        <p:spPr>
          <a:xfrm>
            <a:off x="381187" y="685800"/>
            <a:ext cx="6096299" cy="3429000"/>
          </a:xfrm>
          <a:custGeom>
            <a:pathLst>
              <a:path extrusionOk="0" h="120000" w="120000">
                <a:moveTo>
                  <a:pt x="0" y="0"/>
                </a:moveTo>
                <a:lnTo>
                  <a:pt x="120000" y="0"/>
                </a:lnTo>
                <a:lnTo>
                  <a:pt x="120000" y="120000"/>
                </a:lnTo>
                <a:lnTo>
                  <a:pt x="0" y="120000"/>
                </a:lnTo>
                <a:close/>
              </a:path>
            </a:pathLst>
          </a:custGeom>
        </p:spPr>
      </p:sp>
      <p:sp>
        <p:nvSpPr>
          <p:cNvPr id="69" name="Shape 69"/>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72" name="Shape 72"/>
        <p:cNvGrpSpPr/>
        <p:nvPr/>
      </p:nvGrpSpPr>
      <p:grpSpPr>
        <a:xfrm>
          <a:off x="0" y="0"/>
          <a:ext cx="0" cy="0"/>
          <a:chOff x="0" y="0"/>
          <a:chExt cx="0" cy="0"/>
        </a:xfrm>
      </p:grpSpPr>
      <p:sp>
        <p:nvSpPr>
          <p:cNvPr id="73" name="Shape 73"/>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74" name="Shape 74"/>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rPr lang="en"/>
              <a:t>Here are some examples of how mathematics has been applied to biology in the past. As you can see, it was often used to model things like gene frequencies, population growth, and how species interact.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78" name="Shape 78"/>
        <p:cNvGrpSpPr/>
        <p:nvPr/>
      </p:nvGrpSpPr>
      <p:grpSpPr>
        <a:xfrm>
          <a:off x="0" y="0"/>
          <a:ext cx="0" cy="0"/>
          <a:chOff x="0" y="0"/>
          <a:chExt cx="0" cy="0"/>
        </a:xfrm>
      </p:grpSpPr>
      <p:sp>
        <p:nvSpPr>
          <p:cNvPr id="79" name="Shape 79"/>
          <p:cNvSpPr/>
          <p:nvPr>
            <p:ph idx="2" type="sldImg"/>
          </p:nvPr>
        </p:nvSpPr>
        <p:spPr>
          <a:xfrm>
            <a:off x="381187" y="685800"/>
            <a:ext cx="6096299" cy="3429000"/>
          </a:xfrm>
          <a:custGeom>
            <a:pathLst>
              <a:path extrusionOk="0" h="120000" w="120000">
                <a:moveTo>
                  <a:pt x="0" y="0"/>
                </a:moveTo>
                <a:lnTo>
                  <a:pt x="120000" y="0"/>
                </a:lnTo>
                <a:lnTo>
                  <a:pt x="120000" y="120000"/>
                </a:lnTo>
                <a:lnTo>
                  <a:pt x="0" y="120000"/>
                </a:lnTo>
                <a:close/>
              </a:path>
            </a:pathLst>
          </a:custGeom>
        </p:spPr>
      </p:sp>
      <p:sp>
        <p:nvSpPr>
          <p:cNvPr id="80" name="Shape 80"/>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rPr lang="en"/>
              <a:t>It was mentioned in the paper, but not discussed. So to give an example of this, Hardy and Weinberg used math to model different allele frequencies in a population using the binomial distribution function. They said that if a population met the 5 conditions that they defined </a:t>
            </a:r>
            <a:r>
              <a:rPr lang="en">
                <a:solidFill>
                  <a:schemeClr val="dk1"/>
                </a:solidFill>
              </a:rPr>
              <a:t>(e.g. no migration into the population and random mating), then the allele frequencies wouldn’t change over time. This is important because it helps us see how the proportion of different traits, such as blue or brown eyes, can stay constant or change over time.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86" name="Shape 86"/>
        <p:cNvGrpSpPr/>
        <p:nvPr/>
      </p:nvGrpSpPr>
      <p:grpSpPr>
        <a:xfrm>
          <a:off x="0" y="0"/>
          <a:ext cx="0" cy="0"/>
          <a:chOff x="0" y="0"/>
          <a:chExt cx="0" cy="0"/>
        </a:xfrm>
      </p:grpSpPr>
      <p:sp>
        <p:nvSpPr>
          <p:cNvPr id="87" name="Shape 87"/>
          <p:cNvSpPr/>
          <p:nvPr>
            <p:ph idx="2" type="sldImg"/>
          </p:nvPr>
        </p:nvSpPr>
        <p:spPr>
          <a:xfrm>
            <a:off x="381187" y="685800"/>
            <a:ext cx="6096299" cy="3429000"/>
          </a:xfrm>
          <a:custGeom>
            <a:pathLst>
              <a:path extrusionOk="0" h="120000" w="120000">
                <a:moveTo>
                  <a:pt x="0" y="0"/>
                </a:moveTo>
                <a:lnTo>
                  <a:pt x="120000" y="0"/>
                </a:lnTo>
                <a:lnTo>
                  <a:pt x="120000" y="120000"/>
                </a:lnTo>
                <a:lnTo>
                  <a:pt x="0" y="120000"/>
                </a:lnTo>
                <a:close/>
              </a:path>
            </a:pathLst>
          </a:custGeom>
        </p:spPr>
      </p:sp>
      <p:sp>
        <p:nvSpPr>
          <p:cNvPr id="88" name="Shape 88"/>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rPr lang="en"/>
              <a:t>And the following four examples are in the paper. The first is William Harvey. He is most famous for showing that blood circulates throughout the body and for disproving the theory that were were two kinds of blood. Using metrics such as how fast the heart beat, how much blood the heart could hold, Harvey at one point found that the amount of blood coming out of a ventricle was 27 liters/hour. But he knew humans had 5 and a half liters of blood, which means that the blood had to be circulating - which means there had to be something connecting the arteries and veins, later known as capillaries. It was just mathematical intuition at the time, but he was right.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93" name="Shape 93"/>
        <p:cNvGrpSpPr/>
        <p:nvPr/>
      </p:nvGrpSpPr>
      <p:grpSpPr>
        <a:xfrm>
          <a:off x="0" y="0"/>
          <a:ext cx="0" cy="0"/>
          <a:chOff x="0" y="0"/>
          <a:chExt cx="0" cy="0"/>
        </a:xfrm>
      </p:grpSpPr>
      <p:sp>
        <p:nvSpPr>
          <p:cNvPr id="94" name="Shape 94"/>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95" name="Shape 95"/>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rPr lang="en"/>
              <a:t>Now I’m gonna talk a little bit about how advances in three areas of math also helped further advances in biology as well.</a:t>
            </a:r>
          </a:p>
          <a:p>
            <a:pPr lvl="0">
              <a:spcBef>
                <a:spcPts val="0"/>
              </a:spcBef>
              <a:buNone/>
            </a:pPr>
            <a:r>
              <a:rPr lang="en"/>
              <a:t>The coordinate system developed by Descartes has many everyday uses in graphing to represent biological data. And the discovery of non-Euclidean geometries have helped us do things like map the brain onto 2D plots.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00" name="Shape 100"/>
        <p:cNvGrpSpPr/>
        <p:nvPr/>
      </p:nvGrpSpPr>
      <p:grpSpPr>
        <a:xfrm>
          <a:off x="0" y="0"/>
          <a:ext cx="0" cy="0"/>
          <a:chOff x="0" y="0"/>
          <a:chExt cx="0" cy="0"/>
        </a:xfrm>
      </p:grpSpPr>
      <p:sp>
        <p:nvSpPr>
          <p:cNvPr id="101" name="Shape 101"/>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02" name="Shape 102"/>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rPr lang="en"/>
              <a:t>The symmetries of groups of equations and group theory was used to look at the structure of crystals. And matrices were used to understand population dynamics over time.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07" name="Shape 107"/>
        <p:cNvGrpSpPr/>
        <p:nvPr/>
      </p:nvGrpSpPr>
      <p:grpSpPr>
        <a:xfrm>
          <a:off x="0" y="0"/>
          <a:ext cx="0" cy="0"/>
          <a:chOff x="0" y="0"/>
          <a:chExt cx="0" cy="0"/>
        </a:xfrm>
      </p:grpSpPr>
      <p:sp>
        <p:nvSpPr>
          <p:cNvPr id="108" name="Shape 108"/>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09" name="Shape 109"/>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rPr lang="en"/>
              <a:t>And finally, calculus, diff eq’s, probability theory were used to make even more complex advances in biology that we talked about earlier in the table we put up.</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14" name="Shape 114"/>
        <p:cNvGrpSpPr/>
        <p:nvPr/>
      </p:nvGrpSpPr>
      <p:grpSpPr>
        <a:xfrm>
          <a:off x="0" y="0"/>
          <a:ext cx="0" cy="0"/>
          <a:chOff x="0" y="0"/>
          <a:chExt cx="0" cy="0"/>
        </a:xfrm>
      </p:grpSpPr>
      <p:sp>
        <p:nvSpPr>
          <p:cNvPr id="115" name="Shape 115"/>
          <p:cNvSpPr/>
          <p:nvPr>
            <p:ph idx="2" type="sldImg"/>
          </p:nvPr>
        </p:nvSpPr>
        <p:spPr>
          <a:xfrm>
            <a:off x="381187" y="685800"/>
            <a:ext cx="6096299" cy="3429000"/>
          </a:xfrm>
          <a:custGeom>
            <a:pathLst>
              <a:path extrusionOk="0" h="120000" w="120000">
                <a:moveTo>
                  <a:pt x="0" y="0"/>
                </a:moveTo>
                <a:lnTo>
                  <a:pt x="120000" y="0"/>
                </a:lnTo>
                <a:lnTo>
                  <a:pt x="120000" y="120000"/>
                </a:lnTo>
                <a:lnTo>
                  <a:pt x="0" y="120000"/>
                </a:lnTo>
                <a:close/>
              </a:path>
            </a:pathLst>
          </a:custGeom>
        </p:spPr>
      </p:sp>
      <p:sp>
        <p:nvSpPr>
          <p:cNvPr id="116" name="Shape 116"/>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rPr lang="en"/>
              <a:t>In order to accurately predict the future of applied math and biology, Cohen believes that we should look at the present state of these fields </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19" name="Shape 119"/>
        <p:cNvGrpSpPr/>
        <p:nvPr/>
      </p:nvGrpSpPr>
      <p:grpSpPr>
        <a:xfrm>
          <a:off x="0" y="0"/>
          <a:ext cx="0" cy="0"/>
          <a:chOff x="0" y="0"/>
          <a:chExt cx="0" cy="0"/>
        </a:xfrm>
      </p:grpSpPr>
      <p:sp>
        <p:nvSpPr>
          <p:cNvPr id="120" name="Shape 120"/>
          <p:cNvSpPr/>
          <p:nvPr>
            <p:ph idx="2" type="sldImg"/>
          </p:nvPr>
        </p:nvSpPr>
        <p:spPr>
          <a:xfrm>
            <a:off x="381187" y="685800"/>
            <a:ext cx="6096299" cy="3429000"/>
          </a:xfrm>
          <a:custGeom>
            <a:pathLst>
              <a:path extrusionOk="0" h="120000" w="120000">
                <a:moveTo>
                  <a:pt x="0" y="0"/>
                </a:moveTo>
                <a:lnTo>
                  <a:pt x="120000" y="0"/>
                </a:lnTo>
                <a:lnTo>
                  <a:pt x="120000" y="120000"/>
                </a:lnTo>
                <a:lnTo>
                  <a:pt x="0" y="120000"/>
                </a:lnTo>
                <a:close/>
              </a:path>
            </a:pathLst>
          </a:custGeom>
        </p:spPr>
      </p:sp>
      <p:sp>
        <p:nvSpPr>
          <p:cNvPr id="121" name="Shape 121"/>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rPr lang="en"/>
              <a:t>The current field of biology can be viewed as a rectangular table</a:t>
            </a:r>
          </a:p>
          <a:p>
            <a:pPr lvl="0">
              <a:spcBef>
                <a:spcPts val="0"/>
              </a:spcBef>
              <a:buNone/>
            </a:pPr>
            <a:r>
              <a:rPr lang="en"/>
              <a:t>With the rows being: different questions</a:t>
            </a:r>
          </a:p>
          <a:p>
            <a:pPr lvl="0">
              <a:spcBef>
                <a:spcPts val="0"/>
              </a:spcBef>
              <a:buNone/>
            </a:pPr>
            <a:r>
              <a:rPr lang="en"/>
              <a:t>Columns: different biological domains,</a:t>
            </a:r>
          </a:p>
          <a:p>
            <a:pPr indent="0" lvl="0" marL="457200" rtl="0">
              <a:spcBef>
                <a:spcPts val="0"/>
              </a:spcBef>
              <a:buNone/>
            </a:pPr>
            <a:r>
              <a:rPr lang="en"/>
              <a:t>being either: molecular, cells, tissues, organs, individuals, populations, communities, ecosystems, landscapes or biosphere</a:t>
            </a:r>
          </a:p>
          <a:p>
            <a:pPr indent="0" lvl="0" marL="457200" rtl="0">
              <a:spcBef>
                <a:spcPts val="0"/>
              </a:spcBef>
              <a:buNone/>
            </a:pPr>
            <a:r>
              <a:t/>
            </a:r>
            <a:endParaRPr/>
          </a:p>
          <a:p>
            <a:pPr indent="0" lvl="0" marL="0" rtl="0">
              <a:spcBef>
                <a:spcPts val="0"/>
              </a:spcBef>
              <a:buNone/>
            </a:pPr>
            <a:r>
              <a:rPr lang="en"/>
              <a:t>It can be further divided in time, which can range from milliseconds to billions of years, and space, which can vary from molecular to cosmic.</a:t>
            </a:r>
          </a:p>
          <a:p>
            <a:pPr indent="0" lvl="0" marL="0" rtl="0">
              <a:spcBef>
                <a:spcPts val="0"/>
              </a:spcBef>
              <a:buNone/>
            </a:pPr>
            <a:r>
              <a:t/>
            </a:r>
            <a:endParaRPr/>
          </a:p>
          <a:p>
            <a:pPr indent="0" lvl="0" marL="0" rtl="0">
              <a:spcBef>
                <a:spcPts val="0"/>
              </a:spcBef>
              <a:buNone/>
            </a:pPr>
            <a:r>
              <a:t/>
            </a:r>
            <a:endParaRPr/>
          </a:p>
          <a:p>
            <a:pPr indent="0" lvl="0" marL="0" rtl="0">
              <a:spcBef>
                <a:spcPts val="0"/>
              </a:spcBef>
              <a:buNone/>
            </a:pPr>
            <a:r>
              <a:rPr lang="en"/>
              <a:t>Complexity: subdivision of domains eg different tipes of cells, and interactions vary according time and space</a:t>
            </a:r>
          </a:p>
          <a:p>
            <a:pPr indent="0" lvl="0" marL="0" rtl="0">
              <a:spcBef>
                <a:spcPts val="0"/>
              </a:spcBef>
              <a:buNone/>
            </a:pPr>
            <a:r>
              <a:t/>
            </a:r>
            <a:endParaRPr/>
          </a:p>
          <a:p>
            <a:pPr indent="0" lvl="0" marL="0" rtl="0">
              <a:spcBef>
                <a:spcPts val="0"/>
              </a:spcBef>
              <a:buNone/>
            </a:pPr>
            <a:r>
              <a:t/>
            </a:r>
            <a:endParaRPr/>
          </a:p>
          <a:p>
            <a:pPr indent="457200" lvl="0">
              <a:spcBef>
                <a:spcPts val="0"/>
              </a:spcBef>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36" name="Shape 136"/>
        <p:cNvGrpSpPr/>
        <p:nvPr/>
      </p:nvGrpSpPr>
      <p:grpSpPr>
        <a:xfrm>
          <a:off x="0" y="0"/>
          <a:ext cx="0" cy="0"/>
          <a:chOff x="0" y="0"/>
          <a:chExt cx="0" cy="0"/>
        </a:xfrm>
      </p:grpSpPr>
      <p:sp>
        <p:nvSpPr>
          <p:cNvPr id="137" name="Shape 137"/>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38" name="Shape 138"/>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rPr lang="en"/>
              <a:t>These questions are related to structures, mechanisms, pathologies, repairs, functions and origins </a:t>
            </a:r>
          </a:p>
          <a:p>
            <a:pPr lvl="0">
              <a:spcBef>
                <a:spcPts val="0"/>
              </a:spcBef>
              <a:buNone/>
            </a:pPr>
            <a:r>
              <a:rPr lang="en"/>
              <a:t>In the purpose-related questions: there has been a movement away from </a:t>
            </a:r>
            <a:r>
              <a:rPr lang="en"/>
              <a:t>theological</a:t>
            </a:r>
            <a:r>
              <a:rPr lang="en"/>
              <a:t> views and towards evolutionary perspectives </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42" name="Shape 142"/>
        <p:cNvGrpSpPr/>
        <p:nvPr/>
      </p:nvGrpSpPr>
      <p:grpSpPr>
        <a:xfrm>
          <a:off x="0" y="0"/>
          <a:ext cx="0" cy="0"/>
          <a:chOff x="0" y="0"/>
          <a:chExt cx="0" cy="0"/>
        </a:xfrm>
      </p:grpSpPr>
      <p:sp>
        <p:nvSpPr>
          <p:cNvPr id="143" name="Shape 143"/>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44" name="Shape 144"/>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rPr lang="en"/>
              <a:t>Better represented as a tetrahedron, instead of the previously mentioned matrix</a:t>
            </a:r>
          </a:p>
          <a:p>
            <a:pPr indent="-228600" lvl="0" marL="457200" rtl="0">
              <a:spcBef>
                <a:spcPts val="0"/>
              </a:spcBef>
              <a:buAutoNum type="arabicParenR"/>
            </a:pPr>
            <a:r>
              <a:rPr lang="en"/>
              <a:t>Ways to organize data</a:t>
            </a:r>
          </a:p>
          <a:p>
            <a:pPr indent="-228600" lvl="0" marL="457200" rtl="0">
              <a:spcBef>
                <a:spcPts val="0"/>
              </a:spcBef>
              <a:buAutoNum type="arabicParenR"/>
            </a:pPr>
            <a:r>
              <a:rPr lang="en"/>
              <a:t>Procedures for manipulating symbols, either to analyze data or models </a:t>
            </a:r>
          </a:p>
          <a:p>
            <a:pPr indent="-228600" lvl="0" marL="457200" rtl="0">
              <a:spcBef>
                <a:spcPts val="0"/>
              </a:spcBef>
              <a:buAutoNum type="arabicParenR"/>
            </a:pPr>
            <a:r>
              <a:rPr lang="en"/>
              <a:t>Allows the testing against competing theories to determine strength </a:t>
            </a:r>
          </a:p>
          <a:p>
            <a:pPr indent="-228600" lvl="0" marL="457200" rtl="0">
              <a:spcBef>
                <a:spcPts val="0"/>
              </a:spcBef>
              <a:buAutoNum type="arabicParenR"/>
            </a:pPr>
            <a:r>
              <a:rPr lang="en"/>
              <a:t>This is the most visible, but due to increase in easy and cheap computing, and consequent increase in errors in software, technical knowledge is required to bridge the gap between results and understanding</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49" name="Shape 149"/>
        <p:cNvGrpSpPr/>
        <p:nvPr/>
      </p:nvGrpSpPr>
      <p:grpSpPr>
        <a:xfrm>
          <a:off x="0" y="0"/>
          <a:ext cx="0" cy="0"/>
          <a:chOff x="0" y="0"/>
          <a:chExt cx="0" cy="0"/>
        </a:xfrm>
      </p:grpSpPr>
      <p:sp>
        <p:nvSpPr>
          <p:cNvPr id="150" name="Shape 150"/>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51" name="Shape 151"/>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rPr lang="en"/>
              <a:t>This example is used to demonstrate the research combination of biological questions, domains, spatial and time scales along with data structures, algorithms, theories, models and computational methods</a:t>
            </a:r>
          </a:p>
          <a:p>
            <a:pPr lvl="0" rtl="0">
              <a:spcBef>
                <a:spcPts val="0"/>
              </a:spcBef>
              <a:buNone/>
            </a:pPr>
            <a:r>
              <a:t/>
            </a:r>
            <a:endParaRPr/>
          </a:p>
          <a:p>
            <a:pPr lvl="0" rtl="0">
              <a:spcBef>
                <a:spcPts val="0"/>
              </a:spcBef>
              <a:buNone/>
            </a:pPr>
            <a:r>
              <a:rPr lang="en"/>
              <a:t>Individual has cancer</a:t>
            </a:r>
          </a:p>
          <a:p>
            <a:pPr lvl="0" rtl="0">
              <a:spcBef>
                <a:spcPts val="0"/>
              </a:spcBef>
              <a:buNone/>
            </a:pPr>
            <a:r>
              <a:rPr lang="en"/>
              <a:t>Can person’s cancer cells’ gene activities give us info about which treatments are the most effective and which should be avoided?</a:t>
            </a:r>
          </a:p>
          <a:p>
            <a:pPr lvl="0" rtl="0">
              <a:spcBef>
                <a:spcPts val="0"/>
              </a:spcBef>
              <a:buNone/>
            </a:pPr>
            <a:r>
              <a:rPr lang="en"/>
              <a:t>In 2000, Sherf et al: used correlation and clustering algorithms, simple mathematical tools, to </a:t>
            </a:r>
          </a:p>
          <a:p>
            <a:pPr indent="0" lvl="0" marL="0" rtl="0">
              <a:spcBef>
                <a:spcPts val="0"/>
              </a:spcBef>
              <a:buNone/>
            </a:pPr>
            <a:r>
              <a:t/>
            </a:r>
            <a:endParaRPr/>
          </a:p>
          <a:p>
            <a:pPr indent="0" lvl="0" marL="0" rtl="0">
              <a:spcBef>
                <a:spcPts val="0"/>
              </a:spcBef>
              <a:buNone/>
            </a:pPr>
            <a:r>
              <a:t/>
            </a:r>
            <a:endParaRPr/>
          </a:p>
          <a:p>
            <a:pPr lvl="0" rtl="0">
              <a:spcBef>
                <a:spcPts val="0"/>
              </a:spcBef>
              <a:buNone/>
            </a:pPr>
            <a:r>
              <a:t/>
            </a:r>
            <a:endParaRPr/>
          </a:p>
          <a:p>
            <a:pPr indent="-228600" lvl="0" marL="457200">
              <a:spcBef>
                <a:spcPts val="0"/>
              </a:spcBef>
              <a:buChar char="-"/>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55" name="Shape 155"/>
        <p:cNvGrpSpPr/>
        <p:nvPr/>
      </p:nvGrpSpPr>
      <p:grpSpPr>
        <a:xfrm>
          <a:off x="0" y="0"/>
          <a:ext cx="0" cy="0"/>
          <a:chOff x="0" y="0"/>
          <a:chExt cx="0" cy="0"/>
        </a:xfrm>
      </p:grpSpPr>
      <p:sp>
        <p:nvSpPr>
          <p:cNvPr id="156" name="Shape 156"/>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57" name="Shape 157"/>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Clr>
                <a:schemeClr val="dk1"/>
              </a:buClr>
              <a:buSzPct val="100000"/>
              <a:buFont typeface="Arial"/>
              <a:buNone/>
            </a:pPr>
            <a:r>
              <a:rPr lang="en">
                <a:solidFill>
                  <a:schemeClr val="dk1"/>
                </a:solidFill>
              </a:rPr>
              <a:t>Created two matrices, with the same column headings but different rows labels, using the National cancer institute’s drug discovery program:</a:t>
            </a:r>
          </a:p>
          <a:p>
            <a:pPr indent="-228600" lvl="0" marL="457200" rtl="0">
              <a:spcBef>
                <a:spcPts val="0"/>
              </a:spcBef>
              <a:buClr>
                <a:schemeClr val="dk1"/>
              </a:buClr>
              <a:buAutoNum type="arabicParenR"/>
            </a:pPr>
            <a:r>
              <a:rPr lang="en">
                <a:solidFill>
                  <a:schemeClr val="dk1"/>
                </a:solidFill>
              </a:rPr>
              <a:t>Target matrix : for gene expression</a:t>
            </a:r>
          </a:p>
          <a:p>
            <a:pPr indent="-228600" lvl="0" marL="457200" rtl="0">
              <a:spcBef>
                <a:spcPts val="0"/>
              </a:spcBef>
              <a:buClr>
                <a:schemeClr val="dk1"/>
              </a:buClr>
              <a:buAutoNum type="arabicParenR"/>
            </a:pPr>
            <a:r>
              <a:rPr lang="en">
                <a:solidFill>
                  <a:schemeClr val="dk1"/>
                </a:solidFill>
              </a:rPr>
              <a:t>Drug activity matrix </a:t>
            </a:r>
          </a:p>
          <a:p>
            <a:pPr lvl="0">
              <a:spcBef>
                <a:spcPts val="0"/>
              </a:spcBef>
              <a:buClr>
                <a:schemeClr val="dk1"/>
              </a:buClr>
              <a:buSzPct val="100000"/>
              <a:buFont typeface="Arial"/>
              <a:buNone/>
            </a:pPr>
            <a:r>
              <a:t/>
            </a:r>
            <a:endParaRPr>
              <a:solidFill>
                <a:schemeClr val="dk1"/>
              </a:solidFill>
            </a:endParaRPr>
          </a:p>
          <a:p>
            <a:pPr lvl="0">
              <a:spcBef>
                <a:spcPts val="0"/>
              </a:spcBef>
              <a:buClr>
                <a:schemeClr val="dk1"/>
              </a:buClr>
              <a:buSzPct val="100000"/>
              <a:buFont typeface="Arial"/>
              <a:buNone/>
            </a:pPr>
            <a:r>
              <a:rPr lang="en">
                <a:solidFill>
                  <a:schemeClr val="dk1"/>
                </a:solidFill>
              </a:rPr>
              <a:t>Using these two matrices they calculated all 5 sets of correlation:</a:t>
            </a:r>
          </a:p>
          <a:p>
            <a:pPr indent="-228600" lvl="0" marL="457200" rtl="0">
              <a:spcBef>
                <a:spcPts val="0"/>
              </a:spcBef>
              <a:buClr>
                <a:schemeClr val="dk1"/>
              </a:buClr>
              <a:buAutoNum type="arabicParenR"/>
            </a:pPr>
            <a:r>
              <a:rPr lang="en">
                <a:solidFill>
                  <a:schemeClr val="dk1"/>
                </a:solidFill>
              </a:rPr>
              <a:t>The columns of activity matrix: which showed clustering of cell lines according to similar response to drugs</a:t>
            </a:r>
          </a:p>
          <a:p>
            <a:pPr indent="-228600" lvl="0" marL="457200" rtl="0">
              <a:spcBef>
                <a:spcPts val="0"/>
              </a:spcBef>
              <a:buClr>
                <a:schemeClr val="dk1"/>
              </a:buClr>
              <a:buAutoNum type="arabicParenR"/>
            </a:pPr>
            <a:r>
              <a:rPr lang="en">
                <a:solidFill>
                  <a:schemeClr val="dk1"/>
                </a:solidFill>
              </a:rPr>
              <a:t>Target matrix columns: showed clustering of cell lines according to similar gene expression </a:t>
            </a:r>
          </a:p>
          <a:p>
            <a:pPr indent="-228600" lvl="0" marL="457200" rtl="0">
              <a:spcBef>
                <a:spcPts val="0"/>
              </a:spcBef>
              <a:buClr>
                <a:schemeClr val="dk1"/>
              </a:buClr>
              <a:buAutoNum type="arabicParenR"/>
            </a:pPr>
            <a:r>
              <a:rPr lang="en">
                <a:solidFill>
                  <a:schemeClr val="dk1"/>
                </a:solidFill>
              </a:rPr>
              <a:t>The rows of the activity matrix: showed clustering of drugs according to activity patterns across cell lines</a:t>
            </a:r>
          </a:p>
          <a:p>
            <a:pPr indent="-228600" lvl="0" marL="457200" rtl="0">
              <a:spcBef>
                <a:spcPts val="0"/>
              </a:spcBef>
              <a:buClr>
                <a:schemeClr val="dk1"/>
              </a:buClr>
              <a:buAutoNum type="arabicParenR"/>
            </a:pPr>
            <a:r>
              <a:rPr lang="en">
                <a:solidFill>
                  <a:schemeClr val="dk1"/>
                </a:solidFill>
              </a:rPr>
              <a:t>The rows of target matrix: clustering of genes according to the pattern of mRNA expressed across cell lines</a:t>
            </a:r>
          </a:p>
          <a:p>
            <a:pPr indent="-228600" lvl="0" marL="457200" rtl="0">
              <a:spcBef>
                <a:spcPts val="0"/>
              </a:spcBef>
              <a:buClr>
                <a:schemeClr val="dk1"/>
              </a:buClr>
              <a:buAutoNum type="arabicParenR"/>
            </a:pPr>
            <a:r>
              <a:rPr lang="en">
                <a:solidFill>
                  <a:schemeClr val="dk1"/>
                </a:solidFill>
              </a:rPr>
              <a:t>Rows of activity matrix and rows of target matrix: showed the positive or negative correlation  of drug activity with gene expression</a:t>
            </a:r>
          </a:p>
          <a:p>
            <a:pPr indent="-228600" lvl="1" marL="914400" rtl="0">
              <a:spcBef>
                <a:spcPts val="0"/>
              </a:spcBef>
              <a:buClr>
                <a:schemeClr val="dk1"/>
              </a:buClr>
              <a:buAutoNum type="alphaLcParenR"/>
            </a:pPr>
            <a:r>
              <a:rPr lang="en">
                <a:solidFill>
                  <a:schemeClr val="dk1"/>
                </a:solidFill>
              </a:rPr>
              <a:t>positive : higher gene expression across cell lines, higher efficacy of drug  in suppressing this activity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61" name="Shape 161"/>
        <p:cNvGrpSpPr/>
        <p:nvPr/>
      </p:nvGrpSpPr>
      <p:grpSpPr>
        <a:xfrm>
          <a:off x="0" y="0"/>
          <a:ext cx="0" cy="0"/>
          <a:chOff x="0" y="0"/>
          <a:chExt cx="0" cy="0"/>
        </a:xfrm>
      </p:grpSpPr>
      <p:sp>
        <p:nvSpPr>
          <p:cNvPr id="162" name="Shape 162"/>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63" name="Shape 163"/>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rPr lang="en"/>
              <a:t>The results of the study is summarised in this picture above: called clustering image map </a:t>
            </a:r>
          </a:p>
          <a:p>
            <a:pPr lvl="0">
              <a:spcBef>
                <a:spcPts val="0"/>
              </a:spcBef>
              <a:buNone/>
            </a:pPr>
            <a:r>
              <a:rPr lang="en"/>
              <a:t>Plots: gene-expression-drug activity correlation </a:t>
            </a:r>
          </a:p>
          <a:p>
            <a:pPr lvl="0">
              <a:spcBef>
                <a:spcPts val="0"/>
              </a:spcBef>
              <a:buNone/>
            </a:pPr>
            <a:r>
              <a:rPr lang="en"/>
              <a:t>The horizontal axis: clustered genes </a:t>
            </a:r>
          </a:p>
          <a:p>
            <a:pPr lvl="0">
              <a:spcBef>
                <a:spcPts val="0"/>
              </a:spcBef>
              <a:buNone/>
            </a:pPr>
            <a:r>
              <a:rPr lang="en"/>
              <a:t>v</a:t>
            </a:r>
            <a:r>
              <a:rPr lang="en"/>
              <a:t>ertical  axis: clustered drugs, only those with known function </a:t>
            </a:r>
          </a:p>
          <a:p>
            <a:pPr lvl="0">
              <a:spcBef>
                <a:spcPts val="0"/>
              </a:spcBef>
              <a:buNone/>
            </a:pPr>
            <a:r>
              <a:rPr lang="en"/>
              <a:t>Therefore: if a person’s cancer cells show high expression in a specific gene and that gene has a positive correlation with drug activity. Then that gene can be used as a marker for tumor cells likely to be effectively inhibited by that specific drug.</a:t>
            </a:r>
          </a:p>
          <a:p>
            <a:pPr lvl="0">
              <a:spcBef>
                <a:spcPts val="0"/>
              </a:spcBef>
              <a:buNone/>
            </a:pPr>
            <a:r>
              <a:rPr lang="en"/>
              <a:t>On the other hand if the correlation is negative between gene and drug activity, then this gene might indicate that the drug is ineffective. </a:t>
            </a:r>
          </a:p>
          <a:p>
            <a:pPr lvl="0">
              <a:spcBef>
                <a:spcPts val="0"/>
              </a:spcBef>
              <a:buNone/>
            </a:pPr>
            <a:r>
              <a:rPr lang="en"/>
              <a:t>This model provides us with useful hypothesis that require further testing </a:t>
            </a:r>
          </a:p>
          <a:p>
            <a:pPr lvl="0">
              <a:spcBef>
                <a:spcPts val="0"/>
              </a:spcBef>
              <a:buNone/>
            </a:pPr>
            <a:r>
              <a:rPr lang="en"/>
              <a:t>This method highlights a way of organizing and analyzing from </a:t>
            </a:r>
            <a:r>
              <a:rPr lang="en"/>
              <a:t>multiple</a:t>
            </a:r>
            <a:r>
              <a:rPr lang="en"/>
              <a:t> observations and it shows the importance of math in extracting meaning. </a:t>
            </a:r>
          </a:p>
          <a:p>
            <a:pPr lvl="0">
              <a:spcBef>
                <a:spcPts val="0"/>
              </a:spcBef>
              <a:buNone/>
            </a:pPr>
            <a:r>
              <a:t/>
            </a:r>
            <a:endParaRPr/>
          </a:p>
          <a:p>
            <a:pPr lvl="0">
              <a:spcBef>
                <a:spcPts val="0"/>
              </a:spcBef>
              <a:buNone/>
            </a:pPr>
            <a:r>
              <a:t/>
            </a:r>
            <a:endParaRPr/>
          </a:p>
          <a:p>
            <a:pPr lvl="0">
              <a:spcBef>
                <a:spcPts val="0"/>
              </a:spcBef>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67" name="Shape 167"/>
        <p:cNvGrpSpPr/>
        <p:nvPr/>
      </p:nvGrpSpPr>
      <p:grpSpPr>
        <a:xfrm>
          <a:off x="0" y="0"/>
          <a:ext cx="0" cy="0"/>
          <a:chOff x="0" y="0"/>
          <a:chExt cx="0" cy="0"/>
        </a:xfrm>
      </p:grpSpPr>
      <p:sp>
        <p:nvSpPr>
          <p:cNvPr id="168" name="Shape 168"/>
          <p:cNvSpPr/>
          <p:nvPr>
            <p:ph idx="2" type="sldImg"/>
          </p:nvPr>
        </p:nvSpPr>
        <p:spPr>
          <a:xfrm>
            <a:off x="381187" y="685800"/>
            <a:ext cx="6096299" cy="3429000"/>
          </a:xfrm>
          <a:custGeom>
            <a:pathLst>
              <a:path extrusionOk="0" h="120000" w="120000">
                <a:moveTo>
                  <a:pt x="0" y="0"/>
                </a:moveTo>
                <a:lnTo>
                  <a:pt x="120000" y="0"/>
                </a:lnTo>
                <a:lnTo>
                  <a:pt x="120000" y="120000"/>
                </a:lnTo>
                <a:lnTo>
                  <a:pt x="0" y="120000"/>
                </a:lnTo>
                <a:close/>
              </a:path>
            </a:pathLst>
          </a:custGeom>
        </p:spPr>
      </p:sp>
      <p:sp>
        <p:nvSpPr>
          <p:cNvPr id="169" name="Shape 169"/>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rPr lang="en"/>
              <a:t>Cohen discusses the potential for mathematics and biology and the contributions mathematics can make in answering complex biological questions. </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72" name="Shape 172"/>
        <p:cNvGrpSpPr/>
        <p:nvPr/>
      </p:nvGrpSpPr>
      <p:grpSpPr>
        <a:xfrm>
          <a:off x="0" y="0"/>
          <a:ext cx="0" cy="0"/>
          <a:chOff x="0" y="0"/>
          <a:chExt cx="0" cy="0"/>
        </a:xfrm>
      </p:grpSpPr>
      <p:sp>
        <p:nvSpPr>
          <p:cNvPr id="173" name="Shape 173"/>
          <p:cNvSpPr/>
          <p:nvPr>
            <p:ph idx="2" type="sldImg"/>
          </p:nvPr>
        </p:nvSpPr>
        <p:spPr>
          <a:xfrm>
            <a:off x="381187" y="685800"/>
            <a:ext cx="6096299" cy="3429000"/>
          </a:xfrm>
          <a:custGeom>
            <a:pathLst>
              <a:path extrusionOk="0" h="120000" w="120000">
                <a:moveTo>
                  <a:pt x="0" y="0"/>
                </a:moveTo>
                <a:lnTo>
                  <a:pt x="120000" y="0"/>
                </a:lnTo>
                <a:lnTo>
                  <a:pt x="120000" y="120000"/>
                </a:lnTo>
                <a:lnTo>
                  <a:pt x="0" y="120000"/>
                </a:lnTo>
                <a:close/>
              </a:path>
            </a:pathLst>
          </a:custGeom>
        </p:spPr>
      </p:sp>
      <p:sp>
        <p:nvSpPr>
          <p:cNvPr id="174" name="Shape 174"/>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rPr lang="en"/>
              <a:t>Certain biological </a:t>
            </a:r>
            <a:r>
              <a:rPr lang="en"/>
              <a:t>questions that advances and discoveries in the field of mathematics can help to address:</a:t>
            </a:r>
          </a:p>
          <a:p>
            <a:pPr indent="-228600" lvl="0" marL="457200" rtl="0">
              <a:spcBef>
                <a:spcPts val="0"/>
              </a:spcBef>
              <a:buAutoNum type="arabicParenR"/>
            </a:pPr>
            <a:r>
              <a:rPr lang="en"/>
              <a:t>Cells and complex networks that will require mathematical models to understand and interpret</a:t>
            </a:r>
          </a:p>
          <a:p>
            <a:pPr indent="-228600" lvl="0" marL="457200" rtl="0">
              <a:spcBef>
                <a:spcPts val="0"/>
              </a:spcBef>
              <a:buAutoNum type="arabicParenR"/>
            </a:pPr>
            <a:r>
              <a:rPr lang="en"/>
              <a:t>Understanding the brain and why we make certain decisions, have unique behaviors, and express emotion </a:t>
            </a:r>
          </a:p>
          <a:p>
            <a:pPr indent="-228600" lvl="0" marL="457200" rtl="0">
              <a:spcBef>
                <a:spcPts val="0"/>
              </a:spcBef>
              <a:buAutoNum type="arabicParenR"/>
            </a:pPr>
            <a:r>
              <a:rPr lang="en"/>
              <a:t>Mapping tree of life relationships such as the transfer of genes, genomes, and prions</a:t>
            </a:r>
          </a:p>
          <a:p>
            <a:pPr indent="-228600" lvl="0" marL="457200" rtl="0">
              <a:spcBef>
                <a:spcPts val="0"/>
              </a:spcBef>
              <a:buAutoNum type="arabicParenR"/>
            </a:pPr>
            <a:r>
              <a:rPr lang="en"/>
              <a:t>Coupling changes within physical spheres with changes in organisms or species on a global or focused scale, such as </a:t>
            </a:r>
            <a:r>
              <a:rPr lang="en">
                <a:solidFill>
                  <a:schemeClr val="dk1"/>
                </a:solidFill>
              </a:rPr>
              <a:t>changes in ocean currents and the effect on</a:t>
            </a:r>
            <a:r>
              <a:rPr lang="en"/>
              <a:t> fish populations in oceans</a:t>
            </a:r>
          </a:p>
          <a:p>
            <a:pPr indent="-228600" lvl="0" marL="457200" rtl="0">
              <a:spcBef>
                <a:spcPts val="0"/>
              </a:spcBef>
              <a:buAutoNum type="arabicParenR"/>
            </a:pPr>
            <a:r>
              <a:rPr lang="en"/>
              <a:t>Detecting deviations in large groups of people or organisms, such as identifying epidemics</a:t>
            </a:r>
          </a:p>
          <a:p>
            <a:pPr lvl="0" rtl="0">
              <a:spcBef>
                <a:spcPts val="0"/>
              </a:spcBef>
              <a:buNone/>
            </a:pPr>
            <a:r>
              <a:rPr lang="en"/>
              <a:t>All of these questions will be aided by complex </a:t>
            </a:r>
            <a:r>
              <a:rPr lang="en">
                <a:solidFill>
                  <a:schemeClr val="dk1"/>
                </a:solidFill>
              </a:rPr>
              <a:t>mathematical approaches. </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79" name="Shape 179"/>
        <p:cNvGrpSpPr/>
        <p:nvPr/>
      </p:nvGrpSpPr>
      <p:grpSpPr>
        <a:xfrm>
          <a:off x="0" y="0"/>
          <a:ext cx="0" cy="0"/>
          <a:chOff x="0" y="0"/>
          <a:chExt cx="0" cy="0"/>
        </a:xfrm>
      </p:grpSpPr>
      <p:sp>
        <p:nvSpPr>
          <p:cNvPr id="180" name="Shape 180"/>
          <p:cNvSpPr/>
          <p:nvPr>
            <p:ph idx="2" type="sldImg"/>
          </p:nvPr>
        </p:nvSpPr>
        <p:spPr>
          <a:xfrm>
            <a:off x="381187" y="685800"/>
            <a:ext cx="6096299" cy="3429000"/>
          </a:xfrm>
          <a:custGeom>
            <a:pathLst>
              <a:path extrusionOk="0" h="120000" w="120000">
                <a:moveTo>
                  <a:pt x="0" y="0"/>
                </a:moveTo>
                <a:lnTo>
                  <a:pt x="120000" y="0"/>
                </a:lnTo>
                <a:lnTo>
                  <a:pt x="120000" y="120000"/>
                </a:lnTo>
                <a:lnTo>
                  <a:pt x="0" y="120000"/>
                </a:lnTo>
                <a:close/>
              </a:path>
            </a:pathLst>
          </a:custGeom>
        </p:spPr>
      </p:sp>
      <p:sp>
        <p:nvSpPr>
          <p:cNvPr id="181" name="Shape 181"/>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rPr lang="en"/>
              <a:t>These discoveries in the field of </a:t>
            </a:r>
            <a:r>
              <a:rPr lang="en">
                <a:solidFill>
                  <a:schemeClr val="dk1"/>
                </a:solidFill>
              </a:rPr>
              <a:t>mathematics will help address biological questions. </a:t>
            </a:r>
          </a:p>
          <a:p>
            <a:pPr indent="-228600" lvl="0" marL="457200" rtl="0">
              <a:spcBef>
                <a:spcPts val="0"/>
              </a:spcBef>
              <a:buAutoNum type="arabicParenR"/>
            </a:pPr>
            <a:r>
              <a:rPr lang="en"/>
              <a:t>Gaining insight into performing computations to better answer proposed questions</a:t>
            </a:r>
          </a:p>
          <a:p>
            <a:pPr indent="-228600" lvl="0" marL="457200" rtl="0">
              <a:spcBef>
                <a:spcPts val="0"/>
              </a:spcBef>
              <a:buAutoNum type="arabicParenR"/>
            </a:pPr>
            <a:r>
              <a:rPr lang="en"/>
              <a:t>Modelling systems with multiple levels will help biology as many biological questions deal with the cell, organ, person, community relationship and interaction</a:t>
            </a:r>
          </a:p>
          <a:p>
            <a:pPr indent="-228600" lvl="0" marL="457200" rtl="0">
              <a:spcBef>
                <a:spcPts val="0"/>
              </a:spcBef>
              <a:buAutoNum type="arabicParenR"/>
            </a:pPr>
            <a:r>
              <a:rPr lang="en"/>
              <a:t>Many biological questions deal with probability, risk, and uncertainty; Cohen discusses whether a new approach to probability is needed to address biological questions</a:t>
            </a:r>
          </a:p>
          <a:p>
            <a:pPr indent="-228600" lvl="0" marL="457200" rtl="0">
              <a:spcBef>
                <a:spcPts val="0"/>
              </a:spcBef>
              <a:buAutoNum type="arabicParenR"/>
            </a:pPr>
            <a:r>
              <a:rPr lang="en"/>
              <a:t>Working on greater understanding of theory behind data analysis and developing new methods of analyzing large databases</a:t>
            </a:r>
          </a:p>
          <a:p>
            <a:pPr indent="-228600" lvl="0" marL="457200" rtl="0">
              <a:spcBef>
                <a:spcPts val="0"/>
              </a:spcBef>
              <a:buAutoNum type="arabicParenR"/>
            </a:pPr>
            <a:r>
              <a:rPr lang="en"/>
              <a:t>Standardize across researchers the presentation and methods of research to help ease comparing data sets and results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86" name="Shape 186"/>
        <p:cNvGrpSpPr/>
        <p:nvPr/>
      </p:nvGrpSpPr>
      <p:grpSpPr>
        <a:xfrm>
          <a:off x="0" y="0"/>
          <a:ext cx="0" cy="0"/>
          <a:chOff x="0" y="0"/>
          <a:chExt cx="0" cy="0"/>
        </a:xfrm>
      </p:grpSpPr>
      <p:sp>
        <p:nvSpPr>
          <p:cNvPr id="187" name="Shape 187"/>
          <p:cNvSpPr/>
          <p:nvPr>
            <p:ph idx="2" type="sldImg"/>
          </p:nvPr>
        </p:nvSpPr>
        <p:spPr>
          <a:xfrm>
            <a:off x="381187" y="685800"/>
            <a:ext cx="6096299" cy="3429000"/>
          </a:xfrm>
          <a:custGeom>
            <a:pathLst>
              <a:path extrusionOk="0" h="120000" w="120000">
                <a:moveTo>
                  <a:pt x="0" y="0"/>
                </a:moveTo>
                <a:lnTo>
                  <a:pt x="120000" y="0"/>
                </a:lnTo>
                <a:lnTo>
                  <a:pt x="120000" y="120000"/>
                </a:lnTo>
                <a:lnTo>
                  <a:pt x="0" y="120000"/>
                </a:lnTo>
                <a:close/>
              </a:path>
            </a:pathLst>
          </a:custGeom>
        </p:spPr>
      </p:sp>
      <p:sp>
        <p:nvSpPr>
          <p:cNvPr id="188" name="Shape 188"/>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Clr>
                <a:schemeClr val="dk1"/>
              </a:buClr>
              <a:buSzPct val="91666"/>
              <a:buFont typeface="Arial"/>
              <a:buNone/>
            </a:pPr>
            <a:r>
              <a:rPr lang="en" sz="1200">
                <a:solidFill>
                  <a:schemeClr val="dk1"/>
                </a:solidFill>
              </a:rPr>
              <a:t>Potential Problems that could arise from increased mathematical analysis and tools to help with biological questions:</a:t>
            </a:r>
          </a:p>
          <a:p>
            <a:pPr indent="-304800" lvl="0" marL="457200" rtl="0">
              <a:lnSpc>
                <a:spcPct val="115000"/>
              </a:lnSpc>
              <a:spcBef>
                <a:spcPts val="0"/>
              </a:spcBef>
              <a:buClr>
                <a:schemeClr val="dk1"/>
              </a:buClr>
              <a:buSzPct val="100000"/>
              <a:buFont typeface="Arial"/>
            </a:pPr>
            <a:r>
              <a:rPr lang="en" sz="1200">
                <a:solidFill>
                  <a:schemeClr val="dk1"/>
                </a:solidFill>
              </a:rPr>
              <a:t>Education: Need to encourage math and quantitative skills at all levels of school</a:t>
            </a:r>
          </a:p>
          <a:p>
            <a:pPr indent="-304800" lvl="0" marL="457200" rtl="0">
              <a:lnSpc>
                <a:spcPct val="115000"/>
              </a:lnSpc>
              <a:spcBef>
                <a:spcPts val="0"/>
              </a:spcBef>
              <a:buClr>
                <a:schemeClr val="dk1"/>
              </a:buClr>
              <a:buSzPct val="100000"/>
              <a:buFont typeface="Arial"/>
            </a:pPr>
            <a:r>
              <a:rPr lang="en" sz="1200">
                <a:solidFill>
                  <a:schemeClr val="dk1"/>
                </a:solidFill>
              </a:rPr>
              <a:t>Intellectual property: Knowledge does help everyone but balance intellectual property rights to encourage innovation and research</a:t>
            </a:r>
          </a:p>
          <a:p>
            <a:pPr indent="-304800" lvl="0" marL="457200" rtl="0">
              <a:lnSpc>
                <a:spcPct val="115000"/>
              </a:lnSpc>
              <a:spcBef>
                <a:spcPts val="0"/>
              </a:spcBef>
              <a:buClr>
                <a:schemeClr val="dk1"/>
              </a:buClr>
              <a:buSzPct val="100000"/>
              <a:buFont typeface="Arial"/>
            </a:pPr>
            <a:r>
              <a:rPr lang="en" sz="1200">
                <a:solidFill>
                  <a:schemeClr val="dk1"/>
                </a:solidFill>
              </a:rPr>
              <a:t>National security: Defend against biological attacks and ensure that sensitive data and information is protected; additionally, preserving privacy is an important concern as much of the data needed to address biological questions is private patient data</a:t>
            </a:r>
          </a:p>
          <a:p>
            <a:pPr lvl="0" rtl="0">
              <a:spcBef>
                <a:spcPts val="0"/>
              </a:spcBef>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92" name="Shape 192"/>
        <p:cNvGrpSpPr/>
        <p:nvPr/>
      </p:nvGrpSpPr>
      <p:grpSpPr>
        <a:xfrm>
          <a:off x="0" y="0"/>
          <a:ext cx="0" cy="0"/>
          <a:chOff x="0" y="0"/>
          <a:chExt cx="0" cy="0"/>
        </a:xfrm>
      </p:grpSpPr>
      <p:sp>
        <p:nvSpPr>
          <p:cNvPr id="193" name="Shape 193"/>
          <p:cNvSpPr/>
          <p:nvPr>
            <p:ph idx="2" type="sldImg"/>
          </p:nvPr>
        </p:nvSpPr>
        <p:spPr>
          <a:xfrm>
            <a:off x="381187" y="685800"/>
            <a:ext cx="6096299" cy="3429000"/>
          </a:xfrm>
          <a:custGeom>
            <a:pathLst>
              <a:path extrusionOk="0" h="120000" w="120000">
                <a:moveTo>
                  <a:pt x="0" y="0"/>
                </a:moveTo>
                <a:lnTo>
                  <a:pt x="120000" y="0"/>
                </a:lnTo>
                <a:lnTo>
                  <a:pt x="120000" y="120000"/>
                </a:lnTo>
                <a:lnTo>
                  <a:pt x="0" y="120000"/>
                </a:lnTo>
                <a:close/>
              </a:path>
            </a:pathLst>
          </a:custGeom>
        </p:spPr>
      </p:sp>
      <p:sp>
        <p:nvSpPr>
          <p:cNvPr id="194" name="Shape 194"/>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lnSpc>
                <a:spcPct val="115000"/>
              </a:lnSpc>
              <a:spcBef>
                <a:spcPts val="0"/>
              </a:spcBef>
              <a:buClr>
                <a:schemeClr val="dk1"/>
              </a:buClr>
              <a:buSzPct val="91666"/>
              <a:buFont typeface="Arial"/>
              <a:buNone/>
            </a:pPr>
            <a:r>
              <a:rPr lang="en" sz="1200">
                <a:solidFill>
                  <a:schemeClr val="dk1"/>
                </a:solidFill>
              </a:rPr>
              <a:t>Opportunities that mathematics offers</a:t>
            </a:r>
          </a:p>
          <a:p>
            <a:pPr indent="-304800" lvl="0" marL="457200" rtl="0">
              <a:lnSpc>
                <a:spcPct val="115000"/>
              </a:lnSpc>
              <a:spcBef>
                <a:spcPts val="0"/>
              </a:spcBef>
              <a:buClr>
                <a:schemeClr val="dk1"/>
              </a:buClr>
              <a:buSzPct val="100000"/>
              <a:buFont typeface="Arial"/>
            </a:pPr>
            <a:r>
              <a:rPr lang="en" sz="1200">
                <a:solidFill>
                  <a:schemeClr val="dk1"/>
                </a:solidFill>
              </a:rPr>
              <a:t>Mathematical modelling → Perform conceptual experiments using mathematical modelling to avoid situations with ethical dilemmas or where performing actual experiments is impossible</a:t>
            </a:r>
          </a:p>
          <a:p>
            <a:pPr indent="-304800" lvl="0" marL="457200" rtl="0">
              <a:lnSpc>
                <a:spcPct val="115000"/>
              </a:lnSpc>
              <a:spcBef>
                <a:spcPts val="0"/>
              </a:spcBef>
              <a:buClr>
                <a:schemeClr val="dk1"/>
              </a:buClr>
              <a:buSzPct val="100000"/>
              <a:buFont typeface="Arial"/>
            </a:pPr>
            <a:r>
              <a:rPr lang="en" sz="1200">
                <a:solidFill>
                  <a:schemeClr val="dk1"/>
                </a:solidFill>
              </a:rPr>
              <a:t>Answer questions that are too difficult to analyze without complex mathematical models such as questions dealing with the biosphere, macroevolution, the human brain, or epidemiology of infectious diseases</a:t>
            </a:r>
          </a:p>
          <a:p>
            <a:pPr lvl="0">
              <a:spcBef>
                <a:spcPts val="0"/>
              </a:spcBef>
              <a:buNone/>
            </a:pPr>
            <a:r>
              <a:t/>
            </a:r>
            <a:endParaRPr/>
          </a:p>
          <a:p>
            <a:pPr lvl="0">
              <a:spcBef>
                <a:spcPts val="0"/>
              </a:spcBef>
              <a:buNone/>
            </a:pPr>
            <a:r>
              <a:t/>
            </a:r>
            <a:endParaRPr/>
          </a:p>
          <a:p>
            <a:pPr lvl="0" rtl="0">
              <a:lnSpc>
                <a:spcPct val="115000"/>
              </a:lnSpc>
              <a:spcBef>
                <a:spcPts val="0"/>
              </a:spcBef>
              <a:buClr>
                <a:schemeClr val="dk1"/>
              </a:buClr>
              <a:buSzPct val="91666"/>
              <a:buFont typeface="Arial"/>
              <a:buNone/>
            </a:pPr>
            <a:r>
              <a:t/>
            </a:r>
            <a:endParaRPr sz="1200">
              <a:solidFill>
                <a:schemeClr val="dk1"/>
              </a:solidFill>
            </a:endParaRPr>
          </a:p>
          <a:p>
            <a:pPr lvl="0" rtl="0">
              <a:lnSpc>
                <a:spcPct val="115000"/>
              </a:lnSpc>
              <a:spcBef>
                <a:spcPts val="0"/>
              </a:spcBef>
              <a:buClr>
                <a:schemeClr val="dk1"/>
              </a:buClr>
              <a:buSzPct val="91666"/>
              <a:buFont typeface="Arial"/>
              <a:buNone/>
            </a:pPr>
            <a:r>
              <a:t/>
            </a:r>
            <a:endParaRPr sz="1200">
              <a:solidFill>
                <a:schemeClr val="dk1"/>
              </a:solidFill>
            </a:endParaRPr>
          </a:p>
          <a:p>
            <a:pPr lvl="0" rtl="0">
              <a:lnSpc>
                <a:spcPct val="115000"/>
              </a:lnSpc>
              <a:spcBef>
                <a:spcPts val="0"/>
              </a:spcBef>
              <a:buClr>
                <a:schemeClr val="dk1"/>
              </a:buClr>
              <a:buSzPct val="91666"/>
              <a:buFont typeface="Arial"/>
              <a:buNone/>
            </a:pPr>
            <a:r>
              <a:rPr lang="en" sz="1200">
                <a:solidFill>
                  <a:schemeClr val="dk1"/>
                </a:solidFill>
              </a:rPr>
              <a:t>(Example: Cohen and Gurtler in 2001 explored how to limit the exposure of insects carried by dogs to humans. Spraying insecticides was effective but financially difficult. Therefore, Cohen and Gurtler used mathematical models to see the effect of removing dogs from the bedrooms in households, rather than spraying. This showed that banishing dogs from bedrooms helped limit human exposure to insects on dogs without having to spray insecticides. )</a:t>
            </a:r>
          </a:p>
          <a:p>
            <a:pPr lvl="0" rtl="0">
              <a:spcBef>
                <a:spcPts val="0"/>
              </a:spcBef>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98" name="Shape 198"/>
        <p:cNvGrpSpPr/>
        <p:nvPr/>
      </p:nvGrpSpPr>
      <p:grpSpPr>
        <a:xfrm>
          <a:off x="0" y="0"/>
          <a:ext cx="0" cy="0"/>
          <a:chOff x="0" y="0"/>
          <a:chExt cx="0" cy="0"/>
        </a:xfrm>
      </p:grpSpPr>
      <p:sp>
        <p:nvSpPr>
          <p:cNvPr id="199" name="Shape 199"/>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200" name="Shape 200"/>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rPr lang="en"/>
              <a:t>this paper summarizes the past, present, and future applications of math to biology, and argues that math is becoming increasingly important to understand biology. [read quote]</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04" name="Shape 204"/>
        <p:cNvGrpSpPr/>
        <p:nvPr/>
      </p:nvGrpSpPr>
      <p:grpSpPr>
        <a:xfrm>
          <a:off x="0" y="0"/>
          <a:ext cx="0" cy="0"/>
          <a:chOff x="0" y="0"/>
          <a:chExt cx="0" cy="0"/>
        </a:xfrm>
      </p:grpSpPr>
      <p:sp>
        <p:nvSpPr>
          <p:cNvPr id="205" name="Shape 205"/>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206" name="Shape 206"/>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10" name="Shape 210"/>
        <p:cNvGrpSpPr/>
        <p:nvPr/>
      </p:nvGrpSpPr>
      <p:grpSpPr>
        <a:xfrm>
          <a:off x="0" y="0"/>
          <a:ext cx="0" cy="0"/>
          <a:chOff x="0" y="0"/>
          <a:chExt cx="0" cy="0"/>
        </a:xfrm>
      </p:grpSpPr>
      <p:sp>
        <p:nvSpPr>
          <p:cNvPr id="211" name="Shape 211"/>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212" name="Shape 212"/>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rPr lang="en"/>
              <a:t>this paper summarizes the past, present, and future applications of math to biology, and argues that math is becoming increasingly important to understand biology. [read quote]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
  <p:cSld name="Title slide">
    <p:bg>
      <p:bgPr>
        <a:solidFill>
          <a:schemeClr val="dk1"/>
        </a:solidFill>
      </p:bgPr>
    </p:bg>
    <p:spTree>
      <p:nvGrpSpPr>
        <p:cNvPr id="9" name="Shape 9"/>
        <p:cNvGrpSpPr/>
        <p:nvPr/>
      </p:nvGrpSpPr>
      <p:grpSpPr>
        <a:xfrm>
          <a:off x="0" y="0"/>
          <a:ext cx="0" cy="0"/>
          <a:chOff x="0" y="0"/>
          <a:chExt cx="0" cy="0"/>
        </a:xfrm>
      </p:grpSpPr>
      <p:sp>
        <p:nvSpPr>
          <p:cNvPr id="10" name="Shape 10"/>
          <p:cNvSpPr/>
          <p:nvPr/>
        </p:nvSpPr>
        <p:spPr>
          <a:xfrm>
            <a:off x="0" y="100"/>
            <a:ext cx="9144000" cy="1711799"/>
          </a:xfrm>
          <a:prstGeom prst="rect">
            <a:avLst/>
          </a:prstGeom>
          <a:solidFill>
            <a:schemeClr val="lt2"/>
          </a:solidFill>
          <a:ln>
            <a:noFill/>
          </a:ln>
        </p:spPr>
        <p:txBody>
          <a:bodyPr anchorCtr="0" anchor="ctr" bIns="91425" lIns="91425" rIns="91425" tIns="91425">
            <a:noAutofit/>
          </a:bodyPr>
          <a:lstStyle/>
          <a:p>
            <a:pPr lvl="0">
              <a:spcBef>
                <a:spcPts val="0"/>
              </a:spcBef>
              <a:buNone/>
            </a:pPr>
            <a:r>
              <a:t/>
            </a:r>
            <a:endParaRPr/>
          </a:p>
        </p:txBody>
      </p:sp>
      <p:cxnSp>
        <p:nvCxnSpPr>
          <p:cNvPr id="11" name="Shape 11"/>
          <p:cNvCxnSpPr/>
          <p:nvPr/>
        </p:nvCxnSpPr>
        <p:spPr>
          <a:xfrm>
            <a:off x="641934" y="3597500"/>
            <a:ext cx="390299" cy="0"/>
          </a:xfrm>
          <a:prstGeom prst="straightConnector1">
            <a:avLst/>
          </a:prstGeom>
          <a:noFill/>
          <a:ln cap="flat" cmpd="sng" w="28575">
            <a:solidFill>
              <a:schemeClr val="accent1"/>
            </a:solidFill>
            <a:prstDash val="solid"/>
            <a:round/>
            <a:headEnd len="med" w="med" type="none"/>
            <a:tailEnd len="med" w="med" type="none"/>
          </a:ln>
        </p:spPr>
      </p:cxnSp>
      <p:sp>
        <p:nvSpPr>
          <p:cNvPr id="12" name="Shape 12"/>
          <p:cNvSpPr txBox="1"/>
          <p:nvPr>
            <p:ph type="ctrTitle"/>
          </p:nvPr>
        </p:nvSpPr>
        <p:spPr>
          <a:xfrm>
            <a:off x="512700" y="1893300"/>
            <a:ext cx="8118599" cy="1522800"/>
          </a:xfrm>
          <a:prstGeom prst="rect">
            <a:avLst/>
          </a:prstGeom>
        </p:spPr>
        <p:txBody>
          <a:bodyPr anchorCtr="0" anchor="b" bIns="91425" lIns="91425" rIns="91425" tIns="91425"/>
          <a:lstStyle>
            <a:lvl1pPr lvl="0">
              <a:spcBef>
                <a:spcPts val="0"/>
              </a:spcBef>
              <a:buClr>
                <a:schemeClr val="accent1"/>
              </a:buClr>
              <a:buSzPct val="100000"/>
              <a:defRPr sz="4200">
                <a:solidFill>
                  <a:schemeClr val="accent1"/>
                </a:solidFill>
              </a:defRPr>
            </a:lvl1pPr>
            <a:lvl2pPr lvl="1">
              <a:spcBef>
                <a:spcPts val="0"/>
              </a:spcBef>
              <a:buClr>
                <a:schemeClr val="accent1"/>
              </a:buClr>
              <a:buSzPct val="100000"/>
              <a:defRPr sz="4200">
                <a:solidFill>
                  <a:schemeClr val="accent1"/>
                </a:solidFill>
              </a:defRPr>
            </a:lvl2pPr>
            <a:lvl3pPr lvl="2">
              <a:spcBef>
                <a:spcPts val="0"/>
              </a:spcBef>
              <a:buClr>
                <a:schemeClr val="accent1"/>
              </a:buClr>
              <a:buSzPct val="100000"/>
              <a:defRPr sz="4200">
                <a:solidFill>
                  <a:schemeClr val="accent1"/>
                </a:solidFill>
              </a:defRPr>
            </a:lvl3pPr>
            <a:lvl4pPr lvl="3">
              <a:spcBef>
                <a:spcPts val="0"/>
              </a:spcBef>
              <a:buClr>
                <a:schemeClr val="accent1"/>
              </a:buClr>
              <a:buSzPct val="100000"/>
              <a:defRPr sz="4200">
                <a:solidFill>
                  <a:schemeClr val="accent1"/>
                </a:solidFill>
              </a:defRPr>
            </a:lvl4pPr>
            <a:lvl5pPr lvl="4">
              <a:spcBef>
                <a:spcPts val="0"/>
              </a:spcBef>
              <a:buClr>
                <a:schemeClr val="accent1"/>
              </a:buClr>
              <a:buSzPct val="100000"/>
              <a:defRPr sz="4200">
                <a:solidFill>
                  <a:schemeClr val="accent1"/>
                </a:solidFill>
              </a:defRPr>
            </a:lvl5pPr>
            <a:lvl6pPr lvl="5">
              <a:spcBef>
                <a:spcPts val="0"/>
              </a:spcBef>
              <a:buClr>
                <a:schemeClr val="accent1"/>
              </a:buClr>
              <a:buSzPct val="100000"/>
              <a:defRPr sz="4200">
                <a:solidFill>
                  <a:schemeClr val="accent1"/>
                </a:solidFill>
              </a:defRPr>
            </a:lvl6pPr>
            <a:lvl7pPr lvl="6">
              <a:spcBef>
                <a:spcPts val="0"/>
              </a:spcBef>
              <a:buClr>
                <a:schemeClr val="accent1"/>
              </a:buClr>
              <a:buSzPct val="100000"/>
              <a:defRPr sz="4200">
                <a:solidFill>
                  <a:schemeClr val="accent1"/>
                </a:solidFill>
              </a:defRPr>
            </a:lvl7pPr>
            <a:lvl8pPr lvl="7">
              <a:spcBef>
                <a:spcPts val="0"/>
              </a:spcBef>
              <a:buClr>
                <a:schemeClr val="accent1"/>
              </a:buClr>
              <a:buSzPct val="100000"/>
              <a:defRPr sz="4200">
                <a:solidFill>
                  <a:schemeClr val="accent1"/>
                </a:solidFill>
              </a:defRPr>
            </a:lvl8pPr>
            <a:lvl9pPr lvl="8">
              <a:spcBef>
                <a:spcPts val="0"/>
              </a:spcBef>
              <a:buClr>
                <a:schemeClr val="accent1"/>
              </a:buClr>
              <a:buSzPct val="100000"/>
              <a:defRPr sz="4200">
                <a:solidFill>
                  <a:schemeClr val="accent1"/>
                </a:solidFill>
              </a:defRPr>
            </a:lvl9pPr>
          </a:lstStyle>
          <a:p/>
        </p:txBody>
      </p:sp>
      <p:sp>
        <p:nvSpPr>
          <p:cNvPr id="13" name="Shape 13"/>
          <p:cNvSpPr txBox="1"/>
          <p:nvPr>
            <p:ph idx="1" type="subTitle"/>
          </p:nvPr>
        </p:nvSpPr>
        <p:spPr>
          <a:xfrm>
            <a:off x="512700" y="3840639"/>
            <a:ext cx="8118599" cy="787499"/>
          </a:xfrm>
          <a:prstGeom prst="rect">
            <a:avLst/>
          </a:prstGeom>
        </p:spPr>
        <p:txBody>
          <a:bodyPr anchorCtr="0" anchor="t" bIns="91425" lIns="91425" rIns="91425" tIns="91425"/>
          <a:lstStyle>
            <a:lvl1pPr lvl="0">
              <a:lnSpc>
                <a:spcPct val="100000"/>
              </a:lnSpc>
              <a:spcBef>
                <a:spcPts val="0"/>
              </a:spcBef>
              <a:spcAft>
                <a:spcPts val="0"/>
              </a:spcAft>
              <a:buClr>
                <a:schemeClr val="accent2"/>
              </a:buClr>
              <a:buSzPct val="100000"/>
              <a:buNone/>
              <a:defRPr sz="2400">
                <a:solidFill>
                  <a:schemeClr val="accent2"/>
                </a:solidFill>
              </a:defRPr>
            </a:lvl1pPr>
            <a:lvl2pPr lvl="1">
              <a:lnSpc>
                <a:spcPct val="100000"/>
              </a:lnSpc>
              <a:spcBef>
                <a:spcPts val="0"/>
              </a:spcBef>
              <a:spcAft>
                <a:spcPts val="0"/>
              </a:spcAft>
              <a:buClr>
                <a:schemeClr val="accent2"/>
              </a:buClr>
              <a:buSzPct val="100000"/>
              <a:buNone/>
              <a:defRPr sz="2400">
                <a:solidFill>
                  <a:schemeClr val="accent2"/>
                </a:solidFill>
              </a:defRPr>
            </a:lvl2pPr>
            <a:lvl3pPr lvl="2">
              <a:lnSpc>
                <a:spcPct val="100000"/>
              </a:lnSpc>
              <a:spcBef>
                <a:spcPts val="0"/>
              </a:spcBef>
              <a:spcAft>
                <a:spcPts val="0"/>
              </a:spcAft>
              <a:buClr>
                <a:schemeClr val="accent2"/>
              </a:buClr>
              <a:buSzPct val="100000"/>
              <a:buNone/>
              <a:defRPr sz="2400">
                <a:solidFill>
                  <a:schemeClr val="accent2"/>
                </a:solidFill>
              </a:defRPr>
            </a:lvl3pPr>
            <a:lvl4pPr lvl="3">
              <a:lnSpc>
                <a:spcPct val="100000"/>
              </a:lnSpc>
              <a:spcBef>
                <a:spcPts val="0"/>
              </a:spcBef>
              <a:spcAft>
                <a:spcPts val="0"/>
              </a:spcAft>
              <a:buClr>
                <a:schemeClr val="accent2"/>
              </a:buClr>
              <a:buSzPct val="100000"/>
              <a:buNone/>
              <a:defRPr sz="2400">
                <a:solidFill>
                  <a:schemeClr val="accent2"/>
                </a:solidFill>
              </a:defRPr>
            </a:lvl4pPr>
            <a:lvl5pPr lvl="4">
              <a:lnSpc>
                <a:spcPct val="100000"/>
              </a:lnSpc>
              <a:spcBef>
                <a:spcPts val="0"/>
              </a:spcBef>
              <a:spcAft>
                <a:spcPts val="0"/>
              </a:spcAft>
              <a:buClr>
                <a:schemeClr val="accent2"/>
              </a:buClr>
              <a:buSzPct val="100000"/>
              <a:buNone/>
              <a:defRPr sz="2400">
                <a:solidFill>
                  <a:schemeClr val="accent2"/>
                </a:solidFill>
              </a:defRPr>
            </a:lvl5pPr>
            <a:lvl6pPr lvl="5">
              <a:lnSpc>
                <a:spcPct val="100000"/>
              </a:lnSpc>
              <a:spcBef>
                <a:spcPts val="0"/>
              </a:spcBef>
              <a:spcAft>
                <a:spcPts val="0"/>
              </a:spcAft>
              <a:buClr>
                <a:schemeClr val="accent2"/>
              </a:buClr>
              <a:buSzPct val="100000"/>
              <a:buNone/>
              <a:defRPr sz="2400">
                <a:solidFill>
                  <a:schemeClr val="accent2"/>
                </a:solidFill>
              </a:defRPr>
            </a:lvl6pPr>
            <a:lvl7pPr lvl="6">
              <a:lnSpc>
                <a:spcPct val="100000"/>
              </a:lnSpc>
              <a:spcBef>
                <a:spcPts val="0"/>
              </a:spcBef>
              <a:spcAft>
                <a:spcPts val="0"/>
              </a:spcAft>
              <a:buClr>
                <a:schemeClr val="accent2"/>
              </a:buClr>
              <a:buSzPct val="100000"/>
              <a:buNone/>
              <a:defRPr sz="2400">
                <a:solidFill>
                  <a:schemeClr val="accent2"/>
                </a:solidFill>
              </a:defRPr>
            </a:lvl7pPr>
            <a:lvl8pPr lvl="7">
              <a:lnSpc>
                <a:spcPct val="100000"/>
              </a:lnSpc>
              <a:spcBef>
                <a:spcPts val="0"/>
              </a:spcBef>
              <a:spcAft>
                <a:spcPts val="0"/>
              </a:spcAft>
              <a:buClr>
                <a:schemeClr val="accent2"/>
              </a:buClr>
              <a:buSzPct val="100000"/>
              <a:buNone/>
              <a:defRPr sz="2400">
                <a:solidFill>
                  <a:schemeClr val="accent2"/>
                </a:solidFill>
              </a:defRPr>
            </a:lvl8pPr>
            <a:lvl9pPr lvl="8">
              <a:lnSpc>
                <a:spcPct val="100000"/>
              </a:lnSpc>
              <a:spcBef>
                <a:spcPts val="0"/>
              </a:spcBef>
              <a:spcAft>
                <a:spcPts val="0"/>
              </a:spcAft>
              <a:buClr>
                <a:schemeClr val="accent2"/>
              </a:buClr>
              <a:buSzPct val="100000"/>
              <a:buNone/>
              <a:defRPr sz="2400">
                <a:solidFill>
                  <a:schemeClr val="accent2"/>
                </a:solidFill>
              </a:defRPr>
            </a:lvl9pPr>
          </a:lstStyle>
          <a:p/>
        </p:txBody>
      </p:sp>
      <p:sp>
        <p:nvSpPr>
          <p:cNvPr id="14" name="Shape 14"/>
          <p:cNvSpPr txBox="1"/>
          <p:nvPr>
            <p:ph idx="12" type="sldNum"/>
          </p:nvPr>
        </p:nvSpPr>
        <p:spPr>
          <a:xfrm>
            <a:off x="8472457" y="4663216"/>
            <a:ext cx="548699"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solidFill>
                  <a:schemeClr val="accent1"/>
                </a:solidFill>
              </a:rPr>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secHead">
  <p:cSld name="Section header">
    <p:bg>
      <p:bgPr>
        <a:solidFill>
          <a:schemeClr val="dk1"/>
        </a:solidFill>
      </p:bgPr>
    </p:bg>
    <p:spTree>
      <p:nvGrpSpPr>
        <p:cNvPr id="15" name="Shape 15"/>
        <p:cNvGrpSpPr/>
        <p:nvPr/>
      </p:nvGrpSpPr>
      <p:grpSpPr>
        <a:xfrm>
          <a:off x="0" y="0"/>
          <a:ext cx="0" cy="0"/>
          <a:chOff x="0" y="0"/>
          <a:chExt cx="0" cy="0"/>
        </a:xfrm>
      </p:grpSpPr>
      <p:cxnSp>
        <p:nvCxnSpPr>
          <p:cNvPr id="16" name="Shape 16"/>
          <p:cNvCxnSpPr/>
          <p:nvPr/>
        </p:nvCxnSpPr>
        <p:spPr>
          <a:xfrm>
            <a:off x="641934" y="3597500"/>
            <a:ext cx="390299" cy="0"/>
          </a:xfrm>
          <a:prstGeom prst="straightConnector1">
            <a:avLst/>
          </a:prstGeom>
          <a:noFill/>
          <a:ln cap="flat" cmpd="sng" w="28575">
            <a:solidFill>
              <a:schemeClr val="lt2"/>
            </a:solidFill>
            <a:prstDash val="solid"/>
            <a:round/>
            <a:headEnd len="med" w="med" type="none"/>
            <a:tailEnd len="med" w="med" type="none"/>
          </a:ln>
        </p:spPr>
      </p:cxnSp>
      <p:sp>
        <p:nvSpPr>
          <p:cNvPr id="17" name="Shape 17"/>
          <p:cNvSpPr txBox="1"/>
          <p:nvPr>
            <p:ph type="title"/>
          </p:nvPr>
        </p:nvSpPr>
        <p:spPr>
          <a:xfrm>
            <a:off x="512700" y="1893300"/>
            <a:ext cx="8118599" cy="1522800"/>
          </a:xfrm>
          <a:prstGeom prst="rect">
            <a:avLst/>
          </a:prstGeom>
        </p:spPr>
        <p:txBody>
          <a:bodyPr anchorCtr="0" anchor="b" bIns="91425" lIns="91425" rIns="91425" tIns="91425"/>
          <a:lstStyle>
            <a:lvl1pPr lvl="0">
              <a:spcBef>
                <a:spcPts val="0"/>
              </a:spcBef>
              <a:buClr>
                <a:schemeClr val="accent1"/>
              </a:buClr>
              <a:buSzPct val="100000"/>
              <a:defRPr sz="6000">
                <a:solidFill>
                  <a:schemeClr val="accent1"/>
                </a:solidFill>
              </a:defRPr>
            </a:lvl1pPr>
            <a:lvl2pPr lvl="1">
              <a:spcBef>
                <a:spcPts val="0"/>
              </a:spcBef>
              <a:buClr>
                <a:schemeClr val="accent1"/>
              </a:buClr>
              <a:buSzPct val="100000"/>
              <a:defRPr sz="6000">
                <a:solidFill>
                  <a:schemeClr val="accent1"/>
                </a:solidFill>
              </a:defRPr>
            </a:lvl2pPr>
            <a:lvl3pPr lvl="2">
              <a:spcBef>
                <a:spcPts val="0"/>
              </a:spcBef>
              <a:buClr>
                <a:schemeClr val="accent1"/>
              </a:buClr>
              <a:buSzPct val="100000"/>
              <a:defRPr sz="6000">
                <a:solidFill>
                  <a:schemeClr val="accent1"/>
                </a:solidFill>
              </a:defRPr>
            </a:lvl3pPr>
            <a:lvl4pPr lvl="3">
              <a:spcBef>
                <a:spcPts val="0"/>
              </a:spcBef>
              <a:buClr>
                <a:schemeClr val="accent1"/>
              </a:buClr>
              <a:buSzPct val="100000"/>
              <a:defRPr sz="6000">
                <a:solidFill>
                  <a:schemeClr val="accent1"/>
                </a:solidFill>
              </a:defRPr>
            </a:lvl4pPr>
            <a:lvl5pPr lvl="4">
              <a:spcBef>
                <a:spcPts val="0"/>
              </a:spcBef>
              <a:buClr>
                <a:schemeClr val="accent1"/>
              </a:buClr>
              <a:buSzPct val="100000"/>
              <a:defRPr sz="6000">
                <a:solidFill>
                  <a:schemeClr val="accent1"/>
                </a:solidFill>
              </a:defRPr>
            </a:lvl5pPr>
            <a:lvl6pPr lvl="5">
              <a:spcBef>
                <a:spcPts val="0"/>
              </a:spcBef>
              <a:buClr>
                <a:schemeClr val="accent1"/>
              </a:buClr>
              <a:buSzPct val="100000"/>
              <a:defRPr sz="6000">
                <a:solidFill>
                  <a:schemeClr val="accent1"/>
                </a:solidFill>
              </a:defRPr>
            </a:lvl6pPr>
            <a:lvl7pPr lvl="6">
              <a:spcBef>
                <a:spcPts val="0"/>
              </a:spcBef>
              <a:buClr>
                <a:schemeClr val="accent1"/>
              </a:buClr>
              <a:buSzPct val="100000"/>
              <a:defRPr sz="6000">
                <a:solidFill>
                  <a:schemeClr val="accent1"/>
                </a:solidFill>
              </a:defRPr>
            </a:lvl7pPr>
            <a:lvl8pPr lvl="7">
              <a:spcBef>
                <a:spcPts val="0"/>
              </a:spcBef>
              <a:buClr>
                <a:schemeClr val="accent1"/>
              </a:buClr>
              <a:buSzPct val="100000"/>
              <a:defRPr sz="6000">
                <a:solidFill>
                  <a:schemeClr val="accent1"/>
                </a:solidFill>
              </a:defRPr>
            </a:lvl8pPr>
            <a:lvl9pPr lvl="8">
              <a:spcBef>
                <a:spcPts val="0"/>
              </a:spcBef>
              <a:buClr>
                <a:schemeClr val="accent1"/>
              </a:buClr>
              <a:buSzPct val="100000"/>
              <a:defRPr sz="6000">
                <a:solidFill>
                  <a:schemeClr val="accent1"/>
                </a:solidFill>
              </a:defRPr>
            </a:lvl9pPr>
          </a:lstStyle>
          <a:p/>
        </p:txBody>
      </p:sp>
      <p:sp>
        <p:nvSpPr>
          <p:cNvPr id="18" name="Shape 18"/>
          <p:cNvSpPr txBox="1"/>
          <p:nvPr>
            <p:ph idx="12" type="sldNum"/>
          </p:nvPr>
        </p:nvSpPr>
        <p:spPr>
          <a:xfrm>
            <a:off x="8472457" y="4663216"/>
            <a:ext cx="548699"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solidFill>
                  <a:schemeClr val="accent1"/>
                </a:solidFill>
              </a:rPr>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x">
  <p:cSld name="Title and body">
    <p:spTree>
      <p:nvGrpSpPr>
        <p:cNvPr id="19" name="Shape 19"/>
        <p:cNvGrpSpPr/>
        <p:nvPr/>
      </p:nvGrpSpPr>
      <p:grpSpPr>
        <a:xfrm>
          <a:off x="0" y="0"/>
          <a:ext cx="0" cy="0"/>
          <a:chOff x="0" y="0"/>
          <a:chExt cx="0" cy="0"/>
        </a:xfrm>
      </p:grpSpPr>
      <p:sp>
        <p:nvSpPr>
          <p:cNvPr id="20" name="Shape 20"/>
          <p:cNvSpPr/>
          <p:nvPr/>
        </p:nvSpPr>
        <p:spPr>
          <a:xfrm>
            <a:off x="0" y="5045700"/>
            <a:ext cx="9144000" cy="97800"/>
          </a:xfrm>
          <a:prstGeom prst="rect">
            <a:avLst/>
          </a:prstGeom>
          <a:solidFill>
            <a:schemeClr val="lt2"/>
          </a:solidFill>
          <a:ln>
            <a:noFill/>
          </a:ln>
        </p:spPr>
        <p:txBody>
          <a:bodyPr anchorCtr="0" anchor="ctr" bIns="91425" lIns="91425" rIns="91425" tIns="91425">
            <a:noAutofit/>
          </a:bodyPr>
          <a:lstStyle/>
          <a:p>
            <a:pPr lvl="0">
              <a:spcBef>
                <a:spcPts val="0"/>
              </a:spcBef>
              <a:buNone/>
            </a:pPr>
            <a:r>
              <a:t/>
            </a:r>
            <a:endParaRPr/>
          </a:p>
        </p:txBody>
      </p:sp>
      <p:sp>
        <p:nvSpPr>
          <p:cNvPr id="21" name="Shape 21"/>
          <p:cNvSpPr txBox="1"/>
          <p:nvPr>
            <p:ph type="title"/>
          </p:nvPr>
        </p:nvSpPr>
        <p:spPr>
          <a:xfrm>
            <a:off x="311700" y="445025"/>
            <a:ext cx="8520599" cy="613200"/>
          </a:xfrm>
          <a:prstGeom prst="rect">
            <a:avLst/>
          </a:prstGeom>
        </p:spPr>
        <p:txBody>
          <a:bodyPr anchorCtr="0" anchor="t"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22" name="Shape 22"/>
          <p:cNvSpPr txBox="1"/>
          <p:nvPr>
            <p:ph idx="1" type="body"/>
          </p:nvPr>
        </p:nvSpPr>
        <p:spPr>
          <a:xfrm>
            <a:off x="311700" y="1171600"/>
            <a:ext cx="8520599" cy="3397200"/>
          </a:xfrm>
          <a:prstGeom prst="rect">
            <a:avLst/>
          </a:prstGeom>
        </p:spPr>
        <p:txBody>
          <a:bodyPr anchorCtr="0" anchor="t"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23" name="Shape 23"/>
          <p:cNvSpPr txBox="1"/>
          <p:nvPr>
            <p:ph idx="12" type="sldNum"/>
          </p:nvPr>
        </p:nvSpPr>
        <p:spPr>
          <a:xfrm>
            <a:off x="8472457" y="4663216"/>
            <a:ext cx="548699"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woColTx">
  <p:cSld name="Title and two columns">
    <p:spTree>
      <p:nvGrpSpPr>
        <p:cNvPr id="24" name="Shape 24"/>
        <p:cNvGrpSpPr/>
        <p:nvPr/>
      </p:nvGrpSpPr>
      <p:grpSpPr>
        <a:xfrm>
          <a:off x="0" y="0"/>
          <a:ext cx="0" cy="0"/>
          <a:chOff x="0" y="0"/>
          <a:chExt cx="0" cy="0"/>
        </a:xfrm>
      </p:grpSpPr>
      <p:sp>
        <p:nvSpPr>
          <p:cNvPr id="25" name="Shape 25"/>
          <p:cNvSpPr txBox="1"/>
          <p:nvPr>
            <p:ph type="title"/>
          </p:nvPr>
        </p:nvSpPr>
        <p:spPr>
          <a:xfrm>
            <a:off x="311700" y="445025"/>
            <a:ext cx="8520599" cy="613200"/>
          </a:xfrm>
          <a:prstGeom prst="rect">
            <a:avLst/>
          </a:prstGeom>
        </p:spPr>
        <p:txBody>
          <a:bodyPr anchorCtr="0" anchor="t"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26" name="Shape 26"/>
          <p:cNvSpPr txBox="1"/>
          <p:nvPr>
            <p:ph idx="1" type="body"/>
          </p:nvPr>
        </p:nvSpPr>
        <p:spPr>
          <a:xfrm>
            <a:off x="311700" y="1171675"/>
            <a:ext cx="3999899" cy="3397200"/>
          </a:xfrm>
          <a:prstGeom prst="rect">
            <a:avLst/>
          </a:prstGeom>
        </p:spPr>
        <p:txBody>
          <a:bodyPr anchorCtr="0" anchor="t" bIns="91425" lIns="91425" rIns="91425" tIns="91425"/>
          <a:lstStyle>
            <a:lvl1pPr lvl="0">
              <a:spcBef>
                <a:spcPts val="0"/>
              </a:spcBef>
              <a:buSzPct val="100000"/>
              <a:defRPr sz="14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p:txBody>
      </p:sp>
      <p:sp>
        <p:nvSpPr>
          <p:cNvPr id="27" name="Shape 27"/>
          <p:cNvSpPr txBox="1"/>
          <p:nvPr>
            <p:ph idx="2" type="body"/>
          </p:nvPr>
        </p:nvSpPr>
        <p:spPr>
          <a:xfrm>
            <a:off x="4832400" y="1171675"/>
            <a:ext cx="3999899" cy="3397200"/>
          </a:xfrm>
          <a:prstGeom prst="rect">
            <a:avLst/>
          </a:prstGeom>
        </p:spPr>
        <p:txBody>
          <a:bodyPr anchorCtr="0" anchor="t" bIns="91425" lIns="91425" rIns="91425" tIns="91425"/>
          <a:lstStyle>
            <a:lvl1pPr lvl="0">
              <a:spcBef>
                <a:spcPts val="0"/>
              </a:spcBef>
              <a:buSzPct val="100000"/>
              <a:defRPr sz="14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p:txBody>
      </p:sp>
      <p:sp>
        <p:nvSpPr>
          <p:cNvPr id="28" name="Shape 28"/>
          <p:cNvSpPr txBox="1"/>
          <p:nvPr>
            <p:ph idx="12" type="sldNum"/>
          </p:nvPr>
        </p:nvSpPr>
        <p:spPr>
          <a:xfrm>
            <a:off x="8472457" y="4663216"/>
            <a:ext cx="548699"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Only">
  <p:cSld name="Title only">
    <p:spTree>
      <p:nvGrpSpPr>
        <p:cNvPr id="29" name="Shape 29"/>
        <p:cNvGrpSpPr/>
        <p:nvPr/>
      </p:nvGrpSpPr>
      <p:grpSpPr>
        <a:xfrm>
          <a:off x="0" y="0"/>
          <a:ext cx="0" cy="0"/>
          <a:chOff x="0" y="0"/>
          <a:chExt cx="0" cy="0"/>
        </a:xfrm>
      </p:grpSpPr>
      <p:sp>
        <p:nvSpPr>
          <p:cNvPr id="30" name="Shape 30"/>
          <p:cNvSpPr txBox="1"/>
          <p:nvPr>
            <p:ph type="title"/>
          </p:nvPr>
        </p:nvSpPr>
        <p:spPr>
          <a:xfrm>
            <a:off x="311700" y="445025"/>
            <a:ext cx="8520599" cy="613200"/>
          </a:xfrm>
          <a:prstGeom prst="rect">
            <a:avLst/>
          </a:prstGeom>
        </p:spPr>
        <p:txBody>
          <a:bodyPr anchorCtr="0" anchor="t"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31" name="Shape 31"/>
          <p:cNvSpPr txBox="1"/>
          <p:nvPr>
            <p:ph idx="12" type="sldNum"/>
          </p:nvPr>
        </p:nvSpPr>
        <p:spPr>
          <a:xfrm>
            <a:off x="8472457" y="4663216"/>
            <a:ext cx="548699"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One column text">
    <p:spTree>
      <p:nvGrpSpPr>
        <p:cNvPr id="32" name="Shape 32"/>
        <p:cNvGrpSpPr/>
        <p:nvPr/>
      </p:nvGrpSpPr>
      <p:grpSpPr>
        <a:xfrm>
          <a:off x="0" y="0"/>
          <a:ext cx="0" cy="0"/>
          <a:chOff x="0" y="0"/>
          <a:chExt cx="0" cy="0"/>
        </a:xfrm>
      </p:grpSpPr>
      <p:sp>
        <p:nvSpPr>
          <p:cNvPr id="33" name="Shape 33"/>
          <p:cNvSpPr txBox="1"/>
          <p:nvPr>
            <p:ph type="title"/>
          </p:nvPr>
        </p:nvSpPr>
        <p:spPr>
          <a:xfrm>
            <a:off x="311700" y="555600"/>
            <a:ext cx="2807999" cy="755699"/>
          </a:xfrm>
          <a:prstGeom prst="rect">
            <a:avLst/>
          </a:prstGeom>
        </p:spPr>
        <p:txBody>
          <a:bodyPr anchorCtr="0" anchor="b" bIns="91425" lIns="91425" rIns="91425" tIns="91425"/>
          <a:lstStyle>
            <a:lvl1pPr lvl="0">
              <a:spcBef>
                <a:spcPts val="0"/>
              </a:spcBef>
              <a:buSzPct val="100000"/>
              <a:defRPr sz="2400"/>
            </a:lvl1pPr>
            <a:lvl2pPr lvl="1">
              <a:spcBef>
                <a:spcPts val="0"/>
              </a:spcBef>
              <a:buSzPct val="100000"/>
              <a:defRPr sz="2400"/>
            </a:lvl2pPr>
            <a:lvl3pPr lvl="2">
              <a:spcBef>
                <a:spcPts val="0"/>
              </a:spcBef>
              <a:buSzPct val="100000"/>
              <a:defRPr sz="2400"/>
            </a:lvl3pPr>
            <a:lvl4pPr lvl="3">
              <a:spcBef>
                <a:spcPts val="0"/>
              </a:spcBef>
              <a:buSzPct val="100000"/>
              <a:defRPr sz="2400"/>
            </a:lvl4pPr>
            <a:lvl5pPr lvl="4">
              <a:spcBef>
                <a:spcPts val="0"/>
              </a:spcBef>
              <a:buSzPct val="100000"/>
              <a:defRPr sz="2400"/>
            </a:lvl5pPr>
            <a:lvl6pPr lvl="5">
              <a:spcBef>
                <a:spcPts val="0"/>
              </a:spcBef>
              <a:buSzPct val="100000"/>
              <a:defRPr sz="2400"/>
            </a:lvl6pPr>
            <a:lvl7pPr lvl="6">
              <a:spcBef>
                <a:spcPts val="0"/>
              </a:spcBef>
              <a:buSzPct val="100000"/>
              <a:defRPr sz="2400"/>
            </a:lvl7pPr>
            <a:lvl8pPr lvl="7">
              <a:spcBef>
                <a:spcPts val="0"/>
              </a:spcBef>
              <a:buSzPct val="100000"/>
              <a:defRPr sz="2400"/>
            </a:lvl8pPr>
            <a:lvl9pPr lvl="8">
              <a:spcBef>
                <a:spcPts val="0"/>
              </a:spcBef>
              <a:buSzPct val="100000"/>
              <a:defRPr sz="2400"/>
            </a:lvl9pPr>
          </a:lstStyle>
          <a:p/>
        </p:txBody>
      </p:sp>
      <p:sp>
        <p:nvSpPr>
          <p:cNvPr id="34" name="Shape 34"/>
          <p:cNvSpPr txBox="1"/>
          <p:nvPr>
            <p:ph idx="1" type="body"/>
          </p:nvPr>
        </p:nvSpPr>
        <p:spPr>
          <a:xfrm>
            <a:off x="311700" y="1389600"/>
            <a:ext cx="2807999" cy="3179400"/>
          </a:xfrm>
          <a:prstGeom prst="rect">
            <a:avLst/>
          </a:prstGeom>
        </p:spPr>
        <p:txBody>
          <a:bodyPr anchorCtr="0" anchor="t" bIns="91425" lIns="91425" rIns="91425" tIns="91425"/>
          <a:lstStyle>
            <a:lvl1pPr lvl="0">
              <a:spcBef>
                <a:spcPts val="0"/>
              </a:spcBef>
              <a:buSzPct val="100000"/>
              <a:defRPr sz="12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p:txBody>
      </p:sp>
      <p:sp>
        <p:nvSpPr>
          <p:cNvPr id="35" name="Shape 35"/>
          <p:cNvSpPr txBox="1"/>
          <p:nvPr>
            <p:ph idx="12" type="sldNum"/>
          </p:nvPr>
        </p:nvSpPr>
        <p:spPr>
          <a:xfrm>
            <a:off x="8472457" y="4663216"/>
            <a:ext cx="548699"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Main point">
    <p:bg>
      <p:bgPr>
        <a:solidFill>
          <a:schemeClr val="lt2"/>
        </a:solidFill>
      </p:bgPr>
    </p:bg>
    <p:spTree>
      <p:nvGrpSpPr>
        <p:cNvPr id="36" name="Shape 36"/>
        <p:cNvGrpSpPr/>
        <p:nvPr/>
      </p:nvGrpSpPr>
      <p:grpSpPr>
        <a:xfrm>
          <a:off x="0" y="0"/>
          <a:ext cx="0" cy="0"/>
          <a:chOff x="0" y="0"/>
          <a:chExt cx="0" cy="0"/>
        </a:xfrm>
      </p:grpSpPr>
      <p:sp>
        <p:nvSpPr>
          <p:cNvPr id="37" name="Shape 37"/>
          <p:cNvSpPr txBox="1"/>
          <p:nvPr>
            <p:ph type="title"/>
          </p:nvPr>
        </p:nvSpPr>
        <p:spPr>
          <a:xfrm>
            <a:off x="490250" y="526350"/>
            <a:ext cx="5604000" cy="4090800"/>
          </a:xfrm>
          <a:prstGeom prst="rect">
            <a:avLst/>
          </a:prstGeom>
        </p:spPr>
        <p:txBody>
          <a:bodyPr anchorCtr="0" anchor="ctr" bIns="91425" lIns="91425" rIns="91425" tIns="91425"/>
          <a:lstStyle>
            <a:lvl1pPr lvl="0">
              <a:spcBef>
                <a:spcPts val="0"/>
              </a:spcBef>
              <a:buClr>
                <a:schemeClr val="accent1"/>
              </a:buClr>
              <a:buSzPct val="100000"/>
              <a:defRPr sz="5400">
                <a:solidFill>
                  <a:schemeClr val="accent1"/>
                </a:solidFill>
              </a:defRPr>
            </a:lvl1pPr>
            <a:lvl2pPr lvl="1">
              <a:spcBef>
                <a:spcPts val="0"/>
              </a:spcBef>
              <a:buClr>
                <a:schemeClr val="accent1"/>
              </a:buClr>
              <a:buSzPct val="100000"/>
              <a:defRPr sz="5400">
                <a:solidFill>
                  <a:schemeClr val="accent1"/>
                </a:solidFill>
              </a:defRPr>
            </a:lvl2pPr>
            <a:lvl3pPr lvl="2">
              <a:spcBef>
                <a:spcPts val="0"/>
              </a:spcBef>
              <a:buClr>
                <a:schemeClr val="accent1"/>
              </a:buClr>
              <a:buSzPct val="100000"/>
              <a:defRPr sz="5400">
                <a:solidFill>
                  <a:schemeClr val="accent1"/>
                </a:solidFill>
              </a:defRPr>
            </a:lvl3pPr>
            <a:lvl4pPr lvl="3">
              <a:spcBef>
                <a:spcPts val="0"/>
              </a:spcBef>
              <a:buClr>
                <a:schemeClr val="accent1"/>
              </a:buClr>
              <a:buSzPct val="100000"/>
              <a:defRPr sz="5400">
                <a:solidFill>
                  <a:schemeClr val="accent1"/>
                </a:solidFill>
              </a:defRPr>
            </a:lvl4pPr>
            <a:lvl5pPr lvl="4">
              <a:spcBef>
                <a:spcPts val="0"/>
              </a:spcBef>
              <a:buClr>
                <a:schemeClr val="accent1"/>
              </a:buClr>
              <a:buSzPct val="100000"/>
              <a:defRPr sz="5400">
                <a:solidFill>
                  <a:schemeClr val="accent1"/>
                </a:solidFill>
              </a:defRPr>
            </a:lvl5pPr>
            <a:lvl6pPr lvl="5">
              <a:spcBef>
                <a:spcPts val="0"/>
              </a:spcBef>
              <a:buClr>
                <a:schemeClr val="accent1"/>
              </a:buClr>
              <a:buSzPct val="100000"/>
              <a:defRPr sz="5400">
                <a:solidFill>
                  <a:schemeClr val="accent1"/>
                </a:solidFill>
              </a:defRPr>
            </a:lvl6pPr>
            <a:lvl7pPr lvl="6">
              <a:spcBef>
                <a:spcPts val="0"/>
              </a:spcBef>
              <a:buClr>
                <a:schemeClr val="accent1"/>
              </a:buClr>
              <a:buSzPct val="100000"/>
              <a:defRPr sz="5400">
                <a:solidFill>
                  <a:schemeClr val="accent1"/>
                </a:solidFill>
              </a:defRPr>
            </a:lvl7pPr>
            <a:lvl8pPr lvl="7">
              <a:spcBef>
                <a:spcPts val="0"/>
              </a:spcBef>
              <a:buClr>
                <a:schemeClr val="accent1"/>
              </a:buClr>
              <a:buSzPct val="100000"/>
              <a:defRPr sz="5400">
                <a:solidFill>
                  <a:schemeClr val="accent1"/>
                </a:solidFill>
              </a:defRPr>
            </a:lvl8pPr>
            <a:lvl9pPr lvl="8">
              <a:spcBef>
                <a:spcPts val="0"/>
              </a:spcBef>
              <a:buClr>
                <a:schemeClr val="accent1"/>
              </a:buClr>
              <a:buSzPct val="100000"/>
              <a:defRPr sz="5400">
                <a:solidFill>
                  <a:schemeClr val="accent1"/>
                </a:solidFill>
              </a:defRPr>
            </a:lvl9pPr>
          </a:lstStyle>
          <a:p/>
        </p:txBody>
      </p:sp>
      <p:sp>
        <p:nvSpPr>
          <p:cNvPr id="38" name="Shape 38"/>
          <p:cNvSpPr txBox="1"/>
          <p:nvPr>
            <p:ph idx="12" type="sldNum"/>
          </p:nvPr>
        </p:nvSpPr>
        <p:spPr>
          <a:xfrm>
            <a:off x="8472457" y="4663216"/>
            <a:ext cx="548699"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solidFill>
                  <a:schemeClr val="accent1"/>
                </a:solidFill>
              </a:rPr>
              <a:t>‹#›</a:t>
            </a:fld>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Section title and description">
    <p:spTree>
      <p:nvGrpSpPr>
        <p:cNvPr id="39" name="Shape 39"/>
        <p:cNvGrpSpPr/>
        <p:nvPr/>
      </p:nvGrpSpPr>
      <p:grpSpPr>
        <a:xfrm>
          <a:off x="0" y="0"/>
          <a:ext cx="0" cy="0"/>
          <a:chOff x="0" y="0"/>
          <a:chExt cx="0" cy="0"/>
        </a:xfrm>
      </p:grpSpPr>
      <p:sp>
        <p:nvSpPr>
          <p:cNvPr id="40" name="Shape 40"/>
          <p:cNvSpPr/>
          <p:nvPr/>
        </p:nvSpPr>
        <p:spPr>
          <a:xfrm>
            <a:off x="4572000" y="-25"/>
            <a:ext cx="4572000" cy="5143499"/>
          </a:xfrm>
          <a:prstGeom prst="rect">
            <a:avLst/>
          </a:prstGeom>
          <a:solidFill>
            <a:schemeClr val="dk1"/>
          </a:solidFill>
          <a:ln>
            <a:noFill/>
          </a:ln>
        </p:spPr>
        <p:txBody>
          <a:bodyPr anchorCtr="0" anchor="ctr" bIns="91425" lIns="91425" rIns="91425" tIns="91425">
            <a:noAutofit/>
          </a:bodyPr>
          <a:lstStyle/>
          <a:p>
            <a:pPr lvl="0">
              <a:spcBef>
                <a:spcPts val="0"/>
              </a:spcBef>
              <a:buNone/>
            </a:pPr>
            <a:r>
              <a:t/>
            </a:r>
            <a:endParaRPr/>
          </a:p>
        </p:txBody>
      </p:sp>
      <p:cxnSp>
        <p:nvCxnSpPr>
          <p:cNvPr id="41" name="Shape 41"/>
          <p:cNvCxnSpPr/>
          <p:nvPr/>
        </p:nvCxnSpPr>
        <p:spPr>
          <a:xfrm>
            <a:off x="5029675" y="4495500"/>
            <a:ext cx="686399" cy="0"/>
          </a:xfrm>
          <a:prstGeom prst="straightConnector1">
            <a:avLst/>
          </a:prstGeom>
          <a:noFill/>
          <a:ln cap="flat" cmpd="sng" w="19050">
            <a:solidFill>
              <a:schemeClr val="lt2"/>
            </a:solidFill>
            <a:prstDash val="solid"/>
            <a:round/>
            <a:headEnd len="med" w="med" type="none"/>
            <a:tailEnd len="med" w="med" type="none"/>
          </a:ln>
        </p:spPr>
      </p:cxnSp>
      <p:sp>
        <p:nvSpPr>
          <p:cNvPr id="42" name="Shape 42"/>
          <p:cNvSpPr txBox="1"/>
          <p:nvPr>
            <p:ph type="title"/>
          </p:nvPr>
        </p:nvSpPr>
        <p:spPr>
          <a:xfrm>
            <a:off x="265500" y="1382350"/>
            <a:ext cx="4045199" cy="1333200"/>
          </a:xfrm>
          <a:prstGeom prst="rect">
            <a:avLst/>
          </a:prstGeom>
        </p:spPr>
        <p:txBody>
          <a:bodyPr anchorCtr="0" anchor="b" bIns="91425" lIns="91425" rIns="91425" tIns="91425"/>
          <a:lstStyle>
            <a:lvl1pPr lvl="0" algn="ctr">
              <a:spcBef>
                <a:spcPts val="0"/>
              </a:spcBef>
              <a:buClr>
                <a:schemeClr val="lt2"/>
              </a:buClr>
              <a:buSzPct val="100000"/>
              <a:defRPr sz="4200">
                <a:solidFill>
                  <a:schemeClr val="lt2"/>
                </a:solidFill>
              </a:defRPr>
            </a:lvl1pPr>
            <a:lvl2pPr lvl="1" algn="ctr">
              <a:spcBef>
                <a:spcPts val="0"/>
              </a:spcBef>
              <a:buClr>
                <a:schemeClr val="lt2"/>
              </a:buClr>
              <a:buSzPct val="100000"/>
              <a:defRPr sz="4200">
                <a:solidFill>
                  <a:schemeClr val="lt2"/>
                </a:solidFill>
              </a:defRPr>
            </a:lvl2pPr>
            <a:lvl3pPr lvl="2" algn="ctr">
              <a:spcBef>
                <a:spcPts val="0"/>
              </a:spcBef>
              <a:buClr>
                <a:schemeClr val="lt2"/>
              </a:buClr>
              <a:buSzPct val="100000"/>
              <a:defRPr sz="4200">
                <a:solidFill>
                  <a:schemeClr val="lt2"/>
                </a:solidFill>
              </a:defRPr>
            </a:lvl3pPr>
            <a:lvl4pPr lvl="3" algn="ctr">
              <a:spcBef>
                <a:spcPts val="0"/>
              </a:spcBef>
              <a:buClr>
                <a:schemeClr val="lt2"/>
              </a:buClr>
              <a:buSzPct val="100000"/>
              <a:defRPr sz="4200">
                <a:solidFill>
                  <a:schemeClr val="lt2"/>
                </a:solidFill>
              </a:defRPr>
            </a:lvl4pPr>
            <a:lvl5pPr lvl="4" algn="ctr">
              <a:spcBef>
                <a:spcPts val="0"/>
              </a:spcBef>
              <a:buClr>
                <a:schemeClr val="lt2"/>
              </a:buClr>
              <a:buSzPct val="100000"/>
              <a:defRPr sz="4200">
                <a:solidFill>
                  <a:schemeClr val="lt2"/>
                </a:solidFill>
              </a:defRPr>
            </a:lvl5pPr>
            <a:lvl6pPr lvl="5" algn="ctr">
              <a:spcBef>
                <a:spcPts val="0"/>
              </a:spcBef>
              <a:buClr>
                <a:schemeClr val="lt2"/>
              </a:buClr>
              <a:buSzPct val="100000"/>
              <a:defRPr sz="4200">
                <a:solidFill>
                  <a:schemeClr val="lt2"/>
                </a:solidFill>
              </a:defRPr>
            </a:lvl6pPr>
            <a:lvl7pPr lvl="6" algn="ctr">
              <a:spcBef>
                <a:spcPts val="0"/>
              </a:spcBef>
              <a:buClr>
                <a:schemeClr val="lt2"/>
              </a:buClr>
              <a:buSzPct val="100000"/>
              <a:defRPr sz="4200">
                <a:solidFill>
                  <a:schemeClr val="lt2"/>
                </a:solidFill>
              </a:defRPr>
            </a:lvl7pPr>
            <a:lvl8pPr lvl="7" algn="ctr">
              <a:spcBef>
                <a:spcPts val="0"/>
              </a:spcBef>
              <a:buClr>
                <a:schemeClr val="lt2"/>
              </a:buClr>
              <a:buSzPct val="100000"/>
              <a:defRPr sz="4200">
                <a:solidFill>
                  <a:schemeClr val="lt2"/>
                </a:solidFill>
              </a:defRPr>
            </a:lvl8pPr>
            <a:lvl9pPr lvl="8" algn="ctr">
              <a:spcBef>
                <a:spcPts val="0"/>
              </a:spcBef>
              <a:buClr>
                <a:schemeClr val="lt2"/>
              </a:buClr>
              <a:buSzPct val="100000"/>
              <a:defRPr sz="4200">
                <a:solidFill>
                  <a:schemeClr val="lt2"/>
                </a:solidFill>
              </a:defRPr>
            </a:lvl9pPr>
          </a:lstStyle>
          <a:p/>
        </p:txBody>
      </p:sp>
      <p:sp>
        <p:nvSpPr>
          <p:cNvPr id="43" name="Shape 43"/>
          <p:cNvSpPr txBox="1"/>
          <p:nvPr>
            <p:ph idx="1" type="subTitle"/>
          </p:nvPr>
        </p:nvSpPr>
        <p:spPr>
          <a:xfrm>
            <a:off x="265500" y="2769000"/>
            <a:ext cx="4045199" cy="1345500"/>
          </a:xfrm>
          <a:prstGeom prst="rect">
            <a:avLst/>
          </a:prstGeom>
        </p:spPr>
        <p:txBody>
          <a:bodyPr anchorCtr="0" anchor="t" bIns="91425" lIns="91425" rIns="91425" tIns="91425"/>
          <a:lstStyle>
            <a:lvl1pPr lvl="0" algn="ctr">
              <a:lnSpc>
                <a:spcPct val="100000"/>
              </a:lnSpc>
              <a:spcBef>
                <a:spcPts val="0"/>
              </a:spcBef>
              <a:spcAft>
                <a:spcPts val="0"/>
              </a:spcAft>
              <a:buSzPct val="100000"/>
              <a:buNone/>
              <a:defRPr sz="2100"/>
            </a:lvl1pPr>
            <a:lvl2pPr lvl="1" algn="ctr">
              <a:lnSpc>
                <a:spcPct val="100000"/>
              </a:lnSpc>
              <a:spcBef>
                <a:spcPts val="0"/>
              </a:spcBef>
              <a:spcAft>
                <a:spcPts val="0"/>
              </a:spcAft>
              <a:buSzPct val="100000"/>
              <a:buNone/>
              <a:defRPr sz="2100"/>
            </a:lvl2pPr>
            <a:lvl3pPr lvl="2" algn="ctr">
              <a:lnSpc>
                <a:spcPct val="100000"/>
              </a:lnSpc>
              <a:spcBef>
                <a:spcPts val="0"/>
              </a:spcBef>
              <a:spcAft>
                <a:spcPts val="0"/>
              </a:spcAft>
              <a:buSzPct val="100000"/>
              <a:buNone/>
              <a:defRPr sz="2100"/>
            </a:lvl3pPr>
            <a:lvl4pPr lvl="3" algn="ctr">
              <a:lnSpc>
                <a:spcPct val="100000"/>
              </a:lnSpc>
              <a:spcBef>
                <a:spcPts val="0"/>
              </a:spcBef>
              <a:spcAft>
                <a:spcPts val="0"/>
              </a:spcAft>
              <a:buSzPct val="100000"/>
              <a:buNone/>
              <a:defRPr sz="2100"/>
            </a:lvl4pPr>
            <a:lvl5pPr lvl="4" algn="ctr">
              <a:lnSpc>
                <a:spcPct val="100000"/>
              </a:lnSpc>
              <a:spcBef>
                <a:spcPts val="0"/>
              </a:spcBef>
              <a:spcAft>
                <a:spcPts val="0"/>
              </a:spcAft>
              <a:buSzPct val="100000"/>
              <a:buNone/>
              <a:defRPr sz="2100"/>
            </a:lvl5pPr>
            <a:lvl6pPr lvl="5" algn="ctr">
              <a:lnSpc>
                <a:spcPct val="100000"/>
              </a:lnSpc>
              <a:spcBef>
                <a:spcPts val="0"/>
              </a:spcBef>
              <a:spcAft>
                <a:spcPts val="0"/>
              </a:spcAft>
              <a:buSzPct val="100000"/>
              <a:buNone/>
              <a:defRPr sz="2100"/>
            </a:lvl6pPr>
            <a:lvl7pPr lvl="6" algn="ctr">
              <a:lnSpc>
                <a:spcPct val="100000"/>
              </a:lnSpc>
              <a:spcBef>
                <a:spcPts val="0"/>
              </a:spcBef>
              <a:spcAft>
                <a:spcPts val="0"/>
              </a:spcAft>
              <a:buSzPct val="100000"/>
              <a:buNone/>
              <a:defRPr sz="2100"/>
            </a:lvl7pPr>
            <a:lvl8pPr lvl="7" algn="ctr">
              <a:lnSpc>
                <a:spcPct val="100000"/>
              </a:lnSpc>
              <a:spcBef>
                <a:spcPts val="0"/>
              </a:spcBef>
              <a:spcAft>
                <a:spcPts val="0"/>
              </a:spcAft>
              <a:buSzPct val="100000"/>
              <a:buNone/>
              <a:defRPr sz="2100"/>
            </a:lvl8pPr>
            <a:lvl9pPr lvl="8" algn="ctr">
              <a:lnSpc>
                <a:spcPct val="100000"/>
              </a:lnSpc>
              <a:spcBef>
                <a:spcPts val="0"/>
              </a:spcBef>
              <a:spcAft>
                <a:spcPts val="0"/>
              </a:spcAft>
              <a:buSzPct val="100000"/>
              <a:buNone/>
              <a:defRPr sz="2100"/>
            </a:lvl9pPr>
          </a:lstStyle>
          <a:p/>
        </p:txBody>
      </p:sp>
      <p:sp>
        <p:nvSpPr>
          <p:cNvPr id="44" name="Shape 44"/>
          <p:cNvSpPr txBox="1"/>
          <p:nvPr>
            <p:ph idx="2" type="body"/>
          </p:nvPr>
        </p:nvSpPr>
        <p:spPr>
          <a:xfrm>
            <a:off x="4939500" y="724200"/>
            <a:ext cx="3837000" cy="3695099"/>
          </a:xfrm>
          <a:prstGeom prst="rect">
            <a:avLst/>
          </a:prstGeom>
        </p:spPr>
        <p:txBody>
          <a:bodyPr anchorCtr="0" anchor="ctr" bIns="91425" lIns="91425" rIns="91425" tIns="91425"/>
          <a:lstStyle>
            <a:lvl1pPr lvl="0">
              <a:spcBef>
                <a:spcPts val="0"/>
              </a:spcBef>
              <a:buClr>
                <a:schemeClr val="accent1"/>
              </a:buClr>
              <a:defRPr>
                <a:solidFill>
                  <a:schemeClr val="accent1"/>
                </a:solidFill>
              </a:defRPr>
            </a:lvl1pPr>
            <a:lvl2pPr lvl="1">
              <a:spcBef>
                <a:spcPts val="0"/>
              </a:spcBef>
              <a:buClr>
                <a:schemeClr val="accent1"/>
              </a:buClr>
              <a:defRPr>
                <a:solidFill>
                  <a:schemeClr val="accent1"/>
                </a:solidFill>
              </a:defRPr>
            </a:lvl2pPr>
            <a:lvl3pPr lvl="2">
              <a:spcBef>
                <a:spcPts val="0"/>
              </a:spcBef>
              <a:buClr>
                <a:schemeClr val="accent1"/>
              </a:buClr>
              <a:defRPr>
                <a:solidFill>
                  <a:schemeClr val="accent1"/>
                </a:solidFill>
              </a:defRPr>
            </a:lvl3pPr>
            <a:lvl4pPr lvl="3">
              <a:spcBef>
                <a:spcPts val="0"/>
              </a:spcBef>
              <a:buClr>
                <a:schemeClr val="accent1"/>
              </a:buClr>
              <a:defRPr>
                <a:solidFill>
                  <a:schemeClr val="accent1"/>
                </a:solidFill>
              </a:defRPr>
            </a:lvl4pPr>
            <a:lvl5pPr lvl="4">
              <a:spcBef>
                <a:spcPts val="0"/>
              </a:spcBef>
              <a:buClr>
                <a:schemeClr val="accent1"/>
              </a:buClr>
              <a:defRPr>
                <a:solidFill>
                  <a:schemeClr val="accent1"/>
                </a:solidFill>
              </a:defRPr>
            </a:lvl5pPr>
            <a:lvl6pPr lvl="5">
              <a:spcBef>
                <a:spcPts val="0"/>
              </a:spcBef>
              <a:buClr>
                <a:schemeClr val="accent1"/>
              </a:buClr>
              <a:defRPr>
                <a:solidFill>
                  <a:schemeClr val="accent1"/>
                </a:solidFill>
              </a:defRPr>
            </a:lvl6pPr>
            <a:lvl7pPr lvl="6">
              <a:spcBef>
                <a:spcPts val="0"/>
              </a:spcBef>
              <a:buClr>
                <a:schemeClr val="accent1"/>
              </a:buClr>
              <a:defRPr>
                <a:solidFill>
                  <a:schemeClr val="accent1"/>
                </a:solidFill>
              </a:defRPr>
            </a:lvl7pPr>
            <a:lvl8pPr lvl="7">
              <a:spcBef>
                <a:spcPts val="0"/>
              </a:spcBef>
              <a:buClr>
                <a:schemeClr val="accent1"/>
              </a:buClr>
              <a:defRPr>
                <a:solidFill>
                  <a:schemeClr val="accent1"/>
                </a:solidFill>
              </a:defRPr>
            </a:lvl8pPr>
            <a:lvl9pPr lvl="8">
              <a:spcBef>
                <a:spcPts val="0"/>
              </a:spcBef>
              <a:buClr>
                <a:schemeClr val="accent1"/>
              </a:buClr>
              <a:defRPr>
                <a:solidFill>
                  <a:schemeClr val="accent1"/>
                </a:solidFill>
              </a:defRPr>
            </a:lvl9pPr>
          </a:lstStyle>
          <a:p/>
        </p:txBody>
      </p:sp>
      <p:sp>
        <p:nvSpPr>
          <p:cNvPr id="45" name="Shape 45"/>
          <p:cNvSpPr txBox="1"/>
          <p:nvPr>
            <p:ph idx="12" type="sldNum"/>
          </p:nvPr>
        </p:nvSpPr>
        <p:spPr>
          <a:xfrm>
            <a:off x="8472457" y="4663216"/>
            <a:ext cx="548699"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solidFill>
                  <a:schemeClr val="accent1"/>
                </a:solidFill>
              </a:rPr>
              <a:t>‹#›</a:t>
            </a:fld>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Caption">
    <p:spTree>
      <p:nvGrpSpPr>
        <p:cNvPr id="46" name="Shape 46"/>
        <p:cNvGrpSpPr/>
        <p:nvPr/>
      </p:nvGrpSpPr>
      <p:grpSpPr>
        <a:xfrm>
          <a:off x="0" y="0"/>
          <a:ext cx="0" cy="0"/>
          <a:chOff x="0" y="0"/>
          <a:chExt cx="0" cy="0"/>
        </a:xfrm>
      </p:grpSpPr>
      <p:sp>
        <p:nvSpPr>
          <p:cNvPr id="47" name="Shape 47"/>
          <p:cNvSpPr txBox="1"/>
          <p:nvPr>
            <p:ph idx="1" type="body"/>
          </p:nvPr>
        </p:nvSpPr>
        <p:spPr>
          <a:xfrm>
            <a:off x="311700" y="4230575"/>
            <a:ext cx="5998800" cy="605100"/>
          </a:xfrm>
          <a:prstGeom prst="rect">
            <a:avLst/>
          </a:prstGeom>
        </p:spPr>
        <p:txBody>
          <a:bodyPr anchorCtr="0" anchor="ctr" bIns="91425" lIns="91425" rIns="91425" tIns="91425"/>
          <a:lstStyle>
            <a:lvl1pPr lvl="0">
              <a:lnSpc>
                <a:spcPct val="100000"/>
              </a:lnSpc>
              <a:spcBef>
                <a:spcPts val="0"/>
              </a:spcBef>
              <a:spcAft>
                <a:spcPts val="0"/>
              </a:spcAft>
              <a:buNone/>
              <a:defRPr/>
            </a:lvl1pPr>
          </a:lstStyle>
          <a:p/>
        </p:txBody>
      </p:sp>
      <p:sp>
        <p:nvSpPr>
          <p:cNvPr id="48" name="Shape 48"/>
          <p:cNvSpPr txBox="1"/>
          <p:nvPr>
            <p:ph idx="12" type="sldNum"/>
          </p:nvPr>
        </p:nvSpPr>
        <p:spPr>
          <a:xfrm>
            <a:off x="8472457" y="4663216"/>
            <a:ext cx="548699"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Big number">
    <p:spTree>
      <p:nvGrpSpPr>
        <p:cNvPr id="49" name="Shape 49"/>
        <p:cNvGrpSpPr/>
        <p:nvPr/>
      </p:nvGrpSpPr>
      <p:grpSpPr>
        <a:xfrm>
          <a:off x="0" y="0"/>
          <a:ext cx="0" cy="0"/>
          <a:chOff x="0" y="0"/>
          <a:chExt cx="0" cy="0"/>
        </a:xfrm>
      </p:grpSpPr>
      <p:sp>
        <p:nvSpPr>
          <p:cNvPr id="50" name="Shape 50"/>
          <p:cNvSpPr txBox="1"/>
          <p:nvPr>
            <p:ph type="title"/>
          </p:nvPr>
        </p:nvSpPr>
        <p:spPr>
          <a:xfrm>
            <a:off x="311700" y="1039650"/>
            <a:ext cx="8520599" cy="2106299"/>
          </a:xfrm>
          <a:prstGeom prst="rect">
            <a:avLst/>
          </a:prstGeom>
        </p:spPr>
        <p:txBody>
          <a:bodyPr anchorCtr="0" anchor="b" bIns="91425" lIns="91425" rIns="91425" tIns="91425"/>
          <a:lstStyle>
            <a:lvl1pPr lvl="0" algn="ctr">
              <a:spcBef>
                <a:spcPts val="0"/>
              </a:spcBef>
              <a:buSzPct val="100000"/>
              <a:defRPr b="1" sz="14000"/>
            </a:lvl1pPr>
            <a:lvl2pPr lvl="1" algn="ctr">
              <a:spcBef>
                <a:spcPts val="0"/>
              </a:spcBef>
              <a:buSzPct val="100000"/>
              <a:defRPr b="1" sz="14000"/>
            </a:lvl2pPr>
            <a:lvl3pPr lvl="2" algn="ctr">
              <a:spcBef>
                <a:spcPts val="0"/>
              </a:spcBef>
              <a:buSzPct val="100000"/>
              <a:defRPr b="1" sz="14000"/>
            </a:lvl3pPr>
            <a:lvl4pPr lvl="3" algn="ctr">
              <a:spcBef>
                <a:spcPts val="0"/>
              </a:spcBef>
              <a:buSzPct val="100000"/>
              <a:defRPr b="1" sz="14000"/>
            </a:lvl4pPr>
            <a:lvl5pPr lvl="4" algn="ctr">
              <a:spcBef>
                <a:spcPts val="0"/>
              </a:spcBef>
              <a:buSzPct val="100000"/>
              <a:defRPr b="1" sz="14000"/>
            </a:lvl5pPr>
            <a:lvl6pPr lvl="5" algn="ctr">
              <a:spcBef>
                <a:spcPts val="0"/>
              </a:spcBef>
              <a:buSzPct val="100000"/>
              <a:defRPr b="1" sz="14000"/>
            </a:lvl6pPr>
            <a:lvl7pPr lvl="6" algn="ctr">
              <a:spcBef>
                <a:spcPts val="0"/>
              </a:spcBef>
              <a:buSzPct val="100000"/>
              <a:defRPr b="1" sz="14000"/>
            </a:lvl7pPr>
            <a:lvl8pPr lvl="7" algn="ctr">
              <a:spcBef>
                <a:spcPts val="0"/>
              </a:spcBef>
              <a:buSzPct val="100000"/>
              <a:defRPr b="1" sz="14000"/>
            </a:lvl8pPr>
            <a:lvl9pPr lvl="8" algn="ctr">
              <a:spcBef>
                <a:spcPts val="0"/>
              </a:spcBef>
              <a:buSzPct val="100000"/>
              <a:defRPr b="1" sz="14000"/>
            </a:lvl9pPr>
          </a:lstStyle>
          <a:p/>
        </p:txBody>
      </p:sp>
      <p:sp>
        <p:nvSpPr>
          <p:cNvPr id="51" name="Shape 51"/>
          <p:cNvSpPr txBox="1"/>
          <p:nvPr>
            <p:ph idx="1" type="body"/>
          </p:nvPr>
        </p:nvSpPr>
        <p:spPr>
          <a:xfrm>
            <a:off x="311700" y="3228425"/>
            <a:ext cx="8520599" cy="1300800"/>
          </a:xfrm>
          <a:prstGeom prst="rect">
            <a:avLst/>
          </a:prstGeom>
        </p:spPr>
        <p:txBody>
          <a:bodyPr anchorCtr="0" anchor="t" bIns="91425" lIns="91425" rIns="91425" tIns="91425"/>
          <a:lstStyle>
            <a:lvl1pPr lvl="0" algn="ctr">
              <a:spcBef>
                <a:spcPts val="0"/>
              </a:spcBef>
              <a:defRPr/>
            </a:lvl1pPr>
            <a:lvl2pPr lvl="1" algn="ctr">
              <a:spcBef>
                <a:spcPts val="0"/>
              </a:spcBef>
              <a:defRPr/>
            </a:lvl2pPr>
            <a:lvl3pPr lvl="2" algn="ctr">
              <a:spcBef>
                <a:spcPts val="0"/>
              </a:spcBef>
              <a:defRPr/>
            </a:lvl3pPr>
            <a:lvl4pPr lvl="3" algn="ctr">
              <a:spcBef>
                <a:spcPts val="0"/>
              </a:spcBef>
              <a:defRPr/>
            </a:lvl4pPr>
            <a:lvl5pPr lvl="4" algn="ctr">
              <a:spcBef>
                <a:spcPts val="0"/>
              </a:spcBef>
              <a:defRPr/>
            </a:lvl5pPr>
            <a:lvl6pPr lvl="5" algn="ctr">
              <a:spcBef>
                <a:spcPts val="0"/>
              </a:spcBef>
              <a:defRPr/>
            </a:lvl6pPr>
            <a:lvl7pPr lvl="6" algn="ctr">
              <a:spcBef>
                <a:spcPts val="0"/>
              </a:spcBef>
              <a:defRPr/>
            </a:lvl7pPr>
            <a:lvl8pPr lvl="7" algn="ctr">
              <a:spcBef>
                <a:spcPts val="0"/>
              </a:spcBef>
              <a:defRPr/>
            </a:lvl8pPr>
            <a:lvl9pPr lvl="8" algn="ctr">
              <a:spcBef>
                <a:spcPts val="0"/>
              </a:spcBef>
              <a:defRPr/>
            </a:lvl9pPr>
          </a:lstStyle>
          <a:p/>
        </p:txBody>
      </p:sp>
      <p:sp>
        <p:nvSpPr>
          <p:cNvPr id="52" name="Shape 52"/>
          <p:cNvSpPr txBox="1"/>
          <p:nvPr>
            <p:ph idx="12" type="sldNum"/>
          </p:nvPr>
        </p:nvSpPr>
        <p:spPr>
          <a:xfrm>
            <a:off x="8472457" y="4663216"/>
            <a:ext cx="548699"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blank">
  <p:cSld name="Blank">
    <p:spTree>
      <p:nvGrpSpPr>
        <p:cNvPr id="53" name="Shape 53"/>
        <p:cNvGrpSpPr/>
        <p:nvPr/>
      </p:nvGrpSpPr>
      <p:grpSpPr>
        <a:xfrm>
          <a:off x="0" y="0"/>
          <a:ext cx="0" cy="0"/>
          <a:chOff x="0" y="0"/>
          <a:chExt cx="0" cy="0"/>
        </a:xfrm>
      </p:grpSpPr>
      <p:sp>
        <p:nvSpPr>
          <p:cNvPr id="54" name="Shape 54"/>
          <p:cNvSpPr txBox="1"/>
          <p:nvPr>
            <p:ph idx="12" type="sldNum"/>
          </p:nvPr>
        </p:nvSpPr>
        <p:spPr>
          <a:xfrm>
            <a:off x="8472457" y="4663216"/>
            <a:ext cx="548699"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accent1"/>
        </a:solidFill>
      </p:bgPr>
    </p:bg>
    <p:spTree>
      <p:nvGrpSpPr>
        <p:cNvPr id="5" name="Shape 5"/>
        <p:cNvGrpSpPr/>
        <p:nvPr/>
      </p:nvGrpSpPr>
      <p:grpSpPr>
        <a:xfrm>
          <a:off x="0" y="0"/>
          <a:ext cx="0" cy="0"/>
          <a:chOff x="0" y="0"/>
          <a:chExt cx="0" cy="0"/>
        </a:xfrm>
      </p:grpSpPr>
      <p:sp>
        <p:nvSpPr>
          <p:cNvPr id="6" name="Shape 6"/>
          <p:cNvSpPr txBox="1"/>
          <p:nvPr>
            <p:ph type="title"/>
          </p:nvPr>
        </p:nvSpPr>
        <p:spPr>
          <a:xfrm>
            <a:off x="311700" y="445025"/>
            <a:ext cx="8520599" cy="613200"/>
          </a:xfrm>
          <a:prstGeom prst="rect">
            <a:avLst/>
          </a:prstGeom>
          <a:noFill/>
          <a:ln>
            <a:noFill/>
          </a:ln>
        </p:spPr>
        <p:txBody>
          <a:bodyPr anchorCtr="0" anchor="t" bIns="91425" lIns="91425" rIns="91425" tIns="91425"/>
          <a:lstStyle>
            <a:lvl1pPr lvl="0">
              <a:spcBef>
                <a:spcPts val="0"/>
              </a:spcBef>
              <a:buClr>
                <a:schemeClr val="dk1"/>
              </a:buClr>
              <a:buSzPct val="100000"/>
              <a:buFont typeface="Old Standard TT"/>
              <a:buNone/>
              <a:defRPr sz="3000">
                <a:solidFill>
                  <a:schemeClr val="dk1"/>
                </a:solidFill>
                <a:latin typeface="Old Standard TT"/>
                <a:ea typeface="Old Standard TT"/>
                <a:cs typeface="Old Standard TT"/>
                <a:sym typeface="Old Standard TT"/>
              </a:defRPr>
            </a:lvl1pPr>
            <a:lvl2pPr lvl="1">
              <a:spcBef>
                <a:spcPts val="0"/>
              </a:spcBef>
              <a:buClr>
                <a:schemeClr val="dk1"/>
              </a:buClr>
              <a:buSzPct val="100000"/>
              <a:buFont typeface="Old Standard TT"/>
              <a:buNone/>
              <a:defRPr sz="3000">
                <a:solidFill>
                  <a:schemeClr val="dk1"/>
                </a:solidFill>
                <a:latin typeface="Old Standard TT"/>
                <a:ea typeface="Old Standard TT"/>
                <a:cs typeface="Old Standard TT"/>
                <a:sym typeface="Old Standard TT"/>
              </a:defRPr>
            </a:lvl2pPr>
            <a:lvl3pPr lvl="2">
              <a:spcBef>
                <a:spcPts val="0"/>
              </a:spcBef>
              <a:buClr>
                <a:schemeClr val="dk1"/>
              </a:buClr>
              <a:buSzPct val="100000"/>
              <a:buFont typeface="Old Standard TT"/>
              <a:buNone/>
              <a:defRPr sz="3000">
                <a:solidFill>
                  <a:schemeClr val="dk1"/>
                </a:solidFill>
                <a:latin typeface="Old Standard TT"/>
                <a:ea typeface="Old Standard TT"/>
                <a:cs typeface="Old Standard TT"/>
                <a:sym typeface="Old Standard TT"/>
              </a:defRPr>
            </a:lvl3pPr>
            <a:lvl4pPr lvl="3">
              <a:spcBef>
                <a:spcPts val="0"/>
              </a:spcBef>
              <a:buClr>
                <a:schemeClr val="dk1"/>
              </a:buClr>
              <a:buSzPct val="100000"/>
              <a:buFont typeface="Old Standard TT"/>
              <a:buNone/>
              <a:defRPr sz="3000">
                <a:solidFill>
                  <a:schemeClr val="dk1"/>
                </a:solidFill>
                <a:latin typeface="Old Standard TT"/>
                <a:ea typeface="Old Standard TT"/>
                <a:cs typeface="Old Standard TT"/>
                <a:sym typeface="Old Standard TT"/>
              </a:defRPr>
            </a:lvl4pPr>
            <a:lvl5pPr lvl="4">
              <a:spcBef>
                <a:spcPts val="0"/>
              </a:spcBef>
              <a:buClr>
                <a:schemeClr val="dk1"/>
              </a:buClr>
              <a:buSzPct val="100000"/>
              <a:buFont typeface="Old Standard TT"/>
              <a:buNone/>
              <a:defRPr sz="3000">
                <a:solidFill>
                  <a:schemeClr val="dk1"/>
                </a:solidFill>
                <a:latin typeface="Old Standard TT"/>
                <a:ea typeface="Old Standard TT"/>
                <a:cs typeface="Old Standard TT"/>
                <a:sym typeface="Old Standard TT"/>
              </a:defRPr>
            </a:lvl5pPr>
            <a:lvl6pPr lvl="5">
              <a:spcBef>
                <a:spcPts val="0"/>
              </a:spcBef>
              <a:buClr>
                <a:schemeClr val="dk1"/>
              </a:buClr>
              <a:buSzPct val="100000"/>
              <a:buFont typeface="Old Standard TT"/>
              <a:buNone/>
              <a:defRPr sz="3000">
                <a:solidFill>
                  <a:schemeClr val="dk1"/>
                </a:solidFill>
                <a:latin typeface="Old Standard TT"/>
                <a:ea typeface="Old Standard TT"/>
                <a:cs typeface="Old Standard TT"/>
                <a:sym typeface="Old Standard TT"/>
              </a:defRPr>
            </a:lvl6pPr>
            <a:lvl7pPr lvl="6">
              <a:spcBef>
                <a:spcPts val="0"/>
              </a:spcBef>
              <a:buClr>
                <a:schemeClr val="dk1"/>
              </a:buClr>
              <a:buSzPct val="100000"/>
              <a:buFont typeface="Old Standard TT"/>
              <a:buNone/>
              <a:defRPr sz="3000">
                <a:solidFill>
                  <a:schemeClr val="dk1"/>
                </a:solidFill>
                <a:latin typeface="Old Standard TT"/>
                <a:ea typeface="Old Standard TT"/>
                <a:cs typeface="Old Standard TT"/>
                <a:sym typeface="Old Standard TT"/>
              </a:defRPr>
            </a:lvl7pPr>
            <a:lvl8pPr lvl="7">
              <a:spcBef>
                <a:spcPts val="0"/>
              </a:spcBef>
              <a:buClr>
                <a:schemeClr val="dk1"/>
              </a:buClr>
              <a:buSzPct val="100000"/>
              <a:buFont typeface="Old Standard TT"/>
              <a:buNone/>
              <a:defRPr sz="3000">
                <a:solidFill>
                  <a:schemeClr val="dk1"/>
                </a:solidFill>
                <a:latin typeface="Old Standard TT"/>
                <a:ea typeface="Old Standard TT"/>
                <a:cs typeface="Old Standard TT"/>
                <a:sym typeface="Old Standard TT"/>
              </a:defRPr>
            </a:lvl8pPr>
            <a:lvl9pPr lvl="8">
              <a:spcBef>
                <a:spcPts val="0"/>
              </a:spcBef>
              <a:buClr>
                <a:schemeClr val="dk1"/>
              </a:buClr>
              <a:buSzPct val="100000"/>
              <a:buFont typeface="Old Standard TT"/>
              <a:buNone/>
              <a:defRPr sz="3000">
                <a:solidFill>
                  <a:schemeClr val="dk1"/>
                </a:solidFill>
                <a:latin typeface="Old Standard TT"/>
                <a:ea typeface="Old Standard TT"/>
                <a:cs typeface="Old Standard TT"/>
                <a:sym typeface="Old Standard TT"/>
              </a:defRPr>
            </a:lvl9pPr>
          </a:lstStyle>
          <a:p/>
        </p:txBody>
      </p:sp>
      <p:sp>
        <p:nvSpPr>
          <p:cNvPr id="7" name="Shape 7"/>
          <p:cNvSpPr txBox="1"/>
          <p:nvPr>
            <p:ph idx="1" type="body"/>
          </p:nvPr>
        </p:nvSpPr>
        <p:spPr>
          <a:xfrm>
            <a:off x="311700" y="1171600"/>
            <a:ext cx="8520599" cy="3397200"/>
          </a:xfrm>
          <a:prstGeom prst="rect">
            <a:avLst/>
          </a:prstGeom>
          <a:noFill/>
          <a:ln>
            <a:noFill/>
          </a:ln>
        </p:spPr>
        <p:txBody>
          <a:bodyPr anchorCtr="0" anchor="t" bIns="91425" lIns="91425" rIns="91425" tIns="91425"/>
          <a:lstStyle>
            <a:lvl1pPr lvl="0">
              <a:lnSpc>
                <a:spcPct val="115000"/>
              </a:lnSpc>
              <a:spcBef>
                <a:spcPts val="0"/>
              </a:spcBef>
              <a:spcAft>
                <a:spcPts val="1600"/>
              </a:spcAft>
              <a:buClr>
                <a:schemeClr val="dk1"/>
              </a:buClr>
              <a:buSzPct val="100000"/>
              <a:buFont typeface="Old Standard TT"/>
              <a:defRPr sz="1800">
                <a:solidFill>
                  <a:schemeClr val="dk1"/>
                </a:solidFill>
                <a:latin typeface="Old Standard TT"/>
                <a:ea typeface="Old Standard TT"/>
                <a:cs typeface="Old Standard TT"/>
                <a:sym typeface="Old Standard TT"/>
              </a:defRPr>
            </a:lvl1pPr>
            <a:lvl2pPr lvl="1">
              <a:lnSpc>
                <a:spcPct val="115000"/>
              </a:lnSpc>
              <a:spcBef>
                <a:spcPts val="0"/>
              </a:spcBef>
              <a:spcAft>
                <a:spcPts val="1600"/>
              </a:spcAft>
              <a:buClr>
                <a:schemeClr val="dk1"/>
              </a:buClr>
              <a:buFont typeface="Old Standard TT"/>
              <a:defRPr>
                <a:solidFill>
                  <a:schemeClr val="dk1"/>
                </a:solidFill>
                <a:latin typeface="Old Standard TT"/>
                <a:ea typeface="Old Standard TT"/>
                <a:cs typeface="Old Standard TT"/>
                <a:sym typeface="Old Standard TT"/>
              </a:defRPr>
            </a:lvl2pPr>
            <a:lvl3pPr lvl="2">
              <a:lnSpc>
                <a:spcPct val="115000"/>
              </a:lnSpc>
              <a:spcBef>
                <a:spcPts val="0"/>
              </a:spcBef>
              <a:spcAft>
                <a:spcPts val="1600"/>
              </a:spcAft>
              <a:buClr>
                <a:schemeClr val="dk1"/>
              </a:buClr>
              <a:buFont typeface="Old Standard TT"/>
              <a:defRPr>
                <a:solidFill>
                  <a:schemeClr val="dk1"/>
                </a:solidFill>
                <a:latin typeface="Old Standard TT"/>
                <a:ea typeface="Old Standard TT"/>
                <a:cs typeface="Old Standard TT"/>
                <a:sym typeface="Old Standard TT"/>
              </a:defRPr>
            </a:lvl3pPr>
            <a:lvl4pPr lvl="3">
              <a:lnSpc>
                <a:spcPct val="115000"/>
              </a:lnSpc>
              <a:spcBef>
                <a:spcPts val="0"/>
              </a:spcBef>
              <a:spcAft>
                <a:spcPts val="1600"/>
              </a:spcAft>
              <a:buClr>
                <a:schemeClr val="dk1"/>
              </a:buClr>
              <a:buFont typeface="Old Standard TT"/>
              <a:defRPr>
                <a:solidFill>
                  <a:schemeClr val="dk1"/>
                </a:solidFill>
                <a:latin typeface="Old Standard TT"/>
                <a:ea typeface="Old Standard TT"/>
                <a:cs typeface="Old Standard TT"/>
                <a:sym typeface="Old Standard TT"/>
              </a:defRPr>
            </a:lvl4pPr>
            <a:lvl5pPr lvl="4">
              <a:lnSpc>
                <a:spcPct val="115000"/>
              </a:lnSpc>
              <a:spcBef>
                <a:spcPts val="0"/>
              </a:spcBef>
              <a:spcAft>
                <a:spcPts val="1600"/>
              </a:spcAft>
              <a:buClr>
                <a:schemeClr val="dk1"/>
              </a:buClr>
              <a:buFont typeface="Old Standard TT"/>
              <a:defRPr>
                <a:solidFill>
                  <a:schemeClr val="dk1"/>
                </a:solidFill>
                <a:latin typeface="Old Standard TT"/>
                <a:ea typeface="Old Standard TT"/>
                <a:cs typeface="Old Standard TT"/>
                <a:sym typeface="Old Standard TT"/>
              </a:defRPr>
            </a:lvl5pPr>
            <a:lvl6pPr lvl="5">
              <a:lnSpc>
                <a:spcPct val="115000"/>
              </a:lnSpc>
              <a:spcBef>
                <a:spcPts val="0"/>
              </a:spcBef>
              <a:spcAft>
                <a:spcPts val="1600"/>
              </a:spcAft>
              <a:buClr>
                <a:schemeClr val="dk1"/>
              </a:buClr>
              <a:buFont typeface="Old Standard TT"/>
              <a:defRPr>
                <a:solidFill>
                  <a:schemeClr val="dk1"/>
                </a:solidFill>
                <a:latin typeface="Old Standard TT"/>
                <a:ea typeface="Old Standard TT"/>
                <a:cs typeface="Old Standard TT"/>
                <a:sym typeface="Old Standard TT"/>
              </a:defRPr>
            </a:lvl6pPr>
            <a:lvl7pPr lvl="6">
              <a:lnSpc>
                <a:spcPct val="115000"/>
              </a:lnSpc>
              <a:spcBef>
                <a:spcPts val="0"/>
              </a:spcBef>
              <a:spcAft>
                <a:spcPts val="1600"/>
              </a:spcAft>
              <a:buClr>
                <a:schemeClr val="dk1"/>
              </a:buClr>
              <a:buFont typeface="Old Standard TT"/>
              <a:defRPr>
                <a:solidFill>
                  <a:schemeClr val="dk1"/>
                </a:solidFill>
                <a:latin typeface="Old Standard TT"/>
                <a:ea typeface="Old Standard TT"/>
                <a:cs typeface="Old Standard TT"/>
                <a:sym typeface="Old Standard TT"/>
              </a:defRPr>
            </a:lvl7pPr>
            <a:lvl8pPr lvl="7">
              <a:lnSpc>
                <a:spcPct val="115000"/>
              </a:lnSpc>
              <a:spcBef>
                <a:spcPts val="0"/>
              </a:spcBef>
              <a:spcAft>
                <a:spcPts val="1600"/>
              </a:spcAft>
              <a:buClr>
                <a:schemeClr val="dk1"/>
              </a:buClr>
              <a:buFont typeface="Old Standard TT"/>
              <a:defRPr>
                <a:solidFill>
                  <a:schemeClr val="dk1"/>
                </a:solidFill>
                <a:latin typeface="Old Standard TT"/>
                <a:ea typeface="Old Standard TT"/>
                <a:cs typeface="Old Standard TT"/>
                <a:sym typeface="Old Standard TT"/>
              </a:defRPr>
            </a:lvl8pPr>
            <a:lvl9pPr lvl="8">
              <a:lnSpc>
                <a:spcPct val="115000"/>
              </a:lnSpc>
              <a:spcBef>
                <a:spcPts val="0"/>
              </a:spcBef>
              <a:spcAft>
                <a:spcPts val="1600"/>
              </a:spcAft>
              <a:buClr>
                <a:schemeClr val="dk1"/>
              </a:buClr>
              <a:buFont typeface="Old Standard TT"/>
              <a:defRPr>
                <a:solidFill>
                  <a:schemeClr val="dk1"/>
                </a:solidFill>
                <a:latin typeface="Old Standard TT"/>
                <a:ea typeface="Old Standard TT"/>
                <a:cs typeface="Old Standard TT"/>
                <a:sym typeface="Old Standard TT"/>
              </a:defRPr>
            </a:lvl9pPr>
          </a:lstStyle>
          <a:p/>
        </p:txBody>
      </p:sp>
      <p:sp>
        <p:nvSpPr>
          <p:cNvPr id="8" name="Shape 8"/>
          <p:cNvSpPr txBox="1"/>
          <p:nvPr>
            <p:ph idx="12" type="sldNum"/>
          </p:nvPr>
        </p:nvSpPr>
        <p:spPr>
          <a:xfrm>
            <a:off x="8472457" y="4663216"/>
            <a:ext cx="548699" cy="393600"/>
          </a:xfrm>
          <a:prstGeom prst="rect">
            <a:avLst/>
          </a:prstGeom>
          <a:noFill/>
          <a:ln>
            <a:noFill/>
          </a:ln>
        </p:spPr>
        <p:txBody>
          <a:bodyPr anchorCtr="0" anchor="ctr" bIns="91425" lIns="91425" rIns="91425" tIns="91425">
            <a:noAutofit/>
          </a:bodyPr>
          <a:lstStyle/>
          <a:p>
            <a:pPr lvl="0" algn="r">
              <a:spcBef>
                <a:spcPts val="0"/>
              </a:spcBef>
              <a:buNone/>
            </a:pPr>
            <a:fld id="{00000000-1234-1234-1234-123412341234}" type="slidenum">
              <a:rPr lang="en" sz="1000">
                <a:solidFill>
                  <a:schemeClr val="dk1"/>
                </a:solidFill>
                <a:latin typeface="Old Standard TT"/>
                <a:ea typeface="Old Standard TT"/>
                <a:cs typeface="Old Standard TT"/>
                <a:sym typeface="Old Standard TT"/>
              </a:rPr>
              <a:t>‹#›</a:t>
            </a:fld>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p:titleStyle>
    <p:body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 Id="rId3" Type="http://schemas.openxmlformats.org/officeDocument/2006/relationships/hyperlink" Target="http://www.nature.com/scitable/definition/hardy-weinberg-equation-299"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0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0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58" name="Shape 58"/>
        <p:cNvGrpSpPr/>
        <p:nvPr/>
      </p:nvGrpSpPr>
      <p:grpSpPr>
        <a:xfrm>
          <a:off x="0" y="0"/>
          <a:ext cx="0" cy="0"/>
          <a:chOff x="0" y="0"/>
          <a:chExt cx="0" cy="0"/>
        </a:xfrm>
      </p:grpSpPr>
      <p:sp>
        <p:nvSpPr>
          <p:cNvPr id="59" name="Shape 59"/>
          <p:cNvSpPr txBox="1"/>
          <p:nvPr>
            <p:ph type="ctrTitle"/>
          </p:nvPr>
        </p:nvSpPr>
        <p:spPr>
          <a:xfrm>
            <a:off x="512700" y="92025"/>
            <a:ext cx="8118600" cy="3535200"/>
          </a:xfrm>
          <a:prstGeom prst="rect">
            <a:avLst/>
          </a:prstGeom>
        </p:spPr>
        <p:txBody>
          <a:bodyPr anchorCtr="0" anchor="b" bIns="91425" lIns="91425" rIns="91425" tIns="91425">
            <a:noAutofit/>
          </a:bodyPr>
          <a:lstStyle/>
          <a:p>
            <a:pPr lvl="0">
              <a:spcBef>
                <a:spcPts val="0"/>
              </a:spcBef>
              <a:buNone/>
            </a:pPr>
            <a:r>
              <a:rPr lang="en"/>
              <a:t>Mathematics is Biology’s Next Microscope, Only Better; </a:t>
            </a:r>
          </a:p>
          <a:p>
            <a:pPr lvl="0">
              <a:spcBef>
                <a:spcPts val="0"/>
              </a:spcBef>
              <a:buNone/>
            </a:pPr>
            <a:r>
              <a:rPr lang="en"/>
              <a:t>Biology is Mathematics’ Next Physics, Only Better </a:t>
            </a:r>
          </a:p>
          <a:p>
            <a:pPr lvl="0">
              <a:spcBef>
                <a:spcPts val="0"/>
              </a:spcBef>
              <a:buNone/>
            </a:pPr>
            <a:r>
              <a:rPr lang="en"/>
              <a:t>-Joel E. Cohen</a:t>
            </a:r>
          </a:p>
        </p:txBody>
      </p:sp>
      <p:sp>
        <p:nvSpPr>
          <p:cNvPr id="60" name="Shape 60"/>
          <p:cNvSpPr txBox="1"/>
          <p:nvPr>
            <p:ph idx="1" type="subTitle"/>
          </p:nvPr>
        </p:nvSpPr>
        <p:spPr>
          <a:xfrm>
            <a:off x="512700" y="3840639"/>
            <a:ext cx="8118599" cy="787499"/>
          </a:xfrm>
          <a:prstGeom prst="rect">
            <a:avLst/>
          </a:prstGeom>
        </p:spPr>
        <p:txBody>
          <a:bodyPr anchorCtr="0" anchor="t" bIns="91425" lIns="91425" rIns="91425" tIns="91425">
            <a:noAutofit/>
          </a:bodyPr>
          <a:lstStyle/>
          <a:p>
            <a:pPr lvl="0">
              <a:spcBef>
                <a:spcPts val="0"/>
              </a:spcBef>
              <a:buNone/>
            </a:pPr>
            <a:r>
              <a:rPr lang="en"/>
              <a:t>Franci, Kriti, Lia</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64" name="Shape 64"/>
        <p:cNvGrpSpPr/>
        <p:nvPr/>
      </p:nvGrpSpPr>
      <p:grpSpPr>
        <a:xfrm>
          <a:off x="0" y="0"/>
          <a:ext cx="0" cy="0"/>
          <a:chOff x="0" y="0"/>
          <a:chExt cx="0" cy="0"/>
        </a:xfrm>
      </p:grpSpPr>
      <p:sp>
        <p:nvSpPr>
          <p:cNvPr id="65" name="Shape 65"/>
          <p:cNvSpPr txBox="1"/>
          <p:nvPr>
            <p:ph type="title"/>
          </p:nvPr>
        </p:nvSpPr>
        <p:spPr>
          <a:xfrm>
            <a:off x="311700" y="1039650"/>
            <a:ext cx="8520600" cy="2106300"/>
          </a:xfrm>
          <a:prstGeom prst="rect">
            <a:avLst/>
          </a:prstGeom>
        </p:spPr>
        <p:txBody>
          <a:bodyPr anchorCtr="0" anchor="b" bIns="91425" lIns="91425" rIns="91425" tIns="91425">
            <a:noAutofit/>
          </a:bodyPr>
          <a:lstStyle/>
          <a:p>
            <a:pPr lvl="0" rtl="0">
              <a:spcBef>
                <a:spcPts val="0"/>
              </a:spcBef>
              <a:buNone/>
            </a:pPr>
            <a:r>
              <a:rPr lang="en" sz="2400"/>
              <a:t>“In biology, ensemble properties emerge at each level of organization from the interactions of heterogeneous biological units at that level and at lower and higher levels of organization...New mathematics will be required to cope with these ensemble properties and with the heterogeneity of the biological units that compose ensembles at each level.”</a:t>
            </a:r>
          </a:p>
        </p:txBody>
      </p:sp>
      <p:sp>
        <p:nvSpPr>
          <p:cNvPr id="66" name="Shape 66"/>
          <p:cNvSpPr txBox="1"/>
          <p:nvPr>
            <p:ph idx="1" type="body"/>
          </p:nvPr>
        </p:nvSpPr>
        <p:spPr>
          <a:xfrm>
            <a:off x="311700" y="3602975"/>
            <a:ext cx="8520600" cy="926100"/>
          </a:xfrm>
          <a:prstGeom prst="rect">
            <a:avLst/>
          </a:prstGeom>
        </p:spPr>
        <p:txBody>
          <a:bodyPr anchorCtr="0" anchor="t" bIns="91425" lIns="91425" rIns="91425" tIns="91425">
            <a:noAutofit/>
          </a:bodyPr>
          <a:lstStyle/>
          <a:p>
            <a:pPr lvl="0" rtl="0">
              <a:spcBef>
                <a:spcPts val="0"/>
              </a:spcBef>
              <a:buNone/>
            </a:pPr>
            <a:r>
              <a:rPr lang="en"/>
              <a:t>-Joel E. Cohen</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70" name="Shape 70"/>
        <p:cNvGrpSpPr/>
        <p:nvPr/>
      </p:nvGrpSpPr>
      <p:grpSpPr>
        <a:xfrm>
          <a:off x="0" y="0"/>
          <a:ext cx="0" cy="0"/>
          <a:chOff x="0" y="0"/>
          <a:chExt cx="0" cy="0"/>
        </a:xfrm>
      </p:grpSpPr>
      <p:sp>
        <p:nvSpPr>
          <p:cNvPr id="71" name="Shape 71"/>
          <p:cNvSpPr txBox="1"/>
          <p:nvPr>
            <p:ph type="title"/>
          </p:nvPr>
        </p:nvSpPr>
        <p:spPr>
          <a:xfrm>
            <a:off x="512700" y="1893300"/>
            <a:ext cx="8118599" cy="1522800"/>
          </a:xfrm>
          <a:prstGeom prst="rect">
            <a:avLst/>
          </a:prstGeom>
        </p:spPr>
        <p:txBody>
          <a:bodyPr anchorCtr="0" anchor="b" bIns="91425" lIns="91425" rIns="91425" tIns="91425">
            <a:noAutofit/>
          </a:bodyPr>
          <a:lstStyle/>
          <a:p>
            <a:pPr lvl="0">
              <a:spcBef>
                <a:spcPts val="0"/>
              </a:spcBef>
              <a:buNone/>
            </a:pPr>
            <a:r>
              <a:rPr lang="en"/>
              <a:t>“The Past”</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75" name="Shape 75"/>
        <p:cNvGrpSpPr/>
        <p:nvPr/>
      </p:nvGrpSpPr>
      <p:grpSpPr>
        <a:xfrm>
          <a:off x="0" y="0"/>
          <a:ext cx="0" cy="0"/>
          <a:chOff x="0" y="0"/>
          <a:chExt cx="0" cy="0"/>
        </a:xfrm>
      </p:grpSpPr>
      <p:graphicFrame>
        <p:nvGraphicFramePr>
          <p:cNvPr id="76" name="Shape 76"/>
          <p:cNvGraphicFramePr/>
          <p:nvPr/>
        </p:nvGraphicFramePr>
        <p:xfrm>
          <a:off x="497150" y="1245475"/>
          <a:ext cx="3000000" cy="3000000"/>
        </p:xfrm>
        <a:graphic>
          <a:graphicData uri="http://schemas.openxmlformats.org/drawingml/2006/table">
            <a:tbl>
              <a:tblPr>
                <a:noFill/>
                <a:tableStyleId>{6736B129-D936-46EB-B4D6-D6E4128FCB4F}</a:tableStyleId>
              </a:tblPr>
              <a:tblGrid>
                <a:gridCol w="4074850"/>
                <a:gridCol w="4074850"/>
              </a:tblGrid>
              <a:tr h="381000">
                <a:tc>
                  <a:txBody>
                    <a:bodyPr>
                      <a:noAutofit/>
                    </a:bodyPr>
                    <a:lstStyle/>
                    <a:p>
                      <a:pPr lvl="0" algn="ctr">
                        <a:spcBef>
                          <a:spcPts val="0"/>
                        </a:spcBef>
                        <a:buNone/>
                      </a:pPr>
                      <a:r>
                        <a:rPr b="1" lang="en">
                          <a:latin typeface="Old Standard TT"/>
                          <a:ea typeface="Old Standard TT"/>
                          <a:cs typeface="Old Standard TT"/>
                          <a:sym typeface="Old Standard TT"/>
                        </a:rPr>
                        <a:t>Subject</a:t>
                      </a:r>
                    </a:p>
                  </a:txBody>
                  <a:tcPr marT="91425" marB="91425" marR="91425" marL="91425"/>
                </a:tc>
                <a:tc>
                  <a:txBody>
                    <a:bodyPr>
                      <a:noAutofit/>
                    </a:bodyPr>
                    <a:lstStyle/>
                    <a:p>
                      <a:pPr lvl="0" algn="ctr">
                        <a:spcBef>
                          <a:spcPts val="0"/>
                        </a:spcBef>
                        <a:buNone/>
                      </a:pPr>
                      <a:r>
                        <a:rPr b="1" lang="en">
                          <a:solidFill>
                            <a:schemeClr val="dk1"/>
                          </a:solidFill>
                          <a:latin typeface="Old Standard TT"/>
                          <a:ea typeface="Old Standard TT"/>
                          <a:cs typeface="Old Standard TT"/>
                          <a:sym typeface="Old Standard TT"/>
                        </a:rPr>
                        <a:t>Person</a:t>
                      </a:r>
                    </a:p>
                  </a:txBody>
                  <a:tcPr marT="91425" marB="91425" marR="91425" marL="91425"/>
                </a:tc>
              </a:tr>
              <a:tr h="381000">
                <a:tc>
                  <a:txBody>
                    <a:bodyPr>
                      <a:noAutofit/>
                    </a:bodyPr>
                    <a:lstStyle/>
                    <a:p>
                      <a:pPr lvl="0" algn="ctr">
                        <a:spcBef>
                          <a:spcPts val="0"/>
                        </a:spcBef>
                        <a:buNone/>
                      </a:pPr>
                      <a:r>
                        <a:rPr lang="en">
                          <a:solidFill>
                            <a:schemeClr val="dk1"/>
                          </a:solidFill>
                          <a:latin typeface="Old Standard TT"/>
                          <a:ea typeface="Old Standard TT"/>
                          <a:cs typeface="Old Standard TT"/>
                          <a:sym typeface="Old Standard TT"/>
                        </a:rPr>
                        <a:t>Age structure of stable populations</a:t>
                      </a:r>
                    </a:p>
                  </a:txBody>
                  <a:tcPr marT="91425" marB="91425" marR="91425" marL="91425"/>
                </a:tc>
                <a:tc>
                  <a:txBody>
                    <a:bodyPr>
                      <a:noAutofit/>
                    </a:bodyPr>
                    <a:lstStyle/>
                    <a:p>
                      <a:pPr lvl="0" rtl="0" algn="ctr">
                        <a:spcBef>
                          <a:spcPts val="0"/>
                        </a:spcBef>
                        <a:buNone/>
                      </a:pPr>
                      <a:r>
                        <a:rPr lang="en">
                          <a:latin typeface="Old Standard TT"/>
                          <a:ea typeface="Old Standard TT"/>
                          <a:cs typeface="Old Standard TT"/>
                          <a:sym typeface="Old Standard TT"/>
                        </a:rPr>
                        <a:t>Euler</a:t>
                      </a:r>
                    </a:p>
                  </a:txBody>
                  <a:tcPr marT="91425" marB="91425" marR="91425" marL="91425"/>
                </a:tc>
              </a:tr>
              <a:tr h="381000">
                <a:tc>
                  <a:txBody>
                    <a:bodyPr>
                      <a:noAutofit/>
                    </a:bodyPr>
                    <a:lstStyle/>
                    <a:p>
                      <a:pPr lvl="0" algn="ctr">
                        <a:spcBef>
                          <a:spcPts val="0"/>
                        </a:spcBef>
                        <a:buNone/>
                      </a:pPr>
                      <a:r>
                        <a:rPr lang="en">
                          <a:latin typeface="Old Standard TT"/>
                          <a:ea typeface="Old Standard TT"/>
                          <a:cs typeface="Old Standard TT"/>
                          <a:sym typeface="Old Standard TT"/>
                        </a:rPr>
                        <a:t>Dynamics of Interacting Species</a:t>
                      </a:r>
                    </a:p>
                  </a:txBody>
                  <a:tcPr marT="91425" marB="91425" marR="91425" marL="91425"/>
                </a:tc>
                <a:tc>
                  <a:txBody>
                    <a:bodyPr>
                      <a:noAutofit/>
                    </a:bodyPr>
                    <a:lstStyle/>
                    <a:p>
                      <a:pPr lvl="0" algn="ctr">
                        <a:spcBef>
                          <a:spcPts val="0"/>
                        </a:spcBef>
                        <a:buNone/>
                      </a:pPr>
                      <a:r>
                        <a:rPr lang="en">
                          <a:latin typeface="Old Standard TT"/>
                          <a:ea typeface="Old Standard TT"/>
                          <a:cs typeface="Old Standard TT"/>
                          <a:sym typeface="Old Standard TT"/>
                        </a:rPr>
                        <a:t>Lotka; Volterra</a:t>
                      </a:r>
                    </a:p>
                  </a:txBody>
                  <a:tcPr marT="91425" marB="91425" marR="91425" marL="91425"/>
                </a:tc>
              </a:tr>
              <a:tr h="381000">
                <a:tc>
                  <a:txBody>
                    <a:bodyPr>
                      <a:noAutofit/>
                    </a:bodyPr>
                    <a:lstStyle/>
                    <a:p>
                      <a:pPr lvl="0" algn="ctr">
                        <a:spcBef>
                          <a:spcPts val="0"/>
                        </a:spcBef>
                        <a:buNone/>
                      </a:pPr>
                      <a:r>
                        <a:rPr lang="en">
                          <a:solidFill>
                            <a:schemeClr val="dk1"/>
                          </a:solidFill>
                          <a:latin typeface="Old Standard TT"/>
                          <a:ea typeface="Old Standard TT"/>
                          <a:cs typeface="Old Standard TT"/>
                          <a:sym typeface="Old Standard TT"/>
                        </a:rPr>
                        <a:t>Logistic equation for limited population growth</a:t>
                      </a:r>
                    </a:p>
                  </a:txBody>
                  <a:tcPr marT="91425" marB="91425" marR="91425" marL="91425"/>
                </a:tc>
                <a:tc>
                  <a:txBody>
                    <a:bodyPr>
                      <a:noAutofit/>
                    </a:bodyPr>
                    <a:lstStyle/>
                    <a:p>
                      <a:pPr lvl="0" algn="ctr">
                        <a:spcBef>
                          <a:spcPts val="0"/>
                        </a:spcBef>
                        <a:buNone/>
                      </a:pPr>
                      <a:r>
                        <a:rPr lang="en">
                          <a:latin typeface="Old Standard TT"/>
                          <a:ea typeface="Old Standard TT"/>
                          <a:cs typeface="Old Standard TT"/>
                          <a:sym typeface="Old Standard TT"/>
                        </a:rPr>
                        <a:t>Verhulst </a:t>
                      </a:r>
                    </a:p>
                  </a:txBody>
                  <a:tcPr marT="91425" marB="91425" marR="91425" marL="91425"/>
                </a:tc>
              </a:tr>
              <a:tr h="381000">
                <a:tc>
                  <a:txBody>
                    <a:bodyPr>
                      <a:noAutofit/>
                    </a:bodyPr>
                    <a:lstStyle/>
                    <a:p>
                      <a:pPr lvl="0" algn="ctr">
                        <a:spcBef>
                          <a:spcPts val="0"/>
                        </a:spcBef>
                        <a:buNone/>
                      </a:pPr>
                      <a:r>
                        <a:rPr lang="en">
                          <a:latin typeface="Old Standard TT"/>
                          <a:ea typeface="Old Standard TT"/>
                          <a:cs typeface="Old Standard TT"/>
                          <a:sym typeface="Old Standard TT"/>
                        </a:rPr>
                        <a:t>Diffusion Equation for Gene Frequencies</a:t>
                      </a:r>
                    </a:p>
                  </a:txBody>
                  <a:tcPr marT="91425" marB="91425" marR="91425" marL="91425"/>
                </a:tc>
                <a:tc>
                  <a:txBody>
                    <a:bodyPr>
                      <a:noAutofit/>
                    </a:bodyPr>
                    <a:lstStyle/>
                    <a:p>
                      <a:pPr lvl="0" algn="ctr">
                        <a:spcBef>
                          <a:spcPts val="0"/>
                        </a:spcBef>
                        <a:buNone/>
                      </a:pPr>
                      <a:r>
                        <a:rPr lang="en">
                          <a:latin typeface="Old Standard TT"/>
                          <a:ea typeface="Old Standard TT"/>
                          <a:cs typeface="Old Standard TT"/>
                          <a:sym typeface="Old Standard TT"/>
                        </a:rPr>
                        <a:t>Kimura</a:t>
                      </a:r>
                    </a:p>
                  </a:txBody>
                  <a:tcPr marT="91425" marB="91425" marR="91425" marL="91425"/>
                </a:tc>
              </a:tr>
              <a:tr h="381000">
                <a:tc>
                  <a:txBody>
                    <a:bodyPr>
                      <a:noAutofit/>
                    </a:bodyPr>
                    <a:lstStyle/>
                    <a:p>
                      <a:pPr lvl="0" algn="ctr">
                        <a:spcBef>
                          <a:spcPts val="0"/>
                        </a:spcBef>
                        <a:buNone/>
                      </a:pPr>
                      <a:r>
                        <a:rPr lang="en">
                          <a:latin typeface="Old Standard TT"/>
                          <a:ea typeface="Old Standard TT"/>
                          <a:cs typeface="Old Standard TT"/>
                          <a:sym typeface="Old Standard TT"/>
                        </a:rPr>
                        <a:t>Birth process, birth and death process</a:t>
                      </a:r>
                    </a:p>
                  </a:txBody>
                  <a:tcPr marT="91425" marB="91425" marR="91425" marL="91425"/>
                </a:tc>
                <a:tc>
                  <a:txBody>
                    <a:bodyPr>
                      <a:noAutofit/>
                    </a:bodyPr>
                    <a:lstStyle/>
                    <a:p>
                      <a:pPr lvl="0" algn="ctr">
                        <a:spcBef>
                          <a:spcPts val="0"/>
                        </a:spcBef>
                        <a:buNone/>
                      </a:pPr>
                      <a:r>
                        <a:rPr lang="en">
                          <a:latin typeface="Old Standard TT"/>
                          <a:ea typeface="Old Standard TT"/>
                          <a:cs typeface="Old Standard TT"/>
                          <a:sym typeface="Old Standard TT"/>
                        </a:rPr>
                        <a:t>Yule; Kendall </a:t>
                      </a:r>
                    </a:p>
                  </a:txBody>
                  <a:tcPr marT="91425" marB="91425" marR="91425" marL="91425"/>
                </a:tc>
              </a:tr>
              <a:tr h="381000">
                <a:tc>
                  <a:txBody>
                    <a:bodyPr>
                      <a:noAutofit/>
                    </a:bodyPr>
                    <a:lstStyle/>
                    <a:p>
                      <a:pPr lvl="0" algn="ctr">
                        <a:spcBef>
                          <a:spcPts val="0"/>
                        </a:spcBef>
                        <a:buNone/>
                      </a:pPr>
                      <a:r>
                        <a:rPr lang="en">
                          <a:latin typeface="Old Standard TT"/>
                          <a:ea typeface="Old Standard TT"/>
                          <a:cs typeface="Old Standard TT"/>
                          <a:sym typeface="Old Standard TT"/>
                        </a:rPr>
                        <a:t>HW equilibrium in population genetics</a:t>
                      </a:r>
                    </a:p>
                  </a:txBody>
                  <a:tcPr marT="91425" marB="91425" marR="91425" marL="91425"/>
                </a:tc>
                <a:tc>
                  <a:txBody>
                    <a:bodyPr>
                      <a:noAutofit/>
                    </a:bodyPr>
                    <a:lstStyle/>
                    <a:p>
                      <a:pPr lvl="0" algn="ctr">
                        <a:spcBef>
                          <a:spcPts val="0"/>
                        </a:spcBef>
                        <a:buNone/>
                      </a:pPr>
                      <a:r>
                        <a:rPr lang="en">
                          <a:latin typeface="Old Standard TT"/>
                          <a:ea typeface="Old Standard TT"/>
                          <a:cs typeface="Old Standard TT"/>
                          <a:sym typeface="Old Standard TT"/>
                        </a:rPr>
                        <a:t>Hardy; Weinberg</a:t>
                      </a:r>
                    </a:p>
                  </a:txBody>
                  <a:tcPr marT="91425" marB="91425" marR="91425" marL="91425"/>
                </a:tc>
              </a:tr>
              <a:tr h="381000">
                <a:tc>
                  <a:txBody>
                    <a:bodyPr>
                      <a:noAutofit/>
                    </a:bodyPr>
                    <a:lstStyle/>
                    <a:p>
                      <a:pPr lvl="0" algn="ctr">
                        <a:spcBef>
                          <a:spcPts val="0"/>
                        </a:spcBef>
                        <a:buNone/>
                      </a:pPr>
                      <a:r>
                        <a:rPr lang="en">
                          <a:latin typeface="Old Standard TT"/>
                          <a:ea typeface="Old Standard TT"/>
                          <a:cs typeface="Old Standard TT"/>
                          <a:sym typeface="Old Standard TT"/>
                        </a:rPr>
                        <a:t>Traveling Waves in Genetics</a:t>
                      </a:r>
                    </a:p>
                  </a:txBody>
                  <a:tcPr marT="91425" marB="91425" marR="91425" marL="91425"/>
                </a:tc>
                <a:tc>
                  <a:txBody>
                    <a:bodyPr>
                      <a:noAutofit/>
                    </a:bodyPr>
                    <a:lstStyle/>
                    <a:p>
                      <a:pPr lvl="0" algn="ctr">
                        <a:spcBef>
                          <a:spcPts val="0"/>
                        </a:spcBef>
                        <a:buNone/>
                      </a:pPr>
                      <a:r>
                        <a:rPr lang="en">
                          <a:latin typeface="Old Standard TT"/>
                          <a:ea typeface="Old Standard TT"/>
                          <a:cs typeface="Old Standard TT"/>
                          <a:sym typeface="Old Standard TT"/>
                        </a:rPr>
                        <a:t>Fisher; Kolmogorov et al</a:t>
                      </a:r>
                    </a:p>
                  </a:txBody>
                  <a:tcPr marT="91425" marB="91425" marR="91425" marL="91425"/>
                </a:tc>
              </a:tr>
              <a:tr h="381000">
                <a:tc>
                  <a:txBody>
                    <a:bodyPr>
                      <a:noAutofit/>
                    </a:bodyPr>
                    <a:lstStyle/>
                    <a:p>
                      <a:pPr lvl="0" rtl="0" algn="ctr">
                        <a:spcBef>
                          <a:spcPts val="0"/>
                        </a:spcBef>
                        <a:buNone/>
                      </a:pPr>
                      <a:r>
                        <a:rPr lang="en">
                          <a:latin typeface="Old Standard TT"/>
                          <a:ea typeface="Old Standard TT"/>
                          <a:cs typeface="Old Standard TT"/>
                          <a:sym typeface="Old Standard TT"/>
                        </a:rPr>
                        <a:t>Theory of Evolution and Genetics</a:t>
                      </a:r>
                    </a:p>
                  </a:txBody>
                  <a:tcPr marT="91425" marB="91425" marR="91425" marL="91425"/>
                </a:tc>
                <a:tc>
                  <a:txBody>
                    <a:bodyPr>
                      <a:noAutofit/>
                    </a:bodyPr>
                    <a:lstStyle/>
                    <a:p>
                      <a:pPr lvl="0" rtl="0" algn="ctr">
                        <a:spcBef>
                          <a:spcPts val="0"/>
                        </a:spcBef>
                        <a:buNone/>
                      </a:pPr>
                      <a:r>
                        <a:rPr lang="en">
                          <a:latin typeface="Old Standard TT"/>
                          <a:ea typeface="Old Standard TT"/>
                          <a:cs typeface="Old Standard TT"/>
                          <a:sym typeface="Old Standard TT"/>
                        </a:rPr>
                        <a:t>George Mendel</a:t>
                      </a:r>
                    </a:p>
                  </a:txBody>
                  <a:tcPr marT="91425" marB="91425" marR="91425" marL="91425"/>
                </a:tc>
              </a:tr>
            </a:tbl>
          </a:graphicData>
        </a:graphic>
      </p:graphicFrame>
      <p:sp>
        <p:nvSpPr>
          <p:cNvPr id="77" name="Shape 77"/>
          <p:cNvSpPr txBox="1"/>
          <p:nvPr>
            <p:ph idx="4294967295" type="title"/>
          </p:nvPr>
        </p:nvSpPr>
        <p:spPr>
          <a:xfrm>
            <a:off x="311700" y="445025"/>
            <a:ext cx="8520600" cy="613200"/>
          </a:xfrm>
          <a:prstGeom prst="rect">
            <a:avLst/>
          </a:prstGeom>
        </p:spPr>
        <p:txBody>
          <a:bodyPr anchorCtr="0" anchor="t" bIns="91425" lIns="91425" rIns="91425" tIns="91425">
            <a:noAutofit/>
          </a:bodyPr>
          <a:lstStyle/>
          <a:p>
            <a:pPr lvl="0" rtl="0" algn="ctr">
              <a:spcBef>
                <a:spcPts val="0"/>
              </a:spcBef>
              <a:buNone/>
            </a:pPr>
            <a:r>
              <a:rPr lang="en"/>
              <a:t>Mathematics and Biology in the Past</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81" name="Shape 81"/>
        <p:cNvGrpSpPr/>
        <p:nvPr/>
      </p:nvGrpSpPr>
      <p:grpSpPr>
        <a:xfrm>
          <a:off x="0" y="0"/>
          <a:ext cx="0" cy="0"/>
          <a:chOff x="0" y="0"/>
          <a:chExt cx="0" cy="0"/>
        </a:xfrm>
      </p:grpSpPr>
      <p:sp>
        <p:nvSpPr>
          <p:cNvPr id="82" name="Shape 82"/>
          <p:cNvSpPr txBox="1"/>
          <p:nvPr>
            <p:ph type="title"/>
          </p:nvPr>
        </p:nvSpPr>
        <p:spPr>
          <a:xfrm>
            <a:off x="189300" y="1382350"/>
            <a:ext cx="4158600" cy="1333200"/>
          </a:xfrm>
          <a:prstGeom prst="rect">
            <a:avLst/>
          </a:prstGeom>
        </p:spPr>
        <p:txBody>
          <a:bodyPr anchorCtr="0" anchor="b" bIns="91425" lIns="91425" rIns="91425" tIns="91425">
            <a:noAutofit/>
          </a:bodyPr>
          <a:lstStyle/>
          <a:p>
            <a:pPr lvl="0" rtl="0">
              <a:spcBef>
                <a:spcPts val="0"/>
              </a:spcBef>
              <a:buNone/>
            </a:pPr>
            <a:r>
              <a:rPr lang="en"/>
              <a:t>Hardy-Weinberg Equilibrium</a:t>
            </a:r>
          </a:p>
        </p:txBody>
      </p:sp>
      <p:sp>
        <p:nvSpPr>
          <p:cNvPr id="83" name="Shape 83"/>
          <p:cNvSpPr txBox="1"/>
          <p:nvPr>
            <p:ph idx="1" type="subTitle"/>
          </p:nvPr>
        </p:nvSpPr>
        <p:spPr>
          <a:xfrm>
            <a:off x="265500" y="2769000"/>
            <a:ext cx="4045200" cy="1345500"/>
          </a:xfrm>
          <a:prstGeom prst="rect">
            <a:avLst/>
          </a:prstGeom>
        </p:spPr>
        <p:txBody>
          <a:bodyPr anchorCtr="0" anchor="t" bIns="91425" lIns="91425" rIns="91425" tIns="91425">
            <a:noAutofit/>
          </a:bodyPr>
          <a:lstStyle/>
          <a:p>
            <a:pPr lvl="0" rtl="0">
              <a:spcBef>
                <a:spcPts val="0"/>
              </a:spcBef>
              <a:buNone/>
            </a:pPr>
            <a:r>
              <a:rPr lang="en"/>
              <a:t>G.H. Hardy &amp; Wilhelm Weinberg</a:t>
            </a:r>
          </a:p>
        </p:txBody>
      </p:sp>
      <p:sp>
        <p:nvSpPr>
          <p:cNvPr id="84" name="Shape 84"/>
          <p:cNvSpPr txBox="1"/>
          <p:nvPr>
            <p:ph idx="2" type="body"/>
          </p:nvPr>
        </p:nvSpPr>
        <p:spPr>
          <a:xfrm>
            <a:off x="4939500" y="724200"/>
            <a:ext cx="3837000" cy="3695100"/>
          </a:xfrm>
          <a:prstGeom prst="rect">
            <a:avLst/>
          </a:prstGeom>
        </p:spPr>
        <p:txBody>
          <a:bodyPr anchorCtr="0" anchor="ctr" bIns="91425" lIns="91425" rIns="91425" tIns="91425">
            <a:noAutofit/>
          </a:bodyPr>
          <a:lstStyle/>
          <a:p>
            <a:pPr indent="-228600" lvl="0" marL="457200" rtl="0">
              <a:spcBef>
                <a:spcPts val="0"/>
              </a:spcBef>
            </a:pPr>
            <a:r>
              <a:rPr lang="en"/>
              <a:t>Created a way to model different allele frequencies in a population</a:t>
            </a:r>
          </a:p>
          <a:p>
            <a:pPr indent="-228600" lvl="0" marL="457200" rtl="0">
              <a:spcBef>
                <a:spcPts val="0"/>
              </a:spcBef>
            </a:pPr>
            <a:r>
              <a:rPr lang="en"/>
              <a:t>Stipulated that allele frequencies would be constant in a population assuming a set of 5 conditions were not violated</a:t>
            </a:r>
          </a:p>
        </p:txBody>
      </p:sp>
      <p:sp>
        <p:nvSpPr>
          <p:cNvPr id="85" name="Shape 85"/>
          <p:cNvSpPr txBox="1"/>
          <p:nvPr/>
        </p:nvSpPr>
        <p:spPr>
          <a:xfrm>
            <a:off x="5002325" y="4487000"/>
            <a:ext cx="3837000" cy="279000"/>
          </a:xfrm>
          <a:prstGeom prst="rect">
            <a:avLst/>
          </a:prstGeom>
          <a:noFill/>
          <a:ln>
            <a:noFill/>
          </a:ln>
        </p:spPr>
        <p:txBody>
          <a:bodyPr anchorCtr="0" anchor="t" bIns="91425" lIns="91425" rIns="91425" tIns="91425">
            <a:noAutofit/>
          </a:bodyPr>
          <a:lstStyle/>
          <a:p>
            <a:pPr lvl="0">
              <a:spcBef>
                <a:spcPts val="0"/>
              </a:spcBef>
              <a:buNone/>
            </a:pPr>
            <a:r>
              <a:rPr lang="en">
                <a:solidFill>
                  <a:srgbClr val="FFFFFF"/>
                </a:solidFill>
                <a:latin typeface="Old Standard TT"/>
                <a:ea typeface="Old Standard TT"/>
                <a:cs typeface="Old Standard TT"/>
                <a:sym typeface="Old Standard TT"/>
              </a:rPr>
              <a:t>Source: </a:t>
            </a:r>
            <a:r>
              <a:rPr lang="en" u="sng">
                <a:solidFill>
                  <a:schemeClr val="hlink"/>
                </a:solidFill>
                <a:latin typeface="Old Standard TT"/>
                <a:ea typeface="Old Standard TT"/>
                <a:cs typeface="Old Standard TT"/>
                <a:sym typeface="Old Standard TT"/>
                <a:hlinkClick r:id="rId3"/>
              </a:rPr>
              <a:t>Hardy-Weinberg equation</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89" name="Shape 89"/>
        <p:cNvGrpSpPr/>
        <p:nvPr/>
      </p:nvGrpSpPr>
      <p:grpSpPr>
        <a:xfrm>
          <a:off x="0" y="0"/>
          <a:ext cx="0" cy="0"/>
          <a:chOff x="0" y="0"/>
          <a:chExt cx="0" cy="0"/>
        </a:xfrm>
      </p:grpSpPr>
      <p:sp>
        <p:nvSpPr>
          <p:cNvPr id="90" name="Shape 90"/>
          <p:cNvSpPr txBox="1"/>
          <p:nvPr>
            <p:ph type="title"/>
          </p:nvPr>
        </p:nvSpPr>
        <p:spPr>
          <a:xfrm>
            <a:off x="265500" y="1382350"/>
            <a:ext cx="4045199" cy="1333200"/>
          </a:xfrm>
          <a:prstGeom prst="rect">
            <a:avLst/>
          </a:prstGeom>
        </p:spPr>
        <p:txBody>
          <a:bodyPr anchorCtr="0" anchor="b" bIns="91425" lIns="91425" rIns="91425" tIns="91425">
            <a:noAutofit/>
          </a:bodyPr>
          <a:lstStyle/>
          <a:p>
            <a:pPr lvl="0">
              <a:spcBef>
                <a:spcPts val="0"/>
              </a:spcBef>
              <a:buNone/>
            </a:pPr>
            <a:r>
              <a:rPr lang="en"/>
              <a:t>William Harvey</a:t>
            </a:r>
          </a:p>
        </p:txBody>
      </p:sp>
      <p:sp>
        <p:nvSpPr>
          <p:cNvPr id="91" name="Shape 91"/>
          <p:cNvSpPr txBox="1"/>
          <p:nvPr>
            <p:ph idx="1" type="subTitle"/>
          </p:nvPr>
        </p:nvSpPr>
        <p:spPr>
          <a:xfrm>
            <a:off x="265500" y="2769000"/>
            <a:ext cx="4045199" cy="1345500"/>
          </a:xfrm>
          <a:prstGeom prst="rect">
            <a:avLst/>
          </a:prstGeom>
        </p:spPr>
        <p:txBody>
          <a:bodyPr anchorCtr="0" anchor="t" bIns="91425" lIns="91425" rIns="91425" tIns="91425">
            <a:noAutofit/>
          </a:bodyPr>
          <a:lstStyle/>
          <a:p>
            <a:pPr lvl="0">
              <a:spcBef>
                <a:spcPts val="0"/>
              </a:spcBef>
              <a:buNone/>
            </a:pPr>
            <a:r>
              <a:rPr lang="en"/>
              <a:t>Pioneering the intersection of mathematics and medicine</a:t>
            </a:r>
          </a:p>
        </p:txBody>
      </p:sp>
      <p:sp>
        <p:nvSpPr>
          <p:cNvPr id="92" name="Shape 92"/>
          <p:cNvSpPr txBox="1"/>
          <p:nvPr>
            <p:ph idx="2" type="body"/>
          </p:nvPr>
        </p:nvSpPr>
        <p:spPr>
          <a:xfrm>
            <a:off x="4939500" y="724200"/>
            <a:ext cx="3837000" cy="3695099"/>
          </a:xfrm>
          <a:prstGeom prst="rect">
            <a:avLst/>
          </a:prstGeom>
        </p:spPr>
        <p:txBody>
          <a:bodyPr anchorCtr="0" anchor="ctr" bIns="91425" lIns="91425" rIns="91425" tIns="91425">
            <a:noAutofit/>
          </a:bodyPr>
          <a:lstStyle/>
          <a:p>
            <a:pPr indent="-228600" lvl="0" marL="457200" rtl="0">
              <a:spcBef>
                <a:spcPts val="0"/>
              </a:spcBef>
            </a:pPr>
            <a:r>
              <a:rPr lang="en"/>
              <a:t>Disproved the theory of “arterial” versus “venous” blood</a:t>
            </a:r>
          </a:p>
          <a:p>
            <a:pPr indent="-228600" lvl="0" marL="457200" rtl="0">
              <a:spcBef>
                <a:spcPts val="0"/>
              </a:spcBef>
            </a:pPr>
            <a:r>
              <a:rPr lang="en"/>
              <a:t>Hypothesized about the existence of capillaries, which were later observed under the microscope</a:t>
            </a:r>
          </a:p>
          <a:p>
            <a:pPr indent="-228600" lvl="0" marL="457200" rtl="0">
              <a:spcBef>
                <a:spcPts val="0"/>
              </a:spcBef>
            </a:pPr>
            <a:r>
              <a:rPr lang="en"/>
              <a:t>Showed that blood circulated throughout the body</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96" name="Shape 96"/>
        <p:cNvGrpSpPr/>
        <p:nvPr/>
      </p:nvGrpSpPr>
      <p:grpSpPr>
        <a:xfrm>
          <a:off x="0" y="0"/>
          <a:ext cx="0" cy="0"/>
          <a:chOff x="0" y="0"/>
          <a:chExt cx="0" cy="0"/>
        </a:xfrm>
      </p:grpSpPr>
      <p:sp>
        <p:nvSpPr>
          <p:cNvPr id="97" name="Shape 97"/>
          <p:cNvSpPr txBox="1"/>
          <p:nvPr>
            <p:ph type="title"/>
          </p:nvPr>
        </p:nvSpPr>
        <p:spPr>
          <a:xfrm>
            <a:off x="265500" y="1382350"/>
            <a:ext cx="4045200" cy="1333200"/>
          </a:xfrm>
          <a:prstGeom prst="rect">
            <a:avLst/>
          </a:prstGeom>
        </p:spPr>
        <p:txBody>
          <a:bodyPr anchorCtr="0" anchor="b" bIns="91425" lIns="91425" rIns="91425" tIns="91425">
            <a:noAutofit/>
          </a:bodyPr>
          <a:lstStyle/>
          <a:p>
            <a:pPr lvl="0">
              <a:spcBef>
                <a:spcPts val="0"/>
              </a:spcBef>
              <a:buNone/>
            </a:pPr>
            <a:r>
              <a:rPr lang="en"/>
              <a:t>Geometry &amp; Topology</a:t>
            </a:r>
          </a:p>
        </p:txBody>
      </p:sp>
      <p:sp>
        <p:nvSpPr>
          <p:cNvPr id="98" name="Shape 98"/>
          <p:cNvSpPr txBox="1"/>
          <p:nvPr>
            <p:ph idx="1" type="subTitle"/>
          </p:nvPr>
        </p:nvSpPr>
        <p:spPr>
          <a:xfrm>
            <a:off x="265500" y="2769000"/>
            <a:ext cx="4045200" cy="1345500"/>
          </a:xfrm>
          <a:prstGeom prst="rect">
            <a:avLst/>
          </a:prstGeom>
        </p:spPr>
        <p:txBody>
          <a:bodyPr anchorCtr="0" anchor="t" bIns="91425" lIns="91425" rIns="91425" tIns="91425">
            <a:noAutofit/>
          </a:bodyPr>
          <a:lstStyle/>
          <a:p>
            <a:pPr lvl="0">
              <a:spcBef>
                <a:spcPts val="0"/>
              </a:spcBef>
              <a:buNone/>
            </a:pPr>
            <a:r>
              <a:rPr lang="en"/>
              <a:t> </a:t>
            </a:r>
          </a:p>
        </p:txBody>
      </p:sp>
      <p:sp>
        <p:nvSpPr>
          <p:cNvPr id="99" name="Shape 99"/>
          <p:cNvSpPr txBox="1"/>
          <p:nvPr>
            <p:ph idx="2" type="body"/>
          </p:nvPr>
        </p:nvSpPr>
        <p:spPr>
          <a:xfrm>
            <a:off x="4939500" y="724200"/>
            <a:ext cx="3837000" cy="3695100"/>
          </a:xfrm>
          <a:prstGeom prst="rect">
            <a:avLst/>
          </a:prstGeom>
        </p:spPr>
        <p:txBody>
          <a:bodyPr anchorCtr="0" anchor="ctr" bIns="91425" lIns="91425" rIns="91425" tIns="91425">
            <a:noAutofit/>
          </a:bodyPr>
          <a:lstStyle/>
          <a:p>
            <a:pPr indent="-228600" lvl="0" marL="457200" rtl="0">
              <a:spcBef>
                <a:spcPts val="0"/>
              </a:spcBef>
            </a:pPr>
            <a:r>
              <a:rPr lang="en"/>
              <a:t>Coordinate System (Rene Descartes, 1637)</a:t>
            </a:r>
          </a:p>
          <a:p>
            <a:pPr indent="-228600" lvl="0" marL="457200">
              <a:spcBef>
                <a:spcPts val="0"/>
              </a:spcBef>
            </a:pPr>
            <a:r>
              <a:rPr lang="en"/>
              <a:t>Non-Euclidean Geometries (1823-1830)</a:t>
            </a:r>
            <a:br>
              <a:rPr lang="en"/>
            </a:b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03" name="Shape 103"/>
        <p:cNvGrpSpPr/>
        <p:nvPr/>
      </p:nvGrpSpPr>
      <p:grpSpPr>
        <a:xfrm>
          <a:off x="0" y="0"/>
          <a:ext cx="0" cy="0"/>
          <a:chOff x="0" y="0"/>
          <a:chExt cx="0" cy="0"/>
        </a:xfrm>
      </p:grpSpPr>
      <p:sp>
        <p:nvSpPr>
          <p:cNvPr id="104" name="Shape 104"/>
          <p:cNvSpPr txBox="1"/>
          <p:nvPr>
            <p:ph type="title"/>
          </p:nvPr>
        </p:nvSpPr>
        <p:spPr>
          <a:xfrm>
            <a:off x="265500" y="1382350"/>
            <a:ext cx="4045200" cy="1333200"/>
          </a:xfrm>
          <a:prstGeom prst="rect">
            <a:avLst/>
          </a:prstGeom>
        </p:spPr>
        <p:txBody>
          <a:bodyPr anchorCtr="0" anchor="b" bIns="91425" lIns="91425" rIns="91425" tIns="91425">
            <a:noAutofit/>
          </a:bodyPr>
          <a:lstStyle/>
          <a:p>
            <a:pPr lvl="0" rtl="0">
              <a:spcBef>
                <a:spcPts val="0"/>
              </a:spcBef>
              <a:buNone/>
            </a:pPr>
            <a:r>
              <a:rPr lang="en"/>
              <a:t>Algebra</a:t>
            </a:r>
          </a:p>
        </p:txBody>
      </p:sp>
      <p:sp>
        <p:nvSpPr>
          <p:cNvPr id="105" name="Shape 105"/>
          <p:cNvSpPr txBox="1"/>
          <p:nvPr>
            <p:ph idx="1" type="subTitle"/>
          </p:nvPr>
        </p:nvSpPr>
        <p:spPr>
          <a:xfrm>
            <a:off x="265500" y="2769000"/>
            <a:ext cx="4045200" cy="1345500"/>
          </a:xfrm>
          <a:prstGeom prst="rect">
            <a:avLst/>
          </a:prstGeom>
        </p:spPr>
        <p:txBody>
          <a:bodyPr anchorCtr="0" anchor="t" bIns="91425" lIns="91425" rIns="91425" tIns="91425">
            <a:noAutofit/>
          </a:bodyPr>
          <a:lstStyle/>
          <a:p>
            <a:pPr lvl="0" rtl="0">
              <a:spcBef>
                <a:spcPts val="0"/>
              </a:spcBef>
              <a:buNone/>
            </a:pPr>
            <a:r>
              <a:rPr lang="en"/>
              <a:t> </a:t>
            </a:r>
          </a:p>
        </p:txBody>
      </p:sp>
      <p:sp>
        <p:nvSpPr>
          <p:cNvPr id="106" name="Shape 106"/>
          <p:cNvSpPr txBox="1"/>
          <p:nvPr>
            <p:ph idx="2" type="body"/>
          </p:nvPr>
        </p:nvSpPr>
        <p:spPr>
          <a:xfrm>
            <a:off x="4939500" y="724200"/>
            <a:ext cx="3837000" cy="3695100"/>
          </a:xfrm>
          <a:prstGeom prst="rect">
            <a:avLst/>
          </a:prstGeom>
        </p:spPr>
        <p:txBody>
          <a:bodyPr anchorCtr="0" anchor="ctr" bIns="91425" lIns="91425" rIns="91425" tIns="91425">
            <a:noAutofit/>
          </a:bodyPr>
          <a:lstStyle/>
          <a:p>
            <a:pPr indent="-228600" lvl="0" marL="457200" rtl="0">
              <a:spcBef>
                <a:spcPts val="0"/>
              </a:spcBef>
            </a:pPr>
            <a:r>
              <a:rPr lang="en"/>
              <a:t>Symmetries of groups of equations</a:t>
            </a:r>
          </a:p>
          <a:p>
            <a:pPr indent="-228600" lvl="0" marL="457200" rtl="0">
              <a:spcBef>
                <a:spcPts val="0"/>
              </a:spcBef>
            </a:pPr>
            <a:r>
              <a:rPr lang="en"/>
              <a:t>Group Theory</a:t>
            </a:r>
          </a:p>
          <a:p>
            <a:pPr indent="-228600" lvl="0" marL="457200" rtl="0">
              <a:spcBef>
                <a:spcPts val="0"/>
              </a:spcBef>
            </a:pPr>
            <a:r>
              <a:rPr lang="en"/>
              <a:t>Linear Algebra and Matrices</a:t>
            </a:r>
            <a:br>
              <a:rPr lang="en"/>
            </a:b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10" name="Shape 110"/>
        <p:cNvGrpSpPr/>
        <p:nvPr/>
      </p:nvGrpSpPr>
      <p:grpSpPr>
        <a:xfrm>
          <a:off x="0" y="0"/>
          <a:ext cx="0" cy="0"/>
          <a:chOff x="0" y="0"/>
          <a:chExt cx="0" cy="0"/>
        </a:xfrm>
      </p:grpSpPr>
      <p:sp>
        <p:nvSpPr>
          <p:cNvPr id="111" name="Shape 111"/>
          <p:cNvSpPr txBox="1"/>
          <p:nvPr>
            <p:ph type="title"/>
          </p:nvPr>
        </p:nvSpPr>
        <p:spPr>
          <a:xfrm>
            <a:off x="265500" y="1382350"/>
            <a:ext cx="4045200" cy="1333200"/>
          </a:xfrm>
          <a:prstGeom prst="rect">
            <a:avLst/>
          </a:prstGeom>
        </p:spPr>
        <p:txBody>
          <a:bodyPr anchorCtr="0" anchor="b" bIns="91425" lIns="91425" rIns="91425" tIns="91425">
            <a:noAutofit/>
          </a:bodyPr>
          <a:lstStyle/>
          <a:p>
            <a:pPr lvl="0" rtl="0">
              <a:spcBef>
                <a:spcPts val="0"/>
              </a:spcBef>
              <a:buNone/>
            </a:pPr>
            <a:r>
              <a:rPr lang="en"/>
              <a:t>Analysis</a:t>
            </a:r>
          </a:p>
        </p:txBody>
      </p:sp>
      <p:sp>
        <p:nvSpPr>
          <p:cNvPr id="112" name="Shape 112"/>
          <p:cNvSpPr txBox="1"/>
          <p:nvPr>
            <p:ph idx="1" type="subTitle"/>
          </p:nvPr>
        </p:nvSpPr>
        <p:spPr>
          <a:xfrm>
            <a:off x="265500" y="2769000"/>
            <a:ext cx="4045200" cy="1345500"/>
          </a:xfrm>
          <a:prstGeom prst="rect">
            <a:avLst/>
          </a:prstGeom>
        </p:spPr>
        <p:txBody>
          <a:bodyPr anchorCtr="0" anchor="t" bIns="91425" lIns="91425" rIns="91425" tIns="91425">
            <a:noAutofit/>
          </a:bodyPr>
          <a:lstStyle/>
          <a:p>
            <a:pPr lvl="0" rtl="0">
              <a:spcBef>
                <a:spcPts val="0"/>
              </a:spcBef>
              <a:buNone/>
            </a:pPr>
            <a:r>
              <a:rPr lang="en"/>
              <a:t> </a:t>
            </a:r>
          </a:p>
        </p:txBody>
      </p:sp>
      <p:sp>
        <p:nvSpPr>
          <p:cNvPr id="113" name="Shape 113"/>
          <p:cNvSpPr txBox="1"/>
          <p:nvPr>
            <p:ph idx="2" type="body"/>
          </p:nvPr>
        </p:nvSpPr>
        <p:spPr>
          <a:xfrm>
            <a:off x="4939500" y="724200"/>
            <a:ext cx="3837000" cy="3695100"/>
          </a:xfrm>
          <a:prstGeom prst="rect">
            <a:avLst/>
          </a:prstGeom>
        </p:spPr>
        <p:txBody>
          <a:bodyPr anchorCtr="0" anchor="ctr" bIns="91425" lIns="91425" rIns="91425" tIns="91425">
            <a:noAutofit/>
          </a:bodyPr>
          <a:lstStyle/>
          <a:p>
            <a:pPr indent="-228600" lvl="0" marL="457200" rtl="0">
              <a:spcBef>
                <a:spcPts val="0"/>
              </a:spcBef>
            </a:pPr>
            <a:r>
              <a:rPr lang="en"/>
              <a:t>Calculus</a:t>
            </a:r>
          </a:p>
          <a:p>
            <a:pPr indent="-228600" lvl="0" marL="457200" rtl="0">
              <a:spcBef>
                <a:spcPts val="0"/>
              </a:spcBef>
            </a:pPr>
            <a:r>
              <a:rPr lang="en"/>
              <a:t>Differential Equations</a:t>
            </a:r>
          </a:p>
          <a:p>
            <a:pPr indent="-228600" lvl="0" marL="457200" rtl="0">
              <a:spcBef>
                <a:spcPts val="0"/>
              </a:spcBef>
            </a:pPr>
            <a:r>
              <a:rPr lang="en"/>
              <a:t>Probability Theory</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17" name="Shape 117"/>
        <p:cNvGrpSpPr/>
        <p:nvPr/>
      </p:nvGrpSpPr>
      <p:grpSpPr>
        <a:xfrm>
          <a:off x="0" y="0"/>
          <a:ext cx="0" cy="0"/>
          <a:chOff x="0" y="0"/>
          <a:chExt cx="0" cy="0"/>
        </a:xfrm>
      </p:grpSpPr>
      <p:sp>
        <p:nvSpPr>
          <p:cNvPr id="118" name="Shape 118"/>
          <p:cNvSpPr txBox="1"/>
          <p:nvPr>
            <p:ph type="title"/>
          </p:nvPr>
        </p:nvSpPr>
        <p:spPr>
          <a:xfrm>
            <a:off x="512700" y="1893300"/>
            <a:ext cx="8118599" cy="1522800"/>
          </a:xfrm>
          <a:prstGeom prst="rect">
            <a:avLst/>
          </a:prstGeom>
        </p:spPr>
        <p:txBody>
          <a:bodyPr anchorCtr="0" anchor="b" bIns="91425" lIns="91425" rIns="91425" tIns="91425">
            <a:noAutofit/>
          </a:bodyPr>
          <a:lstStyle/>
          <a:p>
            <a:pPr lvl="0">
              <a:spcBef>
                <a:spcPts val="0"/>
              </a:spcBef>
              <a:buNone/>
            </a:pPr>
            <a:r>
              <a:rPr lang="en"/>
              <a:t>“The Present”</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22" name="Shape 122"/>
        <p:cNvGrpSpPr/>
        <p:nvPr/>
      </p:nvGrpSpPr>
      <p:grpSpPr>
        <a:xfrm>
          <a:off x="0" y="0"/>
          <a:ext cx="0" cy="0"/>
          <a:chOff x="0" y="0"/>
          <a:chExt cx="0" cy="0"/>
        </a:xfrm>
      </p:grpSpPr>
      <p:sp>
        <p:nvSpPr>
          <p:cNvPr id="123" name="Shape 123"/>
          <p:cNvSpPr txBox="1"/>
          <p:nvPr>
            <p:ph type="title"/>
          </p:nvPr>
        </p:nvSpPr>
        <p:spPr>
          <a:xfrm>
            <a:off x="523625" y="365575"/>
            <a:ext cx="8113500" cy="1046400"/>
          </a:xfrm>
          <a:prstGeom prst="rect">
            <a:avLst/>
          </a:prstGeom>
        </p:spPr>
        <p:txBody>
          <a:bodyPr anchorCtr="0" anchor="ctr" bIns="91425" lIns="91425" rIns="91425" tIns="91425">
            <a:noAutofit/>
          </a:bodyPr>
          <a:lstStyle/>
          <a:p>
            <a:pPr lvl="0" algn="ctr">
              <a:spcBef>
                <a:spcPts val="0"/>
              </a:spcBef>
              <a:buNone/>
            </a:pPr>
            <a:r>
              <a:rPr lang="en"/>
              <a:t>Current field of Biology </a:t>
            </a:r>
          </a:p>
        </p:txBody>
      </p:sp>
      <p:sp>
        <p:nvSpPr>
          <p:cNvPr id="124" name="Shape 124"/>
          <p:cNvSpPr txBox="1"/>
          <p:nvPr/>
        </p:nvSpPr>
        <p:spPr>
          <a:xfrm>
            <a:off x="6002175" y="4250825"/>
            <a:ext cx="102000" cy="263400"/>
          </a:xfrm>
          <a:prstGeom prst="rect">
            <a:avLst/>
          </a:prstGeom>
          <a:noFill/>
          <a:ln>
            <a:noFill/>
          </a:ln>
        </p:spPr>
        <p:txBody>
          <a:bodyPr anchorCtr="0" anchor="t" bIns="91425" lIns="91425" rIns="91425" tIns="91425">
            <a:noAutofit/>
          </a:bodyPr>
          <a:lstStyle/>
          <a:p>
            <a:pPr lvl="0">
              <a:spcBef>
                <a:spcPts val="0"/>
              </a:spcBef>
              <a:buNone/>
            </a:pPr>
            <a:r>
              <a:t/>
            </a:r>
            <a:endParaRPr/>
          </a:p>
        </p:txBody>
      </p:sp>
      <p:sp>
        <p:nvSpPr>
          <p:cNvPr id="125" name="Shape 125"/>
          <p:cNvSpPr txBox="1"/>
          <p:nvPr/>
        </p:nvSpPr>
        <p:spPr>
          <a:xfrm rot="-5400000">
            <a:off x="337850" y="2049575"/>
            <a:ext cx="6631200" cy="3060600"/>
          </a:xfrm>
          <a:prstGeom prst="rect">
            <a:avLst/>
          </a:prstGeom>
          <a:noFill/>
          <a:ln>
            <a:noFill/>
          </a:ln>
        </p:spPr>
        <p:txBody>
          <a:bodyPr anchorCtr="0" anchor="t" bIns="91425" lIns="91425" rIns="91425" tIns="91425">
            <a:noAutofit/>
          </a:bodyPr>
          <a:lstStyle/>
          <a:p>
            <a:pPr lvl="0" rtl="0" algn="ctr">
              <a:spcBef>
                <a:spcPts val="0"/>
              </a:spcBef>
              <a:buNone/>
            </a:pPr>
            <a:r>
              <a:rPr lang="en" sz="2400">
                <a:solidFill>
                  <a:srgbClr val="FFFFFF"/>
                </a:solidFill>
                <a:latin typeface="Old Standard TT"/>
                <a:ea typeface="Old Standard TT"/>
                <a:cs typeface="Old Standard TT"/>
                <a:sym typeface="Old Standard TT"/>
              </a:rPr>
              <a:t>Questions </a:t>
            </a:r>
          </a:p>
          <a:p>
            <a:pPr lvl="0" rtl="0" algn="ctr">
              <a:spcBef>
                <a:spcPts val="0"/>
              </a:spcBef>
              <a:buNone/>
            </a:pPr>
            <a:r>
              <a:t/>
            </a:r>
            <a:endParaRPr sz="2400">
              <a:solidFill>
                <a:srgbClr val="FFFFFF"/>
              </a:solidFill>
              <a:latin typeface="Old Standard TT"/>
              <a:ea typeface="Old Standard TT"/>
              <a:cs typeface="Old Standard TT"/>
              <a:sym typeface="Old Standard TT"/>
            </a:endParaRPr>
          </a:p>
          <a:p>
            <a:pPr lvl="0">
              <a:spcBef>
                <a:spcPts val="0"/>
              </a:spcBef>
              <a:buNone/>
            </a:pPr>
            <a:r>
              <a:t/>
            </a:r>
            <a:endParaRPr>
              <a:solidFill>
                <a:srgbClr val="FFFFFF"/>
              </a:solidFill>
              <a:latin typeface="Old Standard TT"/>
              <a:ea typeface="Old Standard TT"/>
              <a:cs typeface="Old Standard TT"/>
              <a:sym typeface="Old Standard TT"/>
            </a:endParaRPr>
          </a:p>
        </p:txBody>
      </p:sp>
      <p:sp>
        <p:nvSpPr>
          <p:cNvPr id="126" name="Shape 126"/>
          <p:cNvSpPr/>
          <p:nvPr/>
        </p:nvSpPr>
        <p:spPr>
          <a:xfrm>
            <a:off x="2714175" y="2645525"/>
            <a:ext cx="3035400" cy="1868700"/>
          </a:xfrm>
          <a:prstGeom prst="rect">
            <a:avLst/>
          </a:prstGeom>
          <a:solidFill>
            <a:srgbClr val="FFFFFF"/>
          </a:solidFill>
          <a:ln cap="flat" cmpd="sng" w="9525">
            <a:solidFill>
              <a:schemeClr val="dk2"/>
            </a:solidFill>
            <a:prstDash val="solid"/>
            <a:round/>
            <a:headEnd len="med" w="med" type="none"/>
            <a:tailEnd len="med" w="med" type="none"/>
          </a:ln>
        </p:spPr>
        <p:txBody>
          <a:bodyPr anchorCtr="0" anchor="ctr" bIns="91425" lIns="91425" rIns="91425" tIns="91425">
            <a:noAutofit/>
          </a:bodyPr>
          <a:lstStyle/>
          <a:p>
            <a:pPr lvl="0">
              <a:spcBef>
                <a:spcPts val="0"/>
              </a:spcBef>
              <a:buNone/>
            </a:pPr>
            <a:r>
              <a:t/>
            </a:r>
            <a:endParaRPr>
              <a:solidFill>
                <a:srgbClr val="FFFFFF"/>
              </a:solidFill>
            </a:endParaRPr>
          </a:p>
        </p:txBody>
      </p:sp>
      <p:sp>
        <p:nvSpPr>
          <p:cNvPr id="127" name="Shape 127"/>
          <p:cNvSpPr txBox="1"/>
          <p:nvPr/>
        </p:nvSpPr>
        <p:spPr>
          <a:xfrm>
            <a:off x="758875" y="1823425"/>
            <a:ext cx="4858800" cy="969600"/>
          </a:xfrm>
          <a:prstGeom prst="rect">
            <a:avLst/>
          </a:prstGeom>
          <a:noFill/>
          <a:ln>
            <a:noFill/>
          </a:ln>
        </p:spPr>
        <p:txBody>
          <a:bodyPr anchorCtr="0" anchor="t" bIns="91425" lIns="91425" rIns="91425" tIns="91425">
            <a:noAutofit/>
          </a:bodyPr>
          <a:lstStyle/>
          <a:p>
            <a:pPr lvl="0">
              <a:spcBef>
                <a:spcPts val="0"/>
              </a:spcBef>
              <a:buNone/>
            </a:pPr>
            <a:r>
              <a:t/>
            </a:r>
            <a:endParaRPr/>
          </a:p>
        </p:txBody>
      </p:sp>
      <p:sp>
        <p:nvSpPr>
          <p:cNvPr id="128" name="Shape 128"/>
          <p:cNvSpPr txBox="1"/>
          <p:nvPr/>
        </p:nvSpPr>
        <p:spPr>
          <a:xfrm>
            <a:off x="3140475" y="4627075"/>
            <a:ext cx="2761500" cy="421500"/>
          </a:xfrm>
          <a:prstGeom prst="rect">
            <a:avLst/>
          </a:prstGeom>
          <a:noFill/>
          <a:ln>
            <a:noFill/>
          </a:ln>
        </p:spPr>
        <p:txBody>
          <a:bodyPr anchorCtr="0" anchor="t" bIns="91425" lIns="91425" rIns="91425" tIns="91425">
            <a:noAutofit/>
          </a:bodyPr>
          <a:lstStyle/>
          <a:p>
            <a:pPr lvl="0">
              <a:spcBef>
                <a:spcPts val="0"/>
              </a:spcBef>
              <a:buNone/>
            </a:pPr>
            <a:r>
              <a:rPr lang="en" sz="1800">
                <a:solidFill>
                  <a:srgbClr val="FFFFFF"/>
                </a:solidFill>
                <a:latin typeface="Old Standard TT"/>
                <a:ea typeface="Old Standard TT"/>
                <a:cs typeface="Old Standard TT"/>
                <a:sym typeface="Old Standard TT"/>
              </a:rPr>
              <a:t>Biological Domains</a:t>
            </a:r>
          </a:p>
        </p:txBody>
      </p:sp>
      <p:cxnSp>
        <p:nvCxnSpPr>
          <p:cNvPr id="129" name="Shape 129"/>
          <p:cNvCxnSpPr/>
          <p:nvPr/>
        </p:nvCxnSpPr>
        <p:spPr>
          <a:xfrm flipH="1" rot="10800000">
            <a:off x="2714175" y="1934125"/>
            <a:ext cx="579600" cy="748200"/>
          </a:xfrm>
          <a:prstGeom prst="straightConnector1">
            <a:avLst/>
          </a:prstGeom>
          <a:noFill/>
          <a:ln cap="flat" cmpd="sng" w="9525">
            <a:solidFill>
              <a:srgbClr val="FFFFFF"/>
            </a:solidFill>
            <a:prstDash val="solid"/>
            <a:round/>
            <a:headEnd len="lg" w="lg" type="none"/>
            <a:tailEnd len="lg" w="lg" type="none"/>
          </a:ln>
        </p:spPr>
      </p:cxnSp>
      <p:cxnSp>
        <p:nvCxnSpPr>
          <p:cNvPr id="130" name="Shape 130"/>
          <p:cNvCxnSpPr/>
          <p:nvPr/>
        </p:nvCxnSpPr>
        <p:spPr>
          <a:xfrm flipH="1" rot="10800000">
            <a:off x="5749575" y="1934125"/>
            <a:ext cx="579600" cy="748200"/>
          </a:xfrm>
          <a:prstGeom prst="straightConnector1">
            <a:avLst/>
          </a:prstGeom>
          <a:noFill/>
          <a:ln cap="flat" cmpd="sng" w="9525">
            <a:solidFill>
              <a:srgbClr val="FFFFFF"/>
            </a:solidFill>
            <a:prstDash val="solid"/>
            <a:round/>
            <a:headEnd len="lg" w="lg" type="none"/>
            <a:tailEnd len="lg" w="lg" type="none"/>
          </a:ln>
        </p:spPr>
      </p:cxnSp>
      <p:cxnSp>
        <p:nvCxnSpPr>
          <p:cNvPr id="131" name="Shape 131"/>
          <p:cNvCxnSpPr/>
          <p:nvPr/>
        </p:nvCxnSpPr>
        <p:spPr>
          <a:xfrm flipH="1" rot="10800000">
            <a:off x="3972725" y="3766025"/>
            <a:ext cx="579600" cy="748200"/>
          </a:xfrm>
          <a:prstGeom prst="straightConnector1">
            <a:avLst/>
          </a:prstGeom>
          <a:noFill/>
          <a:ln cap="flat" cmpd="sng" w="9525">
            <a:solidFill>
              <a:srgbClr val="FFFFFF"/>
            </a:solidFill>
            <a:prstDash val="solid"/>
            <a:round/>
            <a:headEnd len="lg" w="lg" type="none"/>
            <a:tailEnd len="lg" w="lg" type="none"/>
          </a:ln>
        </p:spPr>
      </p:cxnSp>
      <p:sp>
        <p:nvSpPr>
          <p:cNvPr id="132" name="Shape 132"/>
          <p:cNvSpPr txBox="1"/>
          <p:nvPr/>
        </p:nvSpPr>
        <p:spPr>
          <a:xfrm rot="-3235759">
            <a:off x="2037532" y="1857572"/>
            <a:ext cx="1079685" cy="168555"/>
          </a:xfrm>
          <a:prstGeom prst="rect">
            <a:avLst/>
          </a:prstGeom>
          <a:noFill/>
          <a:ln>
            <a:noFill/>
          </a:ln>
        </p:spPr>
        <p:txBody>
          <a:bodyPr anchorCtr="0" anchor="t" bIns="91425" lIns="91425" rIns="91425" tIns="91425">
            <a:noAutofit/>
          </a:bodyPr>
          <a:lstStyle/>
          <a:p>
            <a:pPr lvl="0">
              <a:spcBef>
                <a:spcPts val="0"/>
              </a:spcBef>
              <a:buNone/>
            </a:pPr>
            <a:r>
              <a:rPr lang="en">
                <a:solidFill>
                  <a:srgbClr val="FFFFFF"/>
                </a:solidFill>
                <a:latin typeface="Old Standard TT"/>
                <a:ea typeface="Old Standard TT"/>
                <a:cs typeface="Old Standard TT"/>
                <a:sym typeface="Old Standard TT"/>
              </a:rPr>
              <a:t>Time and space</a:t>
            </a:r>
          </a:p>
        </p:txBody>
      </p:sp>
      <p:cxnSp>
        <p:nvCxnSpPr>
          <p:cNvPr id="133" name="Shape 133"/>
          <p:cNvCxnSpPr/>
          <p:nvPr/>
        </p:nvCxnSpPr>
        <p:spPr>
          <a:xfrm>
            <a:off x="3293850" y="1928825"/>
            <a:ext cx="3014400" cy="10500"/>
          </a:xfrm>
          <a:prstGeom prst="straightConnector1">
            <a:avLst/>
          </a:prstGeom>
          <a:noFill/>
          <a:ln cap="flat" cmpd="sng" w="9525">
            <a:solidFill>
              <a:schemeClr val="dk2"/>
            </a:solidFill>
            <a:prstDash val="solid"/>
            <a:round/>
            <a:headEnd len="lg" w="lg" type="none"/>
            <a:tailEnd len="lg" w="lg" type="none"/>
          </a:ln>
        </p:spPr>
      </p:cxnSp>
      <p:cxnSp>
        <p:nvCxnSpPr>
          <p:cNvPr id="134" name="Shape 134"/>
          <p:cNvCxnSpPr/>
          <p:nvPr/>
        </p:nvCxnSpPr>
        <p:spPr>
          <a:xfrm flipH="1" rot="10800000">
            <a:off x="5749575" y="3762925"/>
            <a:ext cx="579600" cy="748200"/>
          </a:xfrm>
          <a:prstGeom prst="straightConnector1">
            <a:avLst/>
          </a:prstGeom>
          <a:noFill/>
          <a:ln cap="flat" cmpd="sng" w="9525">
            <a:solidFill>
              <a:srgbClr val="FFFFFF"/>
            </a:solidFill>
            <a:prstDash val="solid"/>
            <a:round/>
            <a:headEnd len="lg" w="lg" type="none"/>
            <a:tailEnd len="lg" w="lg" type="none"/>
          </a:ln>
        </p:spPr>
      </p:cxnSp>
      <p:cxnSp>
        <p:nvCxnSpPr>
          <p:cNvPr id="135" name="Shape 135"/>
          <p:cNvCxnSpPr/>
          <p:nvPr/>
        </p:nvCxnSpPr>
        <p:spPr>
          <a:xfrm>
            <a:off x="6323975" y="1949900"/>
            <a:ext cx="0" cy="1823400"/>
          </a:xfrm>
          <a:prstGeom prst="straightConnector1">
            <a:avLst/>
          </a:prstGeom>
          <a:noFill/>
          <a:ln cap="flat" cmpd="sng" w="9525">
            <a:solidFill>
              <a:schemeClr val="dk2"/>
            </a:solidFill>
            <a:prstDash val="solid"/>
            <a:round/>
            <a:headEnd len="lg" w="lg" type="none"/>
            <a:tailEnd len="lg" w="lg" type="non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39" name="Shape 139"/>
        <p:cNvGrpSpPr/>
        <p:nvPr/>
      </p:nvGrpSpPr>
      <p:grpSpPr>
        <a:xfrm>
          <a:off x="0" y="0"/>
          <a:ext cx="0" cy="0"/>
          <a:chOff x="0" y="0"/>
          <a:chExt cx="0" cy="0"/>
        </a:xfrm>
      </p:grpSpPr>
      <p:sp>
        <p:nvSpPr>
          <p:cNvPr id="140" name="Shape 140"/>
          <p:cNvSpPr txBox="1"/>
          <p:nvPr>
            <p:ph type="title"/>
          </p:nvPr>
        </p:nvSpPr>
        <p:spPr>
          <a:xfrm>
            <a:off x="402250" y="184075"/>
            <a:ext cx="6893400" cy="1820700"/>
          </a:xfrm>
          <a:prstGeom prst="rect">
            <a:avLst/>
          </a:prstGeom>
        </p:spPr>
        <p:txBody>
          <a:bodyPr anchorCtr="0" anchor="ctr" bIns="91425" lIns="91425" rIns="91425" tIns="91425">
            <a:noAutofit/>
          </a:bodyPr>
          <a:lstStyle/>
          <a:p>
            <a:pPr lvl="0">
              <a:spcBef>
                <a:spcPts val="0"/>
              </a:spcBef>
              <a:buNone/>
            </a:pPr>
            <a:r>
              <a:rPr lang="en"/>
              <a:t>6 questions to ask</a:t>
            </a:r>
          </a:p>
        </p:txBody>
      </p:sp>
      <p:sp>
        <p:nvSpPr>
          <p:cNvPr id="141" name="Shape 141"/>
          <p:cNvSpPr txBox="1"/>
          <p:nvPr/>
        </p:nvSpPr>
        <p:spPr>
          <a:xfrm>
            <a:off x="557450" y="1740775"/>
            <a:ext cx="4783800" cy="2848800"/>
          </a:xfrm>
          <a:prstGeom prst="rect">
            <a:avLst/>
          </a:prstGeom>
          <a:noFill/>
          <a:ln>
            <a:noFill/>
          </a:ln>
        </p:spPr>
        <p:txBody>
          <a:bodyPr anchorCtr="0" anchor="t" bIns="91425" lIns="91425" rIns="91425" tIns="91425">
            <a:noAutofit/>
          </a:bodyPr>
          <a:lstStyle/>
          <a:p>
            <a:pPr indent="-342900" lvl="0" marL="457200" rtl="0">
              <a:lnSpc>
                <a:spcPct val="150000"/>
              </a:lnSpc>
              <a:spcBef>
                <a:spcPts val="0"/>
              </a:spcBef>
              <a:buClr>
                <a:srgbClr val="FFFFFF"/>
              </a:buClr>
              <a:buSzPct val="100000"/>
              <a:buFont typeface="Old Standard TT"/>
              <a:buAutoNum type="arabicParenR"/>
            </a:pPr>
            <a:r>
              <a:rPr lang="en" sz="1800">
                <a:solidFill>
                  <a:srgbClr val="FFFFFF"/>
                </a:solidFill>
                <a:latin typeface="Old Standard TT"/>
                <a:ea typeface="Old Standard TT"/>
                <a:cs typeface="Old Standard TT"/>
                <a:sym typeface="Old Standard TT"/>
              </a:rPr>
              <a:t>How is it built?</a:t>
            </a:r>
          </a:p>
          <a:p>
            <a:pPr indent="-342900" lvl="0" marL="457200" rtl="0">
              <a:lnSpc>
                <a:spcPct val="150000"/>
              </a:lnSpc>
              <a:spcBef>
                <a:spcPts val="0"/>
              </a:spcBef>
              <a:buClr>
                <a:srgbClr val="FFFFFF"/>
              </a:buClr>
              <a:buSzPct val="100000"/>
              <a:buFont typeface="Old Standard TT"/>
              <a:buAutoNum type="arabicParenR"/>
            </a:pPr>
            <a:r>
              <a:rPr lang="en" sz="1800">
                <a:solidFill>
                  <a:srgbClr val="FFFFFF"/>
                </a:solidFill>
                <a:latin typeface="Old Standard TT"/>
                <a:ea typeface="Old Standard TT"/>
                <a:cs typeface="Old Standard TT"/>
                <a:sym typeface="Old Standard TT"/>
              </a:rPr>
              <a:t>How does it work?</a:t>
            </a:r>
          </a:p>
          <a:p>
            <a:pPr indent="-342900" lvl="0" marL="457200" rtl="0">
              <a:lnSpc>
                <a:spcPct val="150000"/>
              </a:lnSpc>
              <a:spcBef>
                <a:spcPts val="0"/>
              </a:spcBef>
              <a:buClr>
                <a:srgbClr val="FFFFFF"/>
              </a:buClr>
              <a:buSzPct val="100000"/>
              <a:buFont typeface="Old Standard TT"/>
              <a:buAutoNum type="arabicParenR"/>
            </a:pPr>
            <a:r>
              <a:rPr lang="en" sz="1800">
                <a:solidFill>
                  <a:srgbClr val="FFFFFF"/>
                </a:solidFill>
                <a:latin typeface="Old Standard TT"/>
                <a:ea typeface="Old Standard TT"/>
                <a:cs typeface="Old Standard TT"/>
                <a:sym typeface="Old Standard TT"/>
              </a:rPr>
              <a:t>What goes wrong?</a:t>
            </a:r>
          </a:p>
          <a:p>
            <a:pPr indent="-342900" lvl="0" marL="457200" rtl="0">
              <a:lnSpc>
                <a:spcPct val="150000"/>
              </a:lnSpc>
              <a:spcBef>
                <a:spcPts val="0"/>
              </a:spcBef>
              <a:buClr>
                <a:srgbClr val="FFFFFF"/>
              </a:buClr>
              <a:buSzPct val="100000"/>
              <a:buFont typeface="Old Standard TT"/>
              <a:buAutoNum type="arabicParenR"/>
            </a:pPr>
            <a:r>
              <a:rPr lang="en" sz="1800">
                <a:solidFill>
                  <a:srgbClr val="FFFFFF"/>
                </a:solidFill>
                <a:latin typeface="Old Standard TT"/>
                <a:ea typeface="Old Standard TT"/>
                <a:cs typeface="Old Standard TT"/>
                <a:sym typeface="Old Standard TT"/>
              </a:rPr>
              <a:t>How is it fixed?</a:t>
            </a:r>
          </a:p>
          <a:p>
            <a:pPr indent="-342900" lvl="0" marL="457200" rtl="0">
              <a:lnSpc>
                <a:spcPct val="150000"/>
              </a:lnSpc>
              <a:spcBef>
                <a:spcPts val="0"/>
              </a:spcBef>
              <a:buClr>
                <a:srgbClr val="FFFFFF"/>
              </a:buClr>
              <a:buSzPct val="100000"/>
              <a:buFont typeface="Old Standard TT"/>
              <a:buAutoNum type="arabicParenR"/>
            </a:pPr>
            <a:r>
              <a:rPr lang="en" sz="1800">
                <a:solidFill>
                  <a:srgbClr val="FFFFFF"/>
                </a:solidFill>
                <a:latin typeface="Old Standard TT"/>
                <a:ea typeface="Old Standard TT"/>
                <a:cs typeface="Old Standard TT"/>
                <a:sym typeface="Old Standard TT"/>
              </a:rPr>
              <a:t>How did it begin?</a:t>
            </a:r>
          </a:p>
          <a:p>
            <a:pPr indent="-342900" lvl="0" marL="457200" rtl="0">
              <a:lnSpc>
                <a:spcPct val="150000"/>
              </a:lnSpc>
              <a:spcBef>
                <a:spcPts val="0"/>
              </a:spcBef>
              <a:buClr>
                <a:srgbClr val="FFFFFF"/>
              </a:buClr>
              <a:buSzPct val="100000"/>
              <a:buFont typeface="Old Standard TT"/>
              <a:buAutoNum type="arabicParenR"/>
            </a:pPr>
            <a:r>
              <a:rPr lang="en" sz="1800">
                <a:solidFill>
                  <a:srgbClr val="FFFFFF"/>
                </a:solidFill>
                <a:latin typeface="Old Standard TT"/>
                <a:ea typeface="Old Standard TT"/>
                <a:cs typeface="Old Standard TT"/>
                <a:sym typeface="Old Standard TT"/>
              </a:rPr>
              <a:t>What is it for?</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45" name="Shape 145"/>
        <p:cNvGrpSpPr/>
        <p:nvPr/>
      </p:nvGrpSpPr>
      <p:grpSpPr>
        <a:xfrm>
          <a:off x="0" y="0"/>
          <a:ext cx="0" cy="0"/>
          <a:chOff x="0" y="0"/>
          <a:chExt cx="0" cy="0"/>
        </a:xfrm>
      </p:grpSpPr>
      <p:sp>
        <p:nvSpPr>
          <p:cNvPr id="146" name="Shape 146"/>
          <p:cNvSpPr txBox="1"/>
          <p:nvPr>
            <p:ph type="title"/>
          </p:nvPr>
        </p:nvSpPr>
        <p:spPr>
          <a:xfrm>
            <a:off x="234600" y="96050"/>
            <a:ext cx="8674800" cy="1204500"/>
          </a:xfrm>
          <a:prstGeom prst="rect">
            <a:avLst/>
          </a:prstGeom>
        </p:spPr>
        <p:txBody>
          <a:bodyPr anchorCtr="0" anchor="ctr" bIns="91425" lIns="91425" rIns="91425" tIns="91425">
            <a:noAutofit/>
          </a:bodyPr>
          <a:lstStyle/>
          <a:p>
            <a:pPr lvl="0">
              <a:spcBef>
                <a:spcPts val="0"/>
              </a:spcBef>
              <a:buNone/>
            </a:pPr>
            <a:r>
              <a:rPr lang="en" sz="4800"/>
              <a:t>Current field of mathematics </a:t>
            </a:r>
          </a:p>
        </p:txBody>
      </p:sp>
      <p:sp>
        <p:nvSpPr>
          <p:cNvPr id="147" name="Shape 147"/>
          <p:cNvSpPr txBox="1"/>
          <p:nvPr/>
        </p:nvSpPr>
        <p:spPr>
          <a:xfrm>
            <a:off x="195550" y="1596550"/>
            <a:ext cx="8038800" cy="3344700"/>
          </a:xfrm>
          <a:prstGeom prst="rect">
            <a:avLst/>
          </a:prstGeom>
          <a:noFill/>
          <a:ln>
            <a:noFill/>
          </a:ln>
        </p:spPr>
        <p:txBody>
          <a:bodyPr anchorCtr="0" anchor="t" bIns="91425" lIns="91425" rIns="91425" tIns="91425">
            <a:noAutofit/>
          </a:bodyPr>
          <a:lstStyle/>
          <a:p>
            <a:pPr indent="-381000" lvl="0" marL="457200" rtl="0">
              <a:lnSpc>
                <a:spcPct val="150000"/>
              </a:lnSpc>
              <a:spcBef>
                <a:spcPts val="0"/>
              </a:spcBef>
              <a:buClr>
                <a:srgbClr val="FFFFFF"/>
              </a:buClr>
              <a:buSzPct val="100000"/>
              <a:buFont typeface="Old Standard TT"/>
              <a:buChar char="-"/>
            </a:pPr>
            <a:r>
              <a:rPr lang="en" sz="2400">
                <a:solidFill>
                  <a:srgbClr val="FFFFFF"/>
                </a:solidFill>
                <a:latin typeface="Old Standard TT"/>
                <a:ea typeface="Old Standard TT"/>
                <a:cs typeface="Old Standard TT"/>
                <a:sym typeface="Old Standard TT"/>
              </a:rPr>
              <a:t>Data structures</a:t>
            </a:r>
          </a:p>
          <a:p>
            <a:pPr indent="-381000" lvl="0" marL="457200" rtl="0">
              <a:lnSpc>
                <a:spcPct val="150000"/>
              </a:lnSpc>
              <a:spcBef>
                <a:spcPts val="0"/>
              </a:spcBef>
              <a:buClr>
                <a:srgbClr val="FFFFFF"/>
              </a:buClr>
              <a:buSzPct val="100000"/>
              <a:buFont typeface="Old Standard TT"/>
              <a:buChar char="-"/>
            </a:pPr>
            <a:r>
              <a:rPr lang="en" sz="2400">
                <a:solidFill>
                  <a:srgbClr val="FFFFFF"/>
                </a:solidFill>
                <a:latin typeface="Old Standard TT"/>
                <a:ea typeface="Old Standard TT"/>
                <a:cs typeface="Old Standard TT"/>
                <a:sym typeface="Old Standard TT"/>
              </a:rPr>
              <a:t>Algorithms</a:t>
            </a:r>
          </a:p>
          <a:p>
            <a:pPr indent="-381000" lvl="0" marL="457200" rtl="0">
              <a:lnSpc>
                <a:spcPct val="150000"/>
              </a:lnSpc>
              <a:spcBef>
                <a:spcPts val="0"/>
              </a:spcBef>
              <a:buClr>
                <a:srgbClr val="FFFFFF"/>
              </a:buClr>
              <a:buSzPct val="100000"/>
              <a:buFont typeface="Old Standard TT"/>
              <a:buChar char="-"/>
            </a:pPr>
            <a:r>
              <a:rPr lang="en" sz="2400">
                <a:solidFill>
                  <a:srgbClr val="FFFFFF"/>
                </a:solidFill>
                <a:latin typeface="Old Standard TT"/>
                <a:ea typeface="Old Standard TT"/>
                <a:cs typeface="Old Standard TT"/>
                <a:sym typeface="Old Standard TT"/>
              </a:rPr>
              <a:t>Theories and models</a:t>
            </a:r>
          </a:p>
          <a:p>
            <a:pPr indent="-381000" lvl="0" marL="457200">
              <a:lnSpc>
                <a:spcPct val="150000"/>
              </a:lnSpc>
              <a:spcBef>
                <a:spcPts val="0"/>
              </a:spcBef>
              <a:buClr>
                <a:srgbClr val="FFFFFF"/>
              </a:buClr>
              <a:buSzPct val="100000"/>
              <a:buFont typeface="Old Standard TT"/>
              <a:buChar char="-"/>
            </a:pPr>
            <a:r>
              <a:rPr lang="en" sz="2400">
                <a:solidFill>
                  <a:srgbClr val="FFFFFF"/>
                </a:solidFill>
                <a:latin typeface="Old Standard TT"/>
                <a:ea typeface="Old Standard TT"/>
                <a:cs typeface="Old Standard TT"/>
                <a:sym typeface="Old Standard TT"/>
              </a:rPr>
              <a:t>Computers and software </a:t>
            </a:r>
          </a:p>
        </p:txBody>
      </p:sp>
      <p:pic>
        <p:nvPicPr>
          <p:cNvPr id="148" name="Shape 148"/>
          <p:cNvPicPr preferRelativeResize="0"/>
          <p:nvPr/>
        </p:nvPicPr>
        <p:blipFill>
          <a:blip r:embed="rId3">
            <a:alphaModFix/>
          </a:blip>
          <a:stretch>
            <a:fillRect/>
          </a:stretch>
        </p:blipFill>
        <p:spPr>
          <a:xfrm>
            <a:off x="4663100" y="1372996"/>
            <a:ext cx="3298550" cy="299094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52" name="Shape 152"/>
        <p:cNvGrpSpPr/>
        <p:nvPr/>
      </p:nvGrpSpPr>
      <p:grpSpPr>
        <a:xfrm>
          <a:off x="0" y="0"/>
          <a:ext cx="0" cy="0"/>
          <a:chOff x="0" y="0"/>
          <a:chExt cx="0" cy="0"/>
        </a:xfrm>
      </p:grpSpPr>
      <p:sp>
        <p:nvSpPr>
          <p:cNvPr id="153" name="Shape 153"/>
          <p:cNvSpPr txBox="1"/>
          <p:nvPr>
            <p:ph type="title"/>
          </p:nvPr>
        </p:nvSpPr>
        <p:spPr>
          <a:xfrm>
            <a:off x="490250" y="526350"/>
            <a:ext cx="8301600" cy="1057800"/>
          </a:xfrm>
          <a:prstGeom prst="rect">
            <a:avLst/>
          </a:prstGeom>
        </p:spPr>
        <p:txBody>
          <a:bodyPr anchorCtr="0" anchor="ctr" bIns="91425" lIns="91425" rIns="91425" tIns="91425">
            <a:noAutofit/>
          </a:bodyPr>
          <a:lstStyle/>
          <a:p>
            <a:pPr lvl="0" rtl="0">
              <a:spcBef>
                <a:spcPts val="0"/>
              </a:spcBef>
              <a:buNone/>
            </a:pPr>
            <a:r>
              <a:rPr lang="en"/>
              <a:t>Example:</a:t>
            </a:r>
          </a:p>
          <a:p>
            <a:pPr lvl="0">
              <a:spcBef>
                <a:spcPts val="0"/>
              </a:spcBef>
              <a:buNone/>
            </a:pPr>
            <a:r>
              <a:rPr lang="en" sz="2400"/>
              <a:t>Gene expression and drug activity in human cancer </a:t>
            </a:r>
          </a:p>
        </p:txBody>
      </p:sp>
      <p:sp>
        <p:nvSpPr>
          <p:cNvPr id="154" name="Shape 154"/>
          <p:cNvSpPr txBox="1"/>
          <p:nvPr/>
        </p:nvSpPr>
        <p:spPr>
          <a:xfrm>
            <a:off x="547675" y="2259150"/>
            <a:ext cx="8037600" cy="2630700"/>
          </a:xfrm>
          <a:prstGeom prst="rect">
            <a:avLst/>
          </a:prstGeom>
          <a:noFill/>
          <a:ln>
            <a:noFill/>
          </a:ln>
        </p:spPr>
        <p:txBody>
          <a:bodyPr anchorCtr="0" anchor="t" bIns="91425" lIns="91425" rIns="91425" tIns="91425">
            <a:noAutofit/>
          </a:bodyPr>
          <a:lstStyle/>
          <a:p>
            <a:pPr lvl="0">
              <a:lnSpc>
                <a:spcPct val="200000"/>
              </a:lnSpc>
              <a:spcBef>
                <a:spcPts val="0"/>
              </a:spcBef>
              <a:buNone/>
            </a:pPr>
            <a:r>
              <a:rPr b="1" lang="en" sz="1800">
                <a:solidFill>
                  <a:srgbClr val="FFFFFF"/>
                </a:solidFill>
                <a:latin typeface="Old Standard TT"/>
                <a:ea typeface="Old Standard TT"/>
                <a:cs typeface="Old Standard TT"/>
                <a:sym typeface="Old Standard TT"/>
              </a:rPr>
              <a:t>Question</a:t>
            </a:r>
            <a:r>
              <a:rPr lang="en" sz="1800">
                <a:solidFill>
                  <a:srgbClr val="FFFFFF"/>
                </a:solidFill>
                <a:latin typeface="Old Standard TT"/>
                <a:ea typeface="Old Standard TT"/>
                <a:cs typeface="Old Standard TT"/>
                <a:sym typeface="Old Standard TT"/>
              </a:rPr>
              <a:t>: How does it work?</a:t>
            </a:r>
          </a:p>
          <a:p>
            <a:pPr lvl="0">
              <a:lnSpc>
                <a:spcPct val="200000"/>
              </a:lnSpc>
              <a:spcBef>
                <a:spcPts val="0"/>
              </a:spcBef>
              <a:buNone/>
            </a:pPr>
            <a:r>
              <a:rPr b="1" lang="en" sz="1800">
                <a:solidFill>
                  <a:srgbClr val="FFFFFF"/>
                </a:solidFill>
                <a:latin typeface="Old Standard TT"/>
                <a:ea typeface="Old Standard TT"/>
                <a:cs typeface="Old Standard TT"/>
                <a:sym typeface="Old Standard TT"/>
              </a:rPr>
              <a:t>Domain</a:t>
            </a:r>
            <a:r>
              <a:rPr lang="en" sz="1800">
                <a:solidFill>
                  <a:srgbClr val="FFFFFF"/>
                </a:solidFill>
                <a:latin typeface="Old Standard TT"/>
                <a:ea typeface="Old Standard TT"/>
                <a:cs typeface="Old Standard TT"/>
                <a:sym typeface="Old Standard TT"/>
              </a:rPr>
              <a:t>: Human cancer cells</a:t>
            </a:r>
          </a:p>
          <a:p>
            <a:pPr lvl="0">
              <a:lnSpc>
                <a:spcPct val="200000"/>
              </a:lnSpc>
              <a:spcBef>
                <a:spcPts val="0"/>
              </a:spcBef>
              <a:buNone/>
            </a:pPr>
            <a:r>
              <a:rPr b="1" lang="en" sz="1800">
                <a:solidFill>
                  <a:srgbClr val="FFFFFF"/>
                </a:solidFill>
                <a:latin typeface="Old Standard TT"/>
                <a:ea typeface="Old Standard TT"/>
                <a:cs typeface="Old Standard TT"/>
                <a:sym typeface="Old Standard TT"/>
              </a:rPr>
              <a:t>Method</a:t>
            </a:r>
            <a:r>
              <a:rPr lang="en" sz="1800">
                <a:solidFill>
                  <a:srgbClr val="FFFFFF"/>
                </a:solidFill>
                <a:latin typeface="Old Standard TT"/>
                <a:ea typeface="Old Standard TT"/>
                <a:cs typeface="Old Standard TT"/>
                <a:sym typeface="Old Standard TT"/>
              </a:rPr>
              <a:t>: Algorithms to show correlation and clustering according to hierarchy</a:t>
            </a:r>
            <a:r>
              <a:rPr lang="en" sz="1800">
                <a:latin typeface="Old Standard TT"/>
                <a:ea typeface="Old Standard TT"/>
                <a:cs typeface="Old Standard TT"/>
                <a:sym typeface="Old Standard TT"/>
              </a:rPr>
              <a:t> </a:t>
            </a:r>
          </a:p>
          <a:p>
            <a:pPr lvl="0">
              <a:spcBef>
                <a:spcPts val="0"/>
              </a:spcBef>
              <a:buNone/>
            </a:pPr>
            <a:r>
              <a:t/>
            </a:r>
            <a:endParaRPr>
              <a:latin typeface="Old Standard TT"/>
              <a:ea typeface="Old Standard TT"/>
              <a:cs typeface="Old Standard TT"/>
              <a:sym typeface="Old Standard TT"/>
            </a:endParaRPr>
          </a:p>
          <a:p>
            <a:pPr lvl="0">
              <a:spcBef>
                <a:spcPts val="0"/>
              </a:spcBef>
              <a:buNone/>
            </a:pPr>
            <a:r>
              <a:t/>
            </a:r>
            <a:endParaRPr>
              <a:latin typeface="Old Standard TT"/>
              <a:ea typeface="Old Standard TT"/>
              <a:cs typeface="Old Standard TT"/>
              <a:sym typeface="Old Standard T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58" name="Shape 158"/>
        <p:cNvGrpSpPr/>
        <p:nvPr/>
      </p:nvGrpSpPr>
      <p:grpSpPr>
        <a:xfrm>
          <a:off x="0" y="0"/>
          <a:ext cx="0" cy="0"/>
          <a:chOff x="0" y="0"/>
          <a:chExt cx="0" cy="0"/>
        </a:xfrm>
      </p:grpSpPr>
      <p:sp>
        <p:nvSpPr>
          <p:cNvPr id="159" name="Shape 159"/>
          <p:cNvSpPr txBox="1"/>
          <p:nvPr>
            <p:ph type="title"/>
          </p:nvPr>
        </p:nvSpPr>
        <p:spPr>
          <a:xfrm>
            <a:off x="490250" y="526350"/>
            <a:ext cx="5604000" cy="896700"/>
          </a:xfrm>
          <a:prstGeom prst="rect">
            <a:avLst/>
          </a:prstGeom>
        </p:spPr>
        <p:txBody>
          <a:bodyPr anchorCtr="0" anchor="ctr" bIns="91425" lIns="91425" rIns="91425" tIns="91425">
            <a:noAutofit/>
          </a:bodyPr>
          <a:lstStyle/>
          <a:p>
            <a:pPr lvl="0">
              <a:spcBef>
                <a:spcPts val="0"/>
              </a:spcBef>
              <a:buNone/>
            </a:pPr>
            <a:r>
              <a:rPr lang="en"/>
              <a:t>Method:</a:t>
            </a:r>
          </a:p>
          <a:p>
            <a:pPr lvl="0">
              <a:spcBef>
                <a:spcPts val="0"/>
              </a:spcBef>
              <a:buNone/>
            </a:pPr>
            <a:r>
              <a:t/>
            </a:r>
            <a:endParaRPr/>
          </a:p>
        </p:txBody>
      </p:sp>
      <p:sp>
        <p:nvSpPr>
          <p:cNvPr id="160" name="Shape 160"/>
          <p:cNvSpPr txBox="1"/>
          <p:nvPr/>
        </p:nvSpPr>
        <p:spPr>
          <a:xfrm>
            <a:off x="537550" y="1285875"/>
            <a:ext cx="7873200" cy="3235800"/>
          </a:xfrm>
          <a:prstGeom prst="rect">
            <a:avLst/>
          </a:prstGeom>
          <a:noFill/>
          <a:ln>
            <a:noFill/>
          </a:ln>
        </p:spPr>
        <p:txBody>
          <a:bodyPr anchorCtr="0" anchor="t" bIns="91425" lIns="91425" rIns="91425" tIns="91425">
            <a:noAutofit/>
          </a:bodyPr>
          <a:lstStyle/>
          <a:p>
            <a:pPr lvl="0">
              <a:spcBef>
                <a:spcPts val="0"/>
              </a:spcBef>
              <a:buNone/>
            </a:pPr>
            <a:r>
              <a:rPr lang="en" sz="1800">
                <a:solidFill>
                  <a:srgbClr val="FFFFFF"/>
                </a:solidFill>
                <a:latin typeface="Old Standard TT"/>
                <a:ea typeface="Old Standard TT"/>
                <a:cs typeface="Old Standard TT"/>
                <a:sym typeface="Old Standard TT"/>
              </a:rPr>
              <a:t>2 matrices:</a:t>
            </a:r>
          </a:p>
          <a:p>
            <a:pPr indent="-342900" lvl="0" marL="457200" rtl="0">
              <a:spcBef>
                <a:spcPts val="0"/>
              </a:spcBef>
              <a:buClr>
                <a:srgbClr val="FFFFFF"/>
              </a:buClr>
              <a:buSzPct val="100000"/>
              <a:buFont typeface="Old Standard TT"/>
              <a:buChar char="-"/>
            </a:pPr>
            <a:r>
              <a:rPr lang="en" sz="1800">
                <a:solidFill>
                  <a:srgbClr val="FFFFFF"/>
                </a:solidFill>
                <a:latin typeface="Old Standard TT"/>
                <a:ea typeface="Old Standard TT"/>
                <a:cs typeface="Old Standard TT"/>
                <a:sym typeface="Old Standard TT"/>
              </a:rPr>
              <a:t>Target Matrix for gene expression </a:t>
            </a:r>
          </a:p>
          <a:p>
            <a:pPr indent="-342900" lvl="0" marL="457200" rtl="0">
              <a:spcBef>
                <a:spcPts val="0"/>
              </a:spcBef>
              <a:buClr>
                <a:srgbClr val="FFFFFF"/>
              </a:buClr>
              <a:buSzPct val="100000"/>
              <a:buFont typeface="Old Standard TT"/>
              <a:buChar char="-"/>
            </a:pPr>
            <a:r>
              <a:rPr lang="en" sz="1800">
                <a:solidFill>
                  <a:srgbClr val="FFFFFF"/>
                </a:solidFill>
                <a:latin typeface="Old Standard TT"/>
                <a:ea typeface="Old Standard TT"/>
                <a:cs typeface="Old Standard TT"/>
                <a:sym typeface="Old Standard TT"/>
              </a:rPr>
              <a:t>Drug Activity Matrix</a:t>
            </a:r>
          </a:p>
          <a:p>
            <a:pPr lvl="0">
              <a:spcBef>
                <a:spcPts val="0"/>
              </a:spcBef>
              <a:buNone/>
            </a:pPr>
            <a:r>
              <a:t/>
            </a:r>
            <a:endParaRPr sz="1800">
              <a:solidFill>
                <a:srgbClr val="FFFFFF"/>
              </a:solidFill>
              <a:latin typeface="Old Standard TT"/>
              <a:ea typeface="Old Standard TT"/>
              <a:cs typeface="Old Standard TT"/>
              <a:sym typeface="Old Standard TT"/>
            </a:endParaRPr>
          </a:p>
          <a:p>
            <a:pPr lvl="0">
              <a:spcBef>
                <a:spcPts val="0"/>
              </a:spcBef>
              <a:buNone/>
            </a:pPr>
            <a:r>
              <a:rPr lang="en" sz="1800">
                <a:solidFill>
                  <a:srgbClr val="FFFFFF"/>
                </a:solidFill>
                <a:latin typeface="Old Standard TT"/>
                <a:ea typeface="Old Standard TT"/>
                <a:cs typeface="Old Standard TT"/>
                <a:sym typeface="Old Standard TT"/>
              </a:rPr>
              <a:t>5 Sets of correlation </a:t>
            </a:r>
          </a:p>
          <a:p>
            <a:pPr indent="-342900" lvl="0" marL="457200" rtl="0">
              <a:spcBef>
                <a:spcPts val="0"/>
              </a:spcBef>
              <a:buClr>
                <a:srgbClr val="FFFFFF"/>
              </a:buClr>
              <a:buSzPct val="100000"/>
              <a:buFont typeface="Old Standard TT"/>
              <a:buChar char="-"/>
            </a:pPr>
            <a:r>
              <a:rPr lang="en" sz="1800">
                <a:solidFill>
                  <a:srgbClr val="FFFFFF"/>
                </a:solidFill>
                <a:latin typeface="Old Standard TT"/>
                <a:ea typeface="Old Standard TT"/>
                <a:cs typeface="Old Standard TT"/>
                <a:sym typeface="Old Standard TT"/>
              </a:rPr>
              <a:t>Columns of Activity Matrix</a:t>
            </a:r>
          </a:p>
          <a:p>
            <a:pPr indent="-342900" lvl="0" marL="457200" rtl="0">
              <a:spcBef>
                <a:spcPts val="0"/>
              </a:spcBef>
              <a:buClr>
                <a:srgbClr val="FFFFFF"/>
              </a:buClr>
              <a:buSzPct val="100000"/>
              <a:buFont typeface="Old Standard TT"/>
              <a:buChar char="-"/>
            </a:pPr>
            <a:r>
              <a:rPr lang="en" sz="1800">
                <a:solidFill>
                  <a:srgbClr val="FFFFFF"/>
                </a:solidFill>
                <a:latin typeface="Old Standard TT"/>
                <a:ea typeface="Old Standard TT"/>
                <a:cs typeface="Old Standard TT"/>
                <a:sym typeface="Old Standard TT"/>
              </a:rPr>
              <a:t>Columns of Target Matrix</a:t>
            </a:r>
          </a:p>
          <a:p>
            <a:pPr indent="-342900" lvl="0" marL="457200" rtl="0">
              <a:spcBef>
                <a:spcPts val="0"/>
              </a:spcBef>
              <a:buClr>
                <a:srgbClr val="FFFFFF"/>
              </a:buClr>
              <a:buSzPct val="100000"/>
              <a:buFont typeface="Old Standard TT"/>
              <a:buChar char="-"/>
            </a:pPr>
            <a:r>
              <a:rPr lang="en" sz="1800">
                <a:solidFill>
                  <a:srgbClr val="FFFFFF"/>
                </a:solidFill>
                <a:latin typeface="Old Standard TT"/>
                <a:ea typeface="Old Standard TT"/>
                <a:cs typeface="Old Standard TT"/>
                <a:sym typeface="Old Standard TT"/>
              </a:rPr>
              <a:t>The rows of the Activity Matrix</a:t>
            </a:r>
          </a:p>
          <a:p>
            <a:pPr indent="-342900" lvl="0" marL="457200" rtl="0">
              <a:spcBef>
                <a:spcPts val="0"/>
              </a:spcBef>
              <a:buClr>
                <a:srgbClr val="FFFFFF"/>
              </a:buClr>
              <a:buSzPct val="100000"/>
              <a:buFont typeface="Old Standard TT"/>
              <a:buChar char="-"/>
            </a:pPr>
            <a:r>
              <a:rPr lang="en" sz="1800">
                <a:solidFill>
                  <a:srgbClr val="FFFFFF"/>
                </a:solidFill>
                <a:latin typeface="Old Standard TT"/>
                <a:ea typeface="Old Standard TT"/>
                <a:cs typeface="Old Standard TT"/>
                <a:sym typeface="Old Standard TT"/>
              </a:rPr>
              <a:t>The rows of Target Matrix</a:t>
            </a:r>
          </a:p>
          <a:p>
            <a:pPr indent="-342900" lvl="0" marL="457200" rtl="0">
              <a:spcBef>
                <a:spcPts val="0"/>
              </a:spcBef>
              <a:buClr>
                <a:srgbClr val="FFFFFF"/>
              </a:buClr>
              <a:buSzPct val="100000"/>
              <a:buFont typeface="Old Standard TT"/>
              <a:buChar char="-"/>
            </a:pPr>
            <a:r>
              <a:rPr lang="en" sz="1800">
                <a:solidFill>
                  <a:srgbClr val="FFFFFF"/>
                </a:solidFill>
                <a:latin typeface="Old Standard TT"/>
                <a:ea typeface="Old Standard TT"/>
                <a:cs typeface="Old Standard TT"/>
                <a:sym typeface="Old Standard TT"/>
              </a:rPr>
              <a:t>The rows of Activity Matrix and rows of Target Matrix</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64" name="Shape 164"/>
        <p:cNvGrpSpPr/>
        <p:nvPr/>
      </p:nvGrpSpPr>
      <p:grpSpPr>
        <a:xfrm>
          <a:off x="0" y="0"/>
          <a:ext cx="0" cy="0"/>
          <a:chOff x="0" y="0"/>
          <a:chExt cx="0" cy="0"/>
        </a:xfrm>
      </p:grpSpPr>
      <p:sp>
        <p:nvSpPr>
          <p:cNvPr id="165" name="Shape 165"/>
          <p:cNvSpPr txBox="1"/>
          <p:nvPr>
            <p:ph type="title"/>
          </p:nvPr>
        </p:nvSpPr>
        <p:spPr>
          <a:xfrm>
            <a:off x="437550" y="73775"/>
            <a:ext cx="5205900" cy="1029600"/>
          </a:xfrm>
          <a:prstGeom prst="rect">
            <a:avLst/>
          </a:prstGeom>
        </p:spPr>
        <p:txBody>
          <a:bodyPr anchorCtr="0" anchor="ctr" bIns="91425" lIns="91425" rIns="91425" tIns="91425">
            <a:noAutofit/>
          </a:bodyPr>
          <a:lstStyle/>
          <a:p>
            <a:pPr lvl="0">
              <a:spcBef>
                <a:spcPts val="0"/>
              </a:spcBef>
              <a:buNone/>
            </a:pPr>
            <a:r>
              <a:rPr lang="en"/>
              <a:t>Results</a:t>
            </a:r>
          </a:p>
        </p:txBody>
      </p:sp>
      <p:pic>
        <p:nvPicPr>
          <p:cNvPr descr="Screen Shot 2017-02-07 at 10.56.27 AM.png" id="166" name="Shape 166"/>
          <p:cNvPicPr preferRelativeResize="0"/>
          <p:nvPr/>
        </p:nvPicPr>
        <p:blipFill>
          <a:blip r:embed="rId3">
            <a:alphaModFix/>
          </a:blip>
          <a:stretch>
            <a:fillRect/>
          </a:stretch>
        </p:blipFill>
        <p:spPr>
          <a:xfrm>
            <a:off x="1534499" y="1103375"/>
            <a:ext cx="5738073" cy="38795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70" name="Shape 170"/>
        <p:cNvGrpSpPr/>
        <p:nvPr/>
      </p:nvGrpSpPr>
      <p:grpSpPr>
        <a:xfrm>
          <a:off x="0" y="0"/>
          <a:ext cx="0" cy="0"/>
          <a:chOff x="0" y="0"/>
          <a:chExt cx="0" cy="0"/>
        </a:xfrm>
      </p:grpSpPr>
      <p:sp>
        <p:nvSpPr>
          <p:cNvPr id="171" name="Shape 171"/>
          <p:cNvSpPr txBox="1"/>
          <p:nvPr>
            <p:ph type="title"/>
          </p:nvPr>
        </p:nvSpPr>
        <p:spPr>
          <a:xfrm>
            <a:off x="512700" y="1056250"/>
            <a:ext cx="8118600" cy="2359800"/>
          </a:xfrm>
          <a:prstGeom prst="rect">
            <a:avLst/>
          </a:prstGeom>
        </p:spPr>
        <p:txBody>
          <a:bodyPr anchorCtr="0" anchor="b" bIns="91425" lIns="91425" rIns="91425" tIns="91425">
            <a:noAutofit/>
          </a:bodyPr>
          <a:lstStyle/>
          <a:p>
            <a:pPr lvl="0" rtl="0">
              <a:spcBef>
                <a:spcPts val="0"/>
              </a:spcBef>
              <a:buNone/>
            </a:pPr>
            <a:r>
              <a:rPr lang="en"/>
              <a:t>“The Future”</a:t>
            </a: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75" name="Shape 175"/>
        <p:cNvGrpSpPr/>
        <p:nvPr/>
      </p:nvGrpSpPr>
      <p:grpSpPr>
        <a:xfrm>
          <a:off x="0" y="0"/>
          <a:ext cx="0" cy="0"/>
          <a:chOff x="0" y="0"/>
          <a:chExt cx="0" cy="0"/>
        </a:xfrm>
      </p:grpSpPr>
      <p:sp>
        <p:nvSpPr>
          <p:cNvPr id="176" name="Shape 176"/>
          <p:cNvSpPr txBox="1"/>
          <p:nvPr>
            <p:ph type="title"/>
          </p:nvPr>
        </p:nvSpPr>
        <p:spPr>
          <a:xfrm>
            <a:off x="265500" y="1382350"/>
            <a:ext cx="4045200" cy="1333200"/>
          </a:xfrm>
          <a:prstGeom prst="rect">
            <a:avLst/>
          </a:prstGeom>
        </p:spPr>
        <p:txBody>
          <a:bodyPr anchorCtr="0" anchor="b" bIns="91425" lIns="91425" rIns="91425" tIns="91425">
            <a:noAutofit/>
          </a:bodyPr>
          <a:lstStyle/>
          <a:p>
            <a:pPr lvl="0" rtl="0">
              <a:spcBef>
                <a:spcPts val="0"/>
              </a:spcBef>
              <a:buNone/>
            </a:pPr>
            <a:r>
              <a:rPr lang="en"/>
              <a:t>Biological Questions </a:t>
            </a:r>
          </a:p>
        </p:txBody>
      </p:sp>
      <p:sp>
        <p:nvSpPr>
          <p:cNvPr id="177" name="Shape 177"/>
          <p:cNvSpPr txBox="1"/>
          <p:nvPr>
            <p:ph idx="1" type="subTitle"/>
          </p:nvPr>
        </p:nvSpPr>
        <p:spPr>
          <a:xfrm>
            <a:off x="265500" y="2769000"/>
            <a:ext cx="4045200" cy="1345500"/>
          </a:xfrm>
          <a:prstGeom prst="rect">
            <a:avLst/>
          </a:prstGeom>
        </p:spPr>
        <p:txBody>
          <a:bodyPr anchorCtr="0" anchor="t" bIns="91425" lIns="91425" rIns="91425" tIns="91425">
            <a:noAutofit/>
          </a:bodyPr>
          <a:lstStyle/>
          <a:p>
            <a:pPr lvl="0" rtl="0">
              <a:spcBef>
                <a:spcPts val="0"/>
              </a:spcBef>
              <a:buNone/>
            </a:pPr>
            <a:r>
              <a:rPr lang="en"/>
              <a:t>To be Answered by </a:t>
            </a:r>
            <a:r>
              <a:rPr lang="en"/>
              <a:t>Advances</a:t>
            </a:r>
            <a:r>
              <a:rPr lang="en"/>
              <a:t> in Mathematics</a:t>
            </a:r>
          </a:p>
        </p:txBody>
      </p:sp>
      <p:sp>
        <p:nvSpPr>
          <p:cNvPr id="178" name="Shape 178"/>
          <p:cNvSpPr txBox="1"/>
          <p:nvPr>
            <p:ph idx="2" type="body"/>
          </p:nvPr>
        </p:nvSpPr>
        <p:spPr>
          <a:xfrm>
            <a:off x="4939500" y="553225"/>
            <a:ext cx="3837000" cy="4022100"/>
          </a:xfrm>
          <a:prstGeom prst="rect">
            <a:avLst/>
          </a:prstGeom>
        </p:spPr>
        <p:txBody>
          <a:bodyPr anchorCtr="0" anchor="ctr" bIns="91425" lIns="91425" rIns="91425" tIns="91425">
            <a:noAutofit/>
          </a:bodyPr>
          <a:lstStyle/>
          <a:p>
            <a:pPr indent="-228600" lvl="0" marL="457200" rtl="0">
              <a:spcBef>
                <a:spcPts val="0"/>
              </a:spcBef>
            </a:pPr>
            <a:r>
              <a:rPr lang="en"/>
              <a:t>Cells and other complex networks</a:t>
            </a:r>
          </a:p>
          <a:p>
            <a:pPr indent="-228600" lvl="0" marL="457200" rtl="0">
              <a:spcBef>
                <a:spcPts val="0"/>
              </a:spcBef>
            </a:pPr>
            <a:r>
              <a:rPr lang="en"/>
              <a:t>Brain: decision-making, emotions, behavior</a:t>
            </a:r>
          </a:p>
          <a:p>
            <a:pPr indent="-228600" lvl="0" marL="457200" rtl="0">
              <a:spcBef>
                <a:spcPts val="0"/>
              </a:spcBef>
            </a:pPr>
            <a:r>
              <a:rPr lang="en"/>
              <a:t>Tree of life questions</a:t>
            </a:r>
          </a:p>
          <a:p>
            <a:pPr indent="-228600" lvl="0" marL="457200" rtl="0">
              <a:spcBef>
                <a:spcPts val="0"/>
              </a:spcBef>
            </a:pPr>
            <a:r>
              <a:rPr lang="en"/>
              <a:t>Matching </a:t>
            </a:r>
            <a:r>
              <a:rPr lang="en"/>
              <a:t>biospheres</a:t>
            </a:r>
            <a:r>
              <a:rPr lang="en"/>
              <a:t> with </a:t>
            </a:r>
            <a:r>
              <a:rPr lang="en"/>
              <a:t>physicochemical</a:t>
            </a:r>
            <a:r>
              <a:rPr lang="en"/>
              <a:t> processes</a:t>
            </a:r>
          </a:p>
          <a:p>
            <a:pPr indent="-228600" lvl="0" marL="457200" rtl="0">
              <a:spcBef>
                <a:spcPts val="0"/>
              </a:spcBef>
            </a:pPr>
            <a:r>
              <a:rPr lang="en"/>
              <a:t>Detecting deviations within large groups</a:t>
            </a: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82" name="Shape 182"/>
        <p:cNvGrpSpPr/>
        <p:nvPr/>
      </p:nvGrpSpPr>
      <p:grpSpPr>
        <a:xfrm>
          <a:off x="0" y="0"/>
          <a:ext cx="0" cy="0"/>
          <a:chOff x="0" y="0"/>
          <a:chExt cx="0" cy="0"/>
        </a:xfrm>
      </p:grpSpPr>
      <p:sp>
        <p:nvSpPr>
          <p:cNvPr id="183" name="Shape 183"/>
          <p:cNvSpPr txBox="1"/>
          <p:nvPr>
            <p:ph type="title"/>
          </p:nvPr>
        </p:nvSpPr>
        <p:spPr>
          <a:xfrm>
            <a:off x="4839575" y="1382350"/>
            <a:ext cx="4045200" cy="1333200"/>
          </a:xfrm>
          <a:prstGeom prst="rect">
            <a:avLst/>
          </a:prstGeom>
        </p:spPr>
        <p:txBody>
          <a:bodyPr anchorCtr="0" anchor="b" bIns="91425" lIns="91425" rIns="91425" tIns="91425">
            <a:noAutofit/>
          </a:bodyPr>
          <a:lstStyle/>
          <a:p>
            <a:pPr lvl="0" rtl="0">
              <a:spcBef>
                <a:spcPts val="0"/>
              </a:spcBef>
              <a:buNone/>
            </a:pPr>
            <a:r>
              <a:rPr lang="en"/>
              <a:t>Mathematical</a:t>
            </a:r>
            <a:r>
              <a:rPr lang="en"/>
              <a:t> Innovations </a:t>
            </a:r>
          </a:p>
        </p:txBody>
      </p:sp>
      <p:sp>
        <p:nvSpPr>
          <p:cNvPr id="184" name="Shape 184"/>
          <p:cNvSpPr txBox="1"/>
          <p:nvPr>
            <p:ph idx="1" type="subTitle"/>
          </p:nvPr>
        </p:nvSpPr>
        <p:spPr>
          <a:xfrm>
            <a:off x="4839575" y="2769000"/>
            <a:ext cx="4045200" cy="1345500"/>
          </a:xfrm>
          <a:prstGeom prst="rect">
            <a:avLst/>
          </a:prstGeom>
        </p:spPr>
        <p:txBody>
          <a:bodyPr anchorCtr="0" anchor="t" bIns="91425" lIns="91425" rIns="91425" tIns="91425">
            <a:noAutofit/>
          </a:bodyPr>
          <a:lstStyle/>
          <a:p>
            <a:pPr lvl="0" rtl="0">
              <a:spcBef>
                <a:spcPts val="0"/>
              </a:spcBef>
              <a:buNone/>
            </a:pPr>
            <a:r>
              <a:rPr lang="en">
                <a:solidFill>
                  <a:schemeClr val="accent1"/>
                </a:solidFill>
              </a:rPr>
              <a:t>Needed to Promote Progress</a:t>
            </a:r>
            <a:r>
              <a:rPr lang="en">
                <a:solidFill>
                  <a:schemeClr val="accent1"/>
                </a:solidFill>
              </a:rPr>
              <a:t> in Biology</a:t>
            </a:r>
          </a:p>
        </p:txBody>
      </p:sp>
      <p:sp>
        <p:nvSpPr>
          <p:cNvPr id="185" name="Shape 185"/>
          <p:cNvSpPr txBox="1"/>
          <p:nvPr>
            <p:ph idx="2" type="body"/>
          </p:nvPr>
        </p:nvSpPr>
        <p:spPr>
          <a:xfrm>
            <a:off x="346775" y="345325"/>
            <a:ext cx="3837000" cy="4590300"/>
          </a:xfrm>
          <a:prstGeom prst="rect">
            <a:avLst/>
          </a:prstGeom>
        </p:spPr>
        <p:txBody>
          <a:bodyPr anchorCtr="0" anchor="ctr" bIns="91425" lIns="91425" rIns="91425" tIns="91425">
            <a:noAutofit/>
          </a:bodyPr>
          <a:lstStyle/>
          <a:p>
            <a:pPr indent="-228600" lvl="0" marL="457200" rtl="0">
              <a:spcBef>
                <a:spcPts val="0"/>
              </a:spcBef>
              <a:buClr>
                <a:srgbClr val="000000"/>
              </a:buClr>
            </a:pPr>
            <a:r>
              <a:rPr lang="en">
                <a:solidFill>
                  <a:srgbClr val="000000"/>
                </a:solidFill>
              </a:rPr>
              <a:t>Computation</a:t>
            </a:r>
          </a:p>
          <a:p>
            <a:pPr indent="-228600" lvl="0" marL="457200" rtl="0">
              <a:spcBef>
                <a:spcPts val="0"/>
              </a:spcBef>
              <a:buClr>
                <a:srgbClr val="000000"/>
              </a:buClr>
            </a:pPr>
            <a:r>
              <a:rPr lang="en">
                <a:solidFill>
                  <a:srgbClr val="000000"/>
                </a:solidFill>
              </a:rPr>
              <a:t>Modelling systems with multiple levels</a:t>
            </a:r>
          </a:p>
          <a:p>
            <a:pPr indent="-228600" lvl="0" marL="457200" rtl="0">
              <a:spcBef>
                <a:spcPts val="0"/>
              </a:spcBef>
              <a:buClr>
                <a:srgbClr val="000000"/>
              </a:buClr>
            </a:pPr>
            <a:r>
              <a:rPr lang="en">
                <a:solidFill>
                  <a:srgbClr val="000000"/>
                </a:solidFill>
              </a:rPr>
              <a:t>Advances</a:t>
            </a:r>
            <a:r>
              <a:rPr lang="en">
                <a:solidFill>
                  <a:srgbClr val="000000"/>
                </a:solidFill>
              </a:rPr>
              <a:t> in understanding probability, risk, and uncertainty</a:t>
            </a:r>
          </a:p>
          <a:p>
            <a:pPr indent="-228600" lvl="0" marL="457200" rtl="0">
              <a:spcBef>
                <a:spcPts val="0"/>
              </a:spcBef>
              <a:buClr>
                <a:srgbClr val="000000"/>
              </a:buClr>
            </a:pPr>
            <a:r>
              <a:rPr lang="en">
                <a:solidFill>
                  <a:srgbClr val="000000"/>
                </a:solidFill>
              </a:rPr>
              <a:t>Enhancing methods of analyzing large databases </a:t>
            </a:r>
          </a:p>
          <a:p>
            <a:pPr indent="-228600" lvl="0" marL="457200" rtl="0">
              <a:spcBef>
                <a:spcPts val="0"/>
              </a:spcBef>
              <a:buClr>
                <a:srgbClr val="000000"/>
              </a:buClr>
            </a:pPr>
            <a:r>
              <a:rPr lang="en">
                <a:solidFill>
                  <a:srgbClr val="000000"/>
                </a:solidFill>
              </a:rPr>
              <a:t>Standardize mathematical research and data</a:t>
            </a: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89" name="Shape 189"/>
        <p:cNvGrpSpPr/>
        <p:nvPr/>
      </p:nvGrpSpPr>
      <p:grpSpPr>
        <a:xfrm>
          <a:off x="0" y="0"/>
          <a:ext cx="0" cy="0"/>
          <a:chOff x="0" y="0"/>
          <a:chExt cx="0" cy="0"/>
        </a:xfrm>
      </p:grpSpPr>
      <p:sp>
        <p:nvSpPr>
          <p:cNvPr id="190" name="Shape 190"/>
          <p:cNvSpPr txBox="1"/>
          <p:nvPr>
            <p:ph type="title"/>
          </p:nvPr>
        </p:nvSpPr>
        <p:spPr>
          <a:xfrm>
            <a:off x="4778700" y="1839550"/>
            <a:ext cx="4158600" cy="1333200"/>
          </a:xfrm>
          <a:prstGeom prst="rect">
            <a:avLst/>
          </a:prstGeom>
        </p:spPr>
        <p:txBody>
          <a:bodyPr anchorCtr="0" anchor="b" bIns="91425" lIns="91425" rIns="91425" tIns="91425">
            <a:noAutofit/>
          </a:bodyPr>
          <a:lstStyle/>
          <a:p>
            <a:pPr lvl="0" rtl="0">
              <a:spcBef>
                <a:spcPts val="0"/>
              </a:spcBef>
              <a:buNone/>
            </a:pPr>
            <a:r>
              <a:rPr lang="en"/>
              <a:t>Potential Problems</a:t>
            </a:r>
          </a:p>
        </p:txBody>
      </p:sp>
      <p:sp>
        <p:nvSpPr>
          <p:cNvPr id="191" name="Shape 191"/>
          <p:cNvSpPr txBox="1"/>
          <p:nvPr>
            <p:ph idx="2" type="body"/>
          </p:nvPr>
        </p:nvSpPr>
        <p:spPr>
          <a:xfrm>
            <a:off x="349225" y="800400"/>
            <a:ext cx="3837000" cy="3402600"/>
          </a:xfrm>
          <a:prstGeom prst="rect">
            <a:avLst/>
          </a:prstGeom>
        </p:spPr>
        <p:txBody>
          <a:bodyPr anchorCtr="0" anchor="ctr" bIns="91425" lIns="91425" rIns="91425" tIns="91425">
            <a:noAutofit/>
          </a:bodyPr>
          <a:lstStyle/>
          <a:p>
            <a:pPr indent="-228600" lvl="0" marL="457200" rtl="0">
              <a:spcBef>
                <a:spcPts val="0"/>
              </a:spcBef>
              <a:buClr>
                <a:schemeClr val="dk1"/>
              </a:buClr>
            </a:pPr>
            <a:r>
              <a:rPr lang="en">
                <a:solidFill>
                  <a:schemeClr val="dk1"/>
                </a:solidFill>
              </a:rPr>
              <a:t>Education</a:t>
            </a:r>
          </a:p>
          <a:p>
            <a:pPr indent="-330200" lvl="1" marL="914400" rtl="0">
              <a:spcBef>
                <a:spcPts val="0"/>
              </a:spcBef>
              <a:buClr>
                <a:schemeClr val="dk1"/>
              </a:buClr>
              <a:buSzPct val="100000"/>
            </a:pPr>
            <a:r>
              <a:rPr lang="en" sz="1600">
                <a:solidFill>
                  <a:schemeClr val="dk1"/>
                </a:solidFill>
              </a:rPr>
              <a:t>Quantitative skills</a:t>
            </a:r>
          </a:p>
          <a:p>
            <a:pPr indent="-228600" lvl="0" marL="457200" rtl="0">
              <a:spcBef>
                <a:spcPts val="0"/>
              </a:spcBef>
              <a:buClr>
                <a:schemeClr val="dk1"/>
              </a:buClr>
            </a:pPr>
            <a:r>
              <a:rPr lang="en">
                <a:solidFill>
                  <a:schemeClr val="dk1"/>
                </a:solidFill>
              </a:rPr>
              <a:t>Intellectual property</a:t>
            </a:r>
          </a:p>
          <a:p>
            <a:pPr indent="-330200" lvl="1" marL="914400" rtl="0">
              <a:spcBef>
                <a:spcPts val="0"/>
              </a:spcBef>
              <a:buClr>
                <a:schemeClr val="dk1"/>
              </a:buClr>
              <a:buSzPct val="100000"/>
            </a:pPr>
            <a:r>
              <a:rPr lang="en" sz="1600">
                <a:solidFill>
                  <a:schemeClr val="dk1"/>
                </a:solidFill>
              </a:rPr>
              <a:t>Knowledge helps everyone</a:t>
            </a:r>
          </a:p>
          <a:p>
            <a:pPr indent="-330200" lvl="1" marL="914400" rtl="0">
              <a:spcBef>
                <a:spcPts val="0"/>
              </a:spcBef>
              <a:buClr>
                <a:schemeClr val="dk1"/>
              </a:buClr>
              <a:buSzPct val="100000"/>
            </a:pPr>
            <a:r>
              <a:rPr lang="en" sz="1600">
                <a:solidFill>
                  <a:schemeClr val="dk1"/>
                </a:solidFill>
              </a:rPr>
              <a:t>Balance intellectual property rights</a:t>
            </a:r>
          </a:p>
          <a:p>
            <a:pPr indent="-228600" lvl="0" marL="457200" rtl="0">
              <a:spcBef>
                <a:spcPts val="0"/>
              </a:spcBef>
              <a:buClr>
                <a:schemeClr val="dk1"/>
              </a:buClr>
            </a:pPr>
            <a:r>
              <a:rPr lang="en">
                <a:solidFill>
                  <a:schemeClr val="dk1"/>
                </a:solidFill>
              </a:rPr>
              <a:t>National security</a:t>
            </a:r>
          </a:p>
          <a:p>
            <a:pPr indent="-330200" lvl="1" marL="914400" rtl="0">
              <a:spcBef>
                <a:spcPts val="0"/>
              </a:spcBef>
              <a:buClr>
                <a:schemeClr val="dk1"/>
              </a:buClr>
              <a:buSzPct val="100000"/>
            </a:pPr>
            <a:r>
              <a:rPr lang="en" sz="1600">
                <a:solidFill>
                  <a:schemeClr val="dk1"/>
                </a:solidFill>
              </a:rPr>
              <a:t>Defend against biological attacks</a:t>
            </a:r>
          </a:p>
          <a:p>
            <a:pPr indent="-330200" lvl="1" marL="914400" rtl="0">
              <a:spcBef>
                <a:spcPts val="0"/>
              </a:spcBef>
              <a:buClr>
                <a:schemeClr val="dk1"/>
              </a:buClr>
              <a:buSzPct val="100000"/>
            </a:pPr>
            <a:r>
              <a:rPr lang="en" sz="1600">
                <a:solidFill>
                  <a:schemeClr val="dk1"/>
                </a:solidFill>
              </a:rPr>
              <a:t>Preserve privacy </a:t>
            </a: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95" name="Shape 195"/>
        <p:cNvGrpSpPr/>
        <p:nvPr/>
      </p:nvGrpSpPr>
      <p:grpSpPr>
        <a:xfrm>
          <a:off x="0" y="0"/>
          <a:ext cx="0" cy="0"/>
          <a:chOff x="0" y="0"/>
          <a:chExt cx="0" cy="0"/>
        </a:xfrm>
      </p:grpSpPr>
      <p:sp>
        <p:nvSpPr>
          <p:cNvPr id="196" name="Shape 196"/>
          <p:cNvSpPr txBox="1"/>
          <p:nvPr>
            <p:ph type="title"/>
          </p:nvPr>
        </p:nvSpPr>
        <p:spPr>
          <a:xfrm>
            <a:off x="189300" y="2142450"/>
            <a:ext cx="4158600" cy="801600"/>
          </a:xfrm>
          <a:prstGeom prst="rect">
            <a:avLst/>
          </a:prstGeom>
        </p:spPr>
        <p:txBody>
          <a:bodyPr anchorCtr="0" anchor="b" bIns="91425" lIns="91425" rIns="91425" tIns="91425">
            <a:noAutofit/>
          </a:bodyPr>
          <a:lstStyle/>
          <a:p>
            <a:pPr lvl="0" rtl="0">
              <a:spcBef>
                <a:spcPts val="0"/>
              </a:spcBef>
              <a:buNone/>
            </a:pPr>
            <a:r>
              <a:rPr lang="en"/>
              <a:t>Opportunities</a:t>
            </a:r>
          </a:p>
        </p:txBody>
      </p:sp>
      <p:sp>
        <p:nvSpPr>
          <p:cNvPr id="197" name="Shape 197"/>
          <p:cNvSpPr txBox="1"/>
          <p:nvPr>
            <p:ph idx="2" type="body"/>
          </p:nvPr>
        </p:nvSpPr>
        <p:spPr>
          <a:xfrm>
            <a:off x="4939500" y="912075"/>
            <a:ext cx="3837000" cy="3507300"/>
          </a:xfrm>
          <a:prstGeom prst="rect">
            <a:avLst/>
          </a:prstGeom>
        </p:spPr>
        <p:txBody>
          <a:bodyPr anchorCtr="0" anchor="ctr" bIns="91425" lIns="91425" rIns="91425" tIns="91425">
            <a:noAutofit/>
          </a:bodyPr>
          <a:lstStyle/>
          <a:p>
            <a:pPr indent="-228600" lvl="0" marL="457200" rtl="0">
              <a:spcBef>
                <a:spcPts val="0"/>
              </a:spcBef>
              <a:buClr>
                <a:srgbClr val="FFFFFF"/>
              </a:buClr>
            </a:pPr>
            <a:r>
              <a:rPr lang="en">
                <a:solidFill>
                  <a:srgbClr val="FFFFFF"/>
                </a:solidFill>
              </a:rPr>
              <a:t>Mathematical modelling</a:t>
            </a:r>
          </a:p>
          <a:p>
            <a:pPr indent="-228600" lvl="1" marL="914400" rtl="0">
              <a:spcBef>
                <a:spcPts val="0"/>
              </a:spcBef>
              <a:buClr>
                <a:srgbClr val="FFFFFF"/>
              </a:buClr>
            </a:pPr>
            <a:r>
              <a:rPr lang="en">
                <a:solidFill>
                  <a:srgbClr val="FFFFFF"/>
                </a:solidFill>
              </a:rPr>
              <a:t>Perform experiments mathematically</a:t>
            </a:r>
          </a:p>
          <a:p>
            <a:pPr indent="-228600" lvl="0" marL="457200" rtl="0">
              <a:spcBef>
                <a:spcPts val="0"/>
              </a:spcBef>
              <a:buClr>
                <a:srgbClr val="FFFFFF"/>
              </a:buClr>
            </a:pPr>
            <a:r>
              <a:rPr lang="en">
                <a:solidFill>
                  <a:srgbClr val="FFFFFF"/>
                </a:solidFill>
              </a:rPr>
              <a:t>Help with Questions Very Complex</a:t>
            </a:r>
          </a:p>
          <a:p>
            <a:pPr indent="-228600" lvl="1" marL="914400" rtl="0">
              <a:spcBef>
                <a:spcPts val="0"/>
              </a:spcBef>
              <a:buClr>
                <a:srgbClr val="FFFFFF"/>
              </a:buClr>
            </a:pPr>
            <a:r>
              <a:rPr lang="en">
                <a:solidFill>
                  <a:srgbClr val="FFFFFF"/>
                </a:solidFill>
              </a:rPr>
              <a:t>Too large, too small, too slow, too...</a:t>
            </a: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01" name="Shape 201"/>
        <p:cNvGrpSpPr/>
        <p:nvPr/>
      </p:nvGrpSpPr>
      <p:grpSpPr>
        <a:xfrm>
          <a:off x="0" y="0"/>
          <a:ext cx="0" cy="0"/>
          <a:chOff x="0" y="0"/>
          <a:chExt cx="0" cy="0"/>
        </a:xfrm>
      </p:grpSpPr>
      <p:sp>
        <p:nvSpPr>
          <p:cNvPr id="202" name="Shape 202"/>
          <p:cNvSpPr txBox="1"/>
          <p:nvPr>
            <p:ph type="title"/>
          </p:nvPr>
        </p:nvSpPr>
        <p:spPr>
          <a:xfrm>
            <a:off x="490250" y="526350"/>
            <a:ext cx="8131500" cy="4090800"/>
          </a:xfrm>
          <a:prstGeom prst="rect">
            <a:avLst/>
          </a:prstGeom>
        </p:spPr>
        <p:txBody>
          <a:bodyPr anchorCtr="0" anchor="ctr" bIns="91425" lIns="91425" rIns="91425" tIns="91425">
            <a:noAutofit/>
          </a:bodyPr>
          <a:lstStyle/>
          <a:p>
            <a:pPr lvl="0" rtl="0" algn="ctr">
              <a:spcBef>
                <a:spcPts val="0"/>
              </a:spcBef>
              <a:buNone/>
            </a:pPr>
            <a:r>
              <a:rPr lang="en" sz="3600"/>
              <a:t>“[M]athematics is biology’s next microscope, only better.”</a:t>
            </a:r>
          </a:p>
        </p:txBody>
      </p:sp>
      <p:sp>
        <p:nvSpPr>
          <p:cNvPr id="203" name="Shape 203"/>
          <p:cNvSpPr txBox="1"/>
          <p:nvPr>
            <p:ph idx="4294967295" type="body"/>
          </p:nvPr>
        </p:nvSpPr>
        <p:spPr>
          <a:xfrm>
            <a:off x="311700" y="3602975"/>
            <a:ext cx="8520600" cy="926100"/>
          </a:xfrm>
          <a:prstGeom prst="rect">
            <a:avLst/>
          </a:prstGeom>
        </p:spPr>
        <p:txBody>
          <a:bodyPr anchorCtr="0" anchor="t" bIns="91425" lIns="91425" rIns="91425" tIns="91425">
            <a:noAutofit/>
          </a:bodyPr>
          <a:lstStyle/>
          <a:p>
            <a:pPr lvl="0" rtl="0" algn="ctr">
              <a:spcBef>
                <a:spcPts val="0"/>
              </a:spcBef>
              <a:buNone/>
            </a:pPr>
            <a:r>
              <a:rPr lang="en"/>
              <a:t>-Joel E. Cohen</a:t>
            </a: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07" name="Shape 207"/>
        <p:cNvGrpSpPr/>
        <p:nvPr/>
      </p:nvGrpSpPr>
      <p:grpSpPr>
        <a:xfrm>
          <a:off x="0" y="0"/>
          <a:ext cx="0" cy="0"/>
          <a:chOff x="0" y="0"/>
          <a:chExt cx="0" cy="0"/>
        </a:xfrm>
      </p:grpSpPr>
      <p:sp>
        <p:nvSpPr>
          <p:cNvPr id="208" name="Shape 208"/>
          <p:cNvSpPr txBox="1"/>
          <p:nvPr>
            <p:ph type="title"/>
          </p:nvPr>
        </p:nvSpPr>
        <p:spPr>
          <a:xfrm>
            <a:off x="311700" y="445025"/>
            <a:ext cx="8520600" cy="613200"/>
          </a:xfrm>
          <a:prstGeom prst="rect">
            <a:avLst/>
          </a:prstGeom>
        </p:spPr>
        <p:txBody>
          <a:bodyPr anchorCtr="0" anchor="t" bIns="91425" lIns="91425" rIns="91425" tIns="91425">
            <a:noAutofit/>
          </a:bodyPr>
          <a:lstStyle/>
          <a:p>
            <a:pPr lvl="0" algn="ctr">
              <a:spcBef>
                <a:spcPts val="0"/>
              </a:spcBef>
              <a:buNone/>
            </a:pPr>
            <a:r>
              <a:rPr lang="en"/>
              <a:t>Resources to Learn More</a:t>
            </a:r>
          </a:p>
        </p:txBody>
      </p:sp>
      <p:sp>
        <p:nvSpPr>
          <p:cNvPr id="209" name="Shape 209"/>
          <p:cNvSpPr txBox="1"/>
          <p:nvPr>
            <p:ph idx="1" type="body"/>
          </p:nvPr>
        </p:nvSpPr>
        <p:spPr>
          <a:xfrm>
            <a:off x="311700" y="1400200"/>
            <a:ext cx="8520600" cy="3397200"/>
          </a:xfrm>
          <a:prstGeom prst="rect">
            <a:avLst/>
          </a:prstGeom>
        </p:spPr>
        <p:txBody>
          <a:bodyPr anchorCtr="0" anchor="t" bIns="91425" lIns="91425" rIns="91425" tIns="91425">
            <a:noAutofit/>
          </a:bodyPr>
          <a:lstStyle/>
          <a:p>
            <a:pPr lvl="0" rtl="0" algn="ctr">
              <a:spcBef>
                <a:spcPts val="0"/>
              </a:spcBef>
              <a:buNone/>
            </a:pPr>
            <a:r>
              <a:rPr b="1" lang="en"/>
              <a:t>You can take </a:t>
            </a:r>
            <a:r>
              <a:rPr b="1" lang="en"/>
              <a:t>Applied Math-Bio Courses, such as the ones below (even if you’re not an Applied Math-Bio major)...</a:t>
            </a:r>
          </a:p>
          <a:p>
            <a:pPr indent="-228600" lvl="0" marL="457200" rtl="0">
              <a:spcBef>
                <a:spcPts val="0"/>
              </a:spcBef>
            </a:pPr>
            <a:r>
              <a:rPr lang="en"/>
              <a:t>Stat 115: Introduction to Computational Biology and Bioinformatics</a:t>
            </a:r>
          </a:p>
          <a:p>
            <a:pPr indent="-228600" lvl="0" marL="457200" rtl="0">
              <a:spcBef>
                <a:spcPts val="0"/>
              </a:spcBef>
            </a:pPr>
            <a:r>
              <a:rPr lang="en"/>
              <a:t>MCB 199: Statistical Thermodynamics and Quantitative Biology</a:t>
            </a:r>
          </a:p>
          <a:p>
            <a:pPr indent="-228600" lvl="0" marL="457200" rtl="0">
              <a:spcBef>
                <a:spcPts val="0"/>
              </a:spcBef>
            </a:pPr>
            <a:r>
              <a:rPr lang="en"/>
              <a:t>Math 153: Mathematical Biology-Evolutionary Dynamics</a:t>
            </a:r>
          </a:p>
          <a:p>
            <a:pPr indent="-228600" lvl="0" marL="457200" rtl="0">
              <a:spcBef>
                <a:spcPts val="0"/>
              </a:spcBef>
            </a:pPr>
            <a:r>
              <a:rPr lang="en"/>
              <a:t>Sys Bio 200: A Systems Approach to Biology</a:t>
            </a:r>
          </a:p>
          <a:p>
            <a:pPr indent="-228600" lvl="0" marL="457200" rtl="0">
              <a:spcBef>
                <a:spcPts val="0"/>
              </a:spcBef>
            </a:pPr>
            <a:r>
              <a:rPr lang="en"/>
              <a:t>Stat 120: Intermediate Biostatistical Methods</a:t>
            </a:r>
          </a:p>
          <a:p>
            <a:pPr indent="-228600" lvl="0" marL="457200" rtl="0">
              <a:spcBef>
                <a:spcPts val="0"/>
              </a:spcBef>
            </a:pPr>
            <a:r>
              <a:rPr lang="en"/>
              <a:t>OEB 152: Population Genetics</a:t>
            </a:r>
          </a:p>
          <a:p>
            <a:pPr lvl="0" rtl="0" algn="ctr">
              <a:spcBef>
                <a:spcPts val="0"/>
              </a:spcBef>
              <a:buNone/>
            </a:pPr>
            <a:r>
              <a:rPr b="1" lang="en"/>
              <a:t>...and/or work with a professor doing research in Applied Math-Bio!</a:t>
            </a:r>
          </a:p>
          <a:p>
            <a:pPr lvl="0" rtl="0">
              <a:spcBef>
                <a:spcPts val="0"/>
              </a:spcBef>
              <a:buNone/>
            </a:pPr>
            <a:r>
              <a:t/>
            </a:r>
            <a:endParaRPr/>
          </a:p>
          <a:p>
            <a:pPr lvl="0">
              <a:spcBef>
                <a:spcPts val="0"/>
              </a:spcBef>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13" name="Shape 213"/>
        <p:cNvGrpSpPr/>
        <p:nvPr/>
      </p:nvGrpSpPr>
      <p:grpSpPr>
        <a:xfrm>
          <a:off x="0" y="0"/>
          <a:ext cx="0" cy="0"/>
          <a:chOff x="0" y="0"/>
          <a:chExt cx="0" cy="0"/>
        </a:xfrm>
      </p:grpSpPr>
      <p:sp>
        <p:nvSpPr>
          <p:cNvPr id="214" name="Shape 214"/>
          <p:cNvSpPr txBox="1"/>
          <p:nvPr>
            <p:ph type="title"/>
          </p:nvPr>
        </p:nvSpPr>
        <p:spPr>
          <a:xfrm>
            <a:off x="490250" y="526350"/>
            <a:ext cx="8131500" cy="4090800"/>
          </a:xfrm>
          <a:prstGeom prst="rect">
            <a:avLst/>
          </a:prstGeom>
        </p:spPr>
        <p:txBody>
          <a:bodyPr anchorCtr="0" anchor="ctr" bIns="91425" lIns="91425" rIns="91425" tIns="91425">
            <a:noAutofit/>
          </a:bodyPr>
          <a:lstStyle/>
          <a:p>
            <a:pPr lvl="0" rtl="0" algn="ctr">
              <a:spcBef>
                <a:spcPts val="0"/>
              </a:spcBef>
              <a:buNone/>
            </a:pPr>
            <a:r>
              <a:rPr lang="en" sz="3600"/>
              <a:t>Questions?</a:t>
            </a:r>
          </a:p>
        </p:txBody>
      </p:sp>
    </p:spTree>
  </p:cSld>
  <p:clrMapOvr>
    <a:masterClrMapping/>
  </p:clrMapOvr>
</p:sld>
</file>

<file path=ppt/theme/theme1.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